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88952" cy="2286000"/>
          </a:xfrm>
          <a:prstGeom prst="rect">
            <a:avLst/>
          </a:prstGeom>
          <a:solidFill>
            <a:srgbClr val="091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8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31352" y="1097280"/>
            <a:ext cx="3657600" cy="2743"/>
          </a:xfrm>
          <a:prstGeom prst="rect">
            <a:avLst/>
          </a:prstGeom>
          <a:solidFill>
            <a:srgbClr val="4A8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62872" y="228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08096"/>
                </a:solidFill>
                <a:latin typeface="맑은 고딕"/>
              </a:rPr>
              <a:t>2026-06-23  |  ver.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맑은 고딕"/>
              </a:rPr>
              <a:t>보안 취약점 점검 결과표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3840480" cy="31750"/>
          </a:xfrm>
          <a:prstGeom prst="rect">
            <a:avLst/>
          </a:prstGeom>
          <a:solidFill>
            <a:srgbClr val="4A8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C0E8"/>
                </a:solidFill>
                <a:latin typeface="맑은 고딕"/>
              </a:rPr>
              <a:t>cafe.pi  ·  Pi Network 카페 운영 플랫폼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0A8D0"/>
                </a:solidFill>
                <a:latin typeface="맑은 고딕"/>
              </a:rPr>
              <a:t>KISA 「주요정보통신기반시설 기술적 취약점 분석·평가 방법 상세가이드」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015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0A8D0"/>
                </a:solidFill>
                <a:latin typeface="맑은 고딕"/>
              </a:rPr>
              <a:t>행정안전부 웹 취약점 점검 21개 항목 기준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10698480" cy="12700"/>
          </a:xfrm>
          <a:prstGeom prst="rect">
            <a:avLst/>
          </a:prstGeom>
          <a:solidFill>
            <a:srgbClr val="305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096"/>
                </a:solidFill>
                <a:latin typeface="맑은 고딕"/>
              </a:rPr>
              <a:t>점검 대상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4160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맑은 고딕"/>
              </a:rPr>
              <a:t>cafe.pi (loginpi.vercel.app)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160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096"/>
                </a:solidFill>
                <a:latin typeface="맑은 고딕"/>
              </a:rPr>
              <a:t>기술 스택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160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맑은 고딕"/>
              </a:rPr>
              <a:t>Next.js 16 · React 19 · TypeScript 6 · Supabase · Vercel 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360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096"/>
                </a:solidFill>
                <a:latin typeface="맑은 고딕"/>
              </a:rPr>
              <a:t>점검 기준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463600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맑은 고딕"/>
              </a:rPr>
              <a:t>KISA 21개 항목 · OWASP Top 10 2021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6360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096"/>
                </a:solidFill>
                <a:latin typeface="맑은 고딕"/>
              </a:rPr>
              <a:t>점검 수행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463600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맑은 고딕"/>
              </a:rPr>
              <a:t>Security Auditor (Claude Code)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114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096"/>
                </a:solidFill>
                <a:latin typeface="맑은 고딕"/>
              </a:rPr>
              <a:t>작성 일시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511149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맑은 고딕"/>
              </a:rPr>
              <a:t>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4A8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목  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F0"/>
                </a:solidFill>
                <a:latin typeface="맑은 고딕"/>
              </a:rPr>
              <a:t>Table of 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48640" cy="68580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990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234440"/>
            <a:ext cx="5029200" cy="6858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28930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56E"/>
                </a:solidFill>
                <a:latin typeface="맑은 고딕"/>
              </a:rPr>
              <a:t>문서 개요 및 점검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600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096"/>
                </a:solidFill>
                <a:latin typeface="맑은 고딕"/>
              </a:rPr>
              <a:t>시스템 개요, 특수 아키텍처 제약, 점검 영역 정의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234440"/>
            <a:ext cx="548640" cy="685800"/>
          </a:xfrm>
          <a:prstGeom prst="rect">
            <a:avLst/>
          </a:prstGeom>
          <a:solidFill>
            <a:srgbClr val="1E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990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1234440"/>
            <a:ext cx="5029200" cy="6858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28930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56E"/>
                </a:solidFill>
                <a:latin typeface="맑은 고딕"/>
              </a:rPr>
              <a:t>점검 결과 총괄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600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096"/>
                </a:solidFill>
                <a:latin typeface="맑은 고딕"/>
              </a:rPr>
              <a:t>21개 항목 판정 요약 (양호/추가확인/해당없음)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48840"/>
            <a:ext cx="548640" cy="68580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3134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148840"/>
            <a:ext cx="5029200" cy="6858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20370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56E"/>
                </a:solidFill>
                <a:latin typeface="맑은 고딕"/>
              </a:rPr>
              <a:t>상세 점검 결과 — 입력값 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514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096"/>
                </a:solidFill>
                <a:latin typeface="맑은 고딕"/>
              </a:rPr>
              <a:t>OC·SQ·XP·XS·MC (5개 항목)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148840"/>
            <a:ext cx="548640" cy="685800"/>
          </a:xfrm>
          <a:prstGeom prst="rect">
            <a:avLst/>
          </a:prstGeom>
          <a:solidFill>
            <a:srgbClr val="1E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3134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2148840"/>
            <a:ext cx="5029200" cy="6858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220370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56E"/>
                </a:solidFill>
                <a:latin typeface="맑은 고딕"/>
              </a:rPr>
              <a:t>상세 점검 결과 — 인증·인가·세션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514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096"/>
                </a:solidFill>
                <a:latin typeface="맑은 고딕"/>
              </a:rPr>
              <a:t>WP·WA·WR·CS·SP·WI·IE·SF (8개 항목)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063240"/>
            <a:ext cx="548640" cy="68580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2278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063240"/>
            <a:ext cx="5029200" cy="6858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11810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56E"/>
                </a:solidFill>
                <a:latin typeface="맑은 고딕"/>
              </a:rPr>
              <a:t>상세 점검 결과 — 비즈니스·파일·정보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429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096"/>
                </a:solidFill>
                <a:latin typeface="맑은 고딕"/>
              </a:rPr>
              <a:t>AA·PV·FU·FD·IL·DT (6개 항목)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063240"/>
            <a:ext cx="548640" cy="685800"/>
          </a:xfrm>
          <a:prstGeom prst="rect">
            <a:avLst/>
          </a:prstGeom>
          <a:solidFill>
            <a:srgbClr val="1E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2278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06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3063240"/>
            <a:ext cx="5029200" cy="6858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311810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56E"/>
                </a:solidFill>
                <a:latin typeface="맑은 고딕"/>
              </a:rPr>
              <a:t>상세 점검 결과 — 웹 서버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429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096"/>
                </a:solidFill>
                <a:latin typeface="맑은 고딕"/>
              </a:rPr>
              <a:t>DI·AE·PL·MS (4개 항목)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977640"/>
            <a:ext cx="548640" cy="68580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1422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07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3977640"/>
            <a:ext cx="5029200" cy="6858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403250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56E"/>
                </a:solidFill>
                <a:latin typeface="맑은 고딕"/>
              </a:rPr>
              <a:t>보안 조치 이행 내역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4343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096"/>
                </a:solidFill>
                <a:latin typeface="맑은 고딕"/>
              </a:rPr>
              <a:t>이번 점검에서 적용된 즉시 조치 사항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977640"/>
            <a:ext cx="548640" cy="685800"/>
          </a:xfrm>
          <a:prstGeom prst="rect">
            <a:avLst/>
          </a:prstGeom>
          <a:solidFill>
            <a:srgbClr val="1E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1422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08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49440" y="3977640"/>
            <a:ext cx="5029200" cy="68580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0" y="403250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56E"/>
                </a:solidFill>
                <a:latin typeface="맑은 고딕"/>
              </a:rPr>
              <a:t>잔존 리스크 및 조치 계획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4343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096"/>
                </a:solidFill>
                <a:latin typeface="맑은 고딕"/>
              </a:rPr>
              <a:t>추가 확인 필요 항목 처리 계획 및 일정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892040"/>
            <a:ext cx="548640" cy="68580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50566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09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4892040"/>
            <a:ext cx="5029200" cy="6858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494690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56E"/>
                </a:solidFill>
                <a:latin typeface="맑은 고딕"/>
              </a:rPr>
              <a:t>결론 및 향후 관리 계획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5257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08096"/>
                </a:solidFill>
                <a:latin typeface="맑은 고딕"/>
              </a:rPr>
              <a:t>정기 점검 주기, 체크리스트, 담당자 지정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68603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08096"/>
                </a:solidFill>
                <a:latin typeface="맑은 고딕"/>
              </a:rPr>
              <a:t>cafe.pi  |  KISA 보안취약점 점검결과표  |  2026-06-23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4A8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문서 개요 및 점검 범위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F0"/>
                </a:solidFill>
                <a:latin typeface="맑은 고딕"/>
              </a:rPr>
              <a:t>01. Overview &amp;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394960" cy="539496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394960" cy="384048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43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시스템 개요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00200"/>
            <a:ext cx="1234440" cy="530352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09928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C356E"/>
                </a:solidFill>
                <a:latin typeface="맑은 고딕"/>
              </a:rPr>
              <a:t>시스템명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2768" y="1600200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1655064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cafe.pi — Pi Network 카페 운영 플랫폼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76272"/>
            <a:ext cx="1234440" cy="530352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286000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C356E"/>
                </a:solidFill>
                <a:latin typeface="맑은 고딕"/>
              </a:rPr>
              <a:t>URL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72768" y="2176272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2231136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loginpi.vercel.app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752344"/>
            <a:ext cx="1234440" cy="530352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862072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C356E"/>
                </a:solidFill>
                <a:latin typeface="맑은 고딕"/>
              </a:rPr>
              <a:t>배포 환경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72768" y="2752344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2807208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Vercel Pro (Edge Network, 서울 리전)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328416"/>
            <a:ext cx="1234440" cy="530352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438144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C356E"/>
                </a:solidFill>
                <a:latin typeface="맑은 고딕"/>
              </a:rPr>
              <a:t>기술 스택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72768" y="3328416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3383280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Next.js 16.2.7 · React 19 · TypeScript 6
Tailwind CSS v4 · Supabase (PostgreSQL)
Pi Network SDK · NextAuth v5 beta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904488"/>
            <a:ext cx="1234440" cy="530352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014216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C356E"/>
                </a:solidFill>
                <a:latin typeface="맑은 고딕"/>
              </a:rPr>
              <a:t>인증 방식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72768" y="3904488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0" y="3959352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Pi Network Wallet 서명 + Google OAuth 2.0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480560"/>
            <a:ext cx="1234440" cy="530352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590288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C356E"/>
                </a:solidFill>
                <a:latin typeface="맑은 고딕"/>
              </a:rPr>
              <a:t>세션 방식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72768" y="4480560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0" y="4535424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Pi: HMAC-SHA256 토큰 (쿠키+X-Pi-Token 이중)
Google: NextAuth JWT (쿠키)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056632"/>
            <a:ext cx="1234440" cy="530352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166360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C356E"/>
                </a:solidFill>
                <a:latin typeface="맑은 고딕"/>
              </a:rPr>
              <a:t>DB 접근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72768" y="5056632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45920" y="5111496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서버 전용 SERVICE_ROLE_KEY, RLS 비활성화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632704"/>
            <a:ext cx="1234440" cy="530352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5742432"/>
            <a:ext cx="1143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C356E"/>
                </a:solidFill>
                <a:latin typeface="맑은 고딕"/>
              </a:rPr>
              <a:t>점검 일자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72768" y="5632704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45920" y="5687568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2026-06-23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1097280"/>
            <a:ext cx="5989320" cy="2331720"/>
          </a:xfrm>
          <a:prstGeom prst="rect">
            <a:avLst/>
          </a:prstGeom>
          <a:solidFill>
            <a:srgbClr val="FF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43600" y="1097280"/>
            <a:ext cx="5989320" cy="384048"/>
          </a:xfrm>
          <a:prstGeom prst="rect">
            <a:avLst/>
          </a:prstGeom>
          <a:solidFill>
            <a:srgbClr val="D9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11430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⚠ 특수 아키텍처 제약 (Pi Browser)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1572768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A3C00"/>
                </a:solidFill>
                <a:latin typeface="맑은 고딕"/>
              </a:rPr>
              <a:t>Pi Browser WebView는 Set-Cookie를 저장하지 않음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1892808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5000"/>
                </a:solidFill>
                <a:latin typeface="맑은 고딕"/>
              </a:rPr>
              <a:t>→ 쿠키 + X-Pi-Token 헤더 이중 경로 필수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2212848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A3C00"/>
                </a:solidFill>
                <a:latin typeface="맑은 고딕"/>
              </a:rPr>
              <a:t>getSessionUser() null 시 redirect() 절대 금지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60" y="2532888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5000"/>
                </a:solidFill>
                <a:latin typeface="맑은 고딕"/>
              </a:rPr>
              <a:t>→ Pi Browser 무한 루프 발생 — ClientGate로 위임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2852928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A3C00"/>
                </a:solidFill>
                <a:latin typeface="맑은 고딕"/>
              </a:rPr>
              <a:t>Supabase RLS 비활성화 (서버 전용 SERVICE_ROLE_KEY)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3172968"/>
            <a:ext cx="5669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5000"/>
                </a:solidFill>
                <a:latin typeface="맑은 고딕"/>
              </a:rPr>
              <a:t>→ API 계층 RBAC(getSessionUser+isAdmin)로 대체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3566160"/>
            <a:ext cx="5989320" cy="292608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943600" y="3566160"/>
            <a:ext cx="5989320" cy="3840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80760" y="36118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점검 범위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89320" y="4041648"/>
            <a:ext cx="1417320" cy="347472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35040" y="41148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C356E"/>
                </a:solidFill>
                <a:latin typeface="맑은 고딕"/>
              </a:rPr>
              <a:t>인증·인가·세션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52360" y="40965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auth-check.ts, Pi 세션, Google OAuth JWT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89320" y="4425696"/>
            <a:ext cx="1417320" cy="347472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0" y="44988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C356E"/>
                </a:solidFill>
                <a:latin typeface="맑은 고딕"/>
              </a:rPr>
              <a:t>API 보안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52360" y="4480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40+ REST 엔드포인트, Rate Limit, CORS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89320" y="4809744"/>
            <a:ext cx="1417320" cy="347472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35040" y="48828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C356E"/>
                </a:solidFill>
                <a:latin typeface="맑은 고딕"/>
              </a:rPr>
              <a:t>입력값 검증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52360" y="48646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파라미터, 파일 업로드, 검색어 sanitize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89320" y="5193792"/>
            <a:ext cx="1417320" cy="347472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35040" y="526694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C356E"/>
                </a:solidFill>
                <a:latin typeface="맑은 고딕"/>
              </a:rPr>
              <a:t>파일 처리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52360" y="524865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이미지/첨부 업로드, Supabase Storage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89320" y="5577840"/>
            <a:ext cx="1417320" cy="347472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35040" y="565099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C356E"/>
                </a:solidFill>
                <a:latin typeface="맑은 고딕"/>
              </a:rPr>
              <a:t>데이터 보호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52360" y="563270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Supabase 논리삭제, 시스템 컬럼, 감사 로그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89320" y="5961888"/>
            <a:ext cx="1417320" cy="347472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035040" y="6035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C356E"/>
                </a:solidFill>
                <a:latin typeface="맑은 고딕"/>
              </a:rPr>
              <a:t>환경 변수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52360" y="60167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t3-env 빌드 시점 검증, 32자 이상 시크릿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68603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08096"/>
                </a:solidFill>
                <a:latin typeface="맑은 고딕"/>
              </a:rPr>
              <a:t>cafe.pi  |  KISA 보안취약점 점검결과표  |  2026-06-23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4A8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점검 결과 총괄 대시보드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F0"/>
                </a:solidFill>
                <a:latin typeface="맑은 고딕"/>
              </a:rPr>
              <a:t>02. Summary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200400" cy="1828800"/>
          </a:xfrm>
          <a:prstGeom prst="rect">
            <a:avLst/>
          </a:prstGeom>
          <a:solidFill>
            <a:srgbClr val="D5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3200400" cy="73152"/>
          </a:xfrm>
          <a:prstGeom prst="rect">
            <a:avLst/>
          </a:prstGeom>
          <a:solidFill>
            <a:srgbClr val="156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81818"/>
                </a:solidFill>
                <a:latin typeface="맑은 고딕"/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6420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156D3C"/>
                </a:solidFill>
                <a:latin typeface="맑은 고딕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042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56D3C"/>
                </a:solidFill>
                <a:latin typeface="맑은 고딕"/>
              </a:rPr>
              <a:t>양호 (적정)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8096"/>
                </a:solidFill>
                <a:latin typeface="맑은 고딕"/>
              </a:rPr>
              <a:t>/ 23개 항목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98648"/>
            <a:ext cx="3200400" cy="228600"/>
          </a:xfrm>
          <a:prstGeom prst="rect">
            <a:avLst/>
          </a:prstGeom>
          <a:solidFill>
            <a:srgbClr val="D5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0779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56D3C"/>
                </a:solidFill>
                <a:latin typeface="맑은 고딕"/>
              </a:rPr>
              <a:t>적절한 보안 통제 적용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097280"/>
            <a:ext cx="3200400" cy="1828800"/>
          </a:xfrm>
          <a:prstGeom prst="rect">
            <a:avLst/>
          </a:prstGeom>
          <a:solidFill>
            <a:srgbClr val="FDF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097280"/>
            <a:ext cx="3200400" cy="73152"/>
          </a:xfrm>
          <a:prstGeom prst="rect">
            <a:avLst/>
          </a:prstGeom>
          <a:solidFill>
            <a:srgbClr val="B06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188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81818"/>
                </a:solidFill>
                <a:latin typeface="맑은 고딕"/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66420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B06C10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3042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06C10"/>
                </a:solidFill>
                <a:latin typeface="맑은 고딕"/>
              </a:rPr>
              <a:t>추가 확인 필요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6060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8096"/>
                </a:solidFill>
                <a:latin typeface="맑은 고딕"/>
              </a:rPr>
              <a:t>/ 23개 항목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2898648"/>
            <a:ext cx="3200400" cy="228600"/>
          </a:xfrm>
          <a:prstGeom prst="rect">
            <a:avLst/>
          </a:prstGeom>
          <a:solidFill>
            <a:srgbClr val="FDF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290779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6C10"/>
                </a:solidFill>
                <a:latin typeface="맑은 고딕"/>
              </a:rPr>
              <a:t>단기 조치 계획 수립 필요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1097280"/>
            <a:ext cx="3200400" cy="18288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1097280"/>
            <a:ext cx="3200400" cy="73152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188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81818"/>
                </a:solidFill>
                <a:latin typeface="맑은 고딕"/>
              </a:rPr>
              <a:t>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166420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505050"/>
                </a:solidFill>
                <a:latin typeface="맑은 고딕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3042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05050"/>
                </a:solidFill>
                <a:latin typeface="맑은 고딕"/>
              </a:rPr>
              <a:t>해당 없음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6060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8096"/>
                </a:solidFill>
                <a:latin typeface="맑은 고딕"/>
              </a:rPr>
              <a:t>/ 23개 항목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2898648"/>
            <a:ext cx="3200400" cy="2286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290779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05050"/>
                </a:solidFill>
                <a:latin typeface="맑은 고딕"/>
              </a:rPr>
              <a:t>해당 기능·기술 미사용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3291840"/>
            <a:ext cx="7034518" cy="384048"/>
          </a:xfrm>
          <a:prstGeom prst="rect">
            <a:avLst/>
          </a:prstGeom>
          <a:solidFill>
            <a:srgbClr val="156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06118" y="3291840"/>
            <a:ext cx="1172419" cy="384048"/>
          </a:xfrm>
          <a:prstGeom prst="rect">
            <a:avLst/>
          </a:prstGeom>
          <a:solidFill>
            <a:srgbClr val="B06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78538" y="3291840"/>
            <a:ext cx="781613" cy="384048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3721608"/>
            <a:ext cx="70345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56D3C"/>
                </a:solidFill>
                <a:latin typeface="맑은 고딕"/>
              </a:rPr>
              <a:t>양호 18/23 (78%)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6118" y="3721608"/>
            <a:ext cx="11724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6C10"/>
                </a:solidFill>
                <a:latin typeface="맑은 고딕"/>
              </a:rPr>
              <a:t>추가확인 3/23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78538" y="3721608"/>
            <a:ext cx="78161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05050"/>
                </a:solidFill>
                <a:latin typeface="맑은 고딕"/>
              </a:rPr>
              <a:t>해당없음 2/23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0" y="3330244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C356E"/>
                </a:solidFill>
                <a:latin typeface="맑은 고딕"/>
              </a:rPr>
              <a:t>점검 결과 현황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20040" y="388620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1097280"/>
                <a:gridCol w="1645920"/>
                <a:gridCol w="1645920"/>
                <a:gridCol w="12801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>
                    <a:solidFill>
                      <a:srgbClr val="1C35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항목 수</a:t>
                      </a:r>
                    </a:p>
                  </a:txBody>
                  <a:tcPr>
                    <a:solidFill>
                      <a:srgbClr val="1C35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양호</a:t>
                      </a:r>
                    </a:p>
                  </a:txBody>
                  <a:tcPr>
                    <a:solidFill>
                      <a:srgbClr val="1C35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추가확인</a:t>
                      </a:r>
                    </a:p>
                  </a:txBody>
                  <a:tcPr>
                    <a:solidFill>
                      <a:srgbClr val="1C35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해당없음</a:t>
                      </a:r>
                    </a:p>
                  </a:txBody>
                  <a:tcPr>
                    <a:solidFill>
                      <a:srgbClr val="1C35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달성률</a:t>
                      </a:r>
                    </a:p>
                  </a:txBody>
                  <a:tcPr>
                    <a:solidFill>
                      <a:srgbClr val="1C356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81818"/>
                          </a:solidFill>
                          <a:latin typeface="맑은 고딕"/>
                        </a:rPr>
                        <a:t>입력값 검증</a:t>
                      </a:r>
                    </a:p>
                  </a:txBody>
                  <a:tcPr>
                    <a:solidFill>
                      <a:srgbClr val="DAE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81818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>
                    <a:solidFill>
                      <a:srgbClr val="DAE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56D3C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D5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B06C1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DF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81818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DAE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81818"/>
                          </a:solidFill>
                          <a:latin typeface="맑은 고딕"/>
                        </a:rPr>
                        <a:t>87.5%</a:t>
                      </a:r>
                    </a:p>
                  </a:txBody>
                  <a:tcPr>
                    <a:solidFill>
                      <a:srgbClr val="DAE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81818"/>
                          </a:solidFill>
                          <a:latin typeface="맑은 고딕"/>
                        </a:rPr>
                        <a:t>인증·인가·세션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81818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56D3C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>
                    <a:solidFill>
                      <a:srgbClr val="D5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B06C1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DF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50505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E2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81818"/>
                          </a:solidFill>
                          <a:latin typeface="맑은 고딕"/>
                        </a:rP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81818"/>
                          </a:solidFill>
                          <a:latin typeface="맑은 고딕"/>
                        </a:rPr>
                        <a:t>비즈니스·파일·정보</a:t>
                      </a:r>
                    </a:p>
                  </a:txBody>
                  <a:tcPr>
                    <a:solidFill>
                      <a:srgbClr val="DAE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81818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>
                    <a:solidFill>
                      <a:srgbClr val="DAE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56D3C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>
                    <a:solidFill>
                      <a:srgbClr val="D5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B06C1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DF0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81818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DAE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81818"/>
                          </a:solidFill>
                          <a:latin typeface="맑은 고딕"/>
                        </a:rPr>
                        <a:t>83.3%</a:t>
                      </a:r>
                    </a:p>
                  </a:txBody>
                  <a:tcPr>
                    <a:solidFill>
                      <a:srgbClr val="DAE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81818"/>
                          </a:solidFill>
                          <a:latin typeface="맑은 고딕"/>
                        </a:rPr>
                        <a:t>웹 서버 설정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81818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56D3C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D5EB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81818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81818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81818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C356E"/>
                          </a:solidFill>
                          <a:latin typeface="맑은 고딕"/>
                        </a:rPr>
                        <a:t>합  계</a:t>
                      </a:r>
                    </a:p>
                  </a:txBody>
                  <a:tcPr>
                    <a:solidFill>
                      <a:srgbClr val="1C35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C356E"/>
                          </a:solidFill>
                          <a:latin typeface="맑은 고딕"/>
                        </a:rPr>
                        <a:t>23</a:t>
                      </a:r>
                    </a:p>
                  </a:txBody>
                  <a:tcPr>
                    <a:solidFill>
                      <a:srgbClr val="1C35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C356E"/>
                          </a:solidFill>
                          <a:latin typeface="맑은 고딕"/>
                        </a:rPr>
                        <a:t>18</a:t>
                      </a:r>
                    </a:p>
                  </a:txBody>
                  <a:tcPr>
                    <a:solidFill>
                      <a:srgbClr val="1C35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C356E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1C35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C356E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1C35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C356E"/>
                          </a:solidFill>
                          <a:latin typeface="맑은 고딕"/>
                        </a:rPr>
                        <a:t>78%</a:t>
                      </a:r>
                    </a:p>
                  </a:txBody>
                  <a:tcPr>
                    <a:solidFill>
                      <a:srgbClr val="1C356E"/>
                    </a:solidFill>
                  </a:tcPr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168603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08096"/>
                </a:solidFill>
                <a:latin typeface="맑은 고딕"/>
              </a:rPr>
              <a:t>cafe.pi  |  KISA 보안취약점 점검결과표  |  2026-06-23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4A8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상세 점검 결과 — 입력값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F0"/>
                </a:solidFill>
                <a:latin typeface="맑은 고딕"/>
              </a:rPr>
              <a:t>03. Input Validation (OC·SQ·XP·XS·MC)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78992"/>
            <a:ext cx="603504" cy="32004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11556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코드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078992"/>
            <a:ext cx="1472184" cy="32004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115568"/>
            <a:ext cx="1435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항목명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1078992"/>
            <a:ext cx="1883664" cy="32004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9736" y="1115568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영역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078992"/>
            <a:ext cx="832104" cy="32004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9976" y="1115568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위험도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1078992"/>
            <a:ext cx="1700784" cy="32004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8656" y="1115568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판정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1078992"/>
            <a:ext cx="5175504" cy="32004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6016" y="1115568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핵심 점검 결과 / 근거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408176"/>
            <a:ext cx="11640312" cy="53035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1408176"/>
            <a:ext cx="603504" cy="53035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1554480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152704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6E"/>
                </a:solidFill>
                <a:latin typeface="맑은 고딕"/>
              </a:rPr>
              <a:t>OS 명령 실행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1527048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입력값 검증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1517904"/>
            <a:ext cx="685800" cy="310896"/>
          </a:xfrm>
          <a:prstGeom prst="rect">
            <a:avLst/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1563624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C5500"/>
                </a:solidFill>
                <a:latin typeface="맑은 고딕"/>
              </a:rP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57800" y="1499616"/>
            <a:ext cx="1645920" cy="347472"/>
          </a:xfrm>
          <a:prstGeom prst="rect">
            <a:avLst/>
          </a:prstGeom>
          <a:solidFill>
            <a:srgbClr val="D5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1563624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✅ 양호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04304" y="1499616"/>
            <a:ext cx="5102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eval()/exec() 전무, 동적 경로 정규식 검증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975104"/>
            <a:ext cx="1164031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1975104"/>
            <a:ext cx="603504" cy="53035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121408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SQ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209397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6E"/>
                </a:solidFill>
                <a:latin typeface="맑은 고딕"/>
              </a:rPr>
              <a:t>SQL 인젝션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2093976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입력값 검증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4840" y="2084832"/>
            <a:ext cx="685800" cy="310896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2130552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2B2B"/>
                </a:solidFill>
                <a:latin typeface="맑은 고딕"/>
              </a:rPr>
              <a:t>Critical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57800" y="2066544"/>
            <a:ext cx="1645920" cy="347472"/>
          </a:xfrm>
          <a:prstGeom prst="rect">
            <a:avLst/>
          </a:prstGeom>
          <a:solidFill>
            <a:srgbClr val="D5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85232" y="2130552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✅ 양호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2066544"/>
            <a:ext cx="5102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PostgREST 파라미터 바인딩, 문자열 SQL 조합 금지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542032"/>
            <a:ext cx="11640312" cy="53035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2542032"/>
            <a:ext cx="603504" cy="53035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2688336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XP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266090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6E"/>
                </a:solidFill>
                <a:latin typeface="맑은 고딕"/>
              </a:rPr>
              <a:t>XPath 인젝션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23160" y="2660904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입력값 검증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34840" y="2651760"/>
            <a:ext cx="685800" cy="310896"/>
          </a:xfrm>
          <a:prstGeom prst="rect">
            <a:avLst/>
          </a:prstGeom>
          <a:solidFill>
            <a:srgbClr val="FFF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34840" y="2697480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08C00"/>
                </a:solidFill>
                <a:latin typeface="맑은 고딕"/>
              </a:rPr>
              <a:t>Medium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2633472"/>
            <a:ext cx="1645920" cy="34747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85232" y="2697480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05050"/>
                </a:solidFill>
                <a:latin typeface="맑은 고딕"/>
              </a:rPr>
              <a:t>➖ 해당없음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04304" y="2633472"/>
            <a:ext cx="5102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XPath/XML 쿼리 미사용 (JSON+PostgreSQL)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108960"/>
            <a:ext cx="1164031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3108960"/>
            <a:ext cx="603504" cy="53035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3255264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XS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" y="322783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6E"/>
                </a:solidFill>
                <a:latin typeface="맑은 고딕"/>
              </a:rPr>
              <a:t>크로스사이트 스크립팅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23160" y="3227832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입력값 검증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34840" y="3218688"/>
            <a:ext cx="685800" cy="310896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34840" y="3264408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2B2B"/>
                </a:solidFill>
                <a:latin typeface="맑은 고딕"/>
              </a:rPr>
              <a:t>Critical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3200400"/>
            <a:ext cx="1645920" cy="347472"/>
          </a:xfrm>
          <a:prstGeom prst="rect">
            <a:avLst/>
          </a:prstGeom>
          <a:solidFill>
            <a:srgbClr val="D5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85232" y="3264408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✅ 양호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04304" y="3200400"/>
            <a:ext cx="5102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React JSX 자동 이스케이프 + sanitize.ts 저장 시점 이중 방어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3675888"/>
            <a:ext cx="11640312" cy="53035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74320" y="3675888"/>
            <a:ext cx="603504" cy="53035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3822192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MC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" y="379476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6E"/>
                </a:solidFill>
                <a:latin typeface="맑은 고딕"/>
              </a:rPr>
              <a:t>악성 콘텐츠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23160" y="3794760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입력값 검증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34840" y="3785616"/>
            <a:ext cx="685800" cy="310896"/>
          </a:xfrm>
          <a:prstGeom prst="rect">
            <a:avLst/>
          </a:prstGeom>
          <a:solidFill>
            <a:srgbClr val="FFF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34840" y="3831336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08C00"/>
                </a:solidFill>
                <a:latin typeface="맑은 고딕"/>
              </a:rPr>
              <a:t>Medium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57800" y="3767328"/>
            <a:ext cx="1645920" cy="347472"/>
          </a:xfrm>
          <a:prstGeom prst="rect">
            <a:avLst/>
          </a:prstGeom>
          <a:solidFill>
            <a:srgbClr val="FDF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85232" y="3831336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06C10"/>
                </a:solidFill>
                <a:latin typeface="맑은 고딕"/>
              </a:rPr>
              <a:t>🔍 추가확인필요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04304" y="3767328"/>
            <a:ext cx="5102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Magic Byte+MIME 화이트리스트 완료, 바이러스 스캔 미적용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68603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32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08096"/>
                </a:solidFill>
                <a:latin typeface="맑은 고딕"/>
              </a:rPr>
              <a:t>cafe.pi  |  KISA 보안취약점 점검결과표  |  2026-06-23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4A8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상세 점검 결과 — 인증·인가·세션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F0"/>
                </a:solidFill>
                <a:latin typeface="맑은 고딕"/>
              </a:rPr>
              <a:t>04. Auth / Authorization / Session (8개 항목)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78992"/>
            <a:ext cx="603504" cy="32004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11556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코드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078992"/>
            <a:ext cx="1472184" cy="32004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115568"/>
            <a:ext cx="1435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항목명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1078992"/>
            <a:ext cx="1883664" cy="32004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9736" y="1115568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영역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078992"/>
            <a:ext cx="832104" cy="32004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9976" y="1115568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위험도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1078992"/>
            <a:ext cx="1700784" cy="32004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8656" y="1115568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판정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1078992"/>
            <a:ext cx="5175504" cy="32004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6016" y="1115568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핵심 점검 결과 / 근거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408176"/>
            <a:ext cx="11640312" cy="53035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1408176"/>
            <a:ext cx="603504" cy="53035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1554480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WP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152704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6E"/>
                </a:solidFill>
                <a:latin typeface="맑은 고딕"/>
              </a:rPr>
              <a:t>취약한 패스워드 정책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1527048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인증·인가·세션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1517904"/>
            <a:ext cx="685800" cy="310896"/>
          </a:xfrm>
          <a:prstGeom prst="rect">
            <a:avLst/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1563624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C5500"/>
                </a:solidFill>
                <a:latin typeface="맑은 고딕"/>
              </a:rP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57800" y="1499616"/>
            <a:ext cx="1645920" cy="347472"/>
          </a:xfrm>
          <a:prstGeom prst="rect">
            <a:avLst/>
          </a:prstGeom>
          <a:solidFill>
            <a:srgbClr val="D5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1563624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✅ 양호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04304" y="1499616"/>
            <a:ext cx="5102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Pi Wallet 서명 + Google OAuth, 자체 패스워드 미사용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975104"/>
            <a:ext cx="1164031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1975104"/>
            <a:ext cx="603504" cy="53035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121408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WA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209397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6E"/>
                </a:solidFill>
                <a:latin typeface="맑은 고딕"/>
              </a:rPr>
              <a:t>불충분한 인증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2093976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인증·인가·세션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4840" y="2084832"/>
            <a:ext cx="685800" cy="310896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2130552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2B2B"/>
                </a:solidFill>
                <a:latin typeface="맑은 고딕"/>
              </a:rPr>
              <a:t>Critical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57800" y="2066544"/>
            <a:ext cx="1645920" cy="347472"/>
          </a:xfrm>
          <a:prstGeom prst="rect">
            <a:avLst/>
          </a:prstGeom>
          <a:solidFill>
            <a:srgbClr val="D5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85232" y="2130552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✅ 양호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2066544"/>
            <a:ext cx="5102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쿠키+X-Pi-Token 이중 경로, tokenValidUntil 만료 검증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542032"/>
            <a:ext cx="11640312" cy="53035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2542032"/>
            <a:ext cx="603504" cy="53035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2688336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WR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266090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6E"/>
                </a:solidFill>
                <a:latin typeface="맑은 고딕"/>
              </a:rPr>
              <a:t>취약한 패스워드 복구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23160" y="2660904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인증·인가·세션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34840" y="2651760"/>
            <a:ext cx="685800" cy="310896"/>
          </a:xfrm>
          <a:prstGeom prst="rect">
            <a:avLst/>
          </a:prstGeom>
          <a:solidFill>
            <a:srgbClr val="FFF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34840" y="2697480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08C00"/>
                </a:solidFill>
                <a:latin typeface="맑은 고딕"/>
              </a:rPr>
              <a:t>Medium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2633472"/>
            <a:ext cx="1645920" cy="34747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85232" y="2697480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05050"/>
                </a:solidFill>
                <a:latin typeface="맑은 고딕"/>
              </a:rPr>
              <a:t>➖ 해당없음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04304" y="2633472"/>
            <a:ext cx="5102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패스워드 기반 인증 미사용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108960"/>
            <a:ext cx="1164031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3108960"/>
            <a:ext cx="603504" cy="53035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3255264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CS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" y="322783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6E"/>
                </a:solidFill>
                <a:latin typeface="맑은 고딕"/>
              </a:rPr>
              <a:t>CSRF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23160" y="3227832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인증·인가·세션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34840" y="3218688"/>
            <a:ext cx="685800" cy="310896"/>
          </a:xfrm>
          <a:prstGeom prst="rect">
            <a:avLst/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34840" y="3264408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C5500"/>
                </a:solidFill>
                <a:latin typeface="맑은 고딕"/>
              </a:rPr>
              <a:t>High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3200400"/>
            <a:ext cx="1645920" cy="347472"/>
          </a:xfrm>
          <a:prstGeom prst="rect">
            <a:avLst/>
          </a:prstGeom>
          <a:solidFill>
            <a:srgbClr val="D5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85232" y="3264408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✅ 양호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04304" y="3200400"/>
            <a:ext cx="5102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SameSite=strict 쿠키 + Next.js origin 자동 검증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3675888"/>
            <a:ext cx="11640312" cy="53035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74320" y="3675888"/>
            <a:ext cx="603504" cy="53035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3822192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SP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" y="379476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6E"/>
                </a:solidFill>
                <a:latin typeface="맑은 고딕"/>
              </a:rPr>
              <a:t>세션 예측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23160" y="3794760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인증·인가·세션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34840" y="3785616"/>
            <a:ext cx="685800" cy="310896"/>
          </a:xfrm>
          <a:prstGeom prst="rect">
            <a:avLst/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34840" y="3831336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C5500"/>
                </a:solidFill>
                <a:latin typeface="맑은 고딕"/>
              </a:rPr>
              <a:t>High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57800" y="3767328"/>
            <a:ext cx="1645920" cy="347472"/>
          </a:xfrm>
          <a:prstGeom prst="rect">
            <a:avLst/>
          </a:prstGeom>
          <a:solidFill>
            <a:srgbClr val="D5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85232" y="3831336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✅ 양호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04304" y="3767328"/>
            <a:ext cx="5102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HMAC-SHA256 토큰, PI_SESSION_SECRET 32자+ 검증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4242816"/>
            <a:ext cx="1164031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74320" y="4242816"/>
            <a:ext cx="603504" cy="53035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4320" y="4389120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WI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0120" y="436168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6E"/>
                </a:solidFill>
                <a:latin typeface="맑은 고딕"/>
              </a:rPr>
              <a:t>불충분한 인가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423160" y="4361688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인증·인가·세션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4840" y="4352544"/>
            <a:ext cx="685800" cy="310896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34840" y="4398264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2B2B"/>
                </a:solidFill>
                <a:latin typeface="맑은 고딕"/>
              </a:rPr>
              <a:t>Critical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257800" y="4334256"/>
            <a:ext cx="1645920" cy="347472"/>
          </a:xfrm>
          <a:prstGeom prst="rect">
            <a:avLst/>
          </a:prstGeom>
          <a:solidFill>
            <a:srgbClr val="D5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285232" y="4398264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✅ 양호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04304" y="4334256"/>
            <a:ext cx="5102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전 API getSessionUser()+isAdmin() 강제 적용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4809744"/>
            <a:ext cx="11640312" cy="53035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74320" y="4809744"/>
            <a:ext cx="603504" cy="53035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4956048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IE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0120" y="492861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6E"/>
                </a:solidFill>
                <a:latin typeface="맑은 고딕"/>
              </a:rPr>
              <a:t>세션 만료 미흡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423160" y="4928616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인증·인가·세션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434840" y="4919472"/>
            <a:ext cx="685800" cy="310896"/>
          </a:xfrm>
          <a:prstGeom prst="rect">
            <a:avLst/>
          </a:prstGeom>
          <a:solidFill>
            <a:srgbClr val="FFF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434840" y="4965192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08C00"/>
                </a:solidFill>
                <a:latin typeface="맑은 고딕"/>
              </a:rPr>
              <a:t>Medium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257800" y="4901184"/>
            <a:ext cx="1645920" cy="347472"/>
          </a:xfrm>
          <a:prstGeom prst="rect">
            <a:avLst/>
          </a:prstGeom>
          <a:solidFill>
            <a:srgbClr val="FDF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285232" y="4965192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06C10"/>
                </a:solidFill>
                <a:latin typeface="맑은 고딕"/>
              </a:rPr>
              <a:t>🔍 추가확인필요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04304" y="4901184"/>
            <a:ext cx="5102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30일 절대 만료 설정, 서버측 블랙리스트 미구현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376672"/>
            <a:ext cx="1164031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74320" y="5376672"/>
            <a:ext cx="603504" cy="53035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74320" y="5522976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SF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60120" y="549554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6E"/>
                </a:solidFill>
                <a:latin typeface="맑은 고딕"/>
              </a:rPr>
              <a:t>세션 고정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423160" y="5495544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인증·인가·세션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434840" y="5486400"/>
            <a:ext cx="685800" cy="310896"/>
          </a:xfrm>
          <a:prstGeom prst="rect">
            <a:avLst/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434840" y="5532120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C5500"/>
                </a:solidFill>
                <a:latin typeface="맑은 고딕"/>
              </a:rPr>
              <a:t>High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257800" y="5468112"/>
            <a:ext cx="1645920" cy="347472"/>
          </a:xfrm>
          <a:prstGeom prst="rect">
            <a:avLst/>
          </a:prstGeom>
          <a:solidFill>
            <a:srgbClr val="D5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285232" y="5532120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✅ 양호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004304" y="5468112"/>
            <a:ext cx="5102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로그인 시 매번 신규 토큰 발급, 구형 토큰 폐기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68603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432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08096"/>
                </a:solidFill>
                <a:latin typeface="맑은 고딕"/>
              </a:rPr>
              <a:t>cafe.pi  |  KISA 보안취약점 점검결과표  |  2026-06-23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4A8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상세 점검 결과 — 비즈니스·파일·정보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F0"/>
                </a:solidFill>
                <a:latin typeface="맑은 고딕"/>
              </a:rPr>
              <a:t>05. Business / File / Info (6개 항목)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78992"/>
            <a:ext cx="603504" cy="32004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11556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코드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078992"/>
            <a:ext cx="1472184" cy="32004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115568"/>
            <a:ext cx="1435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항목명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1078992"/>
            <a:ext cx="1883664" cy="32004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9736" y="1115568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영역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078992"/>
            <a:ext cx="832104" cy="32004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9976" y="1115568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위험도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1078992"/>
            <a:ext cx="1700784" cy="32004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8656" y="1115568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판정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1078992"/>
            <a:ext cx="5175504" cy="32004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6016" y="1115568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핵심 점검 결과 / 근거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408176"/>
            <a:ext cx="11640312" cy="53035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1408176"/>
            <a:ext cx="603504" cy="53035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1554480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AA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152704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6E"/>
                </a:solidFill>
                <a:latin typeface="맑은 고딕"/>
              </a:rPr>
              <a:t>자동화 공격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1527048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비즈니스 로직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1517904"/>
            <a:ext cx="685800" cy="310896"/>
          </a:xfrm>
          <a:prstGeom prst="rect">
            <a:avLst/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1563624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C5500"/>
                </a:solidFill>
                <a:latin typeface="맑은 고딕"/>
              </a:rP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57800" y="1499616"/>
            <a:ext cx="1645920" cy="347472"/>
          </a:xfrm>
          <a:prstGeom prst="rect">
            <a:avLst/>
          </a:prstGeom>
          <a:solidFill>
            <a:srgbClr val="D5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1563624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✅ 양호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04304" y="1499616"/>
            <a:ext cx="5102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7그룹 Sliding Window Rate Limit, withGuard 래퍼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975104"/>
            <a:ext cx="1164031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1975104"/>
            <a:ext cx="603504" cy="53035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121408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PV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209397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6E"/>
                </a:solidFill>
                <a:latin typeface="맑은 고딕"/>
              </a:rPr>
              <a:t>프로세스 검증 누락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2093976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비즈니스 로직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4840" y="2084832"/>
            <a:ext cx="685800" cy="310896"/>
          </a:xfrm>
          <a:prstGeom prst="rect">
            <a:avLst/>
          </a:prstGeom>
          <a:solidFill>
            <a:srgbClr val="FFF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2130552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08C00"/>
                </a:solidFill>
                <a:latin typeface="맑은 고딕"/>
              </a:rPr>
              <a:t>Medium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57800" y="2066544"/>
            <a:ext cx="1645920" cy="347472"/>
          </a:xfrm>
          <a:prstGeom prst="rect">
            <a:avLst/>
          </a:prstGeom>
          <a:solidFill>
            <a:srgbClr val="D5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85232" y="2130552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✅ 양호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2066544"/>
            <a:ext cx="5102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결제 3단계 검증, 구독 RPC 원자적, 소유권 확인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542032"/>
            <a:ext cx="11640312" cy="53035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2542032"/>
            <a:ext cx="603504" cy="53035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2688336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FU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266090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6E"/>
                </a:solidFill>
                <a:latin typeface="맑은 고딕"/>
              </a:rPr>
              <a:t>파일 업로드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23160" y="2660904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파일 처리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34840" y="2651760"/>
            <a:ext cx="685800" cy="310896"/>
          </a:xfrm>
          <a:prstGeom prst="rect">
            <a:avLst/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34840" y="2697480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C5500"/>
                </a:solidFill>
                <a:latin typeface="맑은 고딕"/>
              </a:rPr>
              <a:t>High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2633472"/>
            <a:ext cx="1645920" cy="347472"/>
          </a:xfrm>
          <a:prstGeom prst="rect">
            <a:avLst/>
          </a:prstGeom>
          <a:solidFill>
            <a:srgbClr val="D5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85232" y="2697480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✅ 양호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04304" y="2633472"/>
            <a:ext cx="5102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Magic Byte+MIME 화이트리스트+5MB 제한+UUID 저장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108960"/>
            <a:ext cx="1164031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3108960"/>
            <a:ext cx="603504" cy="53035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3255264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FD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" y="322783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6E"/>
                </a:solidFill>
                <a:latin typeface="맑은 고딕"/>
              </a:rPr>
              <a:t>파일 다운로드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23160" y="3227832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파일 처리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34840" y="3218688"/>
            <a:ext cx="685800" cy="310896"/>
          </a:xfrm>
          <a:prstGeom prst="rect">
            <a:avLst/>
          </a:prstGeom>
          <a:solidFill>
            <a:srgbClr val="FFF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34840" y="3264408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08C00"/>
                </a:solidFill>
                <a:latin typeface="맑은 고딕"/>
              </a:rPr>
              <a:t>Medium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3200400"/>
            <a:ext cx="1645920" cy="347472"/>
          </a:xfrm>
          <a:prstGeom prst="rect">
            <a:avLst/>
          </a:prstGeom>
          <a:solidFill>
            <a:srgbClr val="D5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85232" y="3264408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✅ 양호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04304" y="3200400"/>
            <a:ext cx="5102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Signed URL + 권한 확인 + 경로 정규식 검증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3675888"/>
            <a:ext cx="11640312" cy="53035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74320" y="3675888"/>
            <a:ext cx="603504" cy="53035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3822192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IL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" y="379476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6E"/>
                </a:solidFill>
                <a:latin typeface="맑은 고딕"/>
              </a:rPr>
              <a:t>정보 누출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23160" y="3794760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정보 보호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34840" y="3785616"/>
            <a:ext cx="685800" cy="310896"/>
          </a:xfrm>
          <a:prstGeom prst="rect">
            <a:avLst/>
          </a:prstGeom>
          <a:solidFill>
            <a:srgbClr val="FFF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34840" y="3831336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08C00"/>
                </a:solidFill>
                <a:latin typeface="맑은 고딕"/>
              </a:rPr>
              <a:t>Medium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57800" y="3767328"/>
            <a:ext cx="1645920" cy="347472"/>
          </a:xfrm>
          <a:prstGeom prst="rect">
            <a:avLst/>
          </a:prstGeom>
          <a:solidFill>
            <a:srgbClr val="FDF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85232" y="3831336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06C10"/>
                </a:solidFill>
                <a:latin typeface="맑은 고딕"/>
              </a:rPr>
              <a:t>🔍 추가확인필요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04304" y="3767328"/>
            <a:ext cx="5102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에러 메시지 일반화 완료, DB 컬럼명 노출 가능성 검토 필요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4242816"/>
            <a:ext cx="1164031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74320" y="4242816"/>
            <a:ext cx="603504" cy="53035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4320" y="4389120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DT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0120" y="436168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6E"/>
                </a:solidFill>
                <a:latin typeface="맑은 고딕"/>
              </a:rPr>
              <a:t>데이터 평문 전송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423160" y="4361688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정보 보호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4840" y="4352544"/>
            <a:ext cx="685800" cy="310896"/>
          </a:xfrm>
          <a:prstGeom prst="rect">
            <a:avLst/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34840" y="4398264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C5500"/>
                </a:solidFill>
                <a:latin typeface="맑은 고딕"/>
              </a:rPr>
              <a:t>High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257800" y="4334256"/>
            <a:ext cx="1645920" cy="347472"/>
          </a:xfrm>
          <a:prstGeom prst="rect">
            <a:avLst/>
          </a:prstGeom>
          <a:solidFill>
            <a:srgbClr val="D5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285232" y="4398264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✅ 양호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04304" y="4334256"/>
            <a:ext cx="5102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HSTS(63072000s) + Vercel Pro HTTPS + secure 쿠키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68603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432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08096"/>
                </a:solidFill>
                <a:latin typeface="맑은 고딕"/>
              </a:rPr>
              <a:t>cafe.pi  |  KISA 보안취약점 점검결과표  |  2026-06-23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4A8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상세 점검 결과 — 웹 서버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F0"/>
                </a:solidFill>
                <a:latin typeface="맑은 고딕"/>
              </a:rPr>
              <a:t>06. Web Server Configuration (DI·AE·PL·MS)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78992"/>
            <a:ext cx="603504" cy="32004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11556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코드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078992"/>
            <a:ext cx="1472184" cy="32004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115568"/>
            <a:ext cx="1435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항목명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1078992"/>
            <a:ext cx="1883664" cy="32004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9736" y="1115568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영역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078992"/>
            <a:ext cx="832104" cy="32004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9976" y="1115568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위험도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1078992"/>
            <a:ext cx="1700784" cy="32004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8656" y="1115568"/>
            <a:ext cx="1664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판정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1078992"/>
            <a:ext cx="5175504" cy="32004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6016" y="1115568"/>
            <a:ext cx="5138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핵심 점검 결과 / 근거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408176"/>
            <a:ext cx="11640312" cy="53035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1408176"/>
            <a:ext cx="603504" cy="53035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1554480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152704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6E"/>
                </a:solidFill>
                <a:latin typeface="맑은 고딕"/>
              </a:rPr>
              <a:t>디렉터리 인덱싱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1527048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웹 서버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1517904"/>
            <a:ext cx="685800" cy="310896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1563624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57800" y="1499616"/>
            <a:ext cx="1645920" cy="347472"/>
          </a:xfrm>
          <a:prstGeom prst="rect">
            <a:avLst/>
          </a:prstGeom>
          <a:solidFill>
            <a:srgbClr val="D5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1563624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✅ 양호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04304" y="1499616"/>
            <a:ext cx="5102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Next.js App Router 구조, 파일시스템 직접 열거 불가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975104"/>
            <a:ext cx="1164031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1975104"/>
            <a:ext cx="603504" cy="53035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121408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AE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2093976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6E"/>
                </a:solidFill>
                <a:latin typeface="맑은 고딕"/>
              </a:rPr>
              <a:t>관리자 페이지 노출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2093976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웹 서버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4840" y="2084832"/>
            <a:ext cx="685800" cy="310896"/>
          </a:xfrm>
          <a:prstGeom prst="rect">
            <a:avLst/>
          </a:prstGeom>
          <a:solidFill>
            <a:srgbClr val="FFF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2130552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08C00"/>
                </a:solidFill>
                <a:latin typeface="맑은 고딕"/>
              </a:rPr>
              <a:t>Medium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57800" y="2066544"/>
            <a:ext cx="1645920" cy="347472"/>
          </a:xfrm>
          <a:prstGeom prst="rect">
            <a:avLst/>
          </a:prstGeom>
          <a:solidFill>
            <a:srgbClr val="D5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85232" y="2130552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✅ 양호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2066544"/>
            <a:ext cx="5102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/admin/* RBAC 필수, ClientAdminGate 패턴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542032"/>
            <a:ext cx="11640312" cy="530352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2542032"/>
            <a:ext cx="603504" cy="53035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2688336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PL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266090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6E"/>
                </a:solidFill>
                <a:latin typeface="맑은 고딕"/>
              </a:rPr>
              <a:t>위치 공개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23160" y="2660904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웹 서버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34840" y="2651760"/>
            <a:ext cx="685800" cy="310896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34840" y="2697480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Low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2633472"/>
            <a:ext cx="1645920" cy="347472"/>
          </a:xfrm>
          <a:prstGeom prst="rect">
            <a:avLst/>
          </a:prstGeom>
          <a:solidFill>
            <a:srgbClr val="D5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85232" y="2697480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✅ 양호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04304" y="2633472"/>
            <a:ext cx="5102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소스맵 비배포, NEXT_PUBLIC_ 구분, 스택트레이스 마스킹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108960"/>
            <a:ext cx="1164031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3108960"/>
            <a:ext cx="603504" cy="53035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3255264"/>
            <a:ext cx="603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" y="322783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356E"/>
                </a:solidFill>
                <a:latin typeface="맑은 고딕"/>
              </a:rPr>
              <a:t>HTTP 메서드 설정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23160" y="3227832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웹 서버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34840" y="3218688"/>
            <a:ext cx="685800" cy="310896"/>
          </a:xfrm>
          <a:prstGeom prst="rect">
            <a:avLst/>
          </a:prstGeom>
          <a:solidFill>
            <a:srgbClr val="F0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34840" y="3264408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Low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3200400"/>
            <a:ext cx="1645920" cy="347472"/>
          </a:xfrm>
          <a:prstGeom prst="rect">
            <a:avLst/>
          </a:prstGeom>
          <a:solidFill>
            <a:srgbClr val="D5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85232" y="3264408"/>
            <a:ext cx="1591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✅ 양호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04304" y="3200400"/>
            <a:ext cx="5102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GET/POST/PUT/DELETE만, TRACE/CONNECT 비활성(Vercel)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68603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08096"/>
                </a:solidFill>
                <a:latin typeface="맑은 고딕"/>
              </a:rPr>
              <a:t>cafe.pi  |  KISA 보안취약점 점검결과표  |  2026-06-23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4A8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보안 조치 이행 내역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F0"/>
                </a:solidFill>
                <a:latin typeface="맑은 고딕"/>
              </a:rPr>
              <a:t>07. Applied Security Controls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969264" cy="34747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5214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1097280"/>
            <a:ext cx="1975104" cy="34747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15214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</a:rPr>
              <a:t>조치 항목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097280"/>
            <a:ext cx="5907024" cy="34747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152144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</a:rPr>
              <a:t>상세 내용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097280"/>
            <a:ext cx="969264" cy="34747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15214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</a:rPr>
              <a:t>상태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0" y="1097280"/>
            <a:ext cx="877824" cy="34747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115214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</a:rPr>
              <a:t>위험도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463040"/>
            <a:ext cx="11640312" cy="493776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554480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81818"/>
                </a:solidFill>
                <a:latin typeface="맑은 고딕"/>
              </a:rPr>
              <a:t>KISA-FU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1554480"/>
            <a:ext cx="1938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81818"/>
                </a:solidFill>
                <a:latin typeface="맑은 고딕"/>
              </a:rPr>
              <a:t>파일 업로드 MIME 화이트리스트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1554480"/>
            <a:ext cx="5870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카테고리별 허용 MIME Map 적용 (board/attachments route.ts)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1554480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완료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1554480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06C10"/>
                </a:solidFill>
                <a:latin typeface="맑은 고딕"/>
              </a:rPr>
              <a:t>HIGH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993392"/>
            <a:ext cx="1164031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084832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81818"/>
                </a:solidFill>
                <a:latin typeface="맑은 고딕"/>
              </a:rPr>
              <a:t>KISA-IL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2084832"/>
            <a:ext cx="1938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81818"/>
                </a:solidFill>
                <a:latin typeface="맑은 고딕"/>
              </a:rPr>
              <a:t>에러 메시지 정보 누출 방지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2084832"/>
            <a:ext cx="5870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API 오류 응답 일반화 — Supabase 상세 오류 서버 로그로만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084832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완료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2084832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06C10"/>
                </a:solidFill>
                <a:latin typeface="맑은 고딕"/>
              </a:rPr>
              <a:t>HIGH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523744"/>
            <a:ext cx="11640312" cy="493776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615184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81818"/>
                </a:solidFill>
                <a:latin typeface="맑은 고딕"/>
              </a:rPr>
              <a:t>KISA-XS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2615184"/>
            <a:ext cx="1938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81818"/>
                </a:solidFill>
                <a:latin typeface="맑은 고딕"/>
              </a:rPr>
              <a:t>XSS 저장 시점 이중 방어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2615184"/>
            <a:ext cx="5870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sanitize.ts 신규 (sanitizePlain/Markdown/Title) + 3개 route 적용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2615184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완료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2615184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2B2B"/>
                </a:solidFill>
                <a:latin typeface="맑은 고딕"/>
              </a:rPr>
              <a:t>CRIT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054096"/>
            <a:ext cx="1164031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145536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81818"/>
                </a:solidFill>
                <a:latin typeface="맑은 고딕"/>
              </a:rPr>
              <a:t>KISA-AA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3145536"/>
            <a:ext cx="1938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81818"/>
                </a:solidFill>
                <a:latin typeface="맑은 고딕"/>
              </a:rPr>
              <a:t>자동화 공격 Rate Limit 확대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3145536"/>
            <a:ext cx="5870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withGuard 6개 핵심 라우트 추가 (결제·구독·빈·팁 등)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3145536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완료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3145536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06C10"/>
                </a:solidFill>
                <a:latin typeface="맑은 고딕"/>
              </a:rPr>
              <a:t>HIGH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584448"/>
            <a:ext cx="11640312" cy="493776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3675888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81818"/>
                </a:solidFill>
                <a:latin typeface="맑은 고딕"/>
              </a:rPr>
              <a:t>KISA-CS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25880" y="3675888"/>
            <a:ext cx="1938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81818"/>
                </a:solidFill>
                <a:latin typeface="맑은 고딕"/>
              </a:rPr>
              <a:t>Origin Hostname 정확 비교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675888"/>
            <a:ext cx="5870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origin.includes() → new URL(origin).hostname 정확 비교로 교체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3675888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완료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87000" y="3675888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06C10"/>
                </a:solidFill>
                <a:latin typeface="맑은 고딕"/>
              </a:rPr>
              <a:t>HIGH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114800"/>
            <a:ext cx="1164031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4206240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81818"/>
                </a:solidFill>
                <a:latin typeface="맑은 고딕"/>
              </a:rPr>
              <a:t>KISA-AA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25880" y="4206240"/>
            <a:ext cx="1938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81818"/>
                </a:solidFill>
                <a:latin typeface="맑은 고딕"/>
              </a:rPr>
              <a:t>IP 위조 Rate Limit 우회 방지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37560" y="4206240"/>
            <a:ext cx="5870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x-forwarded-for 마지막 항목(Vercel append) 사용으로 수정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81160" y="4206240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완료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87000" y="4206240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06C10"/>
                </a:solidFill>
                <a:latin typeface="맑은 고딕"/>
              </a:rPr>
              <a:t>HIGH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645152"/>
            <a:ext cx="11640312" cy="493776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4736592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81818"/>
                </a:solidFill>
                <a:latin typeface="맑은 고딕"/>
              </a:rPr>
              <a:t>DDoS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25880" y="4736592"/>
            <a:ext cx="1938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81818"/>
                </a:solidFill>
                <a:latin typeface="맑은 고딕"/>
              </a:rPr>
              <a:t>5계층 DDoS 방어 인프라 구축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37560" y="4736592"/>
            <a:ext cx="5870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Sliding Window RL 7그룹 + 악성 봇 UA 차단 + withGuard 래퍼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81160" y="4736592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완료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87000" y="4736592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B06C10"/>
                </a:solidFill>
                <a:latin typeface="맑은 고딕"/>
              </a:rPr>
              <a:t>HIGH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5175504"/>
            <a:ext cx="1164031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5266944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81818"/>
                </a:solidFill>
                <a:latin typeface="맑은 고딕"/>
              </a:rPr>
              <a:t>Header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25880" y="5266944"/>
            <a:ext cx="19385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81818"/>
                </a:solidFill>
                <a:latin typeface="맑은 고딕"/>
              </a:rPr>
              <a:t>보안 응답 헤더 설정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37560" y="5266944"/>
            <a:ext cx="5870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81818"/>
                </a:solidFill>
                <a:latin typeface="맑은 고딕"/>
              </a:rPr>
              <a:t>X-Content-Type-Options·Referrer-Policy·HSTS·Permissions-Policy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81160" y="5266944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56D3C"/>
                </a:solidFill>
                <a:latin typeface="맑은 고딕"/>
              </a:rPr>
              <a:t>완료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87000" y="5266944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C356E"/>
                </a:solidFill>
                <a:latin typeface="맑은 고딕"/>
              </a:rPr>
              <a:t>MED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6217920"/>
            <a:ext cx="11640312" cy="41148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1480" y="6254496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C356E"/>
                </a:solidFill>
                <a:latin typeface="맑은 고딕"/>
              </a:rPr>
              <a:t>📌  위 조치는 2026-06-23 perf/phase1-quick-wins → master 브랜치에 커밋 및 Vercel 배포 완료.  커밋 해시: ff12664·1cc9e55·dbb1386·f7afdaa·01f1a58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68603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432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08096"/>
                </a:solidFill>
                <a:latin typeface="맑은 고딕"/>
              </a:rPr>
              <a:t>cafe.pi  |  KISA 보안취약점 점검결과표  |  2026-06-23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4A8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잔존 리스크 및 조치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F0"/>
                </a:solidFill>
                <a:latin typeface="맑은 고딕"/>
              </a:rPr>
              <a:t>08. Residual Risks &amp; Action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66928" cy="34747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5214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코드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097280"/>
            <a:ext cx="1801368" cy="34747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15214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잔존 위험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1097280"/>
            <a:ext cx="795528" cy="34747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115214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위험도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1097280"/>
            <a:ext cx="2258568" cy="34747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15214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현황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1097280"/>
            <a:ext cx="3081528" cy="34747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6440" y="115214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조치 방법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1097280"/>
            <a:ext cx="795528" cy="34747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115214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기한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38360" y="1097280"/>
            <a:ext cx="795528" cy="347472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115214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담당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463040"/>
            <a:ext cx="11640312" cy="475488"/>
          </a:xfrm>
          <a:prstGeom prst="rect">
            <a:avLst/>
          </a:prstGeom>
          <a:solidFill>
            <a:srgbClr val="FDF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" y="1536192"/>
            <a:ext cx="539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1818"/>
                </a:solidFill>
                <a:latin typeface="맑은 고딕"/>
              </a:rPr>
              <a:t>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1536192"/>
            <a:ext cx="1773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81818"/>
                </a:solidFill>
                <a:latin typeface="맑은 고딕"/>
              </a:rPr>
              <a:t>세션 만료 미흡
(서버 블랙리스트 부재)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34056" y="1536192"/>
            <a:ext cx="768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B06C10"/>
                </a:solidFill>
                <a:latin typeface="맑은 고딕"/>
              </a:rPr>
              <a:t>Medium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016" y="1536192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81818"/>
                </a:solidFill>
                <a:latin typeface="맑은 고딕"/>
              </a:rPr>
              <a:t>30일 절대 만료만. 로그아웃 후 토큰 유효 시간 내 재사용 이론적 가능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3016" y="153619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81818"/>
                </a:solidFill>
                <a:latin typeface="맑은 고딕"/>
              </a:rPr>
              <a:t>sys_user.token_version 컬럼 추가 → 로그아웃 시 버전 증가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51976" y="1536192"/>
            <a:ext cx="768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6C10"/>
                </a:solidFill>
                <a:latin typeface="맑은 고딕"/>
              </a:rPr>
              <a:t>30일 이내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74936" y="1536192"/>
            <a:ext cx="768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1818"/>
                </a:solidFill>
                <a:latin typeface="맑은 고딕"/>
              </a:rPr>
              <a:t>개발팀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975104"/>
            <a:ext cx="11640312" cy="475488"/>
          </a:xfrm>
          <a:prstGeom prst="rect">
            <a:avLst/>
          </a:prstGeom>
          <a:solidFill>
            <a:srgbClr val="FDF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" y="2048256"/>
            <a:ext cx="539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1818"/>
                </a:solidFill>
                <a:latin typeface="맑은 고딕"/>
              </a:rPr>
              <a:t>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2048256"/>
            <a:ext cx="1773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81818"/>
                </a:solidFill>
                <a:latin typeface="맑은 고딕"/>
              </a:rPr>
              <a:t>정보 누출
(DB 컬럼명 노출 가능)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34056" y="2048256"/>
            <a:ext cx="768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B06C10"/>
                </a:solidFill>
                <a:latin typeface="맑은 고딕"/>
              </a:rPr>
              <a:t>Medium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57016" y="2048256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81818"/>
                </a:solidFill>
                <a:latin typeface="맑은 고딕"/>
              </a:rPr>
              <a:t>에러 일반화 완료. Supabase 상세 오류가 일부 응답에 잔존 가능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3016" y="2048256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81818"/>
                </a:solidFill>
                <a:latin typeface="맑은 고딕"/>
              </a:rPr>
              <a:t>전 API 에러 응답 감시 + Supabase 오류 필터 전수 점검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1976" y="2048256"/>
            <a:ext cx="768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6C10"/>
                </a:solidFill>
                <a:latin typeface="맑은 고딕"/>
              </a:rPr>
              <a:t>30일 이내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74936" y="2048256"/>
            <a:ext cx="768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1818"/>
                </a:solidFill>
                <a:latin typeface="맑은 고딕"/>
              </a:rPr>
              <a:t>개발팀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487168"/>
            <a:ext cx="11640312" cy="475488"/>
          </a:xfrm>
          <a:prstGeom prst="rect">
            <a:avLst/>
          </a:prstGeom>
          <a:solidFill>
            <a:srgbClr val="FDF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" y="2560320"/>
            <a:ext cx="539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1818"/>
                </a:solidFill>
                <a:latin typeface="맑은 고딕"/>
              </a:rPr>
              <a:t>MC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2560320"/>
            <a:ext cx="1773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81818"/>
                </a:solidFill>
                <a:latin typeface="맑은 고딕"/>
              </a:rPr>
              <a:t>악성 콘텐츠
(바이러스 스캔 미적용)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34056" y="2560320"/>
            <a:ext cx="768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B06C10"/>
                </a:solidFill>
                <a:latin typeface="맑은 고딕"/>
              </a:rPr>
              <a:t>Medium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57016" y="2560320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81818"/>
                </a:solidFill>
                <a:latin typeface="맑은 고딕"/>
              </a:rPr>
              <a:t>Magic Byte + MIME 화이트리스트 완료. 바이러스 스캔 없음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3016" y="2560320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81818"/>
                </a:solidFill>
                <a:latin typeface="맑은 고딕"/>
              </a:rPr>
              <a:t>ClamAV 클라우드 API 또는 VirusTotal API 연동 검토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51976" y="2560320"/>
            <a:ext cx="768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6C10"/>
                </a:solidFill>
                <a:latin typeface="맑은 고딕"/>
              </a:rPr>
              <a:t>60일 이내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74936" y="2560320"/>
            <a:ext cx="768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1818"/>
                </a:solidFill>
                <a:latin typeface="맑은 고딕"/>
              </a:rPr>
              <a:t>운영팀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2999232"/>
            <a:ext cx="11640312" cy="475488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0896" y="3072384"/>
            <a:ext cx="539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1818"/>
                </a:solidFill>
                <a:latin typeface="맑은 고딕"/>
              </a:rPr>
              <a:t>-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3072384"/>
            <a:ext cx="1773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81818"/>
                </a:solidFill>
                <a:latin typeface="맑은 고딕"/>
              </a:rPr>
              <a:t>Vercel WAF/BotID 수동 미활성화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34056" y="3072384"/>
            <a:ext cx="768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C356E"/>
                </a:solidFill>
                <a:latin typeface="맑은 고딕"/>
              </a:rPr>
              <a:t>Low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57016" y="3072384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81818"/>
                </a:solidFill>
                <a:latin typeface="맑은 고딕"/>
              </a:rPr>
              <a:t>Vercel 대시보드에서 WAF 및 BotID 기능 활성화 필요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3016" y="3072384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81818"/>
                </a:solidFill>
                <a:latin typeface="맑은 고딕"/>
              </a:rPr>
              <a:t>Vercel 대시보드 → Security → WAF Enable + BotID Enable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51976" y="3072384"/>
            <a:ext cx="768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2B2B"/>
                </a:solidFill>
                <a:latin typeface="맑은 고딕"/>
              </a:rPr>
              <a:t>즉시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74936" y="3072384"/>
            <a:ext cx="768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1818"/>
                </a:solidFill>
                <a:latin typeface="맑은 고딕"/>
              </a:rPr>
              <a:t>운영팀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511296"/>
            <a:ext cx="11640312" cy="475488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0896" y="3584448"/>
            <a:ext cx="539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1818"/>
                </a:solidFill>
                <a:latin typeface="맑은 고딕"/>
              </a:rPr>
              <a:t>-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" y="3584448"/>
            <a:ext cx="1773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81818"/>
                </a:solidFill>
                <a:latin typeface="맑은 고딕"/>
              </a:rPr>
              <a:t>Supabase Statement Timeout 미설정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34056" y="3584448"/>
            <a:ext cx="768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C356E"/>
                </a:solidFill>
                <a:latin typeface="맑은 고딕"/>
              </a:rPr>
              <a:t>Low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57016" y="3584448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81818"/>
                </a:solidFill>
                <a:latin typeface="맑은 고딕"/>
              </a:rPr>
              <a:t>Long-running query 공격에 의한 DB 부하 가능성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43016" y="3584448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81818"/>
                </a:solidFill>
                <a:latin typeface="맑은 고딕"/>
              </a:rPr>
              <a:t>ALTER DATABASE postgres SET statement_timeout = '30s'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51976" y="3584448"/>
            <a:ext cx="768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2B2B"/>
                </a:solidFill>
                <a:latin typeface="맑은 고딕"/>
              </a:rPr>
              <a:t>즉시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74936" y="3584448"/>
            <a:ext cx="768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1818"/>
                </a:solidFill>
                <a:latin typeface="맑은 고딕"/>
              </a:rPr>
              <a:t>DBA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4023360"/>
            <a:ext cx="11640312" cy="475488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" y="4096512"/>
            <a:ext cx="539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1818"/>
                </a:solidFill>
                <a:latin typeface="맑은 고딕"/>
              </a:rPr>
              <a:t>-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6" y="4096512"/>
            <a:ext cx="17739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81818"/>
                </a:solidFill>
                <a:latin typeface="맑은 고딕"/>
              </a:rPr>
              <a:t>Pi Session TTL 장기(24시간)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34056" y="4096512"/>
            <a:ext cx="768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C356E"/>
                </a:solidFill>
                <a:latin typeface="맑은 고딕"/>
              </a:rPr>
              <a:t>Low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57016" y="4096512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81818"/>
                </a:solidFill>
                <a:latin typeface="맑은 고딕"/>
              </a:rPr>
              <a:t>현재 PI_TOKEN_TTL_MS 기본값 24h. 세션 탈취 시 노출 시간 과다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43016" y="4096512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81818"/>
                </a:solidFill>
                <a:latin typeface="맑은 고딕"/>
              </a:rPr>
              <a:t>PI_TOKEN_TTL_MS=3600000 환경 변수 설정 (1시간)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51976" y="4096512"/>
            <a:ext cx="768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6C10"/>
                </a:solidFill>
                <a:latin typeface="맑은 고딕"/>
              </a:rPr>
              <a:t>30일 이내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74936" y="4096512"/>
            <a:ext cx="768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81818"/>
                </a:solidFill>
                <a:latin typeface="맑은 고딕"/>
              </a:rPr>
              <a:t>개발팀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68603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32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08096"/>
                </a:solidFill>
                <a:latin typeface="맑은 고딕"/>
              </a:rPr>
              <a:t>cafe.pi  |  KISA 보안취약점 점검결과표  |  2026-06-23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4A8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결론 및 향후 관리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8C8F0"/>
                </a:solidFill>
                <a:latin typeface="맑은 고딕"/>
              </a:rPr>
              <a:t>09. Conclusion &amp; Ongoing Security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11640312" cy="150876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73152" cy="15087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356E"/>
                </a:solidFill>
                <a:latin typeface="맑은 고딕"/>
              </a:rPr>
              <a:t>종합 평가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1136599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81818"/>
                </a:solidFill>
                <a:latin typeface="맑은 고딕"/>
              </a:rPr>
              <a:t>cafe.pi는 KISA 21개 웹 취약점 기준 총 23개 세부 항목 점검 결과, ■ 양호 18개 (78%)  ■ 추가확인 필요 3개  ■ 해당없음 2개로 평가됩니다.
SQL 인젝션·XSS·인증·인가·세션 관리 등 Critical·High 핵심 항목은 모두 '양호' 판정을 받았으며, Pi Browser 특수 아키텍처(쿠키 비저장, X-Pi-Token 이중 경로) 대응 설계도 충족합니다. 잔존 위험(IE·IL·MC)은 30~60일 내 조치 계획으로 관리하며, Vercel WAF·BotID는 즉시 활성화가 권고됩니다.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743200"/>
            <a:ext cx="11640312" cy="384048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980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정기 점검 계획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00400"/>
            <a:ext cx="822960" cy="5486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34670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월 1회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3200400"/>
            <a:ext cx="5120640" cy="54864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25526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356E"/>
                </a:solidFill>
                <a:latin typeface="맑은 고딕"/>
              </a:rPr>
              <a:t>의존성 취약점 검사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47472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05050"/>
                </a:solidFill>
                <a:latin typeface="맑은 고딕"/>
              </a:rPr>
              <a:t>pnpm audit / npm audit —audit-level=high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200400"/>
            <a:ext cx="822960" cy="548640"/>
          </a:xfrm>
          <a:prstGeom prst="rect">
            <a:avLst/>
          </a:prstGeom>
          <a:solidFill>
            <a:srgbClr val="156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34670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분기 1회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3200400"/>
            <a:ext cx="5120640" cy="54864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6912" y="3255264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356E"/>
                </a:solidFill>
                <a:latin typeface="맑은 고딕"/>
              </a:rPr>
              <a:t>API 로그 감시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6912" y="347472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05050"/>
                </a:solidFill>
                <a:latin typeface="맑은 고딕"/>
              </a:rPr>
              <a:t>비정상 접근 패턴 분석, Rate Limit 임계값 조정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22192"/>
            <a:ext cx="822960" cy="5486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396849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분기 1회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3822192"/>
            <a:ext cx="5120640" cy="54864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2" y="3877056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356E"/>
                </a:solidFill>
                <a:latin typeface="맑은 고딕"/>
              </a:rPr>
              <a:t>세션 정책 검토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40965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05050"/>
                </a:solidFill>
                <a:latin typeface="맑은 고딕"/>
              </a:rPr>
              <a:t>PI_TOKEN_TTL_MS 조정, 블랙리스트 테이블 점검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822192"/>
            <a:ext cx="822960" cy="548640"/>
          </a:xfrm>
          <a:prstGeom prst="rect">
            <a:avLst/>
          </a:prstGeom>
          <a:solidFill>
            <a:srgbClr val="156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96849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반기 1회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60" y="3822192"/>
            <a:ext cx="5120640" cy="54864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96912" y="3877056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356E"/>
                </a:solidFill>
                <a:latin typeface="맑은 고딕"/>
              </a:rPr>
              <a:t>전체 보안 점검 갱신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96912" y="40965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05050"/>
                </a:solidFill>
                <a:latin typeface="맑은 고딕"/>
              </a:rPr>
              <a:t>KISA 가이드 개정 대응, 신규 기능 항목 추가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443984"/>
            <a:ext cx="822960" cy="5486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459028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수시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4443984"/>
            <a:ext cx="5120640" cy="548640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70432" y="4498848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356E"/>
                </a:solidFill>
                <a:latin typeface="맑은 고딕"/>
              </a:rPr>
              <a:t>Zero-day 대응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0432" y="471830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05050"/>
                </a:solidFill>
                <a:latin typeface="맑은 고딕"/>
              </a:rPr>
              <a:t>next-auth β 취약점 모니터링, 즉시 패치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6035040"/>
            <a:ext cx="11640312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6035040"/>
            <a:ext cx="45720" cy="640080"/>
          </a:xfrm>
          <a:prstGeom prst="rect">
            <a:avLst/>
          </a:prstGeom>
          <a:solidFill>
            <a:srgbClr val="1C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14476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점검 수행: Security Auditor (Claude Code)     |     점검 일자: 2026-06-23     |     다음 정기 점검 예정: 2026-09-23 (분기)     |     문서 버전: v2.0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8603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6"/>
                </a:solidFill>
                <a:latin typeface="맑은 고딕"/>
              </a:rPr>
              <a:t>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08096"/>
                </a:solidFill>
                <a:latin typeface="맑은 고딕"/>
              </a:rPr>
              <a:t>cafe.pi  |  KISA 보안취약점 점검결과표  |  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