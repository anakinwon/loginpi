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69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3B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46320" y="-1463040"/>
            <a:ext cx="3474720" cy="3474720"/>
          </a:xfrm>
          <a:prstGeom prst="ellipse">
            <a:avLst/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280160" y="10362895"/>
            <a:ext cx="2926080" cy="2926080"/>
          </a:xfrm>
          <a:prstGeom prst="ellipse">
            <a:avLst/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1480" y="2377440"/>
            <a:ext cx="1371600" cy="13716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1371600" cy="13716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5400" b="0" i="0">
                <a:solidFill>
                  <a:srgbClr val="FFFFFF"/>
                </a:solidFill>
                <a:latin typeface="Malgun Gothic"/>
              </a:rPr>
              <a:t>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14800"/>
            <a:ext cx="603504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5600" b="1" i="0">
                <a:solidFill>
                  <a:srgbClr val="FFFFFF"/>
                </a:solidFill>
                <a:latin typeface="Malgun Gothic"/>
              </a:rPr>
              <a:t>Cafe.pi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49240"/>
            <a:ext cx="603504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3000" b="1" i="0">
                <a:solidFill>
                  <a:srgbClr val="F4A52A"/>
                </a:solidFill>
                <a:latin typeface="Malgun Gothic"/>
              </a:rPr>
              <a:t>쉬운 사용 설명서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60350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0" i="0">
                <a:solidFill>
                  <a:srgbClr val="E9DED3"/>
                </a:solidFill>
                <a:latin typeface="Malgun Gothic"/>
              </a:rPr>
              <a:t>컴퓨터를 잘 몰라도 괜찮아요.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500" b="0" i="0">
                <a:solidFill>
                  <a:srgbClr val="E9DED3"/>
                </a:solidFill>
                <a:latin typeface="Malgun Gothic"/>
              </a:rPr>
              <a:t>그림과 순서대로 따라만 하세요. 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7955279"/>
            <a:ext cx="6035040" cy="1463040"/>
          </a:xfrm>
          <a:prstGeom prst="roundRect">
            <a:avLst>
              <a:gd name="adj" fmla="val 8000"/>
            </a:avLst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7955279"/>
            <a:ext cx="5394960" cy="1463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200" b="1" i="0">
                <a:solidFill>
                  <a:srgbClr val="F4A52A"/>
                </a:solidFill>
                <a:latin typeface="Malgun Gothic"/>
              </a:rPr>
              <a:t>이 설명서로 배우는 것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Malgun Gothic"/>
              </a:rPr>
              <a:t>로그인 · Bean · 구독 · 카페와 동시통역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Malgun Gothic"/>
              </a:rPr>
              <a:t>· 중고장터 · 내 가게(O2O)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277295"/>
            <a:ext cx="6035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00" b="0" i="1">
                <a:solidFill>
                  <a:srgbClr val="8A7A6D"/>
                </a:solidFill>
                <a:latin typeface="Malgun Gothic"/>
              </a:rPr>
              <a:t>작은 카페에서 시작해, 전 세계로. 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46304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603504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2600" b="1" i="0">
                <a:solidFill>
                  <a:srgbClr val="3B2A20"/>
                </a:solidFill>
                <a:latin typeface="Malgun Gothic"/>
              </a:rPr>
              <a:t>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6035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8A7A6D"/>
                </a:solidFill>
                <a:latin typeface="Malgun Gothic"/>
              </a:rPr>
              <a:t>이 설명서로 배우는 7가지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6035040" cy="125442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6072" y="2071965"/>
            <a:ext cx="676656" cy="676656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2071965"/>
            <a:ext cx="676656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783080"/>
            <a:ext cx="4892040" cy="125442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600" b="1" i="0">
                <a:solidFill>
                  <a:srgbClr val="3B2A20"/>
                </a:solidFill>
                <a:latin typeface="Malgun Gothic"/>
              </a:rPr>
              <a:t>1. 로그인하기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250" b="0" i="0">
                <a:solidFill>
                  <a:srgbClr val="8A7A6D"/>
                </a:solidFill>
                <a:latin typeface="Malgun Gothic"/>
              </a:rPr>
              <a:t>Pi 계정·구글 계정을 하나로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202098"/>
            <a:ext cx="6035040" cy="125442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6072" y="3490983"/>
            <a:ext cx="676656" cy="676656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3490983"/>
            <a:ext cx="676656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577960"/>
            <a:ext cx="4892040" cy="50270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600" b="1" i="0" dirty="0">
                <a:solidFill>
                  <a:srgbClr val="3B2A20"/>
                </a:solidFill>
                <a:latin typeface="Malgun Gothic"/>
              </a:rPr>
              <a:t>2. Bean </a:t>
            </a:r>
            <a:r>
              <a:rPr lang="en-US" sz="1600" b="1" i="0" dirty="0" err="1">
                <a:solidFill>
                  <a:srgbClr val="3B2A20"/>
                </a:solidFill>
                <a:latin typeface="Malgun Gothic"/>
              </a:rPr>
              <a:t>Token</a:t>
            </a:r>
            <a:r>
              <a:rPr sz="1600" b="1" i="0" dirty="0" err="1">
                <a:solidFill>
                  <a:srgbClr val="3B2A20"/>
                </a:solidFill>
                <a:latin typeface="Malgun Gothic"/>
              </a:rPr>
              <a:t>알기</a:t>
            </a:r>
            <a:r>
              <a:rPr lang="en-US" sz="1600" b="1" i="0" dirty="0">
                <a:solidFill>
                  <a:srgbClr val="3B2A20"/>
                </a:solidFill>
                <a:latin typeface="Malgun Gothic"/>
              </a:rPr>
              <a:t> (PiRC1-</a:t>
            </a:r>
            <a:r>
              <a:rPr lang="ko-KR" altLang="en-US" sz="1600" b="1" i="0" dirty="0">
                <a:solidFill>
                  <a:srgbClr val="3B2A20"/>
                </a:solidFill>
                <a:latin typeface="Malgun Gothic"/>
              </a:rPr>
              <a:t>토큰발행</a:t>
            </a:r>
            <a:r>
              <a:rPr lang="en-US" sz="1600" b="1" i="0" dirty="0">
                <a:solidFill>
                  <a:srgbClr val="3B2A20"/>
                </a:solidFill>
                <a:latin typeface="Malgun Gothic"/>
              </a:rPr>
              <a:t>)</a:t>
            </a:r>
            <a:endParaRPr sz="1600" b="1" i="0" dirty="0">
              <a:solidFill>
                <a:srgbClr val="3B2A20"/>
              </a:solidFill>
              <a:latin typeface="Malgun Gothic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lang="ko-KR" altLang="en-US" sz="1250" b="0" i="0" dirty="0">
                <a:solidFill>
                  <a:srgbClr val="8A7A6D"/>
                </a:solidFill>
                <a:latin typeface="Malgun Gothic"/>
              </a:rPr>
              <a:t>카페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빈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토큰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— </a:t>
            </a:r>
            <a:r>
              <a:rPr lang="ko-KR" altLang="en-US" sz="1250" b="0" i="0" dirty="0">
                <a:solidFill>
                  <a:srgbClr val="8A7A6D"/>
                </a:solidFill>
                <a:latin typeface="Malgun Gothic"/>
              </a:rPr>
              <a:t>발행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하고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마음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전하기</a:t>
            </a:r>
            <a:endParaRPr sz="1250" b="0" i="0" dirty="0">
              <a:solidFill>
                <a:srgbClr val="8A7A6D"/>
              </a:solidFill>
              <a:latin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1480" y="4621116"/>
            <a:ext cx="6035040" cy="125442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6072" y="4910001"/>
            <a:ext cx="676656" cy="676656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" y="4910001"/>
            <a:ext cx="676656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4996978"/>
            <a:ext cx="4892040" cy="50270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600" b="1" i="0" dirty="0">
                <a:solidFill>
                  <a:srgbClr val="3B2A20"/>
                </a:solidFill>
                <a:latin typeface="Malgun Gothic"/>
              </a:rPr>
              <a:t>3. </a:t>
            </a:r>
            <a:r>
              <a:rPr sz="1600" b="1" i="0" dirty="0" err="1">
                <a:solidFill>
                  <a:srgbClr val="3B2A20"/>
                </a:solidFill>
                <a:latin typeface="Malgun Gothic"/>
              </a:rPr>
              <a:t>구독</a:t>
            </a:r>
            <a:r>
              <a:rPr sz="1600" b="1" i="0" dirty="0">
                <a:solidFill>
                  <a:srgbClr val="3B2A20"/>
                </a:solidFill>
                <a:latin typeface="Malgun Gothic"/>
              </a:rPr>
              <a:t>(</a:t>
            </a:r>
            <a:r>
              <a:rPr sz="1600" b="1" i="0" dirty="0" err="1">
                <a:solidFill>
                  <a:srgbClr val="3B2A20"/>
                </a:solidFill>
                <a:latin typeface="Malgun Gothic"/>
              </a:rPr>
              <a:t>이용권</a:t>
            </a:r>
            <a:r>
              <a:rPr sz="1600" b="1" i="0" dirty="0">
                <a:solidFill>
                  <a:srgbClr val="3B2A20"/>
                </a:solidFill>
                <a:latin typeface="Malgun Gothic"/>
              </a:rPr>
              <a:t>)</a:t>
            </a:r>
            <a:r>
              <a:rPr lang="en-US" sz="1600" b="1" i="0" dirty="0">
                <a:solidFill>
                  <a:srgbClr val="3B2A20"/>
                </a:solidFill>
                <a:latin typeface="Malgun Gothic"/>
              </a:rPr>
              <a:t> (PiRC2-</a:t>
            </a:r>
            <a:r>
              <a:rPr lang="ko-KR" altLang="en-US" sz="1600" b="1" i="0" dirty="0">
                <a:solidFill>
                  <a:srgbClr val="3B2A20"/>
                </a:solidFill>
                <a:latin typeface="Malgun Gothic"/>
              </a:rPr>
              <a:t>구독서비스</a:t>
            </a:r>
            <a:r>
              <a:rPr lang="en-US" sz="1600" b="1" i="0" dirty="0">
                <a:solidFill>
                  <a:srgbClr val="3B2A20"/>
                </a:solidFill>
                <a:latin typeface="Malgun Gothic"/>
              </a:rPr>
              <a:t>)</a:t>
            </a:r>
            <a:endParaRPr sz="1600" b="1" i="0" dirty="0">
              <a:solidFill>
                <a:srgbClr val="3B2A20"/>
              </a:solidFill>
              <a:latin typeface="Malgun Gothic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카페용·매장용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이용권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구분</a:t>
            </a:r>
            <a:endParaRPr sz="1250" b="0" i="0" dirty="0">
              <a:solidFill>
                <a:srgbClr val="8A7A6D"/>
              </a:solidFill>
              <a:latin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6040134"/>
            <a:ext cx="6035040" cy="125442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6072" y="6329019"/>
            <a:ext cx="676656" cy="676656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" y="6329019"/>
            <a:ext cx="676656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6040134"/>
            <a:ext cx="4892040" cy="125442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600" b="1" i="0">
                <a:solidFill>
                  <a:srgbClr val="3B2A20"/>
                </a:solidFill>
                <a:latin typeface="Malgun Gothic"/>
              </a:rPr>
              <a:t>4. 카페 &amp; 통역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250" b="0" i="0">
                <a:solidFill>
                  <a:srgbClr val="8A7A6D"/>
                </a:solidFill>
                <a:latin typeface="Malgun Gothic"/>
              </a:rPr>
              <a:t>가까운 카페 + 자동 동시통역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7459152"/>
            <a:ext cx="6035040" cy="125442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76072" y="7748037"/>
            <a:ext cx="676656" cy="676656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" y="7748037"/>
            <a:ext cx="676656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7835014"/>
            <a:ext cx="4892040" cy="50270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600" b="1" i="0" dirty="0">
                <a:solidFill>
                  <a:srgbClr val="3B2A20"/>
                </a:solidFill>
                <a:latin typeface="Malgun Gothic"/>
              </a:rPr>
              <a:t>5. </a:t>
            </a:r>
            <a:r>
              <a:rPr sz="1600" b="1" i="0" dirty="0" err="1">
                <a:solidFill>
                  <a:srgbClr val="3B2A20"/>
                </a:solidFill>
                <a:latin typeface="Malgun Gothic"/>
              </a:rPr>
              <a:t>중고장터</a:t>
            </a:r>
            <a:r>
              <a:rPr lang="en-US" sz="1600" b="1" i="0" dirty="0">
                <a:solidFill>
                  <a:srgbClr val="3B2A20"/>
                </a:solidFill>
                <a:latin typeface="Malgun Gothic"/>
              </a:rPr>
              <a:t> (PiRC3,</a:t>
            </a:r>
            <a:r>
              <a:rPr lang="ko-KR" altLang="en-US" sz="1600" b="1" dirty="0" err="1">
                <a:solidFill>
                  <a:srgbClr val="3B2A20"/>
                </a:solidFill>
                <a:latin typeface="Malgun Gothic"/>
              </a:rPr>
              <a:t>에스크로</a:t>
            </a:r>
            <a:r>
              <a:rPr lang="en-US" altLang="ko-KR" sz="1600" b="1" dirty="0">
                <a:solidFill>
                  <a:srgbClr val="3B2A20"/>
                </a:solidFill>
                <a:latin typeface="Malgun Gothic"/>
              </a:rPr>
              <a:t>-</a:t>
            </a:r>
            <a:r>
              <a:rPr lang="ko-KR" altLang="en-US" sz="1600" b="1" dirty="0">
                <a:solidFill>
                  <a:srgbClr val="3B2A20"/>
                </a:solidFill>
                <a:latin typeface="Malgun Gothic"/>
              </a:rPr>
              <a:t>안전거래</a:t>
            </a:r>
            <a:r>
              <a:rPr lang="en-US" sz="1600" b="1" i="0" dirty="0">
                <a:solidFill>
                  <a:srgbClr val="3B2A20"/>
                </a:solidFill>
                <a:latin typeface="Malgun Gothic"/>
              </a:rPr>
              <a:t>)</a:t>
            </a:r>
            <a:endParaRPr sz="1600" b="1" i="0" dirty="0">
              <a:solidFill>
                <a:srgbClr val="3B2A20"/>
              </a:solidFill>
              <a:latin typeface="Malgun Gothic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가게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없이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누구나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사고팔기</a:t>
            </a:r>
            <a:endParaRPr sz="1250" b="0" i="0" dirty="0">
              <a:solidFill>
                <a:srgbClr val="8A7A6D"/>
              </a:solidFill>
              <a:latin typeface="Malgun Gothi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1480" y="8878170"/>
            <a:ext cx="6035040" cy="125442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6072" y="9167055"/>
            <a:ext cx="676656" cy="676656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" y="9167055"/>
            <a:ext cx="676656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9254032"/>
            <a:ext cx="4892040" cy="50270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 i="0" dirty="0">
                <a:solidFill>
                  <a:srgbClr val="3B2A20"/>
                </a:solidFill>
                <a:latin typeface="Malgun Gothic"/>
              </a:rPr>
              <a:t>6. 내 </a:t>
            </a:r>
            <a:r>
              <a:rPr sz="1600" b="1" i="0" dirty="0" err="1">
                <a:solidFill>
                  <a:srgbClr val="3B2A20"/>
                </a:solidFill>
                <a:latin typeface="Malgun Gothic"/>
              </a:rPr>
              <a:t>가게</a:t>
            </a:r>
            <a:r>
              <a:rPr sz="1600" b="1" i="0" dirty="0">
                <a:solidFill>
                  <a:srgbClr val="3B2A20"/>
                </a:solidFill>
                <a:latin typeface="Malgun Gothic"/>
              </a:rPr>
              <a:t>(O2O)</a:t>
            </a:r>
            <a:r>
              <a:rPr lang="en-US" altLang="ko-KR" sz="1600" b="1" dirty="0">
                <a:solidFill>
                  <a:srgbClr val="3B2A20"/>
                </a:solidFill>
                <a:latin typeface="Malgun Gothic"/>
              </a:rPr>
              <a:t> (PiRC3,</a:t>
            </a:r>
            <a:r>
              <a:rPr lang="ko-KR" altLang="en-US" sz="1600" b="1" dirty="0" err="1">
                <a:solidFill>
                  <a:srgbClr val="3B2A20"/>
                </a:solidFill>
                <a:latin typeface="Malgun Gothic"/>
              </a:rPr>
              <a:t>에스크로</a:t>
            </a:r>
            <a:r>
              <a:rPr lang="en-US" altLang="ko-KR" sz="1600" b="1" dirty="0">
                <a:solidFill>
                  <a:srgbClr val="3B2A20"/>
                </a:solidFill>
                <a:latin typeface="Malgun Gothic"/>
              </a:rPr>
              <a:t>-</a:t>
            </a:r>
            <a:r>
              <a:rPr lang="ko-KR" altLang="en-US" sz="1600" b="1" dirty="0">
                <a:solidFill>
                  <a:srgbClr val="3B2A20"/>
                </a:solidFill>
                <a:latin typeface="Malgun Gothic"/>
              </a:rPr>
              <a:t>안전거래</a:t>
            </a:r>
            <a:r>
              <a:rPr lang="en-US" altLang="ko-KR" sz="1600" b="1" dirty="0">
                <a:solidFill>
                  <a:srgbClr val="3B2A20"/>
                </a:solidFill>
                <a:latin typeface="Malgun Gothic"/>
              </a:rPr>
              <a:t>)</a:t>
            </a:r>
            <a:endParaRPr sz="1600" b="1" i="0" dirty="0">
              <a:solidFill>
                <a:srgbClr val="3B2A20"/>
              </a:solidFill>
              <a:latin typeface="Malgun Gothic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가게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만들고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메뉴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올리고</a:t>
            </a:r>
            <a:r>
              <a:rPr sz="125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8A7A6D"/>
                </a:solidFill>
                <a:latin typeface="Malgun Gothic"/>
              </a:rPr>
              <a:t>주문받기</a:t>
            </a:r>
            <a:endParaRPr sz="1250" b="0" i="0" dirty="0">
              <a:solidFill>
                <a:srgbClr val="8A7A6D"/>
              </a:solidFill>
              <a:latin typeface="Malgun Gothi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11480" y="10297188"/>
            <a:ext cx="6035040" cy="125442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76072" y="10586073"/>
            <a:ext cx="676656" cy="676656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" y="10586073"/>
            <a:ext cx="676656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10297188"/>
            <a:ext cx="4892040" cy="125442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600" b="1" i="0">
                <a:solidFill>
                  <a:srgbClr val="3B2A20"/>
                </a:solidFill>
                <a:latin typeface="Malgun Gothic"/>
              </a:rPr>
              <a:t>7. 왜 좋은가요?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250" b="0" i="0">
                <a:solidFill>
                  <a:srgbClr val="8A7A6D"/>
                </a:solidFill>
                <a:latin typeface="Malgun Gothic"/>
              </a:rPr>
              <a:t>당근·싸이렌오더보다 강한 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78308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783080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1480" y="384048"/>
            <a:ext cx="749808" cy="749808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749808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65760"/>
            <a:ext cx="5056632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900" b="1" i="0">
                <a:solidFill>
                  <a:srgbClr val="3B2A20"/>
                </a:solidFill>
                <a:latin typeface="Malgun Gothic"/>
              </a:rPr>
              <a:t>🔑  로그인 &amp; 두 계정 연결하기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6035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8A7A6D"/>
                </a:solidFill>
                <a:latin typeface="Malgun Gothic"/>
              </a:rPr>
              <a:t>Pi 브라우저에서 6자리 코드 받기 → 일반 브라우저에 붙여넣고 버튼 한 번이면 끝!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48840"/>
            <a:ext cx="6035040" cy="32918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5875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2148840"/>
            <a:ext cx="6035040" cy="548640"/>
          </a:xfrm>
          <a:prstGeom prst="roundRect">
            <a:avLst>
              <a:gd name="adj" fmla="val 30000"/>
            </a:avLst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423160"/>
            <a:ext cx="6035040" cy="274320"/>
          </a:xfrm>
          <a:prstGeom prst="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55778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📱 Pi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5394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1" i="0">
                <a:solidFill>
                  <a:srgbClr val="2E7D32"/>
                </a:solidFill>
                <a:latin typeface="Malgun Gothic"/>
              </a:rPr>
              <a:t>① “연동 코드 생성” 누르기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30175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30175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2B2018"/>
                </a:solidFill>
                <a:latin typeface="Consolas"/>
              </a:rPr>
              <a:t>A3F-9K2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291840"/>
            <a:ext cx="21031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sz="1200" b="0" i="0">
                <a:solidFill>
                  <a:srgbClr val="8A7A6D"/>
                </a:solidFill>
                <a:latin typeface="Malgun Gothic"/>
              </a:rPr>
              <a:t>🕘 10분 안에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 i="0">
                <a:solidFill>
                  <a:srgbClr val="8A7A6D"/>
                </a:solidFill>
                <a:latin typeface="Malgun Gothic"/>
              </a:rPr>
              <a:t>사용하세요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5394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1" i="0">
                <a:solidFill>
                  <a:srgbClr val="2E7D32"/>
                </a:solidFill>
                <a:latin typeface="Malgun Gothic"/>
              </a:rPr>
              <a:t>② 연동 URL 복사  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53949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8A7A6D"/>
                </a:solidFill>
                <a:latin typeface="Malgun Gothic"/>
              </a:rPr>
              <a:t>복사한 코드(또는 링크)를 일반 브라우저로 옮겨요.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233007"/>
            <a:ext cx="6035040" cy="685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B9740A"/>
                </a:solidFill>
                <a:latin typeface="Malgun Gothic"/>
              </a:rPr>
              <a:t>▼  복사해서 붙여넣기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7711134"/>
            <a:ext cx="6035040" cy="301752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15875">
            <a:solidFill>
              <a:srgbClr val="F4A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1480" y="7711134"/>
            <a:ext cx="6035040" cy="548640"/>
          </a:xfrm>
          <a:prstGeom prst="roundRect">
            <a:avLst>
              <a:gd name="adj" fmla="val 30000"/>
            </a:avLst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7985454"/>
            <a:ext cx="6035040" cy="27432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7711134"/>
            <a:ext cx="55778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🌐 일반 브라우저 (크롬·사파리)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8396934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2B2018"/>
                </a:solidFill>
                <a:latin typeface="Malgun Gothic"/>
              </a:rPr>
              <a:t>③ 구글 로그인 후, 주소창에 붙여넣기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8808414"/>
            <a:ext cx="53949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A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8808414"/>
            <a:ext cx="51206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2B2018"/>
                </a:solidFill>
                <a:latin typeface="Consolas"/>
              </a:rPr>
              <a:t>🔗  …/link?code=A3F9K2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9402774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2B2018"/>
                </a:solidFill>
                <a:latin typeface="Malgun Gothic"/>
              </a:rPr>
              <a:t>④ “연동하기” 클릭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9795965"/>
            <a:ext cx="539496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1" i="0">
                <a:solidFill>
                  <a:srgbClr val="2E7D32"/>
                </a:solidFill>
                <a:latin typeface="Malgun Gothic"/>
              </a:rPr>
              <a:t>✓ Pi + Google 연동 완료!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10820095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10820095"/>
            <a:ext cx="109728" cy="9144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10820095"/>
            <a:ext cx="55778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B9740A"/>
                </a:solidFill>
                <a:latin typeface="Malgun Gothic"/>
              </a:rPr>
              <a:t>💡 쉽게 말하면  </a:t>
            </a:r>
            <a:r>
              <a:rPr sz="1200" b="0" i="0">
                <a:solidFill>
                  <a:srgbClr val="2B2018"/>
                </a:solidFill>
                <a:latin typeface="Malgun Gothic"/>
              </a:rPr>
              <a:t>Pi 브라우저는 보안상 정보를 저장 못 해서, 6자리 코드(또는 링크)로 두 브라우저를 안전하게 이어줘요.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78308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783080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1480" y="384048"/>
            <a:ext cx="749808" cy="749808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749808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709662"/>
            <a:ext cx="5056632" cy="3180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900" b="1" i="0" dirty="0">
                <a:solidFill>
                  <a:srgbClr val="3B2A20"/>
                </a:solidFill>
                <a:latin typeface="Malgun Gothic"/>
              </a:rPr>
              <a:t>☕  Bean(</a:t>
            </a:r>
            <a:r>
              <a:rPr lang="ko-KR" altLang="en-US" sz="1900" b="1" i="0" dirty="0" err="1">
                <a:solidFill>
                  <a:srgbClr val="3B2A20"/>
                </a:solidFill>
                <a:latin typeface="Malgun Gothic"/>
              </a:rPr>
              <a:t>카페빈</a:t>
            </a:r>
            <a:r>
              <a:rPr sz="1900" b="1" i="0" dirty="0">
                <a:solidFill>
                  <a:srgbClr val="3B2A20"/>
                </a:solidFill>
                <a:latin typeface="Malgun Gothic"/>
              </a:rPr>
              <a:t> </a:t>
            </a:r>
            <a:r>
              <a:rPr sz="1900" b="1" i="0" dirty="0" err="1">
                <a:solidFill>
                  <a:srgbClr val="3B2A20"/>
                </a:solidFill>
                <a:latin typeface="Malgun Gothic"/>
              </a:rPr>
              <a:t>토큰</a:t>
            </a:r>
            <a:r>
              <a:rPr sz="1900" b="1" i="0" dirty="0">
                <a:solidFill>
                  <a:srgbClr val="3B2A20"/>
                </a:solidFill>
                <a:latin typeface="Malgun Gothic"/>
              </a:rPr>
              <a:t>) </a:t>
            </a:r>
            <a:r>
              <a:rPr sz="1900" b="1" i="0" dirty="0" err="1">
                <a:solidFill>
                  <a:srgbClr val="3B2A20"/>
                </a:solidFill>
                <a:latin typeface="Malgun Gothic"/>
              </a:rPr>
              <a:t>이해하기</a:t>
            </a:r>
            <a:endParaRPr sz="1900" b="1" i="0" dirty="0">
              <a:solidFill>
                <a:srgbClr val="3B2A20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1242690"/>
            <a:ext cx="6035040" cy="3949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lang="ko-KR" altLang="en-US" sz="1200" b="0" i="0" dirty="0" err="1">
                <a:solidFill>
                  <a:srgbClr val="8A7A6D"/>
                </a:solidFill>
                <a:latin typeface="Malgun Gothic"/>
              </a:rPr>
              <a:t>카페빈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토큰은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앱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안에서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마음을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전하는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작은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토큰이에요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.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충전해서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쓰고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,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고마운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사람에게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8A7A6D"/>
                </a:solidFill>
                <a:latin typeface="Malgun Gothic"/>
              </a:rPr>
              <a:t>보냅니다</a:t>
            </a:r>
            <a:r>
              <a:rPr sz="1200" b="0" i="0" dirty="0">
                <a:solidFill>
                  <a:srgbClr val="8A7A6D"/>
                </a:solidFill>
                <a:latin typeface="Malgun Gothic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48840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306324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35332"/>
            <a:ext cx="4892040" cy="7130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 dirty="0" err="1">
                <a:solidFill>
                  <a:srgbClr val="3B2A20"/>
                </a:solidFill>
                <a:latin typeface="Malgun Gothic"/>
              </a:rPr>
              <a:t>Bean이</a:t>
            </a:r>
            <a:r>
              <a:rPr sz="1550" b="1" i="0" dirty="0">
                <a:solidFill>
                  <a:srgbClr val="3B2A20"/>
                </a:solidFill>
                <a:latin typeface="Malgun Gothic"/>
              </a:rPr>
              <a:t> </a:t>
            </a:r>
            <a:r>
              <a:rPr sz="1550" b="1" i="0" dirty="0" err="1">
                <a:solidFill>
                  <a:srgbClr val="3B2A20"/>
                </a:solidFill>
                <a:latin typeface="Malgun Gothic"/>
              </a:rPr>
              <a:t>뭐예요</a:t>
            </a:r>
            <a:r>
              <a:rPr sz="1550" b="1" i="0" dirty="0">
                <a:solidFill>
                  <a:srgbClr val="3B2A20"/>
                </a:solidFill>
                <a:latin typeface="Malgun Gothic"/>
              </a:rPr>
              <a:t>?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카페에서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고마운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사람에게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보내는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“</a:t>
            </a:r>
            <a:r>
              <a:rPr lang="ko-KR" altLang="en-US" sz="1250" b="0" i="0" dirty="0" err="1">
                <a:solidFill>
                  <a:srgbClr val="2B2018"/>
                </a:solidFill>
                <a:latin typeface="Malgun Gothic"/>
              </a:rPr>
              <a:t>카페빈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토큰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(☕)”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이에요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.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칭찬·응원·감사를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숫자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대신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lang="ko-KR" altLang="en-US" sz="1250" b="0" i="0" dirty="0">
                <a:solidFill>
                  <a:srgbClr val="2B2018"/>
                </a:solidFill>
                <a:latin typeface="Malgun Gothic"/>
              </a:rPr>
              <a:t>카페빈으로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표현합니다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295747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2648" y="6210147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6210147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6082239"/>
            <a:ext cx="4892040" cy="7130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 dirty="0">
                <a:solidFill>
                  <a:srgbClr val="3B2A20"/>
                </a:solidFill>
                <a:latin typeface="Malgun Gothic"/>
              </a:rPr>
              <a:t>Bean </a:t>
            </a:r>
            <a:r>
              <a:rPr sz="1550" b="1" i="0" dirty="0" err="1">
                <a:solidFill>
                  <a:srgbClr val="3B2A20"/>
                </a:solidFill>
                <a:latin typeface="Malgun Gothic"/>
              </a:rPr>
              <a:t>충전</a:t>
            </a:r>
            <a:r>
              <a:rPr sz="1550" b="1" i="0" dirty="0">
                <a:solidFill>
                  <a:srgbClr val="3B2A20"/>
                </a:solidFill>
                <a:latin typeface="Malgun Gothic"/>
              </a:rPr>
              <a:t>(</a:t>
            </a:r>
            <a:r>
              <a:rPr sz="1550" b="1" i="0" dirty="0" err="1">
                <a:solidFill>
                  <a:srgbClr val="3B2A20"/>
                </a:solidFill>
                <a:latin typeface="Malgun Gothic"/>
              </a:rPr>
              <a:t>적립</a:t>
            </a:r>
            <a:r>
              <a:rPr sz="1550" b="1" i="0" dirty="0">
                <a:solidFill>
                  <a:srgbClr val="3B2A20"/>
                </a:solidFill>
                <a:latin typeface="Malgun Gothic"/>
              </a:rPr>
              <a:t>)</a:t>
            </a:r>
            <a:r>
              <a:rPr sz="1550" b="1" i="0" dirty="0" err="1">
                <a:solidFill>
                  <a:srgbClr val="3B2A20"/>
                </a:solidFill>
                <a:latin typeface="Malgun Gothic"/>
              </a:rPr>
              <a:t>하기</a:t>
            </a:r>
            <a:endParaRPr sz="1550" b="1" i="0" dirty="0">
              <a:solidFill>
                <a:srgbClr val="3B2A20"/>
              </a:solidFill>
              <a:latin typeface="Malgun Gothic"/>
            </a:endParaRP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Pi로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lang="ko-KR" altLang="en-US" sz="1250" b="0" i="0" dirty="0" err="1">
                <a:solidFill>
                  <a:srgbClr val="2B2018"/>
                </a:solidFill>
                <a:latin typeface="Malgun Gothic"/>
              </a:rPr>
              <a:t>카페빈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토큰을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충전해요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.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충전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버튼을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누르고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원하는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만큼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고른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뒤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Pi로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결제하면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내 </a:t>
            </a:r>
            <a:r>
              <a:rPr lang="ko-KR" altLang="en-US" sz="1250" b="0" i="0" dirty="0" err="1">
                <a:solidFill>
                  <a:srgbClr val="2B2018"/>
                </a:solidFill>
                <a:latin typeface="Malgun Gothic"/>
              </a:rPr>
              <a:t>카페빈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토큰이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쌓입니다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5158587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3B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5158587"/>
            <a:ext cx="100584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F4A52A"/>
                </a:solidFill>
                <a:latin typeface="Malgun Gothic"/>
              </a:rPr>
              <a:t>🔗 PiRC1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8442654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2648" y="9357054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9357054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9229146"/>
            <a:ext cx="4892040" cy="7130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 dirty="0">
                <a:solidFill>
                  <a:srgbClr val="3B2A20"/>
                </a:solidFill>
                <a:latin typeface="Malgun Gothic"/>
              </a:rPr>
              <a:t>Bean </a:t>
            </a:r>
            <a:r>
              <a:rPr sz="1550" b="1" i="0" dirty="0" err="1">
                <a:solidFill>
                  <a:srgbClr val="3B2A20"/>
                </a:solidFill>
                <a:latin typeface="Malgun Gothic"/>
              </a:rPr>
              <a:t>사용</a:t>
            </a:r>
            <a:r>
              <a:rPr sz="1550" b="1" i="0" dirty="0">
                <a:solidFill>
                  <a:srgbClr val="3B2A20"/>
                </a:solidFill>
                <a:latin typeface="Malgun Gothic"/>
              </a:rPr>
              <a:t>(</a:t>
            </a:r>
            <a:r>
              <a:rPr sz="1550" b="1" i="0" dirty="0" err="1">
                <a:solidFill>
                  <a:srgbClr val="3B2A20"/>
                </a:solidFill>
                <a:latin typeface="Malgun Gothic"/>
              </a:rPr>
              <a:t>보내기</a:t>
            </a:r>
            <a:r>
              <a:rPr sz="1550" b="1" i="0" dirty="0">
                <a:solidFill>
                  <a:srgbClr val="3B2A20"/>
                </a:solidFill>
                <a:latin typeface="Malgun Gothic"/>
              </a:rPr>
              <a:t>)</a:t>
            </a:r>
            <a:r>
              <a:rPr sz="1550" b="1" i="0" dirty="0" err="1">
                <a:solidFill>
                  <a:srgbClr val="3B2A20"/>
                </a:solidFill>
                <a:latin typeface="Malgun Gothic"/>
              </a:rPr>
              <a:t>하기</a:t>
            </a:r>
            <a:endParaRPr sz="1550" b="1" i="0" dirty="0">
              <a:solidFill>
                <a:srgbClr val="3B2A20"/>
              </a:solidFill>
              <a:latin typeface="Malgun Gothic"/>
            </a:endParaRP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대화방에서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☕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선물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버튼을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누르고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1</a:t>
            </a:r>
            <a:r>
              <a:rPr lang="en-US" sz="1250" b="0" i="0" dirty="0">
                <a:solidFill>
                  <a:srgbClr val="2B2018"/>
                </a:solidFill>
                <a:latin typeface="Malgun Gothic"/>
              </a:rPr>
              <a:t>0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0·50</a:t>
            </a:r>
            <a:r>
              <a:rPr lang="en-US" sz="1250" b="0" i="0" dirty="0">
                <a:solidFill>
                  <a:srgbClr val="2B2018"/>
                </a:solidFill>
                <a:latin typeface="Malgun Gothic"/>
              </a:rPr>
              <a:t>0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·1</a:t>
            </a:r>
            <a:r>
              <a:rPr lang="en-US" sz="1250" b="0" i="0" dirty="0">
                <a:solidFill>
                  <a:srgbClr val="2B2018"/>
                </a:solidFill>
                <a:latin typeface="Malgun Gothic"/>
              </a:rPr>
              <a:t>,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0</a:t>
            </a:r>
            <a:r>
              <a:rPr lang="en-US" sz="1250" b="0" i="0" dirty="0">
                <a:solidFill>
                  <a:srgbClr val="2B2018"/>
                </a:solidFill>
                <a:latin typeface="Malgun Gothic"/>
              </a:rPr>
              <a:t>0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0 Bean 중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골라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보내요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.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누구나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보낼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수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있고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받은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사람은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알림으로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B2018"/>
                </a:solidFill>
                <a:latin typeface="Malgun Gothic"/>
              </a:rPr>
              <a:t>확인합니다</a:t>
            </a:r>
            <a:r>
              <a:rPr sz="1250" b="0" i="0" dirty="0">
                <a:solidFill>
                  <a:srgbClr val="2B2018"/>
                </a:solidFill>
                <a:latin typeface="Malgun Gothic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10820095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10820095"/>
            <a:ext cx="109728" cy="9144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11079805"/>
            <a:ext cx="5577840" cy="3949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1" i="0" dirty="0">
                <a:solidFill>
                  <a:srgbClr val="B9740A"/>
                </a:solidFill>
                <a:latin typeface="Malgun Gothic"/>
              </a:rPr>
              <a:t>💡 </a:t>
            </a:r>
            <a:r>
              <a:rPr sz="1200" b="1" i="0" dirty="0" err="1">
                <a:solidFill>
                  <a:srgbClr val="B9740A"/>
                </a:solidFill>
                <a:latin typeface="Malgun Gothic"/>
              </a:rPr>
              <a:t>쉽게</a:t>
            </a:r>
            <a:r>
              <a:rPr sz="1200" b="1" i="0" dirty="0">
                <a:solidFill>
                  <a:srgbClr val="B9740A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B9740A"/>
                </a:solidFill>
                <a:latin typeface="Malgun Gothic"/>
              </a:rPr>
              <a:t>말하면</a:t>
            </a:r>
            <a:r>
              <a:rPr sz="1200" b="1" i="0" dirty="0">
                <a:solidFill>
                  <a:srgbClr val="B9740A"/>
                </a:solidFill>
                <a:latin typeface="Malgun Gothic"/>
              </a:rPr>
              <a:t> 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커피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한 잔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대접하듯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, 앱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안에서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“</a:t>
            </a:r>
            <a:r>
              <a:rPr lang="ko-KR" altLang="en-US" sz="1200" b="0" i="0" dirty="0" err="1">
                <a:solidFill>
                  <a:srgbClr val="2B2018"/>
                </a:solidFill>
                <a:latin typeface="Malgun Gothic"/>
              </a:rPr>
              <a:t>카페빈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토큰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(Bean)”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으로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따뜻한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마음을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건네는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거예요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. 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78308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783080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1480" y="384048"/>
            <a:ext cx="749808" cy="749808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749808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420624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B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49240" y="420624"/>
            <a:ext cx="10972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100" b="1" i="0">
                <a:solidFill>
                  <a:srgbClr val="F4A52A"/>
                </a:solidFill>
                <a:latin typeface="Malgun Gothic"/>
              </a:rPr>
              <a:t>🔗 PiRC2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365760"/>
            <a:ext cx="3822192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900" b="1" i="0">
                <a:solidFill>
                  <a:srgbClr val="3B2A20"/>
                </a:solidFill>
                <a:latin typeface="Malgun Gothic"/>
              </a:rPr>
              <a:t>🎫  구독 요금제 — Bean으로 결제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6035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8A7A6D"/>
                </a:solidFill>
                <a:latin typeface="Malgun Gothic"/>
              </a:rPr>
              <a:t>필요한 상품군만 골라 구독해요. 충전한 Bean으로 결제 · 무료로 시작.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148840"/>
            <a:ext cx="60350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148840"/>
            <a:ext cx="128016" cy="1783080"/>
          </a:xfrm>
          <a:prstGeom prst="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50008"/>
            <a:ext cx="26517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3B2A20"/>
                </a:solidFill>
                <a:latin typeface="Malgun Gothic"/>
              </a:rPr>
              <a:t>무료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313432"/>
            <a:ext cx="23774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2300" b="1" i="0">
                <a:solidFill>
                  <a:srgbClr val="2E7D6F"/>
                </a:solidFill>
                <a:latin typeface="Malgun Gothic"/>
              </a:rPr>
              <a:t>Pi Explorer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862072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r">
              <a:buNone/>
            </a:pPr>
            <a:r>
              <a:rPr sz="1050" b="0" i="0">
                <a:solidFill>
                  <a:srgbClr val="8A7A6D"/>
                </a:solidFill>
                <a:latin typeface="Malgun Gothic"/>
              </a:rPr>
              <a:t>평생 무료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227832"/>
            <a:ext cx="5303520" cy="12700"/>
          </a:xfrm>
          <a:prstGeom prst="rect">
            <a:avLst/>
          </a:prstGeom>
          <a:solidFill>
            <a:srgbClr val="EF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319272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2B2018"/>
                </a:solidFill>
                <a:latin typeface="Malgun Gothic"/>
              </a:rPr>
              <a:t>일반 테마 사용 · 1:1 채팅 · Bean 받기·선물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14418"/>
            <a:ext cx="60350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4A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4414418"/>
            <a:ext cx="128016" cy="178308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615586"/>
            <a:ext cx="26517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3B2A20"/>
                </a:solidFill>
                <a:latin typeface="Malgun Gothic"/>
              </a:rPr>
              <a:t>☕ PiCafe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579010"/>
            <a:ext cx="23774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2300" b="1" i="0">
                <a:solidFill>
                  <a:srgbClr val="F4A52A"/>
                </a:solidFill>
                <a:latin typeface="Malgun Gothic"/>
              </a:rPr>
              <a:t>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5127650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r">
              <a:buNone/>
            </a:pPr>
            <a:r>
              <a:rPr sz="1050" b="0" i="0">
                <a:solidFill>
                  <a:srgbClr val="8A7A6D"/>
                </a:solidFill>
                <a:latin typeface="Malgun Gothic"/>
              </a:rPr>
              <a:t>Bean/월 · 연 30,000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493410"/>
            <a:ext cx="5303520" cy="12700"/>
          </a:xfrm>
          <a:prstGeom prst="rect">
            <a:avLst/>
          </a:prstGeom>
          <a:solidFill>
            <a:srgbClr val="EF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584850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2B2018"/>
                </a:solidFill>
                <a:latin typeface="Malgun Gothic"/>
              </a:rPr>
              <a:t>프리미엄 테마 전체 · 그룹방 무제한 · AI·Bean 선물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22392" y="4286402"/>
            <a:ext cx="914400" cy="347472"/>
          </a:xfrm>
          <a:prstGeom prst="roundRect">
            <a:avLst>
              <a:gd name="adj" fmla="val 40000"/>
            </a:avLst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22392" y="4286402"/>
            <a:ext cx="9144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050" b="1" i="0">
                <a:solidFill>
                  <a:srgbClr val="FFFFFF"/>
                </a:solidFill>
                <a:latin typeface="Malgun Gothic"/>
              </a:rPr>
              <a:t>⭐ 인기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6679996"/>
            <a:ext cx="60350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974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6679996"/>
            <a:ext cx="128016" cy="1783080"/>
          </a:xfrm>
          <a:prstGeom prst="rect">
            <a:avLst/>
          </a:prstGeom>
          <a:solidFill>
            <a:srgbClr val="B9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6881164"/>
            <a:ext cx="26517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700" b="1" i="0" dirty="0">
                <a:solidFill>
                  <a:srgbClr val="3B2A20"/>
                </a:solidFill>
                <a:latin typeface="Malgun Gothic"/>
              </a:rPr>
              <a:t>🏪 </a:t>
            </a:r>
            <a:r>
              <a:rPr sz="1700" b="1" i="0" dirty="0" err="1">
                <a:solidFill>
                  <a:srgbClr val="3B2A20"/>
                </a:solidFill>
                <a:latin typeface="Malgun Gothic"/>
              </a:rPr>
              <a:t>PiShop</a:t>
            </a:r>
            <a:endParaRPr sz="1700" b="1" i="0" dirty="0">
              <a:solidFill>
                <a:srgbClr val="3B2A20"/>
              </a:solidFill>
              <a:latin typeface="Malgun Gothi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49040" y="6929112"/>
            <a:ext cx="2377440" cy="37959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B9740A"/>
                </a:solidFill>
                <a:latin typeface="Malgun Gothic"/>
              </a:rPr>
              <a:t>5</a:t>
            </a:r>
            <a:r>
              <a:rPr sz="2300" b="1" i="0" dirty="0">
                <a:solidFill>
                  <a:srgbClr val="B9740A"/>
                </a:solidFill>
                <a:latin typeface="Malgun Gothic"/>
              </a:rPr>
              <a:t>,000~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7393228"/>
            <a:ext cx="2377440" cy="1872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r">
              <a:buNone/>
            </a:pPr>
            <a:r>
              <a:rPr sz="1050" b="0" i="0" dirty="0">
                <a:solidFill>
                  <a:srgbClr val="8A7A6D"/>
                </a:solidFill>
                <a:latin typeface="Malgun Gothic"/>
              </a:rPr>
              <a:t>Bean/월 · 연 </a:t>
            </a:r>
            <a:r>
              <a:rPr lang="en-US" sz="1050" b="0" i="0" dirty="0">
                <a:solidFill>
                  <a:srgbClr val="8A7A6D"/>
                </a:solidFill>
                <a:latin typeface="Malgun Gothic"/>
              </a:rPr>
              <a:t>5</a:t>
            </a:r>
            <a:r>
              <a:rPr sz="1050" b="0" i="0" dirty="0">
                <a:solidFill>
                  <a:srgbClr val="8A7A6D"/>
                </a:solidFill>
                <a:latin typeface="Malgun Gothic"/>
              </a:rPr>
              <a:t>0,000~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7758988"/>
            <a:ext cx="5303520" cy="12700"/>
          </a:xfrm>
          <a:prstGeom prst="rect">
            <a:avLst/>
          </a:prstGeom>
          <a:solidFill>
            <a:srgbClr val="EF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7996731"/>
            <a:ext cx="5394960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 dirty="0">
                <a:solidFill>
                  <a:srgbClr val="2B2018"/>
                </a:solidFill>
                <a:latin typeface="Malgun Gothic"/>
              </a:rPr>
              <a:t>S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상품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lang="en-US" sz="1200" b="0" i="0" dirty="0">
                <a:solidFill>
                  <a:srgbClr val="2B2018"/>
                </a:solidFill>
                <a:latin typeface="Malgun Gothic"/>
              </a:rPr>
              <a:t>1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0개</a:t>
            </a:r>
            <a:r>
              <a:rPr lang="en-US"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lang="ko-KR" altLang="en-US" sz="1200" b="0" i="0" dirty="0">
                <a:solidFill>
                  <a:srgbClr val="2B2018"/>
                </a:solidFill>
                <a:latin typeface="Malgun Gothic"/>
              </a:rPr>
              <a:t>등록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· M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상품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lang="en-US" sz="1200" b="0" i="0" dirty="0">
                <a:solidFill>
                  <a:srgbClr val="2B2018"/>
                </a:solidFill>
                <a:latin typeface="Malgun Gothic"/>
              </a:rPr>
              <a:t>3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0개</a:t>
            </a:r>
            <a:r>
              <a:rPr lang="en-US"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lang="ko-KR" altLang="en-US" sz="1200" dirty="0">
                <a:solidFill>
                  <a:srgbClr val="2B2018"/>
                </a:solidFill>
                <a:latin typeface="Malgun Gothic"/>
              </a:rPr>
              <a:t>등록</a:t>
            </a:r>
            <a:r>
              <a:rPr sz="1200" b="0" i="0" dirty="0">
                <a:solidFill>
                  <a:srgbClr val="2B2018"/>
                </a:solidFill>
                <a:latin typeface="Malgun Gothic"/>
              </a:rPr>
              <a:t> · L </a:t>
            </a:r>
            <a:r>
              <a:rPr lang="ko-KR" altLang="en-US" sz="1200" dirty="0">
                <a:solidFill>
                  <a:srgbClr val="2B2018"/>
                </a:solidFill>
                <a:latin typeface="Malgun Gothic"/>
              </a:rPr>
              <a:t>상</a:t>
            </a:r>
            <a:r>
              <a:rPr lang="ko-KR" altLang="en-US" sz="1200" b="0" i="0" dirty="0">
                <a:solidFill>
                  <a:srgbClr val="2B2018"/>
                </a:solidFill>
                <a:latin typeface="Malgun Gothic"/>
              </a:rPr>
              <a:t>품 </a:t>
            </a:r>
            <a:r>
              <a:rPr sz="1200" b="0" i="0" dirty="0" err="1">
                <a:solidFill>
                  <a:srgbClr val="2B2018"/>
                </a:solidFill>
                <a:latin typeface="Malgun Gothic"/>
              </a:rPr>
              <a:t>무제한</a:t>
            </a:r>
            <a:r>
              <a:rPr lang="en-US" sz="1200" b="0" i="0" dirty="0">
                <a:solidFill>
                  <a:srgbClr val="2B2018"/>
                </a:solidFill>
                <a:latin typeface="Malgun Gothic"/>
              </a:rPr>
              <a:t> </a:t>
            </a:r>
            <a:r>
              <a:rPr lang="ko-KR" altLang="en-US" sz="1200" b="0" i="0" dirty="0">
                <a:solidFill>
                  <a:srgbClr val="2B2018"/>
                </a:solidFill>
                <a:latin typeface="Malgun Gothic"/>
              </a:rPr>
              <a:t>등록</a:t>
            </a:r>
            <a:endParaRPr sz="1200" b="0" i="0" dirty="0">
              <a:solidFill>
                <a:srgbClr val="2B2018"/>
              </a:solidFill>
              <a:latin typeface="Malgun Gothic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11480" y="8945574"/>
            <a:ext cx="60350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1480" y="8945574"/>
            <a:ext cx="128016" cy="1783080"/>
          </a:xfrm>
          <a:prstGeom prst="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9277433"/>
            <a:ext cx="2651760" cy="28725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700" b="1" i="0" dirty="0">
                <a:solidFill>
                  <a:srgbClr val="3B2A20"/>
                </a:solidFill>
                <a:latin typeface="Malgun Gothic"/>
              </a:rPr>
              <a:t>💬 </a:t>
            </a:r>
            <a:r>
              <a:rPr lang="en-US" sz="1700" b="1" i="0" dirty="0" err="1">
                <a:solidFill>
                  <a:srgbClr val="3B2A20"/>
                </a:solidFill>
                <a:latin typeface="Malgun Gothic"/>
              </a:rPr>
              <a:t>PiTranslate</a:t>
            </a:r>
            <a:endParaRPr sz="1700" b="1" i="0" dirty="0">
              <a:solidFill>
                <a:srgbClr val="3B2A20"/>
              </a:solidFill>
              <a:latin typeface="Malgun Gothi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49040" y="9194690"/>
            <a:ext cx="2377440" cy="379591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2E7D6F"/>
                </a:solidFill>
                <a:latin typeface="Malgun Gothic"/>
              </a:rPr>
              <a:t>3</a:t>
            </a:r>
            <a:r>
              <a:rPr sz="2300" b="1" i="0" dirty="0">
                <a:solidFill>
                  <a:srgbClr val="2E7D6F"/>
                </a:solidFill>
                <a:latin typeface="Malgun Gothic"/>
              </a:rPr>
              <a:t>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9658806"/>
            <a:ext cx="2377440" cy="1872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r">
              <a:buNone/>
            </a:pPr>
            <a:r>
              <a:rPr sz="1050" b="0" i="0" dirty="0">
                <a:solidFill>
                  <a:srgbClr val="8A7A6D"/>
                </a:solidFill>
                <a:latin typeface="Malgun Gothic"/>
              </a:rPr>
              <a:t>Bean/월 · 연 </a:t>
            </a:r>
            <a:r>
              <a:rPr lang="en-US" sz="1050" b="0" i="0" dirty="0">
                <a:solidFill>
                  <a:srgbClr val="8A7A6D"/>
                </a:solidFill>
                <a:latin typeface="Malgun Gothic"/>
              </a:rPr>
              <a:t>3</a:t>
            </a:r>
            <a:r>
              <a:rPr sz="1050" b="0" i="0" dirty="0">
                <a:solidFill>
                  <a:srgbClr val="8A7A6D"/>
                </a:solidFill>
                <a:latin typeface="Malgun Gothic"/>
              </a:rPr>
              <a:t>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10024566"/>
            <a:ext cx="5303520" cy="12700"/>
          </a:xfrm>
          <a:prstGeom prst="rect">
            <a:avLst/>
          </a:prstGeom>
          <a:solidFill>
            <a:srgbClr val="EF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10116006"/>
            <a:ext cx="53949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2B2018"/>
                </a:solidFill>
                <a:latin typeface="Malgun Gothic"/>
              </a:rPr>
              <a:t>200개+ 언어 · 무제한 자동번역 · 카페·1:1 대화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10820095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1480" y="10820095"/>
            <a:ext cx="109728" cy="9144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" y="10820095"/>
            <a:ext cx="55778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B9740A"/>
                </a:solidFill>
                <a:latin typeface="Malgun Gothic"/>
              </a:rPr>
              <a:t>💡 쉽게 말하면  </a:t>
            </a:r>
            <a:r>
              <a:rPr sz="1200" b="0" i="0">
                <a:solidFill>
                  <a:srgbClr val="2B2018"/>
                </a:solidFill>
                <a:latin typeface="Malgun Gothic"/>
              </a:rPr>
              <a:t>구독료는 충전한 Bean으로 결제해요(1 Pi = 100 Bean). 연간은 월 × 10 = 2개월 무료! Bean은 플랫폼 전용입니다.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78308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783080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1480" y="384048"/>
            <a:ext cx="749808" cy="749808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749808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65760"/>
            <a:ext cx="5056632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900" b="1" i="0">
                <a:solidFill>
                  <a:srgbClr val="3B2A20"/>
                </a:solidFill>
                <a:latin typeface="Malgun Gothic"/>
              </a:rPr>
              <a:t>💬  PiCafe + 자동 동시통역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6035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8A7A6D"/>
                </a:solidFill>
                <a:latin typeface="Malgun Gothic"/>
              </a:rPr>
              <a:t>전 세계 어디를 가도 카페엔 내 친구가 있고, 자동 통역이 되니 어느 나라 사람과도 두렵지 않아요.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48840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306324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86000"/>
            <a:ext cx="4892040" cy="2011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주제별 카페에 들어가기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관심 주제(취미·동네·관심사)의 카페 방을 골라 들어가요. 누구나 무료로 채팅을 시작할 수 있어요.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295747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2648" y="6210147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6210147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32907"/>
            <a:ext cx="4892040" cy="2011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“가까운 카페” 위치로 찾기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내 위치를 켜면 가까운 카페·사람을 거리순으로 보여줘요. 동네 이웃과 자연스럽게 연결됩니다.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8442654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2648" y="9357054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9357054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8579814"/>
            <a:ext cx="4892040" cy="2011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자동 동시통역으로 세계와 대화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상대가 외국어로 써도 내 언어로 바로 보여요(200개 넘는 언어). 구독하면 무제한, 가끔 쓰면 1회당 소량 Bean으로도 가능해요.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0820095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10820095"/>
            <a:ext cx="109728" cy="9144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10820095"/>
            <a:ext cx="55778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B9740A"/>
                </a:solidFill>
                <a:latin typeface="Malgun Gothic"/>
              </a:rPr>
              <a:t>💡 쉽게 말하면  </a:t>
            </a:r>
            <a:r>
              <a:rPr sz="1200" b="0" i="0">
                <a:solidFill>
                  <a:srgbClr val="2B2018"/>
                </a:solidFill>
                <a:latin typeface="Malgun Gothic"/>
              </a:rPr>
              <a:t>통역사를 옆에 둔 것처럼, 어느 나라 사람과도 막힘없이 수다 떨 수 있어요. 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78308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783080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1480" y="384048"/>
            <a:ext cx="749808" cy="749808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749808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420624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B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49240" y="420624"/>
            <a:ext cx="10972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100" b="1" i="0">
                <a:solidFill>
                  <a:srgbClr val="F4A52A"/>
                </a:solidFill>
                <a:latin typeface="Malgun Gothic"/>
              </a:rPr>
              <a:t>🔗 PiRC3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365760"/>
            <a:ext cx="3822192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900" b="1" i="0">
                <a:solidFill>
                  <a:srgbClr val="3B2A20"/>
                </a:solidFill>
                <a:latin typeface="Malgun Gothic"/>
              </a:rPr>
              <a:t>📦  중고장터 — 안전한 P2P 거래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6035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8A7A6D"/>
                </a:solidFill>
                <a:latin typeface="Malgun Gothic"/>
              </a:rPr>
              <a:t>에스크로(안전 보관) 서비스로 결제가 보호돼요. 가게가 없어도 누구나 가까운 사람과 안심 거래!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148840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306324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86000"/>
            <a:ext cx="4892040" cy="2011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팔 물건 사진 올리기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“상품 등록”에서 사진을 찍어 올리고 가격(Pi)을 적으면 끝. 내 위치도 함께 저장돼 가까운 사람에게 보여요.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295747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2648" y="6210147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6210147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32907"/>
            <a:ext cx="4892040" cy="2011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가까운 물건 둘러보고 주문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내 주변에 나온 물건을 거리순으로 보고, 마음에 들면 Pi로 주문해요.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8442654"/>
            <a:ext cx="6035040" cy="228600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2648" y="9357054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9357054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8579814"/>
            <a:ext cx="4892040" cy="2011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안전하게 거래 완료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결제한 Pi는 플랫폼이 잠시 안전하게 보관했다가, 거래가 끝나면 판매자에게 전달돼요(중간 보관).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10820095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10820095"/>
            <a:ext cx="109728" cy="9144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10820095"/>
            <a:ext cx="55778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B9740A"/>
                </a:solidFill>
                <a:latin typeface="Malgun Gothic"/>
              </a:rPr>
              <a:t>💡 쉽게 말하면  </a:t>
            </a:r>
            <a:r>
              <a:rPr sz="1200" b="0" i="0">
                <a:solidFill>
                  <a:srgbClr val="2B2018"/>
                </a:solidFill>
                <a:latin typeface="Malgun Gothic"/>
              </a:rPr>
              <a:t>에스크로 = 플랫폼이 결제한 Pi를 잠시 안전하게 맡아두는 금고. 거래가 끝나야 판매자에게 전달돼요.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78308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783080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1480" y="384048"/>
            <a:ext cx="749808" cy="749808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749808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65760"/>
            <a:ext cx="5056632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900" b="1" i="0">
                <a:solidFill>
                  <a:srgbClr val="3B2A20"/>
                </a:solidFill>
                <a:latin typeface="Malgun Gothic"/>
              </a:rPr>
              <a:t>🏪  내 O2O 매장, 10분 만에 등록!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6035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8A7A6D"/>
                </a:solidFill>
                <a:latin typeface="Malgun Gothic"/>
              </a:rPr>
              <a:t>싸이렌오더(스타벅스) 부럽지 않은 내 매장 — 등록·메뉴·주문·픽업까지 따라만 하면 10분이면 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48840"/>
            <a:ext cx="6035040" cy="1994077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" y="2917278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2917278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86000"/>
            <a:ext cx="4892040" cy="171975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내 가게 등록하기(위치)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“매장 등록”에서 가게 이름과 위치(지도)를 정하면, 손님이 가까운 가게로 나를 찾아와요.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344086"/>
            <a:ext cx="6035040" cy="1994077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2648" y="5112524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5112524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81246"/>
            <a:ext cx="4892040" cy="171975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메뉴(상품) 올리기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메뉴 사진·이름·가격을 등록해요. 수량도 정할 수 있어요(예: 아메리카노 2잔).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6539332"/>
            <a:ext cx="6035040" cy="1994077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2648" y="7307770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730777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6676492"/>
            <a:ext cx="4892040" cy="171975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주문 알림 받기(텔레그램)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손님이 주문하면 텔레그램으로 바로 알림이 와요. 메뉴·수량·금액까지 보여줍니다.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8734578"/>
            <a:ext cx="6035040" cy="1994077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2648" y="9503016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950301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8871738"/>
            <a:ext cx="4892040" cy="171975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매장에서 받기(O2O)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주문 → 준비중 → 준비완료 → 픽업 순서로 진행돼요. 손님이 매장에서 받아갑니다.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10820095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10820095"/>
            <a:ext cx="109728" cy="9144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0820095"/>
            <a:ext cx="55778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B9740A"/>
                </a:solidFill>
                <a:latin typeface="Malgun Gothic"/>
              </a:rPr>
              <a:t>💡 쉽게 말하면  </a:t>
            </a:r>
            <a:r>
              <a:rPr sz="1200" b="0" i="0">
                <a:solidFill>
                  <a:srgbClr val="2B2018"/>
                </a:solidFill>
                <a:latin typeface="Malgun Gothic"/>
              </a:rPr>
              <a:t>온라인 주문(O)을 받아 매장(O)에서 건네주는 흐름이라 “O2O”라고 불러요.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463040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603504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2400" b="1" i="0">
                <a:solidFill>
                  <a:srgbClr val="3B2A20"/>
                </a:solidFill>
                <a:latin typeface="Malgun Gothic"/>
              </a:rPr>
              <a:t>⭐ 왜 Cafe.pi 인가요?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6035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250" b="0" i="0">
                <a:solidFill>
                  <a:srgbClr val="8A7A6D"/>
                </a:solidFill>
                <a:latin typeface="Malgun Gothic"/>
              </a:rPr>
              <a:t>막강한 글로벌 “당근”  ·  업종 안 가리는 “싸이렌오더”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11680"/>
            <a:ext cx="6035040" cy="402336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19050">
            <a:solidFill>
              <a:srgbClr val="B974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2011680"/>
            <a:ext cx="6035040" cy="603504"/>
          </a:xfrm>
          <a:prstGeom prst="roundRect">
            <a:avLst>
              <a:gd name="adj" fmla="val 26000"/>
            </a:avLst>
          </a:prstGeom>
          <a:solidFill>
            <a:srgbClr val="B9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313432"/>
            <a:ext cx="6035040" cy="301752"/>
          </a:xfrm>
          <a:prstGeom prst="rect">
            <a:avLst/>
          </a:prstGeom>
          <a:solidFill>
            <a:srgbClr val="B9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5778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🥕 막강한 글로벌 “당근”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53949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450" b="1" i="0">
                <a:solidFill>
                  <a:srgbClr val="B9740A"/>
                </a:solidFill>
                <a:latin typeface="Malgun Gothic"/>
              </a:rPr>
              <a:t>동네 → 전 세계로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02152"/>
            <a:ext cx="91440" cy="91440"/>
          </a:xfrm>
          <a:prstGeom prst="ellipse">
            <a:avLst/>
          </a:prstGeom>
          <a:solidFill>
            <a:srgbClr val="B9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5029200" cy="6057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2B2018"/>
                </a:solidFill>
                <a:latin typeface="Malgun Gothic"/>
              </a:rPr>
              <a:t>200개 넘는 언어 자동 통역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107942"/>
            <a:ext cx="91440" cy="91440"/>
          </a:xfrm>
          <a:prstGeom prst="ellipse">
            <a:avLst/>
          </a:prstGeom>
          <a:solidFill>
            <a:srgbClr val="B9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989070"/>
            <a:ext cx="5029200" cy="6057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2B2018"/>
                </a:solidFill>
                <a:latin typeface="Malgun Gothic"/>
              </a:rPr>
              <a:t>현금 대신 Pi로 간편·안전 결제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713732"/>
            <a:ext cx="91440" cy="91440"/>
          </a:xfrm>
          <a:prstGeom prst="ellipse">
            <a:avLst/>
          </a:prstGeom>
          <a:solidFill>
            <a:srgbClr val="B9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594860"/>
            <a:ext cx="5029200" cy="6057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2B2018"/>
                </a:solidFill>
                <a:latin typeface="Malgun Gothic"/>
              </a:rPr>
              <a:t>채팅·중고·가게가 한 앱에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19522"/>
            <a:ext cx="91440" cy="91440"/>
          </a:xfrm>
          <a:prstGeom prst="ellipse">
            <a:avLst/>
          </a:prstGeom>
          <a:solidFill>
            <a:srgbClr val="B9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200650"/>
            <a:ext cx="5029200" cy="6057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2B2018"/>
                </a:solidFill>
                <a:latin typeface="Malgun Gothic"/>
              </a:rPr>
              <a:t>거리순으로 가까운 이웃 연결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7573975"/>
            <a:ext cx="6035040" cy="4023360"/>
          </a:xfrm>
          <a:prstGeom prst="roundRect">
            <a:avLst>
              <a:gd name="adj" fmla="val 5000"/>
            </a:avLst>
          </a:prstGeom>
          <a:solidFill>
            <a:srgbClr val="FFF7E8"/>
          </a:solidFill>
          <a:ln w="1905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1480" y="7573975"/>
            <a:ext cx="6035040" cy="603504"/>
          </a:xfrm>
          <a:prstGeom prst="roundRect">
            <a:avLst>
              <a:gd name="adj" fmla="val 26000"/>
            </a:avLst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7875727"/>
            <a:ext cx="6035040" cy="301752"/>
          </a:xfrm>
          <a:prstGeom prst="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7573975"/>
            <a:ext cx="55778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650" b="1" i="0">
                <a:solidFill>
                  <a:srgbClr val="FFFFFF"/>
                </a:solidFill>
                <a:latin typeface="Malgun Gothic"/>
              </a:rPr>
              <a:t>☕ 유연한 “싸이렌오더”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8351215"/>
            <a:ext cx="53949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450" b="1" i="0">
                <a:solidFill>
                  <a:srgbClr val="2E7D6F"/>
                </a:solidFill>
                <a:latin typeface="Malgun Gothic"/>
              </a:rPr>
              <a:t>업종 안 가리고 누구나 사장님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9064447"/>
            <a:ext cx="91440" cy="9144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8945575"/>
            <a:ext cx="5029200" cy="6057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2B2018"/>
                </a:solidFill>
                <a:latin typeface="Malgun Gothic"/>
              </a:rPr>
              <a:t>큰 회사 아니어도 내 가게 개설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9670237"/>
            <a:ext cx="91440" cy="9144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9551365"/>
            <a:ext cx="5029200" cy="6057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2B2018"/>
                </a:solidFill>
                <a:latin typeface="Malgun Gothic"/>
              </a:rPr>
              <a:t>메뉴·가격·수량 자유롭게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10276027"/>
            <a:ext cx="91440" cy="9144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10157155"/>
            <a:ext cx="5029200" cy="6057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2B2018"/>
                </a:solidFill>
                <a:latin typeface="Malgun Gothic"/>
              </a:rPr>
              <a:t>주문 즉시 알림(텔레그램)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10881817"/>
            <a:ext cx="91440" cy="9144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10762945"/>
            <a:ext cx="5029200" cy="60579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2B2018"/>
                </a:solidFill>
                <a:latin typeface="Malgun Gothic"/>
              </a:rPr>
              <a:t>O2O 픽업으로 매장에서 전달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874519"/>
          </a:xfrm>
          <a:prstGeom prst="rect">
            <a:avLst/>
          </a:prstGeom>
          <a:solidFill>
            <a:srgbClr val="3B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74519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94960" y="-1005840"/>
            <a:ext cx="2194560" cy="2194560"/>
          </a:xfrm>
          <a:prstGeom prst="ellipse">
            <a:avLst/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29260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92608"/>
            <a:ext cx="1691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3B2A20"/>
                </a:solidFill>
                <a:latin typeface="Malgun Gothic"/>
              </a:rPr>
              <a:t>🎁 EVENT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603504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10미션 수행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603504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E9DED3"/>
                </a:solidFill>
                <a:latin typeface="Malgun Gothic"/>
              </a:rPr>
              <a:t>테스트파이로 충전하고, 미션 깨고, Bean 선물 받자!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9430207"/>
            <a:ext cx="6035040" cy="2194560"/>
          </a:xfrm>
          <a:prstGeom prst="roundRect">
            <a:avLst>
              <a:gd name="adj" fmla="val 8000"/>
            </a:avLst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9722815"/>
            <a:ext cx="603504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3B2A20"/>
                </a:solidFill>
                <a:latin typeface="Malgun Gothic"/>
              </a:rPr>
              <a:t>🎁 10미션 완료 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0161727"/>
            <a:ext cx="603504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4600" b="1" i="0">
                <a:solidFill>
                  <a:srgbClr val="3B2A20"/>
                </a:solidFill>
                <a:latin typeface="Malgun Gothic"/>
              </a:rPr>
              <a:t>5,000 Bean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1094415"/>
            <a:ext cx="603504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B2A20"/>
                </a:solidFill>
                <a:latin typeface="Malgun Gothic"/>
              </a:rPr>
              <a:t>테스트파이 충전 + 미션 10개 완료 시 선물! 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240280"/>
            <a:ext cx="6035040" cy="210312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06324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377440"/>
            <a:ext cx="4892040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테스트파이로 토큰 충전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Test-Pi(테스트 파이)로 Bean을 충전해 이벤트를 준비해요.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7052767"/>
            <a:ext cx="6035040" cy="210312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2648" y="7875727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7875727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7189927"/>
            <a:ext cx="4892040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10가지 미션 수행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이벤트 페이지의 미션 10개를 차례대로 완료해요.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874519"/>
          </a:xfrm>
          <a:prstGeom prst="rect">
            <a:avLst/>
          </a:prstGeom>
          <a:solidFill>
            <a:srgbClr val="3B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74519"/>
            <a:ext cx="6858000" cy="38100"/>
          </a:xfrm>
          <a:prstGeom prst="rect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94960" y="-1005840"/>
            <a:ext cx="2194560" cy="2194560"/>
          </a:xfrm>
          <a:prstGeom prst="ellipse">
            <a:avLst/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29260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92608"/>
            <a:ext cx="1691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3B2A20"/>
                </a:solidFill>
                <a:latin typeface="Malgun Gothic"/>
              </a:rPr>
              <a:t>🎁 EVENT #2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603504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내 매장 등록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603504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1200" b="0" i="0">
                <a:solidFill>
                  <a:srgbClr val="E9DED3"/>
                </a:solidFill>
                <a:latin typeface="Malgun Gothic"/>
              </a:rPr>
              <a:t>내 매장을 등록하고 거래까지 테스트하면 Bean 선물!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9430207"/>
            <a:ext cx="6035040" cy="2194560"/>
          </a:xfrm>
          <a:prstGeom prst="roundRect">
            <a:avLst>
              <a:gd name="adj" fmla="val 8000"/>
            </a:avLst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9722815"/>
            <a:ext cx="603504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3B2A20"/>
                </a:solidFill>
                <a:latin typeface="Malgun Gothic"/>
              </a:rPr>
              <a:t>🎁 매장 등록 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0161727"/>
            <a:ext cx="603504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4600" b="1" i="0">
                <a:solidFill>
                  <a:srgbClr val="3B2A20"/>
                </a:solidFill>
                <a:latin typeface="Malgun Gothic"/>
              </a:rPr>
              <a:t>10,000 Bean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1094415"/>
            <a:ext cx="603504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350" b="1" i="0">
                <a:solidFill>
                  <a:srgbClr val="3B2A20"/>
                </a:solidFill>
                <a:latin typeface="Malgun Gothic"/>
              </a:rPr>
              <a:t>등록 + 메뉴 + 거래 테스트 완료 시 선물! 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240280"/>
            <a:ext cx="6035040" cy="210312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06324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377440"/>
            <a:ext cx="4892040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내 매장 찾아 PiShop 등록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구글맵에 등록된 내 매장을 찾아 PiShop에 등록해요.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646523"/>
            <a:ext cx="6035040" cy="210312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2648" y="5469483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5469483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83683"/>
            <a:ext cx="4892040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내 PiShop에 메뉴 등록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판매할 메뉴(상품)의 사진·가격을 올려요.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7052766"/>
            <a:ext cx="6035040" cy="2103120"/>
          </a:xfrm>
          <a:prstGeom prst="roundRect">
            <a:avLst>
              <a:gd name="adj" fmla="val 7000"/>
            </a:avLst>
          </a:prstGeom>
          <a:solidFill>
            <a:srgbClr val="FFF7E8"/>
          </a:solidFill>
          <a:ln w="12700">
            <a:solidFill>
              <a:srgbClr val="EF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2648" y="7875726"/>
            <a:ext cx="457200" cy="45720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7875726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7189926"/>
            <a:ext cx="4892040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550" b="1" i="0">
                <a:solidFill>
                  <a:srgbClr val="3B2A20"/>
                </a:solidFill>
                <a:latin typeface="Malgun Gothic"/>
              </a:rPr>
              <a:t>텔레그램 알림 + 거래 테스트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250" b="0" i="0">
                <a:solidFill>
                  <a:srgbClr val="2B2018"/>
                </a:solidFill>
                <a:latin typeface="Malgun Gothic"/>
              </a:rPr>
              <a:t>텔레그램 알림을 켜고 판매·구매를 직접 테스트해요.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11807647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8A7A6D"/>
                </a:solidFill>
                <a:latin typeface="Malgun Gothic"/>
              </a:rPr>
              <a:t>☕ Cafe.pi  ·  쉬운 사용 설명서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1807647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r">
              <a:buNone/>
            </a:pPr>
            <a:r>
              <a:rPr sz="900" b="1" i="0">
                <a:solidFill>
                  <a:srgbClr val="8A7A6D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3B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0" y="-1371600"/>
            <a:ext cx="3200400" cy="3200400"/>
          </a:xfrm>
          <a:prstGeom prst="ellipse">
            <a:avLst/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60350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이제 시작해 볼까요? 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194560"/>
            <a:ext cx="60350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F4A52A"/>
                </a:solidFill>
                <a:latin typeface="Malgun Gothic"/>
              </a:rPr>
              <a:t>딱 3가지만 기억하세요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108960"/>
            <a:ext cx="6035040" cy="1600200"/>
          </a:xfrm>
          <a:prstGeom prst="roundRect">
            <a:avLst>
              <a:gd name="adj" fmla="val 7000"/>
            </a:avLst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3474720"/>
            <a:ext cx="868680" cy="86868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86868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3108960"/>
            <a:ext cx="4389120" cy="1600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로그인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0" i="0">
                <a:solidFill>
                  <a:srgbClr val="E9DED3"/>
                </a:solidFill>
                <a:latin typeface="Malgun Gothic"/>
              </a:rPr>
              <a:t>Pi 또는 구글로 들어와 두 계정을 연결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983480"/>
            <a:ext cx="6035040" cy="1600200"/>
          </a:xfrm>
          <a:prstGeom prst="roundRect">
            <a:avLst>
              <a:gd name="adj" fmla="val 7000"/>
            </a:avLst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5349240"/>
            <a:ext cx="868680" cy="86868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86868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4983480"/>
            <a:ext cx="4389120" cy="1600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둘러보기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0" i="0">
                <a:solidFill>
                  <a:srgbClr val="E9DED3"/>
                </a:solidFill>
                <a:latin typeface="Malgun Gothic"/>
              </a:rPr>
              <a:t>가까운 카페·중고·가게를 위치로 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6858000"/>
            <a:ext cx="6035040" cy="1600200"/>
          </a:xfrm>
          <a:prstGeom prst="roundRect">
            <a:avLst>
              <a:gd name="adj" fmla="val 7000"/>
            </a:avLst>
          </a:prstGeom>
          <a:solidFill>
            <a:srgbClr val="4A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7223760"/>
            <a:ext cx="868680" cy="868680"/>
          </a:xfrm>
          <a:prstGeom prst="ellipse">
            <a:avLst/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7223760"/>
            <a:ext cx="86868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6858000"/>
            <a:ext cx="4389120" cy="1600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>
                <a:solidFill>
                  <a:srgbClr val="FFFFFF"/>
                </a:solidFill>
                <a:latin typeface="Malgun Gothic"/>
              </a:rPr>
              <a:t>사고팔기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0" i="0">
                <a:solidFill>
                  <a:srgbClr val="E9DED3"/>
                </a:solidFill>
                <a:latin typeface="Malgun Gothic"/>
              </a:rPr>
              <a:t>Pi로 결제 → 알림 받고 매장에서 받기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882396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4A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8823960"/>
            <a:ext cx="548640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sz="1450" b="1" i="0">
                <a:solidFill>
                  <a:srgbClr val="3B2A20"/>
                </a:solidFill>
                <a:latin typeface="Malgun Gothic"/>
              </a:rPr>
              <a:t>🎁 지금 내 가게를 열면</a:t>
            </a:r>
          </a:p>
          <a:p>
            <a:pPr marL="0" indent="0" algn="ctr">
              <a:spcAft>
                <a:spcPts val="300"/>
              </a:spcAft>
              <a:buNone/>
            </a:pPr>
            <a:r>
              <a:rPr sz="1600" b="1" i="0">
                <a:solidFill>
                  <a:srgbClr val="3B2A20"/>
                </a:solidFill>
                <a:latin typeface="Malgun Gothic"/>
              </a:rPr>
              <a:t>선착순 100곳에 10,000 Bean 증정!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11323015"/>
            <a:ext cx="60350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indent="0" algn="ctr">
              <a:buNone/>
            </a:pPr>
            <a:r>
              <a:rPr sz="1300" b="0" i="1">
                <a:solidFill>
                  <a:srgbClr val="E9DED3"/>
                </a:solidFill>
                <a:latin typeface="Malgun Gothic"/>
              </a:rPr>
              <a:t>☕ Cafe.pi — 작은 카페에서 시작해, 전 세계로.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1318</Words>
  <Application>Microsoft Office PowerPoint</Application>
  <PresentationFormat>와이드스크린</PresentationFormat>
  <Paragraphs>203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영록 원</cp:lastModifiedBy>
  <cp:revision>2</cp:revision>
  <dcterms:created xsi:type="dcterms:W3CDTF">2013-01-27T09:14:16Z</dcterms:created>
  <dcterms:modified xsi:type="dcterms:W3CDTF">2026-06-23T22:37:43Z</dcterms:modified>
  <cp:category/>
</cp:coreProperties>
</file>