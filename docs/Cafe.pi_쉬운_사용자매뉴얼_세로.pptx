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846320" y="-1463040"/>
            <a:ext cx="3474720" cy="347472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10362895"/>
            <a:ext cx="2926080" cy="292608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2377440"/>
            <a:ext cx="1371600" cy="13716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1371600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5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114800"/>
            <a:ext cx="603504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5600" b="1" i="0">
                <a:solidFill>
                  <a:srgbClr val="FFFFFF"/>
                </a:solidFill>
                <a:latin typeface="Malgun Gothic"/>
              </a:rPr>
              <a:t>Cafe.pi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349240"/>
            <a:ext cx="60350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3000" b="1" i="0">
                <a:solidFill>
                  <a:srgbClr val="F4A52A"/>
                </a:solidFill>
                <a:latin typeface="Malgun Gothic"/>
              </a:rPr>
              <a:t>쉬운 사용 설명서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00800"/>
            <a:ext cx="60350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컴퓨터를 잘 몰라도 괜찮아요.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500" b="0" i="0">
                <a:solidFill>
                  <a:srgbClr val="E9DED3"/>
                </a:solidFill>
                <a:latin typeface="Malgun Gothic"/>
              </a:rPr>
              <a:t>그림과 순서대로 따라만 하세요. 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7955279"/>
            <a:ext cx="6035040" cy="1463040"/>
          </a:xfrm>
          <a:prstGeom prst="roundRect">
            <a:avLst>
              <a:gd name="adj" fmla="val 8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7955279"/>
            <a:ext cx="5394960" cy="1463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200" b="1" i="0">
                <a:solidFill>
                  <a:srgbClr val="F4A52A"/>
                </a:solidFill>
                <a:latin typeface="Malgun Gothic"/>
              </a:rPr>
              <a:t>이 설명서로 배우는 것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로그인 · Bean · 구독 · 카페와 동시통역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50" b="0" i="0">
                <a:solidFill>
                  <a:srgbClr val="FFFFFF"/>
                </a:solidFill>
                <a:latin typeface="Malgun Gothic"/>
              </a:rPr>
              <a:t>· 중고장터 · 내 가게(O2O)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1277295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0" i="1">
                <a:solidFill>
                  <a:srgbClr val="8A7A6D"/>
                </a:solidFill>
                <a:latin typeface="Malgun Gothic"/>
              </a:rPr>
              <a:t>작은 카페에서 시작해, 전 세계로. 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411480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600" b="1" i="0">
                <a:solidFill>
                  <a:srgbClr val="3B2A20"/>
                </a:solidFill>
                <a:latin typeface="Malgun Gothic"/>
              </a:rPr>
              <a:t>한눈에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8A7A6D"/>
                </a:solidFill>
                <a:latin typeface="Malgun Gothic"/>
              </a:rPr>
              <a:t>이 설명서로 배우는 7가지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78308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6072" y="207196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207196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783080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1. 로그인하기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Pi 계정·구글 계정을 하나로 연결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320209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6072" y="349098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" y="3490983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202098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2. Bean 알기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커피빈 토큰 — 충전하고 마음 전하기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621116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4910001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4910001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4621116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3. 구독(이용권)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카페용·매장용 이용권 구분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6040134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" y="6329019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6329019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6040134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4. 카페 &amp; 통역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가까운 카페 + 자동 동시통역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7459152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6072" y="7748037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7748037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7459152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5. 중고장터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가게 없이 누구나 사고팔기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8878170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6072" y="9167055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9167055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8878170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6. 내 가게(O2O)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가게 만들고 메뉴 올리고 주문받기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10297188"/>
            <a:ext cx="6035040" cy="1254426"/>
          </a:xfrm>
          <a:prstGeom prst="roundRect">
            <a:avLst>
              <a:gd name="adj" fmla="val 10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76072" y="10586073"/>
            <a:ext cx="676656" cy="676656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10586073"/>
            <a:ext cx="676656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400" b="0" i="0">
                <a:solidFill>
                  <a:srgbClr val="FFFFFF"/>
                </a:solidFill>
                <a:latin typeface="Malgun Gothic"/>
              </a:rPr>
              <a:t>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10297188"/>
            <a:ext cx="4892040" cy="125442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7. 왜 좋은가요?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당근·싸이렌오더보다 강한 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🔑  로그인 &amp; 두 계정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Pi 브라우저에서 6자리 코드 받기 → 일반 브라우저에 붙여넣고 버튼 한 번이면 끝!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3291840"/>
          </a:xfrm>
          <a:prstGeom prst="roundRect">
            <a:avLst>
              <a:gd name="adj" fmla="val 5000"/>
            </a:avLst>
          </a:prstGeom>
          <a:solidFill>
            <a:srgbClr val="E8F5E9"/>
          </a:solidFill>
          <a:ln w="15875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148840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2423160"/>
            <a:ext cx="6035040" cy="27432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55778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📱 Pi 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40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① “연동 코드 생성” 누르기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30175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30175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2B2018"/>
                </a:solidFill>
                <a:latin typeface="Consolas"/>
              </a:rPr>
              <a:t>A3F-9K2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3291840"/>
            <a:ext cx="210312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🕘 10분 안에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사용하세요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② 연동 URL 복사  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0916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복사한 코드(또는 링크)를 일반 브라우저로 옮겨요.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233007"/>
            <a:ext cx="603504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600" b="1" i="0">
                <a:solidFill>
                  <a:srgbClr val="B9740A"/>
                </a:solidFill>
                <a:latin typeface="Malgun Gothic"/>
              </a:rPr>
              <a:t>▼  복사해서 붙여넣기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711134"/>
            <a:ext cx="6035040" cy="301752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5875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7711134"/>
            <a:ext cx="6035040" cy="548640"/>
          </a:xfrm>
          <a:prstGeom prst="roundRect">
            <a:avLst>
              <a:gd name="adj" fmla="val 3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7985454"/>
            <a:ext cx="6035040" cy="27432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7711134"/>
            <a:ext cx="55778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🌐 일반 브라우저 (크롬·사파리)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8396934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③ 구글 로그인 후, 주소창에 붙여넣기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8808414"/>
            <a:ext cx="539496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8808414"/>
            <a:ext cx="51206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0" i="0">
                <a:solidFill>
                  <a:srgbClr val="2B2018"/>
                </a:solidFill>
                <a:latin typeface="Consolas"/>
              </a:rPr>
              <a:t>🔗  …/link?code=A3F9K2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9402774"/>
            <a:ext cx="5394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00" b="1" i="0">
                <a:solidFill>
                  <a:srgbClr val="2B2018"/>
                </a:solidFill>
                <a:latin typeface="Malgun Gothic"/>
              </a:rPr>
              <a:t>④ “연동하기” 클릭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9795965"/>
            <a:ext cx="5394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1" i="0">
                <a:solidFill>
                  <a:srgbClr val="2E7D32"/>
                </a:solidFill>
                <a:latin typeface="Malgun Gothic"/>
              </a:rPr>
              <a:t>✓ Pi + Google 연동 완료!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Pi 브라우저는 보안상 정보를 저장 못 해서, 6자리 코드(또는 링크)로 두 브라우저를 안전하게 이어줘요.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☕  Bean(커피빈 토큰) 이해하기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커피빈 토큰은 앱 안에서 마음을 전하는 작은 토큰이에요. 충전해서 쓰고, 고마운 사람에게 보냅니다.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Bean이 뭐예요?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카페에서 고마운 사람에게 보내는 “커피빈 토큰(☕)”이에요. 칭찬·응원·감사를 숫자 대신 커피빈으로 표현합니다.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 충전(적립)하기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Pi로 커피빈 토큰을 충전해요. 충전 버튼을 누르고 원하는 만큼 고른 뒤 Pi로 결제하면 내 커피빈 토큰이 쌓입니다.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Bean 사용(보내기)하기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대화방에서 ☕ 선물 버튼을 누르고 10·50·100 Bean 중 골라 보내요. 누구나 보낼 수 있고, 받은 사람은 알림으로 확인합니다.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커피 한 잔 대접하듯, 앱 안에서 “커피빈 토큰(Bean)”으로 따뜻한 마음을 건네는 거예요. 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🎫  구독 요금제 — Bean으로 결제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필요한 상품군만 골라 구독해요. 충전한 Bean으로 결제 · 무료로 시작.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2148840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50008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무료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13432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2E7D6F"/>
                </a:solidFill>
                <a:latin typeface="Malgun Gothic"/>
              </a:rPr>
              <a:t>Pi Explorer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862072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평생 무료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227832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319272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일반 테마 사용 · 1:1 채팅 · Bean 받기·선물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4414418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4A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414418"/>
            <a:ext cx="128016" cy="178308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15586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☕ PiCafe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4579010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F4A52A"/>
                </a:solidFill>
                <a:latin typeface="Malgun Gothic"/>
              </a:rPr>
              <a:t>3,000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40" y="5127650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30,000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493410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584850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프리미엄 테마 전체 · 그룹방 무제한 · AI·Bean 선물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22392" y="4286402"/>
            <a:ext cx="914400" cy="347472"/>
          </a:xfrm>
          <a:prstGeom prst="roundRect">
            <a:avLst>
              <a:gd name="adj" fmla="val 4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22392" y="4286402"/>
            <a:ext cx="9144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050" b="1" i="0">
                <a:solidFill>
                  <a:srgbClr val="FFFFFF"/>
                </a:solidFill>
                <a:latin typeface="Malgun Gothic"/>
              </a:rPr>
              <a:t>⭐ 인기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6679996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6679996"/>
            <a:ext cx="128016" cy="1783080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881164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🏪 PiShop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40" y="6844588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B9740A"/>
                </a:solidFill>
                <a:latin typeface="Malgun Gothic"/>
              </a:rPr>
              <a:t>3,000~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7393228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30,000~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7758988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7850428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S 상품 30개 · M 상품 50개 · L 무제한·통계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8945574"/>
            <a:ext cx="603504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8945574"/>
            <a:ext cx="128016" cy="1783080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9146742"/>
            <a:ext cx="26517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3B2A20"/>
                </a:solidFill>
                <a:latin typeface="Malgun Gothic"/>
              </a:rPr>
              <a:t>💬 자동번역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40" y="9110166"/>
            <a:ext cx="237744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2300" b="1" i="0">
                <a:solidFill>
                  <a:srgbClr val="2E7D6F"/>
                </a:solidFill>
                <a:latin typeface="Malgun Gothic"/>
              </a:rPr>
              <a:t>1,000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40" y="9658806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1050" b="0" i="0">
                <a:solidFill>
                  <a:srgbClr val="8A7A6D"/>
                </a:solidFill>
                <a:latin typeface="Malgun Gothic"/>
              </a:rPr>
              <a:t>Bean/월 · 연 10,000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10024566"/>
            <a:ext cx="5303520" cy="12700"/>
          </a:xfrm>
          <a:prstGeom prst="rect">
            <a:avLst/>
          </a:prstGeom>
          <a:solidFill>
            <a:srgbClr val="EF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10116006"/>
            <a:ext cx="539496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2B2018"/>
                </a:solidFill>
                <a:latin typeface="Malgun Gothic"/>
              </a:rPr>
              <a:t>200개+ 언어 · 무제한 자동번역 · 카페·1:1 대화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구독료는 충전한 Bean으로 결제해요(1 Pi = 100 Bean). 연간은 월 × 10 = 2개월 무료! Bean은 플랫폼 전용입니다.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💬  PiCafe + 자동 동시통역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전 세계 어디를 가도 카페엔 내 친구가 있고, 자동 통역이 되니 어느 나라 사람과도 두렵지 않아요.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주제별 카페에 들어가기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관심 주제(취미·동네·관심사)의 카페 방을 골라 들어가요. 누구나 무료로 채팅을 시작할 수 있어요.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“가까운 카페” 위치로 찾기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위치를 켜면 가까운 카페·사람을 거리순으로 보여줘요. 동네 이웃과 자연스럽게 연결됩니다.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자동 동시통역으로 세계와 대화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상대가 외국어로 써도 내 언어로 바로 보여요(200개 넘는 언어). 구독하면 무제한, 가끔 쓰면 1회당 소량 Bean으로도 가능해요.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통역사를 옆에 둔 것처럼, 어느 나라 사람과도 막힘없이 수다 떨 수 있어요. 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📦  중고장터 — 안전한 P2P 거래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에스크로(안전 보관) 서비스로 결제가 보호돼요. 가게가 없어도 누구나 가까운 사람과 안심 거래!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306324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06324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팔 물건 사진 올리기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“상품 등록”에서 사진을 찍어 올리고 가격(Pi)을 적으면 끝. 내 위치도 함께 저장돼 가까운 사람에게 보여요.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5295747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6210147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6210147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432907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가까운 물건 둘러보고 주문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내 주변에 나온 물건을 거리순으로 보고, 마음에 들면 Pi로 주문해요.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8442654"/>
            <a:ext cx="6035040" cy="2286000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935705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935705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8579814"/>
            <a:ext cx="4892040" cy="2011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안전하게 거래 완료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결제한 Pi는 플랫폼이 잠시 안전하게 보관했다가, 거래가 끝나면 판매자에게 전달돼요(중간 보관).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에스크로 = 플랫폼이 결제한 Pi를 잠시 안전하게 맡아두는 금고. 거래가 끝나야 판매자에게 전달돼요.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78308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78308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11480" y="384048"/>
            <a:ext cx="749808" cy="749808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384048"/>
            <a:ext cx="749808" cy="7498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365760"/>
            <a:ext cx="5056632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900" b="1" i="0">
                <a:solidFill>
                  <a:srgbClr val="3B2A20"/>
                </a:solidFill>
                <a:latin typeface="Malgun Gothic"/>
              </a:rPr>
              <a:t>🏪  내 O2O 매장, 10분 만에 등록!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188720"/>
            <a:ext cx="603504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0" i="0">
                <a:solidFill>
                  <a:srgbClr val="8A7A6D"/>
                </a:solidFill>
                <a:latin typeface="Malgun Gothic"/>
              </a:rPr>
              <a:t>싸이렌오더(스타벅스) 부럽지 않은 내 매장 — 등록·메뉴·주문·픽업까지 따라만 하면 10분이면 끝.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48840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12648" y="2917278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917278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86000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내 가게 등록하기(위치)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“매장 등록”에서 가게 이름과 위치(지도)를 정하면, 손님이 가까운 가게로 나를 찾아와요.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4344086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12648" y="5112524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5112524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81246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메뉴(상품) 올리기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메뉴 사진·이름·가격을 등록해요. 수량도 정할 수 있어요(예: 아메리카노 2잔).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6539332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8" y="7307770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7307770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6676492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주문 알림 받기(텔레그램)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손님이 주문하면 텔레그램으로 바로 알림이 와요. 메뉴·수량·금액까지 보여줍니다.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8734578"/>
            <a:ext cx="6035040" cy="1994077"/>
          </a:xfrm>
          <a:prstGeom prst="roundRect">
            <a:avLst>
              <a:gd name="adj" fmla="val 7000"/>
            </a:avLst>
          </a:prstGeom>
          <a:solidFill>
            <a:srgbClr val="FFF7E8"/>
          </a:solidFill>
          <a:ln w="12700">
            <a:solidFill>
              <a:srgbClr val="EFE2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2648" y="9503016"/>
            <a:ext cx="457200" cy="45720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9503016"/>
            <a:ext cx="4572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8871738"/>
            <a:ext cx="4892040" cy="1719757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500"/>
              </a:spcAft>
              <a:buNone/>
            </a:pPr>
            <a:r>
              <a:rPr sz="1550" b="1" i="0">
                <a:solidFill>
                  <a:srgbClr val="3B2A20"/>
                </a:solidFill>
                <a:latin typeface="Malgun Gothic"/>
              </a:rPr>
              <a:t>매장에서 받기(O2O)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250" b="0" i="0">
                <a:solidFill>
                  <a:srgbClr val="2B2018"/>
                </a:solidFill>
                <a:latin typeface="Malgun Gothic"/>
              </a:rPr>
              <a:t>주문 → 준비중 → 준비완료 → 픽업 순서로 진행돼요. 손님이 매장에서 받아갑니다.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10820095"/>
            <a:ext cx="6035040" cy="914400"/>
          </a:xfrm>
          <a:prstGeom prst="roundRect">
            <a:avLst>
              <a:gd name="adj" fmla="val 6000"/>
            </a:avLst>
          </a:prstGeom>
          <a:solidFill>
            <a:srgbClr val="FBE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10820095"/>
            <a:ext cx="109728" cy="9144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10820095"/>
            <a:ext cx="557784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00" b="1" i="0">
                <a:solidFill>
                  <a:srgbClr val="B9740A"/>
                </a:solidFill>
                <a:latin typeface="Malgun Gothic"/>
              </a:rPr>
              <a:t>💡 쉽게 말하면  </a:t>
            </a:r>
            <a:r>
              <a:rPr sz="1200" b="0" i="0">
                <a:solidFill>
                  <a:srgbClr val="2B2018"/>
                </a:solidFill>
                <a:latin typeface="Malgun Gothic"/>
              </a:rPr>
              <a:t>온라인 주문(O)을 받아 매장(O)에서 건네주는 흐름이라 “O2O”라고 불러요.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858000" cy="1463040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0"/>
            <a:ext cx="6858000" cy="38100"/>
          </a:xfrm>
          <a:prstGeom prst="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2400" b="1" i="0">
                <a:solidFill>
                  <a:srgbClr val="3B2A20"/>
                </a:solidFill>
                <a:latin typeface="Malgun Gothic"/>
              </a:rPr>
              <a:t>⭐ 왜 Cafe.pi 인가요?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24128"/>
            <a:ext cx="6035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250" b="0" i="0">
                <a:solidFill>
                  <a:srgbClr val="8A7A6D"/>
                </a:solidFill>
                <a:latin typeface="Malgun Gothic"/>
              </a:rPr>
              <a:t>막강한 글로벌 “당근”  ·  업종 안 가리는 “싸이렌오더”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011680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B974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011680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313432"/>
            <a:ext cx="6035040" cy="301752"/>
          </a:xfrm>
          <a:prstGeom prst="rect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5778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🥕 막강한 글로벌 “당근”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450" b="1" i="0">
                <a:solidFill>
                  <a:srgbClr val="B9740A"/>
                </a:solidFill>
                <a:latin typeface="Malgun Gothic"/>
              </a:rPr>
              <a:t>동네 → 전 세계로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0215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200개 넘는 언어 자동 통역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10794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98907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현금 대신 Pi로 간편·안전 결제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471373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9486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채팅·중고·가게가 한 앱에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19522"/>
            <a:ext cx="91440" cy="91440"/>
          </a:xfrm>
          <a:prstGeom prst="ellipse">
            <a:avLst/>
          </a:prstGeom>
          <a:solidFill>
            <a:srgbClr val="B974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00650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거리순으로 가까운 이웃 연결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7573975"/>
            <a:ext cx="6035040" cy="4023360"/>
          </a:xfrm>
          <a:prstGeom prst="roundRect">
            <a:avLst>
              <a:gd name="adj" fmla="val 5000"/>
            </a:avLst>
          </a:prstGeom>
          <a:solidFill>
            <a:srgbClr val="FFF7E8"/>
          </a:solidFill>
          <a:ln w="19050">
            <a:solidFill>
              <a:srgbClr val="2E7D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" y="7573975"/>
            <a:ext cx="6035040" cy="603504"/>
          </a:xfrm>
          <a:prstGeom prst="roundRect">
            <a:avLst>
              <a:gd name="adj" fmla="val 26000"/>
            </a:avLst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7875727"/>
            <a:ext cx="6035040" cy="301752"/>
          </a:xfrm>
          <a:prstGeom prst="rect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7573975"/>
            <a:ext cx="557784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650" b="1" i="0">
                <a:solidFill>
                  <a:srgbClr val="FFFFFF"/>
                </a:solidFill>
                <a:latin typeface="Malgun Gothic"/>
              </a:rPr>
              <a:t>☕ 유연한 “싸이렌오더”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8351215"/>
            <a:ext cx="53949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450" b="1" i="0">
                <a:solidFill>
                  <a:srgbClr val="2E7D6F"/>
                </a:solidFill>
                <a:latin typeface="Malgun Gothic"/>
              </a:rPr>
              <a:t>업종 안 가리고 누구나 사장님</a:t>
            </a:r>
          </a:p>
        </p:txBody>
      </p:sp>
      <p:sp>
        <p:nvSpPr>
          <p:cNvPr id="25" name="Oval 24"/>
          <p:cNvSpPr/>
          <p:nvPr/>
        </p:nvSpPr>
        <p:spPr>
          <a:xfrm>
            <a:off x="822960" y="906444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894557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큰 회사 아니어도 내 가게 개설</a:t>
            </a:r>
          </a:p>
        </p:txBody>
      </p:sp>
      <p:sp>
        <p:nvSpPr>
          <p:cNvPr id="27" name="Oval 26"/>
          <p:cNvSpPr/>
          <p:nvPr/>
        </p:nvSpPr>
        <p:spPr>
          <a:xfrm>
            <a:off x="822960" y="967023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955136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메뉴·가격·수량 자유롭게</a:t>
            </a:r>
          </a:p>
        </p:txBody>
      </p:sp>
      <p:sp>
        <p:nvSpPr>
          <p:cNvPr id="29" name="Oval 28"/>
          <p:cNvSpPr/>
          <p:nvPr/>
        </p:nvSpPr>
        <p:spPr>
          <a:xfrm>
            <a:off x="822960" y="1027602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1015715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주문 즉시 알림(텔레그램)</a:t>
            </a:r>
          </a:p>
        </p:txBody>
      </p:sp>
      <p:sp>
        <p:nvSpPr>
          <p:cNvPr id="31" name="Oval 30"/>
          <p:cNvSpPr/>
          <p:nvPr/>
        </p:nvSpPr>
        <p:spPr>
          <a:xfrm>
            <a:off x="822960" y="10881817"/>
            <a:ext cx="91440" cy="91440"/>
          </a:xfrm>
          <a:prstGeom prst="ellipse">
            <a:avLst/>
          </a:prstGeom>
          <a:solidFill>
            <a:srgbClr val="2E7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10762945"/>
            <a:ext cx="5029200" cy="60579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350" b="0" i="0">
                <a:solidFill>
                  <a:srgbClr val="2B2018"/>
                </a:solidFill>
                <a:latin typeface="Malgun Gothic"/>
              </a:rPr>
              <a:t>O2O 픽업으로 매장에서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11807647"/>
            <a:ext cx="45720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900" b="0" i="0">
                <a:solidFill>
                  <a:srgbClr val="8A7A6D"/>
                </a:solidFill>
                <a:latin typeface="Malgun Gothic"/>
              </a:rPr>
              <a:t>☕ Cafe.pi  ·  쉬운 사용 설명서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11807647"/>
            <a:ext cx="54864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 marL="0" indent="0">
              <a:buNone/>
            </a:pPr>
            <a:r>
              <a:rPr sz="900" b="1" i="0">
                <a:solidFill>
                  <a:srgbClr val="8A7A6D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2191695"/>
          </a:xfrm>
          <a:prstGeom prst="rect">
            <a:avLst/>
          </a:prstGeom>
          <a:solidFill>
            <a:srgbClr val="3B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29200" y="-1371600"/>
            <a:ext cx="3200400" cy="3200400"/>
          </a:xfrm>
          <a:prstGeom prst="ellipse">
            <a:avLst/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60350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이제 시작해 볼까요? 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194560"/>
            <a:ext cx="6035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 marL="0" indent="0">
              <a:buNone/>
            </a:pPr>
            <a:r>
              <a:rPr sz="1700" b="1" i="0">
                <a:solidFill>
                  <a:srgbClr val="F4A52A"/>
                </a:solidFill>
                <a:latin typeface="Malgun Gothic"/>
              </a:rPr>
              <a:t>딱 3가지만 기억하세요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10896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347472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310896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로그인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 또는 구글로 들어와 두 계정을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98348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534924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34924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20" y="498348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둘러보기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가까운 카페·중고·가게를 위치로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6858000"/>
            <a:ext cx="6035040" cy="1600200"/>
          </a:xfrm>
          <a:prstGeom prst="roundRect">
            <a:avLst>
              <a:gd name="adj" fmla="val 7000"/>
            </a:avLst>
          </a:prstGeom>
          <a:solidFill>
            <a:srgbClr val="4A3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7223760"/>
            <a:ext cx="868680" cy="868680"/>
          </a:xfrm>
          <a:prstGeom prst="ellipse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7223760"/>
            <a:ext cx="8686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6858000"/>
            <a:ext cx="4389120" cy="1600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900" b="1" i="0">
                <a:solidFill>
                  <a:srgbClr val="FFFFFF"/>
                </a:solidFill>
                <a:latin typeface="Malgun Gothic"/>
              </a:rPr>
              <a:t>사고팔기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E9DED3"/>
                </a:solidFill>
                <a:latin typeface="Malgun Gothic"/>
              </a:rPr>
              <a:t>Pi로 결제 → 알림 받고 매장에서 받기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882396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8823960"/>
            <a:ext cx="54864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 marL="0" indent="0">
              <a:spcAft>
                <a:spcPts val="300"/>
              </a:spcAft>
              <a:buNone/>
            </a:pPr>
            <a:r>
              <a:rPr sz="1450" b="1" i="0">
                <a:solidFill>
                  <a:srgbClr val="3B2A20"/>
                </a:solidFill>
                <a:latin typeface="Malgun Gothic"/>
              </a:rPr>
              <a:t>🎁 지금 내 가게를 열면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3B2A20"/>
                </a:solidFill>
                <a:latin typeface="Malgun Gothic"/>
              </a:rPr>
              <a:t>선착순 100곳에 10,000 Bean 증정!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11323015"/>
            <a:ext cx="60350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 marL="0" indent="0">
              <a:buNone/>
            </a:pPr>
            <a:r>
              <a:rPr sz="1300" b="0" i="1">
                <a:solidFill>
                  <a:srgbClr val="E9DED3"/>
                </a:solidFill>
                <a:latin typeface="Malgun Gothic"/>
              </a:rPr>
              <a:t>☕ Cafe.pi — 작은 카페에서 시작해, 전 세계로.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