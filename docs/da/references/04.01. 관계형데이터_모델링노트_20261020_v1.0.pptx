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5"/>
  </p:notesMasterIdLst>
  <p:sldIdLst>
    <p:sldId id="479" r:id="rId2"/>
    <p:sldId id="480" r:id="rId3"/>
    <p:sldId id="485" r:id="rId4"/>
    <p:sldId id="264" r:id="rId5"/>
    <p:sldId id="257" r:id="rId6"/>
    <p:sldId id="259" r:id="rId7"/>
    <p:sldId id="260" r:id="rId8"/>
    <p:sldId id="261" r:id="rId9"/>
    <p:sldId id="263" r:id="rId10"/>
    <p:sldId id="265" r:id="rId11"/>
    <p:sldId id="266" r:id="rId12"/>
    <p:sldId id="267" r:id="rId13"/>
    <p:sldId id="270" r:id="rId14"/>
    <p:sldId id="274" r:id="rId15"/>
    <p:sldId id="271" r:id="rId16"/>
    <p:sldId id="272" r:id="rId17"/>
    <p:sldId id="273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9" r:id="rId31"/>
    <p:sldId id="258" r:id="rId32"/>
    <p:sldId id="256" r:id="rId33"/>
    <p:sldId id="625" r:id="rId34"/>
    <p:sldId id="486" r:id="rId35"/>
    <p:sldId id="626" r:id="rId36"/>
    <p:sldId id="627" r:id="rId37"/>
    <p:sldId id="628" r:id="rId38"/>
    <p:sldId id="629" r:id="rId39"/>
    <p:sldId id="291" r:id="rId40"/>
    <p:sldId id="306" r:id="rId41"/>
    <p:sldId id="299" r:id="rId42"/>
    <p:sldId id="300" r:id="rId43"/>
    <p:sldId id="297" r:id="rId44"/>
    <p:sldId id="296" r:id="rId45"/>
    <p:sldId id="290" r:id="rId46"/>
    <p:sldId id="292" r:id="rId47"/>
    <p:sldId id="301" r:id="rId48"/>
    <p:sldId id="295" r:id="rId49"/>
    <p:sldId id="293" r:id="rId50"/>
    <p:sldId id="302" r:id="rId51"/>
    <p:sldId id="294" r:id="rId52"/>
    <p:sldId id="298" r:id="rId53"/>
    <p:sldId id="303" r:id="rId54"/>
    <p:sldId id="304" r:id="rId55"/>
    <p:sldId id="305" r:id="rId56"/>
    <p:sldId id="307" r:id="rId57"/>
    <p:sldId id="309" r:id="rId58"/>
    <p:sldId id="487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2" r:id="rId70"/>
    <p:sldId id="321" r:id="rId71"/>
    <p:sldId id="323" r:id="rId72"/>
    <p:sldId id="324" r:id="rId73"/>
    <p:sldId id="630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488" r:id="rId85"/>
    <p:sldId id="335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6" r:id="rId94"/>
    <p:sldId id="361" r:id="rId95"/>
    <p:sldId id="362" r:id="rId96"/>
    <p:sldId id="363" r:id="rId97"/>
    <p:sldId id="365" r:id="rId98"/>
    <p:sldId id="489" r:id="rId99"/>
    <p:sldId id="369" r:id="rId100"/>
    <p:sldId id="370" r:id="rId101"/>
    <p:sldId id="371" r:id="rId102"/>
    <p:sldId id="372" r:id="rId103"/>
    <p:sldId id="373" r:id="rId104"/>
    <p:sldId id="374" r:id="rId105"/>
    <p:sldId id="375" r:id="rId106"/>
    <p:sldId id="376" r:id="rId107"/>
    <p:sldId id="377" r:id="rId108"/>
    <p:sldId id="378" r:id="rId109"/>
    <p:sldId id="379" r:id="rId110"/>
    <p:sldId id="380" r:id="rId111"/>
    <p:sldId id="381" r:id="rId112"/>
    <p:sldId id="382" r:id="rId113"/>
    <p:sldId id="383" r:id="rId114"/>
    <p:sldId id="384" r:id="rId115"/>
    <p:sldId id="385" r:id="rId116"/>
    <p:sldId id="386" r:id="rId117"/>
    <p:sldId id="387" r:id="rId118"/>
    <p:sldId id="388" r:id="rId119"/>
    <p:sldId id="389" r:id="rId120"/>
    <p:sldId id="390" r:id="rId121"/>
    <p:sldId id="391" r:id="rId122"/>
    <p:sldId id="392" r:id="rId123"/>
    <p:sldId id="393" r:id="rId124"/>
    <p:sldId id="394" r:id="rId125"/>
    <p:sldId id="395" r:id="rId126"/>
    <p:sldId id="396" r:id="rId127"/>
    <p:sldId id="397" r:id="rId128"/>
    <p:sldId id="398" r:id="rId129"/>
    <p:sldId id="399" r:id="rId130"/>
    <p:sldId id="400" r:id="rId131"/>
    <p:sldId id="401" r:id="rId132"/>
    <p:sldId id="402" r:id="rId133"/>
    <p:sldId id="403" r:id="rId134"/>
    <p:sldId id="404" r:id="rId135"/>
    <p:sldId id="405" r:id="rId136"/>
    <p:sldId id="406" r:id="rId137"/>
    <p:sldId id="407" r:id="rId138"/>
    <p:sldId id="408" r:id="rId139"/>
    <p:sldId id="409" r:id="rId140"/>
    <p:sldId id="410" r:id="rId141"/>
    <p:sldId id="411" r:id="rId142"/>
    <p:sldId id="412" r:id="rId143"/>
    <p:sldId id="413" r:id="rId144"/>
    <p:sldId id="414" r:id="rId145"/>
    <p:sldId id="415" r:id="rId146"/>
    <p:sldId id="416" r:id="rId147"/>
    <p:sldId id="417" r:id="rId148"/>
    <p:sldId id="418" r:id="rId149"/>
    <p:sldId id="419" r:id="rId150"/>
    <p:sldId id="420" r:id="rId151"/>
    <p:sldId id="421" r:id="rId152"/>
    <p:sldId id="422" r:id="rId153"/>
    <p:sldId id="423" r:id="rId154"/>
    <p:sldId id="424" r:id="rId155"/>
    <p:sldId id="425" r:id="rId156"/>
    <p:sldId id="426" r:id="rId157"/>
    <p:sldId id="427" r:id="rId158"/>
    <p:sldId id="428" r:id="rId159"/>
    <p:sldId id="429" r:id="rId160"/>
    <p:sldId id="430" r:id="rId161"/>
    <p:sldId id="431" r:id="rId162"/>
    <p:sldId id="432" r:id="rId163"/>
    <p:sldId id="433" r:id="rId164"/>
    <p:sldId id="434" r:id="rId165"/>
    <p:sldId id="436" r:id="rId166"/>
    <p:sldId id="435" r:id="rId167"/>
    <p:sldId id="437" r:id="rId168"/>
    <p:sldId id="438" r:id="rId169"/>
    <p:sldId id="439" r:id="rId170"/>
    <p:sldId id="440" r:id="rId171"/>
    <p:sldId id="441" r:id="rId172"/>
    <p:sldId id="442" r:id="rId173"/>
    <p:sldId id="443" r:id="rId174"/>
    <p:sldId id="444" r:id="rId175"/>
    <p:sldId id="445" r:id="rId176"/>
    <p:sldId id="446" r:id="rId177"/>
    <p:sldId id="490" r:id="rId178"/>
    <p:sldId id="447" r:id="rId179"/>
    <p:sldId id="449" r:id="rId180"/>
    <p:sldId id="450" r:id="rId181"/>
    <p:sldId id="451" r:id="rId182"/>
    <p:sldId id="452" r:id="rId183"/>
    <p:sldId id="456" r:id="rId184"/>
    <p:sldId id="631" r:id="rId185"/>
    <p:sldId id="453" r:id="rId186"/>
    <p:sldId id="454" r:id="rId187"/>
    <p:sldId id="455" r:id="rId188"/>
    <p:sldId id="457" r:id="rId189"/>
    <p:sldId id="458" r:id="rId190"/>
    <p:sldId id="459" r:id="rId191"/>
    <p:sldId id="460" r:id="rId192"/>
    <p:sldId id="461" r:id="rId193"/>
    <p:sldId id="462" r:id="rId194"/>
    <p:sldId id="463" r:id="rId195"/>
    <p:sldId id="464" r:id="rId196"/>
    <p:sldId id="465" r:id="rId197"/>
    <p:sldId id="466" r:id="rId198"/>
    <p:sldId id="467" r:id="rId199"/>
    <p:sldId id="468" r:id="rId200"/>
    <p:sldId id="469" r:id="rId201"/>
    <p:sldId id="470" r:id="rId202"/>
    <p:sldId id="471" r:id="rId203"/>
    <p:sldId id="472" r:id="rId204"/>
    <p:sldId id="473" r:id="rId205"/>
    <p:sldId id="474" r:id="rId206"/>
    <p:sldId id="475" r:id="rId207"/>
    <p:sldId id="476" r:id="rId208"/>
    <p:sldId id="477" r:id="rId209"/>
    <p:sldId id="478" r:id="rId210"/>
    <p:sldId id="481" r:id="rId211"/>
    <p:sldId id="482" r:id="rId212"/>
    <p:sldId id="483" r:id="rId213"/>
    <p:sldId id="491" r:id="rId214"/>
    <p:sldId id="492" r:id="rId215"/>
    <p:sldId id="493" r:id="rId216"/>
    <p:sldId id="494" r:id="rId217"/>
    <p:sldId id="495" r:id="rId218"/>
    <p:sldId id="500" r:id="rId219"/>
    <p:sldId id="501" r:id="rId220"/>
    <p:sldId id="496" r:id="rId221"/>
    <p:sldId id="502" r:id="rId222"/>
    <p:sldId id="503" r:id="rId223"/>
    <p:sldId id="504" r:id="rId224"/>
    <p:sldId id="505" r:id="rId225"/>
    <p:sldId id="506" r:id="rId226"/>
    <p:sldId id="507" r:id="rId227"/>
    <p:sldId id="508" r:id="rId228"/>
    <p:sldId id="509" r:id="rId229"/>
    <p:sldId id="510" r:id="rId230"/>
    <p:sldId id="511" r:id="rId231"/>
    <p:sldId id="512" r:id="rId232"/>
    <p:sldId id="513" r:id="rId233"/>
    <p:sldId id="514" r:id="rId234"/>
    <p:sldId id="515" r:id="rId235"/>
    <p:sldId id="516" r:id="rId236"/>
    <p:sldId id="517" r:id="rId237"/>
    <p:sldId id="518" r:id="rId238"/>
    <p:sldId id="521" r:id="rId239"/>
    <p:sldId id="522" r:id="rId240"/>
    <p:sldId id="523" r:id="rId241"/>
    <p:sldId id="524" r:id="rId242"/>
    <p:sldId id="525" r:id="rId243"/>
    <p:sldId id="526" r:id="rId244"/>
    <p:sldId id="527" r:id="rId245"/>
    <p:sldId id="533" r:id="rId246"/>
    <p:sldId id="534" r:id="rId247"/>
    <p:sldId id="536" r:id="rId248"/>
    <p:sldId id="535" r:id="rId249"/>
    <p:sldId id="537" r:id="rId250"/>
    <p:sldId id="538" r:id="rId251"/>
    <p:sldId id="528" r:id="rId252"/>
    <p:sldId id="539" r:id="rId253"/>
    <p:sldId id="540" r:id="rId254"/>
    <p:sldId id="541" r:id="rId255"/>
    <p:sldId id="542" r:id="rId256"/>
    <p:sldId id="543" r:id="rId257"/>
    <p:sldId id="544" r:id="rId258"/>
    <p:sldId id="546" r:id="rId259"/>
    <p:sldId id="545" r:id="rId260"/>
    <p:sldId id="547" r:id="rId261"/>
    <p:sldId id="548" r:id="rId262"/>
    <p:sldId id="549" r:id="rId263"/>
    <p:sldId id="550" r:id="rId264"/>
    <p:sldId id="551" r:id="rId265"/>
    <p:sldId id="552" r:id="rId266"/>
    <p:sldId id="553" r:id="rId267"/>
    <p:sldId id="554" r:id="rId268"/>
    <p:sldId id="555" r:id="rId269"/>
    <p:sldId id="556" r:id="rId270"/>
    <p:sldId id="557" r:id="rId271"/>
    <p:sldId id="558" r:id="rId272"/>
    <p:sldId id="559" r:id="rId273"/>
    <p:sldId id="560" r:id="rId274"/>
    <p:sldId id="561" r:id="rId275"/>
    <p:sldId id="562" r:id="rId276"/>
    <p:sldId id="563" r:id="rId277"/>
    <p:sldId id="564" r:id="rId278"/>
    <p:sldId id="565" r:id="rId279"/>
    <p:sldId id="566" r:id="rId280"/>
    <p:sldId id="567" r:id="rId281"/>
    <p:sldId id="568" r:id="rId282"/>
    <p:sldId id="569" r:id="rId283"/>
    <p:sldId id="570" r:id="rId284"/>
    <p:sldId id="571" r:id="rId285"/>
    <p:sldId id="572" r:id="rId286"/>
    <p:sldId id="573" r:id="rId287"/>
    <p:sldId id="574" r:id="rId288"/>
    <p:sldId id="575" r:id="rId289"/>
    <p:sldId id="576" r:id="rId290"/>
    <p:sldId id="577" r:id="rId291"/>
    <p:sldId id="578" r:id="rId292"/>
    <p:sldId id="579" r:id="rId293"/>
    <p:sldId id="580" r:id="rId294"/>
    <p:sldId id="581" r:id="rId295"/>
    <p:sldId id="583" r:id="rId296"/>
    <p:sldId id="582" r:id="rId297"/>
    <p:sldId id="584" r:id="rId298"/>
    <p:sldId id="585" r:id="rId299"/>
    <p:sldId id="586" r:id="rId300"/>
    <p:sldId id="587" r:id="rId301"/>
    <p:sldId id="590" r:id="rId302"/>
    <p:sldId id="591" r:id="rId303"/>
    <p:sldId id="592" r:id="rId304"/>
    <p:sldId id="593" r:id="rId305"/>
    <p:sldId id="594" r:id="rId306"/>
    <p:sldId id="595" r:id="rId307"/>
    <p:sldId id="596" r:id="rId308"/>
    <p:sldId id="597" r:id="rId309"/>
    <p:sldId id="598" r:id="rId310"/>
    <p:sldId id="599" r:id="rId311"/>
    <p:sldId id="600" r:id="rId312"/>
    <p:sldId id="601" r:id="rId313"/>
    <p:sldId id="602" r:id="rId314"/>
    <p:sldId id="603" r:id="rId315"/>
    <p:sldId id="604" r:id="rId316"/>
    <p:sldId id="605" r:id="rId317"/>
    <p:sldId id="606" r:id="rId318"/>
    <p:sldId id="607" r:id="rId319"/>
    <p:sldId id="608" r:id="rId320"/>
    <p:sldId id="609" r:id="rId321"/>
    <p:sldId id="610" r:id="rId322"/>
    <p:sldId id="611" r:id="rId323"/>
    <p:sldId id="612" r:id="rId324"/>
    <p:sldId id="613" r:id="rId325"/>
    <p:sldId id="614" r:id="rId326"/>
    <p:sldId id="615" r:id="rId327"/>
    <p:sldId id="616" r:id="rId328"/>
    <p:sldId id="617" r:id="rId329"/>
    <p:sldId id="618" r:id="rId330"/>
    <p:sldId id="619" r:id="rId331"/>
    <p:sldId id="620" r:id="rId332"/>
    <p:sldId id="621" r:id="rId333"/>
    <p:sldId id="622" r:id="rId3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관계형데이터_모델링노트" id="{5F6E6215-F31D-4A42-8D9A-4EA60155FCD1}">
          <p14:sldIdLst>
            <p14:sldId id="479"/>
            <p14:sldId id="480"/>
          </p14:sldIdLst>
        </p14:section>
        <p14:section name="01.엔티티" id="{D73EE717-CEA1-4792-9CBC-F059AE8998DC}">
          <p14:sldIdLst>
            <p14:sldId id="485"/>
            <p14:sldId id="264"/>
            <p14:sldId id="257"/>
            <p14:sldId id="259"/>
            <p14:sldId id="260"/>
            <p14:sldId id="261"/>
            <p14:sldId id="263"/>
            <p14:sldId id="265"/>
            <p14:sldId id="266"/>
            <p14:sldId id="267"/>
            <p14:sldId id="270"/>
            <p14:sldId id="274"/>
            <p14:sldId id="271"/>
            <p14:sldId id="272"/>
            <p14:sldId id="273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9"/>
            <p14:sldId id="258"/>
            <p14:sldId id="256"/>
            <p14:sldId id="625"/>
          </p14:sldIdLst>
        </p14:section>
        <p14:section name="02.정규화" id="{25EB75B5-841C-4ED9-8C22-C92F4391DEDB}">
          <p14:sldIdLst>
            <p14:sldId id="486"/>
            <p14:sldId id="626"/>
            <p14:sldId id="627"/>
            <p14:sldId id="628"/>
            <p14:sldId id="629"/>
            <p14:sldId id="291"/>
            <p14:sldId id="306"/>
            <p14:sldId id="299"/>
            <p14:sldId id="300"/>
            <p14:sldId id="297"/>
            <p14:sldId id="296"/>
            <p14:sldId id="290"/>
            <p14:sldId id="292"/>
            <p14:sldId id="301"/>
            <p14:sldId id="295"/>
            <p14:sldId id="293"/>
            <p14:sldId id="302"/>
            <p14:sldId id="294"/>
            <p14:sldId id="298"/>
            <p14:sldId id="303"/>
            <p14:sldId id="304"/>
            <p14:sldId id="305"/>
            <p14:sldId id="307"/>
            <p14:sldId id="309"/>
          </p14:sldIdLst>
        </p14:section>
        <p14:section name="03.데이터통합" id="{88AC467E-D567-4054-87E4-66A4ABBDA0A7}">
          <p14:sldIdLst>
            <p14:sldId id="487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2"/>
            <p14:sldId id="321"/>
            <p14:sldId id="323"/>
            <p14:sldId id="324"/>
            <p14:sldId id="630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488"/>
            <p14:sldId id="335"/>
            <p14:sldId id="338"/>
            <p14:sldId id="339"/>
            <p14:sldId id="340"/>
            <p14:sldId id="341"/>
            <p14:sldId id="342"/>
            <p14:sldId id="343"/>
            <p14:sldId id="344"/>
            <p14:sldId id="346"/>
            <p14:sldId id="361"/>
            <p14:sldId id="362"/>
            <p14:sldId id="363"/>
            <p14:sldId id="365"/>
          </p14:sldIdLst>
        </p14:section>
        <p14:section name="04.속성" id="{DC249D33-5126-4C16-8B01-F3776B31C43A}">
          <p14:sldIdLst>
            <p14:sldId id="489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  <p14:sldId id="421"/>
            <p14:sldId id="422"/>
            <p14:sldId id="423"/>
            <p14:sldId id="424"/>
            <p14:sldId id="425"/>
            <p14:sldId id="426"/>
            <p14:sldId id="427"/>
            <p14:sldId id="428"/>
            <p14:sldId id="429"/>
            <p14:sldId id="430"/>
            <p14:sldId id="431"/>
            <p14:sldId id="432"/>
            <p14:sldId id="433"/>
            <p14:sldId id="434"/>
            <p14:sldId id="436"/>
            <p14:sldId id="435"/>
            <p14:sldId id="437"/>
            <p14:sldId id="438"/>
            <p14:sldId id="439"/>
            <p14:sldId id="440"/>
            <p14:sldId id="441"/>
            <p14:sldId id="442"/>
            <p14:sldId id="443"/>
            <p14:sldId id="444"/>
            <p14:sldId id="445"/>
            <p14:sldId id="446"/>
          </p14:sldIdLst>
        </p14:section>
        <p14:section name="05.관계" id="{5AC8F9E6-B868-4E79-A9C6-8826790FC7E0}">
          <p14:sldIdLst>
            <p14:sldId id="490"/>
            <p14:sldId id="447"/>
            <p14:sldId id="449"/>
            <p14:sldId id="450"/>
            <p14:sldId id="451"/>
            <p14:sldId id="452"/>
            <p14:sldId id="456"/>
            <p14:sldId id="631"/>
            <p14:sldId id="453"/>
            <p14:sldId id="454"/>
            <p14:sldId id="455"/>
            <p14:sldId id="457"/>
            <p14:sldId id="458"/>
            <p14:sldId id="459"/>
            <p14:sldId id="460"/>
            <p14:sldId id="461"/>
            <p14:sldId id="462"/>
            <p14:sldId id="463"/>
            <p14:sldId id="464"/>
            <p14:sldId id="465"/>
            <p14:sldId id="466"/>
            <p14:sldId id="467"/>
            <p14:sldId id="468"/>
            <p14:sldId id="469"/>
            <p14:sldId id="470"/>
            <p14:sldId id="471"/>
            <p14:sldId id="472"/>
            <p14:sldId id="473"/>
            <p14:sldId id="474"/>
            <p14:sldId id="475"/>
            <p14:sldId id="476"/>
            <p14:sldId id="477"/>
            <p14:sldId id="478"/>
            <p14:sldId id="481"/>
            <p14:sldId id="482"/>
            <p14:sldId id="483"/>
            <p14:sldId id="491"/>
            <p14:sldId id="492"/>
            <p14:sldId id="493"/>
            <p14:sldId id="494"/>
            <p14:sldId id="495"/>
            <p14:sldId id="500"/>
            <p14:sldId id="501"/>
            <p14:sldId id="496"/>
            <p14:sldId id="502"/>
            <p14:sldId id="503"/>
            <p14:sldId id="504"/>
            <p14:sldId id="505"/>
            <p14:sldId id="506"/>
            <p14:sldId id="507"/>
            <p14:sldId id="508"/>
            <p14:sldId id="509"/>
            <p14:sldId id="510"/>
            <p14:sldId id="511"/>
            <p14:sldId id="512"/>
            <p14:sldId id="513"/>
            <p14:sldId id="514"/>
            <p14:sldId id="515"/>
            <p14:sldId id="516"/>
            <p14:sldId id="517"/>
            <p14:sldId id="518"/>
            <p14:sldId id="521"/>
            <p14:sldId id="522"/>
            <p14:sldId id="523"/>
            <p14:sldId id="524"/>
            <p14:sldId id="525"/>
            <p14:sldId id="526"/>
            <p14:sldId id="527"/>
            <p14:sldId id="533"/>
            <p14:sldId id="534"/>
            <p14:sldId id="536"/>
            <p14:sldId id="535"/>
            <p14:sldId id="537"/>
            <p14:sldId id="538"/>
            <p14:sldId id="528"/>
            <p14:sldId id="539"/>
          </p14:sldIdLst>
        </p14:section>
        <p14:section name="06.이력" id="{A2C998BE-E7DE-4769-B20C-46CE71047E85}">
          <p14:sldIdLst>
            <p14:sldId id="540"/>
            <p14:sldId id="541"/>
            <p14:sldId id="542"/>
            <p14:sldId id="543"/>
            <p14:sldId id="544"/>
            <p14:sldId id="546"/>
            <p14:sldId id="545"/>
            <p14:sldId id="547"/>
            <p14:sldId id="548"/>
            <p14:sldId id="549"/>
            <p14:sldId id="550"/>
            <p14:sldId id="551"/>
            <p14:sldId id="552"/>
            <p14:sldId id="553"/>
            <p14:sldId id="554"/>
            <p14:sldId id="555"/>
            <p14:sldId id="556"/>
            <p14:sldId id="557"/>
            <p14:sldId id="558"/>
            <p14:sldId id="559"/>
            <p14:sldId id="560"/>
            <p14:sldId id="561"/>
            <p14:sldId id="562"/>
            <p14:sldId id="563"/>
            <p14:sldId id="564"/>
            <p14:sldId id="565"/>
            <p14:sldId id="566"/>
            <p14:sldId id="567"/>
            <p14:sldId id="568"/>
            <p14:sldId id="569"/>
            <p14:sldId id="570"/>
            <p14:sldId id="571"/>
            <p14:sldId id="572"/>
            <p14:sldId id="573"/>
            <p14:sldId id="574"/>
            <p14:sldId id="575"/>
            <p14:sldId id="576"/>
            <p14:sldId id="577"/>
            <p14:sldId id="578"/>
            <p14:sldId id="579"/>
            <p14:sldId id="580"/>
            <p14:sldId id="581"/>
            <p14:sldId id="583"/>
            <p14:sldId id="582"/>
            <p14:sldId id="584"/>
            <p14:sldId id="585"/>
            <p14:sldId id="586"/>
            <p14:sldId id="587"/>
            <p14:sldId id="590"/>
          </p14:sldIdLst>
        </p14:section>
        <p14:section name="07.비정규화" id="{45A776B1-7E10-4D3E-8009-DD337CA5DE29}">
          <p14:sldIdLst>
            <p14:sldId id="591"/>
            <p14:sldId id="592"/>
            <p14:sldId id="593"/>
            <p14:sldId id="594"/>
            <p14:sldId id="595"/>
            <p14:sldId id="596"/>
            <p14:sldId id="597"/>
            <p14:sldId id="598"/>
            <p14:sldId id="599"/>
            <p14:sldId id="600"/>
            <p14:sldId id="601"/>
            <p14:sldId id="602"/>
            <p14:sldId id="603"/>
            <p14:sldId id="604"/>
            <p14:sldId id="605"/>
            <p14:sldId id="606"/>
            <p14:sldId id="607"/>
            <p14:sldId id="608"/>
            <p14:sldId id="609"/>
            <p14:sldId id="610"/>
            <p14:sldId id="611"/>
            <p14:sldId id="612"/>
            <p14:sldId id="613"/>
            <p14:sldId id="614"/>
            <p14:sldId id="615"/>
            <p14:sldId id="616"/>
            <p14:sldId id="617"/>
            <p14:sldId id="618"/>
            <p14:sldId id="619"/>
            <p14:sldId id="620"/>
            <p14:sldId id="621"/>
            <p14:sldId id="6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54" autoAdjust="0"/>
    <p:restoredTop sz="96344" autoAdjust="0"/>
  </p:normalViewPr>
  <p:slideViewPr>
    <p:cSldViewPr snapToGrid="0" showGuides="1">
      <p:cViewPr varScale="1">
        <p:scale>
          <a:sx n="82" d="100"/>
          <a:sy n="82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1" d="100"/>
          <a:sy n="81" d="100"/>
        </p:scale>
        <p:origin x="389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99" Type="http://schemas.openxmlformats.org/officeDocument/2006/relationships/slide" Target="slides/slide298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324" Type="http://schemas.openxmlformats.org/officeDocument/2006/relationships/slide" Target="slides/slide323.xml"/><Relationship Id="rId170" Type="http://schemas.openxmlformats.org/officeDocument/2006/relationships/slide" Target="slides/slide169.xml"/><Relationship Id="rId226" Type="http://schemas.openxmlformats.org/officeDocument/2006/relationships/slide" Target="slides/slide225.xml"/><Relationship Id="rId268" Type="http://schemas.openxmlformats.org/officeDocument/2006/relationships/slide" Target="slides/slide267.xml"/><Relationship Id="rId32" Type="http://schemas.openxmlformats.org/officeDocument/2006/relationships/slide" Target="slides/slide31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33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81" Type="http://schemas.openxmlformats.org/officeDocument/2006/relationships/slide" Target="slides/slide180.xml"/><Relationship Id="rId237" Type="http://schemas.openxmlformats.org/officeDocument/2006/relationships/slide" Target="slides/slide236.xml"/><Relationship Id="rId279" Type="http://schemas.openxmlformats.org/officeDocument/2006/relationships/slide" Target="slides/slide278.xml"/><Relationship Id="rId43" Type="http://schemas.openxmlformats.org/officeDocument/2006/relationships/slide" Target="slides/slide42.xml"/><Relationship Id="rId139" Type="http://schemas.openxmlformats.org/officeDocument/2006/relationships/slide" Target="slides/slide138.xml"/><Relationship Id="rId290" Type="http://schemas.openxmlformats.org/officeDocument/2006/relationships/slide" Target="slides/slide289.xml"/><Relationship Id="rId304" Type="http://schemas.openxmlformats.org/officeDocument/2006/relationships/slide" Target="slides/slide303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48" Type="http://schemas.openxmlformats.org/officeDocument/2006/relationships/slide" Target="slides/slide247.xml"/><Relationship Id="rId12" Type="http://schemas.openxmlformats.org/officeDocument/2006/relationships/slide" Target="slides/slide11.xml"/><Relationship Id="rId108" Type="http://schemas.openxmlformats.org/officeDocument/2006/relationships/slide" Target="slides/slide107.xml"/><Relationship Id="rId315" Type="http://schemas.openxmlformats.org/officeDocument/2006/relationships/slide" Target="slides/slide314.xml"/><Relationship Id="rId54" Type="http://schemas.openxmlformats.org/officeDocument/2006/relationships/slide" Target="slides/slide53.xml"/><Relationship Id="rId96" Type="http://schemas.openxmlformats.org/officeDocument/2006/relationships/slide" Target="slides/slide95.xml"/><Relationship Id="rId161" Type="http://schemas.openxmlformats.org/officeDocument/2006/relationships/slide" Target="slides/slide160.xml"/><Relationship Id="rId217" Type="http://schemas.openxmlformats.org/officeDocument/2006/relationships/slide" Target="slides/slide216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326" Type="http://schemas.openxmlformats.org/officeDocument/2006/relationships/slide" Target="slides/slide325.xml"/><Relationship Id="rId65" Type="http://schemas.openxmlformats.org/officeDocument/2006/relationships/slide" Target="slides/slide64.xml"/><Relationship Id="rId130" Type="http://schemas.openxmlformats.org/officeDocument/2006/relationships/slide" Target="slides/slide129.xml"/><Relationship Id="rId172" Type="http://schemas.openxmlformats.org/officeDocument/2006/relationships/slide" Target="slides/slide171.xml"/><Relationship Id="rId228" Type="http://schemas.openxmlformats.org/officeDocument/2006/relationships/slide" Target="slides/slide227.xml"/><Relationship Id="rId281" Type="http://schemas.openxmlformats.org/officeDocument/2006/relationships/slide" Target="slides/slide280.xml"/><Relationship Id="rId337" Type="http://schemas.openxmlformats.org/officeDocument/2006/relationships/viewProps" Target="viewProps.xml"/><Relationship Id="rId34" Type="http://schemas.openxmlformats.org/officeDocument/2006/relationships/slide" Target="slides/slide33.xml"/><Relationship Id="rId76" Type="http://schemas.openxmlformats.org/officeDocument/2006/relationships/slide" Target="slides/slide75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83" Type="http://schemas.openxmlformats.org/officeDocument/2006/relationships/slide" Target="slides/slide182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92" Type="http://schemas.openxmlformats.org/officeDocument/2006/relationships/slide" Target="slides/slide291.xml"/><Relationship Id="rId306" Type="http://schemas.openxmlformats.org/officeDocument/2006/relationships/slide" Target="slides/slide305.xml"/><Relationship Id="rId45" Type="http://schemas.openxmlformats.org/officeDocument/2006/relationships/slide" Target="slides/slide44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261" Type="http://schemas.openxmlformats.org/officeDocument/2006/relationships/slide" Target="slides/slide260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slide" Target="slides/slide281.xml"/><Relationship Id="rId317" Type="http://schemas.openxmlformats.org/officeDocument/2006/relationships/slide" Target="slides/slide316.xml"/><Relationship Id="rId338" Type="http://schemas.openxmlformats.org/officeDocument/2006/relationships/theme" Target="theme/theme1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slide" Target="slides/slide250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293" Type="http://schemas.openxmlformats.org/officeDocument/2006/relationships/slide" Target="slides/slide292.xml"/><Relationship Id="rId307" Type="http://schemas.openxmlformats.org/officeDocument/2006/relationships/slide" Target="slides/slide306.xml"/><Relationship Id="rId328" Type="http://schemas.openxmlformats.org/officeDocument/2006/relationships/slide" Target="slides/slide327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283" Type="http://schemas.openxmlformats.org/officeDocument/2006/relationships/slide" Target="slides/slide282.xml"/><Relationship Id="rId318" Type="http://schemas.openxmlformats.org/officeDocument/2006/relationships/slide" Target="slides/slide317.xml"/><Relationship Id="rId339" Type="http://schemas.openxmlformats.org/officeDocument/2006/relationships/tableStyles" Target="tableStyles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273" Type="http://schemas.openxmlformats.org/officeDocument/2006/relationships/slide" Target="slides/slide272.xml"/><Relationship Id="rId294" Type="http://schemas.openxmlformats.org/officeDocument/2006/relationships/slide" Target="slides/slide293.xml"/><Relationship Id="rId308" Type="http://schemas.openxmlformats.org/officeDocument/2006/relationships/slide" Target="slides/slide307.xml"/><Relationship Id="rId329" Type="http://schemas.openxmlformats.org/officeDocument/2006/relationships/slide" Target="slides/slide328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284" Type="http://schemas.openxmlformats.org/officeDocument/2006/relationships/slide" Target="slides/slide283.xml"/><Relationship Id="rId319" Type="http://schemas.openxmlformats.org/officeDocument/2006/relationships/slide" Target="slides/slide318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330" Type="http://schemas.openxmlformats.org/officeDocument/2006/relationships/slide" Target="slides/slide329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4" Type="http://schemas.openxmlformats.org/officeDocument/2006/relationships/slide" Target="slides/slide273.xml"/><Relationship Id="rId295" Type="http://schemas.openxmlformats.org/officeDocument/2006/relationships/slide" Target="slides/slide294.xml"/><Relationship Id="rId309" Type="http://schemas.openxmlformats.org/officeDocument/2006/relationships/slide" Target="slides/slide308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320" Type="http://schemas.openxmlformats.org/officeDocument/2006/relationships/slide" Target="slides/slide319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285" Type="http://schemas.openxmlformats.org/officeDocument/2006/relationships/slide" Target="slides/slide28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310" Type="http://schemas.openxmlformats.org/officeDocument/2006/relationships/slide" Target="slides/slide309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331" Type="http://schemas.openxmlformats.org/officeDocument/2006/relationships/slide" Target="slides/slide330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slide" Target="slides/slide274.xml"/><Relationship Id="rId296" Type="http://schemas.openxmlformats.org/officeDocument/2006/relationships/slide" Target="slides/slide295.xml"/><Relationship Id="rId300" Type="http://schemas.openxmlformats.org/officeDocument/2006/relationships/slide" Target="slides/slide299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321" Type="http://schemas.openxmlformats.org/officeDocument/2006/relationships/slide" Target="slides/slide320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286" Type="http://schemas.openxmlformats.org/officeDocument/2006/relationships/slide" Target="slides/slide285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311" Type="http://schemas.openxmlformats.org/officeDocument/2006/relationships/slide" Target="slides/slide310.xml"/><Relationship Id="rId332" Type="http://schemas.openxmlformats.org/officeDocument/2006/relationships/slide" Target="slides/slide331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276" Type="http://schemas.openxmlformats.org/officeDocument/2006/relationships/slide" Target="slides/slide275.xml"/><Relationship Id="rId297" Type="http://schemas.openxmlformats.org/officeDocument/2006/relationships/slide" Target="slides/slide296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301" Type="http://schemas.openxmlformats.org/officeDocument/2006/relationships/slide" Target="slides/slide300.xml"/><Relationship Id="rId322" Type="http://schemas.openxmlformats.org/officeDocument/2006/relationships/slide" Target="slides/slide32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slide" Target="slides/slide265.xml"/><Relationship Id="rId287" Type="http://schemas.openxmlformats.org/officeDocument/2006/relationships/slide" Target="slides/slide286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312" Type="http://schemas.openxmlformats.org/officeDocument/2006/relationships/slide" Target="slides/slide311.xml"/><Relationship Id="rId333" Type="http://schemas.openxmlformats.org/officeDocument/2006/relationships/slide" Target="slides/slide332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277" Type="http://schemas.openxmlformats.org/officeDocument/2006/relationships/slide" Target="slides/slide276.xml"/><Relationship Id="rId298" Type="http://schemas.openxmlformats.org/officeDocument/2006/relationships/slide" Target="slides/slide297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302" Type="http://schemas.openxmlformats.org/officeDocument/2006/relationships/slide" Target="slides/slide301.xml"/><Relationship Id="rId323" Type="http://schemas.openxmlformats.org/officeDocument/2006/relationships/slide" Target="slides/slide322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267" Type="http://schemas.openxmlformats.org/officeDocument/2006/relationships/slide" Target="slides/slide266.xml"/><Relationship Id="rId288" Type="http://schemas.openxmlformats.org/officeDocument/2006/relationships/slide" Target="slides/slide287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313" Type="http://schemas.openxmlformats.org/officeDocument/2006/relationships/slide" Target="slides/slide312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334" Type="http://schemas.openxmlformats.org/officeDocument/2006/relationships/slide" Target="slides/slide333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slide" Target="slides/slide277.xml"/><Relationship Id="rId303" Type="http://schemas.openxmlformats.org/officeDocument/2006/relationships/slide" Target="slides/slide302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289" Type="http://schemas.openxmlformats.org/officeDocument/2006/relationships/slide" Target="slides/slide288.xml"/><Relationship Id="rId11" Type="http://schemas.openxmlformats.org/officeDocument/2006/relationships/slide" Target="slides/slide10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314" Type="http://schemas.openxmlformats.org/officeDocument/2006/relationships/slide" Target="slides/slide313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16" Type="http://schemas.openxmlformats.org/officeDocument/2006/relationships/slide" Target="slides/slide215.xml"/><Relationship Id="rId258" Type="http://schemas.openxmlformats.org/officeDocument/2006/relationships/slide" Target="slides/slide257.xml"/><Relationship Id="rId22" Type="http://schemas.openxmlformats.org/officeDocument/2006/relationships/slide" Target="slides/slide21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325" Type="http://schemas.openxmlformats.org/officeDocument/2006/relationships/slide" Target="slides/slide324.xml"/><Relationship Id="rId171" Type="http://schemas.openxmlformats.org/officeDocument/2006/relationships/slide" Target="slides/slide170.xml"/><Relationship Id="rId227" Type="http://schemas.openxmlformats.org/officeDocument/2006/relationships/slide" Target="slides/slide226.xml"/><Relationship Id="rId269" Type="http://schemas.openxmlformats.org/officeDocument/2006/relationships/slide" Target="slides/slide268.xml"/><Relationship Id="rId33" Type="http://schemas.openxmlformats.org/officeDocument/2006/relationships/slide" Target="slides/slide32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336" Type="http://schemas.openxmlformats.org/officeDocument/2006/relationships/presProps" Target="presProps.xml"/><Relationship Id="rId75" Type="http://schemas.openxmlformats.org/officeDocument/2006/relationships/slide" Target="slides/slide74.xml"/><Relationship Id="rId140" Type="http://schemas.openxmlformats.org/officeDocument/2006/relationships/slide" Target="slides/slide139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91" Type="http://schemas.openxmlformats.org/officeDocument/2006/relationships/slide" Target="slides/slide290.xml"/><Relationship Id="rId305" Type="http://schemas.openxmlformats.org/officeDocument/2006/relationships/slide" Target="slides/slide304.xml"/><Relationship Id="rId44" Type="http://schemas.openxmlformats.org/officeDocument/2006/relationships/slide" Target="slides/slide43.xml"/><Relationship Id="rId86" Type="http://schemas.openxmlformats.org/officeDocument/2006/relationships/slide" Target="slides/slide85.xml"/><Relationship Id="rId151" Type="http://schemas.openxmlformats.org/officeDocument/2006/relationships/slide" Target="slides/slide150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316" Type="http://schemas.openxmlformats.org/officeDocument/2006/relationships/slide" Target="slides/slide315.xml"/><Relationship Id="rId55" Type="http://schemas.openxmlformats.org/officeDocument/2006/relationships/slide" Target="slides/slide54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62" Type="http://schemas.openxmlformats.org/officeDocument/2006/relationships/slide" Target="slides/slide161.xml"/><Relationship Id="rId218" Type="http://schemas.openxmlformats.org/officeDocument/2006/relationships/slide" Target="slides/slide217.xml"/><Relationship Id="rId271" Type="http://schemas.openxmlformats.org/officeDocument/2006/relationships/slide" Target="slides/slide270.xml"/><Relationship Id="rId24" Type="http://schemas.openxmlformats.org/officeDocument/2006/relationships/slide" Target="slides/slide23.xml"/><Relationship Id="rId66" Type="http://schemas.openxmlformats.org/officeDocument/2006/relationships/slide" Target="slides/slide65.xml"/><Relationship Id="rId131" Type="http://schemas.openxmlformats.org/officeDocument/2006/relationships/slide" Target="slides/slide130.xml"/><Relationship Id="rId327" Type="http://schemas.openxmlformats.org/officeDocument/2006/relationships/slide" Target="slides/slide32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F40B3D-EBF8-45D0-8141-6FDBCAD47A34}" type="datetimeFigureOut">
              <a:rPr lang="ko-KR" altLang="en-US" smtClean="0"/>
              <a:t>2024-06-01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877711-0CDB-41AA-BA11-EF368BADAA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320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77711-0CDB-41AA-BA11-EF368BADAA6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597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77711-0CDB-41AA-BA11-EF368BADAA6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776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B28FF9-24D4-1C71-E8D5-370F227B82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7F5C9F3-341E-E671-454C-A843F9CE2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3499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E21E4E-C579-2F0B-0EEC-6C40AD6B7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0247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EA08F6-9313-9505-5514-F9AFB8062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0240"/>
            <a:ext cx="10515600" cy="54112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404951-E0D1-2089-2346-AC9CDFED3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449832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414D9B4-A085-4D58-9827-DD73C360263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D086FC9-85EB-8F22-08AE-1E74D309377D}"/>
              </a:ext>
            </a:extLst>
          </p:cNvPr>
          <p:cNvCxnSpPr/>
          <p:nvPr userDrawn="1"/>
        </p:nvCxnSpPr>
        <p:spPr>
          <a:xfrm>
            <a:off x="327378" y="835374"/>
            <a:ext cx="11525955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94C86CE-7938-D924-FEEE-36AAF99EE673}"/>
              </a:ext>
            </a:extLst>
          </p:cNvPr>
          <p:cNvCxnSpPr/>
          <p:nvPr userDrawn="1"/>
        </p:nvCxnSpPr>
        <p:spPr>
          <a:xfrm>
            <a:off x="333022" y="6446662"/>
            <a:ext cx="1152595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44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D5B3BC-6280-214A-3701-D9605F754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1E4827-CDE8-E5CB-8BCA-7AB5109D1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397656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CD5009-BA0E-08D7-918B-6B122533E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9B7AA3-C5D3-7B5B-20D6-0DC5C04C66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968CCA9-A8BD-1531-E46A-F9A01CD32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887685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695F40-6B0D-E314-9C44-BA57D5CD7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B9B2F7-C657-1AE7-51F5-1F08FA7D2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93044C-3270-D541-A0B2-B832FA265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ACE00D0-468E-08BE-3E80-7A2F08CB02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FC6B33-D12C-BC00-F188-481FF61400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393922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D0F64E-E58A-334E-7A91-D62C117B3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59904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628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E9F8E1-7EE8-8706-4341-BAF43C5E6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D783F8-76EC-1F00-6774-4C2C7E47E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4BE828C-538D-BF72-90EC-DAEFA3963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613584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F35F71-0681-E5C5-7505-25C8545BF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424D0B5-9460-6A23-2C2A-8D87556C82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6E92A0-337A-2985-D9D1-77FD83232E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253827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823182-414B-170F-6EDC-1C7FDDA02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1AB878D-3BD0-3296-39AB-602EEE6CE4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514677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53B2CD8-E61A-D795-46F9-154595E3A8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5008347-CB78-D861-CB84-B100552D8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922903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0247516-1D11-2A17-B695-28EB9BE3B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4BE03D-35B6-B61A-D5FB-AFA2F2834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732120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search.naver.com/p/crd/rd?m=1&amp;px=127&amp;py=4237&amp;sx=127&amp;sy=437&amp;p=igEB7dqVOsCssnlcAuNssssssVo-521439&amp;q=%EC%95%84%EB%85%B8%EB%A7%90%EB%A6%AC&amp;ie=utf8&amp;rev=1&amp;ssc=tab.nx.all&amp;f=nexearch&amp;w=nexearch&amp;s=xzicNwz4dkaF%2B00Ltv7hogTX&amp;time=1698276180591&amp;abt=%5B%7B%22eid%22%3A%22SBR1%22%2C%22vid%22%3A%221559%22%7D%5D&amp;a=ldc_btm*k.ety&amp;r=1&amp;i=881857e6_8f7c6229e30f45e2a7290e2a300d915f&amp;u=https%3A%2F%2Fko.dict.naver.com%2F%23%2Fentry%2Fkoko%2F8f7c6229e30f45e2a7290e2a300d915f&amp;cr=6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search.naver.com/p/crd/rd?m=1&amp;px=127&amp;py=4237&amp;sx=127&amp;sy=437&amp;p=igEB7dqVOsCssnlcAuNssssssVo-521439&amp;q=%EC%95%84%EB%85%B8%EB%A7%90%EB%A6%AC&amp;ie=utf8&amp;rev=1&amp;ssc=tab.nx.all&amp;f=nexearch&amp;w=nexearch&amp;s=xzicNwz4dkaF%2B00Ltv7hogTX&amp;time=1698276180591&amp;abt=%5B%7B%22eid%22%3A%22SBR1%22%2C%22vid%22%3A%221559%22%7D%5D&amp;a=ldc_btm*k.ety&amp;r=1&amp;i=881857e6_8f7c6229e30f45e2a7290e2a300d915f&amp;u=https%3A%2F%2Fko.dict.naver.com%2F%23%2Fentry%2Fkoko%2F8f7c6229e30f45e2a7290e2a300d915f&amp;cr=6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search.naver.com/p/crd/rd?m=1&amp;px=127&amp;py=4237&amp;sx=127&amp;sy=437&amp;p=igEB7dqVOsCssnlcAuNssssssVo-521439&amp;q=%EC%95%84%EB%85%B8%EB%A7%90%EB%A6%AC&amp;ie=utf8&amp;rev=1&amp;ssc=tab.nx.all&amp;f=nexearch&amp;w=nexearch&amp;s=xzicNwz4dkaF%2B00Ltv7hogTX&amp;time=1698276180591&amp;abt=%5B%7B%22eid%22%3A%22SBR1%22%2C%22vid%22%3A%221559%22%7D%5D&amp;a=ldc_btm*k.ety&amp;r=1&amp;i=881857e6_8f7c6229e30f45e2a7290e2a300d915f&amp;u=https%3A%2F%2Fko.dict.naver.com%2F%23%2Fentry%2Fkoko%2F8f7c6229e30f45e2a7290e2a300d915f&amp;cr=6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search.naver.com/p/crd/rd?m=1&amp;px=127&amp;py=4237&amp;sx=127&amp;sy=437&amp;p=igEB7dqVOsCssnlcAuNssssssVo-521439&amp;q=%EC%95%84%EB%85%B8%EB%A7%90%EB%A6%AC&amp;ie=utf8&amp;rev=1&amp;ssc=tab.nx.all&amp;f=nexearch&amp;w=nexearch&amp;s=xzicNwz4dkaF%2B00Ltv7hogTX&amp;time=1698276180591&amp;abt=%5B%7B%22eid%22%3A%22SBR1%22%2C%22vid%22%3A%221559%22%7D%5D&amp;a=ldc_btm*k.ety&amp;r=1&amp;i=881857e6_8f7c6229e30f45e2a7290e2a300d915f&amp;u=https%3A%2F%2Fko.dict.naver.com%2F%23%2Fentry%2Fkoko%2F8f7c6229e30f45e2a7290e2a300d915f&amp;cr=6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earch.naver.com/p/crd/rd?m=1&amp;px=127&amp;py=4237&amp;sx=127&amp;sy=437&amp;p=igEB7dqVOsCssnlcAuNssssssVo-521439&amp;q=%EC%95%84%EB%85%B8%EB%A7%90%EB%A6%AC&amp;ie=utf8&amp;rev=1&amp;ssc=tab.nx.all&amp;f=nexearch&amp;w=nexearch&amp;s=xzicNwz4dkaF%2B00Ltv7hogTX&amp;time=1698276180591&amp;abt=%5B%7B%22eid%22%3A%22SBR1%22%2C%22vid%22%3A%221559%22%7D%5D&amp;a=ldc_btm*k.ety&amp;r=1&amp;i=881857e6_8f7c6229e30f45e2a7290e2a300d915f&amp;u=https%3A%2F%2Fko.dict.naver.com%2F%23%2Fentry%2Fkoko%2F8f7c6229e30f45e2a7290e2a300d915f&amp;cr=6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search.naver.com/p/crd/rd?m=1&amp;px=127&amp;py=4237&amp;sx=127&amp;sy=437&amp;p=igEB7dqVOsCssnlcAuNssssssVo-521439&amp;q=%EC%95%84%EB%85%B8%EB%A7%90%EB%A6%AC&amp;ie=utf8&amp;rev=1&amp;ssc=tab.nx.all&amp;f=nexearch&amp;w=nexearch&amp;s=xzicNwz4dkaF%2B00Ltv7hogTX&amp;time=1698276180591&amp;abt=%5B%7B%22eid%22%3A%22SBR1%22%2C%22vid%22%3A%221559%22%7D%5D&amp;a=ldc_btm*k.ety&amp;r=1&amp;i=881857e6_8f7c6229e30f45e2a7290e2a300d915f&amp;u=https%3A%2F%2Fko.dict.naver.com%2F%23%2Fentry%2Fkoko%2F8f7c6229e30f45e2a7290e2a300d915f&amp;cr=6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search.naver.com/p/crd/rd?m=1&amp;px=127&amp;py=4237&amp;sx=127&amp;sy=437&amp;p=igEB7dqVOsCssnlcAuNssssssVo-521439&amp;q=%EC%95%84%EB%85%B8%EB%A7%90%EB%A6%AC&amp;ie=utf8&amp;rev=1&amp;ssc=tab.nx.all&amp;f=nexearch&amp;w=nexearch&amp;s=xzicNwz4dkaF%2B00Ltv7hogTX&amp;time=1698276180591&amp;abt=%5B%7B%22eid%22%3A%22SBR1%22%2C%22vid%22%3A%221559%22%7D%5D&amp;a=ldc_btm*k.ety&amp;r=1&amp;i=881857e6_8f7c6229e30f45e2a7290e2a300d915f&amp;u=https%3A%2F%2Fko.dict.naver.com%2F%23%2Fentry%2Fkoko%2F8f7c6229e30f45e2a7290e2a300d915f&amp;cr=6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search.naver.com/p/crd/rd?m=1&amp;px=127&amp;py=4237&amp;sx=127&amp;sy=437&amp;p=igEB7dqVOsCssnlcAuNssssssVo-521439&amp;q=%EC%95%84%EB%85%B8%EB%A7%90%EB%A6%AC&amp;ie=utf8&amp;rev=1&amp;ssc=tab.nx.all&amp;f=nexearch&amp;w=nexearch&amp;s=xzicNwz4dkaF%2B00Ltv7hogTX&amp;time=1698276180591&amp;abt=%5B%7B%22eid%22%3A%22SBR1%22%2C%22vid%22%3A%221559%22%7D%5D&amp;a=ldc_btm*k.ety&amp;r=1&amp;i=881857e6_8f7c6229e30f45e2a7290e2a300d915f&amp;u=https%3A%2F%2Fko.dict.naver.com%2F%23%2Fentry%2Fkoko%2F8f7c6229e30f45e2a7290e2a300d915f&amp;cr=6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search.naver.com/p/crd/rd?m=1&amp;px=127&amp;py=4237&amp;sx=127&amp;sy=437&amp;p=igEB7dqVOsCssnlcAuNssssssVo-521439&amp;q=%EC%95%84%EB%85%B8%EB%A7%90%EB%A6%AC&amp;ie=utf8&amp;rev=1&amp;ssc=tab.nx.all&amp;f=nexearch&amp;w=nexearch&amp;s=xzicNwz4dkaF%2B00Ltv7hogTX&amp;time=1698276180591&amp;abt=%5B%7B%22eid%22%3A%22SBR1%22%2C%22vid%22%3A%221559%22%7D%5D&amp;a=ldc_btm*k.ety&amp;r=1&amp;i=881857e6_8f7c6229e30f45e2a7290e2a300d915f&amp;u=https%3A%2F%2Fko.dict.naver.com%2F%23%2Fentry%2Fkoko%2F8f7c6229e30f45e2a7290e2a300d915f&amp;cr=6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7.png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5.png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5.png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8.png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2.png"/><Relationship Id="rId4" Type="http://schemas.openxmlformats.org/officeDocument/2006/relationships/image" Target="../media/image141.png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7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1.png"/><Relationship Id="rId4" Type="http://schemas.openxmlformats.org/officeDocument/2006/relationships/image" Target="../media/image150.png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3" Type="http://schemas.openxmlformats.org/officeDocument/2006/relationships/image" Target="../media/image153.png"/><Relationship Id="rId7" Type="http://schemas.openxmlformats.org/officeDocument/2006/relationships/image" Target="../media/image157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4" Type="http://schemas.openxmlformats.org/officeDocument/2006/relationships/image" Target="../media/image154.png"/><Relationship Id="rId9" Type="http://schemas.openxmlformats.org/officeDocument/2006/relationships/image" Target="../media/image159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3.png"/><Relationship Id="rId4" Type="http://schemas.openxmlformats.org/officeDocument/2006/relationships/image" Target="../media/image162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7.png"/><Relationship Id="rId4" Type="http://schemas.openxmlformats.org/officeDocument/2006/relationships/image" Target="../media/image166.png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5.png"/><Relationship Id="rId4" Type="http://schemas.openxmlformats.org/officeDocument/2006/relationships/image" Target="../media/image174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5.png"/><Relationship Id="rId4" Type="http://schemas.openxmlformats.org/officeDocument/2006/relationships/image" Target="../media/image184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8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3.png"/><Relationship Id="rId5" Type="http://schemas.openxmlformats.org/officeDocument/2006/relationships/image" Target="../media/image192.png"/><Relationship Id="rId4" Type="http://schemas.openxmlformats.org/officeDocument/2006/relationships/image" Target="../media/image191.png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2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6.png"/><Relationship Id="rId4" Type="http://schemas.openxmlformats.org/officeDocument/2006/relationships/image" Target="../media/image205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3.png"/><Relationship Id="rId5" Type="http://schemas.openxmlformats.org/officeDocument/2006/relationships/image" Target="../media/image212.png"/><Relationship Id="rId4" Type="http://schemas.openxmlformats.org/officeDocument/2006/relationships/image" Target="../media/image211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png"/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2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png"/><Relationship Id="rId2" Type="http://schemas.openxmlformats.org/officeDocument/2006/relationships/image" Target="../media/image223.png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png"/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8.png"/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4.png"/><Relationship Id="rId2" Type="http://schemas.openxmlformats.org/officeDocument/2006/relationships/image" Target="../media/image233.png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png"/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7.png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png"/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2.png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4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5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7.png"/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png"/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0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pn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4.png"/><Relationship Id="rId4" Type="http://schemas.openxmlformats.org/officeDocument/2006/relationships/image" Target="../media/image253.png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5.png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7.png"/><Relationship Id="rId2" Type="http://schemas.openxmlformats.org/officeDocument/2006/relationships/image" Target="../media/image256.png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png"/><Relationship Id="rId2" Type="http://schemas.openxmlformats.org/officeDocument/2006/relationships/image" Target="../media/image256.png"/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9.png"/><Relationship Id="rId2" Type="http://schemas.openxmlformats.org/officeDocument/2006/relationships/image" Target="../media/image2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2.png"/><Relationship Id="rId5" Type="http://schemas.openxmlformats.org/officeDocument/2006/relationships/image" Target="../media/image261.png"/><Relationship Id="rId4" Type="http://schemas.openxmlformats.org/officeDocument/2006/relationships/image" Target="../media/image260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4.png"/><Relationship Id="rId7" Type="http://schemas.openxmlformats.org/officeDocument/2006/relationships/image" Target="../media/image268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7.png"/><Relationship Id="rId5" Type="http://schemas.openxmlformats.org/officeDocument/2006/relationships/image" Target="../media/image266.png"/><Relationship Id="rId4" Type="http://schemas.openxmlformats.org/officeDocument/2006/relationships/image" Target="../media/image265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9.png"/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2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4.png"/><Relationship Id="rId4" Type="http://schemas.openxmlformats.org/officeDocument/2006/relationships/image" Target="../media/image273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6.png"/><Relationship Id="rId2" Type="http://schemas.openxmlformats.org/officeDocument/2006/relationships/image" Target="../media/image2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7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9.png"/><Relationship Id="rId2" Type="http://schemas.openxmlformats.org/officeDocument/2006/relationships/image" Target="../media/image2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0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png"/><Relationship Id="rId7" Type="http://schemas.openxmlformats.org/officeDocument/2006/relationships/image" Target="../media/image286.png"/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5.png"/><Relationship Id="rId5" Type="http://schemas.openxmlformats.org/officeDocument/2006/relationships/image" Target="../media/image284.png"/><Relationship Id="rId4" Type="http://schemas.openxmlformats.org/officeDocument/2006/relationships/image" Target="../media/image283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8.png"/><Relationship Id="rId2" Type="http://schemas.openxmlformats.org/officeDocument/2006/relationships/image" Target="../media/image28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0.png"/><Relationship Id="rId4" Type="http://schemas.openxmlformats.org/officeDocument/2006/relationships/image" Target="../media/image289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2.png"/><Relationship Id="rId2" Type="http://schemas.openxmlformats.org/officeDocument/2006/relationships/image" Target="../media/image291.png"/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4.png"/><Relationship Id="rId2" Type="http://schemas.openxmlformats.org/officeDocument/2006/relationships/image" Target="../media/image29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5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7.png"/><Relationship Id="rId2" Type="http://schemas.openxmlformats.org/officeDocument/2006/relationships/image" Target="../media/image29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9.png"/><Relationship Id="rId4" Type="http://schemas.openxmlformats.org/officeDocument/2006/relationships/image" Target="../media/image298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1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3.png"/><Relationship Id="rId4" Type="http://schemas.openxmlformats.org/officeDocument/2006/relationships/image" Target="../media/image302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5.png"/><Relationship Id="rId2" Type="http://schemas.openxmlformats.org/officeDocument/2006/relationships/image" Target="../media/image30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6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8.png"/><Relationship Id="rId2" Type="http://schemas.openxmlformats.org/officeDocument/2006/relationships/image" Target="../media/image30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9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1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4.png"/><Relationship Id="rId5" Type="http://schemas.openxmlformats.org/officeDocument/2006/relationships/image" Target="../media/image313.png"/><Relationship Id="rId4" Type="http://schemas.openxmlformats.org/officeDocument/2006/relationships/image" Target="../media/image312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6.png"/><Relationship Id="rId2" Type="http://schemas.openxmlformats.org/officeDocument/2006/relationships/image" Target="../media/image315.png"/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7.png"/><Relationship Id="rId2" Type="http://schemas.openxmlformats.org/officeDocument/2006/relationships/image" Target="../media/image3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8.png"/><Relationship Id="rId4" Type="http://schemas.openxmlformats.org/officeDocument/2006/relationships/image" Target="../media/image316.png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9.png"/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2.png"/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3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5.png"/><Relationship Id="rId2" Type="http://schemas.openxmlformats.org/officeDocument/2006/relationships/image" Target="../media/image324.png"/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7.png"/><Relationship Id="rId2" Type="http://schemas.openxmlformats.org/officeDocument/2006/relationships/image" Target="../media/image3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8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2.png"/><Relationship Id="rId4" Type="http://schemas.openxmlformats.org/officeDocument/2006/relationships/image" Target="../media/image331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4.png"/><Relationship Id="rId7" Type="http://schemas.openxmlformats.org/officeDocument/2006/relationships/image" Target="../media/image332.png"/><Relationship Id="rId2" Type="http://schemas.openxmlformats.org/officeDocument/2006/relationships/image" Target="../media/image3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1.png"/><Relationship Id="rId5" Type="http://schemas.openxmlformats.org/officeDocument/2006/relationships/image" Target="../media/image330.png"/><Relationship Id="rId4" Type="http://schemas.openxmlformats.org/officeDocument/2006/relationships/image" Target="../media/image329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5.png"/><Relationship Id="rId2" Type="http://schemas.openxmlformats.org/officeDocument/2006/relationships/image" Target="../media/image3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4.png"/><Relationship Id="rId4" Type="http://schemas.openxmlformats.org/officeDocument/2006/relationships/image" Target="../media/image336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8.png"/><Relationship Id="rId2" Type="http://schemas.openxmlformats.org/officeDocument/2006/relationships/image" Target="../media/image337.png"/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3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1.png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2.png"/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4.png"/><Relationship Id="rId2" Type="http://schemas.openxmlformats.org/officeDocument/2006/relationships/image" Target="../media/image343.png"/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5.png"/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7.png"/><Relationship Id="rId2" Type="http://schemas.openxmlformats.org/officeDocument/2006/relationships/image" Target="../media/image3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9.png"/><Relationship Id="rId4" Type="http://schemas.openxmlformats.org/officeDocument/2006/relationships/image" Target="../media/image348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1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3.png"/><Relationship Id="rId4" Type="http://schemas.openxmlformats.org/officeDocument/2006/relationships/image" Target="../media/image352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5.png"/><Relationship Id="rId2" Type="http://schemas.openxmlformats.org/officeDocument/2006/relationships/image" Target="../media/image354.png"/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7.png"/><Relationship Id="rId2" Type="http://schemas.openxmlformats.org/officeDocument/2006/relationships/image" Target="../media/image356.png"/><Relationship Id="rId1" Type="http://schemas.openxmlformats.org/officeDocument/2006/relationships/slideLayout" Target="../slideLayouts/slideLayout2.xml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9.png"/><Relationship Id="rId2" Type="http://schemas.openxmlformats.org/officeDocument/2006/relationships/image" Target="../media/image3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0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2.png"/><Relationship Id="rId2" Type="http://schemas.openxmlformats.org/officeDocument/2006/relationships/image" Target="../media/image361.png"/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4.png"/><Relationship Id="rId2" Type="http://schemas.openxmlformats.org/officeDocument/2006/relationships/image" Target="../media/image363.png"/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6.png"/><Relationship Id="rId7" Type="http://schemas.openxmlformats.org/officeDocument/2006/relationships/image" Target="../media/image370.png"/><Relationship Id="rId2" Type="http://schemas.openxmlformats.org/officeDocument/2006/relationships/image" Target="../media/image3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9.png"/><Relationship Id="rId5" Type="http://schemas.openxmlformats.org/officeDocument/2006/relationships/image" Target="../media/image368.png"/><Relationship Id="rId4" Type="http://schemas.openxmlformats.org/officeDocument/2006/relationships/image" Target="../media/image367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2.png"/><Relationship Id="rId2" Type="http://schemas.openxmlformats.org/officeDocument/2006/relationships/image" Target="../media/image3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3.png"/></Relationships>
</file>

<file path=ppt/slides/_rels/slide2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4.png"/><Relationship Id="rId1" Type="http://schemas.openxmlformats.org/officeDocument/2006/relationships/slideLayout" Target="../slideLayouts/slideLayout2.xml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6.png"/><Relationship Id="rId2" Type="http://schemas.openxmlformats.org/officeDocument/2006/relationships/image" Target="../media/image375.png"/><Relationship Id="rId1" Type="http://schemas.openxmlformats.org/officeDocument/2006/relationships/slideLayout" Target="../slideLayouts/slideLayout2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7.png"/><Relationship Id="rId1" Type="http://schemas.openxmlformats.org/officeDocument/2006/relationships/slideLayout" Target="../slideLayouts/slideLayout2.xml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8.png"/><Relationship Id="rId2" Type="http://schemas.openxmlformats.org/officeDocument/2006/relationships/image" Target="../media/image37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0.png"/><Relationship Id="rId4" Type="http://schemas.openxmlformats.org/officeDocument/2006/relationships/image" Target="../media/image379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2.png"/><Relationship Id="rId2" Type="http://schemas.openxmlformats.org/officeDocument/2006/relationships/image" Target="../media/image3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5.png"/><Relationship Id="rId5" Type="http://schemas.openxmlformats.org/officeDocument/2006/relationships/image" Target="../media/image384.png"/><Relationship Id="rId4" Type="http://schemas.openxmlformats.org/officeDocument/2006/relationships/image" Target="../media/image383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7.png"/><Relationship Id="rId2" Type="http://schemas.openxmlformats.org/officeDocument/2006/relationships/image" Target="../media/image38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9.png"/><Relationship Id="rId4" Type="http://schemas.openxmlformats.org/officeDocument/2006/relationships/image" Target="../media/image388.png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2.png"/><Relationship Id="rId2" Type="http://schemas.openxmlformats.org/officeDocument/2006/relationships/image" Target="../media/image39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3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4.png"/><Relationship Id="rId2" Type="http://schemas.openxmlformats.org/officeDocument/2006/relationships/image" Target="../media/image393.png"/><Relationship Id="rId1" Type="http://schemas.openxmlformats.org/officeDocument/2006/relationships/slideLayout" Target="../slideLayouts/slideLayout2.xml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6.png"/><Relationship Id="rId2" Type="http://schemas.openxmlformats.org/officeDocument/2006/relationships/image" Target="../media/image39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8.png"/><Relationship Id="rId4" Type="http://schemas.openxmlformats.org/officeDocument/2006/relationships/image" Target="../media/image397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image" Target="../media/image399.png"/><Relationship Id="rId1" Type="http://schemas.openxmlformats.org/officeDocument/2006/relationships/slideLayout" Target="../slideLayouts/slideLayout2.xml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2.png"/><Relationship Id="rId2" Type="http://schemas.openxmlformats.org/officeDocument/2006/relationships/image" Target="../media/image40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3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5.png"/><Relationship Id="rId2" Type="http://schemas.openxmlformats.org/officeDocument/2006/relationships/image" Target="../media/image4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8.png"/><Relationship Id="rId5" Type="http://schemas.openxmlformats.org/officeDocument/2006/relationships/image" Target="../media/image407.png"/><Relationship Id="rId4" Type="http://schemas.openxmlformats.org/officeDocument/2006/relationships/image" Target="../media/image406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image" Target="../media/image4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3.png"/><Relationship Id="rId5" Type="http://schemas.openxmlformats.org/officeDocument/2006/relationships/image" Target="../media/image412.png"/><Relationship Id="rId4" Type="http://schemas.openxmlformats.org/officeDocument/2006/relationships/image" Target="../media/image411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5.png"/><Relationship Id="rId2" Type="http://schemas.openxmlformats.org/officeDocument/2006/relationships/image" Target="../media/image4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6.png"/></Relationships>
</file>

<file path=ppt/slides/_rels/slide2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7.png"/><Relationship Id="rId1" Type="http://schemas.openxmlformats.org/officeDocument/2006/relationships/slideLayout" Target="../slideLayouts/slideLayout2.xml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9.png"/><Relationship Id="rId2" Type="http://schemas.openxmlformats.org/officeDocument/2006/relationships/image" Target="../media/image4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0.png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1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3.png"/><Relationship Id="rId4" Type="http://schemas.openxmlformats.org/officeDocument/2006/relationships/image" Target="../media/image422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5.png"/><Relationship Id="rId2" Type="http://schemas.openxmlformats.org/officeDocument/2006/relationships/image" Target="../media/image4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6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8.png"/><Relationship Id="rId2" Type="http://schemas.openxmlformats.org/officeDocument/2006/relationships/image" Target="../media/image427.png"/><Relationship Id="rId1" Type="http://schemas.openxmlformats.org/officeDocument/2006/relationships/slideLayout" Target="../slideLayouts/slideLayout2.xml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image" Target="../media/image429.png"/><Relationship Id="rId1" Type="http://schemas.openxmlformats.org/officeDocument/2006/relationships/slideLayout" Target="../slideLayouts/slideLayout2.xml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2.png"/><Relationship Id="rId2" Type="http://schemas.openxmlformats.org/officeDocument/2006/relationships/image" Target="../media/image431.png"/><Relationship Id="rId1" Type="http://schemas.openxmlformats.org/officeDocument/2006/relationships/slideLayout" Target="../slideLayouts/slideLayout2.xml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4.png"/><Relationship Id="rId2" Type="http://schemas.openxmlformats.org/officeDocument/2006/relationships/image" Target="../media/image4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5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7.png"/><Relationship Id="rId2" Type="http://schemas.openxmlformats.org/officeDocument/2006/relationships/image" Target="../media/image4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8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image" Target="../media/image4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2.png"/><Relationship Id="rId4" Type="http://schemas.openxmlformats.org/officeDocument/2006/relationships/image" Target="../media/image441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4.png"/><Relationship Id="rId2" Type="http://schemas.openxmlformats.org/officeDocument/2006/relationships/image" Target="../media/image4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6.png"/><Relationship Id="rId4" Type="http://schemas.openxmlformats.org/officeDocument/2006/relationships/image" Target="../media/image445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8.png"/><Relationship Id="rId2" Type="http://schemas.openxmlformats.org/officeDocument/2006/relationships/image" Target="../media/image447.png"/><Relationship Id="rId1" Type="http://schemas.openxmlformats.org/officeDocument/2006/relationships/slideLayout" Target="../slideLayouts/slideLayout2.xml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449.png"/><Relationship Id="rId1" Type="http://schemas.openxmlformats.org/officeDocument/2006/relationships/slideLayout" Target="../slideLayouts/slideLayout2.xml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2.png"/><Relationship Id="rId2" Type="http://schemas.openxmlformats.org/officeDocument/2006/relationships/image" Target="../media/image451.png"/><Relationship Id="rId1" Type="http://schemas.openxmlformats.org/officeDocument/2006/relationships/slideLayout" Target="../slideLayouts/slideLayout2.xml"/></Relationships>
</file>

<file path=ppt/slides/_rels/slide2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3.png"/><Relationship Id="rId1" Type="http://schemas.openxmlformats.org/officeDocument/2006/relationships/slideLayout" Target="../slideLayouts/slideLayout2.xml"/></Relationships>
</file>

<file path=ppt/slides/_rels/slide2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4.png"/><Relationship Id="rId1" Type="http://schemas.openxmlformats.org/officeDocument/2006/relationships/slideLayout" Target="../slideLayouts/slideLayout2.xml"/></Relationships>
</file>

<file path=ppt/slides/_rels/slide2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5.png"/><Relationship Id="rId1" Type="http://schemas.openxmlformats.org/officeDocument/2006/relationships/slideLayout" Target="../slideLayouts/slideLayout2.xml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7.png"/><Relationship Id="rId2" Type="http://schemas.openxmlformats.org/officeDocument/2006/relationships/image" Target="../media/image456.png"/><Relationship Id="rId1" Type="http://schemas.openxmlformats.org/officeDocument/2006/relationships/slideLayout" Target="../slideLayouts/slideLayout2.xml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9.png"/><Relationship Id="rId2" Type="http://schemas.openxmlformats.org/officeDocument/2006/relationships/image" Target="../media/image4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0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2.png"/><Relationship Id="rId7" Type="http://schemas.openxmlformats.org/officeDocument/2006/relationships/image" Target="../media/image466.png"/><Relationship Id="rId2" Type="http://schemas.openxmlformats.org/officeDocument/2006/relationships/image" Target="../media/image4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5.png"/><Relationship Id="rId5" Type="http://schemas.openxmlformats.org/officeDocument/2006/relationships/image" Target="../media/image464.png"/><Relationship Id="rId4" Type="http://schemas.openxmlformats.org/officeDocument/2006/relationships/image" Target="../media/image463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8.png"/><Relationship Id="rId2" Type="http://schemas.openxmlformats.org/officeDocument/2006/relationships/image" Target="../media/image4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1.png"/><Relationship Id="rId5" Type="http://schemas.openxmlformats.org/officeDocument/2006/relationships/image" Target="../media/image470.png"/><Relationship Id="rId4" Type="http://schemas.openxmlformats.org/officeDocument/2006/relationships/image" Target="../media/image469.png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3.png"/><Relationship Id="rId2" Type="http://schemas.openxmlformats.org/officeDocument/2006/relationships/image" Target="../media/image47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5.png"/><Relationship Id="rId4" Type="http://schemas.openxmlformats.org/officeDocument/2006/relationships/image" Target="../media/image474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7.png"/><Relationship Id="rId2" Type="http://schemas.openxmlformats.org/officeDocument/2006/relationships/image" Target="../media/image4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0.png"/><Relationship Id="rId5" Type="http://schemas.openxmlformats.org/officeDocument/2006/relationships/image" Target="../media/image479.png"/><Relationship Id="rId4" Type="http://schemas.openxmlformats.org/officeDocument/2006/relationships/image" Target="../media/image478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2.png"/><Relationship Id="rId2" Type="http://schemas.openxmlformats.org/officeDocument/2006/relationships/image" Target="../media/image481.png"/><Relationship Id="rId1" Type="http://schemas.openxmlformats.org/officeDocument/2006/relationships/slideLayout" Target="../slideLayouts/slideLayout2.xml"/></Relationships>
</file>

<file path=ppt/slides/_rels/slide2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3.png"/><Relationship Id="rId1" Type="http://schemas.openxmlformats.org/officeDocument/2006/relationships/slideLayout" Target="../slideLayouts/slideLayout2.xml"/></Relationships>
</file>

<file path=ppt/slides/_rels/slide2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4.png"/><Relationship Id="rId1" Type="http://schemas.openxmlformats.org/officeDocument/2006/relationships/slideLayout" Target="../slideLayouts/slideLayout2.xml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6.png"/><Relationship Id="rId2" Type="http://schemas.openxmlformats.org/officeDocument/2006/relationships/image" Target="../media/image485.png"/><Relationship Id="rId1" Type="http://schemas.openxmlformats.org/officeDocument/2006/relationships/slideLayout" Target="../slideLayouts/slideLayout2.xml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8.png"/><Relationship Id="rId2" Type="http://schemas.openxmlformats.org/officeDocument/2006/relationships/image" Target="../media/image4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9.png"/></Relationships>
</file>

<file path=ppt/slides/_rels/slide2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2.png"/><Relationship Id="rId2" Type="http://schemas.openxmlformats.org/officeDocument/2006/relationships/image" Target="../media/image491.png"/><Relationship Id="rId1" Type="http://schemas.openxmlformats.org/officeDocument/2006/relationships/slideLayout" Target="../slideLayouts/slideLayout2.xml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4.png"/><Relationship Id="rId2" Type="http://schemas.openxmlformats.org/officeDocument/2006/relationships/image" Target="../media/image49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6.png"/><Relationship Id="rId4" Type="http://schemas.openxmlformats.org/officeDocument/2006/relationships/image" Target="../media/image495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8.png"/><Relationship Id="rId2" Type="http://schemas.openxmlformats.org/officeDocument/2006/relationships/image" Target="../media/image49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9.png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1.pn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2.png"/></Relationships>
</file>

<file path=ppt/slides/_rels/slide3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4.png"/><Relationship Id="rId2" Type="http://schemas.openxmlformats.org/officeDocument/2006/relationships/image" Target="../media/image50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5.png"/></Relationships>
</file>

<file path=ppt/slides/_rels/slide3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7.png"/><Relationship Id="rId2" Type="http://schemas.openxmlformats.org/officeDocument/2006/relationships/image" Target="../media/image506.png"/><Relationship Id="rId1" Type="http://schemas.openxmlformats.org/officeDocument/2006/relationships/slideLayout" Target="../slideLayouts/slideLayout2.xml"/></Relationships>
</file>

<file path=ppt/slides/_rels/slide3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9.png"/><Relationship Id="rId2" Type="http://schemas.openxmlformats.org/officeDocument/2006/relationships/image" Target="../media/image50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0.png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2.png"/><Relationship Id="rId2" Type="http://schemas.openxmlformats.org/officeDocument/2006/relationships/image" Target="../media/image511.png"/><Relationship Id="rId1" Type="http://schemas.openxmlformats.org/officeDocument/2006/relationships/slideLayout" Target="../slideLayouts/slideLayout2.xml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4.png"/><Relationship Id="rId2" Type="http://schemas.openxmlformats.org/officeDocument/2006/relationships/image" Target="../media/image513.png"/><Relationship Id="rId1" Type="http://schemas.openxmlformats.org/officeDocument/2006/relationships/slideLayout" Target="../slideLayouts/slideLayout2.xml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6.png"/><Relationship Id="rId2" Type="http://schemas.openxmlformats.org/officeDocument/2006/relationships/image" Target="../media/image515.png"/><Relationship Id="rId1" Type="http://schemas.openxmlformats.org/officeDocument/2006/relationships/slideLayout" Target="../slideLayouts/slideLayout2.xml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8.png"/><Relationship Id="rId2" Type="http://schemas.openxmlformats.org/officeDocument/2006/relationships/image" Target="../media/image5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0.png"/><Relationship Id="rId4" Type="http://schemas.openxmlformats.org/officeDocument/2006/relationships/image" Target="../media/image519.png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2.png"/><Relationship Id="rId2" Type="http://schemas.openxmlformats.org/officeDocument/2006/relationships/image" Target="../media/image521.png"/><Relationship Id="rId1" Type="http://schemas.openxmlformats.org/officeDocument/2006/relationships/slideLayout" Target="../slideLayouts/slideLayout2.xml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4.png"/><Relationship Id="rId2" Type="http://schemas.openxmlformats.org/officeDocument/2006/relationships/image" Target="../media/image523.png"/><Relationship Id="rId1" Type="http://schemas.openxmlformats.org/officeDocument/2006/relationships/slideLayout" Target="../slideLayouts/slideLayout2.xml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6.png"/><Relationship Id="rId2" Type="http://schemas.openxmlformats.org/officeDocument/2006/relationships/image" Target="../media/image5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7.png"/></Relationships>
</file>

<file path=ppt/slides/_rels/slide3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9.png"/><Relationship Id="rId2" Type="http://schemas.openxmlformats.org/officeDocument/2006/relationships/image" Target="../media/image528.png"/><Relationship Id="rId1" Type="http://schemas.openxmlformats.org/officeDocument/2006/relationships/slideLayout" Target="../slideLayouts/slideLayout2.xml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1.png"/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3.png"/><Relationship Id="rId2" Type="http://schemas.openxmlformats.org/officeDocument/2006/relationships/image" Target="../media/image5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4.png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6.png"/><Relationship Id="rId2" Type="http://schemas.openxmlformats.org/officeDocument/2006/relationships/image" Target="../media/image5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8.png"/><Relationship Id="rId4" Type="http://schemas.openxmlformats.org/officeDocument/2006/relationships/image" Target="../media/image537.png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0.png"/><Relationship Id="rId2" Type="http://schemas.openxmlformats.org/officeDocument/2006/relationships/image" Target="../media/image5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1.png"/></Relationships>
</file>

<file path=ppt/slides/_rels/slide3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2.png"/><Relationship Id="rId1" Type="http://schemas.openxmlformats.org/officeDocument/2006/relationships/slideLayout" Target="../slideLayouts/slideLayout2.xml"/></Relationships>
</file>

<file path=ppt/slides/_rels/slide3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4.png"/><Relationship Id="rId2" Type="http://schemas.openxmlformats.org/officeDocument/2006/relationships/image" Target="../media/image543.png"/><Relationship Id="rId1" Type="http://schemas.openxmlformats.org/officeDocument/2006/relationships/slideLayout" Target="../slideLayouts/slideLayout2.xml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6.png"/><Relationship Id="rId2" Type="http://schemas.openxmlformats.org/officeDocument/2006/relationships/image" Target="../media/image545.png"/><Relationship Id="rId1" Type="http://schemas.openxmlformats.org/officeDocument/2006/relationships/slideLayout" Target="../slideLayouts/slideLayout2.xml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8.png"/><Relationship Id="rId2" Type="http://schemas.openxmlformats.org/officeDocument/2006/relationships/image" Target="../media/image547.png"/><Relationship Id="rId1" Type="http://schemas.openxmlformats.org/officeDocument/2006/relationships/slideLayout" Target="../slideLayouts/slideLayout2.xml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0.png"/><Relationship Id="rId2" Type="http://schemas.openxmlformats.org/officeDocument/2006/relationships/image" Target="../media/image5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1.png"/></Relationships>
</file>

<file path=ppt/slides/_rels/slide3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2.png"/><Relationship Id="rId1" Type="http://schemas.openxmlformats.org/officeDocument/2006/relationships/slideLayout" Target="../slideLayouts/slideLayout2.xml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4.png"/><Relationship Id="rId2" Type="http://schemas.openxmlformats.org/officeDocument/2006/relationships/image" Target="../media/image553.png"/><Relationship Id="rId1" Type="http://schemas.openxmlformats.org/officeDocument/2006/relationships/slideLayout" Target="../slideLayouts/slideLayout2.xml"/></Relationships>
</file>

<file path=ppt/slides/_rels/slide3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5BC5D9F-E0BD-6D6D-F579-781A7AE66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593" y="152570"/>
            <a:ext cx="4450814" cy="655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04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5162734-A132-5712-0E05-1241399EB692}"/>
              </a:ext>
            </a:extLst>
          </p:cNvPr>
          <p:cNvCxnSpPr>
            <a:cxnSpLocks/>
          </p:cNvCxnSpPr>
          <p:nvPr/>
        </p:nvCxnSpPr>
        <p:spPr>
          <a:xfrm>
            <a:off x="4664364" y="2004291"/>
            <a:ext cx="0" cy="3576782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DCC4125-AF54-CA7F-8EFD-C4A18EEA9B12}"/>
              </a:ext>
            </a:extLst>
          </p:cNvPr>
          <p:cNvSpPr txBox="1"/>
          <p:nvPr/>
        </p:nvSpPr>
        <p:spPr>
          <a:xfrm>
            <a:off x="1154543" y="3438580"/>
            <a:ext cx="35060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Contents</a:t>
            </a:r>
            <a:endParaRPr lang="ko-KR" altLang="en-US" sz="6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2799C4-436F-3BEB-6B6A-C606B663A5DF}"/>
              </a:ext>
            </a:extLst>
          </p:cNvPr>
          <p:cNvSpPr txBox="1"/>
          <p:nvPr/>
        </p:nvSpPr>
        <p:spPr>
          <a:xfrm>
            <a:off x="5384799" y="2173324"/>
            <a:ext cx="2036135" cy="3385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엔터티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정규화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통합과 서브타입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릴레이션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이력관리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반정규화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C01E64-E13B-A53C-C206-680EB3C494CA}"/>
              </a:ext>
            </a:extLst>
          </p:cNvPr>
          <p:cNvSpPr txBox="1"/>
          <p:nvPr/>
        </p:nvSpPr>
        <p:spPr>
          <a:xfrm>
            <a:off x="7128927" y="253481"/>
            <a:ext cx="47218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  <a:endParaRPr lang="en-US" altLang="ko-KR" sz="1600" dirty="0">
              <a:solidFill>
                <a:schemeClr val="tx2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0053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381A9E-2A95-8FF9-CD30-21DF6F283265}"/>
              </a:ext>
            </a:extLst>
          </p:cNvPr>
          <p:cNvSpPr txBox="1"/>
          <p:nvPr/>
        </p:nvSpPr>
        <p:spPr>
          <a:xfrm>
            <a:off x="3048918" y="2464890"/>
            <a:ext cx="609783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60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엔터티</a:t>
            </a:r>
            <a:endParaRPr lang="en-US" altLang="ko-KR" sz="6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en-US" altLang="ko-KR" sz="7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Entity</a:t>
            </a:r>
            <a:endParaRPr lang="ko-KR" altLang="en-US" sz="7200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24B7D2-D29D-095D-A59F-457043872A94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600" dirty="0" err="1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엔터티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(Entity)</a:t>
            </a:r>
          </a:p>
        </p:txBody>
      </p:sp>
    </p:spTree>
    <p:extLst>
      <p:ext uri="{BB962C8B-B14F-4D97-AF65-F5344CB8AC3E}">
        <p14:creationId xmlns:p14="http://schemas.microsoft.com/office/powerpoint/2010/main" val="1421956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3AFB995E-AAB4-8465-EE34-AF66161D1666}"/>
              </a:ext>
            </a:extLst>
          </p:cNvPr>
          <p:cNvSpPr/>
          <p:nvPr/>
        </p:nvSpPr>
        <p:spPr>
          <a:xfrm>
            <a:off x="726981" y="1268361"/>
            <a:ext cx="2163097" cy="509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만질 수 있는가</a:t>
            </a:r>
            <a:r>
              <a:rPr lang="en-US" altLang="ko-KR" sz="1600" b="1" dirty="0"/>
              <a:t>?</a:t>
            </a:r>
            <a:endParaRPr lang="ko-KR" altLang="en-US" sz="16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26106B0-7870-B4DC-C414-AFCDE1799610}"/>
              </a:ext>
            </a:extLst>
          </p:cNvPr>
          <p:cNvSpPr/>
          <p:nvPr/>
        </p:nvSpPr>
        <p:spPr>
          <a:xfrm>
            <a:off x="726980" y="3032165"/>
            <a:ext cx="2163097" cy="509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스스로 존재하는가</a:t>
            </a:r>
            <a:r>
              <a:rPr lang="en-US" altLang="ko-KR" sz="1600" b="1" dirty="0"/>
              <a:t>?</a:t>
            </a:r>
            <a:endParaRPr lang="ko-KR" altLang="en-US" sz="16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4B2269A-B38C-11AA-89FC-63BABE7BE4A8}"/>
              </a:ext>
            </a:extLst>
          </p:cNvPr>
          <p:cNvSpPr/>
          <p:nvPr/>
        </p:nvSpPr>
        <p:spPr>
          <a:xfrm>
            <a:off x="726980" y="4835544"/>
            <a:ext cx="2163097" cy="509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원천 데이터인가</a:t>
            </a:r>
            <a:r>
              <a:rPr lang="en-US" altLang="ko-KR" sz="1600" b="1" dirty="0"/>
              <a:t>?</a:t>
            </a:r>
            <a:endParaRPr lang="ko-KR" altLang="en-US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CC0E4F-B9A0-7DB9-8296-2C11ABAB240D}"/>
              </a:ext>
            </a:extLst>
          </p:cNvPr>
          <p:cNvSpPr txBox="1"/>
          <p:nvPr/>
        </p:nvSpPr>
        <p:spPr>
          <a:xfrm>
            <a:off x="3216723" y="1255135"/>
            <a:ext cx="86331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만질 수 있는 것 </a:t>
            </a:r>
            <a:r>
              <a:rPr lang="en-US" altLang="ko-KR" b="1" dirty="0"/>
              <a:t>: </a:t>
            </a:r>
            <a:r>
              <a:rPr lang="ko-KR" altLang="en-US" b="1" dirty="0"/>
              <a:t>고객 • 노트북 • 상품 • 자동차    </a:t>
            </a:r>
            <a:r>
              <a:rPr lang="en-US" altLang="ko-KR" b="1" dirty="0">
                <a:sym typeface="Wingdings" panose="05000000000000000000" pitchFamily="2" charset="2"/>
              </a:rPr>
              <a:t>  </a:t>
            </a:r>
            <a:r>
              <a:rPr lang="ko-KR" altLang="en-US" b="1" dirty="0">
                <a:sym typeface="Wingdings" panose="05000000000000000000" pitchFamily="2" charset="2"/>
              </a:rPr>
              <a:t>실체 </a:t>
            </a:r>
            <a:r>
              <a:rPr lang="ko-KR" altLang="en-US" b="1" dirty="0" err="1">
                <a:sym typeface="Wingdings" panose="05000000000000000000" pitchFamily="2" charset="2"/>
              </a:rPr>
              <a:t>엔터티</a:t>
            </a: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만질 수 없는 것 </a:t>
            </a:r>
            <a:r>
              <a:rPr lang="en-US" altLang="ko-KR" b="1" dirty="0"/>
              <a:t>: </a:t>
            </a:r>
            <a:r>
              <a:rPr lang="ko-KR" altLang="en-US" b="1" dirty="0"/>
              <a:t>주문</a:t>
            </a:r>
            <a:r>
              <a:rPr lang="en-US" altLang="ko-KR" b="1" dirty="0"/>
              <a:t> • </a:t>
            </a:r>
            <a:r>
              <a:rPr lang="ko-KR" altLang="en-US" b="1" dirty="0"/>
              <a:t>강의</a:t>
            </a:r>
            <a:r>
              <a:rPr lang="en-US" altLang="ko-KR" b="1" dirty="0"/>
              <a:t> • </a:t>
            </a:r>
            <a:r>
              <a:rPr lang="ko-KR" altLang="en-US" b="1" dirty="0"/>
              <a:t>환율 </a:t>
            </a:r>
            <a:r>
              <a:rPr lang="en-US" altLang="ko-KR" b="1" dirty="0"/>
              <a:t>• </a:t>
            </a:r>
            <a:r>
              <a:rPr lang="ko-KR" altLang="en-US" b="1" dirty="0"/>
              <a:t>강좌</a:t>
            </a:r>
            <a:r>
              <a:rPr lang="en-US" altLang="ko-KR" b="1" dirty="0"/>
              <a:t> • </a:t>
            </a:r>
            <a:r>
              <a:rPr lang="ko-KR" altLang="en-US" b="1" dirty="0"/>
              <a:t>분류 </a:t>
            </a:r>
            <a:r>
              <a:rPr lang="en-US" altLang="ko-KR" b="1" dirty="0"/>
              <a:t>• </a:t>
            </a:r>
            <a:r>
              <a:rPr lang="ko-KR" altLang="en-US" b="1" dirty="0"/>
              <a:t>계좌유형 </a:t>
            </a:r>
            <a:r>
              <a:rPr lang="en-US" altLang="ko-KR" b="1" dirty="0"/>
              <a:t>• </a:t>
            </a:r>
            <a:r>
              <a:rPr lang="ko-KR" altLang="en-US" b="1" dirty="0"/>
              <a:t>상품 카테고리 </a:t>
            </a:r>
            <a:r>
              <a:rPr lang="en-US" altLang="ko-KR" b="1" dirty="0"/>
              <a:t>• </a:t>
            </a:r>
            <a:r>
              <a:rPr lang="ko-KR" altLang="en-US" b="1" dirty="0"/>
              <a:t>코드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85D7FA-BFC8-6F6B-69B1-68929A7805DD}"/>
              </a:ext>
            </a:extLst>
          </p:cNvPr>
          <p:cNvSpPr txBox="1"/>
          <p:nvPr/>
        </p:nvSpPr>
        <p:spPr>
          <a:xfrm>
            <a:off x="3216724" y="3018939"/>
            <a:ext cx="78587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독립 </a:t>
            </a:r>
            <a:r>
              <a:rPr lang="ko-KR" altLang="en-US" b="1" dirty="0" err="1"/>
              <a:t>엔터티</a:t>
            </a:r>
            <a:r>
              <a:rPr lang="ko-KR" altLang="en-US" b="1" dirty="0"/>
              <a:t> </a:t>
            </a:r>
            <a:r>
              <a:rPr lang="en-US" altLang="ko-KR" b="1" dirty="0"/>
              <a:t>: </a:t>
            </a:r>
            <a:r>
              <a:rPr lang="ko-KR" altLang="en-US" b="1" dirty="0"/>
              <a:t>부모 </a:t>
            </a:r>
            <a:r>
              <a:rPr lang="en-US" altLang="ko-KR" b="1" dirty="0"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ym typeface="Wingdings" panose="05000000000000000000" pitchFamily="2" charset="2"/>
              </a:rPr>
              <a:t>상품</a:t>
            </a: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종속 </a:t>
            </a:r>
            <a:r>
              <a:rPr lang="ko-KR" altLang="en-US" b="1" dirty="0" err="1"/>
              <a:t>엔터티</a:t>
            </a:r>
            <a:r>
              <a:rPr lang="ko-KR" altLang="en-US" b="1" dirty="0"/>
              <a:t> </a:t>
            </a:r>
            <a:r>
              <a:rPr lang="en-US" altLang="ko-KR" b="1" dirty="0"/>
              <a:t>: </a:t>
            </a:r>
            <a:r>
              <a:rPr lang="ko-KR" altLang="en-US" b="1" dirty="0"/>
              <a:t>자식 </a:t>
            </a:r>
            <a:r>
              <a:rPr lang="en-US" altLang="ko-KR" b="1" dirty="0"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ym typeface="Wingdings" panose="05000000000000000000" pitchFamily="2" charset="2"/>
              </a:rPr>
              <a:t>상품가격</a:t>
            </a:r>
            <a:endParaRPr lang="en-US" altLang="ko-KR" b="1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sym typeface="Wingdings" panose="05000000000000000000" pitchFamily="2" charset="2"/>
              </a:rPr>
              <a:t>정규형에서 주로 활용</a:t>
            </a:r>
            <a:endParaRPr lang="ko-KR" alt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007D32-C5CD-C9BF-1E0A-BBD4E5731725}"/>
              </a:ext>
            </a:extLst>
          </p:cNvPr>
          <p:cNvSpPr txBox="1"/>
          <p:nvPr/>
        </p:nvSpPr>
        <p:spPr>
          <a:xfrm>
            <a:off x="3216724" y="4831648"/>
            <a:ext cx="86331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원천 데이터 </a:t>
            </a:r>
            <a:r>
              <a:rPr lang="ko-KR" altLang="en-US" b="1" dirty="0" err="1"/>
              <a:t>엔터티</a:t>
            </a:r>
            <a:r>
              <a:rPr lang="ko-KR" altLang="en-US" b="1" dirty="0"/>
              <a:t> </a:t>
            </a:r>
            <a:r>
              <a:rPr lang="en-US" altLang="ko-KR" b="1" dirty="0"/>
              <a:t>: </a:t>
            </a:r>
            <a:r>
              <a:rPr lang="ko-KR" altLang="en-US" b="1" dirty="0"/>
              <a:t>스스로 존재하는 최초의 데이터</a:t>
            </a:r>
            <a:r>
              <a:rPr lang="en-US" altLang="ko-KR" b="1" dirty="0"/>
              <a:t>. </a:t>
            </a:r>
          </a:p>
          <a:p>
            <a:r>
              <a:rPr lang="en-US" altLang="ko-KR" b="1" dirty="0"/>
              <a:t>     (</a:t>
            </a:r>
            <a:r>
              <a:rPr lang="ko-KR" altLang="en-US" b="1" dirty="0"/>
              <a:t>고객이나 사용자가 직접 입력한 데이터</a:t>
            </a:r>
            <a:r>
              <a:rPr lang="en-US" altLang="ko-KR" b="1" dirty="0"/>
              <a:t>)</a:t>
            </a:r>
          </a:p>
          <a:p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가공 데이터 </a:t>
            </a:r>
            <a:r>
              <a:rPr lang="ko-KR" altLang="en-US" b="1" dirty="0" err="1"/>
              <a:t>엔터티</a:t>
            </a:r>
            <a:r>
              <a:rPr lang="ko-KR" altLang="en-US" b="1" dirty="0"/>
              <a:t> </a:t>
            </a:r>
            <a:r>
              <a:rPr lang="en-US" altLang="ko-KR" b="1" dirty="0"/>
              <a:t>: </a:t>
            </a:r>
            <a:r>
              <a:rPr lang="ko-KR" altLang="en-US" b="1" dirty="0"/>
              <a:t>원천 데이터로부터 만들어 낸 데이터 </a:t>
            </a:r>
            <a:r>
              <a:rPr lang="en-US" altLang="ko-KR" b="1" dirty="0"/>
              <a:t> </a:t>
            </a:r>
            <a:br>
              <a:rPr lang="en-US" altLang="ko-KR" b="1" dirty="0"/>
            </a:br>
            <a:r>
              <a:rPr lang="en-US" altLang="ko-KR" b="1" dirty="0"/>
              <a:t>(</a:t>
            </a:r>
            <a:r>
              <a:rPr lang="ko-KR" altLang="en-US" b="1" dirty="0"/>
              <a:t>중복</a:t>
            </a:r>
            <a:r>
              <a:rPr lang="en-US" altLang="ko-KR" b="1" dirty="0"/>
              <a:t> • </a:t>
            </a:r>
            <a:r>
              <a:rPr lang="ko-KR" altLang="en-US" b="1" dirty="0"/>
              <a:t>집계</a:t>
            </a:r>
            <a:r>
              <a:rPr lang="en-US" altLang="ko-KR" b="1" dirty="0"/>
              <a:t> • </a:t>
            </a:r>
            <a:r>
              <a:rPr lang="ko-KR" altLang="en-US" b="1" dirty="0"/>
              <a:t>요약</a:t>
            </a:r>
            <a:r>
              <a:rPr lang="en-US" altLang="ko-KR" b="1" dirty="0"/>
              <a:t> • </a:t>
            </a:r>
            <a:r>
              <a:rPr lang="ko-KR" altLang="en-US" b="1" dirty="0"/>
              <a:t>임시</a:t>
            </a:r>
            <a:r>
              <a:rPr lang="en-US" altLang="ko-KR" b="1" dirty="0"/>
              <a:t> • </a:t>
            </a:r>
            <a:r>
              <a:rPr lang="ko-KR" altLang="en-US" b="1" dirty="0"/>
              <a:t>작업용 데이터</a:t>
            </a:r>
            <a:r>
              <a:rPr lang="en-US" altLang="ko-KR" b="1" dirty="0"/>
              <a:t>)                          </a:t>
            </a:r>
            <a:endParaRPr lang="ko-KR" alt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07029A-393A-A070-D4FA-92C5D62184A1}"/>
              </a:ext>
            </a:extLst>
          </p:cNvPr>
          <p:cNvSpPr txBox="1"/>
          <p:nvPr/>
        </p:nvSpPr>
        <p:spPr>
          <a:xfrm>
            <a:off x="866911" y="267132"/>
            <a:ext cx="4307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1.1. </a:t>
            </a:r>
            <a:r>
              <a:rPr lang="ko-KR" alt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엔터티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분류법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F6CCE3-F1AC-E024-8713-6251D0E1C29E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600" dirty="0" err="1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엔터티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(Entity)</a:t>
            </a:r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592F480D-8DEB-BB64-CB50-807B35283F2C}"/>
              </a:ext>
            </a:extLst>
          </p:cNvPr>
          <p:cNvSpPr txBox="1">
            <a:spLocks/>
          </p:cNvSpPr>
          <p:nvPr/>
        </p:nvSpPr>
        <p:spPr>
          <a:xfrm>
            <a:off x="4724400" y="644983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ctr"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414D9B4-A085-4D58-9827-DD73C3602634}" type="slidenum">
              <a:rPr lang="ko-KR" altLang="en-US"/>
              <a:pPr/>
              <a:t>4</a:t>
            </a:fld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EEC8285-5501-75BA-B968-26EF9BBD2571}"/>
              </a:ext>
            </a:extLst>
          </p:cNvPr>
          <p:cNvCxnSpPr/>
          <p:nvPr/>
        </p:nvCxnSpPr>
        <p:spPr>
          <a:xfrm>
            <a:off x="327378" y="835374"/>
            <a:ext cx="11525955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BCDC5D0-6AED-DBC4-AB9C-73E574A50770}"/>
              </a:ext>
            </a:extLst>
          </p:cNvPr>
          <p:cNvCxnSpPr/>
          <p:nvPr/>
        </p:nvCxnSpPr>
        <p:spPr>
          <a:xfrm>
            <a:off x="333022" y="6446662"/>
            <a:ext cx="1152595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615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5B31AC4-5DBF-E81A-6B89-6E67F22109E2}"/>
              </a:ext>
            </a:extLst>
          </p:cNvPr>
          <p:cNvSpPr/>
          <p:nvPr/>
        </p:nvSpPr>
        <p:spPr>
          <a:xfrm>
            <a:off x="3433482" y="1140004"/>
            <a:ext cx="6087036" cy="1343220"/>
          </a:xfrm>
          <a:prstGeom prst="roundRect">
            <a:avLst>
              <a:gd name="adj" fmla="val 7991"/>
            </a:avLst>
          </a:prstGeom>
          <a:solidFill>
            <a:srgbClr val="92D05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0B7DD28-03D9-1D69-C771-9B938648D4C6}"/>
              </a:ext>
            </a:extLst>
          </p:cNvPr>
          <p:cNvSpPr/>
          <p:nvPr/>
        </p:nvSpPr>
        <p:spPr>
          <a:xfrm>
            <a:off x="3433482" y="3765254"/>
            <a:ext cx="6087036" cy="1452207"/>
          </a:xfrm>
          <a:prstGeom prst="roundRect">
            <a:avLst>
              <a:gd name="adj" fmla="val 6790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A2C3A70-2375-7B71-80CF-EC277829FEB2}"/>
              </a:ext>
            </a:extLst>
          </p:cNvPr>
          <p:cNvSpPr/>
          <p:nvPr/>
        </p:nvSpPr>
        <p:spPr>
          <a:xfrm>
            <a:off x="3433482" y="2706244"/>
            <a:ext cx="6087036" cy="725209"/>
          </a:xfrm>
          <a:prstGeom prst="roundRect">
            <a:avLst>
              <a:gd name="adj" fmla="val 10486"/>
            </a:avLst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3A9D9D-B43A-5C10-2B9D-91A62273A1EC}"/>
              </a:ext>
            </a:extLst>
          </p:cNvPr>
          <p:cNvSpPr txBox="1"/>
          <p:nvPr/>
        </p:nvSpPr>
        <p:spPr>
          <a:xfrm>
            <a:off x="866911" y="267133"/>
            <a:ext cx="88586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1.2. </a:t>
            </a:r>
            <a:r>
              <a:rPr lang="ko-KR" altLang="en-US" sz="3200" dirty="0"/>
              <a:t>데이터 본질에 따른 </a:t>
            </a:r>
            <a:r>
              <a:rPr lang="ko-KR" altLang="en-US" sz="3200" dirty="0" err="1"/>
              <a:t>엔터티</a:t>
            </a:r>
            <a:r>
              <a:rPr lang="ko-KR" altLang="en-US" sz="3200" dirty="0"/>
              <a:t> 분류법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34AC4E5-DDD7-04DE-8C6D-BE100C9410C1}"/>
              </a:ext>
            </a:extLst>
          </p:cNvPr>
          <p:cNvSpPr/>
          <p:nvPr/>
        </p:nvSpPr>
        <p:spPr>
          <a:xfrm>
            <a:off x="726979" y="1275224"/>
            <a:ext cx="2163097" cy="509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실체</a:t>
            </a:r>
            <a:r>
              <a:rPr lang="en-US" altLang="ko-KR" sz="1600" b="1" dirty="0"/>
              <a:t>.</a:t>
            </a:r>
            <a:r>
              <a:rPr lang="ko-KR" altLang="en-US" sz="1600" b="1" dirty="0"/>
              <a:t>행위</a:t>
            </a:r>
            <a:r>
              <a:rPr lang="en-US" altLang="ko-KR" sz="1600" b="1" dirty="0"/>
              <a:t>.</a:t>
            </a:r>
            <a:r>
              <a:rPr lang="ko-KR" altLang="en-US" sz="1600" b="1" dirty="0"/>
              <a:t>가공</a:t>
            </a:r>
            <a:r>
              <a:rPr lang="en-US" altLang="ko-KR" sz="1600" b="1" dirty="0"/>
              <a:t>.</a:t>
            </a:r>
            <a:r>
              <a:rPr lang="ko-KR" altLang="en-US" sz="1600" b="1" dirty="0"/>
              <a:t>기준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1ADB5C-269F-3129-FD00-C71E8770A20B}"/>
              </a:ext>
            </a:extLst>
          </p:cNvPr>
          <p:cNvSpPr txBox="1"/>
          <p:nvPr/>
        </p:nvSpPr>
        <p:spPr>
          <a:xfrm>
            <a:off x="3216723" y="1255135"/>
            <a:ext cx="8633153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FF0000"/>
                </a:solidFill>
              </a:rPr>
              <a:t>기준 </a:t>
            </a:r>
            <a:r>
              <a:rPr lang="ko-KR" altLang="en-US" sz="1400" b="1" dirty="0" err="1">
                <a:solidFill>
                  <a:srgbClr val="FF0000"/>
                </a:solidFill>
              </a:rPr>
              <a:t>엔터티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참조 </a:t>
            </a:r>
            <a:r>
              <a:rPr lang="ko-KR" altLang="en-US" sz="1400" b="1" dirty="0" err="1"/>
              <a:t>엔터티</a:t>
            </a:r>
            <a:r>
              <a:rPr lang="en-US" altLang="ko-KR" sz="1400" b="1" dirty="0"/>
              <a:t>)</a:t>
            </a:r>
            <a:r>
              <a:rPr lang="en-US" altLang="ko-KR" sz="1400" dirty="0"/>
              <a:t> : </a:t>
            </a:r>
            <a:r>
              <a:rPr lang="ko-KR" altLang="en-US" sz="1400" dirty="0"/>
              <a:t>실체나 행위 데이터의 기준</a:t>
            </a:r>
            <a:r>
              <a:rPr lang="en-US" altLang="ko-KR" sz="1400" dirty="0"/>
              <a:t>(</a:t>
            </a:r>
            <a:r>
              <a:rPr lang="ko-KR" altLang="en-US" sz="1400" dirty="0"/>
              <a:t>업무 기준</a:t>
            </a:r>
            <a:r>
              <a:rPr lang="en-US" altLang="ko-KR" sz="1400" dirty="0"/>
              <a:t>)</a:t>
            </a:r>
            <a:r>
              <a:rPr lang="ko-KR" altLang="en-US" sz="1400" dirty="0"/>
              <a:t>이 되는 </a:t>
            </a:r>
            <a:endParaRPr lang="en-US" altLang="ko-KR" sz="1400" dirty="0"/>
          </a:p>
          <a:p>
            <a:r>
              <a:rPr lang="en-US" altLang="ko-KR" sz="1400" dirty="0"/>
              <a:t>                                       </a:t>
            </a:r>
            <a:r>
              <a:rPr lang="ko-KR" altLang="en-US" sz="1400" dirty="0"/>
              <a:t>데이터를 관리하는 </a:t>
            </a:r>
            <a:r>
              <a:rPr lang="ko-KR" altLang="en-US" sz="1400" dirty="0" err="1"/>
              <a:t>엔터티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</a:t>
            </a:r>
            <a:r>
              <a:rPr lang="en-US" altLang="ko-KR" sz="1400" dirty="0">
                <a:sym typeface="Wingdings" panose="05000000000000000000" pitchFamily="2" charset="2"/>
              </a:rPr>
              <a:t>1. </a:t>
            </a:r>
            <a:r>
              <a:rPr lang="ko-KR" altLang="en-US" sz="1400" dirty="0">
                <a:sym typeface="Wingdings" panose="05000000000000000000" pitchFamily="2" charset="2"/>
              </a:rPr>
              <a:t>코드정보 </a:t>
            </a:r>
            <a:r>
              <a:rPr lang="ko-KR" altLang="en-US" sz="1400" dirty="0" err="1">
                <a:sym typeface="Wingdings" panose="05000000000000000000" pitchFamily="2" charset="2"/>
              </a:rPr>
              <a:t>엔터티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- </a:t>
            </a:r>
            <a:r>
              <a:rPr lang="ko-KR" altLang="en-US" sz="1400" dirty="0">
                <a:sym typeface="Wingdings" panose="05000000000000000000" pitchFamily="2" charset="2"/>
              </a:rPr>
              <a:t>코드 데이터 관리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r>
              <a:rPr lang="en-US" altLang="ko-KR" sz="1400" dirty="0">
                <a:sym typeface="Wingdings" panose="05000000000000000000" pitchFamily="2" charset="2"/>
              </a:rPr>
              <a:t>    2. </a:t>
            </a:r>
            <a:r>
              <a:rPr lang="ko-KR" altLang="en-US" sz="1400" dirty="0">
                <a:sym typeface="Wingdings" panose="05000000000000000000" pitchFamily="2" charset="2"/>
              </a:rPr>
              <a:t>기본정보 </a:t>
            </a:r>
            <a:r>
              <a:rPr lang="ko-KR" altLang="en-US" sz="1400" dirty="0" err="1">
                <a:sym typeface="Wingdings" panose="05000000000000000000" pitchFamily="2" charset="2"/>
              </a:rPr>
              <a:t>엔터티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– </a:t>
            </a:r>
            <a:r>
              <a:rPr lang="ko-KR" altLang="en-US" sz="1400" dirty="0">
                <a:sym typeface="Wingdings" panose="05000000000000000000" pitchFamily="2" charset="2"/>
              </a:rPr>
              <a:t>기본 기준 정보 데이터 관리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FF0000"/>
                </a:solidFill>
              </a:rPr>
              <a:t>실체 </a:t>
            </a:r>
            <a:r>
              <a:rPr lang="ko-KR" altLang="en-US" sz="1400" b="1" dirty="0" err="1">
                <a:solidFill>
                  <a:srgbClr val="FF0000"/>
                </a:solidFill>
              </a:rPr>
              <a:t>엔터티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/>
              <a:t>: </a:t>
            </a:r>
            <a:r>
              <a:rPr lang="ko-KR" altLang="en-US" sz="1400" dirty="0"/>
              <a:t>실제 물체에 대한 본질적인 데이터를 관리하는 </a:t>
            </a:r>
            <a:r>
              <a:rPr lang="ko-KR" altLang="en-US" sz="1400" dirty="0" err="1"/>
              <a:t>엔터티</a:t>
            </a:r>
            <a:endParaRPr lang="en-US" altLang="ko-KR" sz="1400" dirty="0"/>
          </a:p>
          <a:p>
            <a:r>
              <a:rPr lang="en-US" altLang="ko-KR" sz="1400" dirty="0"/>
              <a:t>    :</a:t>
            </a:r>
            <a:r>
              <a:rPr lang="en-US" altLang="ko-KR" sz="1400" dirty="0">
                <a:sym typeface="Wingdings" panose="05000000000000000000" pitchFamily="2" charset="2"/>
              </a:rPr>
              <a:t> </a:t>
            </a:r>
            <a:r>
              <a:rPr lang="ko-KR" altLang="en-US" sz="1400" dirty="0">
                <a:sym typeface="Wingdings" panose="05000000000000000000" pitchFamily="2" charset="2"/>
              </a:rPr>
              <a:t>만질 수 있는 것이라는 의미보다 </a:t>
            </a:r>
            <a:r>
              <a:rPr lang="ko-KR" altLang="en-US" sz="1400" b="1" u="sng" dirty="0">
                <a:solidFill>
                  <a:srgbClr val="FF0000"/>
                </a:solidFill>
                <a:sym typeface="Wingdings" panose="05000000000000000000" pitchFamily="2" charset="2"/>
              </a:rPr>
              <a:t>본질적인 데이터를 관리한다는 것</a:t>
            </a:r>
            <a:r>
              <a:rPr lang="ko-KR" altLang="en-US" sz="1400" dirty="0">
                <a:sym typeface="Wingdings" panose="05000000000000000000" pitchFamily="2" charset="2"/>
              </a:rPr>
              <a:t>이다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FF0000"/>
                </a:solidFill>
              </a:rPr>
              <a:t>행위 </a:t>
            </a:r>
            <a:r>
              <a:rPr lang="ko-KR" altLang="en-US" sz="1400" b="1" dirty="0" err="1">
                <a:solidFill>
                  <a:srgbClr val="FF0000"/>
                </a:solidFill>
              </a:rPr>
              <a:t>엔터티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/>
              <a:t>: </a:t>
            </a:r>
            <a:r>
              <a:rPr lang="ko-KR" altLang="en-US" sz="1400" dirty="0"/>
              <a:t>행위나 활동으로 발생한 원천 데이터를 관리하는 </a:t>
            </a:r>
            <a:r>
              <a:rPr lang="ko-KR" altLang="en-US" sz="1400" dirty="0" err="1"/>
              <a:t>엔터티</a:t>
            </a:r>
            <a:endParaRPr lang="en-US" altLang="ko-KR" sz="1400" dirty="0"/>
          </a:p>
          <a:p>
            <a:r>
              <a:rPr lang="en-US" altLang="ko-KR" sz="1400" dirty="0"/>
              <a:t>    :</a:t>
            </a:r>
            <a:r>
              <a:rPr lang="en-US" altLang="ko-KR" sz="1400" dirty="0">
                <a:sym typeface="Wingdings" panose="05000000000000000000" pitchFamily="2" charset="2"/>
              </a:rPr>
              <a:t> </a:t>
            </a:r>
            <a:r>
              <a:rPr lang="ko-KR" altLang="en-US" sz="1400" b="1" u="sng" dirty="0" err="1">
                <a:solidFill>
                  <a:srgbClr val="FF0000"/>
                </a:solidFill>
                <a:sym typeface="Wingdings" panose="05000000000000000000" pitchFamily="2" charset="2"/>
              </a:rPr>
              <a:t>엔터티</a:t>
            </a:r>
            <a:r>
              <a:rPr lang="ko-KR" altLang="en-US" sz="1400" b="1" u="sng" dirty="0">
                <a:solidFill>
                  <a:srgbClr val="FF0000"/>
                </a:solidFill>
                <a:sym typeface="Wingdings" panose="05000000000000000000" pitchFamily="2" charset="2"/>
              </a:rPr>
              <a:t> 중에 가장 많은 </a:t>
            </a:r>
            <a:r>
              <a:rPr lang="ko-KR" altLang="en-US" sz="1400" b="1" u="sng" dirty="0" err="1">
                <a:solidFill>
                  <a:srgbClr val="FF0000"/>
                </a:solidFill>
                <a:sym typeface="Wingdings" panose="05000000000000000000" pitchFamily="2" charset="2"/>
              </a:rPr>
              <a:t>엔터티가</a:t>
            </a:r>
            <a:r>
              <a:rPr lang="ko-KR" altLang="en-US" sz="1400" dirty="0">
                <a:sym typeface="Wingdings" panose="05000000000000000000" pitchFamily="2" charset="2"/>
              </a:rPr>
              <a:t> 행위 </a:t>
            </a:r>
            <a:r>
              <a:rPr lang="ko-KR" altLang="en-US" sz="1400" dirty="0" err="1">
                <a:sym typeface="Wingdings" panose="05000000000000000000" pitchFamily="2" charset="2"/>
              </a:rPr>
              <a:t>엔터티다</a:t>
            </a:r>
            <a:r>
              <a:rPr lang="en-US" altLang="ko-KR" sz="1400" dirty="0">
                <a:sym typeface="Wingdings" panose="05000000000000000000" pitchFamily="2" charset="2"/>
              </a:rPr>
              <a:t>. </a:t>
            </a:r>
          </a:p>
          <a:p>
            <a:r>
              <a:rPr lang="en-US" altLang="ko-KR" sz="1400" dirty="0">
                <a:sym typeface="Wingdings" panose="05000000000000000000" pitchFamily="2" charset="2"/>
              </a:rPr>
              <a:t>    </a:t>
            </a:r>
            <a:r>
              <a:rPr lang="en-US" altLang="ko-KR" sz="1400" dirty="0"/>
              <a:t>:</a:t>
            </a:r>
            <a:r>
              <a:rPr lang="en-US" altLang="ko-KR" sz="1400" dirty="0">
                <a:sym typeface="Wingdings" panose="05000000000000000000" pitchFamily="2" charset="2"/>
              </a:rPr>
              <a:t> </a:t>
            </a:r>
            <a:r>
              <a:rPr lang="ko-KR" altLang="en-US" sz="1400" b="1" u="sng" dirty="0">
                <a:sym typeface="Wingdings" panose="05000000000000000000" pitchFamily="2" charset="2"/>
              </a:rPr>
              <a:t>모델링 시 가장 많은 시간이 소요</a:t>
            </a:r>
            <a:r>
              <a:rPr lang="en-US" altLang="ko-KR" sz="1400" b="1" u="sng" dirty="0">
                <a:sym typeface="Wingdings" panose="05000000000000000000" pitchFamily="2" charset="2"/>
              </a:rPr>
              <a:t>.</a:t>
            </a:r>
          </a:p>
          <a:p>
            <a:r>
              <a:rPr lang="en-US" altLang="ko-KR" sz="1400" dirty="0">
                <a:sym typeface="Wingdings" panose="05000000000000000000" pitchFamily="2" charset="2"/>
              </a:rPr>
              <a:t>    : </a:t>
            </a:r>
            <a:r>
              <a:rPr lang="ko-KR" altLang="en-US" sz="1400" dirty="0">
                <a:sym typeface="Wingdings" panose="05000000000000000000" pitchFamily="2" charset="2"/>
              </a:rPr>
              <a:t>주식별자가 복잡 </a:t>
            </a:r>
            <a:r>
              <a:rPr lang="en-US" altLang="ko-KR" sz="1400" dirty="0">
                <a:sym typeface="Wingdings" panose="05000000000000000000" pitchFamily="2" charset="2"/>
              </a:rPr>
              <a:t> : </a:t>
            </a:r>
            <a:r>
              <a:rPr lang="ko-KR" altLang="en-US" sz="1400" b="1" u="sng" dirty="0">
                <a:sym typeface="Wingdings" panose="05000000000000000000" pitchFamily="2" charset="2"/>
              </a:rPr>
              <a:t>누가</a:t>
            </a:r>
            <a:r>
              <a:rPr lang="ko-KR" altLang="en-US" sz="1400" b="1" u="sng" dirty="0"/>
              <a:t> • 무엇을 • 언제 • 어떻게 • 어디에서 </a:t>
            </a:r>
            <a:r>
              <a:rPr lang="en-US" altLang="ko-KR" sz="1400" b="1" u="sng" dirty="0"/>
              <a:t>(4W</a:t>
            </a:r>
            <a:r>
              <a:rPr lang="ko-KR" altLang="en-US" sz="1400" b="1" u="sng" dirty="0"/>
              <a:t> • </a:t>
            </a:r>
            <a:r>
              <a:rPr lang="en-US" altLang="ko-KR" sz="1400" b="1" u="sng" dirty="0"/>
              <a:t>1H)</a:t>
            </a:r>
          </a:p>
          <a:p>
            <a:r>
              <a:rPr lang="en-US" altLang="ko-KR" sz="1400" dirty="0"/>
              <a:t>    </a:t>
            </a:r>
            <a:r>
              <a:rPr lang="en-US" altLang="ko-KR" sz="1400" dirty="0">
                <a:sym typeface="Wingdings" panose="05000000000000000000" pitchFamily="2" charset="2"/>
              </a:rPr>
              <a:t>: </a:t>
            </a:r>
            <a:r>
              <a:rPr lang="ko-KR" altLang="en-US" sz="1400" dirty="0">
                <a:sym typeface="Wingdings" panose="05000000000000000000" pitchFamily="2" charset="2"/>
              </a:rPr>
              <a:t>중복이 많다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r>
              <a:rPr lang="en-US" altLang="ko-KR" sz="1400" dirty="0">
                <a:sym typeface="Wingdings" panose="05000000000000000000" pitchFamily="2" charset="2"/>
              </a:rPr>
              <a:t>    : </a:t>
            </a:r>
            <a:r>
              <a:rPr lang="ko-KR" altLang="en-US" sz="1400" dirty="0">
                <a:sym typeface="Wingdings" panose="05000000000000000000" pitchFamily="2" charset="2"/>
              </a:rPr>
              <a:t>최대한 통합하는 것이 좋다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FF0000"/>
                </a:solidFill>
              </a:rPr>
              <a:t>가공 </a:t>
            </a:r>
            <a:r>
              <a:rPr lang="ko-KR" altLang="en-US" sz="1400" b="1" dirty="0" err="1">
                <a:solidFill>
                  <a:srgbClr val="FF0000"/>
                </a:solidFill>
              </a:rPr>
              <a:t>엔터티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/>
              <a:t>: </a:t>
            </a:r>
            <a:r>
              <a:rPr lang="ko-KR" altLang="en-US" sz="1400" dirty="0"/>
              <a:t>원천 데이터를 추출</a:t>
            </a:r>
            <a:r>
              <a:rPr lang="en-US" altLang="ko-KR" sz="1400" dirty="0"/>
              <a:t>.</a:t>
            </a:r>
            <a:r>
              <a:rPr lang="ko-KR" altLang="en-US" sz="1400" dirty="0"/>
              <a:t>집계한 데이터를 관리하는 </a:t>
            </a:r>
            <a:r>
              <a:rPr lang="ko-KR" altLang="en-US" sz="1400" dirty="0" err="1"/>
              <a:t>엔터티</a:t>
            </a:r>
            <a:endParaRPr lang="en-US" altLang="ko-KR" sz="1400" dirty="0"/>
          </a:p>
          <a:p>
            <a:r>
              <a:rPr lang="en-US" altLang="ko-KR" sz="1400" dirty="0"/>
              <a:t>    </a:t>
            </a:r>
            <a:r>
              <a:rPr lang="en-US" altLang="ko-KR" sz="1400" dirty="0">
                <a:sym typeface="Wingdings" panose="05000000000000000000" pitchFamily="2" charset="2"/>
              </a:rPr>
              <a:t>: </a:t>
            </a:r>
            <a:r>
              <a:rPr lang="ko-KR" altLang="en-US" sz="1400" dirty="0">
                <a:sym typeface="Wingdings" panose="05000000000000000000" pitchFamily="2" charset="2"/>
              </a:rPr>
              <a:t>업무에 따라 가공 </a:t>
            </a:r>
            <a:r>
              <a:rPr lang="ko-KR" altLang="en-US" sz="1400" dirty="0" err="1">
                <a:sym typeface="Wingdings" panose="05000000000000000000" pitchFamily="2" charset="2"/>
              </a:rPr>
              <a:t>엔터티가</a:t>
            </a:r>
            <a:r>
              <a:rPr lang="ko-KR" altLang="en-US" sz="1400" dirty="0">
                <a:sym typeface="Wingdings" panose="05000000000000000000" pitchFamily="2" charset="2"/>
              </a:rPr>
              <a:t> 월등히 많아 지기도 한다</a:t>
            </a:r>
            <a:r>
              <a:rPr lang="en-US" altLang="ko-KR" sz="1400" dirty="0">
                <a:sym typeface="Wingdings" panose="05000000000000000000" pitchFamily="2" charset="2"/>
              </a:rPr>
              <a:t>. </a:t>
            </a:r>
          </a:p>
          <a:p>
            <a:r>
              <a:rPr lang="ko-KR" altLang="en-US" sz="1400" dirty="0">
                <a:sym typeface="Wingdings" panose="05000000000000000000" pitchFamily="2" charset="2"/>
              </a:rPr>
              <a:t>    </a:t>
            </a:r>
            <a:r>
              <a:rPr lang="en-US" altLang="ko-KR" sz="1400" dirty="0">
                <a:sym typeface="Wingdings" panose="05000000000000000000" pitchFamily="2" charset="2"/>
              </a:rPr>
              <a:t>: </a:t>
            </a:r>
            <a:r>
              <a:rPr lang="ko-KR" altLang="en-US" sz="1400" dirty="0">
                <a:sym typeface="Wingdings" panose="05000000000000000000" pitchFamily="2" charset="2"/>
              </a:rPr>
              <a:t>많은 만큼 제대로 설계하면 시스템 전체가 깔끔해 진다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  <a:endParaRPr lang="ko-KR" altLang="en-US" sz="1400" dirty="0">
              <a:sym typeface="Wingdings" panose="05000000000000000000" pitchFamily="2" charset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B2A381-9513-9BED-5DDA-429904278EC1}"/>
              </a:ext>
            </a:extLst>
          </p:cNvPr>
          <p:cNvSpPr txBox="1"/>
          <p:nvPr/>
        </p:nvSpPr>
        <p:spPr>
          <a:xfrm>
            <a:off x="726977" y="1785218"/>
            <a:ext cx="2163097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ko-KR" sz="1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200" b="1" dirty="0"/>
          </a:p>
          <a:p>
            <a:pPr algn="ctr"/>
            <a:r>
              <a:rPr lang="en-US" altLang="ko-KR" sz="2000" b="1" dirty="0"/>
              <a:t>&lt;</a:t>
            </a:r>
            <a:r>
              <a:rPr lang="ko-KR" altLang="en-US" sz="2000" b="1" dirty="0"/>
              <a:t>설계 순서</a:t>
            </a:r>
            <a:r>
              <a:rPr lang="en-US" altLang="ko-KR" sz="2000" b="1" dirty="0"/>
              <a:t>&gt; </a:t>
            </a:r>
          </a:p>
          <a:p>
            <a:pPr algn="ctr"/>
            <a:r>
              <a:rPr lang="ko-KR" altLang="en-US" sz="2400" b="1" dirty="0">
                <a:sym typeface="Wingdings" panose="05000000000000000000" pitchFamily="2" charset="2"/>
              </a:rPr>
              <a:t>실체</a:t>
            </a:r>
            <a:endParaRPr lang="en-US" altLang="ko-KR" sz="2400" b="1" dirty="0">
              <a:sym typeface="Wingdings" panose="05000000000000000000" pitchFamily="2" charset="2"/>
            </a:endParaRPr>
          </a:p>
          <a:p>
            <a:pPr algn="ctr"/>
            <a:r>
              <a:rPr lang="en-US" altLang="ko-KR" sz="2400" b="1" dirty="0">
                <a:sym typeface="Wingdings" panose="05000000000000000000" pitchFamily="2" charset="2"/>
              </a:rPr>
              <a:t>↓ </a:t>
            </a:r>
          </a:p>
          <a:p>
            <a:pPr algn="ctr"/>
            <a:r>
              <a:rPr lang="ko-KR" altLang="en-US" sz="2400" b="1" dirty="0"/>
              <a:t>기준 </a:t>
            </a:r>
            <a:endParaRPr lang="en-US" altLang="ko-KR" sz="2400" b="1" dirty="0"/>
          </a:p>
          <a:p>
            <a:pPr algn="ctr"/>
            <a:r>
              <a:rPr lang="en-US" altLang="ko-KR" sz="2400" b="1" dirty="0">
                <a:sym typeface="Wingdings" panose="05000000000000000000" pitchFamily="2" charset="2"/>
              </a:rPr>
              <a:t>↓</a:t>
            </a:r>
          </a:p>
          <a:p>
            <a:pPr algn="ctr"/>
            <a:r>
              <a:rPr lang="ko-KR" altLang="en-US" sz="2400" b="1" dirty="0">
                <a:sym typeface="Wingdings" panose="05000000000000000000" pitchFamily="2" charset="2"/>
              </a:rPr>
              <a:t>행위 </a:t>
            </a:r>
            <a:endParaRPr lang="en-US" altLang="ko-KR" sz="2400" b="1" dirty="0">
              <a:sym typeface="Wingdings" panose="05000000000000000000" pitchFamily="2" charset="2"/>
            </a:endParaRPr>
          </a:p>
          <a:p>
            <a:pPr algn="ctr"/>
            <a:r>
              <a:rPr lang="en-US" altLang="ko-KR" sz="2400" b="1" dirty="0">
                <a:sym typeface="Wingdings" panose="05000000000000000000" pitchFamily="2" charset="2"/>
              </a:rPr>
              <a:t>↓ </a:t>
            </a:r>
          </a:p>
          <a:p>
            <a:pPr algn="ctr"/>
            <a:r>
              <a:rPr lang="ko-KR" altLang="en-US" sz="2400" b="1" dirty="0">
                <a:sym typeface="Wingdings" panose="05000000000000000000" pitchFamily="2" charset="2"/>
              </a:rPr>
              <a:t>가공</a:t>
            </a:r>
            <a:endParaRPr lang="ko-KR" altLang="en-US" sz="2800" b="1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57DBCAD-E4C0-D3EC-A168-17D78C4BC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0998" y="1273235"/>
            <a:ext cx="1362265" cy="11431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FF6439-2D14-E304-E819-B61DEFED0086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600" dirty="0" err="1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엔터티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(Entity)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936B4D-5697-4584-725A-6368D09D99DC}"/>
              </a:ext>
            </a:extLst>
          </p:cNvPr>
          <p:cNvSpPr txBox="1">
            <a:spLocks/>
          </p:cNvSpPr>
          <p:nvPr/>
        </p:nvSpPr>
        <p:spPr>
          <a:xfrm>
            <a:off x="4724400" y="644983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ctr"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414D9B4-A085-4D58-9827-DD73C3602634}" type="slidenum">
              <a:rPr lang="ko-KR" altLang="en-US"/>
              <a:pPr/>
              <a:t>5</a:t>
            </a:fld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042179A-A261-79F8-50CF-2B14297315BB}"/>
              </a:ext>
            </a:extLst>
          </p:cNvPr>
          <p:cNvCxnSpPr/>
          <p:nvPr/>
        </p:nvCxnSpPr>
        <p:spPr>
          <a:xfrm>
            <a:off x="327378" y="835374"/>
            <a:ext cx="11525955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35B8A1C-02E0-848B-39B8-3A3C01F6F85E}"/>
              </a:ext>
            </a:extLst>
          </p:cNvPr>
          <p:cNvCxnSpPr/>
          <p:nvPr/>
        </p:nvCxnSpPr>
        <p:spPr>
          <a:xfrm>
            <a:off x="333022" y="6446662"/>
            <a:ext cx="1152595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ECB4220-02B0-4B81-B174-2B54E59DF4B4}"/>
              </a:ext>
            </a:extLst>
          </p:cNvPr>
          <p:cNvSpPr/>
          <p:nvPr/>
        </p:nvSpPr>
        <p:spPr>
          <a:xfrm>
            <a:off x="10110998" y="2706244"/>
            <a:ext cx="1362265" cy="615454"/>
          </a:xfrm>
          <a:prstGeom prst="roundRect">
            <a:avLst>
              <a:gd name="adj" fmla="val 258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책</a:t>
            </a:r>
            <a:r>
              <a:rPr lang="en-US" altLang="ko-KR" sz="1050" dirty="0"/>
              <a:t>-</a:t>
            </a:r>
            <a:r>
              <a:rPr lang="ko-KR" altLang="en-US" sz="1200" b="1" dirty="0" err="1">
                <a:solidFill>
                  <a:srgbClr val="FFFF00"/>
                </a:solidFill>
              </a:rPr>
              <a:t>기준엔터티</a:t>
            </a:r>
            <a:endParaRPr lang="en-US" altLang="ko-KR" sz="1050" b="1" dirty="0">
              <a:solidFill>
                <a:srgbClr val="FFFF00"/>
              </a:solidFill>
            </a:endParaRPr>
          </a:p>
          <a:p>
            <a:pPr algn="ctr"/>
            <a:r>
              <a:rPr lang="ko-KR" altLang="en-US" sz="1050" dirty="0"/>
              <a:t>대표정보입력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36F1B77-1B15-4CE8-BD95-06C95B1D0AAA}"/>
              </a:ext>
            </a:extLst>
          </p:cNvPr>
          <p:cNvSpPr/>
          <p:nvPr/>
        </p:nvSpPr>
        <p:spPr>
          <a:xfrm>
            <a:off x="10110998" y="4012923"/>
            <a:ext cx="1362265" cy="615454"/>
          </a:xfrm>
          <a:prstGeom prst="roundRect">
            <a:avLst>
              <a:gd name="adj" fmla="val 258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책</a:t>
            </a:r>
            <a:r>
              <a:rPr lang="en-US" altLang="ko-KR" sz="1050" dirty="0"/>
              <a:t>-</a:t>
            </a:r>
            <a:r>
              <a:rPr lang="ko-KR" altLang="en-US" sz="1200" b="1" dirty="0" err="1">
                <a:solidFill>
                  <a:srgbClr val="FFFF00"/>
                </a:solidFill>
              </a:rPr>
              <a:t>실체엔터티</a:t>
            </a:r>
            <a:endParaRPr lang="en-US" altLang="ko-KR" sz="1050" b="1" dirty="0">
              <a:solidFill>
                <a:srgbClr val="FFFF00"/>
              </a:solidFill>
            </a:endParaRPr>
          </a:p>
          <a:p>
            <a:pPr algn="ctr"/>
            <a:r>
              <a:rPr lang="ko-KR" altLang="en-US" sz="1050" dirty="0"/>
              <a:t>출판된 </a:t>
            </a:r>
            <a:r>
              <a:rPr lang="ko-KR" altLang="en-US" sz="1050" dirty="0" err="1"/>
              <a:t>개별책</a:t>
            </a:r>
            <a:endParaRPr lang="ko-KR" altLang="en-US" sz="1050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D2A3BB5-5417-4F4E-AC9A-5FB0DC75DC40}"/>
              </a:ext>
            </a:extLst>
          </p:cNvPr>
          <p:cNvCxnSpPr>
            <a:cxnSpLocks/>
            <a:stCxn id="5" idx="2"/>
            <a:endCxn id="17" idx="0"/>
          </p:cNvCxnSpPr>
          <p:nvPr/>
        </p:nvCxnSpPr>
        <p:spPr>
          <a:xfrm>
            <a:off x="10792131" y="3321698"/>
            <a:ext cx="0" cy="6912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165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058A0BAC-AF3B-8B29-9A39-799323904251}"/>
              </a:ext>
            </a:extLst>
          </p:cNvPr>
          <p:cNvSpPr/>
          <p:nvPr/>
        </p:nvSpPr>
        <p:spPr>
          <a:xfrm>
            <a:off x="726978" y="1279018"/>
            <a:ext cx="2163097" cy="509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기본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내역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상세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1ADB5C-269F-3129-FD00-C71E8770A20B}"/>
              </a:ext>
            </a:extLst>
          </p:cNvPr>
          <p:cNvSpPr txBox="1"/>
          <p:nvPr/>
        </p:nvSpPr>
        <p:spPr>
          <a:xfrm>
            <a:off x="3216723" y="1255135"/>
            <a:ext cx="8633153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FF0000"/>
                </a:solidFill>
              </a:rPr>
              <a:t>기본 </a:t>
            </a:r>
            <a:r>
              <a:rPr lang="ko-KR" altLang="en-US" sz="1400" b="1" dirty="0" err="1">
                <a:solidFill>
                  <a:srgbClr val="FF0000"/>
                </a:solidFill>
              </a:rPr>
              <a:t>엔터티</a:t>
            </a:r>
            <a:r>
              <a:rPr lang="ko-KR" altLang="en-US" sz="1200" b="1" dirty="0">
                <a:solidFill>
                  <a:srgbClr val="FF0000"/>
                </a:solidFill>
              </a:rPr>
              <a:t>  </a:t>
            </a:r>
            <a:r>
              <a:rPr lang="en-US" altLang="ko-KR" sz="1200" b="1" dirty="0">
                <a:solidFill>
                  <a:srgbClr val="FF0000"/>
                </a:solidFill>
              </a:rPr>
              <a:t>(=</a:t>
            </a:r>
            <a:r>
              <a:rPr lang="ko-KR" altLang="en-US" sz="1200" b="1" dirty="0">
                <a:solidFill>
                  <a:srgbClr val="FF0000"/>
                </a:solidFill>
              </a:rPr>
              <a:t>실체 </a:t>
            </a:r>
            <a:r>
              <a:rPr lang="ko-KR" altLang="en-US" sz="1200" b="1" dirty="0" err="1">
                <a:solidFill>
                  <a:srgbClr val="FF0000"/>
                </a:solidFill>
              </a:rPr>
              <a:t>엔터티</a:t>
            </a:r>
            <a:r>
              <a:rPr lang="en-US" altLang="ko-KR" sz="1200" b="1" dirty="0">
                <a:solidFill>
                  <a:srgbClr val="FF0000"/>
                </a:solidFill>
              </a:rPr>
              <a:t>)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400" dirty="0"/>
              <a:t>    : </a:t>
            </a:r>
            <a:r>
              <a:rPr lang="ko-KR" altLang="en-US" sz="1400" dirty="0"/>
              <a:t>기본 </a:t>
            </a:r>
            <a:r>
              <a:rPr lang="ko-KR" altLang="en-US" sz="1400" dirty="0" err="1"/>
              <a:t>엔터티는</a:t>
            </a:r>
            <a:r>
              <a:rPr lang="ko-KR" altLang="en-US" sz="1400" dirty="0"/>
              <a:t> 기본적으로 </a:t>
            </a:r>
            <a:r>
              <a:rPr lang="ko-KR" altLang="en-US" sz="1400" b="1" dirty="0">
                <a:solidFill>
                  <a:srgbClr val="FF0000"/>
                </a:solidFill>
              </a:rPr>
              <a:t>실체 </a:t>
            </a:r>
            <a:r>
              <a:rPr lang="ko-KR" altLang="en-US" sz="1400" b="1" dirty="0" err="1">
                <a:solidFill>
                  <a:srgbClr val="FF0000"/>
                </a:solidFill>
              </a:rPr>
              <a:t>엔터티와</a:t>
            </a:r>
            <a:r>
              <a:rPr lang="ko-KR" altLang="en-US" sz="1400" dirty="0"/>
              <a:t> 같다</a:t>
            </a:r>
            <a:r>
              <a:rPr lang="en-US" altLang="ko-KR" sz="1400" dirty="0"/>
              <a:t>.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r>
              <a:rPr lang="en-US" altLang="ko-KR" sz="1400" dirty="0"/>
              <a:t>    : </a:t>
            </a:r>
            <a:r>
              <a:rPr lang="ko-KR" altLang="en-US" sz="1400" dirty="0" err="1"/>
              <a:t>엔터티에</a:t>
            </a:r>
            <a:r>
              <a:rPr lang="ko-KR" altLang="en-US" sz="1400" dirty="0"/>
              <a:t> 저장하는 데이터가 실제 물체</a:t>
            </a:r>
            <a:r>
              <a:rPr lang="en-US" altLang="ko-KR" sz="1400" dirty="0"/>
              <a:t>(</a:t>
            </a:r>
            <a:r>
              <a:rPr lang="ko-KR" altLang="en-US" sz="1400" dirty="0"/>
              <a:t>보이는 실상</a:t>
            </a:r>
            <a:r>
              <a:rPr lang="en-US" altLang="ko-KR" sz="1400" dirty="0"/>
              <a:t>)</a:t>
            </a:r>
            <a:r>
              <a:rPr lang="ko-KR" altLang="en-US" sz="1400" dirty="0"/>
              <a:t>를 의미하는 데이터라면 </a:t>
            </a:r>
            <a:endParaRPr lang="en-US" altLang="ko-KR" sz="1400" dirty="0"/>
          </a:p>
          <a:p>
            <a:r>
              <a:rPr lang="en-US" altLang="ko-KR" sz="1400" dirty="0"/>
              <a:t>    : </a:t>
            </a:r>
            <a:r>
              <a:rPr lang="ko-KR" altLang="en-US" sz="1400" dirty="0"/>
              <a:t>실체 </a:t>
            </a:r>
            <a:r>
              <a:rPr lang="ko-KR" altLang="en-US" sz="1400" dirty="0" err="1"/>
              <a:t>엔터티며</a:t>
            </a:r>
            <a:r>
              <a:rPr lang="ko-KR" altLang="en-US" sz="1400" dirty="0"/>
              <a:t> 기본 </a:t>
            </a:r>
            <a:r>
              <a:rPr lang="ko-KR" altLang="en-US" sz="1400" dirty="0" err="1"/>
              <a:t>엔터티다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    : </a:t>
            </a:r>
            <a:r>
              <a:rPr lang="ko-KR" altLang="en-US" sz="1400" dirty="0"/>
              <a:t>중요 </a:t>
            </a:r>
            <a:r>
              <a:rPr lang="ko-KR" altLang="en-US" sz="1400" dirty="0" err="1"/>
              <a:t>엔터티라고</a:t>
            </a:r>
            <a:r>
              <a:rPr lang="ko-KR" altLang="en-US" sz="1400" dirty="0"/>
              <a:t> 분류하기도 한다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FF0000"/>
                </a:solidFill>
              </a:rPr>
              <a:t>내역 </a:t>
            </a:r>
            <a:r>
              <a:rPr lang="ko-KR" altLang="en-US" sz="1400" b="1" dirty="0" err="1">
                <a:solidFill>
                  <a:srgbClr val="FF0000"/>
                </a:solidFill>
              </a:rPr>
              <a:t>엔터티</a:t>
            </a:r>
            <a:r>
              <a:rPr lang="ko-KR" altLang="en-US" sz="1200" b="1" dirty="0">
                <a:solidFill>
                  <a:srgbClr val="FF0000"/>
                </a:solidFill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</a:rPr>
              <a:t>(=</a:t>
            </a:r>
            <a:r>
              <a:rPr lang="ko-KR" altLang="en-US" sz="1200" b="1" dirty="0">
                <a:solidFill>
                  <a:srgbClr val="FF0000"/>
                </a:solidFill>
              </a:rPr>
              <a:t>행위 </a:t>
            </a:r>
            <a:r>
              <a:rPr lang="ko-KR" altLang="en-US" sz="1200" b="1" dirty="0" err="1">
                <a:solidFill>
                  <a:srgbClr val="FF0000"/>
                </a:solidFill>
              </a:rPr>
              <a:t>엔터티</a:t>
            </a:r>
            <a:r>
              <a:rPr lang="en-US" altLang="ko-KR" sz="1200" b="1" dirty="0">
                <a:solidFill>
                  <a:srgbClr val="FF0000"/>
                </a:solidFill>
              </a:rPr>
              <a:t>)</a:t>
            </a:r>
            <a:endParaRPr lang="en-US" altLang="ko-KR" sz="1400" b="1" dirty="0">
              <a:solidFill>
                <a:srgbClr val="FF0000"/>
              </a:solidFill>
            </a:endParaRPr>
          </a:p>
          <a:p>
            <a:r>
              <a:rPr lang="en-US" altLang="ko-KR" sz="1400" dirty="0">
                <a:sym typeface="Wingdings" panose="05000000000000000000" pitchFamily="2" charset="2"/>
              </a:rPr>
              <a:t>    : </a:t>
            </a:r>
            <a:r>
              <a:rPr lang="ko-KR" altLang="en-US" sz="1400" dirty="0">
                <a:sym typeface="Wingdings" panose="05000000000000000000" pitchFamily="2" charset="2"/>
              </a:rPr>
              <a:t>내역 </a:t>
            </a:r>
            <a:r>
              <a:rPr lang="ko-KR" altLang="en-US" sz="1400" dirty="0" err="1">
                <a:sym typeface="Wingdings" panose="05000000000000000000" pitchFamily="2" charset="2"/>
              </a:rPr>
              <a:t>엔터티는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행위 </a:t>
            </a:r>
            <a:r>
              <a:rPr lang="ko-KR" altLang="en-US" sz="1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엔터티와</a:t>
            </a:r>
            <a:r>
              <a:rPr lang="ko-KR" altLang="en-US" sz="1400" dirty="0">
                <a:sym typeface="Wingdings" panose="05000000000000000000" pitchFamily="2" charset="2"/>
              </a:rPr>
              <a:t> 유사하다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r>
              <a:rPr lang="en-US" altLang="ko-KR" sz="1400" dirty="0">
                <a:sym typeface="Wingdings" panose="05000000000000000000" pitchFamily="2" charset="2"/>
              </a:rPr>
              <a:t>    : </a:t>
            </a:r>
            <a:r>
              <a:rPr lang="ko-KR" altLang="en-US" sz="1400" dirty="0">
                <a:sym typeface="Wingdings" panose="05000000000000000000" pitchFamily="2" charset="2"/>
              </a:rPr>
              <a:t>활동이나 행위에 의해 발생 한 데이터를 관리하는 </a:t>
            </a:r>
            <a:r>
              <a:rPr lang="ko-KR" altLang="en-US" sz="1400" b="1" dirty="0">
                <a:sym typeface="Wingdings" panose="05000000000000000000" pitchFamily="2" charset="2"/>
              </a:rPr>
              <a:t>행위 </a:t>
            </a:r>
            <a:r>
              <a:rPr lang="ko-KR" altLang="en-US" sz="1400" b="1" dirty="0" err="1">
                <a:sym typeface="Wingdings" panose="05000000000000000000" pitchFamily="2" charset="2"/>
              </a:rPr>
              <a:t>엔터티가</a:t>
            </a:r>
            <a:r>
              <a:rPr lang="ko-KR" altLang="en-US" sz="1400" dirty="0">
                <a:sym typeface="Wingdings" panose="05000000000000000000" pitchFamily="2" charset="2"/>
              </a:rPr>
              <a:t> 내역 </a:t>
            </a:r>
            <a:r>
              <a:rPr lang="ko-KR" altLang="en-US" sz="1400" dirty="0" err="1">
                <a:sym typeface="Wingdings" panose="05000000000000000000" pitchFamily="2" charset="2"/>
              </a:rPr>
              <a:t>엔터티다</a:t>
            </a:r>
            <a:r>
              <a:rPr lang="en-US" altLang="ko-KR" sz="1400" dirty="0">
                <a:sym typeface="Wingdings" panose="05000000000000000000" pitchFamily="2" charset="2"/>
              </a:rPr>
              <a:t>. </a:t>
            </a:r>
          </a:p>
          <a:p>
            <a:r>
              <a:rPr lang="en-US" altLang="ko-KR" sz="1400" dirty="0">
                <a:sym typeface="Wingdings" panose="05000000000000000000" pitchFamily="2" charset="2"/>
              </a:rPr>
              <a:t>    : </a:t>
            </a:r>
            <a:r>
              <a:rPr lang="ko-KR" altLang="en-US" sz="1400" dirty="0">
                <a:sym typeface="Wingdings" panose="05000000000000000000" pitchFamily="2" charset="2"/>
              </a:rPr>
              <a:t>만약이 분류법을 사용해서 </a:t>
            </a:r>
            <a:r>
              <a:rPr lang="ko-KR" altLang="en-US" sz="1400" dirty="0" err="1">
                <a:sym typeface="Wingdings" panose="05000000000000000000" pitchFamily="2" charset="2"/>
              </a:rPr>
              <a:t>엔터티</a:t>
            </a:r>
            <a:r>
              <a:rPr lang="ko-KR" altLang="en-US" sz="1400" dirty="0">
                <a:sym typeface="Wingdings" panose="05000000000000000000" pitchFamily="2" charset="2"/>
              </a:rPr>
              <a:t> 명을 정하면 대다수의 </a:t>
            </a:r>
            <a:r>
              <a:rPr lang="ko-KR" altLang="en-US" sz="1400" dirty="0" err="1">
                <a:sym typeface="Wingdings" panose="05000000000000000000" pitchFamily="2" charset="2"/>
              </a:rPr>
              <a:t>엔터티가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‘~</a:t>
            </a:r>
            <a:r>
              <a:rPr lang="ko-KR" altLang="en-US" sz="1400" dirty="0">
                <a:sym typeface="Wingdings" panose="05000000000000000000" pitchFamily="2" charset="2"/>
              </a:rPr>
              <a:t>내역</a:t>
            </a:r>
            <a:r>
              <a:rPr lang="en-US" altLang="ko-KR" sz="1400" dirty="0">
                <a:sym typeface="Wingdings" panose="05000000000000000000" pitchFamily="2" charset="2"/>
              </a:rPr>
              <a:t>’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ko-KR" altLang="en-US" sz="1400" dirty="0" err="1">
                <a:sym typeface="Wingdings" panose="05000000000000000000" pitchFamily="2" charset="2"/>
              </a:rPr>
              <a:t>엔터티가</a:t>
            </a:r>
            <a:r>
              <a:rPr lang="ko-KR" altLang="en-US" sz="1400" dirty="0">
                <a:sym typeface="Wingdings" panose="05000000000000000000" pitchFamily="2" charset="2"/>
              </a:rPr>
              <a:t> 된다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endParaRPr lang="en-US" altLang="ko-KR" sz="1400" dirty="0">
              <a:sym typeface="Wingdings" panose="05000000000000000000" pitchFamily="2" charset="2"/>
            </a:endParaRPr>
          </a:p>
          <a:p>
            <a:endParaRPr lang="en-US" altLang="ko-KR" sz="14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FF0000"/>
                </a:solidFill>
              </a:rPr>
              <a:t>상세 </a:t>
            </a:r>
            <a:r>
              <a:rPr lang="ko-KR" altLang="en-US" sz="1400" b="1" dirty="0" err="1">
                <a:solidFill>
                  <a:srgbClr val="FF0000"/>
                </a:solidFill>
              </a:rPr>
              <a:t>엔터티</a:t>
            </a:r>
            <a:r>
              <a:rPr lang="ko-KR" altLang="en-US" sz="1200" b="1" dirty="0">
                <a:solidFill>
                  <a:srgbClr val="FF0000"/>
                </a:solidFill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</a:rPr>
              <a:t>(=1:1</a:t>
            </a:r>
            <a:r>
              <a:rPr lang="ko-KR" altLang="en-US" sz="1200" b="1" dirty="0">
                <a:solidFill>
                  <a:srgbClr val="FF0000"/>
                </a:solidFill>
              </a:rPr>
              <a:t>로 수직 분할된 </a:t>
            </a:r>
            <a:r>
              <a:rPr lang="ko-KR" altLang="en-US" sz="1200" b="1" dirty="0" err="1">
                <a:solidFill>
                  <a:srgbClr val="FF0000"/>
                </a:solidFill>
              </a:rPr>
              <a:t>엔터티</a:t>
            </a:r>
            <a:r>
              <a:rPr lang="en-US" altLang="ko-KR" sz="1200" b="1" dirty="0">
                <a:solidFill>
                  <a:srgbClr val="FF0000"/>
                </a:solidFill>
              </a:rPr>
              <a:t>)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/>
              <a:t>- </a:t>
            </a:r>
            <a:r>
              <a:rPr lang="ko-KR" altLang="en-US" sz="1400" dirty="0"/>
              <a:t>가장 혼란스러운 </a:t>
            </a:r>
            <a:r>
              <a:rPr lang="ko-KR" altLang="en-US" sz="1400" dirty="0" err="1"/>
              <a:t>엔터티</a:t>
            </a:r>
            <a:endParaRPr lang="en-US" altLang="ko-KR" sz="1400" dirty="0"/>
          </a:p>
          <a:p>
            <a:r>
              <a:rPr lang="en-US" altLang="ko-KR" sz="1400" b="1" dirty="0">
                <a:sym typeface="Wingdings" panose="05000000000000000000" pitchFamily="2" charset="2"/>
              </a:rPr>
              <a:t>    </a:t>
            </a:r>
            <a:r>
              <a:rPr lang="en-US" altLang="ko-KR" sz="1400" dirty="0">
                <a:sym typeface="Wingdings" panose="05000000000000000000" pitchFamily="2" charset="2"/>
              </a:rPr>
              <a:t>: </a:t>
            </a:r>
            <a:r>
              <a:rPr lang="ko-KR" altLang="en-US" sz="1400" dirty="0">
                <a:sym typeface="Wingdings" panose="05000000000000000000" pitchFamily="2" charset="2"/>
              </a:rPr>
              <a:t>기본 </a:t>
            </a:r>
            <a:r>
              <a:rPr lang="ko-KR" altLang="en-US" sz="1400" dirty="0" err="1">
                <a:sym typeface="Wingdings" panose="05000000000000000000" pitchFamily="2" charset="2"/>
              </a:rPr>
              <a:t>엔터티인지</a:t>
            </a:r>
            <a:r>
              <a:rPr lang="ko-KR" altLang="en-US" sz="1400" dirty="0">
                <a:sym typeface="Wingdings" panose="05000000000000000000" pitchFamily="2" charset="2"/>
              </a:rPr>
              <a:t> 내역 </a:t>
            </a:r>
            <a:r>
              <a:rPr lang="ko-KR" altLang="en-US" sz="1400" dirty="0" err="1">
                <a:sym typeface="Wingdings" panose="05000000000000000000" pitchFamily="2" charset="2"/>
              </a:rPr>
              <a:t>엔터티인지</a:t>
            </a:r>
            <a:r>
              <a:rPr lang="ko-KR" altLang="en-US" sz="1400" dirty="0">
                <a:sym typeface="Wingdings" panose="05000000000000000000" pitchFamily="2" charset="2"/>
              </a:rPr>
              <a:t> 분류하기 혼란스럽다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r>
              <a:rPr lang="en-US" altLang="ko-KR" sz="1400" dirty="0">
                <a:sym typeface="Wingdings" panose="05000000000000000000" pitchFamily="2" charset="2"/>
              </a:rPr>
              <a:t>    : </a:t>
            </a:r>
            <a:r>
              <a:rPr lang="ko-KR" altLang="en-US" sz="1400" dirty="0">
                <a:sym typeface="Wingdings" panose="05000000000000000000" pitchFamily="2" charset="2"/>
              </a:rPr>
              <a:t>상세 </a:t>
            </a:r>
            <a:r>
              <a:rPr lang="ko-KR" altLang="en-US" sz="1400" dirty="0" err="1">
                <a:sym typeface="Wingdings" panose="05000000000000000000" pitchFamily="2" charset="2"/>
              </a:rPr>
              <a:t>엔터티는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ko-KR" altLang="en-US" sz="1400" b="1" u="sng" dirty="0">
                <a:solidFill>
                  <a:srgbClr val="FF0000"/>
                </a:solidFill>
                <a:sym typeface="Wingdings" panose="05000000000000000000" pitchFamily="2" charset="2"/>
              </a:rPr>
              <a:t>한 개의 </a:t>
            </a:r>
            <a:r>
              <a:rPr lang="ko-KR" altLang="en-US" sz="1400" b="1" u="sng" dirty="0" err="1">
                <a:solidFill>
                  <a:srgbClr val="FF0000"/>
                </a:solidFill>
                <a:sym typeface="Wingdings" panose="05000000000000000000" pitchFamily="2" charset="2"/>
              </a:rPr>
              <a:t>엔터티를</a:t>
            </a:r>
            <a:r>
              <a:rPr lang="ko-KR" altLang="en-US" sz="1400" b="1" u="sng" dirty="0">
                <a:solidFill>
                  <a:srgbClr val="FF0000"/>
                </a:solidFill>
                <a:sym typeface="Wingdings" panose="05000000000000000000" pitchFamily="2" charset="2"/>
              </a:rPr>
              <a:t> 일대일</a:t>
            </a:r>
            <a:r>
              <a:rPr lang="en-US" altLang="ko-KR" sz="1400" b="1" u="sng" dirty="0">
                <a:solidFill>
                  <a:srgbClr val="FF0000"/>
                </a:solidFill>
                <a:sym typeface="Wingdings" panose="05000000000000000000" pitchFamily="2" charset="2"/>
              </a:rPr>
              <a:t>(1:1) </a:t>
            </a:r>
            <a:r>
              <a:rPr lang="ko-KR" altLang="en-US" sz="1400" b="1" u="sng" dirty="0">
                <a:solidFill>
                  <a:srgbClr val="FF0000"/>
                </a:solidFill>
                <a:sym typeface="Wingdings" panose="05000000000000000000" pitchFamily="2" charset="2"/>
              </a:rPr>
              <a:t>관계로</a:t>
            </a:r>
            <a:r>
              <a:rPr lang="ko-KR" altLang="en-US" sz="1400" dirty="0">
                <a:sym typeface="Wingdings" panose="05000000000000000000" pitchFamily="2" charset="2"/>
              </a:rPr>
              <a:t> 두 개의 </a:t>
            </a:r>
            <a:r>
              <a:rPr lang="ko-KR" altLang="en-US" sz="1400" dirty="0" err="1">
                <a:sym typeface="Wingdings" panose="05000000000000000000" pitchFamily="2" charset="2"/>
              </a:rPr>
              <a:t>엔터티로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ko-KR" altLang="en-US" sz="1400" b="1" u="sng" dirty="0">
                <a:solidFill>
                  <a:srgbClr val="FF0000"/>
                </a:solidFill>
                <a:sym typeface="Wingdings" panose="05000000000000000000" pitchFamily="2" charset="2"/>
              </a:rPr>
              <a:t>분해할 때</a:t>
            </a:r>
            <a:r>
              <a:rPr lang="ko-KR" altLang="en-US" sz="1400" dirty="0">
                <a:sym typeface="Wingdings" panose="05000000000000000000" pitchFamily="2" charset="2"/>
              </a:rPr>
              <a:t>의</a:t>
            </a:r>
            <a:r>
              <a:rPr lang="en-US" altLang="ko-KR" sz="1400" dirty="0">
                <a:sym typeface="Wingdings" panose="05000000000000000000" pitchFamily="2" charset="2"/>
              </a:rPr>
              <a:t> </a:t>
            </a:r>
          </a:p>
          <a:p>
            <a:r>
              <a:rPr lang="en-US" altLang="ko-KR" sz="1400" dirty="0">
                <a:sym typeface="Wingdings" panose="05000000000000000000" pitchFamily="2" charset="2"/>
              </a:rPr>
              <a:t>    </a:t>
            </a:r>
            <a:r>
              <a:rPr lang="ko-KR" altLang="en-US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하위 </a:t>
            </a:r>
            <a:r>
              <a:rPr lang="ko-KR" altLang="en-US" sz="1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엔터티를</a:t>
            </a:r>
            <a:r>
              <a:rPr lang="ko-KR" altLang="en-US" sz="1400" dirty="0">
                <a:sym typeface="Wingdings" panose="05000000000000000000" pitchFamily="2" charset="2"/>
              </a:rPr>
              <a:t> 의미한다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r>
              <a:rPr lang="en-US" altLang="ko-KR" sz="1400" dirty="0">
                <a:sym typeface="Wingdings" panose="05000000000000000000" pitchFamily="2" charset="2"/>
              </a:rPr>
              <a:t>    : </a:t>
            </a:r>
            <a:r>
              <a:rPr lang="ko-KR" altLang="en-US" sz="1400" dirty="0">
                <a:sym typeface="Wingdings" panose="05000000000000000000" pitchFamily="2" charset="2"/>
              </a:rPr>
              <a:t>주문 </a:t>
            </a:r>
            <a:r>
              <a:rPr lang="ko-KR" altLang="en-US" sz="1400" dirty="0" err="1">
                <a:sym typeface="Wingdings" panose="05000000000000000000" pitchFamily="2" charset="2"/>
              </a:rPr>
              <a:t>엔터티의</a:t>
            </a:r>
            <a:r>
              <a:rPr lang="ko-KR" altLang="en-US" sz="1400" dirty="0">
                <a:sym typeface="Wingdings" panose="05000000000000000000" pitchFamily="2" charset="2"/>
              </a:rPr>
              <a:t> 속성 개수가 너무 많아 빈번하게 사용되지 않는 속성은 별도의 </a:t>
            </a:r>
            <a:r>
              <a:rPr lang="ko-KR" altLang="en-US" sz="1400" dirty="0" err="1">
                <a:sym typeface="Wingdings" panose="05000000000000000000" pitchFamily="2" charset="2"/>
              </a:rPr>
              <a:t>엔터티로</a:t>
            </a:r>
            <a:r>
              <a:rPr lang="ko-KR" altLang="en-US" sz="1400" dirty="0">
                <a:sym typeface="Wingdings" panose="05000000000000000000" pitchFamily="2" charset="2"/>
              </a:rPr>
              <a:t> 분리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r>
              <a:rPr lang="en-US" altLang="ko-KR" sz="1400" dirty="0">
                <a:sym typeface="Wingdings" panose="05000000000000000000" pitchFamily="2" charset="2"/>
              </a:rPr>
              <a:t>     (</a:t>
            </a:r>
            <a:r>
              <a:rPr lang="ko-KR" altLang="en-US" sz="1400" b="1" dirty="0">
                <a:solidFill>
                  <a:srgbClr val="0070C0"/>
                </a:solidFill>
                <a:sym typeface="Wingdings" panose="05000000000000000000" pitchFamily="2" charset="2"/>
              </a:rPr>
              <a:t>일대일 관계로 수직 분할</a:t>
            </a:r>
            <a:r>
              <a:rPr lang="en-US" altLang="ko-KR" sz="1400" dirty="0">
                <a:sym typeface="Wingdings" panose="05000000000000000000" pitchFamily="2" charset="2"/>
              </a:rPr>
              <a:t>)</a:t>
            </a:r>
            <a:r>
              <a:rPr lang="ko-KR" altLang="en-US" sz="1400" dirty="0">
                <a:sym typeface="Wingdings" panose="05000000000000000000" pitchFamily="2" charset="2"/>
              </a:rPr>
              <a:t>했을 때</a:t>
            </a:r>
            <a:r>
              <a:rPr lang="en-US" altLang="ko-KR" sz="1400" dirty="0">
                <a:sym typeface="Wingdings" panose="05000000000000000000" pitchFamily="2" charset="2"/>
              </a:rPr>
              <a:t>, </a:t>
            </a:r>
            <a:r>
              <a:rPr lang="ko-KR" altLang="en-US" sz="1400" b="1" dirty="0">
                <a:solidFill>
                  <a:srgbClr val="0070C0"/>
                </a:solidFill>
                <a:sym typeface="Wingdings" panose="05000000000000000000" pitchFamily="2" charset="2"/>
              </a:rPr>
              <a:t>주문기본</a:t>
            </a:r>
            <a:r>
              <a:rPr lang="ko-KR" altLang="en-US" sz="1400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ko-KR" altLang="en-US" sz="1400" b="1" dirty="0" err="1">
                <a:solidFill>
                  <a:srgbClr val="0070C0"/>
                </a:solidFill>
                <a:sym typeface="Wingdings" panose="05000000000000000000" pitchFamily="2" charset="2"/>
              </a:rPr>
              <a:t>엔터티에</a:t>
            </a:r>
            <a:r>
              <a:rPr lang="ko-KR" altLang="en-US" sz="1400" dirty="0">
                <a:sym typeface="Wingdings" panose="05000000000000000000" pitchFamily="2" charset="2"/>
              </a:rPr>
              <a:t> 대한 </a:t>
            </a:r>
            <a:r>
              <a:rPr lang="ko-KR" altLang="en-US" sz="1400" b="1" dirty="0">
                <a:solidFill>
                  <a:srgbClr val="0070C0"/>
                </a:solidFill>
                <a:sym typeface="Wingdings" panose="05000000000000000000" pitchFamily="2" charset="2"/>
              </a:rPr>
              <a:t>주문상세 </a:t>
            </a:r>
            <a:r>
              <a:rPr lang="ko-KR" altLang="en-US" sz="1400" b="1" dirty="0" err="1">
                <a:solidFill>
                  <a:srgbClr val="0070C0"/>
                </a:solidFill>
                <a:sym typeface="Wingdings" panose="05000000000000000000" pitchFamily="2" charset="2"/>
              </a:rPr>
              <a:t>엔터티로</a:t>
            </a:r>
            <a:r>
              <a:rPr lang="ko-KR" altLang="en-US" sz="1400" dirty="0">
                <a:sym typeface="Wingdings" panose="05000000000000000000" pitchFamily="2" charset="2"/>
              </a:rPr>
              <a:t> 정할 수 있다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DD8DA7-36C0-9F4B-C2A9-966D6DBBFE26}"/>
              </a:ext>
            </a:extLst>
          </p:cNvPr>
          <p:cNvSpPr txBox="1"/>
          <p:nvPr/>
        </p:nvSpPr>
        <p:spPr>
          <a:xfrm>
            <a:off x="866911" y="267132"/>
            <a:ext cx="88586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1.3. </a:t>
            </a:r>
            <a:r>
              <a:rPr lang="ko-KR" altLang="en-US" sz="3200" dirty="0"/>
              <a:t>데이터 생성에 따른 분류법 </a:t>
            </a:r>
            <a:r>
              <a:rPr lang="en-US" altLang="ko-KR" sz="3200" dirty="0"/>
              <a:t>(1/3)</a:t>
            </a:r>
            <a:endParaRPr lang="ko-KR" alt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0E2D4D-C88F-F694-8FC1-E34874DA5F2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600" dirty="0" err="1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엔터티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(Entity)</a:t>
            </a:r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8CF02A12-10A9-BA63-0A06-372AD209E4FE}"/>
              </a:ext>
            </a:extLst>
          </p:cNvPr>
          <p:cNvSpPr txBox="1">
            <a:spLocks/>
          </p:cNvSpPr>
          <p:nvPr/>
        </p:nvSpPr>
        <p:spPr>
          <a:xfrm>
            <a:off x="4724400" y="644983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ctr"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414D9B4-A085-4D58-9827-DD73C3602634}" type="slidenum">
              <a:rPr lang="ko-KR" altLang="en-US"/>
              <a:pPr/>
              <a:t>6</a:t>
            </a:fld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00B0955-862E-7571-2E7A-249A3374877D}"/>
              </a:ext>
            </a:extLst>
          </p:cNvPr>
          <p:cNvCxnSpPr/>
          <p:nvPr/>
        </p:nvCxnSpPr>
        <p:spPr>
          <a:xfrm>
            <a:off x="327378" y="835374"/>
            <a:ext cx="11525955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D810EE5-446F-45FE-6DF2-DF9848233B14}"/>
              </a:ext>
            </a:extLst>
          </p:cNvPr>
          <p:cNvCxnSpPr/>
          <p:nvPr/>
        </p:nvCxnSpPr>
        <p:spPr>
          <a:xfrm>
            <a:off x="333022" y="6446662"/>
            <a:ext cx="1152595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5416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058A0BAC-AF3B-8B29-9A39-799323904251}"/>
              </a:ext>
            </a:extLst>
          </p:cNvPr>
          <p:cNvSpPr/>
          <p:nvPr/>
        </p:nvSpPr>
        <p:spPr>
          <a:xfrm>
            <a:off x="726978" y="1279018"/>
            <a:ext cx="2163097" cy="509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이력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코드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관계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1ADB5C-269F-3129-FD00-C71E8770A20B}"/>
              </a:ext>
            </a:extLst>
          </p:cNvPr>
          <p:cNvSpPr txBox="1"/>
          <p:nvPr/>
        </p:nvSpPr>
        <p:spPr>
          <a:xfrm>
            <a:off x="3216723" y="1255135"/>
            <a:ext cx="8633153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FF0000"/>
                </a:solidFill>
              </a:rPr>
              <a:t>이력 </a:t>
            </a:r>
            <a:r>
              <a:rPr lang="ko-KR" altLang="en-US" sz="1400" b="1" dirty="0" err="1">
                <a:solidFill>
                  <a:srgbClr val="FF0000"/>
                </a:solidFill>
              </a:rPr>
              <a:t>엔터티</a:t>
            </a:r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en-US" altLang="ko-KR" sz="1400" dirty="0"/>
              <a:t>    : </a:t>
            </a:r>
            <a:r>
              <a:rPr lang="ko-KR" altLang="en-US" sz="1400" dirty="0"/>
              <a:t>이력 </a:t>
            </a:r>
            <a:r>
              <a:rPr lang="ko-KR" altLang="en-US" sz="1400" dirty="0" err="1"/>
              <a:t>엔터티</a:t>
            </a:r>
            <a:r>
              <a:rPr lang="ko-KR" altLang="en-US" sz="1400" dirty="0"/>
              <a:t> 는 이미 </a:t>
            </a:r>
            <a:r>
              <a:rPr lang="ko-KR" altLang="en-US" sz="1400" dirty="0" err="1"/>
              <a:t>접미어의</a:t>
            </a:r>
            <a:r>
              <a:rPr lang="ko-KR" altLang="en-US" sz="1400" dirty="0"/>
              <a:t> 의미가 포함된 </a:t>
            </a:r>
            <a:r>
              <a:rPr lang="ko-KR" altLang="en-US" sz="1400" dirty="0" err="1"/>
              <a:t>엔터티다</a:t>
            </a:r>
            <a:r>
              <a:rPr lang="en-US" altLang="ko-KR" sz="1400" dirty="0"/>
              <a:t>. </a:t>
            </a:r>
          </a:p>
          <a:p>
            <a:r>
              <a:rPr lang="en-US" altLang="ko-KR" sz="1400" dirty="0"/>
              <a:t>    : </a:t>
            </a:r>
            <a:r>
              <a:rPr lang="ko-KR" altLang="en-US" sz="1400" dirty="0"/>
              <a:t>주문 데이터의 </a:t>
            </a:r>
            <a:r>
              <a:rPr lang="ko-KR" altLang="en-US" sz="1400" b="1" u="sng" dirty="0">
                <a:solidFill>
                  <a:srgbClr val="FF0000"/>
                </a:solidFill>
              </a:rPr>
              <a:t>이력을 관리하는 </a:t>
            </a:r>
            <a:r>
              <a:rPr lang="ko-KR" altLang="en-US" sz="1400" b="1" u="sng" dirty="0" err="1">
                <a:solidFill>
                  <a:srgbClr val="FF0000"/>
                </a:solidFill>
              </a:rPr>
              <a:t>엔터티</a:t>
            </a:r>
            <a:r>
              <a:rPr lang="ko-KR" altLang="en-US" sz="1400" dirty="0"/>
              <a:t> 명을 정할 때는 </a:t>
            </a:r>
            <a:r>
              <a:rPr lang="en-US" altLang="ko-KR" sz="1400" dirty="0"/>
              <a:t>“</a:t>
            </a:r>
            <a:r>
              <a:rPr lang="ko-KR" altLang="en-US" sz="1400" dirty="0"/>
              <a:t>주문이력</a:t>
            </a:r>
            <a:r>
              <a:rPr lang="en-US" altLang="ko-KR" sz="1400" dirty="0"/>
              <a:t>”</a:t>
            </a:r>
            <a:r>
              <a:rPr lang="ko-KR" altLang="en-US" sz="1400" dirty="0"/>
              <a:t> 이외에는 정할 수가 없다</a:t>
            </a:r>
            <a:r>
              <a:rPr lang="en-US" altLang="ko-KR" sz="1400" dirty="0"/>
              <a:t>. </a:t>
            </a:r>
          </a:p>
          <a:p>
            <a:r>
              <a:rPr lang="en-US" altLang="ko-KR" sz="1400" dirty="0"/>
              <a:t>    : </a:t>
            </a:r>
            <a:r>
              <a:rPr lang="ko-KR" altLang="en-US" sz="1400" dirty="0"/>
              <a:t>즉 이력은 </a:t>
            </a:r>
            <a:r>
              <a:rPr lang="en-US" altLang="ko-KR" sz="1400" dirty="0"/>
              <a:t>“</a:t>
            </a:r>
            <a:r>
              <a:rPr lang="ko-KR" altLang="en-US" sz="1400" dirty="0"/>
              <a:t>주문</a:t>
            </a:r>
            <a:r>
              <a:rPr lang="en-US" altLang="ko-KR" sz="1400" dirty="0"/>
              <a:t>”</a:t>
            </a:r>
            <a:r>
              <a:rPr lang="ko-KR" altLang="en-US" sz="1400" dirty="0"/>
              <a:t>과 같은 하나의 의미를 나타내는 용어다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    </a:t>
            </a:r>
            <a:r>
              <a:rPr lang="en-US" altLang="ko-KR" sz="1400" dirty="0"/>
              <a:t>: </a:t>
            </a:r>
            <a:r>
              <a:rPr lang="ko-KR" altLang="en-US" sz="1400" dirty="0"/>
              <a:t>이력 성격의 </a:t>
            </a:r>
            <a:r>
              <a:rPr lang="ko-KR" altLang="en-US" sz="1400" dirty="0" err="1"/>
              <a:t>엔터티</a:t>
            </a:r>
            <a:r>
              <a:rPr lang="ko-KR" altLang="en-US" sz="1400" dirty="0"/>
              <a:t> 명을  </a:t>
            </a:r>
            <a:r>
              <a:rPr lang="en-US" altLang="ko-KR" sz="1400" dirty="0"/>
              <a:t>“〜</a:t>
            </a:r>
            <a:r>
              <a:rPr lang="ko-KR" altLang="en-US" sz="1400" dirty="0"/>
              <a:t>이력</a:t>
            </a:r>
            <a:r>
              <a:rPr lang="en-US" altLang="ko-KR" sz="1400" dirty="0"/>
              <a:t>” </a:t>
            </a:r>
            <a:r>
              <a:rPr lang="ko-KR" altLang="en-US" sz="1400" dirty="0"/>
              <a:t>으로 정하는 것에 대한 이견은 없다</a:t>
            </a:r>
            <a:r>
              <a:rPr lang="en-US" altLang="ko-KR" sz="1400" dirty="0"/>
              <a:t>. </a:t>
            </a:r>
          </a:p>
          <a:p>
            <a:r>
              <a:rPr lang="en-US" altLang="ko-KR" sz="1400" dirty="0"/>
              <a:t>    : </a:t>
            </a:r>
            <a:r>
              <a:rPr lang="ko-KR" altLang="en-US" sz="1400" dirty="0"/>
              <a:t>다만 어떤 </a:t>
            </a:r>
            <a:r>
              <a:rPr lang="ko-KR" altLang="en-US" sz="1400" dirty="0" err="1"/>
              <a:t>엔터티가</a:t>
            </a:r>
            <a:r>
              <a:rPr lang="ko-KR" altLang="en-US" sz="1400" dirty="0"/>
              <a:t> 이력 성격의 데이터를 관리하는 </a:t>
            </a:r>
            <a:r>
              <a:rPr lang="ko-KR" altLang="en-US" sz="1400" dirty="0" err="1"/>
              <a:t>엔터티인지를</a:t>
            </a:r>
            <a:r>
              <a:rPr lang="ko-KR" altLang="en-US" sz="1400" dirty="0"/>
              <a:t> 판단하 는 것이 어렵다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FF0000"/>
                </a:solidFill>
              </a:rPr>
              <a:t>코드 </a:t>
            </a:r>
            <a:r>
              <a:rPr lang="ko-KR" altLang="en-US" sz="1400" b="1" dirty="0" err="1">
                <a:solidFill>
                  <a:srgbClr val="FF0000"/>
                </a:solidFill>
              </a:rPr>
              <a:t>엔터티</a:t>
            </a:r>
            <a:endParaRPr lang="en-US" altLang="ko-KR" sz="1400" b="1" dirty="0">
              <a:solidFill>
                <a:srgbClr val="FF0000"/>
              </a:solidFill>
            </a:endParaRPr>
          </a:p>
          <a:p>
            <a:r>
              <a:rPr lang="en-US" altLang="ko-KR" sz="1400" b="1" dirty="0">
                <a:sym typeface="Wingdings" panose="05000000000000000000" pitchFamily="2" charset="2"/>
              </a:rPr>
              <a:t>    </a:t>
            </a:r>
            <a:r>
              <a:rPr lang="en-US" altLang="ko-KR" sz="1400" dirty="0">
                <a:sym typeface="Wingdings" panose="05000000000000000000" pitchFamily="2" charset="2"/>
              </a:rPr>
              <a:t>: </a:t>
            </a:r>
            <a:r>
              <a:rPr lang="ko-KR" altLang="en-US" sz="1400" dirty="0">
                <a:sym typeface="Wingdings" panose="05000000000000000000" pitchFamily="2" charset="2"/>
              </a:rPr>
              <a:t>코드 </a:t>
            </a:r>
            <a:r>
              <a:rPr lang="ko-KR" altLang="en-US" sz="1400" dirty="0" err="1">
                <a:sym typeface="Wingdings" panose="05000000000000000000" pitchFamily="2" charset="2"/>
              </a:rPr>
              <a:t>엔터티는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ko-KR" altLang="en-US" sz="1400" b="1" u="sng" dirty="0">
                <a:solidFill>
                  <a:srgbClr val="FF0000"/>
                </a:solidFill>
                <a:sym typeface="Wingdings" panose="05000000000000000000" pitchFamily="2" charset="2"/>
              </a:rPr>
              <a:t>코드명과 코드 값을 관리하는 </a:t>
            </a:r>
            <a:r>
              <a:rPr lang="ko-KR" altLang="en-US" sz="1400" b="1" u="sng" dirty="0" err="1">
                <a:solidFill>
                  <a:srgbClr val="FF0000"/>
                </a:solidFill>
                <a:sym typeface="Wingdings" panose="05000000000000000000" pitchFamily="2" charset="2"/>
              </a:rPr>
              <a:t>엔터티를</a:t>
            </a:r>
            <a:r>
              <a:rPr lang="ko-KR" altLang="en-US" sz="1400" dirty="0">
                <a:sym typeface="Wingdings" panose="05000000000000000000" pitchFamily="2" charset="2"/>
              </a:rPr>
              <a:t> 의미한다</a:t>
            </a:r>
            <a:r>
              <a:rPr lang="en-US" altLang="ko-KR" sz="1400" dirty="0">
                <a:sym typeface="Wingdings" panose="05000000000000000000" pitchFamily="2" charset="2"/>
              </a:rPr>
              <a:t>. </a:t>
            </a:r>
          </a:p>
          <a:p>
            <a:r>
              <a:rPr lang="en-US" altLang="ko-KR" sz="1400" dirty="0">
                <a:sym typeface="Wingdings" panose="05000000000000000000" pitchFamily="2" charset="2"/>
              </a:rPr>
              <a:t>    : </a:t>
            </a:r>
            <a:r>
              <a:rPr lang="ko-KR" altLang="en-US" sz="1400" dirty="0">
                <a:sym typeface="Wingdings" panose="05000000000000000000" pitchFamily="2" charset="2"/>
              </a:rPr>
              <a:t>일반적으로 이런 </a:t>
            </a:r>
            <a:r>
              <a:rPr lang="ko-KR" altLang="en-US" sz="1400" dirty="0" err="1">
                <a:sym typeface="Wingdings" panose="05000000000000000000" pitchFamily="2" charset="2"/>
              </a:rPr>
              <a:t>엔터티는</a:t>
            </a:r>
            <a:r>
              <a:rPr lang="ko-KR" altLang="en-US" sz="1400" dirty="0">
                <a:sym typeface="Wingdings" panose="05000000000000000000" pitchFamily="2" charset="2"/>
              </a:rPr>
              <a:t> 공통코드 </a:t>
            </a:r>
            <a:r>
              <a:rPr lang="ko-KR" altLang="en-US" sz="1400" dirty="0" err="1">
                <a:sym typeface="Wingdings" panose="05000000000000000000" pitchFamily="2" charset="2"/>
              </a:rPr>
              <a:t>엔터티에서</a:t>
            </a:r>
            <a:r>
              <a:rPr lang="ko-KR" altLang="en-US" sz="1400" dirty="0">
                <a:sym typeface="Wingdings" panose="05000000000000000000" pitchFamily="2" charset="2"/>
              </a:rPr>
              <a:t> 통합 관리하기 때문에 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r>
              <a:rPr lang="en-US" altLang="ko-KR" sz="1400" dirty="0">
                <a:sym typeface="Wingdings" panose="05000000000000000000" pitchFamily="2" charset="2"/>
              </a:rPr>
              <a:t>    : </a:t>
            </a:r>
            <a:r>
              <a:rPr lang="ko-KR" altLang="en-US" sz="1400" dirty="0">
                <a:sym typeface="Wingdings" panose="05000000000000000000" pitchFamily="2" charset="2"/>
              </a:rPr>
              <a:t>개별적으로 코드 </a:t>
            </a:r>
            <a:r>
              <a:rPr lang="ko-KR" altLang="en-US" sz="1400" dirty="0" err="1">
                <a:sym typeface="Wingdings" panose="05000000000000000000" pitchFamily="2" charset="2"/>
              </a:rPr>
              <a:t>엔터티가</a:t>
            </a:r>
            <a:r>
              <a:rPr lang="ko-KR" altLang="en-US" sz="1400" dirty="0">
                <a:sym typeface="Wingdings" panose="05000000000000000000" pitchFamily="2" charset="2"/>
              </a:rPr>
              <a:t> 존재하면  안된다</a:t>
            </a:r>
            <a:r>
              <a:rPr lang="en-US" altLang="ko-KR" sz="1400" dirty="0">
                <a:sym typeface="Wingdings" panose="05000000000000000000" pitchFamily="2" charset="2"/>
              </a:rPr>
              <a:t>. </a:t>
            </a:r>
          </a:p>
          <a:p>
            <a:r>
              <a:rPr lang="en-US" altLang="ko-KR" sz="1400" dirty="0">
                <a:sym typeface="Wingdings" panose="05000000000000000000" pitchFamily="2" charset="2"/>
              </a:rPr>
              <a:t>    : </a:t>
            </a:r>
            <a:r>
              <a:rPr lang="ko-KR" altLang="en-US" sz="1400" dirty="0">
                <a:sym typeface="Wingdings" panose="05000000000000000000" pitchFamily="2" charset="2"/>
              </a:rPr>
              <a:t>또한</a:t>
            </a:r>
            <a:r>
              <a:rPr lang="en-US" altLang="ko-KR" sz="1400" dirty="0">
                <a:sym typeface="Wingdings" panose="05000000000000000000" pitchFamily="2" charset="2"/>
              </a:rPr>
              <a:t>, </a:t>
            </a:r>
            <a:r>
              <a:rPr lang="ko-KR" altLang="en-US" sz="1400" dirty="0">
                <a:sym typeface="Wingdings" panose="05000000000000000000" pitchFamily="2" charset="2"/>
              </a:rPr>
              <a:t>코드명</a:t>
            </a:r>
            <a:r>
              <a:rPr lang="en-US" altLang="ko-KR" sz="1400" dirty="0">
                <a:sym typeface="Wingdings" panose="05000000000000000000" pitchFamily="2" charset="2"/>
              </a:rPr>
              <a:t>•</a:t>
            </a:r>
            <a:r>
              <a:rPr lang="ko-KR" altLang="en-US" sz="1400" dirty="0" err="1">
                <a:sym typeface="Wingdings" panose="05000000000000000000" pitchFamily="2" charset="2"/>
              </a:rPr>
              <a:t>코드값</a:t>
            </a:r>
            <a:r>
              <a:rPr lang="ko-KR" altLang="en-US" sz="1400" dirty="0">
                <a:sym typeface="Wingdings" panose="05000000000000000000" pitchFamily="2" charset="2"/>
              </a:rPr>
              <a:t> 외의 속 성 을 관리하면 코드 </a:t>
            </a:r>
            <a:r>
              <a:rPr lang="ko-KR" altLang="en-US" sz="1400" dirty="0" err="1">
                <a:sym typeface="Wingdings" panose="05000000000000000000" pitchFamily="2" charset="2"/>
              </a:rPr>
              <a:t>엔터티가</a:t>
            </a:r>
            <a:r>
              <a:rPr lang="ko-KR" altLang="en-US" sz="1400" dirty="0">
                <a:sym typeface="Wingdings" panose="05000000000000000000" pitchFamily="2" charset="2"/>
              </a:rPr>
              <a:t> 아니다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r>
              <a:rPr lang="en-US" altLang="ko-KR" sz="1400" dirty="0">
                <a:sym typeface="Wingdings" panose="05000000000000000000" pitchFamily="2" charset="2"/>
              </a:rPr>
              <a:t>    : </a:t>
            </a:r>
            <a:r>
              <a:rPr lang="ko-KR" altLang="en-US" sz="1400" dirty="0">
                <a:sym typeface="Wingdings" panose="05000000000000000000" pitchFamily="2" charset="2"/>
              </a:rPr>
              <a:t>따라서 이 분류법을 사용할 때는 </a:t>
            </a:r>
            <a:r>
              <a:rPr lang="en-US" altLang="ko-KR" sz="1400" b="1" dirty="0">
                <a:sym typeface="Wingdings" panose="05000000000000000000" pitchFamily="2" charset="2"/>
              </a:rPr>
              <a:t>“</a:t>
            </a:r>
            <a:r>
              <a:rPr lang="ko-KR" altLang="en-US" sz="1400" b="1" dirty="0">
                <a:sym typeface="Wingdings" panose="05000000000000000000" pitchFamily="2" charset="2"/>
              </a:rPr>
              <a:t>코드 </a:t>
            </a:r>
            <a:r>
              <a:rPr lang="ko-KR" altLang="en-US" sz="1400" b="1" dirty="0" err="1">
                <a:sym typeface="Wingdings" panose="05000000000000000000" pitchFamily="2" charset="2"/>
              </a:rPr>
              <a:t>엔터티</a:t>
            </a:r>
            <a:r>
              <a:rPr lang="en-US" altLang="ko-KR" sz="1400" b="1" dirty="0">
                <a:sym typeface="Wingdings" panose="05000000000000000000" pitchFamily="2" charset="2"/>
              </a:rPr>
              <a:t>”</a:t>
            </a:r>
            <a:r>
              <a:rPr lang="ko-KR" altLang="en-US" sz="1400" dirty="0">
                <a:sym typeface="Wingdings" panose="05000000000000000000" pitchFamily="2" charset="2"/>
              </a:rPr>
              <a:t>는 거의 생기지 않는다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endParaRPr lang="en-US" altLang="ko-KR" sz="1400" dirty="0">
              <a:sym typeface="Wingdings" panose="05000000000000000000" pitchFamily="2" charset="2"/>
            </a:endParaRPr>
          </a:p>
          <a:p>
            <a:endParaRPr lang="en-US" altLang="ko-KR" sz="14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FF0000"/>
                </a:solidFill>
              </a:rPr>
              <a:t>관계 </a:t>
            </a:r>
            <a:r>
              <a:rPr lang="ko-KR" altLang="en-US" sz="1400" b="1" dirty="0" err="1">
                <a:solidFill>
                  <a:srgbClr val="FF0000"/>
                </a:solidFill>
              </a:rPr>
              <a:t>엔터티</a:t>
            </a:r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en-US" altLang="ko-KR" sz="1400" b="1" dirty="0">
                <a:sym typeface="Wingdings" panose="05000000000000000000" pitchFamily="2" charset="2"/>
              </a:rPr>
              <a:t>    </a:t>
            </a:r>
            <a:r>
              <a:rPr lang="en-US" altLang="ko-KR" sz="1400" dirty="0">
                <a:sym typeface="Wingdings" panose="05000000000000000000" pitchFamily="2" charset="2"/>
              </a:rPr>
              <a:t>: </a:t>
            </a:r>
            <a:r>
              <a:rPr lang="ko-KR" altLang="en-US" sz="1400" dirty="0">
                <a:sym typeface="Wingdings" panose="05000000000000000000" pitchFamily="2" charset="2"/>
              </a:rPr>
              <a:t>실무에서 </a:t>
            </a:r>
            <a:r>
              <a:rPr lang="en-US" altLang="ko-KR" sz="1400" b="1" dirty="0">
                <a:sym typeface="Wingdings" panose="05000000000000000000" pitchFamily="2" charset="2"/>
              </a:rPr>
              <a:t>“</a:t>
            </a:r>
            <a:r>
              <a:rPr lang="ko-KR" altLang="en-US" sz="1400" b="1" dirty="0">
                <a:sym typeface="Wingdings" panose="05000000000000000000" pitchFamily="2" charset="2"/>
              </a:rPr>
              <a:t>관계 </a:t>
            </a:r>
            <a:r>
              <a:rPr lang="ko-KR" altLang="en-US" sz="1400" b="1" dirty="0" err="1">
                <a:sym typeface="Wingdings" panose="05000000000000000000" pitchFamily="2" charset="2"/>
              </a:rPr>
              <a:t>엔터티</a:t>
            </a:r>
            <a:r>
              <a:rPr lang="en-US" altLang="ko-KR" sz="1400" b="1" dirty="0">
                <a:sym typeface="Wingdings" panose="05000000000000000000" pitchFamily="2" charset="2"/>
              </a:rPr>
              <a:t>”</a:t>
            </a:r>
            <a:r>
              <a:rPr lang="ko-KR" altLang="en-US" sz="1400" dirty="0">
                <a:sym typeface="Wingdings" panose="05000000000000000000" pitchFamily="2" charset="2"/>
              </a:rPr>
              <a:t>도 자주 볼 수 있는데 이 또한 내역</a:t>
            </a:r>
            <a:r>
              <a:rPr lang="en-US" altLang="ko-KR" sz="1400" dirty="0">
                <a:sym typeface="Wingdings" panose="05000000000000000000" pitchFamily="2" charset="2"/>
              </a:rPr>
              <a:t>•</a:t>
            </a:r>
            <a:r>
              <a:rPr lang="ko-KR" altLang="en-US" sz="1400" dirty="0">
                <a:sym typeface="Wingdings" panose="05000000000000000000" pitchFamily="2" charset="2"/>
              </a:rPr>
              <a:t>기본 </a:t>
            </a:r>
            <a:r>
              <a:rPr lang="ko-KR" altLang="en-US" sz="1400" dirty="0" err="1">
                <a:sym typeface="Wingdings" panose="05000000000000000000" pitchFamily="2" charset="2"/>
              </a:rPr>
              <a:t>엔터티와</a:t>
            </a:r>
            <a:r>
              <a:rPr lang="ko-KR" altLang="en-US" sz="1400" dirty="0">
                <a:sym typeface="Wingdings" panose="05000000000000000000" pitchFamily="2" charset="2"/>
              </a:rPr>
              <a:t> 구분이 쉽지 않다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r>
              <a:rPr lang="ko-KR" altLang="en-US" sz="1400" dirty="0">
                <a:sym typeface="Wingdings" panose="05000000000000000000" pitchFamily="2" charset="2"/>
              </a:rPr>
              <a:t>    </a:t>
            </a:r>
            <a:r>
              <a:rPr lang="en-US" altLang="ko-KR" sz="1400" dirty="0">
                <a:sym typeface="Wingdings" panose="05000000000000000000" pitchFamily="2" charset="2"/>
              </a:rPr>
              <a:t>: </a:t>
            </a:r>
            <a:r>
              <a:rPr lang="ko-KR" altLang="en-US" sz="1400" dirty="0">
                <a:sym typeface="Wingdings" panose="05000000000000000000" pitchFamily="2" charset="2"/>
              </a:rPr>
              <a:t>만약  </a:t>
            </a:r>
            <a:r>
              <a:rPr lang="en-US" altLang="ko-KR" sz="1400" b="1" dirty="0">
                <a:sym typeface="Wingdings" panose="05000000000000000000" pitchFamily="2" charset="2"/>
              </a:rPr>
              <a:t>“</a:t>
            </a:r>
            <a:r>
              <a:rPr lang="ko-KR" altLang="en-US" sz="1400" b="1" dirty="0">
                <a:sym typeface="Wingdings" panose="05000000000000000000" pitchFamily="2" charset="2"/>
              </a:rPr>
              <a:t>관계</a:t>
            </a:r>
            <a:r>
              <a:rPr lang="en-US" altLang="ko-KR" sz="1400" b="1" dirty="0">
                <a:sym typeface="Wingdings" panose="05000000000000000000" pitchFamily="2" charset="2"/>
              </a:rPr>
              <a:t>”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ko-KR" altLang="en-US" sz="1400" dirty="0" err="1">
                <a:sym typeface="Wingdings" panose="05000000000000000000" pitchFamily="2" charset="2"/>
              </a:rPr>
              <a:t>접미어를</a:t>
            </a:r>
            <a:r>
              <a:rPr lang="ko-KR" altLang="en-US" sz="1400" dirty="0">
                <a:sym typeface="Wingdings" panose="05000000000000000000" pitchFamily="2" charset="2"/>
              </a:rPr>
              <a:t> 사용하지 않는다면 해당 </a:t>
            </a:r>
            <a:r>
              <a:rPr lang="ko-KR" altLang="en-US" sz="1400" dirty="0" err="1">
                <a:sym typeface="Wingdings" panose="05000000000000000000" pitchFamily="2" charset="2"/>
              </a:rPr>
              <a:t>엔터티를</a:t>
            </a:r>
            <a:r>
              <a:rPr lang="ko-KR" altLang="en-US" sz="1400" dirty="0">
                <a:sym typeface="Wingdings" panose="05000000000000000000" pitchFamily="2" charset="2"/>
              </a:rPr>
              <a:t> 내역</a:t>
            </a:r>
            <a:r>
              <a:rPr lang="en-US" altLang="ko-KR" sz="1400" dirty="0">
                <a:sym typeface="Wingdings" panose="05000000000000000000" pitchFamily="2" charset="2"/>
              </a:rPr>
              <a:t> • </a:t>
            </a:r>
            <a:r>
              <a:rPr lang="ko-KR" altLang="en-US" sz="1400" dirty="0">
                <a:sym typeface="Wingdings" panose="05000000000000000000" pitchFamily="2" charset="2"/>
              </a:rPr>
              <a:t>기본 중 어느 것인지 모호하다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r>
              <a:rPr lang="ko-KR" altLang="en-US" sz="1400" dirty="0">
                <a:sym typeface="Wingdings" panose="05000000000000000000" pitchFamily="2" charset="2"/>
              </a:rPr>
              <a:t>    </a:t>
            </a:r>
            <a:r>
              <a:rPr lang="en-US" altLang="ko-KR" sz="1400" dirty="0">
                <a:sym typeface="Wingdings" panose="05000000000000000000" pitchFamily="2" charset="2"/>
              </a:rPr>
              <a:t>: </a:t>
            </a:r>
            <a:r>
              <a:rPr lang="ko-KR" altLang="en-US" sz="1400" b="1" u="sng" dirty="0">
                <a:solidFill>
                  <a:srgbClr val="FF0000"/>
                </a:solidFill>
                <a:sym typeface="Wingdings" panose="05000000000000000000" pitchFamily="2" charset="2"/>
              </a:rPr>
              <a:t>교차 </a:t>
            </a:r>
            <a:r>
              <a:rPr lang="ko-KR" altLang="en-US" sz="1400" b="1" u="sng" dirty="0" err="1">
                <a:solidFill>
                  <a:srgbClr val="FF0000"/>
                </a:solidFill>
                <a:sym typeface="Wingdings" panose="05000000000000000000" pitchFamily="2" charset="2"/>
              </a:rPr>
              <a:t>엔터티의</a:t>
            </a:r>
            <a:r>
              <a:rPr lang="ko-KR" altLang="en-US" sz="1400" b="1" u="sng" dirty="0">
                <a:solidFill>
                  <a:srgbClr val="FF0000"/>
                </a:solidFill>
                <a:sym typeface="Wingdings" panose="05000000000000000000" pitchFamily="2" charset="2"/>
              </a:rPr>
              <a:t> 일종</a:t>
            </a:r>
            <a:r>
              <a:rPr lang="ko-KR" altLang="en-US" sz="1400" dirty="0">
                <a:sym typeface="Wingdings" panose="05000000000000000000" pitchFamily="2" charset="2"/>
              </a:rPr>
              <a:t>으로</a:t>
            </a:r>
            <a:r>
              <a:rPr lang="en-US" altLang="ko-KR" sz="1400" dirty="0">
                <a:sym typeface="Wingdings" panose="05000000000000000000" pitchFamily="2" charset="2"/>
              </a:rPr>
              <a:t> </a:t>
            </a:r>
            <a:r>
              <a:rPr lang="ko-KR" altLang="en-US" sz="1400" dirty="0">
                <a:sym typeface="Wingdings" panose="05000000000000000000" pitchFamily="2" charset="2"/>
              </a:rPr>
              <a:t>다양한 교차 </a:t>
            </a:r>
            <a:r>
              <a:rPr lang="ko-KR" altLang="en-US" sz="1400" dirty="0" err="1">
                <a:sym typeface="Wingdings" panose="05000000000000000000" pitchFamily="2" charset="2"/>
              </a:rPr>
              <a:t>엔터티</a:t>
            </a:r>
            <a:r>
              <a:rPr lang="ko-KR" altLang="en-US" sz="1400" dirty="0">
                <a:sym typeface="Wingdings" panose="05000000000000000000" pitchFamily="2" charset="2"/>
              </a:rPr>
              <a:t> 중의 하나이기 때문에 해당 </a:t>
            </a:r>
            <a:r>
              <a:rPr lang="ko-KR" altLang="en-US" sz="1400" dirty="0" err="1">
                <a:sym typeface="Wingdings" panose="05000000000000000000" pitchFamily="2" charset="2"/>
              </a:rPr>
              <a:t>엔터티의</a:t>
            </a:r>
            <a:r>
              <a:rPr lang="ko-KR" altLang="en-US" sz="1400" dirty="0">
                <a:sym typeface="Wingdings" panose="05000000000000000000" pitchFamily="2" charset="2"/>
              </a:rPr>
              <a:t> 수가 적을 수 있다</a:t>
            </a:r>
            <a:r>
              <a:rPr lang="en-US" altLang="ko-KR" sz="1400" dirty="0">
                <a:sym typeface="Wingdings" panose="05000000000000000000" pitchFamily="2" charset="2"/>
              </a:rPr>
              <a:t>. </a:t>
            </a:r>
          </a:p>
          <a:p>
            <a:r>
              <a:rPr lang="en-US" altLang="ko-KR" sz="1400" dirty="0">
                <a:sym typeface="Wingdings" panose="05000000000000000000" pitchFamily="2" charset="2"/>
              </a:rPr>
              <a:t>    : </a:t>
            </a:r>
            <a:r>
              <a:rPr lang="ko-KR" altLang="en-US" sz="1400" dirty="0">
                <a:sym typeface="Wingdings" panose="05000000000000000000" pitchFamily="2" charset="2"/>
              </a:rPr>
              <a:t>코드 </a:t>
            </a:r>
            <a:r>
              <a:rPr lang="ko-KR" altLang="en-US" sz="1400" dirty="0" err="1">
                <a:sym typeface="Wingdings" panose="05000000000000000000" pitchFamily="2" charset="2"/>
              </a:rPr>
              <a:t>엔터티와</a:t>
            </a:r>
            <a:r>
              <a:rPr lang="ko-KR" altLang="en-US" sz="1400" dirty="0">
                <a:sym typeface="Wingdings" panose="05000000000000000000" pitchFamily="2" charset="2"/>
              </a:rPr>
              <a:t> 마찬가지로 다른 유형보다 훨씬 적은 </a:t>
            </a:r>
            <a:r>
              <a:rPr lang="ko-KR" altLang="en-US" sz="1400" dirty="0" err="1">
                <a:sym typeface="Wingdings" panose="05000000000000000000" pitchFamily="2" charset="2"/>
              </a:rPr>
              <a:t>엔터티가</a:t>
            </a:r>
            <a:r>
              <a:rPr lang="ko-KR" altLang="en-US" sz="1400" dirty="0">
                <a:sym typeface="Wingdings" panose="05000000000000000000" pitchFamily="2" charset="2"/>
              </a:rPr>
              <a:t> 속하는 유형이다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2C5E20-2BDB-0A4F-D644-0D9B2E1B4228}"/>
              </a:ext>
            </a:extLst>
          </p:cNvPr>
          <p:cNvSpPr txBox="1"/>
          <p:nvPr/>
        </p:nvSpPr>
        <p:spPr>
          <a:xfrm>
            <a:off x="866911" y="267132"/>
            <a:ext cx="88586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1.3. </a:t>
            </a:r>
            <a:r>
              <a:rPr lang="ko-KR" altLang="en-US" sz="3200" dirty="0"/>
              <a:t>데이터 생성에 따른 분류법 </a:t>
            </a:r>
            <a:r>
              <a:rPr lang="en-US" altLang="ko-KR" sz="3200" dirty="0"/>
              <a:t>(2/3)</a:t>
            </a:r>
            <a:endParaRPr lang="ko-KR" alt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3B76B-90A0-8C14-BF04-44FA960D7526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600" dirty="0" err="1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엔터티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(Entity)</a:t>
            </a:r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176DE14-CE9A-DEB9-1B32-9C24A2528C17}"/>
              </a:ext>
            </a:extLst>
          </p:cNvPr>
          <p:cNvSpPr txBox="1">
            <a:spLocks/>
          </p:cNvSpPr>
          <p:nvPr/>
        </p:nvSpPr>
        <p:spPr>
          <a:xfrm>
            <a:off x="4724400" y="644983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ctr"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414D9B4-A085-4D58-9827-DD73C3602634}" type="slidenum">
              <a:rPr lang="ko-KR" altLang="en-US"/>
              <a:pPr/>
              <a:t>7</a:t>
            </a:fld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255E786-736C-8E08-2604-A1812594E8CD}"/>
              </a:ext>
            </a:extLst>
          </p:cNvPr>
          <p:cNvCxnSpPr/>
          <p:nvPr/>
        </p:nvCxnSpPr>
        <p:spPr>
          <a:xfrm>
            <a:off x="327378" y="835374"/>
            <a:ext cx="11525955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C3CF02C-3E3B-4EB1-3919-DB12F1BEAE47}"/>
              </a:ext>
            </a:extLst>
          </p:cNvPr>
          <p:cNvCxnSpPr/>
          <p:nvPr/>
        </p:nvCxnSpPr>
        <p:spPr>
          <a:xfrm>
            <a:off x="333022" y="6446662"/>
            <a:ext cx="1152595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052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058A0BAC-AF3B-8B29-9A39-799323904251}"/>
              </a:ext>
            </a:extLst>
          </p:cNvPr>
          <p:cNvSpPr/>
          <p:nvPr/>
        </p:nvSpPr>
        <p:spPr>
          <a:xfrm>
            <a:off x="726978" y="1279018"/>
            <a:ext cx="2163097" cy="509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집계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백업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임시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1ADB5C-269F-3129-FD00-C71E8770A20B}"/>
              </a:ext>
            </a:extLst>
          </p:cNvPr>
          <p:cNvSpPr txBox="1"/>
          <p:nvPr/>
        </p:nvSpPr>
        <p:spPr>
          <a:xfrm>
            <a:off x="3216723" y="1255135"/>
            <a:ext cx="863315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FF0000"/>
                </a:solidFill>
              </a:rPr>
              <a:t>집계 </a:t>
            </a:r>
            <a:r>
              <a:rPr lang="ko-KR" altLang="en-US" sz="1400" b="1" dirty="0" err="1">
                <a:solidFill>
                  <a:srgbClr val="FF0000"/>
                </a:solidFill>
              </a:rPr>
              <a:t>엔터티</a:t>
            </a:r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en-US" altLang="ko-KR" sz="1400" dirty="0"/>
              <a:t>    : </a:t>
            </a:r>
            <a:r>
              <a:rPr lang="ko-KR" altLang="en-US" sz="1400" dirty="0"/>
              <a:t>집계 </a:t>
            </a:r>
            <a:r>
              <a:rPr lang="ko-KR" altLang="en-US" sz="1400" dirty="0" err="1"/>
              <a:t>엔터티도</a:t>
            </a:r>
            <a:r>
              <a:rPr lang="ko-KR" altLang="en-US" sz="1400" dirty="0"/>
              <a:t> 기본 </a:t>
            </a:r>
            <a:r>
              <a:rPr lang="ko-KR" altLang="en-US" sz="1400" dirty="0" err="1"/>
              <a:t>엔터티나</a:t>
            </a:r>
            <a:r>
              <a:rPr lang="ko-KR" altLang="en-US" sz="1400" dirty="0"/>
              <a:t> 내역 </a:t>
            </a:r>
            <a:r>
              <a:rPr lang="ko-KR" altLang="en-US" sz="1400" dirty="0" err="1"/>
              <a:t>엔터티와</a:t>
            </a:r>
            <a:r>
              <a:rPr lang="ko-KR" altLang="en-US" sz="1400" dirty="0"/>
              <a:t> 혼용되곤 한다 </a:t>
            </a:r>
            <a:r>
              <a:rPr lang="en-US" altLang="ko-KR" sz="1400" dirty="0"/>
              <a:t>. </a:t>
            </a:r>
          </a:p>
          <a:p>
            <a:r>
              <a:rPr lang="en-US" altLang="ko-KR" sz="1400" dirty="0"/>
              <a:t>    : </a:t>
            </a:r>
            <a:r>
              <a:rPr lang="ko-KR" altLang="en-US" sz="1400" dirty="0"/>
              <a:t>이는 </a:t>
            </a:r>
            <a:r>
              <a:rPr lang="ko-KR" altLang="en-US" sz="1400" dirty="0" err="1"/>
              <a:t>엔터티의</a:t>
            </a:r>
            <a:r>
              <a:rPr lang="ko-KR" altLang="en-US" sz="1400" dirty="0"/>
              <a:t> 성격을 제대로 파악하지  못해서 발생한다 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    </a:t>
            </a:r>
            <a:r>
              <a:rPr lang="en-US" altLang="ko-KR" sz="1400" dirty="0"/>
              <a:t>: </a:t>
            </a:r>
            <a:r>
              <a:rPr lang="ko-KR" altLang="en-US" sz="1400" b="1" u="sng" dirty="0">
                <a:solidFill>
                  <a:srgbClr val="FF0000"/>
                </a:solidFill>
              </a:rPr>
              <a:t>어떤 값을 집계한 속성이 그 </a:t>
            </a:r>
            <a:r>
              <a:rPr lang="ko-KR" altLang="en-US" sz="1400" b="1" u="sng" dirty="0" err="1">
                <a:solidFill>
                  <a:srgbClr val="FF0000"/>
                </a:solidFill>
              </a:rPr>
              <a:t>엔터티의</a:t>
            </a:r>
            <a:r>
              <a:rPr lang="ko-KR" altLang="en-US" sz="1400" b="1" u="sng" dirty="0">
                <a:solidFill>
                  <a:srgbClr val="FF0000"/>
                </a:solidFill>
              </a:rPr>
              <a:t> 주요 속성</a:t>
            </a:r>
            <a:r>
              <a:rPr lang="ko-KR" altLang="en-US" sz="1400" dirty="0"/>
              <a:t>이면  </a:t>
            </a:r>
            <a:r>
              <a:rPr lang="en-US" altLang="ko-KR" sz="1400" b="1" dirty="0"/>
              <a:t>“〜</a:t>
            </a:r>
            <a:r>
              <a:rPr lang="ko-KR" altLang="en-US" sz="1400" b="1" u="sng" dirty="0">
                <a:solidFill>
                  <a:srgbClr val="FF0000"/>
                </a:solidFill>
              </a:rPr>
              <a:t>집계</a:t>
            </a:r>
            <a:r>
              <a:rPr lang="en-US" altLang="ko-KR" sz="1400" b="1" u="sng" dirty="0">
                <a:solidFill>
                  <a:srgbClr val="FF0000"/>
                </a:solidFill>
              </a:rPr>
              <a:t>”</a:t>
            </a:r>
            <a:r>
              <a:rPr lang="ko-KR" altLang="en-US" sz="1400" b="1" u="sng" dirty="0">
                <a:solidFill>
                  <a:srgbClr val="FF0000"/>
                </a:solidFill>
              </a:rPr>
              <a:t> </a:t>
            </a:r>
            <a:r>
              <a:rPr lang="ko-KR" altLang="en-US" sz="1400" b="1" u="sng" dirty="0" err="1">
                <a:solidFill>
                  <a:srgbClr val="FF0000"/>
                </a:solidFill>
              </a:rPr>
              <a:t>엔터티로</a:t>
            </a:r>
            <a:r>
              <a:rPr lang="ko-KR" altLang="en-US" sz="1400" dirty="0"/>
              <a:t> 정해야 한다</a:t>
            </a:r>
            <a:r>
              <a:rPr lang="en-US" altLang="ko-KR" sz="1400" dirty="0"/>
              <a:t>. </a:t>
            </a:r>
          </a:p>
          <a:p>
            <a:r>
              <a:rPr lang="en-US" altLang="ko-KR" sz="1400" dirty="0"/>
              <a:t>    : </a:t>
            </a:r>
            <a:r>
              <a:rPr lang="ko-KR" altLang="en-US" sz="1400" dirty="0"/>
              <a:t>내역 </a:t>
            </a:r>
            <a:r>
              <a:rPr lang="ko-KR" altLang="en-US" sz="1400" dirty="0" err="1"/>
              <a:t>엔터티를</a:t>
            </a:r>
            <a:r>
              <a:rPr lang="ko-KR" altLang="en-US" sz="1400" dirty="0"/>
              <a:t> 집계했기 때문에 상세 데이터로 판단해 </a:t>
            </a:r>
            <a:r>
              <a:rPr lang="en-US" altLang="ko-KR" sz="1400" b="1" dirty="0"/>
              <a:t>“〜</a:t>
            </a:r>
            <a:r>
              <a:rPr lang="ko-KR" altLang="en-US" sz="1400" b="1" dirty="0"/>
              <a:t>내역</a:t>
            </a:r>
            <a:r>
              <a:rPr lang="en-US" altLang="ko-KR" sz="1400" b="1" dirty="0"/>
              <a:t>”</a:t>
            </a:r>
            <a:r>
              <a:rPr lang="ko-KR" altLang="en-US" sz="1400" dirty="0"/>
              <a:t>이나 </a:t>
            </a:r>
            <a:r>
              <a:rPr lang="en-US" altLang="ko-KR" sz="1400" b="1" dirty="0"/>
              <a:t>“〜</a:t>
            </a:r>
            <a:r>
              <a:rPr lang="ko-KR" altLang="en-US" sz="1400" b="1" dirty="0"/>
              <a:t>상세</a:t>
            </a:r>
            <a:r>
              <a:rPr lang="en-US" altLang="ko-KR" sz="1400" b="1" dirty="0"/>
              <a:t>”</a:t>
            </a:r>
            <a:r>
              <a:rPr lang="ko-KR" altLang="en-US" sz="1400" dirty="0"/>
              <a:t>로 정하지 않도록 주의해야 한다</a:t>
            </a:r>
            <a:r>
              <a:rPr lang="en-US" altLang="ko-KR" sz="1400" dirty="0"/>
              <a:t> </a:t>
            </a:r>
          </a:p>
          <a:p>
            <a:r>
              <a:rPr lang="en-US" altLang="ko-KR" sz="1400" dirty="0"/>
              <a:t>    : </a:t>
            </a:r>
            <a:r>
              <a:rPr lang="ko-KR" altLang="en-US" sz="1400" dirty="0"/>
              <a:t>어떤 실체를 기준으로 한 집계일 경우도</a:t>
            </a:r>
            <a:r>
              <a:rPr lang="en-US" altLang="ko-KR" sz="1400" dirty="0"/>
              <a:t>, </a:t>
            </a:r>
            <a:r>
              <a:rPr lang="ko-KR" altLang="en-US" sz="1400" dirty="0"/>
              <a:t>실체 데이터로 판단해 기본으로 정하지 말아야 한다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    : </a:t>
            </a:r>
            <a:r>
              <a:rPr lang="ko-KR" altLang="en-US" sz="1400" dirty="0"/>
              <a:t>이력 </a:t>
            </a:r>
            <a:r>
              <a:rPr lang="ko-KR" altLang="en-US" sz="1400" dirty="0" err="1"/>
              <a:t>엔터티와</a:t>
            </a:r>
            <a:r>
              <a:rPr lang="ko-KR" altLang="en-US" sz="1400" dirty="0"/>
              <a:t> 마찬가지로 집계 </a:t>
            </a:r>
            <a:r>
              <a:rPr lang="ko-KR" altLang="en-US" sz="1400" dirty="0" err="1"/>
              <a:t>엔터티</a:t>
            </a:r>
            <a:r>
              <a:rPr lang="ko-KR" altLang="en-US" sz="1400" dirty="0"/>
              <a:t> 역시 </a:t>
            </a:r>
            <a:r>
              <a:rPr lang="ko-KR" altLang="en-US" sz="1400" b="1" u="sng" dirty="0"/>
              <a:t>집계라는 행위를 의미</a:t>
            </a:r>
            <a:r>
              <a:rPr lang="ko-KR" altLang="en-US" sz="1400" dirty="0"/>
              <a:t>하기 때문에 </a:t>
            </a:r>
            <a:r>
              <a:rPr lang="en-US" altLang="ko-KR" sz="1400" b="1" dirty="0"/>
              <a:t>“</a:t>
            </a:r>
            <a:r>
              <a:rPr lang="ko-KR" altLang="en-US" sz="1400" b="1" dirty="0"/>
              <a:t>집계</a:t>
            </a:r>
            <a:r>
              <a:rPr lang="en-US" altLang="ko-KR" sz="1400" b="1" dirty="0"/>
              <a:t>”</a:t>
            </a:r>
            <a:r>
              <a:rPr lang="ko-KR" altLang="en-US" sz="1400" dirty="0"/>
              <a:t>로 정해야 한다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FF0000"/>
                </a:solidFill>
              </a:rPr>
              <a:t>백업 </a:t>
            </a:r>
            <a:r>
              <a:rPr lang="ko-KR" altLang="en-US" sz="1400" b="1" dirty="0" err="1">
                <a:solidFill>
                  <a:srgbClr val="FF0000"/>
                </a:solidFill>
              </a:rPr>
              <a:t>엔터티</a:t>
            </a:r>
            <a:endParaRPr lang="en-US" altLang="ko-KR" sz="1400" b="1" dirty="0">
              <a:solidFill>
                <a:srgbClr val="FF0000"/>
              </a:solidFill>
            </a:endParaRPr>
          </a:p>
          <a:p>
            <a:r>
              <a:rPr lang="en-US" altLang="ko-KR" sz="1400" b="1" dirty="0">
                <a:sym typeface="Wingdings" panose="05000000000000000000" pitchFamily="2" charset="2"/>
              </a:rPr>
              <a:t>    </a:t>
            </a:r>
            <a:r>
              <a:rPr lang="en-US" altLang="ko-KR" sz="1400" dirty="0">
                <a:sym typeface="Wingdings" panose="05000000000000000000" pitchFamily="2" charset="2"/>
              </a:rPr>
              <a:t>: </a:t>
            </a:r>
            <a:r>
              <a:rPr lang="ko-KR" altLang="en-US" sz="1400" dirty="0">
                <a:sym typeface="Wingdings" panose="05000000000000000000" pitchFamily="2" charset="2"/>
              </a:rPr>
              <a:t>백업 </a:t>
            </a:r>
            <a:r>
              <a:rPr lang="ko-KR" altLang="en-US" sz="1400" dirty="0" err="1">
                <a:sym typeface="Wingdings" panose="05000000000000000000" pitchFamily="2" charset="2"/>
              </a:rPr>
              <a:t>엔터티는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ko-KR" altLang="en-US" sz="1400" b="1" u="sng" dirty="0">
                <a:solidFill>
                  <a:srgbClr val="FF0000"/>
                </a:solidFill>
                <a:sym typeface="Wingdings" panose="05000000000000000000" pitchFamily="2" charset="2"/>
              </a:rPr>
              <a:t>원천 </a:t>
            </a:r>
            <a:r>
              <a:rPr lang="ko-KR" altLang="en-US" sz="1400" b="1" u="sng" dirty="0" err="1">
                <a:solidFill>
                  <a:srgbClr val="FF0000"/>
                </a:solidFill>
                <a:sym typeface="Wingdings" panose="05000000000000000000" pitchFamily="2" charset="2"/>
              </a:rPr>
              <a:t>엔터티의</a:t>
            </a:r>
            <a:r>
              <a:rPr lang="ko-KR" altLang="en-US" sz="1400" b="1" u="sng" dirty="0">
                <a:solidFill>
                  <a:srgbClr val="FF0000"/>
                </a:solidFill>
                <a:sym typeface="Wingdings" panose="05000000000000000000" pitchFamily="2" charset="2"/>
              </a:rPr>
              <a:t> 데이터를 백업한 </a:t>
            </a:r>
            <a:r>
              <a:rPr lang="ko-KR" altLang="en-US" sz="1400" b="1" u="sng" dirty="0" err="1">
                <a:solidFill>
                  <a:srgbClr val="FF0000"/>
                </a:solidFill>
                <a:sym typeface="Wingdings" panose="05000000000000000000" pitchFamily="2" charset="2"/>
              </a:rPr>
              <a:t>엔터티를</a:t>
            </a:r>
            <a:r>
              <a:rPr lang="ko-KR" altLang="en-US" sz="1400" dirty="0">
                <a:sym typeface="Wingdings" panose="05000000000000000000" pitchFamily="2" charset="2"/>
              </a:rPr>
              <a:t> 의미한다</a:t>
            </a:r>
            <a:r>
              <a:rPr lang="en-US" altLang="ko-KR" sz="1400" dirty="0">
                <a:sym typeface="Wingdings" panose="05000000000000000000" pitchFamily="2" charset="2"/>
              </a:rPr>
              <a:t>. </a:t>
            </a:r>
          </a:p>
          <a:p>
            <a:r>
              <a:rPr lang="en-US" altLang="ko-KR" sz="1400" dirty="0">
                <a:sym typeface="Wingdings" panose="05000000000000000000" pitchFamily="2" charset="2"/>
              </a:rPr>
              <a:t>    : </a:t>
            </a:r>
            <a:r>
              <a:rPr lang="ko-KR" altLang="en-US" sz="1400" dirty="0">
                <a:sym typeface="Wingdings" panose="05000000000000000000" pitchFamily="2" charset="2"/>
              </a:rPr>
              <a:t>중복데이터를 관리하는 </a:t>
            </a:r>
            <a:r>
              <a:rPr lang="ko-KR" altLang="en-US" sz="1400" dirty="0" err="1">
                <a:sym typeface="Wingdings" panose="05000000000000000000" pitchFamily="2" charset="2"/>
              </a:rPr>
              <a:t>엔터티와</a:t>
            </a:r>
            <a:r>
              <a:rPr lang="en-US" altLang="ko-KR" sz="1400" dirty="0">
                <a:sym typeface="Wingdings" panose="05000000000000000000" pitchFamily="2" charset="2"/>
              </a:rPr>
              <a:t> </a:t>
            </a:r>
            <a:r>
              <a:rPr lang="ko-KR" altLang="en-US" sz="1400" dirty="0">
                <a:sym typeface="Wingdings" panose="05000000000000000000" pitchFamily="2" charset="2"/>
              </a:rPr>
              <a:t>구분해야 한다</a:t>
            </a:r>
            <a:r>
              <a:rPr lang="en-US" altLang="ko-KR" sz="1400" dirty="0">
                <a:sym typeface="Wingdings" panose="05000000000000000000" pitchFamily="2" charset="2"/>
              </a:rPr>
              <a:t>. </a:t>
            </a:r>
            <a:r>
              <a:rPr lang="ko-KR" altLang="en-US" sz="1400" dirty="0">
                <a:sym typeface="Wingdings" panose="05000000000000000000" pitchFamily="2" charset="2"/>
              </a:rPr>
              <a:t>백업 </a:t>
            </a:r>
            <a:r>
              <a:rPr lang="ko-KR" altLang="en-US" sz="1400" dirty="0" err="1">
                <a:sym typeface="Wingdings" panose="05000000000000000000" pitchFamily="2" charset="2"/>
              </a:rPr>
              <a:t>엔터티</a:t>
            </a:r>
            <a:r>
              <a:rPr lang="ko-KR" altLang="en-US" sz="1400" dirty="0">
                <a:sym typeface="Wingdings" panose="05000000000000000000" pitchFamily="2" charset="2"/>
              </a:rPr>
              <a:t> 와 원천 </a:t>
            </a:r>
            <a:r>
              <a:rPr lang="ko-KR" altLang="en-US" sz="1400" dirty="0" err="1">
                <a:sym typeface="Wingdings" panose="05000000000000000000" pitchFamily="2" charset="2"/>
              </a:rPr>
              <a:t>엔터티를</a:t>
            </a:r>
            <a:r>
              <a:rPr lang="ko-KR" altLang="en-US" sz="1400" dirty="0">
                <a:sym typeface="Wingdings" panose="05000000000000000000" pitchFamily="2" charset="2"/>
              </a:rPr>
              <a:t> 합쳐야 전체가 된다</a:t>
            </a:r>
            <a:r>
              <a:rPr lang="en-US" altLang="ko-KR" sz="1400" dirty="0">
                <a:sym typeface="Wingdings" panose="05000000000000000000" pitchFamily="2" charset="2"/>
              </a:rPr>
              <a:t>. </a:t>
            </a:r>
          </a:p>
          <a:p>
            <a:endParaRPr lang="en-US" altLang="ko-KR" sz="1400" dirty="0">
              <a:sym typeface="Wingdings" panose="05000000000000000000" pitchFamily="2" charset="2"/>
            </a:endParaRPr>
          </a:p>
          <a:p>
            <a:endParaRPr lang="en-US" altLang="ko-KR" sz="14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FF0000"/>
                </a:solidFill>
              </a:rPr>
              <a:t>임시 </a:t>
            </a:r>
            <a:r>
              <a:rPr lang="ko-KR" altLang="en-US" sz="1400" b="1" dirty="0" err="1">
                <a:solidFill>
                  <a:srgbClr val="FF0000"/>
                </a:solidFill>
              </a:rPr>
              <a:t>엔터티</a:t>
            </a:r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en-US" altLang="ko-KR" sz="1400" b="1" dirty="0">
                <a:sym typeface="Wingdings" panose="05000000000000000000" pitchFamily="2" charset="2"/>
              </a:rPr>
              <a:t>    </a:t>
            </a:r>
            <a:r>
              <a:rPr lang="en-US" altLang="ko-KR" sz="1400" dirty="0">
                <a:sym typeface="Wingdings" panose="05000000000000000000" pitchFamily="2" charset="2"/>
              </a:rPr>
              <a:t>: </a:t>
            </a:r>
            <a:r>
              <a:rPr lang="ko-KR" altLang="en-US" sz="1400" dirty="0">
                <a:sym typeface="Wingdings" panose="05000000000000000000" pitchFamily="2" charset="2"/>
              </a:rPr>
              <a:t>임시 </a:t>
            </a:r>
            <a:r>
              <a:rPr lang="ko-KR" altLang="en-US" sz="1400" dirty="0" err="1">
                <a:sym typeface="Wingdings" panose="05000000000000000000" pitchFamily="2" charset="2"/>
              </a:rPr>
              <a:t>엔터티도</a:t>
            </a:r>
            <a:r>
              <a:rPr lang="ko-KR" altLang="en-US" sz="1400" dirty="0">
                <a:sym typeface="Wingdings" panose="05000000000000000000" pitchFamily="2" charset="2"/>
              </a:rPr>
              <a:t> 범위가 모호해서 기준을 명확히 정할 필요가 있다</a:t>
            </a:r>
            <a:r>
              <a:rPr lang="en-US" altLang="ko-KR" sz="1400" dirty="0">
                <a:sym typeface="Wingdings" panose="05000000000000000000" pitchFamily="2" charset="2"/>
              </a:rPr>
              <a:t>. </a:t>
            </a:r>
          </a:p>
          <a:p>
            <a:r>
              <a:rPr lang="en-US" altLang="ko-KR" sz="1400" dirty="0">
                <a:sym typeface="Wingdings" panose="05000000000000000000" pitchFamily="2" charset="2"/>
              </a:rPr>
              <a:t>    : </a:t>
            </a:r>
            <a:r>
              <a:rPr lang="ko-KR" altLang="en-US" sz="1400" b="1" u="sng" dirty="0">
                <a:solidFill>
                  <a:srgbClr val="FF0000"/>
                </a:solidFill>
                <a:sym typeface="Wingdings" panose="05000000000000000000" pitchFamily="2" charset="2"/>
              </a:rPr>
              <a:t>사용한 후에 곧바로 삭제하는 데이터를 임시 </a:t>
            </a:r>
            <a:r>
              <a:rPr lang="ko-KR" altLang="en-US" sz="1400" b="1" u="sng" dirty="0" err="1">
                <a:solidFill>
                  <a:srgbClr val="FF0000"/>
                </a:solidFill>
                <a:sym typeface="Wingdings" panose="05000000000000000000" pitchFamily="2" charset="2"/>
              </a:rPr>
              <a:t>엔터티로</a:t>
            </a:r>
            <a:r>
              <a:rPr lang="ko-KR" altLang="en-US" sz="1400" dirty="0">
                <a:sym typeface="Wingdings" panose="05000000000000000000" pitchFamily="2" charset="2"/>
              </a:rPr>
              <a:t> 정할 수 있다</a:t>
            </a:r>
            <a:r>
              <a:rPr lang="en-US" altLang="ko-KR" sz="1400" dirty="0">
                <a:sym typeface="Wingdings" panose="05000000000000000000" pitchFamily="2" charset="2"/>
              </a:rPr>
              <a:t>. </a:t>
            </a:r>
          </a:p>
          <a:p>
            <a:r>
              <a:rPr lang="en-US" altLang="ko-KR" sz="1400" dirty="0">
                <a:sym typeface="Wingdings" panose="05000000000000000000" pitchFamily="2" charset="2"/>
              </a:rPr>
              <a:t>    : </a:t>
            </a:r>
            <a:r>
              <a:rPr lang="ko-KR" altLang="en-US" sz="1400" dirty="0">
                <a:sym typeface="Wingdings" panose="05000000000000000000" pitchFamily="2" charset="2"/>
              </a:rPr>
              <a:t>데이터를 사용한 트랜잭션이 끝날 때 삭제하는 데이터를 관리하는 </a:t>
            </a:r>
            <a:r>
              <a:rPr lang="ko-KR" altLang="en-US" sz="1400" dirty="0" err="1">
                <a:sym typeface="Wingdings" panose="05000000000000000000" pitchFamily="2" charset="2"/>
              </a:rPr>
              <a:t>엔터티일</a:t>
            </a:r>
            <a:r>
              <a:rPr lang="ko-KR" altLang="en-US" sz="1400" dirty="0">
                <a:sym typeface="Wingdings" panose="05000000000000000000" pitchFamily="2" charset="2"/>
              </a:rPr>
              <a:t> 수도 있고</a:t>
            </a:r>
            <a:r>
              <a:rPr lang="en-US" altLang="ko-KR" sz="1400" dirty="0">
                <a:sym typeface="Wingdings" panose="05000000000000000000" pitchFamily="2" charset="2"/>
              </a:rPr>
              <a:t>, </a:t>
            </a:r>
          </a:p>
          <a:p>
            <a:r>
              <a:rPr lang="en-US" altLang="ko-KR" sz="1400" dirty="0">
                <a:sym typeface="Wingdings" panose="05000000000000000000" pitchFamily="2" charset="2"/>
              </a:rPr>
              <a:t>    : </a:t>
            </a:r>
            <a:r>
              <a:rPr lang="ko-KR" altLang="en-US" sz="1400" dirty="0">
                <a:sym typeface="Wingdings" panose="05000000000000000000" pitchFamily="2" charset="2"/>
              </a:rPr>
              <a:t>매일 초기화되는 </a:t>
            </a:r>
            <a:r>
              <a:rPr lang="ko-KR" altLang="en-US" sz="1400" dirty="0" err="1">
                <a:sym typeface="Wingdings" panose="05000000000000000000" pitchFamily="2" charset="2"/>
              </a:rPr>
              <a:t>엔터티일</a:t>
            </a:r>
            <a:r>
              <a:rPr lang="ko-KR" altLang="en-US" sz="1400" dirty="0">
                <a:sym typeface="Wingdings" panose="05000000000000000000" pitchFamily="2" charset="2"/>
              </a:rPr>
              <a:t> 수도 있다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C6C5B3-CE9E-6AD6-B047-6024BEC90FE6}"/>
              </a:ext>
            </a:extLst>
          </p:cNvPr>
          <p:cNvSpPr txBox="1"/>
          <p:nvPr/>
        </p:nvSpPr>
        <p:spPr>
          <a:xfrm>
            <a:off x="866911" y="267132"/>
            <a:ext cx="88586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1.3. </a:t>
            </a:r>
            <a:r>
              <a:rPr lang="ko-KR" altLang="en-US" sz="3200" dirty="0"/>
              <a:t>데이터 생성에 따른 분류법 </a:t>
            </a:r>
            <a:r>
              <a:rPr lang="en-US" altLang="ko-KR" sz="3200" dirty="0"/>
              <a:t>(3/3)</a:t>
            </a:r>
            <a:endParaRPr lang="ko-KR" alt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EF8B6F-55F7-B3CD-69A6-32CCFF30DEC0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600" dirty="0" err="1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엔터티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(Entity)</a:t>
            </a:r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F40E6356-81E5-A80D-5B4D-9DFB5D546F52}"/>
              </a:ext>
            </a:extLst>
          </p:cNvPr>
          <p:cNvSpPr txBox="1">
            <a:spLocks/>
          </p:cNvSpPr>
          <p:nvPr/>
        </p:nvSpPr>
        <p:spPr>
          <a:xfrm>
            <a:off x="4724400" y="644983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ctr"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414D9B4-A085-4D58-9827-DD73C3602634}" type="slidenum">
              <a:rPr lang="ko-KR" altLang="en-US"/>
              <a:pPr/>
              <a:t>8</a:t>
            </a:fld>
            <a:endParaRPr lang="ko-KR" altLang="en-US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073ACC9-6930-61E9-CB44-3CB4A518D642}"/>
              </a:ext>
            </a:extLst>
          </p:cNvPr>
          <p:cNvCxnSpPr/>
          <p:nvPr/>
        </p:nvCxnSpPr>
        <p:spPr>
          <a:xfrm>
            <a:off x="327378" y="835374"/>
            <a:ext cx="11525955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0FDBD73-4536-E6F5-D6C3-CD908AE18B71}"/>
              </a:ext>
            </a:extLst>
          </p:cNvPr>
          <p:cNvCxnSpPr/>
          <p:nvPr/>
        </p:nvCxnSpPr>
        <p:spPr>
          <a:xfrm>
            <a:off x="333022" y="6446662"/>
            <a:ext cx="1152595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843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CB5843-5367-979B-9E2E-3CDB6605FE76}"/>
              </a:ext>
            </a:extLst>
          </p:cNvPr>
          <p:cNvSpPr txBox="1"/>
          <p:nvPr/>
        </p:nvSpPr>
        <p:spPr>
          <a:xfrm>
            <a:off x="866911" y="267130"/>
            <a:ext cx="4307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1.4. </a:t>
            </a:r>
            <a:r>
              <a:rPr lang="ko-KR" alt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엔터티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설계 원칙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40931C-3093-F8D3-7135-8EB591015DDC}"/>
              </a:ext>
            </a:extLst>
          </p:cNvPr>
          <p:cNvSpPr txBox="1"/>
          <p:nvPr/>
        </p:nvSpPr>
        <p:spPr>
          <a:xfrm>
            <a:off x="704862" y="1072008"/>
            <a:ext cx="306848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000" dirty="0"/>
              <a:t>데이터 정체성</a:t>
            </a:r>
            <a:endParaRPr lang="en-US" altLang="ko-KR" sz="20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ko-KR" altLang="en-US" sz="20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000" dirty="0" err="1"/>
              <a:t>엔터티</a:t>
            </a:r>
            <a:r>
              <a:rPr lang="ko-KR" altLang="en-US" sz="2000" dirty="0"/>
              <a:t> 무결성 </a:t>
            </a:r>
            <a:endParaRPr lang="en-US" altLang="ko-KR" sz="20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ko-KR" altLang="en-US" sz="20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000" dirty="0" err="1"/>
              <a:t>엔터티</a:t>
            </a:r>
            <a:r>
              <a:rPr lang="ko-KR" altLang="en-US" sz="2000" dirty="0"/>
              <a:t> 유일성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0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000" dirty="0"/>
              <a:t>데이터 혼용배제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0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000" dirty="0"/>
              <a:t>타 </a:t>
            </a:r>
            <a:r>
              <a:rPr lang="ko-KR" altLang="en-US" sz="2000" dirty="0" err="1"/>
              <a:t>엔터티와</a:t>
            </a:r>
            <a:r>
              <a:rPr lang="ko-KR" altLang="en-US" sz="2000" dirty="0"/>
              <a:t> 관계 존재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0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000" dirty="0"/>
              <a:t>프로세스 도출 지양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0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000" dirty="0"/>
              <a:t>화면 도출 지양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0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000" dirty="0"/>
              <a:t>데이터 관리 요건</a:t>
            </a:r>
            <a:endParaRPr lang="en-US" altLang="ko-KR" sz="20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ko-KR" alt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B8916-ED48-1F56-E85B-C71078531CD7}"/>
              </a:ext>
            </a:extLst>
          </p:cNvPr>
          <p:cNvSpPr txBox="1"/>
          <p:nvPr/>
        </p:nvSpPr>
        <p:spPr>
          <a:xfrm>
            <a:off x="3946968" y="1060433"/>
            <a:ext cx="79170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/>
              <a:t>엔터티를</a:t>
            </a:r>
            <a:r>
              <a:rPr lang="ko-KR" altLang="en-US" sz="1200" dirty="0"/>
              <a:t> 명확하게 정의(</a:t>
            </a:r>
            <a:r>
              <a:rPr lang="en-US" altLang="ko-KR" sz="1200" dirty="0"/>
              <a:t>Definition</a:t>
            </a:r>
            <a:r>
              <a:rPr lang="ko-KR" altLang="en-US" sz="1200" dirty="0"/>
              <a:t>) 하는 것은 데이터 모델링을 수행할 때 가장 중요한 부분이면서,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동시에 가장 간과하는 부분이기도 하다. </a:t>
            </a:r>
            <a:r>
              <a:rPr lang="ko-KR" altLang="en-US" sz="1200" b="1" u="sng" dirty="0" err="1">
                <a:solidFill>
                  <a:srgbClr val="FF0000"/>
                </a:solidFill>
              </a:rPr>
              <a:t>엔터티만</a:t>
            </a:r>
            <a:r>
              <a:rPr lang="ko-KR" altLang="en-US" sz="1200" b="1" u="sng" dirty="0">
                <a:solidFill>
                  <a:srgbClr val="FF0000"/>
                </a:solidFill>
              </a:rPr>
              <a:t> 명확하게 정의하면 모델링의 많은 문제는 해결된다.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0B82D6-707A-7A05-6809-C3292592C7CD}"/>
              </a:ext>
            </a:extLst>
          </p:cNvPr>
          <p:cNvSpPr txBox="1"/>
          <p:nvPr/>
        </p:nvSpPr>
        <p:spPr>
          <a:xfrm>
            <a:off x="3946968" y="1673414"/>
            <a:ext cx="79170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/>
              <a:t>엔터티</a:t>
            </a:r>
            <a:r>
              <a:rPr lang="ko-KR" altLang="en-US" sz="1200" dirty="0"/>
              <a:t> 무결성</a:t>
            </a:r>
            <a:r>
              <a:rPr lang="en-US" altLang="ko-KR" sz="1200" dirty="0"/>
              <a:t>(Entity Integrity)</a:t>
            </a:r>
            <a:r>
              <a:rPr lang="ko-KR" altLang="en-US" sz="1200" dirty="0"/>
              <a:t>은 </a:t>
            </a:r>
            <a:r>
              <a:rPr lang="ko-KR" altLang="en-US" sz="1200" b="1" u="sng" dirty="0">
                <a:solidFill>
                  <a:srgbClr val="FF0000"/>
                </a:solidFill>
              </a:rPr>
              <a:t>물리적인 주키</a:t>
            </a:r>
            <a:r>
              <a:rPr lang="en-US" altLang="ko-KR" sz="1200" b="1" u="sng" dirty="0">
                <a:solidFill>
                  <a:srgbClr val="FF0000"/>
                </a:solidFill>
              </a:rPr>
              <a:t>(Primary Key)</a:t>
            </a:r>
            <a:r>
              <a:rPr lang="ko-KR" altLang="en-US" sz="1200" b="1" u="sng" dirty="0">
                <a:solidFill>
                  <a:srgbClr val="FF0000"/>
                </a:solidFill>
              </a:rPr>
              <a:t>가 존재해야 하는 것</a:t>
            </a:r>
            <a:r>
              <a:rPr lang="ko-KR" altLang="en-US" sz="1200" dirty="0"/>
              <a:t>은 물론이고</a:t>
            </a:r>
            <a:r>
              <a:rPr lang="en-US" altLang="ko-KR" sz="1200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dirty="0" err="1">
                <a:solidFill>
                  <a:srgbClr val="FF0000"/>
                </a:solidFill>
              </a:rPr>
              <a:t>엔터티의</a:t>
            </a:r>
            <a:r>
              <a:rPr lang="ko-KR" altLang="en-US" sz="1200" b="1" dirty="0">
                <a:solidFill>
                  <a:srgbClr val="FF0000"/>
                </a:solidFill>
              </a:rPr>
              <a:t> 인스턴스를 식별할 수 있는 식별자가 존재해야 한다는 것</a:t>
            </a:r>
            <a:r>
              <a:rPr lang="ko-KR" altLang="en-US" sz="1200" dirty="0"/>
              <a:t>을 의미한다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79F27D-6C4D-65F2-D941-1ED5D266E206}"/>
              </a:ext>
            </a:extLst>
          </p:cNvPr>
          <p:cNvSpPr txBox="1"/>
          <p:nvPr/>
        </p:nvSpPr>
        <p:spPr>
          <a:xfrm>
            <a:off x="3946968" y="2286395"/>
            <a:ext cx="79170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/>
              <a:t>엔터티는</a:t>
            </a:r>
            <a:r>
              <a:rPr lang="ko-KR" altLang="en-US" sz="1200" dirty="0"/>
              <a:t> 같은 성격의 데이터는 </a:t>
            </a:r>
            <a:r>
              <a:rPr lang="ko-KR" altLang="en-US" sz="1200" b="1" u="sng" dirty="0">
                <a:solidFill>
                  <a:srgbClr val="FF0000"/>
                </a:solidFill>
              </a:rPr>
              <a:t>전사적으로 유일해야</a:t>
            </a:r>
            <a:r>
              <a:rPr lang="ko-KR" altLang="en-US" sz="1200" dirty="0"/>
              <a:t> 한다</a:t>
            </a:r>
            <a:r>
              <a:rPr lang="en-US" altLang="ko-KR" sz="12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이는 </a:t>
            </a:r>
            <a:r>
              <a:rPr lang="ko-KR" altLang="en-US" sz="1200" b="1" u="sng" dirty="0">
                <a:solidFill>
                  <a:srgbClr val="FF0000"/>
                </a:solidFill>
              </a:rPr>
              <a:t>유사한 </a:t>
            </a:r>
            <a:r>
              <a:rPr lang="ko-KR" altLang="en-US" sz="1200" b="1" u="sng" dirty="0" err="1">
                <a:solidFill>
                  <a:srgbClr val="FF0000"/>
                </a:solidFill>
              </a:rPr>
              <a:t>엔터티는</a:t>
            </a:r>
            <a:r>
              <a:rPr lang="ko-KR" altLang="en-US" sz="1200" b="1" u="sng" dirty="0">
                <a:solidFill>
                  <a:srgbClr val="FF0000"/>
                </a:solidFill>
              </a:rPr>
              <a:t> 통합돼야 한다는 것</a:t>
            </a:r>
            <a:r>
              <a:rPr lang="ko-KR" altLang="en-US" sz="1200" dirty="0"/>
              <a:t>을 의미한다</a:t>
            </a:r>
            <a:r>
              <a:rPr lang="en-US" altLang="ko-KR" sz="1200" dirty="0"/>
              <a:t>. </a:t>
            </a:r>
            <a:r>
              <a:rPr lang="ko-KR" altLang="en-US" sz="1200" b="1" u="sng" dirty="0">
                <a:solidFill>
                  <a:srgbClr val="FF0000"/>
                </a:solidFill>
              </a:rPr>
              <a:t>하나의 주제는 하나의 </a:t>
            </a:r>
            <a:r>
              <a:rPr lang="ko-KR" altLang="en-US" sz="1200" b="1" u="sng" dirty="0" err="1">
                <a:solidFill>
                  <a:srgbClr val="FF0000"/>
                </a:solidFill>
              </a:rPr>
              <a:t>엔터티에서만</a:t>
            </a:r>
            <a:r>
              <a:rPr lang="ko-KR" altLang="en-US" sz="1200" b="1" u="sng" dirty="0">
                <a:solidFill>
                  <a:srgbClr val="FF0000"/>
                </a:solidFill>
              </a:rPr>
              <a:t> 식별</a:t>
            </a:r>
            <a:r>
              <a:rPr lang="ko-KR" altLang="en-US" sz="1200" dirty="0"/>
              <a:t>돼야 한다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B4F029-8F16-014A-D312-7AF1F6CBCE24}"/>
              </a:ext>
            </a:extLst>
          </p:cNvPr>
          <p:cNvSpPr txBox="1"/>
          <p:nvPr/>
        </p:nvSpPr>
        <p:spPr>
          <a:xfrm>
            <a:off x="3946968" y="2899376"/>
            <a:ext cx="79170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유사한 데이터를 통합하는 것이 </a:t>
            </a:r>
            <a:r>
              <a:rPr lang="ko-KR" altLang="en-US" sz="1200" dirty="0" err="1"/>
              <a:t>엔터티</a:t>
            </a:r>
            <a:r>
              <a:rPr lang="ko-KR" altLang="en-US" sz="1200" dirty="0"/>
              <a:t> 설계의 중요한 원칙인 것과 마찬가지로</a:t>
            </a:r>
            <a:r>
              <a:rPr lang="en-US" altLang="ko-KR" sz="1200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u="sng" dirty="0">
                <a:solidFill>
                  <a:srgbClr val="FF0000"/>
                </a:solidFill>
              </a:rPr>
              <a:t>하나의 </a:t>
            </a:r>
            <a:r>
              <a:rPr lang="ko-KR" altLang="en-US" sz="1200" b="1" u="sng" dirty="0" err="1">
                <a:solidFill>
                  <a:srgbClr val="FF0000"/>
                </a:solidFill>
              </a:rPr>
              <a:t>엔터티에</a:t>
            </a:r>
            <a:r>
              <a:rPr lang="ko-KR" altLang="en-US" sz="1200" b="1" u="sng" dirty="0">
                <a:solidFill>
                  <a:srgbClr val="FF0000"/>
                </a:solidFill>
              </a:rPr>
              <a:t> 서로 다른 성격의 데이터를 혼용해서는 안되는 것</a:t>
            </a:r>
            <a:r>
              <a:rPr lang="ko-KR" altLang="en-US" sz="1200" dirty="0"/>
              <a:t>도 </a:t>
            </a:r>
            <a:r>
              <a:rPr lang="ko-KR" altLang="en-US" sz="1200" dirty="0" err="1"/>
              <a:t>엔터티</a:t>
            </a:r>
            <a:r>
              <a:rPr lang="ko-KR" altLang="en-US" sz="1200" dirty="0"/>
              <a:t> 설계의 중요한 원칙이다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C60FF4-97AE-69B1-4FC4-8DEC255E1BDA}"/>
              </a:ext>
            </a:extLst>
          </p:cNvPr>
          <p:cNvSpPr txBox="1"/>
          <p:nvPr/>
        </p:nvSpPr>
        <p:spPr>
          <a:xfrm>
            <a:off x="3946968" y="3512357"/>
            <a:ext cx="79170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u="sng" dirty="0" err="1">
                <a:solidFill>
                  <a:srgbClr val="FF0000"/>
                </a:solidFill>
              </a:rPr>
              <a:t>엔터티는</a:t>
            </a:r>
            <a:r>
              <a:rPr lang="ko-KR" altLang="en-US" sz="1200" b="1" u="sng" dirty="0">
                <a:solidFill>
                  <a:srgbClr val="FF0000"/>
                </a:solidFill>
              </a:rPr>
              <a:t> 보통 다른 </a:t>
            </a:r>
            <a:r>
              <a:rPr lang="ko-KR" altLang="en-US" sz="1200" b="1" u="sng" dirty="0" err="1">
                <a:solidFill>
                  <a:srgbClr val="FF0000"/>
                </a:solidFill>
              </a:rPr>
              <a:t>엔터티와</a:t>
            </a:r>
            <a:r>
              <a:rPr lang="ko-KR" altLang="en-US" sz="1200" b="1" u="sng" dirty="0">
                <a:solidFill>
                  <a:srgbClr val="FF0000"/>
                </a:solidFill>
              </a:rPr>
              <a:t> 관계가 존재하는 것이 일반적</a:t>
            </a:r>
            <a:r>
              <a:rPr lang="ko-KR" altLang="en-US" sz="1200" dirty="0"/>
              <a:t>이다</a:t>
            </a:r>
            <a:r>
              <a:rPr lang="en-US" altLang="ko-KR" sz="1200" dirty="0"/>
              <a:t>. </a:t>
            </a:r>
            <a:r>
              <a:rPr lang="ko-KR" altLang="en-US" sz="1200" dirty="0"/>
              <a:t>따라서 표현상의 약속을 제외하고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어떤 </a:t>
            </a:r>
            <a:r>
              <a:rPr lang="ko-KR" altLang="en-US" sz="1200" dirty="0" err="1"/>
              <a:t>엔터티</a:t>
            </a:r>
            <a:r>
              <a:rPr lang="ko-KR" altLang="en-US" sz="1200" dirty="0"/>
              <a:t> 와도 관계가 존재하지 않으면 그 </a:t>
            </a:r>
            <a:r>
              <a:rPr lang="ko-KR" altLang="en-US" sz="1200" dirty="0" err="1"/>
              <a:t>엔터티의</a:t>
            </a:r>
            <a:r>
              <a:rPr lang="ko-KR" altLang="en-US" sz="1200" dirty="0"/>
              <a:t> 성격에 대해서 다시 한 번 살펴야 한다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7A38AF-94AB-41C0-D706-BAF2E1B5D9A2}"/>
              </a:ext>
            </a:extLst>
          </p:cNvPr>
          <p:cNvSpPr txBox="1"/>
          <p:nvPr/>
        </p:nvSpPr>
        <p:spPr>
          <a:xfrm>
            <a:off x="3946967" y="4125338"/>
            <a:ext cx="79170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실무에서 프로세스에 따라 </a:t>
            </a:r>
            <a:r>
              <a:rPr lang="ko-KR" altLang="en-US" sz="1200" dirty="0" err="1"/>
              <a:t>엔터티를</a:t>
            </a:r>
            <a:r>
              <a:rPr lang="ko-KR" altLang="en-US" sz="1200" dirty="0"/>
              <a:t> 설계하는 경향이 있는데</a:t>
            </a:r>
            <a:r>
              <a:rPr lang="en-US" altLang="ko-KR" sz="1200" dirty="0"/>
              <a:t>, </a:t>
            </a:r>
            <a:r>
              <a:rPr lang="ko-KR" altLang="en-US" sz="1200" b="1" u="sng" dirty="0">
                <a:solidFill>
                  <a:srgbClr val="FF0000"/>
                </a:solidFill>
              </a:rPr>
              <a:t>일반적으로 프로세스와 </a:t>
            </a:r>
            <a:r>
              <a:rPr lang="ko-KR" altLang="en-US" sz="1200" b="1" u="sng" dirty="0" err="1">
                <a:solidFill>
                  <a:srgbClr val="FF0000"/>
                </a:solidFill>
              </a:rPr>
              <a:t>엔터티는</a:t>
            </a:r>
            <a:r>
              <a:rPr lang="ko-KR" altLang="en-US" sz="1200" b="1" u="sng" dirty="0">
                <a:solidFill>
                  <a:srgbClr val="FF0000"/>
                </a:solidFill>
              </a:rPr>
              <a:t> 별개</a:t>
            </a:r>
            <a:r>
              <a:rPr lang="ko-KR" altLang="en-US" sz="1200" dirty="0"/>
              <a:t>다</a:t>
            </a:r>
            <a:r>
              <a:rPr lang="en-US" altLang="ko-KR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프로세스의 변화에 따라 </a:t>
            </a:r>
            <a:r>
              <a:rPr lang="ko-KR" altLang="en-US" sz="1200" dirty="0" err="1"/>
              <a:t>엔터티나</a:t>
            </a:r>
            <a:r>
              <a:rPr lang="ko-KR" altLang="en-US" sz="1200" dirty="0"/>
              <a:t> 관계가 바뀔 수 밖에 없어 유연하지 않은 모델이 된다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0157EC-D18E-6C58-6BA9-4475F0E2FEE2}"/>
              </a:ext>
            </a:extLst>
          </p:cNvPr>
          <p:cNvSpPr txBox="1"/>
          <p:nvPr/>
        </p:nvSpPr>
        <p:spPr>
          <a:xfrm>
            <a:off x="3946966" y="4738319"/>
            <a:ext cx="79170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프로세스와 마찬가지로 화면별로 </a:t>
            </a:r>
            <a:r>
              <a:rPr lang="ko-KR" altLang="en-US" sz="1200" dirty="0" err="1"/>
              <a:t>엔터티를</a:t>
            </a:r>
            <a:r>
              <a:rPr lang="ko-KR" altLang="en-US" sz="1200" dirty="0"/>
              <a:t> 만드는 경우</a:t>
            </a:r>
            <a:r>
              <a:rPr lang="en-US" altLang="ko-KR" sz="1200" dirty="0"/>
              <a:t>, </a:t>
            </a:r>
            <a:r>
              <a:rPr lang="ko-KR" altLang="en-US" sz="1200" b="1" u="sng" dirty="0">
                <a:solidFill>
                  <a:srgbClr val="FF0000"/>
                </a:solidFill>
              </a:rPr>
              <a:t>하나의 화면에 하나의 </a:t>
            </a:r>
            <a:r>
              <a:rPr lang="ko-KR" altLang="en-US" sz="1200" b="1" u="sng" dirty="0" err="1">
                <a:solidFill>
                  <a:srgbClr val="FF0000"/>
                </a:solidFill>
              </a:rPr>
              <a:t>엔터티를</a:t>
            </a:r>
            <a:r>
              <a:rPr lang="ko-KR" altLang="en-US" sz="1200" b="1" u="sng" dirty="0">
                <a:solidFill>
                  <a:srgbClr val="FF0000"/>
                </a:solidFill>
              </a:rPr>
              <a:t> 매핑해서 설계하는 것 은 지양</a:t>
            </a:r>
            <a:r>
              <a:rPr lang="ko-KR" altLang="en-US" sz="1200" dirty="0"/>
              <a:t>해야 한다</a:t>
            </a:r>
            <a:r>
              <a:rPr lang="en-US" altLang="ko-KR" sz="1200" dirty="0"/>
              <a:t>. </a:t>
            </a:r>
            <a:r>
              <a:rPr lang="ko-KR" altLang="en-US" sz="1200" dirty="0"/>
              <a:t>화면은 뷰와 유사하며</a:t>
            </a:r>
            <a:r>
              <a:rPr lang="en-US" altLang="ko-KR" sz="1200" dirty="0"/>
              <a:t>, </a:t>
            </a:r>
            <a:r>
              <a:rPr lang="ko-KR" altLang="en-US" sz="1200" dirty="0"/>
              <a:t>대부분 </a:t>
            </a:r>
            <a:r>
              <a:rPr lang="ko-KR" altLang="en-US" sz="1200" dirty="0" err="1"/>
              <a:t>엔터티와</a:t>
            </a:r>
            <a:r>
              <a:rPr lang="ko-KR" altLang="en-US" sz="1200" dirty="0"/>
              <a:t> 일대일</a:t>
            </a:r>
            <a:r>
              <a:rPr lang="en-US" altLang="ko-KR" sz="1200" dirty="0"/>
              <a:t>(1:1)</a:t>
            </a:r>
            <a:r>
              <a:rPr lang="ko-KR" altLang="en-US" sz="1200" dirty="0"/>
              <a:t>로 매핑 되지 않는다</a:t>
            </a:r>
            <a:r>
              <a:rPr lang="en-US" altLang="ko-KR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화면 </a:t>
            </a:r>
            <a:r>
              <a:rPr lang="en-US" altLang="ko-KR" sz="1200" dirty="0"/>
              <a:t>vs </a:t>
            </a:r>
            <a:r>
              <a:rPr lang="ko-KR" altLang="en-US" sz="1200" dirty="0" err="1"/>
              <a:t>엔터티</a:t>
            </a:r>
            <a:r>
              <a:rPr lang="en-US" altLang="ko-KR" sz="1200" dirty="0"/>
              <a:t>= </a:t>
            </a:r>
            <a:r>
              <a:rPr lang="ko-KR" altLang="en-US" sz="1200" dirty="0"/>
              <a:t>다 </a:t>
            </a:r>
            <a:r>
              <a:rPr lang="en-US" altLang="ko-KR" sz="1200" dirty="0"/>
              <a:t>vs </a:t>
            </a:r>
            <a:r>
              <a:rPr lang="ko-KR" altLang="en-US" sz="1200" dirty="0"/>
              <a:t>다 </a:t>
            </a:r>
            <a:r>
              <a:rPr lang="en-US" altLang="ko-KR" sz="1200" dirty="0"/>
              <a:t> </a:t>
            </a:r>
            <a:r>
              <a:rPr lang="ko-KR" altLang="en-US" sz="1200" dirty="0"/>
              <a:t>관계가 많다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C2F8A4-817D-B606-8F9F-F2EFE3FD59E8}"/>
              </a:ext>
            </a:extLst>
          </p:cNvPr>
          <p:cNvSpPr txBox="1"/>
          <p:nvPr/>
        </p:nvSpPr>
        <p:spPr>
          <a:xfrm>
            <a:off x="3946966" y="5351299"/>
            <a:ext cx="79170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마지막으로 가장 근본적인 원칙은 데이터베이스에서 </a:t>
            </a:r>
            <a:r>
              <a:rPr lang="ko-KR" altLang="en-US" sz="1200" b="1" u="sng" dirty="0">
                <a:solidFill>
                  <a:srgbClr val="FF0000"/>
                </a:solidFill>
              </a:rPr>
              <a:t>관리하려는 데이터를 </a:t>
            </a:r>
            <a:r>
              <a:rPr lang="ko-KR" altLang="en-US" sz="1200" b="1" u="sng" dirty="0" err="1">
                <a:solidFill>
                  <a:srgbClr val="FF0000"/>
                </a:solidFill>
              </a:rPr>
              <a:t>엔터티로</a:t>
            </a:r>
            <a:r>
              <a:rPr lang="ko-KR" altLang="en-US" sz="1200" b="1" u="sng" dirty="0">
                <a:solidFill>
                  <a:srgbClr val="FF0000"/>
                </a:solidFill>
              </a:rPr>
              <a:t> 설계해야 한다는 것</a:t>
            </a:r>
            <a:r>
              <a:rPr lang="ko-KR" altLang="en-US" sz="1200" dirty="0"/>
              <a:t>이다</a:t>
            </a:r>
            <a:r>
              <a:rPr lang="en-US" altLang="ko-KR" sz="12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관리할 필요 없는 데이터를 </a:t>
            </a:r>
            <a:r>
              <a:rPr lang="ko-KR" altLang="en-US" sz="1200" dirty="0" err="1"/>
              <a:t>엔터티로</a:t>
            </a:r>
            <a:r>
              <a:rPr lang="ko-KR" altLang="en-US" sz="1200" dirty="0"/>
              <a:t> 관리할 때가 간혹 있다</a:t>
            </a:r>
            <a:r>
              <a:rPr lang="en-US" altLang="ko-KR" sz="1200" dirty="0"/>
              <a:t>. </a:t>
            </a:r>
            <a:r>
              <a:rPr lang="ko-KR" altLang="en-US" sz="1200" dirty="0"/>
              <a:t>설계했더라도 사용하지 않는다면 삭제해야 한다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65008A-FC20-A547-0067-FD3D42A3B9CE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600" dirty="0" err="1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엔터티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(Entity)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5B7E43-3ED6-E22E-4814-43AD690ED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8179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CB5843-5367-979B-9E2E-3CDB6605FE76}"/>
              </a:ext>
            </a:extLst>
          </p:cNvPr>
          <p:cNvSpPr txBox="1"/>
          <p:nvPr/>
        </p:nvSpPr>
        <p:spPr>
          <a:xfrm>
            <a:off x="866911" y="267130"/>
            <a:ext cx="8127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1.5. </a:t>
            </a:r>
            <a:r>
              <a:rPr lang="ko-KR" alt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엔터티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명명 규칙 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가장 어려움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40931C-3093-F8D3-7135-8EB591015DDC}"/>
              </a:ext>
            </a:extLst>
          </p:cNvPr>
          <p:cNvSpPr txBox="1"/>
          <p:nvPr/>
        </p:nvSpPr>
        <p:spPr>
          <a:xfrm>
            <a:off x="704863" y="913377"/>
            <a:ext cx="490272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1800" dirty="0"/>
              <a:t>데이터 성격을 파악하기 쉽게</a:t>
            </a:r>
            <a:endParaRPr lang="en-US" altLang="ko-KR" sz="18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ko-KR" altLang="en-US" sz="18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1800" dirty="0"/>
              <a:t>일관성 있게</a:t>
            </a:r>
            <a:endParaRPr lang="en-US" altLang="ko-KR" sz="18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ko-KR" altLang="en-US" sz="18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1800" dirty="0"/>
              <a:t>구체적으로 명명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18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1800" dirty="0"/>
              <a:t>확장성을 고려하여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18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1800" dirty="0"/>
              <a:t>필요한 단어로만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18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1800" dirty="0"/>
              <a:t>프로세스를 표현하지 않도록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18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1800" dirty="0"/>
              <a:t>명사형으로</a:t>
            </a:r>
            <a:endParaRPr lang="en-US" altLang="ko-KR" sz="18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18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1800" dirty="0"/>
              <a:t>가능하면 짧게</a:t>
            </a:r>
            <a:endParaRPr lang="en-US" altLang="ko-KR" sz="18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18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1800" dirty="0">
                <a:solidFill>
                  <a:srgbClr val="FF0000"/>
                </a:solidFill>
              </a:rPr>
              <a:t>테이블명이 </a:t>
            </a:r>
            <a:r>
              <a:rPr lang="ko-KR" altLang="en-US" sz="1800" dirty="0" err="1">
                <a:solidFill>
                  <a:srgbClr val="FF0000"/>
                </a:solidFill>
              </a:rPr>
              <a:t>엔터티</a:t>
            </a:r>
            <a:r>
              <a:rPr lang="ko-KR" altLang="en-US" sz="1800" dirty="0">
                <a:solidFill>
                  <a:srgbClr val="FF0000"/>
                </a:solidFill>
              </a:rPr>
              <a:t> 명에 종속되지 않도록</a:t>
            </a:r>
            <a:endParaRPr lang="en-US" altLang="ko-KR" sz="1800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18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1800" dirty="0"/>
              <a:t>동일한 </a:t>
            </a:r>
            <a:r>
              <a:rPr lang="ko-KR" altLang="en-US" sz="1800" dirty="0" err="1"/>
              <a:t>엔터티</a:t>
            </a:r>
            <a:r>
              <a:rPr lang="ko-KR" altLang="en-US" sz="1800" dirty="0"/>
              <a:t> 명이 없도록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B8916-ED48-1F56-E85B-C71078531CD7}"/>
              </a:ext>
            </a:extLst>
          </p:cNvPr>
          <p:cNvSpPr txBox="1"/>
          <p:nvPr/>
        </p:nvSpPr>
        <p:spPr>
          <a:xfrm>
            <a:off x="4167306" y="911374"/>
            <a:ext cx="79170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/>
              <a:t>엔터티</a:t>
            </a:r>
            <a:r>
              <a:rPr lang="ko-KR" altLang="en-US" sz="1200" dirty="0"/>
              <a:t> 명을 정하는 가장 중요한 원칙은 </a:t>
            </a:r>
            <a:r>
              <a:rPr lang="ko-KR" altLang="en-US" sz="1200" b="1" u="sng" dirty="0">
                <a:solidFill>
                  <a:srgbClr val="FF0000"/>
                </a:solidFill>
              </a:rPr>
              <a:t>데이터 성격을 가장 적절하게 표현하는 것</a:t>
            </a:r>
            <a:r>
              <a:rPr lang="ko-KR" altLang="en-US" sz="1200" dirty="0"/>
              <a:t>이다</a:t>
            </a:r>
            <a:r>
              <a:rPr lang="en-US" altLang="ko-KR" sz="12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/>
              <a:t>엔터티</a:t>
            </a:r>
            <a:r>
              <a:rPr lang="ko-KR" altLang="en-US" sz="1200" dirty="0"/>
              <a:t> 명을 보고 어떤 데이터를 관리하는지 알 수 있도록 적절하고 구체적으로 표현하는 것이 중요하다</a:t>
            </a:r>
            <a:r>
              <a:rPr lang="en-US" altLang="ko-KR" sz="12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0B82D6-707A-7A05-6809-C3292592C7CD}"/>
              </a:ext>
            </a:extLst>
          </p:cNvPr>
          <p:cNvSpPr txBox="1"/>
          <p:nvPr/>
        </p:nvSpPr>
        <p:spPr>
          <a:xfrm>
            <a:off x="3946968" y="1460073"/>
            <a:ext cx="79170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/>
              <a:t>엔터티</a:t>
            </a:r>
            <a:r>
              <a:rPr lang="ko-KR" altLang="en-US" sz="1200" dirty="0"/>
              <a:t> 명을 정하는 </a:t>
            </a:r>
            <a:r>
              <a:rPr lang="ko-KR" altLang="en-US" sz="1200" b="1" u="sng" dirty="0">
                <a:solidFill>
                  <a:srgbClr val="FF0000"/>
                </a:solidFill>
              </a:rPr>
              <a:t>중요한 원칙 중 하나는 일관성</a:t>
            </a:r>
            <a:r>
              <a:rPr lang="ko-KR" altLang="en-US" sz="1200" dirty="0"/>
              <a:t>이다</a:t>
            </a:r>
            <a:r>
              <a:rPr lang="en-US" altLang="ko-KR" sz="1200" dirty="0"/>
              <a:t>. </a:t>
            </a:r>
            <a:r>
              <a:rPr lang="ko-KR" altLang="en-US" sz="1200" dirty="0"/>
              <a:t>일정한 약속을 정해 준수해야 한다</a:t>
            </a:r>
            <a:r>
              <a:rPr lang="en-US" altLang="ko-KR" sz="12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/>
              <a:t>모델러</a:t>
            </a:r>
            <a:r>
              <a:rPr lang="ko-KR" altLang="en-US" sz="1200" dirty="0"/>
              <a:t> 스스로 규칙을 정해서</a:t>
            </a:r>
            <a:r>
              <a:rPr lang="en-US" altLang="ko-KR" sz="1200" dirty="0"/>
              <a:t> </a:t>
            </a:r>
            <a:r>
              <a:rPr lang="ko-KR" altLang="en-US" sz="1200" dirty="0"/>
              <a:t>일관되게 </a:t>
            </a:r>
            <a:r>
              <a:rPr lang="ko-KR" altLang="en-US" sz="1200" dirty="0" err="1"/>
              <a:t>엔터티</a:t>
            </a:r>
            <a:r>
              <a:rPr lang="ko-KR" altLang="en-US" sz="1200" dirty="0"/>
              <a:t> 명을 명명할 수 있어야 바람직하다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79F27D-6C4D-65F2-D941-1ED5D266E206}"/>
              </a:ext>
            </a:extLst>
          </p:cNvPr>
          <p:cNvSpPr txBox="1"/>
          <p:nvPr/>
        </p:nvSpPr>
        <p:spPr>
          <a:xfrm>
            <a:off x="3946968" y="2008772"/>
            <a:ext cx="79170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구체적으로 정해야 한다는 의미는 </a:t>
            </a:r>
            <a:r>
              <a:rPr lang="ko-KR" altLang="en-US" sz="1200" b="1" u="sng" dirty="0">
                <a:solidFill>
                  <a:srgbClr val="FF0000"/>
                </a:solidFill>
              </a:rPr>
              <a:t>데이터 성격을 파악하기 쉽게 정한다</a:t>
            </a:r>
            <a:r>
              <a:rPr lang="ko-KR" altLang="en-US" sz="1200" dirty="0"/>
              <a:t>는 의미와 유사하다</a:t>
            </a:r>
            <a:r>
              <a:rPr lang="en-US" altLang="ko-KR" sz="12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또한 모호하게 정하지 말아야 한다는 것을 의미한다</a:t>
            </a:r>
            <a:r>
              <a:rPr lang="en-US" altLang="ko-KR" sz="1200" dirty="0"/>
              <a:t>. </a:t>
            </a:r>
            <a:r>
              <a:rPr lang="ko-KR" altLang="en-US" sz="1200" dirty="0"/>
              <a:t>결국 이름으로 </a:t>
            </a:r>
            <a:r>
              <a:rPr lang="ko-KR" altLang="en-US" sz="1200" dirty="0" err="1"/>
              <a:t>엔터티의</a:t>
            </a:r>
            <a:r>
              <a:rPr lang="ko-KR" altLang="en-US" sz="1200" dirty="0"/>
              <a:t> 성격을 표현해야 한다는 의미다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B4F029-8F16-014A-D312-7AF1F6CBCE24}"/>
              </a:ext>
            </a:extLst>
          </p:cNvPr>
          <p:cNvSpPr txBox="1"/>
          <p:nvPr/>
        </p:nvSpPr>
        <p:spPr>
          <a:xfrm>
            <a:off x="3946968" y="2557471"/>
            <a:ext cx="79170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/>
              <a:t>엔터티</a:t>
            </a:r>
            <a:r>
              <a:rPr lang="ko-KR" altLang="en-US" sz="1200" dirty="0"/>
              <a:t> 명을 일반적으로 정해야 한다는 의미는 넓은 개념을 포함할 수 있도록 유연하게 정한다는 의미다</a:t>
            </a:r>
            <a:r>
              <a:rPr lang="en-US" altLang="ko-KR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확장성을 고려한다는 것은 </a:t>
            </a:r>
            <a:r>
              <a:rPr lang="ko-KR" altLang="en-US" sz="1200" b="1" u="sng" dirty="0">
                <a:solidFill>
                  <a:srgbClr val="FF0000"/>
                </a:solidFill>
              </a:rPr>
              <a:t>데이터 통합을 고려한다</a:t>
            </a:r>
            <a:r>
              <a:rPr lang="ko-KR" altLang="en-US" sz="1200" dirty="0"/>
              <a:t>는 의미 와도 같다</a:t>
            </a:r>
            <a:r>
              <a:rPr lang="en-US" altLang="ko-KR" sz="1200" dirty="0"/>
              <a:t>. </a:t>
            </a:r>
            <a:r>
              <a:rPr lang="ko-KR" altLang="en-US" sz="1200" dirty="0"/>
              <a:t>모델을 유연하게 설계할 줄 알아야 한다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C60FF4-97AE-69B1-4FC4-8DEC255E1BDA}"/>
              </a:ext>
            </a:extLst>
          </p:cNvPr>
          <p:cNvSpPr txBox="1"/>
          <p:nvPr/>
        </p:nvSpPr>
        <p:spPr>
          <a:xfrm>
            <a:off x="3946968" y="3031522"/>
            <a:ext cx="79170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/>
              <a:t>엔터티</a:t>
            </a:r>
            <a:r>
              <a:rPr lang="ko-KR" altLang="en-US" sz="1200" dirty="0"/>
              <a:t> 명에 </a:t>
            </a:r>
            <a:r>
              <a:rPr lang="ko-KR" altLang="en-US" sz="1200" b="1" u="sng" dirty="0">
                <a:solidFill>
                  <a:srgbClr val="FF0000"/>
                </a:solidFill>
              </a:rPr>
              <a:t>필요한 단어만을 사용하는 것</a:t>
            </a:r>
            <a:r>
              <a:rPr lang="ko-KR" altLang="en-US" sz="1200" dirty="0"/>
              <a:t>도 주요 원칙이다</a:t>
            </a:r>
            <a:r>
              <a:rPr lang="en-US" altLang="ko-KR" sz="1200" dirty="0"/>
              <a:t>. </a:t>
            </a:r>
            <a:r>
              <a:rPr lang="ko-KR" altLang="en-US" sz="1200" dirty="0"/>
              <a:t>생략해도 의미가 통하는 단어는 생략해야 한다</a:t>
            </a:r>
            <a:r>
              <a:rPr lang="en-US" altLang="ko-KR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기본</a:t>
            </a:r>
            <a:r>
              <a:rPr lang="en-US" altLang="ko-KR" sz="1200" dirty="0"/>
              <a:t>•</a:t>
            </a:r>
            <a:r>
              <a:rPr lang="ko-KR" altLang="en-US" sz="1200" dirty="0"/>
              <a:t>상세</a:t>
            </a:r>
            <a:r>
              <a:rPr lang="en-US" altLang="ko-KR" sz="1200" dirty="0"/>
              <a:t>•</a:t>
            </a:r>
            <a:r>
              <a:rPr lang="ko-KR" altLang="en-US" sz="1200" dirty="0"/>
              <a:t>내역</a:t>
            </a:r>
            <a:r>
              <a:rPr lang="en-US" altLang="ko-KR" sz="1200" dirty="0"/>
              <a:t>•</a:t>
            </a:r>
            <a:r>
              <a:rPr lang="ko-KR" altLang="en-US" sz="1200" dirty="0"/>
              <a:t>이력</a:t>
            </a:r>
            <a:r>
              <a:rPr lang="en-US" altLang="ko-KR" sz="1200" dirty="0"/>
              <a:t>•</a:t>
            </a:r>
            <a:r>
              <a:rPr lang="ko-KR" altLang="en-US" sz="1200" dirty="0"/>
              <a:t>코드</a:t>
            </a:r>
            <a:r>
              <a:rPr lang="en-US" altLang="ko-KR" sz="1200" dirty="0"/>
              <a:t>•</a:t>
            </a:r>
            <a:r>
              <a:rPr lang="ko-KR" altLang="en-US" sz="1200" dirty="0"/>
              <a:t>집계</a:t>
            </a:r>
            <a:r>
              <a:rPr lang="en-US" altLang="ko-KR" sz="1200" dirty="0"/>
              <a:t>•</a:t>
            </a:r>
            <a:r>
              <a:rPr lang="ko-KR" altLang="en-US" sz="1200" dirty="0"/>
              <a:t>백업</a:t>
            </a:r>
            <a:r>
              <a:rPr lang="en-US" altLang="ko-KR" sz="1200" dirty="0"/>
              <a:t>•</a:t>
            </a:r>
            <a:r>
              <a:rPr lang="ko-KR" altLang="en-US" sz="1200" dirty="0"/>
              <a:t>임시 등의 </a:t>
            </a:r>
            <a:r>
              <a:rPr lang="ko-KR" altLang="en-US" sz="1200" dirty="0" err="1"/>
              <a:t>접미어는</a:t>
            </a:r>
            <a:r>
              <a:rPr lang="ko-KR" altLang="en-US" sz="1200" dirty="0"/>
              <a:t> 때에 따라서 의미상 생략이 가능할 수 있다</a:t>
            </a:r>
            <a:r>
              <a:rPr lang="en-US" altLang="ko-KR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마스터</a:t>
            </a:r>
            <a:r>
              <a:rPr lang="en-US" altLang="ko-KR" sz="1200" dirty="0"/>
              <a:t>,</a:t>
            </a:r>
            <a:r>
              <a:rPr lang="ko-KR" altLang="en-US" sz="1200" dirty="0"/>
              <a:t>원장</a:t>
            </a:r>
            <a:r>
              <a:rPr lang="en-US" altLang="ko-KR" sz="1200" dirty="0"/>
              <a:t>,</a:t>
            </a:r>
            <a:r>
              <a:rPr lang="ko-KR" altLang="en-US" sz="1200" dirty="0"/>
              <a:t>처리</a:t>
            </a:r>
            <a:r>
              <a:rPr lang="en-US" altLang="ko-KR" sz="1200" dirty="0"/>
              <a:t>,</a:t>
            </a:r>
            <a:r>
              <a:rPr lang="ko-KR" altLang="en-US" sz="1200" dirty="0"/>
              <a:t>정보</a:t>
            </a:r>
            <a:r>
              <a:rPr lang="en-US" altLang="ko-KR" sz="1200" dirty="0"/>
              <a:t>,</a:t>
            </a:r>
            <a:r>
              <a:rPr lang="ko-KR" altLang="en-US" sz="1200" dirty="0"/>
              <a:t>관리</a:t>
            </a:r>
            <a:r>
              <a:rPr lang="en-US" altLang="ko-KR" sz="1200" dirty="0"/>
              <a:t>,</a:t>
            </a:r>
            <a:r>
              <a:rPr lang="ko-KR" altLang="en-US" sz="1200" dirty="0"/>
              <a:t>등록</a:t>
            </a:r>
            <a:r>
              <a:rPr lang="en-US" altLang="ko-KR" sz="1200" dirty="0"/>
              <a:t>,</a:t>
            </a:r>
            <a:r>
              <a:rPr lang="ko-KR" altLang="en-US" sz="1200" dirty="0"/>
              <a:t>리스트</a:t>
            </a:r>
            <a:r>
              <a:rPr lang="en-US" altLang="ko-KR" sz="1200" dirty="0"/>
              <a:t>,</a:t>
            </a:r>
            <a:r>
              <a:rPr lang="ko-KR" altLang="en-US" sz="1200" dirty="0"/>
              <a:t>테이블</a:t>
            </a:r>
            <a:r>
              <a:rPr lang="en-US" altLang="ko-KR" sz="1200" dirty="0"/>
              <a:t>,</a:t>
            </a:r>
            <a:r>
              <a:rPr lang="ko-KR" altLang="en-US" sz="1200" dirty="0"/>
              <a:t>매핑 등은 가급적 쓰지 마라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7A38AF-94AB-41C0-D706-BAF2E1B5D9A2}"/>
              </a:ext>
            </a:extLst>
          </p:cNvPr>
          <p:cNvSpPr txBox="1"/>
          <p:nvPr/>
        </p:nvSpPr>
        <p:spPr>
          <a:xfrm>
            <a:off x="3946967" y="3654869"/>
            <a:ext cx="79170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/>
              <a:t>“~</a:t>
            </a:r>
            <a:r>
              <a:rPr lang="ko-KR" altLang="en-US" sz="1200" dirty="0"/>
              <a:t>등록</a:t>
            </a:r>
            <a:r>
              <a:rPr lang="en-US" altLang="ko-KR" sz="1200" dirty="0"/>
              <a:t>”, ”~</a:t>
            </a:r>
            <a:r>
              <a:rPr lang="ko-KR" altLang="en-US" sz="1200" dirty="0"/>
              <a:t>처리</a:t>
            </a:r>
            <a:r>
              <a:rPr lang="en-US" altLang="ko-KR" sz="1200" dirty="0"/>
              <a:t>”</a:t>
            </a:r>
            <a:r>
              <a:rPr lang="ko-KR" altLang="en-US" sz="1200" dirty="0"/>
              <a:t> 등은 군더더기 단어지만 프로세스를 표현한 단어이기도 하다</a:t>
            </a:r>
            <a:r>
              <a:rPr lang="en-US" altLang="ko-KR" sz="1200" dirty="0"/>
              <a:t>.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/>
              <a:t>엔터티</a:t>
            </a:r>
            <a:r>
              <a:rPr lang="ko-KR" altLang="en-US" sz="1200" dirty="0"/>
              <a:t> 명에 </a:t>
            </a:r>
            <a:r>
              <a:rPr lang="ko-KR" altLang="en-US" sz="1200" b="1" u="sng" dirty="0">
                <a:solidFill>
                  <a:srgbClr val="FF0000"/>
                </a:solidFill>
              </a:rPr>
              <a:t>프로세스</a:t>
            </a:r>
            <a:r>
              <a:rPr lang="en-US" altLang="ko-KR" sz="1200" b="1" u="sng" dirty="0">
                <a:solidFill>
                  <a:srgbClr val="FF0000"/>
                </a:solidFill>
              </a:rPr>
              <a:t>(</a:t>
            </a:r>
            <a:r>
              <a:rPr lang="ko-KR" altLang="en-US" sz="1200" b="1" u="sng" dirty="0">
                <a:solidFill>
                  <a:srgbClr val="FF0000"/>
                </a:solidFill>
              </a:rPr>
              <a:t>업무</a:t>
            </a:r>
            <a:r>
              <a:rPr lang="en-US" altLang="ko-KR" sz="1200" b="1" u="sng" dirty="0">
                <a:solidFill>
                  <a:srgbClr val="FF0000"/>
                </a:solidFill>
              </a:rPr>
              <a:t>)</a:t>
            </a:r>
            <a:r>
              <a:rPr lang="ko-KR" altLang="en-US" sz="1200" b="1" u="sng" dirty="0">
                <a:solidFill>
                  <a:srgbClr val="FF0000"/>
                </a:solidFill>
              </a:rPr>
              <a:t>를 표현하는 것은 바람직하지 않다</a:t>
            </a:r>
            <a:r>
              <a:rPr lang="en-US" altLang="ko-KR" sz="1200" dirty="0"/>
              <a:t>. </a:t>
            </a:r>
            <a:r>
              <a:rPr lang="ko-KR" altLang="en-US" sz="1200" dirty="0"/>
              <a:t>업무 수행에 필요한 데이터가 무엇인지를 표현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0157EC-D18E-6C58-6BA9-4475F0E2FEE2}"/>
              </a:ext>
            </a:extLst>
          </p:cNvPr>
          <p:cNvSpPr txBox="1"/>
          <p:nvPr/>
        </p:nvSpPr>
        <p:spPr>
          <a:xfrm>
            <a:off x="3946966" y="4203568"/>
            <a:ext cx="79170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/>
              <a:t>엔터티</a:t>
            </a:r>
            <a:r>
              <a:rPr lang="ko-KR" altLang="en-US" sz="1200" dirty="0"/>
              <a:t> 명은 </a:t>
            </a:r>
            <a:r>
              <a:rPr lang="ko-KR" altLang="en-US" sz="1200" b="1" u="sng" dirty="0">
                <a:solidFill>
                  <a:srgbClr val="FF0000"/>
                </a:solidFill>
              </a:rPr>
              <a:t>명사형으로 직관적으로 사용하는 것</a:t>
            </a:r>
            <a:r>
              <a:rPr lang="ko-KR" altLang="en-US" sz="1200" dirty="0"/>
              <a:t>이 일반적이다</a:t>
            </a:r>
            <a:r>
              <a:rPr lang="en-US" altLang="ko-KR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띄어쓰기를 하지 않는 것이 또한 함축적이며</a:t>
            </a:r>
            <a:r>
              <a:rPr lang="en-US" altLang="ko-KR" sz="1200" dirty="0"/>
              <a:t>, </a:t>
            </a:r>
            <a:r>
              <a:rPr lang="ko-KR" altLang="en-US" sz="1200" dirty="0"/>
              <a:t>가독성에 문제가 될 정도로 길면 좋지 않다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C2F8A4-817D-B606-8F9F-F2EFE3FD59E8}"/>
              </a:ext>
            </a:extLst>
          </p:cNvPr>
          <p:cNvSpPr txBox="1"/>
          <p:nvPr/>
        </p:nvSpPr>
        <p:spPr>
          <a:xfrm>
            <a:off x="3946966" y="4752267"/>
            <a:ext cx="79170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u="sng" dirty="0" err="1">
                <a:solidFill>
                  <a:srgbClr val="FF0000"/>
                </a:solidFill>
              </a:rPr>
              <a:t>엔터티</a:t>
            </a:r>
            <a:r>
              <a:rPr lang="ko-KR" altLang="en-US" sz="1200" b="1" u="sng" dirty="0">
                <a:solidFill>
                  <a:srgbClr val="FF0000"/>
                </a:solidFill>
              </a:rPr>
              <a:t> 명은 짧게</a:t>
            </a:r>
            <a:r>
              <a:rPr lang="ko-KR" altLang="en-US" sz="1200" dirty="0"/>
              <a:t> 해야 한다</a:t>
            </a:r>
            <a:r>
              <a:rPr lang="en-US" altLang="ko-KR" sz="12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/>
              <a:t>엔터티</a:t>
            </a:r>
            <a:r>
              <a:rPr lang="ko-KR" altLang="en-US" sz="1200" dirty="0"/>
              <a:t> 명으로 데이터의 성격을 유추할 수 있게</a:t>
            </a:r>
            <a:r>
              <a:rPr lang="en-US" altLang="ko-KR" sz="1200" dirty="0"/>
              <a:t> </a:t>
            </a:r>
            <a:r>
              <a:rPr lang="ko-KR" altLang="en-US" sz="1200" dirty="0"/>
              <a:t>지나치게 길지 않은 것이 바람직하다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2A2591-7682-8F47-3F8C-051842F7A1B3}"/>
              </a:ext>
            </a:extLst>
          </p:cNvPr>
          <p:cNvSpPr txBox="1"/>
          <p:nvPr/>
        </p:nvSpPr>
        <p:spPr>
          <a:xfrm>
            <a:off x="5265633" y="5300966"/>
            <a:ext cx="69145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/>
              <a:t>엔터티</a:t>
            </a:r>
            <a:r>
              <a:rPr lang="ko-KR" altLang="en-US" sz="1200" dirty="0"/>
              <a:t> 명은 표준 용어를 사용하지만</a:t>
            </a:r>
            <a:r>
              <a:rPr lang="en-US" altLang="ko-KR" sz="1200" dirty="0"/>
              <a:t>, </a:t>
            </a:r>
            <a:r>
              <a:rPr lang="ko-KR" altLang="en-US" sz="1200" b="1" u="sng" dirty="0">
                <a:solidFill>
                  <a:srgbClr val="FF0000"/>
                </a:solidFill>
              </a:rPr>
              <a:t>테이블 명이 </a:t>
            </a:r>
            <a:r>
              <a:rPr lang="ko-KR" altLang="en-US" sz="1200" b="1" u="sng" dirty="0" err="1">
                <a:solidFill>
                  <a:srgbClr val="FF0000"/>
                </a:solidFill>
              </a:rPr>
              <a:t>엔터티</a:t>
            </a:r>
            <a:r>
              <a:rPr lang="ko-KR" altLang="en-US" sz="1200" b="1" u="sng" dirty="0">
                <a:solidFill>
                  <a:srgbClr val="FF0000"/>
                </a:solidFill>
              </a:rPr>
              <a:t> 명에 종속되는 것은 바람직하지 않다</a:t>
            </a:r>
            <a:r>
              <a:rPr lang="en-US" altLang="ko-KR" sz="12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/>
              <a:t>엔터티</a:t>
            </a:r>
            <a:r>
              <a:rPr lang="ko-KR" altLang="en-US" sz="1200" dirty="0"/>
              <a:t> 명이 바뀌더라도 </a:t>
            </a:r>
            <a:r>
              <a:rPr lang="ko-KR" altLang="en-US" sz="1200" b="1" u="sng" dirty="0">
                <a:solidFill>
                  <a:srgbClr val="FF0000"/>
                </a:solidFill>
              </a:rPr>
              <a:t>테이블을 재생성해야 하는 문제가 발생하지 않게</a:t>
            </a:r>
            <a:r>
              <a:rPr lang="ko-KR" altLang="en-US" sz="1200" dirty="0"/>
              <a:t> 된다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ECC7FC-DFB1-BDBE-7B7D-0AAC93B25F4D}"/>
              </a:ext>
            </a:extLst>
          </p:cNvPr>
          <p:cNvSpPr txBox="1"/>
          <p:nvPr/>
        </p:nvSpPr>
        <p:spPr>
          <a:xfrm>
            <a:off x="3946966" y="5849665"/>
            <a:ext cx="79170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테이블 명과 마찬가지로 </a:t>
            </a:r>
            <a:r>
              <a:rPr lang="ko-KR" altLang="en-US" sz="1200" dirty="0" err="1"/>
              <a:t>엔터티</a:t>
            </a:r>
            <a:r>
              <a:rPr lang="ko-KR" altLang="en-US" sz="1200" dirty="0"/>
              <a:t> 명은 </a:t>
            </a:r>
            <a:r>
              <a:rPr lang="ko-KR" altLang="en-US" sz="1200" b="1" u="sng" dirty="0">
                <a:solidFill>
                  <a:srgbClr val="FF0000"/>
                </a:solidFill>
              </a:rPr>
              <a:t>전 영역에서 </a:t>
            </a:r>
            <a:r>
              <a:rPr lang="ko-KR" altLang="en-US" sz="1200" b="1" u="sng" dirty="0" err="1">
                <a:solidFill>
                  <a:srgbClr val="FF0000"/>
                </a:solidFill>
              </a:rPr>
              <a:t>중복되서는</a:t>
            </a:r>
            <a:r>
              <a:rPr lang="ko-KR" altLang="en-US" sz="1200" b="1" u="sng" dirty="0">
                <a:solidFill>
                  <a:srgbClr val="FF0000"/>
                </a:solidFill>
              </a:rPr>
              <a:t> 안 된다</a:t>
            </a:r>
            <a:r>
              <a:rPr lang="en-US" altLang="ko-KR" sz="12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단</a:t>
            </a:r>
            <a:r>
              <a:rPr lang="en-US" altLang="ko-KR" sz="1200" dirty="0"/>
              <a:t>,</a:t>
            </a:r>
            <a:r>
              <a:rPr lang="ko-KR" altLang="en-US" sz="1200" dirty="0"/>
              <a:t> 관계선의 복잡성을 고려하여 </a:t>
            </a:r>
            <a:r>
              <a:rPr lang="ko-KR" altLang="en-US" sz="1200" dirty="0" err="1"/>
              <a:t>엔터티</a:t>
            </a:r>
            <a:r>
              <a:rPr lang="ko-KR" altLang="en-US" sz="1200" dirty="0"/>
              <a:t> 복제는 모델의 가독성을 위해 여러 번 사용하는 것이 가능하다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5015F4-C5D8-B0BE-8054-E6DE19ED772A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600" dirty="0" err="1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엔터티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(Entity)</a:t>
            </a: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1289B1AD-A1E8-F238-ED7D-2839EFA0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6253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CB5843-5367-979B-9E2E-3CDB6605FE76}"/>
              </a:ext>
            </a:extLst>
          </p:cNvPr>
          <p:cNvSpPr txBox="1"/>
          <p:nvPr/>
        </p:nvSpPr>
        <p:spPr>
          <a:xfrm>
            <a:off x="866911" y="267134"/>
            <a:ext cx="66578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다양한 </a:t>
            </a:r>
            <a:r>
              <a:rPr lang="ko-KR" alt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엔터티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명명법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40931C-3093-F8D3-7135-8EB591015DDC}"/>
              </a:ext>
            </a:extLst>
          </p:cNvPr>
          <p:cNvSpPr txBox="1"/>
          <p:nvPr/>
        </p:nvSpPr>
        <p:spPr>
          <a:xfrm>
            <a:off x="704862" y="913380"/>
            <a:ext cx="321714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400" dirty="0"/>
              <a:t>실체 </a:t>
            </a:r>
            <a:r>
              <a:rPr lang="ko-KR" altLang="en-US" sz="2400" dirty="0" err="1"/>
              <a:t>엔터티</a:t>
            </a: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400" dirty="0"/>
              <a:t>행위 </a:t>
            </a:r>
            <a:r>
              <a:rPr lang="ko-KR" altLang="en-US" sz="2400" dirty="0" err="1"/>
              <a:t>엔터티</a:t>
            </a: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400" dirty="0"/>
              <a:t>교차 </a:t>
            </a:r>
            <a:r>
              <a:rPr lang="ko-KR" altLang="en-US" sz="2400" dirty="0" err="1"/>
              <a:t>엔터티</a:t>
            </a: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400" dirty="0"/>
              <a:t>집계 </a:t>
            </a:r>
            <a:r>
              <a:rPr lang="ko-KR" altLang="en-US" sz="2400" dirty="0" err="1"/>
              <a:t>엔터티</a:t>
            </a: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400" dirty="0"/>
              <a:t>외부 </a:t>
            </a:r>
            <a:r>
              <a:rPr lang="ko-KR" altLang="en-US" sz="2400" dirty="0" err="1"/>
              <a:t>엔터티</a:t>
            </a: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400" dirty="0"/>
              <a:t>서브타입 </a:t>
            </a:r>
            <a:r>
              <a:rPr lang="ko-KR" altLang="en-US" sz="2400" dirty="0" err="1"/>
              <a:t>엔터티</a:t>
            </a: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400" dirty="0"/>
              <a:t>일대일 관계 </a:t>
            </a:r>
            <a:r>
              <a:rPr lang="ko-KR" altLang="en-US" sz="2400" dirty="0" err="1"/>
              <a:t>엔터티</a:t>
            </a:r>
            <a:endParaRPr lang="ko-KR" alt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B8916-ED48-1F56-E85B-C71078531CD7}"/>
              </a:ext>
            </a:extLst>
          </p:cNvPr>
          <p:cNvSpPr txBox="1"/>
          <p:nvPr/>
        </p:nvSpPr>
        <p:spPr>
          <a:xfrm>
            <a:off x="3946964" y="906283"/>
            <a:ext cx="7069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/>
              <a:t>엔터티</a:t>
            </a:r>
            <a:r>
              <a:rPr lang="ko-KR" altLang="en-US" sz="1200" dirty="0"/>
              <a:t> 명이 </a:t>
            </a:r>
            <a:r>
              <a:rPr lang="ko-KR" altLang="en-US" sz="1200" b="1" u="sng" dirty="0">
                <a:solidFill>
                  <a:srgbClr val="FF0000"/>
                </a:solidFill>
              </a:rPr>
              <a:t>명사로 끝나는 것</a:t>
            </a:r>
            <a:endParaRPr lang="en-US" altLang="ko-KR" sz="1200" b="1" u="sng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0B82D6-707A-7A05-6809-C3292592C7CD}"/>
              </a:ext>
            </a:extLst>
          </p:cNvPr>
          <p:cNvSpPr txBox="1"/>
          <p:nvPr/>
        </p:nvSpPr>
        <p:spPr>
          <a:xfrm>
            <a:off x="3946963" y="1635598"/>
            <a:ext cx="7069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반면에 회원이 탈퇴한 </a:t>
            </a:r>
            <a:r>
              <a:rPr lang="ko-KR" altLang="en-US" sz="1200" b="1" u="sng" dirty="0">
                <a:solidFill>
                  <a:srgbClr val="FF0000"/>
                </a:solidFill>
              </a:rPr>
              <a:t>행위를 관리한다면</a:t>
            </a:r>
            <a:r>
              <a:rPr lang="ko-KR" altLang="en-US" sz="1200" dirty="0"/>
              <a:t> 행위 </a:t>
            </a:r>
            <a:r>
              <a:rPr lang="ko-KR" altLang="en-US" sz="1200" dirty="0" err="1"/>
              <a:t>엔터티가</a:t>
            </a:r>
            <a:r>
              <a:rPr lang="ko-KR" altLang="en-US" sz="1200" dirty="0"/>
              <a:t> 되며</a:t>
            </a:r>
            <a:r>
              <a:rPr lang="en-US" altLang="ko-KR" sz="1200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/>
              <a:t>엔터티</a:t>
            </a:r>
            <a:r>
              <a:rPr lang="ko-KR" altLang="en-US" sz="1200" dirty="0"/>
              <a:t> 명은 </a:t>
            </a:r>
            <a:r>
              <a:rPr lang="en-US" altLang="ko-KR" sz="1200" dirty="0"/>
              <a:t>‘</a:t>
            </a:r>
            <a:r>
              <a:rPr lang="ko-KR" altLang="en-US" sz="1200" dirty="0"/>
              <a:t>회원탈퇴</a:t>
            </a:r>
            <a:r>
              <a:rPr lang="en-US" altLang="ko-KR" sz="1200" dirty="0"/>
              <a:t>’, ’</a:t>
            </a:r>
            <a:r>
              <a:rPr lang="ko-KR" altLang="en-US" sz="1200" dirty="0" err="1"/>
              <a:t>회원탈퇴내역</a:t>
            </a:r>
            <a:r>
              <a:rPr lang="en-US" altLang="ko-KR" sz="1200" dirty="0"/>
              <a:t>’</a:t>
            </a:r>
            <a:r>
              <a:rPr lang="ko-KR" altLang="en-US" sz="1200" dirty="0"/>
              <a:t> 등이 적절하다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79F27D-6C4D-65F2-D941-1ED5D266E206}"/>
              </a:ext>
            </a:extLst>
          </p:cNvPr>
          <p:cNvSpPr txBox="1"/>
          <p:nvPr/>
        </p:nvSpPr>
        <p:spPr>
          <a:xfrm>
            <a:off x="3946963" y="2349554"/>
            <a:ext cx="70699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교차 </a:t>
            </a:r>
            <a:r>
              <a:rPr lang="ko-KR" altLang="en-US" sz="1200" dirty="0" err="1"/>
              <a:t>엔터티의</a:t>
            </a:r>
            <a:r>
              <a:rPr lang="ko-KR" altLang="en-US" sz="1200" dirty="0"/>
              <a:t> 명명법은 관계의 명명법과 연관된다</a:t>
            </a:r>
            <a:r>
              <a:rPr lang="en-US" altLang="ko-KR" sz="12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즉 </a:t>
            </a:r>
            <a:r>
              <a:rPr lang="ko-KR" altLang="en-US" sz="1200" b="1" u="sng" dirty="0">
                <a:solidFill>
                  <a:srgbClr val="FF0000"/>
                </a:solidFill>
              </a:rPr>
              <a:t>다대다</a:t>
            </a:r>
            <a:r>
              <a:rPr lang="en-US" altLang="ko-KR" sz="1200" b="1" u="sng" dirty="0">
                <a:solidFill>
                  <a:srgbClr val="FF0000"/>
                </a:solidFill>
              </a:rPr>
              <a:t>(M:M) </a:t>
            </a:r>
            <a:r>
              <a:rPr lang="ko-KR" altLang="en-US" sz="1200" b="1" u="sng" dirty="0">
                <a:solidFill>
                  <a:srgbClr val="FF0000"/>
                </a:solidFill>
              </a:rPr>
              <a:t>관계</a:t>
            </a:r>
            <a:r>
              <a:rPr lang="ko-KR" altLang="en-US" sz="1200" dirty="0"/>
              <a:t>의 관계명은 교차 </a:t>
            </a:r>
            <a:r>
              <a:rPr lang="ko-KR" altLang="en-US" sz="1200" dirty="0" err="1"/>
              <a:t>엔터티</a:t>
            </a:r>
            <a:r>
              <a:rPr lang="ko-KR" altLang="en-US" sz="1200" dirty="0"/>
              <a:t> 명과 유사하다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B4F029-8F16-014A-D312-7AF1F6CBCE24}"/>
              </a:ext>
            </a:extLst>
          </p:cNvPr>
          <p:cNvSpPr txBox="1"/>
          <p:nvPr/>
        </p:nvSpPr>
        <p:spPr>
          <a:xfrm>
            <a:off x="3946963" y="3073035"/>
            <a:ext cx="79038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집계 </a:t>
            </a:r>
            <a:r>
              <a:rPr lang="ko-KR" altLang="en-US" sz="1200" dirty="0" err="1"/>
              <a:t>엔터티</a:t>
            </a:r>
            <a:r>
              <a:rPr lang="ko-KR" altLang="en-US" sz="1200" dirty="0"/>
              <a:t> 명을 정할 때 집계기준은 앞쪽에</a:t>
            </a:r>
            <a:r>
              <a:rPr lang="en-US" altLang="ko-KR" sz="1200" dirty="0"/>
              <a:t>, </a:t>
            </a:r>
            <a:r>
              <a:rPr lang="ko-KR" altLang="en-US" sz="1200" dirty="0"/>
              <a:t>대상</a:t>
            </a:r>
            <a:r>
              <a:rPr lang="en-US" altLang="ko-KR" sz="1200" dirty="0"/>
              <a:t>(</a:t>
            </a:r>
            <a:r>
              <a:rPr lang="ko-KR" altLang="en-US" sz="1200" dirty="0"/>
              <a:t>무엇 집계했는지</a:t>
            </a:r>
            <a:r>
              <a:rPr lang="en-US" altLang="ko-KR" sz="1200" dirty="0"/>
              <a:t>)</a:t>
            </a:r>
            <a:r>
              <a:rPr lang="ko-KR" altLang="en-US" sz="1200" dirty="0"/>
              <a:t>은 뒤쪽에 위치하는 것이 좋다</a:t>
            </a:r>
            <a:r>
              <a:rPr lang="en-US" altLang="ko-KR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개인적으로는 </a:t>
            </a:r>
            <a:r>
              <a:rPr lang="ko-KR" altLang="en-US" sz="1200" b="1" u="sng" dirty="0">
                <a:solidFill>
                  <a:srgbClr val="FF0000"/>
                </a:solidFill>
              </a:rPr>
              <a:t>통계보다는 집계라는 용어를 사용</a:t>
            </a:r>
            <a:r>
              <a:rPr lang="ko-KR" altLang="en-US" sz="1200" dirty="0"/>
              <a:t>한다</a:t>
            </a:r>
            <a:r>
              <a:rPr lang="en-US" altLang="ko-KR" sz="1200" dirty="0"/>
              <a:t>.  ‘</a:t>
            </a:r>
            <a:r>
              <a:rPr lang="ko-KR" altLang="en-US" sz="1200" dirty="0"/>
              <a:t>일별거래통계’ 보다는  ‘</a:t>
            </a:r>
            <a:r>
              <a:rPr lang="ko-KR" altLang="en-US" sz="1200" dirty="0" err="1"/>
              <a:t>일별거래집계’로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/>
              <a:t>디멘젼이</a:t>
            </a:r>
            <a:r>
              <a:rPr lang="ko-KR" altLang="en-US" sz="1200" dirty="0"/>
              <a:t> 많을 경우 가장 상세한 </a:t>
            </a:r>
            <a:r>
              <a:rPr lang="ko-KR" altLang="en-US" sz="1200" dirty="0" err="1"/>
              <a:t>디멘전만</a:t>
            </a:r>
            <a:r>
              <a:rPr lang="ko-KR" altLang="en-US" sz="1200" dirty="0"/>
              <a:t> 표현</a:t>
            </a:r>
            <a:endParaRPr lang="en-US" altLang="ko-KR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C60FF4-97AE-69B1-4FC4-8DEC255E1BDA}"/>
              </a:ext>
            </a:extLst>
          </p:cNvPr>
          <p:cNvSpPr txBox="1"/>
          <p:nvPr/>
        </p:nvSpPr>
        <p:spPr>
          <a:xfrm>
            <a:off x="3946963" y="3863191"/>
            <a:ext cx="70699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u="sng" dirty="0"/>
              <a:t>특정 기관</a:t>
            </a:r>
            <a:r>
              <a:rPr lang="ko-KR" altLang="en-US" sz="1200" dirty="0"/>
              <a:t>에서 받은 데이터만을 관리한다면 </a:t>
            </a:r>
            <a:r>
              <a:rPr lang="ko-KR" altLang="en-US" sz="1200" b="1" u="sng" dirty="0">
                <a:solidFill>
                  <a:srgbClr val="FF0000"/>
                </a:solidFill>
              </a:rPr>
              <a:t>해당 기관명을 </a:t>
            </a:r>
            <a:r>
              <a:rPr lang="ko-KR" altLang="en-US" sz="1200" b="1" u="sng" dirty="0" err="1">
                <a:solidFill>
                  <a:srgbClr val="FF0000"/>
                </a:solidFill>
              </a:rPr>
              <a:t>엔터티</a:t>
            </a:r>
            <a:r>
              <a:rPr lang="ko-KR" altLang="en-US" sz="1200" b="1" u="sng" dirty="0">
                <a:solidFill>
                  <a:srgbClr val="FF0000"/>
                </a:solidFill>
              </a:rPr>
              <a:t> 명에 붙이는 것</a:t>
            </a:r>
            <a:r>
              <a:rPr lang="ko-KR" altLang="en-US" sz="1200" dirty="0"/>
              <a:t>이 좋다</a:t>
            </a:r>
            <a:r>
              <a:rPr lang="en-US" altLang="ko-KR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유사한 데이터를 내부에서도 관리 시 통합을 대비해 기관명을 생략하는 것이 좋다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0157EC-D18E-6C58-6BA9-4475F0E2FEE2}"/>
              </a:ext>
            </a:extLst>
          </p:cNvPr>
          <p:cNvSpPr txBox="1"/>
          <p:nvPr/>
        </p:nvSpPr>
        <p:spPr>
          <a:xfrm>
            <a:off x="3946963" y="4567622"/>
            <a:ext cx="7069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서브타입의 명명법은 당연히 슈퍼타입과 연관된다</a:t>
            </a:r>
            <a:r>
              <a:rPr lang="en-US" altLang="ko-KR" sz="12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서브타입 </a:t>
            </a:r>
            <a:r>
              <a:rPr lang="ko-KR" altLang="en-US" sz="1200" dirty="0" err="1"/>
              <a:t>엔터티</a:t>
            </a:r>
            <a:r>
              <a:rPr lang="ko-KR" altLang="en-US" sz="1200" dirty="0"/>
              <a:t> 명은 주로 </a:t>
            </a:r>
            <a:r>
              <a:rPr lang="ko-KR" altLang="en-US" sz="1200" b="1" u="sng" dirty="0">
                <a:solidFill>
                  <a:srgbClr val="FF0000"/>
                </a:solidFill>
              </a:rPr>
              <a:t>슈퍼타입 </a:t>
            </a:r>
            <a:r>
              <a:rPr lang="ko-KR" altLang="en-US" sz="1200" b="1" u="sng" dirty="0" err="1">
                <a:solidFill>
                  <a:srgbClr val="FF0000"/>
                </a:solidFill>
              </a:rPr>
              <a:t>엔터티에</a:t>
            </a:r>
            <a:r>
              <a:rPr lang="ko-KR" altLang="en-US" sz="1200" b="1" u="sng" dirty="0">
                <a:solidFill>
                  <a:srgbClr val="FF0000"/>
                </a:solidFill>
              </a:rPr>
              <a:t> 수식어를 붙이는 형식</a:t>
            </a:r>
            <a:r>
              <a:rPr lang="ko-KR" altLang="en-US" sz="1200" dirty="0"/>
              <a:t>으로 사용한다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C2F8A4-817D-B606-8F9F-F2EFE3FD59E8}"/>
              </a:ext>
            </a:extLst>
          </p:cNvPr>
          <p:cNvSpPr txBox="1"/>
          <p:nvPr/>
        </p:nvSpPr>
        <p:spPr>
          <a:xfrm>
            <a:off x="3946963" y="5329201"/>
            <a:ext cx="7069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일대일</a:t>
            </a:r>
            <a:r>
              <a:rPr lang="en-US" altLang="ko-KR" sz="1200" dirty="0"/>
              <a:t>(1:1) </a:t>
            </a:r>
            <a:r>
              <a:rPr lang="ko-KR" altLang="en-US" sz="1200" dirty="0"/>
              <a:t>관계는 몇 가지로 나눌 수 있는데</a:t>
            </a:r>
            <a:r>
              <a:rPr lang="en-US" altLang="ko-KR" sz="1200" dirty="0"/>
              <a:t>, </a:t>
            </a:r>
            <a:r>
              <a:rPr lang="ko-KR" altLang="en-US" sz="1200" dirty="0"/>
              <a:t>우선 원래 하나의 </a:t>
            </a:r>
            <a:r>
              <a:rPr lang="ko-KR" altLang="en-US" sz="1200" dirty="0" err="1"/>
              <a:t>엔터티에서</a:t>
            </a:r>
            <a:r>
              <a:rPr lang="ko-KR" altLang="en-US" sz="1200" dirty="0"/>
              <a:t> 관리하는 속성 일부를 분리할 때가 있다</a:t>
            </a:r>
            <a:r>
              <a:rPr lang="en-US" altLang="ko-KR" sz="1200" dirty="0"/>
              <a:t>.  </a:t>
            </a:r>
            <a:r>
              <a:rPr lang="ko-KR" altLang="en-US" sz="1200" dirty="0"/>
              <a:t>이때도 유사한 속성을 분리할 때</a:t>
            </a:r>
            <a:r>
              <a:rPr lang="en-US" altLang="ko-KR" sz="1200" dirty="0"/>
              <a:t>, </a:t>
            </a:r>
            <a:r>
              <a:rPr lang="ko-KR" altLang="en-US" sz="1200" dirty="0"/>
              <a:t>덜 사용되는 속성을 분리할 때가 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05F22F-DF7D-567E-9A24-1BC52F7474D6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600" dirty="0" err="1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엔터티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(Entity)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9621F4-AABF-D481-85A9-A8D25F5FE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3724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CB5843-5367-979B-9E2E-3CDB6605FE76}"/>
              </a:ext>
            </a:extLst>
          </p:cNvPr>
          <p:cNvSpPr txBox="1"/>
          <p:nvPr/>
        </p:nvSpPr>
        <p:spPr>
          <a:xfrm>
            <a:off x="866911" y="267130"/>
            <a:ext cx="81246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1.7. </a:t>
            </a:r>
            <a:r>
              <a:rPr lang="ko-KR" alt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엔터티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설명은 어떻게 기술하는가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40931C-3093-F8D3-7135-8EB591015DDC}"/>
              </a:ext>
            </a:extLst>
          </p:cNvPr>
          <p:cNvSpPr txBox="1"/>
          <p:nvPr/>
        </p:nvSpPr>
        <p:spPr>
          <a:xfrm>
            <a:off x="704862" y="913382"/>
            <a:ext cx="499085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400" dirty="0" err="1"/>
              <a:t>엔터티</a:t>
            </a:r>
            <a:r>
              <a:rPr lang="ko-KR" altLang="en-US" sz="2400" dirty="0"/>
              <a:t> 설명</a:t>
            </a: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400" dirty="0" err="1"/>
              <a:t>엔터티</a:t>
            </a:r>
            <a:r>
              <a:rPr lang="ko-KR" altLang="en-US" sz="2400" dirty="0"/>
              <a:t> 설명의 두 가지 내용</a:t>
            </a:r>
            <a:endParaRPr lang="en-US" altLang="ko-KR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B8916-ED48-1F56-E85B-C71078531CD7}"/>
              </a:ext>
            </a:extLst>
          </p:cNvPr>
          <p:cNvSpPr txBox="1"/>
          <p:nvPr/>
        </p:nvSpPr>
        <p:spPr>
          <a:xfrm>
            <a:off x="1071561" y="1416906"/>
            <a:ext cx="100775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b="1" u="sng" dirty="0" err="1">
                <a:solidFill>
                  <a:srgbClr val="FF0000"/>
                </a:solidFill>
              </a:rPr>
              <a:t>엔터티</a:t>
            </a:r>
            <a:r>
              <a:rPr lang="ko-KR" altLang="en-US" b="1" u="sng" dirty="0">
                <a:solidFill>
                  <a:srgbClr val="FF0000"/>
                </a:solidFill>
              </a:rPr>
              <a:t> 설명</a:t>
            </a:r>
            <a:r>
              <a:rPr lang="en-US" altLang="ko-KR" b="1" u="sng" dirty="0">
                <a:solidFill>
                  <a:srgbClr val="FF0000"/>
                </a:solidFill>
              </a:rPr>
              <a:t>(Explanation)</a:t>
            </a:r>
            <a:r>
              <a:rPr lang="ko-KR" altLang="en-US" dirty="0"/>
              <a:t>은 </a:t>
            </a:r>
            <a:r>
              <a:rPr lang="ko-KR" altLang="en-US" dirty="0" err="1"/>
              <a:t>엔터티를</a:t>
            </a:r>
            <a:r>
              <a:rPr lang="ko-KR" altLang="en-US" dirty="0"/>
              <a:t> 정의</a:t>
            </a:r>
            <a:r>
              <a:rPr lang="en-US" altLang="ko-KR" dirty="0"/>
              <a:t>(Definition)</a:t>
            </a:r>
            <a:r>
              <a:rPr lang="ko-KR" altLang="en-US" dirty="0"/>
              <a:t>하는 것과 다르다</a:t>
            </a:r>
            <a:r>
              <a:rPr lang="en-US" altLang="ko-KR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/>
              <a:t>설명은 </a:t>
            </a:r>
            <a:r>
              <a:rPr lang="ko-KR" altLang="en-US" b="1" u="sng" dirty="0">
                <a:solidFill>
                  <a:srgbClr val="FF0000"/>
                </a:solidFill>
              </a:rPr>
              <a:t>단지 </a:t>
            </a:r>
            <a:r>
              <a:rPr lang="ko-KR" altLang="en-US" b="1" u="sng" dirty="0" err="1">
                <a:solidFill>
                  <a:srgbClr val="FF0000"/>
                </a:solidFill>
              </a:rPr>
              <a:t>엔터티에</a:t>
            </a:r>
            <a:r>
              <a:rPr lang="ko-KR" altLang="en-US" b="1" u="sng" dirty="0">
                <a:solidFill>
                  <a:srgbClr val="FF0000"/>
                </a:solidFill>
              </a:rPr>
              <a:t> 관해서 기술하는 것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 err="1"/>
              <a:t>엔터티</a:t>
            </a:r>
            <a:r>
              <a:rPr lang="ko-KR" altLang="en-US" dirty="0"/>
              <a:t> 설명은 생략하지 않고 </a:t>
            </a:r>
            <a:r>
              <a:rPr lang="ko-KR" altLang="en-US" b="1" u="sng" dirty="0">
                <a:solidFill>
                  <a:srgbClr val="FF0000"/>
                </a:solidFill>
              </a:rPr>
              <a:t>반드시 기술</a:t>
            </a:r>
            <a:r>
              <a:rPr lang="ko-KR" altLang="en-US" dirty="0"/>
              <a:t>해야 한다</a:t>
            </a:r>
            <a:r>
              <a:rPr lang="en-US" altLang="ko-K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 err="1"/>
              <a:t>엔터티</a:t>
            </a:r>
            <a:r>
              <a:rPr lang="ko-KR" altLang="en-US" dirty="0"/>
              <a:t> 설명의 이유는 그 </a:t>
            </a:r>
            <a:r>
              <a:rPr lang="ko-KR" altLang="en-US" dirty="0" err="1"/>
              <a:t>엔터티가</a:t>
            </a:r>
            <a:r>
              <a:rPr lang="ko-KR" altLang="en-US" dirty="0"/>
              <a:t> </a:t>
            </a:r>
            <a:r>
              <a:rPr lang="ko-KR" altLang="en-US" b="1" u="sng" dirty="0">
                <a:solidFill>
                  <a:srgbClr val="FF0000"/>
                </a:solidFill>
              </a:rPr>
              <a:t>어떤 데이터를 관리하는지 알게 하기 위해서</a:t>
            </a:r>
            <a:r>
              <a:rPr lang="ko-KR" altLang="en-US" dirty="0"/>
              <a:t>다</a:t>
            </a:r>
            <a:r>
              <a:rPr lang="en-US" altLang="ko-KR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7FC9A5-7DAA-E8DD-5A24-B53774056FB5}"/>
              </a:ext>
            </a:extLst>
          </p:cNvPr>
          <p:cNvSpPr txBox="1"/>
          <p:nvPr/>
        </p:nvSpPr>
        <p:spPr>
          <a:xfrm>
            <a:off x="1071561" y="4292978"/>
            <a:ext cx="1007751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b="1" u="sng" dirty="0">
                <a:solidFill>
                  <a:srgbClr val="FF0000"/>
                </a:solidFill>
              </a:rPr>
              <a:t>본질적인 설명</a:t>
            </a:r>
            <a:endParaRPr lang="en-US" altLang="ko-KR" b="1" u="sng" dirty="0">
              <a:solidFill>
                <a:srgbClr val="FF0000"/>
              </a:solidFill>
            </a:endParaRPr>
          </a:p>
          <a:p>
            <a:r>
              <a:rPr lang="en-US" altLang="ko-KR" sz="1400" dirty="0"/>
              <a:t>    : </a:t>
            </a:r>
            <a:r>
              <a:rPr lang="ko-KR" altLang="en-US" sz="1400" dirty="0" err="1"/>
              <a:t>엔터티를</a:t>
            </a:r>
            <a:r>
              <a:rPr lang="ko-KR" altLang="en-US" sz="1400" dirty="0"/>
              <a:t> 구성하는 데이터의 본질 </a:t>
            </a:r>
            <a:r>
              <a:rPr lang="en-US" altLang="ko-KR" sz="1400" dirty="0"/>
              <a:t>• </a:t>
            </a:r>
            <a:r>
              <a:rPr lang="ko-KR" altLang="en-US" sz="1400" dirty="0"/>
              <a:t>성격 </a:t>
            </a:r>
            <a:r>
              <a:rPr lang="en-US" altLang="ko-KR" sz="1400" dirty="0"/>
              <a:t>• </a:t>
            </a:r>
            <a:r>
              <a:rPr lang="ko-KR" altLang="en-US" sz="1400" dirty="0"/>
              <a:t>주제 등에 대해서 설명하는 것이다</a:t>
            </a:r>
            <a:r>
              <a:rPr lang="en-US" altLang="ko-KR" sz="14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b="1" u="sng" dirty="0"/>
              <a:t>부가적인 설명</a:t>
            </a:r>
            <a:endParaRPr lang="en-US" altLang="ko-KR" b="1" u="sng" dirty="0"/>
          </a:p>
          <a:p>
            <a:r>
              <a:rPr lang="en-US" altLang="ko-KR" sz="1400" dirty="0"/>
              <a:t>    : </a:t>
            </a:r>
            <a:r>
              <a:rPr lang="ko-KR" altLang="en-US" sz="1400" dirty="0"/>
              <a:t>업무에 대한 설명</a:t>
            </a:r>
            <a:r>
              <a:rPr lang="en-US" altLang="ko-KR" sz="1400" dirty="0"/>
              <a:t>, </a:t>
            </a:r>
            <a:r>
              <a:rPr lang="ko-KR" altLang="en-US" sz="1400" dirty="0"/>
              <a:t>프로세스에 대한 설명 등은 부가 설명이다</a:t>
            </a:r>
            <a:r>
              <a:rPr lang="en-US" altLang="ko-KR" sz="1400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6A6B7C-2158-517B-7AE8-7D93B4925CC2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600" dirty="0" err="1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엔터티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(Entity)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93A35DC-1529-0939-24F4-8248E456F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7694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CB5843-5367-979B-9E2E-3CDB6605FE76}"/>
              </a:ext>
            </a:extLst>
          </p:cNvPr>
          <p:cNvSpPr txBox="1"/>
          <p:nvPr/>
        </p:nvSpPr>
        <p:spPr>
          <a:xfrm>
            <a:off x="866912" y="267136"/>
            <a:ext cx="8096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1.8.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모델을 검증할 수 있는가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   (0/11)</a:t>
            </a:r>
            <a:endParaRPr lang="ko-KR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40931C-3093-F8D3-7135-8EB591015DDC}"/>
              </a:ext>
            </a:extLst>
          </p:cNvPr>
          <p:cNvSpPr txBox="1"/>
          <p:nvPr/>
        </p:nvSpPr>
        <p:spPr>
          <a:xfrm>
            <a:off x="1778202" y="913382"/>
            <a:ext cx="934699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+mj-lt"/>
              <a:buAutoNum type="arabicPeriod"/>
            </a:pPr>
            <a:r>
              <a:rPr lang="ko-KR" altLang="en-US" sz="1800" dirty="0"/>
              <a:t> 최적의 업무 모델인가</a:t>
            </a:r>
            <a:r>
              <a:rPr lang="en-US" altLang="ko-KR" sz="1800" dirty="0"/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800" dirty="0"/>
              <a:t> </a:t>
            </a:r>
            <a:r>
              <a:rPr lang="ko-KR" altLang="en-US" sz="1800" u="sng" dirty="0" err="1">
                <a:solidFill>
                  <a:srgbClr val="FF0000"/>
                </a:solidFill>
              </a:rPr>
              <a:t>엔터티</a:t>
            </a:r>
            <a:r>
              <a:rPr lang="ko-KR" altLang="en-US" sz="1800" u="sng" dirty="0">
                <a:solidFill>
                  <a:srgbClr val="FF0000"/>
                </a:solidFill>
              </a:rPr>
              <a:t> 존재 여부 검증 방법</a:t>
            </a:r>
            <a:endParaRPr lang="en-US" altLang="ko-KR" sz="1800" u="sng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800" dirty="0"/>
              <a:t> 애플리케이션</a:t>
            </a:r>
            <a:r>
              <a:rPr lang="en-US" altLang="ko-KR" sz="1800" dirty="0"/>
              <a:t>(</a:t>
            </a:r>
            <a:r>
              <a:rPr lang="ko-KR" altLang="en-US" sz="1800" dirty="0"/>
              <a:t>화면</a:t>
            </a:r>
            <a:r>
              <a:rPr lang="en-US" altLang="ko-KR" sz="1800" dirty="0"/>
              <a:t>)</a:t>
            </a:r>
            <a:r>
              <a:rPr lang="ko-KR" altLang="en-US" sz="1800" dirty="0"/>
              <a:t> </a:t>
            </a:r>
            <a:r>
              <a:rPr lang="en-US" altLang="ko-KR" sz="1800" dirty="0"/>
              <a:t>vs </a:t>
            </a:r>
            <a:r>
              <a:rPr lang="ko-KR" altLang="en-US" sz="1800" dirty="0" err="1"/>
              <a:t>엔터티</a:t>
            </a:r>
            <a:r>
              <a:rPr lang="ko-KR" altLang="en-US" sz="1800" dirty="0"/>
              <a:t> 매트릭스 검증  </a:t>
            </a:r>
            <a:r>
              <a:rPr lang="en-US" altLang="ko-KR" sz="1800" dirty="0">
                <a:sym typeface="Wingdings" panose="05000000000000000000" pitchFamily="2" charset="2"/>
              </a:rPr>
              <a:t> </a:t>
            </a:r>
            <a:r>
              <a:rPr lang="ko-KR" altLang="en-US" sz="1800" dirty="0">
                <a:solidFill>
                  <a:srgbClr val="FF0000"/>
                </a:solidFill>
                <a:sym typeface="Wingdings" panose="05000000000000000000" pitchFamily="2" charset="2"/>
              </a:rPr>
              <a:t>애플리케이션 검증방법</a:t>
            </a:r>
            <a:endParaRPr lang="en-US" altLang="ko-KR" sz="1800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800" dirty="0"/>
              <a:t> AS-IS vs To-BE</a:t>
            </a:r>
            <a:r>
              <a:rPr lang="ko-KR" altLang="en-US" sz="1800" dirty="0"/>
              <a:t>모델 검증  </a:t>
            </a:r>
            <a:r>
              <a:rPr lang="en-US" altLang="ko-KR" sz="1800" dirty="0">
                <a:sym typeface="Wingdings" panose="05000000000000000000" pitchFamily="2" charset="2"/>
              </a:rPr>
              <a:t> </a:t>
            </a:r>
            <a:r>
              <a:rPr lang="ko-KR" altLang="en-US" sz="1800" dirty="0" err="1">
                <a:solidFill>
                  <a:srgbClr val="FF0000"/>
                </a:solidFill>
                <a:sym typeface="Wingdings" panose="05000000000000000000" pitchFamily="2" charset="2"/>
              </a:rPr>
              <a:t>모델러</a:t>
            </a:r>
            <a:r>
              <a:rPr lang="ko-KR" altLang="en-US" sz="1800" dirty="0">
                <a:solidFill>
                  <a:srgbClr val="FF0000"/>
                </a:solidFill>
                <a:sym typeface="Wingdings" panose="05000000000000000000" pitchFamily="2" charset="2"/>
              </a:rPr>
              <a:t> 검증방법</a:t>
            </a:r>
            <a:endParaRPr lang="en-US" altLang="ko-KR" sz="1800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800" dirty="0"/>
              <a:t> </a:t>
            </a:r>
            <a:r>
              <a:rPr lang="ko-KR" altLang="en-US" sz="1800" u="sng" dirty="0">
                <a:solidFill>
                  <a:srgbClr val="FF0000"/>
                </a:solidFill>
              </a:rPr>
              <a:t>속성으로 설계해야 하는 것은 아닌지</a:t>
            </a:r>
            <a:r>
              <a:rPr lang="en-US" altLang="ko-KR" sz="1800" u="sng" dirty="0">
                <a:solidFill>
                  <a:srgbClr val="FF0000"/>
                </a:solidFill>
              </a:rPr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800" dirty="0"/>
              <a:t> </a:t>
            </a:r>
            <a:r>
              <a:rPr lang="ko-KR" altLang="en-US" sz="1800" u="sng" dirty="0">
                <a:solidFill>
                  <a:srgbClr val="FF0000"/>
                </a:solidFill>
              </a:rPr>
              <a:t>하나의 </a:t>
            </a:r>
            <a:r>
              <a:rPr lang="ko-KR" altLang="en-US" sz="1800" u="sng" dirty="0" err="1">
                <a:solidFill>
                  <a:srgbClr val="FF0000"/>
                </a:solidFill>
              </a:rPr>
              <a:t>엔터티는</a:t>
            </a:r>
            <a:r>
              <a:rPr lang="ko-KR" altLang="en-US" sz="1800" dirty="0"/>
              <a:t> </a:t>
            </a:r>
            <a:r>
              <a:rPr lang="ko-KR" altLang="en-US" sz="1800" u="sng" dirty="0">
                <a:solidFill>
                  <a:srgbClr val="FF0000"/>
                </a:solidFill>
              </a:rPr>
              <a:t>하나의 주제로 구성</a:t>
            </a:r>
            <a:r>
              <a:rPr lang="ko-KR" altLang="en-US" sz="1800" dirty="0"/>
              <a:t>되었는가</a:t>
            </a:r>
            <a:r>
              <a:rPr lang="en-US" altLang="ko-KR" sz="1800" dirty="0"/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800" dirty="0"/>
              <a:t> </a:t>
            </a:r>
            <a:r>
              <a:rPr lang="ko-KR" altLang="en-US" sz="1800" u="sng" dirty="0">
                <a:solidFill>
                  <a:srgbClr val="FF0000"/>
                </a:solidFill>
              </a:rPr>
              <a:t>유사한 성격의 데이터인데 개별적인 </a:t>
            </a:r>
            <a:r>
              <a:rPr lang="ko-KR" altLang="en-US" sz="1800" u="sng" dirty="0" err="1">
                <a:solidFill>
                  <a:srgbClr val="FF0000"/>
                </a:solidFill>
              </a:rPr>
              <a:t>엔터티에서</a:t>
            </a:r>
            <a:r>
              <a:rPr lang="ko-KR" altLang="en-US" sz="1800" u="sng" dirty="0">
                <a:solidFill>
                  <a:srgbClr val="FF0000"/>
                </a:solidFill>
              </a:rPr>
              <a:t> 관리하고 있지 않는지</a:t>
            </a:r>
            <a:r>
              <a:rPr lang="en-US" altLang="ko-KR" sz="1800" u="sng" dirty="0">
                <a:solidFill>
                  <a:srgbClr val="FF0000"/>
                </a:solidFill>
              </a:rPr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800" dirty="0"/>
              <a:t> </a:t>
            </a:r>
            <a:r>
              <a:rPr lang="ko-KR" altLang="en-US" sz="1800" u="sng" dirty="0">
                <a:solidFill>
                  <a:srgbClr val="FF0000"/>
                </a:solidFill>
              </a:rPr>
              <a:t>필요한 단어만을 사용해서 </a:t>
            </a:r>
            <a:r>
              <a:rPr lang="ko-KR" altLang="en-US" sz="1800" u="sng" dirty="0" err="1">
                <a:solidFill>
                  <a:srgbClr val="FF0000"/>
                </a:solidFill>
              </a:rPr>
              <a:t>엔터티</a:t>
            </a:r>
            <a:r>
              <a:rPr lang="ko-KR" altLang="en-US" sz="1800" u="sng" dirty="0">
                <a:solidFill>
                  <a:srgbClr val="FF0000"/>
                </a:solidFill>
              </a:rPr>
              <a:t> 명을 구체적으로 붙였는지</a:t>
            </a:r>
            <a:r>
              <a:rPr lang="en-US" altLang="ko-KR" sz="1800" u="sng" dirty="0">
                <a:solidFill>
                  <a:srgbClr val="FF0000"/>
                </a:solidFill>
              </a:rPr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800" dirty="0"/>
              <a:t> </a:t>
            </a:r>
            <a:r>
              <a:rPr lang="ko-KR" altLang="en-US" sz="1800" u="sng" dirty="0" err="1">
                <a:solidFill>
                  <a:srgbClr val="FF0000"/>
                </a:solidFill>
              </a:rPr>
              <a:t>엔터티</a:t>
            </a:r>
            <a:r>
              <a:rPr lang="ko-KR" altLang="en-US" sz="1800" u="sng" dirty="0">
                <a:solidFill>
                  <a:srgbClr val="FF0000"/>
                </a:solidFill>
              </a:rPr>
              <a:t> 명이 주 식별자와 한 쌍이 되도록 붙였는지</a:t>
            </a:r>
            <a:r>
              <a:rPr lang="en-US" altLang="ko-KR" sz="1800" dirty="0"/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800" dirty="0"/>
              <a:t> </a:t>
            </a:r>
            <a:r>
              <a:rPr lang="ko-KR" altLang="en-US" sz="1800" dirty="0" err="1"/>
              <a:t>엔터티</a:t>
            </a:r>
            <a:r>
              <a:rPr lang="ko-KR" altLang="en-US" sz="1800" dirty="0"/>
              <a:t> 설명이 존재하며 간결하고 명확한가</a:t>
            </a:r>
            <a:r>
              <a:rPr lang="en-US" altLang="ko-KR" sz="1800" dirty="0"/>
              <a:t>?  </a:t>
            </a:r>
            <a:r>
              <a:rPr lang="en-US" altLang="ko-KR" sz="1800" dirty="0">
                <a:sym typeface="Wingdings" panose="05000000000000000000" pitchFamily="2" charset="2"/>
              </a:rPr>
              <a:t> </a:t>
            </a:r>
            <a:r>
              <a:rPr lang="ko-KR" altLang="en-US" sz="1800" dirty="0">
                <a:sym typeface="Wingdings" panose="05000000000000000000" pitchFamily="2" charset="2"/>
              </a:rPr>
              <a:t>정량적 평가</a:t>
            </a:r>
            <a:endParaRPr lang="en-US" altLang="ko-KR" sz="18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800" dirty="0"/>
              <a:t> </a:t>
            </a:r>
            <a:r>
              <a:rPr lang="ko-KR" altLang="en-US" sz="1800" u="sng" dirty="0">
                <a:solidFill>
                  <a:srgbClr val="FF0000"/>
                </a:solidFill>
              </a:rPr>
              <a:t>업무 식별자가 존재하는가</a:t>
            </a:r>
            <a:r>
              <a:rPr lang="en-US" altLang="ko-KR" sz="1800" dirty="0"/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800" dirty="0"/>
              <a:t> 이력 데이터를 관리하는 </a:t>
            </a:r>
            <a:r>
              <a:rPr lang="ko-KR" altLang="en-US" sz="1800" dirty="0" err="1"/>
              <a:t>엔터티가</a:t>
            </a:r>
            <a:r>
              <a:rPr lang="ko-KR" altLang="en-US" sz="1800" dirty="0"/>
              <a:t> 맞는지</a:t>
            </a:r>
            <a:r>
              <a:rPr lang="en-US" altLang="ko-KR" sz="1800" dirty="0"/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800" dirty="0"/>
              <a:t> </a:t>
            </a:r>
            <a:r>
              <a:rPr lang="ko-KR" altLang="en-US" sz="1800" u="sng" dirty="0">
                <a:solidFill>
                  <a:srgbClr val="FF0000"/>
                </a:solidFill>
              </a:rPr>
              <a:t>일대일 관계의 두 </a:t>
            </a:r>
            <a:r>
              <a:rPr lang="ko-KR" altLang="en-US" sz="1800" u="sng" dirty="0" err="1">
                <a:solidFill>
                  <a:srgbClr val="FF0000"/>
                </a:solidFill>
              </a:rPr>
              <a:t>엔터티를</a:t>
            </a:r>
            <a:r>
              <a:rPr lang="ko-KR" altLang="en-US" sz="1800" u="sng" dirty="0">
                <a:solidFill>
                  <a:srgbClr val="FF0000"/>
                </a:solidFill>
              </a:rPr>
              <a:t> 합체할 수는 없는가</a:t>
            </a:r>
            <a:r>
              <a:rPr lang="en-US" altLang="ko-KR" sz="1800" dirty="0"/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800" dirty="0"/>
              <a:t> </a:t>
            </a:r>
            <a:r>
              <a:rPr lang="ko-KR" altLang="en-US" sz="1800" u="sng" dirty="0">
                <a:solidFill>
                  <a:srgbClr val="FF0000"/>
                </a:solidFill>
              </a:rPr>
              <a:t>종속 관계 </a:t>
            </a:r>
            <a:r>
              <a:rPr lang="ko-KR" altLang="en-US" sz="1800" u="sng" dirty="0" err="1">
                <a:solidFill>
                  <a:srgbClr val="FF0000"/>
                </a:solidFill>
              </a:rPr>
              <a:t>엔터티의</a:t>
            </a:r>
            <a:r>
              <a:rPr lang="ko-KR" altLang="en-US" sz="1800" u="sng" dirty="0">
                <a:solidFill>
                  <a:srgbClr val="FF0000"/>
                </a:solidFill>
              </a:rPr>
              <a:t> 주 식별자 상속이 적절한가</a:t>
            </a:r>
            <a:r>
              <a:rPr lang="en-US" altLang="ko-KR" sz="1800" dirty="0"/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800" dirty="0"/>
              <a:t> </a:t>
            </a:r>
            <a:r>
              <a:rPr lang="ko-KR" altLang="en-US" sz="1800" u="sng" dirty="0">
                <a:solidFill>
                  <a:srgbClr val="FF0000"/>
                </a:solidFill>
              </a:rPr>
              <a:t>데이터 인스턴스가 하나뿐인 특수 </a:t>
            </a:r>
            <a:r>
              <a:rPr lang="ko-KR" altLang="en-US" sz="1800" u="sng" dirty="0" err="1">
                <a:solidFill>
                  <a:srgbClr val="FF0000"/>
                </a:solidFill>
              </a:rPr>
              <a:t>엔터티</a:t>
            </a:r>
            <a:r>
              <a:rPr lang="ko-KR" altLang="en-US" sz="1800" dirty="0" err="1"/>
              <a:t>가</a:t>
            </a:r>
            <a:r>
              <a:rPr lang="ko-KR" altLang="en-US" sz="1800" dirty="0"/>
              <a:t> 있는가</a:t>
            </a:r>
            <a:r>
              <a:rPr lang="en-US" altLang="ko-KR" sz="1800" dirty="0"/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800" dirty="0"/>
              <a:t> </a:t>
            </a:r>
            <a:r>
              <a:rPr lang="ko-KR" altLang="en-US" sz="1800" u="sng" dirty="0">
                <a:solidFill>
                  <a:srgbClr val="FF0000"/>
                </a:solidFill>
              </a:rPr>
              <a:t>주 식별자가 존재하지 않는 </a:t>
            </a:r>
            <a:r>
              <a:rPr lang="ko-KR" altLang="en-US" sz="1800" u="sng" dirty="0" err="1">
                <a:solidFill>
                  <a:srgbClr val="FF0000"/>
                </a:solidFill>
              </a:rPr>
              <a:t>엔터티</a:t>
            </a:r>
            <a:r>
              <a:rPr lang="ko-KR" altLang="en-US" sz="1800" dirty="0" err="1"/>
              <a:t>가</a:t>
            </a:r>
            <a:r>
              <a:rPr lang="ko-KR" altLang="en-US" sz="1800" dirty="0"/>
              <a:t> 있는가</a:t>
            </a:r>
            <a:r>
              <a:rPr lang="en-US" altLang="ko-KR" sz="1800" dirty="0"/>
              <a:t>? 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800" dirty="0"/>
              <a:t> </a:t>
            </a:r>
            <a:r>
              <a:rPr lang="ko-KR" altLang="en-US" sz="1800" u="sng" dirty="0">
                <a:solidFill>
                  <a:srgbClr val="FF0000"/>
                </a:solidFill>
              </a:rPr>
              <a:t>주 식별자가 동일한 </a:t>
            </a:r>
            <a:r>
              <a:rPr lang="ko-KR" altLang="en-US" sz="1800" u="sng" dirty="0" err="1">
                <a:solidFill>
                  <a:srgbClr val="FF0000"/>
                </a:solidFill>
              </a:rPr>
              <a:t>엔터티</a:t>
            </a:r>
            <a:r>
              <a:rPr lang="ko-KR" altLang="en-US" sz="1800" dirty="0" err="1"/>
              <a:t>가</a:t>
            </a:r>
            <a:r>
              <a:rPr lang="ko-KR" altLang="en-US" sz="1800" dirty="0"/>
              <a:t> 있는가</a:t>
            </a:r>
            <a:r>
              <a:rPr lang="en-US" altLang="ko-KR" sz="1800" dirty="0"/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800" dirty="0"/>
              <a:t> </a:t>
            </a:r>
            <a:r>
              <a:rPr lang="ko-KR" altLang="en-US" sz="1800" u="sng" dirty="0" err="1">
                <a:solidFill>
                  <a:srgbClr val="FF0000"/>
                </a:solidFill>
              </a:rPr>
              <a:t>엔터티의</a:t>
            </a:r>
            <a:r>
              <a:rPr lang="ko-KR" altLang="en-US" sz="1800" u="sng" dirty="0">
                <a:solidFill>
                  <a:srgbClr val="FF0000"/>
                </a:solidFill>
              </a:rPr>
              <a:t> 의미를 쉽게 설명</a:t>
            </a:r>
            <a:r>
              <a:rPr lang="ko-KR" altLang="en-US" sz="1800" dirty="0"/>
              <a:t>할 수 있는가</a:t>
            </a:r>
            <a:r>
              <a:rPr lang="en-US" altLang="ko-KR" sz="1800" dirty="0"/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800" dirty="0"/>
              <a:t> 외부</a:t>
            </a:r>
            <a:r>
              <a:rPr lang="en-US" altLang="ko-KR" sz="1800" dirty="0"/>
              <a:t>•</a:t>
            </a:r>
            <a:r>
              <a:rPr lang="ko-KR" altLang="en-US" sz="1800" dirty="0"/>
              <a:t>복제 </a:t>
            </a:r>
            <a:r>
              <a:rPr lang="ko-KR" altLang="en-US" sz="1800" dirty="0" err="1"/>
              <a:t>엔터티의</a:t>
            </a:r>
            <a:r>
              <a:rPr lang="ko-KR" altLang="en-US" sz="1800" dirty="0"/>
              <a:t> </a:t>
            </a:r>
            <a:r>
              <a:rPr lang="ko-KR" altLang="en-US" sz="1800" dirty="0" err="1"/>
              <a:t>엔터티</a:t>
            </a:r>
            <a:r>
              <a:rPr lang="ko-KR" altLang="en-US" sz="1800" dirty="0"/>
              <a:t> 명과 주 식별자가 원천 </a:t>
            </a:r>
            <a:r>
              <a:rPr lang="ko-KR" altLang="en-US" sz="1800" dirty="0" err="1"/>
              <a:t>엔터티와</a:t>
            </a:r>
            <a:r>
              <a:rPr lang="ko-KR" altLang="en-US" sz="1800" dirty="0"/>
              <a:t> 같은가</a:t>
            </a:r>
            <a:r>
              <a:rPr lang="en-US" altLang="ko-KR" sz="1800" dirty="0"/>
              <a:t>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70CA65-8E4A-64E1-CE97-1FA0B0D9699E}"/>
              </a:ext>
            </a:extLst>
          </p:cNvPr>
          <p:cNvSpPr txBox="1"/>
          <p:nvPr/>
        </p:nvSpPr>
        <p:spPr>
          <a:xfrm>
            <a:off x="651027" y="913382"/>
            <a:ext cx="90705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 algn="r">
              <a:buFont typeface="Wingdings" panose="05000000000000000000" pitchFamily="2" charset="2"/>
              <a:buChar char="ü"/>
            </a:pPr>
            <a:r>
              <a:rPr lang="en-US" altLang="ko-KR" sz="1800" dirty="0">
                <a:solidFill>
                  <a:srgbClr val="FF0000"/>
                </a:solidFill>
              </a:rPr>
              <a:t> </a:t>
            </a:r>
          </a:p>
          <a:p>
            <a:pPr marL="342900" indent="-342900" algn="r">
              <a:buFont typeface="Wingdings" panose="05000000000000000000" pitchFamily="2" charset="2"/>
              <a:buChar char="ü"/>
            </a:pPr>
            <a:r>
              <a:rPr lang="en-US" altLang="ko-KR" sz="1800" dirty="0">
                <a:solidFill>
                  <a:srgbClr val="FF0000"/>
                </a:solidFill>
              </a:rPr>
              <a:t> </a:t>
            </a:r>
          </a:p>
          <a:p>
            <a:pPr marL="342900" indent="-342900" algn="r">
              <a:buFont typeface="Wingdings" panose="05000000000000000000" pitchFamily="2" charset="2"/>
              <a:buChar char="ü"/>
            </a:pPr>
            <a:r>
              <a:rPr lang="en-US" altLang="ko-KR" sz="1800" dirty="0">
                <a:solidFill>
                  <a:srgbClr val="FF0000"/>
                </a:solidFill>
              </a:rPr>
              <a:t> </a:t>
            </a:r>
          </a:p>
          <a:p>
            <a:pPr marL="342900" indent="-342900" algn="r">
              <a:buFont typeface="Wingdings" panose="05000000000000000000" pitchFamily="2" charset="2"/>
              <a:buChar char="ü"/>
            </a:pPr>
            <a:r>
              <a:rPr lang="en-US" altLang="ko-KR" sz="1800" dirty="0">
                <a:solidFill>
                  <a:srgbClr val="FF0000"/>
                </a:solidFill>
              </a:rPr>
              <a:t> </a:t>
            </a:r>
          </a:p>
          <a:p>
            <a:pPr marL="342900" indent="-342900" algn="r">
              <a:buFont typeface="Wingdings" panose="05000000000000000000" pitchFamily="2" charset="2"/>
              <a:buChar char="ü"/>
            </a:pPr>
            <a:r>
              <a:rPr lang="en-US" altLang="ko-KR" sz="1800" dirty="0">
                <a:solidFill>
                  <a:srgbClr val="FF0000"/>
                </a:solidFill>
              </a:rPr>
              <a:t> </a:t>
            </a:r>
          </a:p>
          <a:p>
            <a:pPr marL="342900" indent="-342900" algn="r">
              <a:buFont typeface="Wingdings" panose="05000000000000000000" pitchFamily="2" charset="2"/>
              <a:buChar char="ü"/>
            </a:pPr>
            <a:r>
              <a:rPr lang="en-US" altLang="ko-KR" sz="1800" dirty="0">
                <a:solidFill>
                  <a:srgbClr val="FF0000"/>
                </a:solidFill>
              </a:rPr>
              <a:t> </a:t>
            </a:r>
          </a:p>
          <a:p>
            <a:pPr marL="342900" indent="-342900" algn="r">
              <a:buFont typeface="Wingdings" panose="05000000000000000000" pitchFamily="2" charset="2"/>
              <a:buChar char="ü"/>
            </a:pPr>
            <a:r>
              <a:rPr lang="en-US" altLang="ko-KR" sz="1800" dirty="0">
                <a:solidFill>
                  <a:srgbClr val="FF0000"/>
                </a:solidFill>
              </a:rPr>
              <a:t> </a:t>
            </a:r>
          </a:p>
          <a:p>
            <a:pPr marL="342900" indent="-342900" algn="r">
              <a:buFont typeface="Wingdings" panose="05000000000000000000" pitchFamily="2" charset="2"/>
              <a:buChar char="ü"/>
            </a:pPr>
            <a:r>
              <a:rPr lang="en-US" altLang="ko-KR" sz="1800" dirty="0">
                <a:solidFill>
                  <a:srgbClr val="FF0000"/>
                </a:solidFill>
              </a:rPr>
              <a:t> </a:t>
            </a:r>
          </a:p>
          <a:p>
            <a:pPr marL="342900" indent="-342900" algn="r">
              <a:buFont typeface="Wingdings" panose="05000000000000000000" pitchFamily="2" charset="2"/>
              <a:buChar char="ü"/>
            </a:pPr>
            <a:r>
              <a:rPr lang="en-US" altLang="ko-KR" sz="1800" dirty="0">
                <a:solidFill>
                  <a:srgbClr val="FF0000"/>
                </a:solidFill>
              </a:rPr>
              <a:t> </a:t>
            </a:r>
          </a:p>
          <a:p>
            <a:pPr marL="342900" indent="-342900" algn="r">
              <a:buFont typeface="Wingdings" panose="05000000000000000000" pitchFamily="2" charset="2"/>
              <a:buChar char="ü"/>
            </a:pPr>
            <a:r>
              <a:rPr lang="en-US" altLang="ko-KR" sz="1800" dirty="0">
                <a:solidFill>
                  <a:srgbClr val="FF0000"/>
                </a:solidFill>
              </a:rPr>
              <a:t> </a:t>
            </a:r>
          </a:p>
          <a:p>
            <a:pPr marL="342900" indent="-342900" algn="r">
              <a:buFont typeface="Wingdings" panose="05000000000000000000" pitchFamily="2" charset="2"/>
              <a:buChar char="ü"/>
            </a:pPr>
            <a:r>
              <a:rPr lang="en-US" altLang="ko-KR" sz="1800" dirty="0">
                <a:solidFill>
                  <a:srgbClr val="FF0000"/>
                </a:solidFill>
              </a:rPr>
              <a:t> </a:t>
            </a:r>
          </a:p>
          <a:p>
            <a:pPr marL="342900" indent="-342900" algn="r">
              <a:buFont typeface="Wingdings" panose="05000000000000000000" pitchFamily="2" charset="2"/>
              <a:buChar char="ü"/>
            </a:pPr>
            <a:r>
              <a:rPr lang="en-US" altLang="ko-KR" sz="1800" dirty="0">
                <a:solidFill>
                  <a:srgbClr val="FF0000"/>
                </a:solidFill>
              </a:rPr>
              <a:t> </a:t>
            </a:r>
          </a:p>
          <a:p>
            <a:pPr marL="342900" indent="-342900" algn="r">
              <a:buFont typeface="Wingdings" panose="05000000000000000000" pitchFamily="2" charset="2"/>
              <a:buChar char="ü"/>
            </a:pPr>
            <a:r>
              <a:rPr lang="en-US" altLang="ko-KR" sz="1800" dirty="0">
                <a:solidFill>
                  <a:srgbClr val="FF0000"/>
                </a:solidFill>
              </a:rPr>
              <a:t> </a:t>
            </a:r>
          </a:p>
          <a:p>
            <a:pPr marL="342900" indent="-342900" algn="r">
              <a:buFont typeface="Wingdings" panose="05000000000000000000" pitchFamily="2" charset="2"/>
              <a:buChar char="ü"/>
            </a:pPr>
            <a:r>
              <a:rPr lang="en-US" altLang="ko-KR" sz="1800" dirty="0">
                <a:solidFill>
                  <a:srgbClr val="FF0000"/>
                </a:solidFill>
              </a:rPr>
              <a:t> </a:t>
            </a:r>
          </a:p>
          <a:p>
            <a:pPr marL="342900" indent="-342900" algn="r">
              <a:buFont typeface="Wingdings" panose="05000000000000000000" pitchFamily="2" charset="2"/>
              <a:buChar char="ü"/>
            </a:pPr>
            <a:r>
              <a:rPr lang="en-US" altLang="ko-KR" sz="1800" dirty="0">
                <a:solidFill>
                  <a:srgbClr val="FF0000"/>
                </a:solidFill>
              </a:rPr>
              <a:t> </a:t>
            </a:r>
          </a:p>
          <a:p>
            <a:pPr marL="342900" indent="-342900" algn="r">
              <a:buFont typeface="Wingdings" panose="05000000000000000000" pitchFamily="2" charset="2"/>
              <a:buChar char="ü"/>
            </a:pPr>
            <a:r>
              <a:rPr lang="en-US" altLang="ko-KR" sz="1800" dirty="0">
                <a:solidFill>
                  <a:srgbClr val="FF0000"/>
                </a:solidFill>
              </a:rPr>
              <a:t> </a:t>
            </a:r>
          </a:p>
          <a:p>
            <a:pPr marL="342900" indent="-342900" algn="r">
              <a:buFont typeface="Wingdings" panose="05000000000000000000" pitchFamily="2" charset="2"/>
              <a:buChar char="ü"/>
            </a:pPr>
            <a:r>
              <a:rPr lang="en-US" altLang="ko-KR" sz="1800" dirty="0">
                <a:solidFill>
                  <a:srgbClr val="FF0000"/>
                </a:solidFill>
              </a:rPr>
              <a:t> </a:t>
            </a:r>
          </a:p>
          <a:p>
            <a:pPr marL="342900" indent="-342900" algn="r">
              <a:buFont typeface="Wingdings" panose="05000000000000000000" pitchFamily="2" charset="2"/>
              <a:buChar char="ü"/>
            </a:pPr>
            <a:r>
              <a:rPr lang="en-US" altLang="ko-KR" sz="1800" dirty="0">
                <a:solidFill>
                  <a:srgbClr val="FF0000"/>
                </a:solidFill>
              </a:rPr>
              <a:t> </a:t>
            </a:r>
          </a:p>
          <a:p>
            <a:pPr marL="342900" indent="-342900" algn="r">
              <a:buFont typeface="Wingdings" panose="05000000000000000000" pitchFamily="2" charset="2"/>
              <a:buChar char="ü"/>
            </a:pPr>
            <a:r>
              <a:rPr lang="en-US" altLang="ko-KR" sz="18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40131F-B002-4542-6AD6-86360A5571BA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600" dirty="0" err="1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엔터티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(Entity)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B3DAF3-C3B7-2215-F7E7-CB4A74A29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2847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340931C-3093-F8D3-7135-8EB591015DDC}"/>
              </a:ext>
            </a:extLst>
          </p:cNvPr>
          <p:cNvSpPr txBox="1"/>
          <p:nvPr/>
        </p:nvSpPr>
        <p:spPr>
          <a:xfrm>
            <a:off x="704861" y="1279144"/>
            <a:ext cx="1044420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§"/>
            </a:pPr>
            <a:r>
              <a:rPr lang="ko-KR" altLang="en-US" sz="2400" dirty="0"/>
              <a:t>모델 검증이 어려운 근본적인 이유</a:t>
            </a:r>
            <a:endParaRPr lang="en-US" altLang="ko-KR" sz="2400" dirty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altLang="ko-KR" sz="2400" dirty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altLang="ko-KR" sz="2400" dirty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altLang="ko-KR" sz="2400" dirty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altLang="ko-KR" sz="2400" dirty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altLang="ko-KR" sz="24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ko-KR" altLang="en-US" sz="2400" dirty="0"/>
              <a:t>데이터 모델 검증 </a:t>
            </a:r>
            <a:r>
              <a:rPr lang="en-US" altLang="ko-KR" sz="2400" dirty="0"/>
              <a:t>(Data Model Preview)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B8916-ED48-1F56-E85B-C71078531CD7}"/>
              </a:ext>
            </a:extLst>
          </p:cNvPr>
          <p:cNvSpPr txBox="1"/>
          <p:nvPr/>
        </p:nvSpPr>
        <p:spPr>
          <a:xfrm>
            <a:off x="1071561" y="1781312"/>
            <a:ext cx="100775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모델링이 인간의 종합적</a:t>
            </a:r>
            <a:r>
              <a:rPr lang="en-US" altLang="ko-KR" sz="2000" dirty="0"/>
              <a:t> </a:t>
            </a:r>
            <a:r>
              <a:rPr lang="ko-KR" altLang="en-US" sz="2000" dirty="0"/>
              <a:t>판단으로 행해지기 때문이다</a:t>
            </a:r>
            <a:r>
              <a:rPr lang="en-US" altLang="ko-KR" sz="20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데이터 모델링은 </a:t>
            </a:r>
            <a:r>
              <a:rPr lang="ko-KR" altLang="en-US" sz="2000" dirty="0" err="1"/>
              <a:t>모델러의</a:t>
            </a:r>
            <a:r>
              <a:rPr lang="ko-KR" altLang="en-US" sz="2000" dirty="0"/>
              <a:t> 판단력과 통찰력에 의존적인 분야이기 때문에 수치화해서</a:t>
            </a:r>
            <a:r>
              <a:rPr lang="en-US" altLang="ko-KR" sz="2000" dirty="0"/>
              <a:t> </a:t>
            </a:r>
            <a:r>
              <a:rPr lang="ko-KR" altLang="en-US" sz="2000" dirty="0"/>
              <a:t>평가하기 어렵다</a:t>
            </a:r>
            <a:r>
              <a:rPr lang="en-US" altLang="ko-KR" sz="20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7FC9A5-7DAA-E8DD-5A24-B53774056FB5}"/>
              </a:ext>
            </a:extLst>
          </p:cNvPr>
          <p:cNvSpPr txBox="1"/>
          <p:nvPr/>
        </p:nvSpPr>
        <p:spPr>
          <a:xfrm>
            <a:off x="1071560" y="4006413"/>
            <a:ext cx="1079360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모델의</a:t>
            </a:r>
            <a:r>
              <a:rPr lang="en-US" altLang="ko-KR" sz="2000" dirty="0"/>
              <a:t> </a:t>
            </a:r>
            <a:r>
              <a:rPr lang="ko-KR" altLang="en-US" sz="2000" dirty="0"/>
              <a:t>품질을 높이기 위한 행위</a:t>
            </a:r>
            <a:endParaRPr lang="en-US" altLang="ko-KR" sz="2000" dirty="0"/>
          </a:p>
          <a:p>
            <a:r>
              <a:rPr lang="en-US" altLang="ko-KR" sz="1400" dirty="0"/>
              <a:t>    : </a:t>
            </a:r>
            <a:r>
              <a:rPr lang="ko-KR" altLang="en-US" sz="1400" dirty="0"/>
              <a:t>논리 모델이 완료된 시점에 모델을 검증하는 것이 좋다</a:t>
            </a:r>
            <a:r>
              <a:rPr lang="en-US" altLang="ko-KR" sz="1400" dirty="0"/>
              <a:t>. </a:t>
            </a:r>
          </a:p>
          <a:p>
            <a:r>
              <a:rPr lang="en-US" altLang="ko-KR" sz="1400" dirty="0"/>
              <a:t>      </a:t>
            </a:r>
            <a:r>
              <a:rPr lang="ko-KR" altLang="en-US" sz="1400" dirty="0"/>
              <a:t>또한 모델 검증은 </a:t>
            </a:r>
            <a:r>
              <a:rPr lang="ko-KR" altLang="en-US" sz="1400" dirty="0" err="1"/>
              <a:t>모델러</a:t>
            </a:r>
            <a:r>
              <a:rPr lang="ko-KR" altLang="en-US" sz="1400" dirty="0"/>
              <a:t> 중의 리더가 하는 것이 좋다</a:t>
            </a:r>
            <a:r>
              <a:rPr lang="en-US" altLang="ko-KR" sz="1400" dirty="0"/>
              <a:t>. </a:t>
            </a:r>
            <a:r>
              <a:rPr lang="ko-KR" altLang="en-US" sz="1400" dirty="0"/>
              <a:t>완료된 모델로 리더가 일관되게 검증하면 모델의 품질이 좋아진다</a:t>
            </a:r>
            <a:r>
              <a:rPr lang="en-US" altLang="ko-KR" sz="14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정규화를 수행하는 기준을 찾아라</a:t>
            </a: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F9761B-76A9-D8DE-0A2F-6CC5AB95DECF}"/>
              </a:ext>
            </a:extLst>
          </p:cNvPr>
          <p:cNvSpPr txBox="1"/>
          <p:nvPr/>
        </p:nvSpPr>
        <p:spPr>
          <a:xfrm>
            <a:off x="866912" y="267136"/>
            <a:ext cx="8134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1.9.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모델을 검증할 수 있는가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   (1/11)</a:t>
            </a:r>
            <a:endParaRPr lang="ko-KR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0C6BC9-60E8-25B1-E745-943E159A767E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600" dirty="0" err="1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엔터티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(Entity)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A125B-8440-F8D6-1C44-BBC1C944D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1055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340931C-3093-F8D3-7135-8EB591015DDC}"/>
              </a:ext>
            </a:extLst>
          </p:cNvPr>
          <p:cNvSpPr txBox="1"/>
          <p:nvPr/>
        </p:nvSpPr>
        <p:spPr>
          <a:xfrm>
            <a:off x="704861" y="1279144"/>
            <a:ext cx="1044420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/>
              <a:t>1.</a:t>
            </a:r>
            <a:r>
              <a:rPr lang="ko-KR" altLang="en-US" sz="2400" dirty="0"/>
              <a:t>  데이터 모델 검증 시 검토해야 할 사항</a:t>
            </a: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2.  </a:t>
            </a:r>
            <a:r>
              <a:rPr lang="ko-KR" altLang="en-US" sz="2400" dirty="0" err="1"/>
              <a:t>엔터티</a:t>
            </a:r>
            <a:r>
              <a:rPr lang="ko-KR" altLang="en-US" sz="2400" dirty="0"/>
              <a:t> 존재 여부 검증 방법</a:t>
            </a:r>
            <a:endParaRPr lang="en-US" altLang="ko-KR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B8916-ED48-1F56-E85B-C71078531CD7}"/>
              </a:ext>
            </a:extLst>
          </p:cNvPr>
          <p:cNvSpPr txBox="1"/>
          <p:nvPr/>
        </p:nvSpPr>
        <p:spPr>
          <a:xfrm>
            <a:off x="1071561" y="2000387"/>
            <a:ext cx="100775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모델에 표현되지 않은 업무가 있는가</a:t>
            </a:r>
            <a:r>
              <a:rPr lang="en-US" altLang="ko-KR" sz="2000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모델에 표현된 불필요한 업무가 있는가</a:t>
            </a:r>
            <a:r>
              <a:rPr lang="en-US" altLang="ko-KR" sz="2000" dirty="0"/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7FC9A5-7DAA-E8DD-5A24-B53774056FB5}"/>
              </a:ext>
            </a:extLst>
          </p:cNvPr>
          <p:cNvSpPr txBox="1"/>
          <p:nvPr/>
        </p:nvSpPr>
        <p:spPr>
          <a:xfrm>
            <a:off x="1071560" y="4368363"/>
            <a:ext cx="1079360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2000" dirty="0"/>
              <a:t> </a:t>
            </a:r>
            <a:r>
              <a:rPr lang="ko-KR" altLang="en-US" sz="2000" dirty="0"/>
              <a:t>모델에 표현되지 않은 </a:t>
            </a:r>
            <a:r>
              <a:rPr lang="ko-KR" altLang="en-US" sz="2000" dirty="0" err="1"/>
              <a:t>엔터티가</a:t>
            </a:r>
            <a:r>
              <a:rPr lang="ko-KR" altLang="en-US" sz="2000" dirty="0"/>
              <a:t> 있는지</a:t>
            </a:r>
            <a:r>
              <a:rPr lang="en-US" altLang="ko-KR" sz="2000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2000" dirty="0"/>
              <a:t> </a:t>
            </a:r>
            <a:r>
              <a:rPr lang="ko-KR" altLang="en-US" sz="2000" dirty="0"/>
              <a:t>모델에 표현된 불필요한 </a:t>
            </a:r>
            <a:r>
              <a:rPr lang="ko-KR" altLang="en-US" sz="2000" dirty="0" err="1"/>
              <a:t>엔터티가</a:t>
            </a:r>
            <a:r>
              <a:rPr lang="ko-KR" altLang="en-US" sz="2000" dirty="0"/>
              <a:t> 있는지</a:t>
            </a:r>
            <a:r>
              <a:rPr lang="en-US" altLang="ko-KR" sz="2000" dirty="0"/>
              <a:t>?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88B78D-73D3-71FA-1234-66FBCC3484D9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600" dirty="0" err="1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엔터티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(Entity)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1EA0C8-F05D-98B5-57B8-33DB7A8D0E7B}"/>
              </a:ext>
            </a:extLst>
          </p:cNvPr>
          <p:cNvSpPr txBox="1"/>
          <p:nvPr/>
        </p:nvSpPr>
        <p:spPr>
          <a:xfrm>
            <a:off x="866912" y="267136"/>
            <a:ext cx="8134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1.9.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모델을 검증할 수 있는가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   (2/11)</a:t>
            </a:r>
            <a:endParaRPr lang="ko-KR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5233EAC-7455-AA9A-50A2-ECB6FE05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164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340931C-3093-F8D3-7135-8EB591015DDC}"/>
              </a:ext>
            </a:extLst>
          </p:cNvPr>
          <p:cNvSpPr txBox="1"/>
          <p:nvPr/>
        </p:nvSpPr>
        <p:spPr>
          <a:xfrm>
            <a:off x="704861" y="1279144"/>
            <a:ext cx="1044420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/>
              <a:t>3.</a:t>
            </a:r>
            <a:r>
              <a:rPr lang="ko-KR" altLang="en-US" sz="2400" dirty="0"/>
              <a:t> 애플리케이션</a:t>
            </a:r>
            <a:r>
              <a:rPr lang="en-US" altLang="ko-KR" sz="2400" dirty="0"/>
              <a:t>(</a:t>
            </a:r>
            <a:r>
              <a:rPr lang="ko-KR" altLang="en-US" sz="2400" dirty="0"/>
              <a:t>화면</a:t>
            </a:r>
            <a:r>
              <a:rPr lang="en-US" altLang="ko-KR" sz="2400" dirty="0"/>
              <a:t>)</a:t>
            </a:r>
            <a:r>
              <a:rPr lang="ko-KR" altLang="en-US" sz="2400" dirty="0"/>
              <a:t> </a:t>
            </a:r>
            <a:r>
              <a:rPr lang="en-US" altLang="ko-KR" sz="2400" dirty="0"/>
              <a:t>vs </a:t>
            </a:r>
            <a:r>
              <a:rPr lang="ko-KR" altLang="en-US" sz="2400" dirty="0" err="1"/>
              <a:t>엔터티</a:t>
            </a:r>
            <a:r>
              <a:rPr lang="ko-KR" altLang="en-US" sz="2400" dirty="0"/>
              <a:t> 매트릭스 검증</a:t>
            </a: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4. AS-IS vs To-BE</a:t>
            </a:r>
            <a:r>
              <a:rPr lang="ko-KR" altLang="en-US" sz="2400" dirty="0"/>
              <a:t>모델 검증</a:t>
            </a:r>
            <a:endParaRPr lang="en-US" altLang="ko-KR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B8916-ED48-1F56-E85B-C71078531CD7}"/>
              </a:ext>
            </a:extLst>
          </p:cNvPr>
          <p:cNvSpPr txBox="1"/>
          <p:nvPr/>
        </p:nvSpPr>
        <p:spPr>
          <a:xfrm>
            <a:off x="1071561" y="1781312"/>
            <a:ext cx="100775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 화면은 있는데 </a:t>
            </a:r>
            <a:r>
              <a:rPr lang="ko-KR" altLang="en-US" sz="2000" dirty="0" err="1"/>
              <a:t>엔터티가</a:t>
            </a:r>
            <a:r>
              <a:rPr lang="ko-KR" altLang="en-US" sz="2000" dirty="0"/>
              <a:t> 없는 경우     </a:t>
            </a:r>
            <a:r>
              <a:rPr lang="en-US" altLang="ko-KR" sz="2000" dirty="0">
                <a:sym typeface="Wingdings" panose="05000000000000000000" pitchFamily="2" charset="2"/>
              </a:rPr>
              <a:t> </a:t>
            </a:r>
            <a:r>
              <a:rPr lang="ko-KR" altLang="en-US" sz="2000" dirty="0" err="1">
                <a:sym typeface="Wingdings" panose="05000000000000000000" pitchFamily="2" charset="2"/>
              </a:rPr>
              <a:t>엔터티를</a:t>
            </a:r>
            <a:r>
              <a:rPr lang="ko-KR" altLang="en-US" sz="2000" dirty="0">
                <a:sym typeface="Wingdings" panose="05000000000000000000" pitchFamily="2" charset="2"/>
              </a:rPr>
              <a:t> 추가해야 하는 사례</a:t>
            </a:r>
            <a:endParaRPr lang="ko-KR" altLang="en-US" sz="2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2000" dirty="0"/>
              <a:t> </a:t>
            </a:r>
            <a:r>
              <a:rPr lang="ko-KR" altLang="en-US" sz="2000" dirty="0" err="1"/>
              <a:t>엔터티만</a:t>
            </a:r>
            <a:r>
              <a:rPr lang="ko-KR" altLang="en-US" sz="2000" dirty="0"/>
              <a:t> 존재하고 화면이 없는 경우  </a:t>
            </a:r>
            <a:r>
              <a:rPr lang="en-US" altLang="ko-KR" sz="2000" dirty="0"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ym typeface="Wingdings" panose="05000000000000000000" pitchFamily="2" charset="2"/>
              </a:rPr>
              <a:t>화면을 추가해야 하는 사례</a:t>
            </a:r>
            <a:endParaRPr lang="ko-KR" altLang="en-US" sz="2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2000" dirty="0"/>
              <a:t> </a:t>
            </a:r>
            <a:r>
              <a:rPr lang="ko-KR" altLang="en-US" sz="2000" dirty="0" err="1"/>
              <a:t>엔터티에도</a:t>
            </a:r>
            <a:r>
              <a:rPr lang="ko-KR" altLang="en-US" sz="2000" dirty="0"/>
              <a:t> 없고 화면에도 없는 경우  </a:t>
            </a:r>
            <a:r>
              <a:rPr lang="en-US" altLang="ko-KR" sz="2000" dirty="0">
                <a:sym typeface="Wingdings" panose="05000000000000000000" pitchFamily="2" charset="2"/>
              </a:rPr>
              <a:t></a:t>
            </a:r>
            <a:endParaRPr lang="en-US" altLang="ko-KR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7FC9A5-7DAA-E8DD-5A24-B53774056FB5}"/>
              </a:ext>
            </a:extLst>
          </p:cNvPr>
          <p:cNvSpPr txBox="1"/>
          <p:nvPr/>
        </p:nvSpPr>
        <p:spPr>
          <a:xfrm>
            <a:off x="1071560" y="4082613"/>
            <a:ext cx="1079360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2000" dirty="0"/>
              <a:t> AS-IS </a:t>
            </a:r>
            <a:r>
              <a:rPr lang="ko-KR" altLang="en-US" sz="2000" dirty="0" err="1"/>
              <a:t>엔터티가</a:t>
            </a:r>
            <a:r>
              <a:rPr lang="ko-KR" altLang="en-US" sz="2000" dirty="0"/>
              <a:t> </a:t>
            </a:r>
            <a:r>
              <a:rPr lang="en-US" altLang="ko-KR" sz="2000" dirty="0"/>
              <a:t>To-BE </a:t>
            </a:r>
            <a:r>
              <a:rPr lang="ko-KR" altLang="en-US" sz="2000" dirty="0"/>
              <a:t>모델에 없는 경우                        </a:t>
            </a:r>
            <a:r>
              <a:rPr lang="en-US" altLang="ko-KR" sz="2000" dirty="0"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ym typeface="Wingdings" panose="05000000000000000000" pitchFamily="2" charset="2"/>
              </a:rPr>
              <a:t>삭제 여부 검토</a:t>
            </a:r>
            <a:endParaRPr lang="en-US" altLang="ko-KR" sz="2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2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2000" dirty="0"/>
              <a:t> To-BE </a:t>
            </a:r>
            <a:r>
              <a:rPr lang="ko-KR" altLang="en-US" sz="2000" dirty="0"/>
              <a:t>모델에 있는 </a:t>
            </a:r>
            <a:r>
              <a:rPr lang="ko-KR" altLang="en-US" sz="2000" dirty="0" err="1"/>
              <a:t>엔터티가</a:t>
            </a:r>
            <a:r>
              <a:rPr lang="ko-KR" altLang="en-US" sz="2000" dirty="0"/>
              <a:t> </a:t>
            </a:r>
            <a:r>
              <a:rPr lang="en-US" altLang="ko-KR" sz="2000" dirty="0"/>
              <a:t>AS-IS </a:t>
            </a:r>
            <a:r>
              <a:rPr lang="ko-KR" altLang="en-US" sz="2000" dirty="0"/>
              <a:t>모델에 없는 경우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F24113-2481-4F34-F6E6-535EB43B2694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600" dirty="0" err="1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엔터티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(Entity)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81FDA0-5267-9A58-C2E6-796FAAF316EA}"/>
              </a:ext>
            </a:extLst>
          </p:cNvPr>
          <p:cNvSpPr txBox="1"/>
          <p:nvPr/>
        </p:nvSpPr>
        <p:spPr>
          <a:xfrm>
            <a:off x="866912" y="267136"/>
            <a:ext cx="8134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1.9.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모델을 검증할 수 있는가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   (3/11)</a:t>
            </a:r>
            <a:endParaRPr lang="ko-KR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C9C0202-E44E-D234-D874-1BEAE15E4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6820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340931C-3093-F8D3-7135-8EB591015DDC}"/>
              </a:ext>
            </a:extLst>
          </p:cNvPr>
          <p:cNvSpPr txBox="1"/>
          <p:nvPr/>
        </p:nvSpPr>
        <p:spPr>
          <a:xfrm>
            <a:off x="704861" y="1279144"/>
            <a:ext cx="1044420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/>
              <a:t>5.</a:t>
            </a:r>
            <a:r>
              <a:rPr lang="ko-KR" altLang="en-US" sz="2400" dirty="0"/>
              <a:t> 속성으로 설계해야 하는 것은 아닌지</a:t>
            </a:r>
            <a:r>
              <a:rPr lang="en-US" altLang="ko-KR" sz="2400" dirty="0"/>
              <a:t>?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6. </a:t>
            </a:r>
            <a:r>
              <a:rPr lang="ko-KR" altLang="en-US" sz="2400" dirty="0"/>
              <a:t>하나의 </a:t>
            </a:r>
            <a:r>
              <a:rPr lang="ko-KR" altLang="en-US" sz="2400" dirty="0" err="1"/>
              <a:t>엔터티는</a:t>
            </a:r>
            <a:r>
              <a:rPr lang="ko-KR" altLang="en-US" sz="2400" dirty="0"/>
              <a:t> 하나의 주제로 구성되었는가</a:t>
            </a:r>
            <a:r>
              <a:rPr lang="en-US" altLang="ko-KR" sz="2400" dirty="0"/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B8916-ED48-1F56-E85B-C71078531CD7}"/>
              </a:ext>
            </a:extLst>
          </p:cNvPr>
          <p:cNvSpPr txBox="1"/>
          <p:nvPr/>
        </p:nvSpPr>
        <p:spPr>
          <a:xfrm>
            <a:off x="1071560" y="1781312"/>
            <a:ext cx="1100292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 간혹 속성으로 설계해야 하는데 </a:t>
            </a:r>
            <a:r>
              <a:rPr lang="ko-KR" altLang="en-US" sz="2000" dirty="0" err="1"/>
              <a:t>엔터티로</a:t>
            </a:r>
            <a:r>
              <a:rPr lang="ko-KR" altLang="en-US" sz="2000" dirty="0"/>
              <a:t> 설계한 경우가 있다</a:t>
            </a:r>
            <a:r>
              <a:rPr lang="en-US" altLang="ko-KR" sz="2000" dirty="0"/>
              <a:t>.</a:t>
            </a:r>
            <a:endParaRPr lang="ko-KR" altLang="en-US" sz="2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 이는 일대일</a:t>
            </a:r>
            <a:r>
              <a:rPr lang="en-US" altLang="ko-KR" sz="2000" dirty="0"/>
              <a:t>(1:1) </a:t>
            </a:r>
            <a:r>
              <a:rPr lang="ko-KR" altLang="en-US" sz="2000" dirty="0"/>
              <a:t>관계의 </a:t>
            </a:r>
            <a:r>
              <a:rPr lang="ko-KR" altLang="en-US" sz="2000" dirty="0" err="1"/>
              <a:t>엔터티에서</a:t>
            </a:r>
            <a:r>
              <a:rPr lang="ko-KR" altLang="en-US" sz="2000" dirty="0"/>
              <a:t> 발생할 수 있다</a:t>
            </a:r>
            <a:r>
              <a:rPr lang="en-US" altLang="ko-KR" sz="20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2000" dirty="0"/>
              <a:t> </a:t>
            </a:r>
            <a:r>
              <a:rPr lang="ko-KR" altLang="en-US" sz="2000" dirty="0"/>
              <a:t>하나의 </a:t>
            </a:r>
            <a:r>
              <a:rPr lang="ko-KR" altLang="en-US" sz="2000" dirty="0" err="1"/>
              <a:t>엔터티이지만</a:t>
            </a:r>
            <a:r>
              <a:rPr lang="ko-KR" altLang="en-US" sz="2000" dirty="0"/>
              <a:t> 성능</a:t>
            </a:r>
            <a:r>
              <a:rPr lang="en-US" altLang="ko-KR" sz="2000" dirty="0"/>
              <a:t>•</a:t>
            </a:r>
            <a:r>
              <a:rPr lang="ko-KR" altLang="en-US" sz="2000" dirty="0"/>
              <a:t>관리를 고려 수직분할한 아예 다른 성격의 </a:t>
            </a:r>
            <a:r>
              <a:rPr lang="ko-KR" altLang="en-US" sz="2000" dirty="0" err="1"/>
              <a:t>엔터티인</a:t>
            </a:r>
            <a:r>
              <a:rPr lang="ko-KR" altLang="en-US" sz="2000" dirty="0"/>
              <a:t> 경우가 있다</a:t>
            </a:r>
            <a:r>
              <a:rPr lang="en-US" altLang="ko-KR" sz="20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7FC9A5-7DAA-E8DD-5A24-B53774056FB5}"/>
              </a:ext>
            </a:extLst>
          </p:cNvPr>
          <p:cNvSpPr txBox="1"/>
          <p:nvPr/>
        </p:nvSpPr>
        <p:spPr>
          <a:xfrm>
            <a:off x="1071560" y="4082613"/>
            <a:ext cx="1079360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2000" dirty="0"/>
              <a:t> </a:t>
            </a:r>
            <a:r>
              <a:rPr lang="ko-KR" altLang="en-US" sz="2000" dirty="0" err="1"/>
              <a:t>엔터티는</a:t>
            </a:r>
            <a:r>
              <a:rPr lang="ko-KR" altLang="en-US" sz="2000" dirty="0"/>
              <a:t> 동일한 성격의 집합으로 구성돼야 한다</a:t>
            </a:r>
            <a:r>
              <a:rPr lang="en-US" altLang="ko-KR" sz="20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 하나의 </a:t>
            </a:r>
            <a:r>
              <a:rPr lang="ko-KR" altLang="en-US" sz="2000" dirty="0" err="1"/>
              <a:t>엔터티에</a:t>
            </a:r>
            <a:r>
              <a:rPr lang="ko-KR" altLang="en-US" sz="2000" dirty="0"/>
              <a:t> 여러 성격의 데이터가 혼재돼서는 안된다</a:t>
            </a:r>
            <a:r>
              <a:rPr lang="en-US" altLang="ko-KR" sz="20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2000" dirty="0"/>
              <a:t> </a:t>
            </a:r>
            <a:r>
              <a:rPr lang="ko-KR" altLang="en-US" sz="2000" dirty="0"/>
              <a:t>이를 검증하기란 대단히 어렵다</a:t>
            </a:r>
            <a:r>
              <a:rPr lang="en-US" altLang="ko-KR" sz="2000" dirty="0"/>
              <a:t>. </a:t>
            </a:r>
            <a:r>
              <a:rPr lang="ko-KR" altLang="en-US" sz="2000" dirty="0"/>
              <a:t>흔히 느낌</a:t>
            </a:r>
            <a:r>
              <a:rPr lang="en-US" altLang="ko-KR" sz="2000" dirty="0"/>
              <a:t>(</a:t>
            </a:r>
            <a:r>
              <a:rPr lang="ko-KR" altLang="en-US" sz="2000" dirty="0"/>
              <a:t>직감</a:t>
            </a:r>
            <a:r>
              <a:rPr lang="en-US" altLang="ko-KR" sz="2000" dirty="0"/>
              <a:t>)</a:t>
            </a:r>
            <a:r>
              <a:rPr lang="ko-KR" altLang="en-US" sz="2000" dirty="0"/>
              <a:t>으로 알 수 있는 부분이기도 하다</a:t>
            </a:r>
            <a:r>
              <a:rPr lang="en-US" altLang="ko-KR" sz="2000" dirty="0"/>
              <a:t>.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B5E22D-22D6-77CD-9146-926DF6AD4258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600" dirty="0" err="1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엔터티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(Entity)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103A44-661B-453C-A48E-04509D1E0969}"/>
              </a:ext>
            </a:extLst>
          </p:cNvPr>
          <p:cNvSpPr txBox="1"/>
          <p:nvPr/>
        </p:nvSpPr>
        <p:spPr>
          <a:xfrm>
            <a:off x="866912" y="267136"/>
            <a:ext cx="8134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1.9.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모델을 검증할 수 있는가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   (4/11)</a:t>
            </a:r>
            <a:endParaRPr lang="ko-KR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9AECA7B-F810-90F2-5199-9AA86413C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0351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340931C-3093-F8D3-7135-8EB591015DDC}"/>
              </a:ext>
            </a:extLst>
          </p:cNvPr>
          <p:cNvSpPr txBox="1"/>
          <p:nvPr/>
        </p:nvSpPr>
        <p:spPr>
          <a:xfrm>
            <a:off x="704861" y="1279144"/>
            <a:ext cx="1044420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/>
              <a:t>7.</a:t>
            </a:r>
            <a:r>
              <a:rPr lang="ko-KR" altLang="en-US" sz="2400" dirty="0"/>
              <a:t> 유사한 성격의 데이터인데 개별적인 </a:t>
            </a:r>
            <a:r>
              <a:rPr lang="ko-KR" altLang="en-US" sz="2400" dirty="0" err="1"/>
              <a:t>엔터티에서</a:t>
            </a:r>
            <a:r>
              <a:rPr lang="ko-KR" altLang="en-US" sz="2400" dirty="0"/>
              <a:t> 관리하고 있지 않는지</a:t>
            </a:r>
            <a:r>
              <a:rPr lang="en-US" altLang="ko-KR" sz="2400" dirty="0"/>
              <a:t>?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r>
              <a:rPr lang="en-US" altLang="ko-KR" sz="2400" dirty="0"/>
              <a:t>8. </a:t>
            </a:r>
            <a:r>
              <a:rPr lang="ko-KR" altLang="en-US" sz="2400" dirty="0"/>
              <a:t>필요한 단어만을 사용해서 </a:t>
            </a:r>
            <a:r>
              <a:rPr lang="ko-KR" altLang="en-US" sz="2400" dirty="0" err="1"/>
              <a:t>엔터티</a:t>
            </a:r>
            <a:r>
              <a:rPr lang="ko-KR" altLang="en-US" sz="2400" dirty="0"/>
              <a:t> 명을 구체적으로 붙였는지</a:t>
            </a:r>
            <a:r>
              <a:rPr lang="en-US" altLang="ko-KR" sz="2400" dirty="0"/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B8916-ED48-1F56-E85B-C71078531CD7}"/>
              </a:ext>
            </a:extLst>
          </p:cNvPr>
          <p:cNvSpPr txBox="1"/>
          <p:nvPr/>
        </p:nvSpPr>
        <p:spPr>
          <a:xfrm>
            <a:off x="1071560" y="1781312"/>
            <a:ext cx="110029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 성격</a:t>
            </a:r>
            <a:r>
              <a:rPr lang="en-US" altLang="ko-KR" sz="2000" dirty="0"/>
              <a:t>(</a:t>
            </a:r>
            <a:r>
              <a:rPr lang="ko-KR" altLang="en-US" sz="2000" dirty="0"/>
              <a:t>주제</a:t>
            </a:r>
            <a:r>
              <a:rPr lang="en-US" altLang="ko-KR" sz="2000" dirty="0"/>
              <a:t>,</a:t>
            </a:r>
            <a:r>
              <a:rPr lang="ko-KR" altLang="en-US" sz="2000" dirty="0"/>
              <a:t>정체성</a:t>
            </a:r>
            <a:r>
              <a:rPr lang="en-US" altLang="ko-KR" sz="2000" dirty="0"/>
              <a:t>)</a:t>
            </a:r>
            <a:r>
              <a:rPr lang="ko-KR" altLang="en-US" sz="2000" dirty="0"/>
              <a:t>이 유사한 데이터 집합이 여기저기 산재해 있는 것은 좋지 않다</a:t>
            </a:r>
            <a:r>
              <a:rPr lang="en-US" altLang="ko-KR" sz="20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2000" dirty="0"/>
              <a:t> </a:t>
            </a:r>
            <a:r>
              <a:rPr lang="ko-KR" altLang="en-US" sz="2000" dirty="0"/>
              <a:t>유사한 데이터가 여러 </a:t>
            </a:r>
            <a:r>
              <a:rPr lang="ko-KR" altLang="en-US" sz="2000" dirty="0" err="1"/>
              <a:t>엔터티에</a:t>
            </a:r>
            <a:r>
              <a:rPr lang="ko-KR" altLang="en-US" sz="2000" dirty="0"/>
              <a:t> 존재하는 것은 </a:t>
            </a:r>
            <a:r>
              <a:rPr lang="ko-KR" altLang="en-US" sz="2000" dirty="0" err="1"/>
              <a:t>엔터티</a:t>
            </a:r>
            <a:r>
              <a:rPr lang="ko-KR" altLang="en-US" sz="2000" dirty="0"/>
              <a:t> 통합을 기본 원칙으로 검증해야 한다</a:t>
            </a:r>
            <a:r>
              <a:rPr lang="en-US" altLang="ko-KR" sz="20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7FC9A5-7DAA-E8DD-5A24-B53774056FB5}"/>
              </a:ext>
            </a:extLst>
          </p:cNvPr>
          <p:cNvSpPr txBox="1"/>
          <p:nvPr/>
        </p:nvSpPr>
        <p:spPr>
          <a:xfrm>
            <a:off x="1071560" y="4082613"/>
            <a:ext cx="10793605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 </a:t>
            </a:r>
            <a:r>
              <a:rPr lang="ko-KR" altLang="en-US" sz="2000" dirty="0" err="1"/>
              <a:t>엔터티</a:t>
            </a:r>
            <a:r>
              <a:rPr lang="ko-KR" altLang="en-US" sz="2000" dirty="0"/>
              <a:t> 명이 구체적인지를 먼저 검토해야 한다</a:t>
            </a:r>
            <a:r>
              <a:rPr lang="en-US" altLang="ko-KR" sz="20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 </a:t>
            </a:r>
            <a:r>
              <a:rPr lang="ko-KR" altLang="en-US" sz="2000" dirty="0" err="1"/>
              <a:t>엔터티</a:t>
            </a:r>
            <a:r>
              <a:rPr lang="ko-KR" altLang="en-US" sz="2000" dirty="0"/>
              <a:t> 명을 보고 어떤 데이터를 관리하는지 인지할 수 있도록 가능한 구체적이어야 한다</a:t>
            </a:r>
            <a:r>
              <a:rPr lang="en-US" altLang="ko-KR" sz="20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2000" dirty="0"/>
              <a:t> </a:t>
            </a:r>
            <a:r>
              <a:rPr lang="ko-KR" altLang="en-US" sz="2000" dirty="0"/>
              <a:t>그리고 확장성을 고려해서 유연하게 </a:t>
            </a:r>
            <a:r>
              <a:rPr lang="ko-KR" altLang="en-US" sz="2000" dirty="0" err="1"/>
              <a:t>엔터티</a:t>
            </a:r>
            <a:r>
              <a:rPr lang="ko-KR" altLang="en-US" sz="2000" dirty="0"/>
              <a:t> 명을 정했는지를 검토해야 한 다 </a:t>
            </a:r>
            <a:r>
              <a:rPr lang="en-US" altLang="ko-KR" sz="20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 </a:t>
            </a:r>
            <a:r>
              <a:rPr lang="ko-KR" altLang="en-US" sz="2000" dirty="0" err="1"/>
              <a:t>엔터티</a:t>
            </a:r>
            <a:r>
              <a:rPr lang="ko-KR" altLang="en-US" sz="2000" dirty="0"/>
              <a:t> 명에 필요 없는 단어는 생략해도 </a:t>
            </a:r>
            <a:r>
              <a:rPr lang="ko-KR" altLang="en-US" sz="2000" dirty="0" err="1"/>
              <a:t>엔터티를</a:t>
            </a:r>
            <a:r>
              <a:rPr lang="ko-KR" altLang="en-US" sz="2000" dirty="0"/>
              <a:t> 이해하는 데 문제없는지를 검토한다</a:t>
            </a:r>
            <a:r>
              <a:rPr lang="en-US" altLang="ko-KR" sz="20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2BD636-EF86-C04B-A62E-9AF17CD46022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600" dirty="0" err="1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엔터티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(Entity)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DA0C10-8A20-F4D5-1C08-0CE0CAB1AD5A}"/>
              </a:ext>
            </a:extLst>
          </p:cNvPr>
          <p:cNvSpPr txBox="1"/>
          <p:nvPr/>
        </p:nvSpPr>
        <p:spPr>
          <a:xfrm>
            <a:off x="866912" y="267136"/>
            <a:ext cx="8134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1.9.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모델을 검증할 수 있는가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   (5/11)</a:t>
            </a:r>
            <a:endParaRPr lang="ko-KR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B1B321E-ADA6-0E7F-C4CF-7D4EC8BA3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3360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340931C-3093-F8D3-7135-8EB591015DDC}"/>
              </a:ext>
            </a:extLst>
          </p:cNvPr>
          <p:cNvSpPr txBox="1"/>
          <p:nvPr/>
        </p:nvSpPr>
        <p:spPr>
          <a:xfrm>
            <a:off x="704861" y="1279144"/>
            <a:ext cx="1044420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/>
              <a:t>9.</a:t>
            </a:r>
            <a:r>
              <a:rPr lang="ko-KR" altLang="en-US" sz="2400" dirty="0"/>
              <a:t> </a:t>
            </a:r>
            <a:r>
              <a:rPr lang="ko-KR" altLang="en-US" sz="2400" dirty="0" err="1"/>
              <a:t>엔터티</a:t>
            </a:r>
            <a:r>
              <a:rPr lang="ko-KR" altLang="en-US" sz="2400" dirty="0"/>
              <a:t> 명이 주 식별자와 한 쌍이 되도록 붙였는지</a:t>
            </a:r>
            <a:r>
              <a:rPr lang="en-US" altLang="ko-KR" sz="2400" dirty="0"/>
              <a:t>?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r>
              <a:rPr lang="en-US" altLang="ko-KR" sz="2400" dirty="0"/>
              <a:t>10. </a:t>
            </a:r>
            <a:r>
              <a:rPr lang="ko-KR" altLang="en-US" sz="2400" dirty="0" err="1"/>
              <a:t>엔터티</a:t>
            </a:r>
            <a:r>
              <a:rPr lang="ko-KR" altLang="en-US" sz="2400" dirty="0"/>
              <a:t> 설명이 존재하며 간결하고 명확한가</a:t>
            </a:r>
            <a:r>
              <a:rPr lang="en-US" altLang="ko-KR" sz="2400" dirty="0"/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B8916-ED48-1F56-E85B-C71078531CD7}"/>
              </a:ext>
            </a:extLst>
          </p:cNvPr>
          <p:cNvSpPr txBox="1"/>
          <p:nvPr/>
        </p:nvSpPr>
        <p:spPr>
          <a:xfrm>
            <a:off x="1071560" y="1781312"/>
            <a:ext cx="1100292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 </a:t>
            </a:r>
            <a:r>
              <a:rPr lang="ko-KR" altLang="en-US" sz="2000" dirty="0" err="1"/>
              <a:t>엔터티</a:t>
            </a:r>
            <a:r>
              <a:rPr lang="ko-KR" altLang="en-US" sz="2000" dirty="0"/>
              <a:t> 명은 주 식별자와 한 쌍처럼 잘 어울려야 한 다 </a:t>
            </a:r>
            <a:r>
              <a:rPr lang="en-US" altLang="ko-KR" sz="20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 </a:t>
            </a:r>
            <a:r>
              <a:rPr lang="ko-KR" altLang="en-US" sz="2000" dirty="0" err="1"/>
              <a:t>엔터티</a:t>
            </a:r>
            <a:r>
              <a:rPr lang="ko-KR" altLang="en-US" sz="2000" dirty="0"/>
              <a:t> 명이 </a:t>
            </a:r>
            <a:r>
              <a:rPr lang="en-US" altLang="ko-KR" sz="2000" dirty="0"/>
              <a:t>“</a:t>
            </a:r>
            <a:r>
              <a:rPr lang="ko-KR" altLang="en-US" sz="2000" dirty="0"/>
              <a:t>계약</a:t>
            </a:r>
            <a:r>
              <a:rPr lang="en-US" altLang="ko-KR" sz="2000" dirty="0"/>
              <a:t>”</a:t>
            </a:r>
            <a:r>
              <a:rPr lang="ko-KR" altLang="en-US" sz="2000" dirty="0"/>
              <a:t>인데 주식별자는 </a:t>
            </a:r>
            <a:r>
              <a:rPr lang="en-US" altLang="ko-KR" sz="2000" dirty="0"/>
              <a:t>“</a:t>
            </a:r>
            <a:r>
              <a:rPr lang="ko-KR" altLang="en-US" sz="2000" dirty="0"/>
              <a:t>약정번호</a:t>
            </a:r>
            <a:r>
              <a:rPr lang="en-US" altLang="ko-KR" sz="2000" dirty="0"/>
              <a:t>”</a:t>
            </a:r>
            <a:r>
              <a:rPr lang="ko-KR" altLang="en-US" sz="2000" dirty="0"/>
              <a:t>이거나 </a:t>
            </a:r>
            <a:r>
              <a:rPr lang="en-US" altLang="ko-KR" sz="2000" dirty="0"/>
              <a:t>“</a:t>
            </a:r>
            <a:r>
              <a:rPr lang="ko-KR" altLang="en-US" sz="2000" dirty="0"/>
              <a:t>계좌번호</a:t>
            </a:r>
            <a:r>
              <a:rPr lang="en-US" altLang="ko-KR" sz="2000" dirty="0"/>
              <a:t>”</a:t>
            </a:r>
            <a:r>
              <a:rPr lang="ko-KR" altLang="en-US" sz="2000" dirty="0"/>
              <a:t>라면 서로 어울리지 않는다</a:t>
            </a:r>
            <a:r>
              <a:rPr lang="en-US" altLang="ko-KR" sz="20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 </a:t>
            </a:r>
            <a:r>
              <a:rPr lang="ko-KR" altLang="en-US" sz="2000" dirty="0" err="1"/>
              <a:t>엔터티</a:t>
            </a:r>
            <a:r>
              <a:rPr lang="ko-KR" altLang="en-US" sz="2000" dirty="0"/>
              <a:t> 명과 주 식별자를 엑셀로 출력해서 서로 어울리는지 검토해보는 것은 좋은 방법이다</a:t>
            </a:r>
            <a:r>
              <a:rPr lang="en-US" altLang="ko-KR" sz="20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7FC9A5-7DAA-E8DD-5A24-B53774056FB5}"/>
              </a:ext>
            </a:extLst>
          </p:cNvPr>
          <p:cNvSpPr txBox="1"/>
          <p:nvPr/>
        </p:nvSpPr>
        <p:spPr>
          <a:xfrm>
            <a:off x="1071560" y="4082613"/>
            <a:ext cx="107936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 err="1"/>
              <a:t>엔터티</a:t>
            </a:r>
            <a:r>
              <a:rPr lang="ko-KR" altLang="en-US" sz="2000" dirty="0"/>
              <a:t> 설명은 반드시 기술하는 것이 원칙이다</a:t>
            </a:r>
            <a:r>
              <a:rPr lang="en-US" altLang="ko-KR" sz="2000" dirty="0"/>
              <a:t>. </a:t>
            </a:r>
            <a:r>
              <a:rPr lang="ko-KR" altLang="en-US" sz="2000" dirty="0"/>
              <a:t>설명이 누락된 </a:t>
            </a:r>
            <a:r>
              <a:rPr lang="ko-KR" altLang="en-US" sz="2000" dirty="0" err="1"/>
              <a:t>엔터티는</a:t>
            </a:r>
            <a:r>
              <a:rPr lang="ko-KR" altLang="en-US" sz="2000" dirty="0"/>
              <a:t> 설명을 채워야 한다</a:t>
            </a:r>
            <a:r>
              <a:rPr lang="en-US" altLang="ko-KR" sz="20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기술된 </a:t>
            </a:r>
            <a:r>
              <a:rPr lang="ko-KR" altLang="en-US" sz="2000" dirty="0" err="1"/>
              <a:t>엔터티</a:t>
            </a:r>
            <a:r>
              <a:rPr lang="ko-KR" altLang="en-US" sz="2000" dirty="0"/>
              <a:t> 설명을 하나씩 읽고 이해해야만 설명이 제대로 됐는지를 검토할 수 있다</a:t>
            </a:r>
            <a:r>
              <a:rPr lang="en-US" altLang="ko-KR" sz="2000" dirty="0"/>
              <a:t>.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E27B53-0F53-7EC2-8F3F-CFB55838415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600" dirty="0" err="1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엔터티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(Entity)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0EEE5F-DB0D-6219-0320-1A12A56201B6}"/>
              </a:ext>
            </a:extLst>
          </p:cNvPr>
          <p:cNvSpPr txBox="1"/>
          <p:nvPr/>
        </p:nvSpPr>
        <p:spPr>
          <a:xfrm>
            <a:off x="866912" y="267136"/>
            <a:ext cx="8134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1.9.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모델을 검증할 수 있는가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   (6/11)</a:t>
            </a:r>
            <a:endParaRPr lang="ko-KR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F2D7AC1-00B4-FBA6-2D01-59EC396C1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2876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340931C-3093-F8D3-7135-8EB591015DDC}"/>
              </a:ext>
            </a:extLst>
          </p:cNvPr>
          <p:cNvSpPr txBox="1"/>
          <p:nvPr/>
        </p:nvSpPr>
        <p:spPr>
          <a:xfrm>
            <a:off x="704861" y="1279144"/>
            <a:ext cx="1044420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/>
              <a:t>11.</a:t>
            </a:r>
            <a:r>
              <a:rPr lang="ko-KR" altLang="en-US" sz="2400" dirty="0"/>
              <a:t> 업무 식별자가 존재하는가</a:t>
            </a:r>
            <a:r>
              <a:rPr lang="en-US" altLang="ko-KR" sz="2400" dirty="0"/>
              <a:t>?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r>
              <a:rPr lang="en-US" altLang="ko-KR" sz="2400" dirty="0"/>
              <a:t>12. </a:t>
            </a:r>
            <a:r>
              <a:rPr lang="ko-KR" altLang="en-US" sz="2400" dirty="0"/>
              <a:t>이력 데이터를 관리하는 </a:t>
            </a:r>
            <a:r>
              <a:rPr lang="ko-KR" altLang="en-US" sz="2400" dirty="0" err="1"/>
              <a:t>엔터티가</a:t>
            </a:r>
            <a:r>
              <a:rPr lang="ko-KR" altLang="en-US" sz="2400" dirty="0"/>
              <a:t> 맞는지</a:t>
            </a:r>
            <a:r>
              <a:rPr lang="en-US" altLang="ko-KR" sz="2400" dirty="0"/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B8916-ED48-1F56-E85B-C71078531CD7}"/>
              </a:ext>
            </a:extLst>
          </p:cNvPr>
          <p:cNvSpPr txBox="1"/>
          <p:nvPr/>
        </p:nvSpPr>
        <p:spPr>
          <a:xfrm>
            <a:off x="1071560" y="1781312"/>
            <a:ext cx="1100292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 주 식별자가 존재하지 않는 </a:t>
            </a:r>
            <a:r>
              <a:rPr lang="ko-KR" altLang="en-US" sz="2000" dirty="0" err="1"/>
              <a:t>엔터티는</a:t>
            </a:r>
            <a:r>
              <a:rPr lang="ko-KR" altLang="en-US" sz="2000" dirty="0"/>
              <a:t> 있을 수 있지만</a:t>
            </a:r>
            <a:r>
              <a:rPr lang="en-US" altLang="ko-KR" sz="2000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업무 식별자가 존재하지 않는 </a:t>
            </a:r>
            <a:r>
              <a:rPr lang="ko-KR" altLang="en-US" sz="2000" dirty="0" err="1"/>
              <a:t>엔터티가</a:t>
            </a:r>
            <a:r>
              <a:rPr lang="ko-KR" altLang="en-US" sz="2000" dirty="0"/>
              <a:t> 있어서는 안 된다</a:t>
            </a:r>
            <a:r>
              <a:rPr lang="en-US" altLang="ko-KR" sz="20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모든 </a:t>
            </a:r>
            <a:r>
              <a:rPr lang="ko-KR" altLang="en-US" sz="2000" dirty="0" err="1"/>
              <a:t>엔터티에</a:t>
            </a:r>
            <a:r>
              <a:rPr lang="ko-KR" altLang="en-US" sz="2000" dirty="0"/>
              <a:t> 업무 식별자가</a:t>
            </a:r>
            <a:r>
              <a:rPr lang="en-US" altLang="ko-KR" sz="2000" dirty="0"/>
              <a:t>  </a:t>
            </a:r>
            <a:r>
              <a:rPr lang="ko-KR" altLang="en-US" sz="2000" dirty="0"/>
              <a:t>존재하는지를 검토해야 한다</a:t>
            </a:r>
            <a:r>
              <a:rPr lang="en-US" altLang="ko-KR" sz="20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7FC9A5-7DAA-E8DD-5A24-B53774056FB5}"/>
              </a:ext>
            </a:extLst>
          </p:cNvPr>
          <p:cNvSpPr txBox="1"/>
          <p:nvPr/>
        </p:nvSpPr>
        <p:spPr>
          <a:xfrm>
            <a:off x="1071560" y="4168338"/>
            <a:ext cx="1100292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이력 </a:t>
            </a:r>
            <a:r>
              <a:rPr lang="ko-KR" altLang="en-US" sz="2000" dirty="0" err="1"/>
              <a:t>엔터티는</a:t>
            </a:r>
            <a:r>
              <a:rPr lang="ko-KR" altLang="en-US" sz="2000" dirty="0"/>
              <a:t> 우선 </a:t>
            </a:r>
            <a:r>
              <a:rPr lang="ko-KR" altLang="en-US" sz="2000" dirty="0" err="1"/>
              <a:t>엔터티</a:t>
            </a:r>
            <a:r>
              <a:rPr lang="ko-KR" altLang="en-US" sz="2000" dirty="0"/>
              <a:t> 명이 </a:t>
            </a:r>
            <a:r>
              <a:rPr lang="en-US" altLang="ko-KR" sz="2000" dirty="0"/>
              <a:t>“</a:t>
            </a:r>
            <a:r>
              <a:rPr lang="ko-KR" altLang="en-US" sz="2000" dirty="0"/>
              <a:t>이력</a:t>
            </a:r>
            <a:r>
              <a:rPr lang="en-US" altLang="ko-KR" sz="2000" dirty="0"/>
              <a:t>”</a:t>
            </a:r>
            <a:r>
              <a:rPr lang="ko-KR" altLang="en-US" sz="2000" dirty="0"/>
              <a:t>으로 끝나야 한다</a:t>
            </a:r>
            <a:r>
              <a:rPr lang="en-US" altLang="ko-KR" sz="2000" dirty="0"/>
              <a:t>. “</a:t>
            </a:r>
            <a:r>
              <a:rPr lang="ko-KR" altLang="en-US" sz="2000" dirty="0"/>
              <a:t>계좌이력</a:t>
            </a:r>
            <a:r>
              <a:rPr lang="en-US" altLang="ko-KR" sz="2000" dirty="0"/>
              <a:t>”</a:t>
            </a:r>
            <a:r>
              <a:rPr lang="ko-KR" altLang="en-US" sz="2000" dirty="0"/>
              <a:t> 과 같이 사용한다</a:t>
            </a:r>
            <a:r>
              <a:rPr lang="en-US" altLang="ko-KR" sz="20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2000" dirty="0"/>
              <a:t>“</a:t>
            </a:r>
            <a:r>
              <a:rPr lang="ko-KR" altLang="en-US" sz="2000" dirty="0"/>
              <a:t>이력</a:t>
            </a:r>
            <a:r>
              <a:rPr lang="en-US" altLang="ko-KR" sz="2000" dirty="0"/>
              <a:t>”</a:t>
            </a:r>
            <a:r>
              <a:rPr lang="ko-KR" altLang="en-US" sz="2000" dirty="0"/>
              <a:t>은 데이터의 성격을 나타내기 때문에 필요할 때 </a:t>
            </a:r>
            <a:r>
              <a:rPr lang="ko-KR" altLang="en-US" sz="2000" dirty="0" err="1"/>
              <a:t>접미어로</a:t>
            </a:r>
            <a:r>
              <a:rPr lang="ko-KR" altLang="en-US" sz="2000" dirty="0"/>
              <a:t> 사용할 수 있다</a:t>
            </a:r>
            <a:r>
              <a:rPr lang="en-US" altLang="ko-KR" sz="20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이력 </a:t>
            </a:r>
            <a:r>
              <a:rPr lang="ko-KR" altLang="en-US" sz="2000" dirty="0" err="1"/>
              <a:t>엔터티</a:t>
            </a:r>
            <a:r>
              <a:rPr lang="ko-KR" altLang="en-US" sz="2000" dirty="0"/>
              <a:t> 검증 방법은 주 식별자에 발생</a:t>
            </a:r>
            <a:r>
              <a:rPr lang="en-US" altLang="ko-KR" sz="2000" dirty="0"/>
              <a:t>/</a:t>
            </a:r>
            <a:r>
              <a:rPr lang="ko-KR" altLang="en-US" sz="2000" dirty="0"/>
              <a:t>변경</a:t>
            </a:r>
            <a:r>
              <a:rPr lang="en-US" altLang="ko-KR" sz="2000" dirty="0"/>
              <a:t>/</a:t>
            </a:r>
            <a:r>
              <a:rPr lang="ko-KR" altLang="en-US" sz="2000" dirty="0"/>
              <a:t>종료일자 등의 속성여부를 확인하는 것이다</a:t>
            </a:r>
            <a:r>
              <a:rPr lang="en-US" altLang="ko-KR" sz="2000" dirty="0"/>
              <a:t>.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C13154-2027-F10E-D767-FE8DA5A152F1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600" dirty="0" err="1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엔터티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(Entity)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FB360F-62BB-3ED6-E723-BAF3938A18A3}"/>
              </a:ext>
            </a:extLst>
          </p:cNvPr>
          <p:cNvSpPr txBox="1"/>
          <p:nvPr/>
        </p:nvSpPr>
        <p:spPr>
          <a:xfrm>
            <a:off x="866912" y="267136"/>
            <a:ext cx="8134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1.9.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모델을 검증할 수 있는가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   (7/11)</a:t>
            </a:r>
            <a:endParaRPr lang="ko-KR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B70A10-BDE8-E349-2CD2-595D02181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55715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340931C-3093-F8D3-7135-8EB591015DDC}"/>
              </a:ext>
            </a:extLst>
          </p:cNvPr>
          <p:cNvSpPr txBox="1"/>
          <p:nvPr/>
        </p:nvSpPr>
        <p:spPr>
          <a:xfrm>
            <a:off x="704861" y="1279144"/>
            <a:ext cx="1044420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/>
              <a:t>13. </a:t>
            </a:r>
            <a:r>
              <a:rPr lang="ko-KR" altLang="en-US" sz="2400" dirty="0"/>
              <a:t>일대일 관계의 두 </a:t>
            </a:r>
            <a:r>
              <a:rPr lang="ko-KR" altLang="en-US" sz="2400" dirty="0" err="1"/>
              <a:t>엔터티를</a:t>
            </a:r>
            <a:r>
              <a:rPr lang="ko-KR" altLang="en-US" sz="2400" dirty="0"/>
              <a:t> 합체할 수는 없는가</a:t>
            </a:r>
            <a:r>
              <a:rPr lang="en-US" altLang="ko-KR" sz="2400" dirty="0"/>
              <a:t>?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r>
              <a:rPr lang="en-US" altLang="ko-KR" sz="2400" dirty="0"/>
              <a:t>14. </a:t>
            </a:r>
            <a:r>
              <a:rPr lang="ko-KR" altLang="en-US" sz="2400" dirty="0"/>
              <a:t>종속 관계 </a:t>
            </a:r>
            <a:r>
              <a:rPr lang="ko-KR" altLang="en-US" sz="2400" dirty="0" err="1"/>
              <a:t>엔터티의</a:t>
            </a:r>
            <a:r>
              <a:rPr lang="ko-KR" altLang="en-US" sz="2400" dirty="0"/>
              <a:t> 주식별자 상속이 적절한가</a:t>
            </a:r>
            <a:r>
              <a:rPr lang="en-US" altLang="ko-KR" sz="2400" dirty="0"/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B8916-ED48-1F56-E85B-C71078531CD7}"/>
              </a:ext>
            </a:extLst>
          </p:cNvPr>
          <p:cNvSpPr txBox="1"/>
          <p:nvPr/>
        </p:nvSpPr>
        <p:spPr>
          <a:xfrm>
            <a:off x="1071560" y="1781312"/>
            <a:ext cx="110029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일대일</a:t>
            </a:r>
            <a:r>
              <a:rPr lang="en-US" altLang="ko-KR" sz="2000" dirty="0"/>
              <a:t>(1:1) </a:t>
            </a:r>
            <a:r>
              <a:rPr lang="ko-KR" altLang="en-US" sz="2000" dirty="0"/>
              <a:t>관계만을 뽑아서 두 </a:t>
            </a:r>
            <a:r>
              <a:rPr lang="ko-KR" altLang="en-US" sz="2000" dirty="0" err="1"/>
              <a:t>엔터티의</a:t>
            </a:r>
            <a:r>
              <a:rPr lang="ko-KR" altLang="en-US" sz="2000" dirty="0"/>
              <a:t> 성격이 같은지를 확인한다</a:t>
            </a:r>
            <a:r>
              <a:rPr lang="en-US" altLang="ko-KR" sz="20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만약 성격이 같다면 두 </a:t>
            </a:r>
            <a:r>
              <a:rPr lang="ko-KR" altLang="en-US" sz="2000" dirty="0" err="1"/>
              <a:t>엔터티를</a:t>
            </a:r>
            <a:r>
              <a:rPr lang="ko-KR" altLang="en-US" sz="2000" dirty="0"/>
              <a:t> 합체 했을 때 문제가 발생하는지 검토한다</a:t>
            </a:r>
            <a:r>
              <a:rPr lang="en-US" altLang="ko-KR" sz="2000" dirty="0"/>
              <a:t>.</a:t>
            </a:r>
            <a:r>
              <a:rPr lang="ko-KR" altLang="en-US" sz="2000" dirty="0"/>
              <a:t> </a:t>
            </a:r>
            <a:endParaRPr lang="en-US" altLang="ko-KR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7FC9A5-7DAA-E8DD-5A24-B53774056FB5}"/>
              </a:ext>
            </a:extLst>
          </p:cNvPr>
          <p:cNvSpPr txBox="1"/>
          <p:nvPr/>
        </p:nvSpPr>
        <p:spPr>
          <a:xfrm>
            <a:off x="1071560" y="4168338"/>
            <a:ext cx="1100292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보통 종속 관계 </a:t>
            </a:r>
            <a:r>
              <a:rPr lang="ko-KR" altLang="en-US" sz="2000" dirty="0" err="1"/>
              <a:t>엔터티는</a:t>
            </a:r>
            <a:r>
              <a:rPr lang="ko-KR" altLang="en-US" sz="2000" dirty="0"/>
              <a:t> 많지 않다</a:t>
            </a:r>
            <a:r>
              <a:rPr lang="en-US" altLang="ko-KR" sz="20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종속 관계인 </a:t>
            </a:r>
            <a:r>
              <a:rPr lang="ko-KR" altLang="en-US" sz="2000" dirty="0" err="1"/>
              <a:t>엔터티는</a:t>
            </a:r>
            <a:r>
              <a:rPr lang="ko-KR" altLang="en-US" sz="2000" dirty="0"/>
              <a:t> 동일한 주제 영역에 존재해야 한다</a:t>
            </a:r>
            <a:r>
              <a:rPr lang="en-US" altLang="ko-KR" sz="20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즉 </a:t>
            </a:r>
            <a:r>
              <a:rPr lang="en-US" altLang="ko-KR" sz="2000" dirty="0"/>
              <a:t>ERD</a:t>
            </a:r>
            <a:r>
              <a:rPr lang="ko-KR" altLang="en-US" sz="2000" dirty="0"/>
              <a:t>에서 같은 위치에 존재해야 하며 관계선을 표현해야 한다</a:t>
            </a:r>
            <a:r>
              <a:rPr lang="en-US" altLang="ko-KR" sz="20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종속 </a:t>
            </a:r>
            <a:r>
              <a:rPr lang="ko-KR" altLang="en-US" sz="2000" dirty="0" err="1"/>
              <a:t>엔터티는</a:t>
            </a:r>
            <a:r>
              <a:rPr lang="ko-KR" altLang="en-US" sz="2000" dirty="0"/>
              <a:t> 일반적으로 주 식별자를</a:t>
            </a:r>
            <a:r>
              <a:rPr lang="en-US" altLang="ko-KR" sz="2000" dirty="0"/>
              <a:t> </a:t>
            </a:r>
            <a:r>
              <a:rPr lang="ko-KR" altLang="en-US" sz="2000" dirty="0"/>
              <a:t>식별자로서 상속한다</a:t>
            </a:r>
            <a:r>
              <a:rPr lang="en-US" altLang="ko-KR" sz="20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식별자로 상속한 관계만 뽑아서 종속 </a:t>
            </a:r>
            <a:r>
              <a:rPr lang="ko-KR" altLang="en-US" sz="2000" dirty="0" err="1"/>
              <a:t>엔터티인지를</a:t>
            </a:r>
            <a:r>
              <a:rPr lang="ko-KR" altLang="en-US" sz="2000" dirty="0"/>
              <a:t> 검토하는</a:t>
            </a:r>
            <a:r>
              <a:rPr lang="en-US" altLang="ko-KR" sz="2000" dirty="0"/>
              <a:t> </a:t>
            </a:r>
            <a:r>
              <a:rPr lang="ko-KR" altLang="en-US" sz="2000" dirty="0"/>
              <a:t>것도 유용한 검증 방법이다</a:t>
            </a:r>
            <a:r>
              <a:rPr lang="en-US" altLang="ko-KR" sz="2000" dirty="0"/>
              <a:t>.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3D821D-33BB-360E-85E9-85746EBFCB41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600" dirty="0" err="1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엔터티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(Entity)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5586FC-F811-36D2-1AF4-559D9B36B734}"/>
              </a:ext>
            </a:extLst>
          </p:cNvPr>
          <p:cNvSpPr txBox="1"/>
          <p:nvPr/>
        </p:nvSpPr>
        <p:spPr>
          <a:xfrm>
            <a:off x="866912" y="267136"/>
            <a:ext cx="8134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1.9.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모델을 검증할 수 있는가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   (8/11)</a:t>
            </a:r>
            <a:endParaRPr lang="ko-KR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A216FC8-0B41-AA32-AF54-BC4A4FCE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1055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340931C-3093-F8D3-7135-8EB591015DDC}"/>
              </a:ext>
            </a:extLst>
          </p:cNvPr>
          <p:cNvSpPr txBox="1"/>
          <p:nvPr/>
        </p:nvSpPr>
        <p:spPr>
          <a:xfrm>
            <a:off x="704861" y="1279144"/>
            <a:ext cx="1044420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/>
              <a:t>15. </a:t>
            </a:r>
            <a:r>
              <a:rPr lang="ko-KR" altLang="en-US" sz="2400" dirty="0"/>
              <a:t>데이터 인스턴스가 하나뿐인 특수 </a:t>
            </a:r>
            <a:r>
              <a:rPr lang="ko-KR" altLang="en-US" sz="2400" dirty="0" err="1"/>
              <a:t>엔터티가</a:t>
            </a:r>
            <a:r>
              <a:rPr lang="ko-KR" altLang="en-US" sz="2400" dirty="0"/>
              <a:t> 있는가</a:t>
            </a:r>
            <a:r>
              <a:rPr lang="en-US" altLang="ko-KR" sz="2400" dirty="0"/>
              <a:t>?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r>
              <a:rPr lang="en-US" altLang="ko-KR" sz="2400" dirty="0"/>
              <a:t>16. </a:t>
            </a:r>
            <a:r>
              <a:rPr lang="ko-KR" altLang="en-US" sz="2400" dirty="0"/>
              <a:t>주 식별자가 존재하지 않는 </a:t>
            </a:r>
            <a:r>
              <a:rPr lang="ko-KR" altLang="en-US" sz="2400" dirty="0" err="1"/>
              <a:t>엔터티가</a:t>
            </a:r>
            <a:r>
              <a:rPr lang="ko-KR" altLang="en-US" sz="2400" dirty="0"/>
              <a:t> 있는가</a:t>
            </a:r>
            <a:r>
              <a:rPr lang="en-US" altLang="ko-KR" sz="2400" dirty="0"/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B8916-ED48-1F56-E85B-C71078531CD7}"/>
              </a:ext>
            </a:extLst>
          </p:cNvPr>
          <p:cNvSpPr txBox="1"/>
          <p:nvPr/>
        </p:nvSpPr>
        <p:spPr>
          <a:xfrm>
            <a:off x="1071560" y="1781312"/>
            <a:ext cx="1100292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인스턴스가 하나뿐인 </a:t>
            </a:r>
            <a:r>
              <a:rPr lang="ko-KR" altLang="en-US" sz="2000" dirty="0" err="1"/>
              <a:t>엔터티는</a:t>
            </a:r>
            <a:r>
              <a:rPr lang="ko-KR" altLang="en-US" sz="2000" dirty="0"/>
              <a:t> 흔치 않다</a:t>
            </a:r>
            <a:r>
              <a:rPr lang="en-US" altLang="ko-KR" sz="20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이런 </a:t>
            </a:r>
            <a:r>
              <a:rPr lang="ko-KR" altLang="en-US" sz="2000" dirty="0" err="1"/>
              <a:t>엔터티가</a:t>
            </a:r>
            <a:r>
              <a:rPr lang="ko-KR" altLang="en-US" sz="2000" dirty="0"/>
              <a:t> 반드시 잘못된 것은 아니지만</a:t>
            </a:r>
            <a:r>
              <a:rPr lang="en-US" altLang="ko-KR" sz="2000" dirty="0"/>
              <a:t>, </a:t>
            </a:r>
            <a:r>
              <a:rPr lang="ko-KR" altLang="en-US" sz="2000" dirty="0"/>
              <a:t>재차 확인해 볼 필요는 있다</a:t>
            </a:r>
            <a:r>
              <a:rPr lang="en-US" altLang="ko-KR" sz="20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보통 이력 데이터를 관리하면 하나의 인스턴스만 존재할 수 없다</a:t>
            </a:r>
            <a:r>
              <a:rPr lang="en-US" altLang="ko-KR" sz="2000" dirty="0"/>
              <a:t>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7FC9A5-7DAA-E8DD-5A24-B53774056FB5}"/>
              </a:ext>
            </a:extLst>
          </p:cNvPr>
          <p:cNvSpPr txBox="1"/>
          <p:nvPr/>
        </p:nvSpPr>
        <p:spPr>
          <a:xfrm>
            <a:off x="1071560" y="4168338"/>
            <a:ext cx="1100292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만약 인스턴스가 하나뿐이라면 주 식별자</a:t>
            </a:r>
            <a:r>
              <a:rPr lang="en-US" altLang="ko-KR" sz="2000" dirty="0"/>
              <a:t>(PK)</a:t>
            </a:r>
            <a:r>
              <a:rPr lang="ko-KR" altLang="en-US" sz="2000" dirty="0"/>
              <a:t>가 필요하지 않다</a:t>
            </a:r>
            <a:r>
              <a:rPr lang="en-US" altLang="ko-KR" sz="20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물론 이때도 주 식별자를 선정하는 것이 좋다</a:t>
            </a:r>
            <a:r>
              <a:rPr lang="en-US" altLang="ko-KR" sz="20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주 식별자가 없다고 반드시 잘못된 </a:t>
            </a:r>
            <a:r>
              <a:rPr lang="ko-KR" altLang="en-US" sz="2000" dirty="0" err="1"/>
              <a:t>엔터티는</a:t>
            </a:r>
            <a:r>
              <a:rPr lang="ko-KR" altLang="en-US" sz="2000" dirty="0"/>
              <a:t> 아니지만</a:t>
            </a:r>
            <a:r>
              <a:rPr lang="en-US" altLang="ko-KR" sz="2000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주 식별자가 없는 </a:t>
            </a:r>
            <a:r>
              <a:rPr lang="ko-KR" altLang="en-US" sz="2000" dirty="0" err="1"/>
              <a:t>엔터티를</a:t>
            </a:r>
            <a:r>
              <a:rPr lang="ko-KR" altLang="en-US" sz="2000" dirty="0"/>
              <a:t> 뽑아서 다시 검토해야 한다</a:t>
            </a:r>
            <a:r>
              <a:rPr lang="en-US" altLang="ko-KR" sz="2000" dirty="0"/>
              <a:t>.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43E24B-C7FA-C1B5-11AF-F7AED68D2458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600" dirty="0" err="1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엔터티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(Entity)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4C024A-9AB0-6DFC-DEA2-D8F8A1B64EA2}"/>
              </a:ext>
            </a:extLst>
          </p:cNvPr>
          <p:cNvSpPr txBox="1"/>
          <p:nvPr/>
        </p:nvSpPr>
        <p:spPr>
          <a:xfrm>
            <a:off x="866912" y="267136"/>
            <a:ext cx="8134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1.9.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모델을 검증할 수 있는가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   (9/11)</a:t>
            </a:r>
            <a:endParaRPr lang="ko-KR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F128C28-9C0F-BC4A-D014-66EB42074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7912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340931C-3093-F8D3-7135-8EB591015DDC}"/>
              </a:ext>
            </a:extLst>
          </p:cNvPr>
          <p:cNvSpPr txBox="1"/>
          <p:nvPr/>
        </p:nvSpPr>
        <p:spPr>
          <a:xfrm>
            <a:off x="704861" y="1279144"/>
            <a:ext cx="1044420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/>
              <a:t>17. </a:t>
            </a:r>
            <a:r>
              <a:rPr lang="ko-KR" altLang="en-US" sz="2400" dirty="0"/>
              <a:t>주 식별자가 동일한 </a:t>
            </a:r>
            <a:r>
              <a:rPr lang="ko-KR" altLang="en-US" sz="2400" dirty="0" err="1"/>
              <a:t>엔터티가</a:t>
            </a:r>
            <a:r>
              <a:rPr lang="ko-KR" altLang="en-US" sz="2400" dirty="0"/>
              <a:t> 있는가</a:t>
            </a:r>
            <a:r>
              <a:rPr lang="en-US" altLang="ko-KR" sz="2400" dirty="0"/>
              <a:t>?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18. </a:t>
            </a:r>
            <a:r>
              <a:rPr lang="ko-KR" altLang="en-US" sz="2400" dirty="0" err="1"/>
              <a:t>엔터티의</a:t>
            </a:r>
            <a:r>
              <a:rPr lang="ko-KR" altLang="en-US" sz="2400" dirty="0"/>
              <a:t> 의미를 쉽게 설명할 수 있는가</a:t>
            </a:r>
            <a:r>
              <a:rPr lang="en-US" altLang="ko-KR" sz="2400" dirty="0"/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B8916-ED48-1F56-E85B-C71078531CD7}"/>
              </a:ext>
            </a:extLst>
          </p:cNvPr>
          <p:cNvSpPr txBox="1"/>
          <p:nvPr/>
        </p:nvSpPr>
        <p:spPr>
          <a:xfrm>
            <a:off x="1071560" y="1781312"/>
            <a:ext cx="110029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/>
              <a:t>성능이나 관리 측면에서 </a:t>
            </a:r>
            <a:r>
              <a:rPr lang="ko-KR" altLang="en-US" dirty="0" err="1"/>
              <a:t>엔터티를</a:t>
            </a:r>
            <a:r>
              <a:rPr lang="ko-KR" altLang="en-US" dirty="0"/>
              <a:t> 분해한 일대일</a:t>
            </a:r>
            <a:r>
              <a:rPr lang="en-US" altLang="ko-KR" dirty="0"/>
              <a:t>(1:1) </a:t>
            </a:r>
            <a:r>
              <a:rPr lang="ko-KR" altLang="en-US" dirty="0"/>
              <a:t>관계나 슈퍼타입</a:t>
            </a:r>
            <a:r>
              <a:rPr lang="en-US" altLang="ko-KR" dirty="0"/>
              <a:t>•</a:t>
            </a:r>
            <a:r>
              <a:rPr lang="ko-KR" altLang="en-US" dirty="0"/>
              <a:t>서브타입 관계 등을 제외하고</a:t>
            </a:r>
            <a:r>
              <a:rPr lang="en-US" altLang="ko-KR" dirty="0"/>
              <a:t>, </a:t>
            </a:r>
            <a:r>
              <a:rPr lang="ko-KR" altLang="en-US" dirty="0" err="1"/>
              <a:t>엔터티의</a:t>
            </a:r>
            <a:r>
              <a:rPr lang="ko-KR" altLang="en-US" dirty="0"/>
              <a:t> 주 식별자가 같은 </a:t>
            </a:r>
            <a:r>
              <a:rPr lang="ko-KR" altLang="en-US" dirty="0" err="1"/>
              <a:t>엔터티는</a:t>
            </a:r>
            <a:r>
              <a:rPr lang="ko-KR" altLang="en-US" dirty="0"/>
              <a:t> 주 식별자를 검토해 볼 필요가 있다</a:t>
            </a:r>
            <a:r>
              <a:rPr lang="en-US" altLang="ko-KR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/>
              <a:t>업무 식별자를 근간으로 주 식별자를 설계했다면 주 식별자가 동일한 </a:t>
            </a:r>
            <a:r>
              <a:rPr lang="ko-KR" altLang="en-US" dirty="0" err="1"/>
              <a:t>엔터티가</a:t>
            </a:r>
            <a:r>
              <a:rPr lang="ko-KR" altLang="en-US" dirty="0"/>
              <a:t> 존재하면 안 된다</a:t>
            </a:r>
            <a:r>
              <a:rPr lang="en-US" altLang="ko-KR" dirty="0"/>
              <a:t>. </a:t>
            </a:r>
            <a:r>
              <a:rPr lang="ko-KR" altLang="en-US" dirty="0"/>
              <a:t>특히 ‘계좌번호</a:t>
            </a:r>
            <a:r>
              <a:rPr lang="en-US" altLang="ko-KR" dirty="0"/>
              <a:t>+</a:t>
            </a:r>
            <a:r>
              <a:rPr lang="ko-KR" altLang="en-US" dirty="0"/>
              <a:t>순번’ 등의 인조 식별자를 남발해서 주 식별자가 같은 </a:t>
            </a:r>
            <a:r>
              <a:rPr lang="ko-KR" altLang="en-US" dirty="0" err="1"/>
              <a:t>엔터티가</a:t>
            </a:r>
            <a:r>
              <a:rPr lang="ko-KR" altLang="en-US" dirty="0"/>
              <a:t> 존재하는지 검토해야 한다</a:t>
            </a:r>
            <a:r>
              <a:rPr lang="en-US" altLang="ko-KR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7FC9A5-7DAA-E8DD-5A24-B53774056FB5}"/>
              </a:ext>
            </a:extLst>
          </p:cNvPr>
          <p:cNvSpPr txBox="1"/>
          <p:nvPr/>
        </p:nvSpPr>
        <p:spPr>
          <a:xfrm>
            <a:off x="1071560" y="4160537"/>
            <a:ext cx="1100292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 err="1"/>
              <a:t>모델러는</a:t>
            </a:r>
            <a:r>
              <a:rPr lang="ko-KR" altLang="en-US" sz="2000" dirty="0"/>
              <a:t> 스스로 설계한 </a:t>
            </a:r>
            <a:r>
              <a:rPr lang="ko-KR" altLang="en-US" sz="2000" dirty="0" err="1"/>
              <a:t>엔터티와</a:t>
            </a:r>
            <a:r>
              <a:rPr lang="ko-KR" altLang="en-US" sz="2000" dirty="0"/>
              <a:t> 속성을 쉽게 설명할 수 있어야 한다</a:t>
            </a:r>
            <a:r>
              <a:rPr lang="en-US" altLang="ko-KR" sz="20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하나씩 설명하는 방법은 가장 원론적이면서 시간이 가장 많이 소비되는 방법이다</a:t>
            </a:r>
            <a:r>
              <a:rPr lang="en-US" altLang="ko-KR" sz="20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 err="1"/>
              <a:t>검증이라기</a:t>
            </a:r>
            <a:r>
              <a:rPr lang="ko-KR" altLang="en-US" sz="2000" dirty="0"/>
              <a:t> 보다는 리뷰 과정이라고 볼 수 있지만 스스로 설명할 수 있는지를 봐야 한다</a:t>
            </a:r>
            <a:r>
              <a:rPr lang="en-US" altLang="ko-KR" sz="2000" dirty="0"/>
              <a:t>.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01645D-1398-F8F4-61FA-EA83C30F741B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600" dirty="0" err="1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엔터티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(Entity)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826163-C02A-210C-8A2D-06689DA20424}"/>
              </a:ext>
            </a:extLst>
          </p:cNvPr>
          <p:cNvSpPr txBox="1"/>
          <p:nvPr/>
        </p:nvSpPr>
        <p:spPr>
          <a:xfrm>
            <a:off x="866912" y="267136"/>
            <a:ext cx="8134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1.9.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모델을 검증할 수 있는가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   (10/11)</a:t>
            </a:r>
            <a:endParaRPr lang="ko-KR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FDFA7E9-B22C-EC4A-6077-08A301D73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13678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340931C-3093-F8D3-7135-8EB591015DDC}"/>
              </a:ext>
            </a:extLst>
          </p:cNvPr>
          <p:cNvSpPr txBox="1"/>
          <p:nvPr/>
        </p:nvSpPr>
        <p:spPr>
          <a:xfrm>
            <a:off x="704861" y="1279144"/>
            <a:ext cx="104442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/>
              <a:t>19. </a:t>
            </a:r>
            <a:r>
              <a:rPr lang="ko-KR" altLang="en-US" sz="2400" dirty="0"/>
              <a:t>외부</a:t>
            </a:r>
            <a:r>
              <a:rPr lang="en-US" altLang="ko-KR" sz="2400" dirty="0"/>
              <a:t>•</a:t>
            </a:r>
            <a:r>
              <a:rPr lang="ko-KR" altLang="en-US" sz="2400" dirty="0"/>
              <a:t>복제 </a:t>
            </a:r>
            <a:r>
              <a:rPr lang="ko-KR" altLang="en-US" sz="2400" dirty="0" err="1"/>
              <a:t>엔터티의</a:t>
            </a:r>
            <a:r>
              <a:rPr lang="ko-KR" altLang="en-US" sz="2400" dirty="0"/>
              <a:t> </a:t>
            </a:r>
            <a:r>
              <a:rPr lang="ko-KR" altLang="en-US" sz="2400" dirty="0" err="1"/>
              <a:t>엔터티</a:t>
            </a:r>
            <a:r>
              <a:rPr lang="ko-KR" altLang="en-US" sz="2400" dirty="0"/>
              <a:t> 명과 주 식별자가 원천 </a:t>
            </a:r>
            <a:r>
              <a:rPr lang="ko-KR" altLang="en-US" sz="2400" dirty="0" err="1"/>
              <a:t>엔터티와</a:t>
            </a:r>
            <a:r>
              <a:rPr lang="ko-KR" altLang="en-US" sz="2400" dirty="0"/>
              <a:t> 같은가</a:t>
            </a:r>
            <a:r>
              <a:rPr lang="en-US" altLang="ko-KR" sz="2400" dirty="0"/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B8916-ED48-1F56-E85B-C71078531CD7}"/>
              </a:ext>
            </a:extLst>
          </p:cNvPr>
          <p:cNvSpPr txBox="1"/>
          <p:nvPr/>
        </p:nvSpPr>
        <p:spPr>
          <a:xfrm>
            <a:off x="1071560" y="1781312"/>
            <a:ext cx="110029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외부 </a:t>
            </a:r>
            <a:r>
              <a:rPr lang="ko-KR" altLang="en-US" sz="2000" dirty="0" err="1"/>
              <a:t>엔터티나</a:t>
            </a:r>
            <a:r>
              <a:rPr lang="ko-KR" altLang="en-US" sz="2000" dirty="0"/>
              <a:t> 복제 </a:t>
            </a:r>
            <a:r>
              <a:rPr lang="ko-KR" altLang="en-US" sz="2000" dirty="0" err="1"/>
              <a:t>엔터티는</a:t>
            </a:r>
            <a:r>
              <a:rPr lang="ko-KR" altLang="en-US" sz="2000" dirty="0"/>
              <a:t> 원천 </a:t>
            </a:r>
            <a:r>
              <a:rPr lang="ko-KR" altLang="en-US" sz="2000" dirty="0" err="1"/>
              <a:t>엔터티와</a:t>
            </a:r>
            <a:r>
              <a:rPr lang="ko-KR" altLang="en-US" sz="2000" dirty="0"/>
              <a:t> </a:t>
            </a:r>
            <a:r>
              <a:rPr lang="ko-KR" altLang="en-US" sz="2000" dirty="0" err="1"/>
              <a:t>엔터티</a:t>
            </a:r>
            <a:r>
              <a:rPr lang="ko-KR" altLang="en-US" sz="2000" dirty="0"/>
              <a:t> 명과 주 식별자가 동일해야 한다</a:t>
            </a:r>
            <a:r>
              <a:rPr lang="en-US" altLang="ko-KR" sz="20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/>
              <a:t>외부</a:t>
            </a:r>
            <a:r>
              <a:rPr lang="en-US" altLang="ko-KR" sz="2000" dirty="0"/>
              <a:t>•</a:t>
            </a:r>
            <a:r>
              <a:rPr lang="ko-KR" altLang="en-US" sz="2000" dirty="0"/>
              <a:t>복제 </a:t>
            </a:r>
            <a:r>
              <a:rPr lang="ko-KR" altLang="en-US" sz="2000" dirty="0" err="1"/>
              <a:t>엔터티를</a:t>
            </a:r>
            <a:r>
              <a:rPr lang="ko-KR" altLang="en-US" sz="2000" dirty="0"/>
              <a:t> 뽑아서 원천 </a:t>
            </a:r>
            <a:r>
              <a:rPr lang="ko-KR" altLang="en-US" sz="2000" dirty="0" err="1"/>
              <a:t>엔터티와</a:t>
            </a:r>
            <a:r>
              <a:rPr lang="ko-KR" altLang="en-US" sz="2000" dirty="0"/>
              <a:t> 같은지를 확인한다</a:t>
            </a:r>
            <a:r>
              <a:rPr lang="en-US" altLang="ko-KR" sz="20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582DFE-4D07-D1A3-206E-B1BDEB7A68B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600" dirty="0" err="1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엔터티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(Entity)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9FB7D0-F44D-690B-345A-050D5B6171D4}"/>
              </a:ext>
            </a:extLst>
          </p:cNvPr>
          <p:cNvSpPr txBox="1"/>
          <p:nvPr/>
        </p:nvSpPr>
        <p:spPr>
          <a:xfrm>
            <a:off x="866912" y="267136"/>
            <a:ext cx="8134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1.9.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모델을 검증할 수 있는가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   (11/11)</a:t>
            </a:r>
            <a:endParaRPr lang="ko-KR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CCF4990-F77B-CDA1-6B6A-F75ECDDC1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78888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CB5843-5367-979B-9E2E-3CDB6605FE76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1.10.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모델 설계 원칙 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(1)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40931C-3093-F8D3-7135-8EB591015DDC}"/>
              </a:ext>
            </a:extLst>
          </p:cNvPr>
          <p:cNvSpPr txBox="1"/>
          <p:nvPr/>
        </p:nvSpPr>
        <p:spPr>
          <a:xfrm>
            <a:off x="704861" y="1279144"/>
            <a:ext cx="104442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모델을 설계할 때 고려해야 할 우선순위다</a:t>
            </a:r>
            <a:r>
              <a:rPr lang="en-US" altLang="ko-KR" sz="24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B8916-ED48-1F56-E85B-C71078531CD7}"/>
              </a:ext>
            </a:extLst>
          </p:cNvPr>
          <p:cNvSpPr txBox="1"/>
          <p:nvPr/>
        </p:nvSpPr>
        <p:spPr>
          <a:xfrm>
            <a:off x="3231615" y="2001447"/>
            <a:ext cx="7961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/>
              <a:t>데이터 모델을 설계할 때 가장 중요한 원칙</a:t>
            </a:r>
            <a:endParaRPr lang="en-US" altLang="ko-KR" sz="1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FD9B55D-46F4-3C33-5F92-A08D9F17F32D}"/>
              </a:ext>
            </a:extLst>
          </p:cNvPr>
          <p:cNvSpPr/>
          <p:nvPr/>
        </p:nvSpPr>
        <p:spPr>
          <a:xfrm>
            <a:off x="1049197" y="2001447"/>
            <a:ext cx="2163097" cy="509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데이터 무결성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AE9019F-F8F5-F807-3FC6-9519572D22B8}"/>
              </a:ext>
            </a:extLst>
          </p:cNvPr>
          <p:cNvSpPr/>
          <p:nvPr/>
        </p:nvSpPr>
        <p:spPr>
          <a:xfrm>
            <a:off x="1049197" y="2914688"/>
            <a:ext cx="2163097" cy="509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데이터 성능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274552B-6959-19E7-AC6B-03842353AE7B}"/>
              </a:ext>
            </a:extLst>
          </p:cNvPr>
          <p:cNvSpPr/>
          <p:nvPr/>
        </p:nvSpPr>
        <p:spPr>
          <a:xfrm>
            <a:off x="1049197" y="3827929"/>
            <a:ext cx="2163097" cy="509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관리 효율성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6638FAC-C535-3434-CB62-509A4F6C2E7A}"/>
              </a:ext>
            </a:extLst>
          </p:cNvPr>
          <p:cNvSpPr/>
          <p:nvPr/>
        </p:nvSpPr>
        <p:spPr>
          <a:xfrm>
            <a:off x="1049197" y="4741170"/>
            <a:ext cx="2163097" cy="509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 사용 편의성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2ED4F2-DEBF-95A7-2D5F-1B4588311E26}"/>
              </a:ext>
            </a:extLst>
          </p:cNvPr>
          <p:cNvSpPr txBox="1"/>
          <p:nvPr/>
        </p:nvSpPr>
        <p:spPr>
          <a:xfrm>
            <a:off x="3231615" y="2914688"/>
            <a:ext cx="7961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/>
              <a:t>성능은 데이터를 빨리 처리</a:t>
            </a:r>
            <a:r>
              <a:rPr lang="en-US" altLang="ko-KR" sz="1400" dirty="0"/>
              <a:t>(</a:t>
            </a:r>
            <a:r>
              <a:rPr lang="ko-KR" altLang="en-US" sz="1400" dirty="0"/>
              <a:t>입력</a:t>
            </a:r>
            <a:r>
              <a:rPr lang="en-US" altLang="ko-KR" sz="1400" dirty="0"/>
              <a:t>.</a:t>
            </a:r>
            <a:r>
              <a:rPr lang="ko-KR" altLang="en-US" sz="1400" dirty="0"/>
              <a:t>조회</a:t>
            </a:r>
            <a:r>
              <a:rPr lang="en-US" altLang="ko-KR" sz="1400" dirty="0"/>
              <a:t>)</a:t>
            </a:r>
            <a:r>
              <a:rPr lang="ko-KR" altLang="en-US" sz="1400" dirty="0"/>
              <a:t>하는 것을 의미한다</a:t>
            </a:r>
            <a:r>
              <a:rPr lang="en-US" altLang="ko-KR" sz="14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3142AB-4938-60A4-E337-D3004BE73365}"/>
              </a:ext>
            </a:extLst>
          </p:cNvPr>
          <p:cNvSpPr txBox="1"/>
          <p:nvPr/>
        </p:nvSpPr>
        <p:spPr>
          <a:xfrm>
            <a:off x="3231615" y="3827929"/>
            <a:ext cx="7961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/>
              <a:t>관리 효율성은 </a:t>
            </a:r>
            <a:r>
              <a:rPr lang="en-US" altLang="ko-KR" sz="1400" dirty="0"/>
              <a:t>ERD</a:t>
            </a:r>
            <a:r>
              <a:rPr lang="ko-KR" altLang="en-US" sz="1400" dirty="0"/>
              <a:t>나 </a:t>
            </a:r>
            <a:r>
              <a:rPr lang="en-US" altLang="ko-KR" sz="1400" dirty="0"/>
              <a:t>DB</a:t>
            </a:r>
            <a:r>
              <a:rPr lang="ko-KR" altLang="en-US" sz="1400" dirty="0"/>
              <a:t>관리를 효율적으로 함을 의미한다</a:t>
            </a:r>
            <a:endParaRPr lang="en-US" altLang="ko-KR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C623BC-1D71-002B-79A3-D08110F177A1}"/>
              </a:ext>
            </a:extLst>
          </p:cNvPr>
          <p:cNvSpPr txBox="1"/>
          <p:nvPr/>
        </p:nvSpPr>
        <p:spPr>
          <a:xfrm>
            <a:off x="3231615" y="4741170"/>
            <a:ext cx="7961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/>
              <a:t>사용 편의성은 개발하기 편하도록 설계하는 것을 의미한다</a:t>
            </a:r>
            <a:r>
              <a:rPr lang="en-US" altLang="ko-KR" sz="14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B1C06A-4DF3-74DA-8BC3-4E72804243EE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600" dirty="0" err="1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엔터티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(Entity)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2630C14F-C6F5-F6B3-0039-0E4F3921C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92245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CB5843-5367-979B-9E2E-3CDB6605FE76}"/>
              </a:ext>
            </a:extLst>
          </p:cNvPr>
          <p:cNvSpPr txBox="1"/>
          <p:nvPr/>
        </p:nvSpPr>
        <p:spPr>
          <a:xfrm>
            <a:off x="866911" y="267130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1.10.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모델 설계 원칙 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(2)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40931C-3093-F8D3-7135-8EB591015DDC}"/>
              </a:ext>
            </a:extLst>
          </p:cNvPr>
          <p:cNvSpPr txBox="1"/>
          <p:nvPr/>
        </p:nvSpPr>
        <p:spPr>
          <a:xfrm>
            <a:off x="704861" y="1135709"/>
            <a:ext cx="104442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모델을 설계할 때 고려해야 할 우선순위다</a:t>
            </a:r>
            <a:r>
              <a:rPr lang="en-US" altLang="ko-KR" sz="24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B8916-ED48-1F56-E85B-C71078531CD7}"/>
              </a:ext>
            </a:extLst>
          </p:cNvPr>
          <p:cNvSpPr txBox="1"/>
          <p:nvPr/>
        </p:nvSpPr>
        <p:spPr>
          <a:xfrm>
            <a:off x="3231614" y="1705611"/>
            <a:ext cx="86555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/>
              <a:t>데이터 성격에 맞는 정체성이 뚜렷한 </a:t>
            </a:r>
            <a:r>
              <a:rPr lang="ko-KR" altLang="en-US" sz="1400" dirty="0" err="1"/>
              <a:t>엔터티를</a:t>
            </a:r>
            <a:r>
              <a:rPr lang="ko-KR" altLang="en-US" sz="1400" dirty="0"/>
              <a:t> 설계하는 것은 데이터 모델 설계의 중요한 원칙이다</a:t>
            </a:r>
            <a:r>
              <a:rPr lang="en-US" altLang="ko-KR" sz="1400" dirty="0"/>
              <a:t>.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FD9B55D-46F4-3C33-5F92-A08D9F17F32D}"/>
              </a:ext>
            </a:extLst>
          </p:cNvPr>
          <p:cNvSpPr/>
          <p:nvPr/>
        </p:nvSpPr>
        <p:spPr>
          <a:xfrm>
            <a:off x="1197247" y="1710294"/>
            <a:ext cx="2016222" cy="372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정체성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AE9019F-F8F5-F807-3FC6-9519572D22B8}"/>
              </a:ext>
            </a:extLst>
          </p:cNvPr>
          <p:cNvSpPr/>
          <p:nvPr/>
        </p:nvSpPr>
        <p:spPr>
          <a:xfrm>
            <a:off x="1197247" y="2180475"/>
            <a:ext cx="2016222" cy="372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통합성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274552B-6959-19E7-AC6B-03842353AE7B}"/>
              </a:ext>
            </a:extLst>
          </p:cNvPr>
          <p:cNvSpPr/>
          <p:nvPr/>
        </p:nvSpPr>
        <p:spPr>
          <a:xfrm>
            <a:off x="1197247" y="2650656"/>
            <a:ext cx="2016222" cy="372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유연성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6638FAC-C535-3434-CB62-509A4F6C2E7A}"/>
              </a:ext>
            </a:extLst>
          </p:cNvPr>
          <p:cNvSpPr/>
          <p:nvPr/>
        </p:nvSpPr>
        <p:spPr>
          <a:xfrm>
            <a:off x="1197247" y="3120837"/>
            <a:ext cx="2016222" cy="372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무결성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2ED4F2-DEBF-95A7-2D5F-1B4588311E26}"/>
              </a:ext>
            </a:extLst>
          </p:cNvPr>
          <p:cNvSpPr txBox="1"/>
          <p:nvPr/>
        </p:nvSpPr>
        <p:spPr>
          <a:xfrm>
            <a:off x="3231615" y="2222244"/>
            <a:ext cx="7961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/>
              <a:t>유사한 성격의 데이터는 통합하는 것이 </a:t>
            </a:r>
            <a:r>
              <a:rPr lang="ko-KR" altLang="en-US" sz="1400" b="1" u="sng" dirty="0">
                <a:solidFill>
                  <a:srgbClr val="FF0000"/>
                </a:solidFill>
              </a:rPr>
              <a:t>데이터 모델링의 주요 원칙이다</a:t>
            </a:r>
            <a:r>
              <a:rPr lang="en-US" altLang="ko-KR" sz="1400" b="1" u="sng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3142AB-4938-60A4-E337-D3004BE73365}"/>
              </a:ext>
            </a:extLst>
          </p:cNvPr>
          <p:cNvSpPr txBox="1"/>
          <p:nvPr/>
        </p:nvSpPr>
        <p:spPr>
          <a:xfrm>
            <a:off x="3231615" y="2672777"/>
            <a:ext cx="7961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/>
              <a:t>확장하기 수월한 유연한 모델을 설계하는 것 </a:t>
            </a:r>
            <a:r>
              <a:rPr lang="ko-KR" altLang="en-US" sz="1400" b="1" u="sng" dirty="0">
                <a:solidFill>
                  <a:srgbClr val="FF0000"/>
                </a:solidFill>
              </a:rPr>
              <a:t>역시 모델링의 주요 원칙이다</a:t>
            </a:r>
            <a:r>
              <a:rPr lang="en-US" altLang="ko-KR" sz="1400" b="1" u="sng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C623BC-1D71-002B-79A3-D08110F177A1}"/>
              </a:ext>
            </a:extLst>
          </p:cNvPr>
          <p:cNvSpPr txBox="1"/>
          <p:nvPr/>
        </p:nvSpPr>
        <p:spPr>
          <a:xfrm>
            <a:off x="3231615" y="3123307"/>
            <a:ext cx="7961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/>
              <a:t>무결성은 데이터에 결점이 없는 상태를 의미한다</a:t>
            </a:r>
            <a:r>
              <a:rPr lang="en-US" altLang="ko-KR" sz="1400" dirty="0"/>
              <a:t>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EBCC11C-036A-28A0-B2B9-CBA911F00EEC}"/>
              </a:ext>
            </a:extLst>
          </p:cNvPr>
          <p:cNvSpPr/>
          <p:nvPr/>
        </p:nvSpPr>
        <p:spPr>
          <a:xfrm>
            <a:off x="1197247" y="3591018"/>
            <a:ext cx="2016222" cy="372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가독성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EB67B60-D216-C076-FFD8-B2E10737A7B7}"/>
              </a:ext>
            </a:extLst>
          </p:cNvPr>
          <p:cNvSpPr/>
          <p:nvPr/>
        </p:nvSpPr>
        <p:spPr>
          <a:xfrm>
            <a:off x="1197247" y="4061199"/>
            <a:ext cx="2016222" cy="372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업무 연관성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5B4764F-4F9E-E729-7735-A2C4897B8FB0}"/>
              </a:ext>
            </a:extLst>
          </p:cNvPr>
          <p:cNvSpPr/>
          <p:nvPr/>
        </p:nvSpPr>
        <p:spPr>
          <a:xfrm>
            <a:off x="1197247" y="4531380"/>
            <a:ext cx="2016222" cy="372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성능 효율성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4C7B93-AE02-9CE0-F04F-FF1AEA865FF2}"/>
              </a:ext>
            </a:extLst>
          </p:cNvPr>
          <p:cNvSpPr/>
          <p:nvPr/>
        </p:nvSpPr>
        <p:spPr>
          <a:xfrm>
            <a:off x="1197247" y="5001561"/>
            <a:ext cx="2016222" cy="372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관리 효율성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607B769-C520-1437-60F2-94BDBA707309}"/>
              </a:ext>
            </a:extLst>
          </p:cNvPr>
          <p:cNvSpPr/>
          <p:nvPr/>
        </p:nvSpPr>
        <p:spPr>
          <a:xfrm>
            <a:off x="1197247" y="5471742"/>
            <a:ext cx="2016222" cy="372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표준화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502EB86-6365-1DCA-5AB8-24D351A7749F}"/>
              </a:ext>
            </a:extLst>
          </p:cNvPr>
          <p:cNvSpPr/>
          <p:nvPr/>
        </p:nvSpPr>
        <p:spPr>
          <a:xfrm>
            <a:off x="1197247" y="5941926"/>
            <a:ext cx="2016222" cy="372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데이터 보안 대비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608697-0C97-B7DF-D919-7670D42A8C1E}"/>
              </a:ext>
            </a:extLst>
          </p:cNvPr>
          <p:cNvSpPr txBox="1"/>
          <p:nvPr/>
        </p:nvSpPr>
        <p:spPr>
          <a:xfrm>
            <a:off x="3231614" y="3583865"/>
            <a:ext cx="86555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/>
              <a:t>가독성이 좋도록 데이터 모델을 설계하는 것도 주요 원칙이다</a:t>
            </a:r>
            <a:endParaRPr lang="en-US" altLang="ko-KR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8FDC55-02BB-45CF-B2E2-31EC3EFA8A6E}"/>
              </a:ext>
            </a:extLst>
          </p:cNvPr>
          <p:cNvSpPr txBox="1"/>
          <p:nvPr/>
        </p:nvSpPr>
        <p:spPr>
          <a:xfrm>
            <a:off x="3231615" y="4100498"/>
            <a:ext cx="7961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/>
              <a:t>업무 요건에 맞는 모델을 설계하는 것은 모델링의 기본적인 원칙이다</a:t>
            </a:r>
            <a:r>
              <a:rPr lang="en-US" altLang="ko-KR" sz="1400" dirty="0"/>
              <a:t>. </a:t>
            </a:r>
            <a:r>
              <a:rPr lang="ko-KR" altLang="en-US" sz="1400" b="1" u="sng" dirty="0">
                <a:solidFill>
                  <a:srgbClr val="FF0000"/>
                </a:solidFill>
              </a:rPr>
              <a:t>관계에 많이 표현됨</a:t>
            </a:r>
            <a:r>
              <a:rPr lang="en-US" altLang="ko-KR" sz="1400" b="1" u="sng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39B7CE-693C-112B-86C0-767C92BF9337}"/>
              </a:ext>
            </a:extLst>
          </p:cNvPr>
          <p:cNvSpPr txBox="1"/>
          <p:nvPr/>
        </p:nvSpPr>
        <p:spPr>
          <a:xfrm>
            <a:off x="3231615" y="4551031"/>
            <a:ext cx="7961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/>
              <a:t>성능이 좋도록 모델을 설계하는 것도 주요한 원칙이다</a:t>
            </a:r>
            <a:r>
              <a:rPr lang="en-US" altLang="ko-KR" sz="1400" dirty="0"/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62284A-8EC3-E9E2-1D0C-F2CBC2AD3907}"/>
              </a:ext>
            </a:extLst>
          </p:cNvPr>
          <p:cNvSpPr txBox="1"/>
          <p:nvPr/>
        </p:nvSpPr>
        <p:spPr>
          <a:xfrm>
            <a:off x="3231615" y="5001561"/>
            <a:ext cx="7961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400" dirty="0"/>
              <a:t>ERD</a:t>
            </a:r>
            <a:r>
              <a:rPr lang="ko-KR" altLang="en-US" sz="1400" dirty="0"/>
              <a:t>가 제대로 관리될 수 있도록 설계하는 것도 원칙이다</a:t>
            </a:r>
            <a:r>
              <a:rPr lang="en-US" altLang="ko-KR" sz="1400" dirty="0"/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4B79BA-5561-26E5-6977-24909E6E0EA0}"/>
              </a:ext>
            </a:extLst>
          </p:cNvPr>
          <p:cNvSpPr txBox="1"/>
          <p:nvPr/>
        </p:nvSpPr>
        <p:spPr>
          <a:xfrm>
            <a:off x="3231615" y="5469330"/>
            <a:ext cx="7961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/>
              <a:t>표준화 원칙을 따라 동일한 용어를 사용하도록 설계하는 것도 기본적인 원칙이다</a:t>
            </a:r>
            <a:r>
              <a:rPr lang="en-US" altLang="ko-KR" sz="1400" dirty="0"/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80520A-681F-FB1A-4D52-F095D013CADF}"/>
              </a:ext>
            </a:extLst>
          </p:cNvPr>
          <p:cNvSpPr txBox="1"/>
          <p:nvPr/>
        </p:nvSpPr>
        <p:spPr>
          <a:xfrm>
            <a:off x="3231615" y="5919860"/>
            <a:ext cx="79615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/>
              <a:t>데이터 보안을 대비해서 모델을 설계해야 한다</a:t>
            </a:r>
            <a:r>
              <a:rPr lang="en-US" altLang="ko-KR" sz="14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/>
              <a:t>단</a:t>
            </a:r>
            <a:r>
              <a:rPr lang="en-US" altLang="ko-KR" sz="1400" dirty="0"/>
              <a:t>, </a:t>
            </a:r>
            <a:r>
              <a:rPr lang="ko-KR" altLang="en-US" sz="1400" dirty="0"/>
              <a:t>주민등록번호 같은 암호화 대상 속성을 주 식별자로 사용하면 안 된다</a:t>
            </a:r>
            <a:r>
              <a:rPr lang="en-US" altLang="ko-KR" sz="1400" dirty="0"/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BD9608-335B-F533-30C7-32476FAC5577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600" dirty="0" err="1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엔터티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(Entity)</a:t>
            </a:r>
          </a:p>
        </p:txBody>
      </p:sp>
      <p:sp>
        <p:nvSpPr>
          <p:cNvPr id="25" name="슬라이드 번호 개체 틀 24">
            <a:extLst>
              <a:ext uri="{FF2B5EF4-FFF2-40B4-BE49-F238E27FC236}">
                <a16:creationId xmlns:a16="http://schemas.microsoft.com/office/drawing/2014/main" id="{AD0A0F44-25ED-9206-483A-95AFC1E63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70357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CB5843-5367-979B-9E2E-3CDB6605FE76}"/>
              </a:ext>
            </a:extLst>
          </p:cNvPr>
          <p:cNvSpPr txBox="1"/>
          <p:nvPr/>
        </p:nvSpPr>
        <p:spPr>
          <a:xfrm>
            <a:off x="866911" y="267132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1.11.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무결성에 대해서 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(1/2)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40931C-3093-F8D3-7135-8EB591015DDC}"/>
              </a:ext>
            </a:extLst>
          </p:cNvPr>
          <p:cNvSpPr txBox="1"/>
          <p:nvPr/>
        </p:nvSpPr>
        <p:spPr>
          <a:xfrm>
            <a:off x="704861" y="1279144"/>
            <a:ext cx="104442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무결성이란 흠이 없이 온전한 상태를 의미한다</a:t>
            </a:r>
            <a:r>
              <a:rPr lang="en-US" altLang="ko-KR" sz="24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B8916-ED48-1F56-E85B-C71078531CD7}"/>
              </a:ext>
            </a:extLst>
          </p:cNvPr>
          <p:cNvSpPr txBox="1"/>
          <p:nvPr/>
        </p:nvSpPr>
        <p:spPr>
          <a:xfrm>
            <a:off x="3503499" y="2006129"/>
            <a:ext cx="796152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 err="1"/>
              <a:t>엔터티에</a:t>
            </a:r>
            <a:r>
              <a:rPr lang="ko-KR" altLang="en-US" sz="1400" dirty="0"/>
              <a:t> 존재하는 모든 인스턴스는 고유해야 하며</a:t>
            </a:r>
            <a:r>
              <a:rPr lang="en-US" altLang="ko-KR" sz="1400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/>
              <a:t>널 값을 가지면 안 된다</a:t>
            </a:r>
            <a:r>
              <a:rPr lang="en-US" altLang="ko-KR" sz="14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400" b="1" u="sng" dirty="0">
                <a:solidFill>
                  <a:srgbClr val="FF0000"/>
                </a:solidFill>
              </a:rPr>
              <a:t>PK</a:t>
            </a:r>
            <a:r>
              <a:rPr lang="ko-KR" altLang="en-US" sz="1400" b="1" u="sng" dirty="0">
                <a:solidFill>
                  <a:srgbClr val="FF0000"/>
                </a:solidFill>
              </a:rPr>
              <a:t>가 있느냐</a:t>
            </a:r>
            <a:r>
              <a:rPr lang="en-US" altLang="ko-KR" sz="1400" b="1" u="sng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FD9B55D-46F4-3C33-5F92-A08D9F17F32D}"/>
              </a:ext>
            </a:extLst>
          </p:cNvPr>
          <p:cNvSpPr/>
          <p:nvPr/>
        </p:nvSpPr>
        <p:spPr>
          <a:xfrm>
            <a:off x="726978" y="2006129"/>
            <a:ext cx="2504637" cy="6975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err="1"/>
              <a:t>엔터티</a:t>
            </a:r>
            <a:r>
              <a:rPr lang="ko-KR" altLang="en-US" sz="1600" b="1" dirty="0"/>
              <a:t> 무결성</a:t>
            </a:r>
            <a:endParaRPr lang="en-US" altLang="ko-KR" sz="1600" b="1" dirty="0"/>
          </a:p>
          <a:p>
            <a:pPr algn="ctr"/>
            <a:r>
              <a:rPr lang="en-US" altLang="ko-KR" sz="1600" b="1" dirty="0"/>
              <a:t>(Entity Integrity)</a:t>
            </a:r>
            <a:endParaRPr lang="ko-KR" altLang="en-US" sz="16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AE9019F-F8F5-F807-3FC6-9519572D22B8}"/>
              </a:ext>
            </a:extLst>
          </p:cNvPr>
          <p:cNvSpPr/>
          <p:nvPr/>
        </p:nvSpPr>
        <p:spPr>
          <a:xfrm>
            <a:off x="726978" y="3128327"/>
            <a:ext cx="2504637" cy="6975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참조 무결성</a:t>
            </a:r>
            <a:endParaRPr lang="en-US" altLang="ko-KR" sz="1600" b="1" dirty="0"/>
          </a:p>
          <a:p>
            <a:pPr algn="ctr"/>
            <a:r>
              <a:rPr lang="en-US" altLang="ko-KR" sz="1600" b="1" dirty="0"/>
              <a:t>(Referential Integrity)</a:t>
            </a:r>
            <a:endParaRPr lang="ko-KR" altLang="en-US" sz="16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274552B-6959-19E7-AC6B-03842353AE7B}"/>
              </a:ext>
            </a:extLst>
          </p:cNvPr>
          <p:cNvSpPr/>
          <p:nvPr/>
        </p:nvSpPr>
        <p:spPr>
          <a:xfrm>
            <a:off x="726978" y="4250525"/>
            <a:ext cx="2504637" cy="6975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도메인 무결성</a:t>
            </a:r>
            <a:endParaRPr lang="en-US" altLang="ko-KR" sz="1600" b="1" dirty="0"/>
          </a:p>
          <a:p>
            <a:pPr algn="ctr"/>
            <a:r>
              <a:rPr lang="en-US" altLang="ko-KR" sz="1600" b="1" dirty="0"/>
              <a:t>(Domain Integrity)</a:t>
            </a:r>
            <a:endParaRPr lang="ko-KR" altLang="en-US" sz="16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6638FAC-C535-3434-CB62-509A4F6C2E7A}"/>
              </a:ext>
            </a:extLst>
          </p:cNvPr>
          <p:cNvSpPr/>
          <p:nvPr/>
        </p:nvSpPr>
        <p:spPr>
          <a:xfrm>
            <a:off x="726978" y="5372722"/>
            <a:ext cx="2504637" cy="6975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업무 무결성</a:t>
            </a:r>
            <a:endParaRPr lang="en-US" altLang="ko-KR" sz="1600" b="1" dirty="0"/>
          </a:p>
          <a:p>
            <a:pPr algn="ctr"/>
            <a:r>
              <a:rPr lang="en-US" altLang="ko-KR" sz="1600" b="1" dirty="0"/>
              <a:t>(Business Integrity)</a:t>
            </a:r>
            <a:endParaRPr lang="ko-KR" altLang="en-US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2ED4F2-DEBF-95A7-2D5F-1B4588311E26}"/>
              </a:ext>
            </a:extLst>
          </p:cNvPr>
          <p:cNvSpPr txBox="1"/>
          <p:nvPr/>
        </p:nvSpPr>
        <p:spPr>
          <a:xfrm>
            <a:off x="3503499" y="3128327"/>
            <a:ext cx="83396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 err="1"/>
              <a:t>엔터티의</a:t>
            </a:r>
            <a:r>
              <a:rPr lang="ko-KR" altLang="en-US" sz="1400" dirty="0"/>
              <a:t> 외래 식별자 속성 값은 참조되는 </a:t>
            </a:r>
            <a:r>
              <a:rPr lang="ko-KR" altLang="en-US" sz="1400" dirty="0" err="1"/>
              <a:t>엔터티의</a:t>
            </a:r>
            <a:r>
              <a:rPr lang="ko-KR" altLang="en-US" sz="1400" dirty="0"/>
              <a:t> 주 식별자 값과 일치하거나 널 값이어야 한다</a:t>
            </a:r>
            <a:endParaRPr lang="en-US" altLang="ko-KR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400" b="1" u="sng" dirty="0">
                <a:solidFill>
                  <a:srgbClr val="FF0000"/>
                </a:solidFill>
              </a:rPr>
              <a:t>FK</a:t>
            </a:r>
            <a:r>
              <a:rPr lang="ko-KR" altLang="en-US" sz="1400" b="1" u="sng" dirty="0">
                <a:solidFill>
                  <a:srgbClr val="FF0000"/>
                </a:solidFill>
              </a:rPr>
              <a:t>가 있느냐</a:t>
            </a:r>
            <a:r>
              <a:rPr lang="en-US" altLang="ko-KR" sz="1400" b="1" u="sng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3142AB-4938-60A4-E337-D3004BE73365}"/>
              </a:ext>
            </a:extLst>
          </p:cNvPr>
          <p:cNvSpPr txBox="1"/>
          <p:nvPr/>
        </p:nvSpPr>
        <p:spPr>
          <a:xfrm>
            <a:off x="3503499" y="4250525"/>
            <a:ext cx="796152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/>
              <a:t>도메인 무결성 </a:t>
            </a:r>
            <a:r>
              <a:rPr lang="en-US" altLang="ko-KR" sz="1400" dirty="0"/>
              <a:t>(Domain Integrity)</a:t>
            </a:r>
            <a:r>
              <a:rPr lang="ko-KR" altLang="en-US" sz="1400" dirty="0"/>
              <a:t>은 속성과 관련된 제약이다</a:t>
            </a:r>
            <a:r>
              <a:rPr lang="en-US" altLang="ko-KR" sz="14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/>
              <a:t>속성 값은 같은 데이터 타입</a:t>
            </a:r>
            <a:r>
              <a:rPr lang="en-US" altLang="ko-KR" sz="1400" dirty="0"/>
              <a:t>,</a:t>
            </a:r>
            <a:r>
              <a:rPr lang="ko-KR" altLang="en-US" sz="1400" dirty="0"/>
              <a:t> 길이</a:t>
            </a:r>
            <a:r>
              <a:rPr lang="en-US" altLang="ko-KR" sz="1400" dirty="0"/>
              <a:t>, </a:t>
            </a:r>
            <a:r>
              <a:rPr lang="ko-KR" altLang="en-US" sz="1400" dirty="0"/>
              <a:t>널</a:t>
            </a:r>
            <a:r>
              <a:rPr lang="en-US" altLang="ko-KR" sz="1400" dirty="0"/>
              <a:t>, </a:t>
            </a:r>
            <a:r>
              <a:rPr lang="ko-KR" altLang="en-US" sz="1400" dirty="0"/>
              <a:t>기본값</a:t>
            </a:r>
            <a:r>
              <a:rPr lang="en-US" altLang="ko-KR" sz="1400" dirty="0"/>
              <a:t>, </a:t>
            </a:r>
            <a:r>
              <a:rPr lang="ko-KR" altLang="en-US" sz="1400" dirty="0"/>
              <a:t>허용 값 등 동일한 범주의 값만이 존재해야 한다</a:t>
            </a:r>
            <a:endParaRPr lang="en-US" altLang="ko-KR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b="1" u="sng" dirty="0">
                <a:solidFill>
                  <a:srgbClr val="FF0000"/>
                </a:solidFill>
              </a:rPr>
              <a:t>속성이 있느냐</a:t>
            </a:r>
            <a:endParaRPr lang="en-US" altLang="ko-KR" sz="1400" b="1" u="sng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C623BC-1D71-002B-79A3-D08110F177A1}"/>
              </a:ext>
            </a:extLst>
          </p:cNvPr>
          <p:cNvSpPr txBox="1"/>
          <p:nvPr/>
        </p:nvSpPr>
        <p:spPr>
          <a:xfrm>
            <a:off x="3503499" y="5372722"/>
            <a:ext cx="79615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/>
              <a:t>기업에서 업무를 수행하는 방법이나 데이터를 처리하는 규칙을 의미한다</a:t>
            </a:r>
            <a:endParaRPr lang="en-US" altLang="ko-KR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/>
              <a:t>업무 무결성은 범위가 넓어 주로 프로그램에서 점검한다</a:t>
            </a:r>
            <a:r>
              <a:rPr lang="en-US" altLang="ko-KR" sz="14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D1AAF1-57DF-D385-45C9-1CBDA0725941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600" dirty="0" err="1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엔터티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(Entity)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A60BEC92-F172-0DE4-D9E0-B0860D41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09829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CB5843-5367-979B-9E2E-3CDB6605FE76}"/>
              </a:ext>
            </a:extLst>
          </p:cNvPr>
          <p:cNvSpPr txBox="1"/>
          <p:nvPr/>
        </p:nvSpPr>
        <p:spPr>
          <a:xfrm>
            <a:off x="866911" y="267132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1.11.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무결성에 대해서 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(2/2)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40931C-3093-F8D3-7135-8EB591015DDC}"/>
              </a:ext>
            </a:extLst>
          </p:cNvPr>
          <p:cNvSpPr txBox="1"/>
          <p:nvPr/>
        </p:nvSpPr>
        <p:spPr>
          <a:xfrm>
            <a:off x="704861" y="1279144"/>
            <a:ext cx="104442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무결성과 </a:t>
            </a:r>
            <a:r>
              <a:rPr lang="en-US" altLang="ko-KR" sz="2400" dirty="0"/>
              <a:t>DBMS </a:t>
            </a:r>
            <a:r>
              <a:rPr lang="ko-KR" altLang="en-US" sz="2400" dirty="0"/>
              <a:t>제약</a:t>
            </a:r>
            <a:endParaRPr lang="en-US" altLang="ko-KR" sz="24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344A0859-7BFC-F192-7C82-B624DAADDD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761765"/>
              </p:ext>
            </p:extLst>
          </p:nvPr>
        </p:nvGraphicFramePr>
        <p:xfrm>
          <a:off x="1042929" y="1740808"/>
          <a:ext cx="10888515" cy="46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317">
                  <a:extLst>
                    <a:ext uri="{9D8B030D-6E8A-4147-A177-3AD203B41FA5}">
                      <a16:colId xmlns:a16="http://schemas.microsoft.com/office/drawing/2014/main" val="2879210959"/>
                    </a:ext>
                  </a:extLst>
                </a:gridCol>
                <a:gridCol w="1889317">
                  <a:extLst>
                    <a:ext uri="{9D8B030D-6E8A-4147-A177-3AD203B41FA5}">
                      <a16:colId xmlns:a16="http://schemas.microsoft.com/office/drawing/2014/main" val="1885941833"/>
                    </a:ext>
                  </a:extLst>
                </a:gridCol>
                <a:gridCol w="7109881">
                  <a:extLst>
                    <a:ext uri="{9D8B030D-6E8A-4147-A177-3AD203B41FA5}">
                      <a16:colId xmlns:a16="http://schemas.microsoft.com/office/drawing/2014/main" val="2515746199"/>
                    </a:ext>
                  </a:extLst>
                </a:gridCol>
              </a:tblGrid>
              <a:tr h="481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주요 무결성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Constraints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특징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5369709"/>
                  </a:ext>
                </a:extLst>
              </a:tr>
              <a:tr h="4910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엔터티</a:t>
                      </a:r>
                      <a:r>
                        <a:rPr lang="ko-KR" altLang="en-US" sz="16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 무결성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Primary</a:t>
                      </a:r>
                      <a:r>
                        <a:rPr lang="ko-KR" altLang="en-US" sz="1600" dirty="0"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 </a:t>
                      </a:r>
                      <a:r>
                        <a:rPr lang="en-US" altLang="ko-KR" sz="16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Key</a:t>
                      </a:r>
                      <a:endParaRPr lang="ko-KR" altLang="en-US" sz="1600" dirty="0"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err="1"/>
                        <a:t>엔터티에서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PK</a:t>
                      </a:r>
                      <a:r>
                        <a:rPr lang="ko-KR" altLang="en-US" sz="1400" dirty="0"/>
                        <a:t>로 지정된 속성에는 동일한 값을 가질 수 없다</a:t>
                      </a:r>
                      <a:r>
                        <a:rPr lang="en-US" altLang="ko-KR" sz="1400" dirty="0"/>
                        <a:t>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/>
                        <a:t>PK</a:t>
                      </a:r>
                      <a:r>
                        <a:rPr lang="ko-KR" altLang="en-US" sz="1400" dirty="0"/>
                        <a:t>로 지정된 속성에는 널 값을 가지면 안된다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8684091"/>
                  </a:ext>
                </a:extLst>
              </a:tr>
              <a:tr h="6932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err="1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엔터티</a:t>
                      </a:r>
                      <a:r>
                        <a:rPr lang="ko-KR" altLang="en-US" sz="16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 무결성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Unique</a:t>
                      </a:r>
                      <a:endParaRPr lang="ko-KR" altLang="en-US" sz="1600" dirty="0"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err="1"/>
                        <a:t>엔터티에서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Unique</a:t>
                      </a:r>
                      <a:r>
                        <a:rPr lang="ko-KR" altLang="en-US" sz="1400" dirty="0"/>
                        <a:t>로 지정된 속성에는 동일한 값을 가질 수 없다</a:t>
                      </a:r>
                      <a:r>
                        <a:rPr lang="en-US" altLang="ko-KR" sz="1400" dirty="0"/>
                        <a:t>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/>
                        <a:t>Unique</a:t>
                      </a:r>
                      <a:r>
                        <a:rPr lang="ko-KR" altLang="en-US" sz="1400" dirty="0"/>
                        <a:t>로 지정된 속성에는 널 값을 가질 수 있다</a:t>
                      </a:r>
                      <a:r>
                        <a:rPr lang="en-US" altLang="ko-KR" sz="1400" dirty="0"/>
                        <a:t>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err="1"/>
                        <a:t>엔터티에</a:t>
                      </a:r>
                      <a:r>
                        <a:rPr lang="ko-KR" altLang="en-US" sz="1400" dirty="0"/>
                        <a:t> 여러 개의 </a:t>
                      </a:r>
                      <a:r>
                        <a:rPr lang="en-US" altLang="ko-KR" sz="1400" dirty="0"/>
                        <a:t>unique </a:t>
                      </a:r>
                      <a:r>
                        <a:rPr lang="ko-KR" altLang="en-US" sz="1400" dirty="0"/>
                        <a:t>속성이 지정될 수 있다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4990727"/>
                  </a:ext>
                </a:extLst>
              </a:tr>
              <a:tr h="4910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참조 무결성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Foreign Key</a:t>
                      </a:r>
                      <a:endParaRPr lang="ko-KR" altLang="en-US" sz="1600" dirty="0"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관계 속성의 </a:t>
                      </a:r>
                      <a:r>
                        <a:rPr lang="en-US" altLang="ko-KR" sz="1400" dirty="0"/>
                        <a:t>FK</a:t>
                      </a:r>
                      <a:r>
                        <a:rPr lang="ko-KR" altLang="en-US" sz="1400" dirty="0"/>
                        <a:t>값은 참조 </a:t>
                      </a:r>
                      <a:r>
                        <a:rPr lang="ko-KR" altLang="en-US" sz="1400" dirty="0" err="1"/>
                        <a:t>엔터티의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PK</a:t>
                      </a:r>
                      <a:r>
                        <a:rPr lang="ko-KR" altLang="en-US" sz="1400" dirty="0"/>
                        <a:t>속성에 존재하거나 널 값이어야 한다</a:t>
                      </a:r>
                      <a:r>
                        <a:rPr lang="en-US" altLang="ko-KR" sz="1400" dirty="0"/>
                        <a:t>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참조 </a:t>
                      </a:r>
                      <a:r>
                        <a:rPr lang="ko-KR" altLang="en-US" sz="1400" dirty="0" err="1"/>
                        <a:t>엔터티의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PK</a:t>
                      </a:r>
                      <a:r>
                        <a:rPr lang="ko-KR" altLang="en-US" sz="1400" dirty="0"/>
                        <a:t>값이 삭제되면 참조한 모든 값은 삭제돼야 한다</a:t>
                      </a:r>
                      <a:r>
                        <a:rPr lang="en-US" altLang="ko-KR" sz="1400" dirty="0"/>
                        <a:t>. (CASCADE)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8977954"/>
                  </a:ext>
                </a:extLst>
              </a:tr>
              <a:tr h="481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도메인 무결성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Check</a:t>
                      </a:r>
                      <a:endParaRPr lang="ko-KR" altLang="en-US" sz="1600" dirty="0"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속성 값에는 특정한 범위의 값이나 특정 규칙을 따르는 값만이 존재할 수 있다</a:t>
                      </a:r>
                      <a:r>
                        <a:rPr lang="en-US" altLang="ko-KR" sz="1400" dirty="0"/>
                        <a:t>. 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9691643"/>
                  </a:ext>
                </a:extLst>
              </a:tr>
              <a:tr h="4818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도메인 무결성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Default</a:t>
                      </a:r>
                      <a:endParaRPr lang="ko-KR" altLang="en-US" sz="1600" dirty="0"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속성의 값이 지정되지 않을 경우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대체할 수 있는 기본값을 설정한다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6688443"/>
                  </a:ext>
                </a:extLst>
              </a:tr>
              <a:tr h="4752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도메인 무결성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Data Type</a:t>
                      </a:r>
                      <a:endParaRPr lang="ko-KR" altLang="en-US" sz="1600" dirty="0"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속성에 데이터 타입을 지정해 특정 형식을 유지할 수 있다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4105979"/>
                  </a:ext>
                </a:extLst>
              </a:tr>
              <a:tr h="4752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도메인 무결성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Not Null</a:t>
                      </a:r>
                      <a:endParaRPr lang="ko-KR" altLang="en-US" sz="1600" dirty="0"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속성 값이 널 허용인지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값이 반드시 존재해야 하는지를 지정한다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784439"/>
                  </a:ext>
                </a:extLst>
              </a:tr>
              <a:tr h="4752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업무 무결성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Trigger</a:t>
                      </a:r>
                      <a:endParaRPr lang="ko-KR" altLang="en-US" sz="1600" dirty="0"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속성 값이 입력</a:t>
                      </a:r>
                      <a:r>
                        <a:rPr lang="en-US" altLang="ko-KR" sz="1400" dirty="0"/>
                        <a:t>•</a:t>
                      </a:r>
                      <a:r>
                        <a:rPr lang="ko-KR" altLang="en-US" sz="1400" dirty="0"/>
                        <a:t>수정</a:t>
                      </a:r>
                      <a:r>
                        <a:rPr lang="en-US" altLang="ko-KR" sz="1400" dirty="0"/>
                        <a:t>•</a:t>
                      </a:r>
                      <a:r>
                        <a:rPr lang="ko-KR" altLang="en-US" sz="1400" dirty="0"/>
                        <a:t>삭제될 때 자동으로 데이터를 처리할 수 있도록 지정한다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455768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8446A63-3DFD-5DCF-8DF2-13144651F3C8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600" dirty="0" err="1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엔터티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(Entity)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793F544-D068-A36E-A0F1-C18796C82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928350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CB5843-5367-979B-9E2E-3CDB6605FE76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1.12.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성능에 대해서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(1/2)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40931C-3093-F8D3-7135-8EB591015DDC}"/>
              </a:ext>
            </a:extLst>
          </p:cNvPr>
          <p:cNvSpPr txBox="1"/>
          <p:nvPr/>
        </p:nvSpPr>
        <p:spPr>
          <a:xfrm>
            <a:off x="704861" y="999224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성능에는 크게 조회</a:t>
            </a:r>
            <a:r>
              <a:rPr lang="en-US" altLang="ko-KR" sz="2400" dirty="0"/>
              <a:t>(Select)</a:t>
            </a:r>
            <a:r>
              <a:rPr lang="ko-KR" altLang="en-US" sz="2400" dirty="0"/>
              <a:t>성능과 쓰기</a:t>
            </a:r>
            <a:r>
              <a:rPr lang="en-US" altLang="ko-KR" sz="2400" dirty="0"/>
              <a:t>(Insert/Update/Delete)</a:t>
            </a:r>
            <a:r>
              <a:rPr lang="ko-KR" altLang="en-US" sz="2400" dirty="0"/>
              <a:t>성능이 있다</a:t>
            </a:r>
            <a:r>
              <a:rPr lang="en-US" altLang="ko-KR" sz="24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B8916-ED48-1F56-E85B-C71078531CD7}"/>
              </a:ext>
            </a:extLst>
          </p:cNvPr>
          <p:cNvSpPr txBox="1"/>
          <p:nvPr/>
        </p:nvSpPr>
        <p:spPr>
          <a:xfrm>
            <a:off x="3991181" y="2006129"/>
            <a:ext cx="785964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/>
              <a:t>대부분 성능 문제라고 하면 조회 성능을 의미한다</a:t>
            </a:r>
            <a:r>
              <a:rPr lang="en-US" altLang="ko-KR" sz="14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/>
              <a:t>쓰기 성능과 비교하면 발생 빈도수도 훨씬 많으며</a:t>
            </a:r>
            <a:r>
              <a:rPr lang="en-US" altLang="ko-KR" sz="1400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/>
              <a:t>동일한 성능 문제가 반복적으로 일어나는 것이 조회 성능이다</a:t>
            </a:r>
            <a:r>
              <a:rPr lang="en-US" altLang="ko-KR" sz="14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/>
              <a:t>조회도 크게 두 가지로 나눌 수 있다</a:t>
            </a:r>
            <a:r>
              <a:rPr lang="en-US" altLang="ko-KR" sz="14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b="1" u="sng" dirty="0">
                <a:solidFill>
                  <a:srgbClr val="FF0000"/>
                </a:solidFill>
              </a:rPr>
              <a:t>소량 데이터를 조회</a:t>
            </a:r>
            <a:r>
              <a:rPr lang="ko-KR" altLang="en-US" sz="1400" dirty="0"/>
              <a:t>하는 것과 </a:t>
            </a:r>
            <a:r>
              <a:rPr lang="ko-KR" altLang="en-US" sz="1400" b="1" u="sng" dirty="0">
                <a:solidFill>
                  <a:srgbClr val="FF0000"/>
                </a:solidFill>
              </a:rPr>
              <a:t>대량의 데이터를 조회</a:t>
            </a:r>
            <a:r>
              <a:rPr lang="ko-KR" altLang="en-US" sz="1400" dirty="0"/>
              <a:t>하는 것은 다르다</a:t>
            </a:r>
            <a:r>
              <a:rPr lang="en-US" altLang="ko-KR" sz="14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b="1" u="sng" dirty="0">
                <a:solidFill>
                  <a:srgbClr val="FF0000"/>
                </a:solidFill>
              </a:rPr>
              <a:t>조회 성능 문제 해결 방법 </a:t>
            </a:r>
            <a:r>
              <a:rPr lang="en-US" altLang="ko-KR" sz="1400" b="1" u="sng" dirty="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r>
              <a:rPr lang="ko-KR" altLang="en-US" sz="1400" b="1" u="sng" dirty="0">
                <a:solidFill>
                  <a:srgbClr val="FF0000"/>
                </a:solidFill>
                <a:sym typeface="Wingdings" panose="05000000000000000000" pitchFamily="2" charset="2"/>
              </a:rPr>
              <a:t>비정규형 채택</a:t>
            </a:r>
            <a:r>
              <a:rPr lang="en-US" altLang="ko-KR" sz="1400" b="1" u="sng" dirty="0">
                <a:solidFill>
                  <a:srgbClr val="FF0000"/>
                </a:solidFill>
                <a:sym typeface="Wingdings" panose="05000000000000000000" pitchFamily="2" charset="2"/>
              </a:rPr>
              <a:t>.</a:t>
            </a:r>
            <a:endParaRPr lang="en-US" altLang="ko-KR" sz="1400" b="1" u="sng" dirty="0">
              <a:solidFill>
                <a:srgbClr val="FF0000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FD9B55D-46F4-3C33-5F92-A08D9F17F32D}"/>
              </a:ext>
            </a:extLst>
          </p:cNvPr>
          <p:cNvSpPr/>
          <p:nvPr/>
        </p:nvSpPr>
        <p:spPr>
          <a:xfrm>
            <a:off x="1214659" y="2006129"/>
            <a:ext cx="2504637" cy="6975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조회 성능</a:t>
            </a:r>
            <a:endParaRPr lang="en-US" altLang="ko-KR" sz="1600" b="1" dirty="0"/>
          </a:p>
          <a:p>
            <a:pPr algn="ctr"/>
            <a:r>
              <a:rPr lang="en-US" altLang="ko-KR" sz="1600" b="1" dirty="0"/>
              <a:t>(</a:t>
            </a:r>
            <a:r>
              <a:rPr lang="ko-KR" altLang="en-US" sz="1600" b="1" dirty="0"/>
              <a:t>소량</a:t>
            </a:r>
            <a:r>
              <a:rPr lang="en-US" altLang="ko-KR" sz="1600" b="1" dirty="0"/>
              <a:t>/ </a:t>
            </a:r>
            <a:r>
              <a:rPr lang="ko-KR" altLang="en-US" sz="1600" b="1" dirty="0"/>
              <a:t>대량 </a:t>
            </a:r>
            <a:r>
              <a:rPr lang="en-US" altLang="ko-KR" sz="1600" b="1" dirty="0"/>
              <a:t>select)</a:t>
            </a:r>
            <a:endParaRPr lang="ko-KR" altLang="en-US" sz="16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AE9019F-F8F5-F807-3FC6-9519572D22B8}"/>
              </a:ext>
            </a:extLst>
          </p:cNvPr>
          <p:cNvSpPr/>
          <p:nvPr/>
        </p:nvSpPr>
        <p:spPr>
          <a:xfrm>
            <a:off x="1214659" y="4160714"/>
            <a:ext cx="2504637" cy="6975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쓰기 성능</a:t>
            </a:r>
            <a:endParaRPr lang="en-US" altLang="ko-KR" sz="1600" b="1" dirty="0"/>
          </a:p>
          <a:p>
            <a:pPr algn="ctr"/>
            <a:r>
              <a:rPr lang="en-US" altLang="ko-KR" sz="1600" b="1" dirty="0"/>
              <a:t>(Insert, Update, Delete)</a:t>
            </a:r>
            <a:endParaRPr lang="ko-KR" altLang="en-US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2ED4F2-DEBF-95A7-2D5F-1B4588311E26}"/>
              </a:ext>
            </a:extLst>
          </p:cNvPr>
          <p:cNvSpPr txBox="1"/>
          <p:nvPr/>
        </p:nvSpPr>
        <p:spPr>
          <a:xfrm>
            <a:off x="3991180" y="4160714"/>
            <a:ext cx="785195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/>
              <a:t>쓰기 성능은 많은 트랜잭션을 동시에 최대한 빨리 입력</a:t>
            </a:r>
            <a:r>
              <a:rPr lang="en-US" altLang="ko-KR" sz="1400" dirty="0"/>
              <a:t>•</a:t>
            </a:r>
            <a:r>
              <a:rPr lang="ko-KR" altLang="en-US" sz="1400" dirty="0"/>
              <a:t>수정 처리하는 것을 의미한다</a:t>
            </a:r>
            <a:r>
              <a:rPr lang="en-US" altLang="ko-KR" sz="14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/>
              <a:t>조회성능보다 흔하게 발생하지 않지만</a:t>
            </a:r>
            <a:r>
              <a:rPr lang="en-US" altLang="ko-KR" sz="1400" dirty="0"/>
              <a:t>, </a:t>
            </a:r>
            <a:r>
              <a:rPr lang="ko-KR" altLang="en-US" sz="1400" dirty="0"/>
              <a:t>핵심적인 업무일 때가 있어 간과하면 위험하다</a:t>
            </a:r>
            <a:r>
              <a:rPr lang="en-US" altLang="ko-KR" sz="14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/>
              <a:t>예를 들어 은행에 입</a:t>
            </a:r>
            <a:r>
              <a:rPr lang="en-US" altLang="ko-KR" sz="1400" dirty="0"/>
              <a:t>•</a:t>
            </a:r>
            <a:r>
              <a:rPr lang="ko-KR" altLang="en-US" sz="1400" dirty="0"/>
              <a:t>출금하거나 거래소에 주문</a:t>
            </a:r>
            <a:r>
              <a:rPr lang="en-US" altLang="ko-KR" sz="1400" dirty="0"/>
              <a:t>•</a:t>
            </a:r>
            <a:r>
              <a:rPr lang="ko-KR" altLang="en-US" sz="1400" dirty="0"/>
              <a:t>체결할 때는 엄청난 트랜잭션이 발생한다</a:t>
            </a:r>
            <a:r>
              <a:rPr lang="en-US" altLang="ko-KR" sz="14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b="1" u="sng" dirty="0">
                <a:solidFill>
                  <a:srgbClr val="FF0000"/>
                </a:solidFill>
              </a:rPr>
              <a:t>각종 무결성 제약 때문에 문제가 되므로 제약의 생략을 검토</a:t>
            </a:r>
            <a:endParaRPr lang="en-US" altLang="ko-KR" sz="1400" b="1" u="sng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BA54D7-B18F-193B-20C3-E28E455AE344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600" dirty="0" err="1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엔터티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(Entity)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486E05-297A-435F-9280-3C1B6BF3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89501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42DEED4-9E6A-2D6F-7CC3-5BCCED622F3B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1.12.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성능에 대해서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(2/2)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A25B5B-DB14-1E7D-4026-069AF0F7CE36}"/>
              </a:ext>
            </a:extLst>
          </p:cNvPr>
          <p:cNvSpPr txBox="1"/>
          <p:nvPr/>
        </p:nvSpPr>
        <p:spPr>
          <a:xfrm>
            <a:off x="704861" y="989895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성능 문제가 도출되는 단계</a:t>
            </a:r>
            <a:endParaRPr lang="en-US" altLang="ko-KR" sz="24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8C67A13-C9C0-3B64-ADEE-495AD8681FA5}"/>
              </a:ext>
            </a:extLst>
          </p:cNvPr>
          <p:cNvGrpSpPr/>
          <p:nvPr/>
        </p:nvGrpSpPr>
        <p:grpSpPr>
          <a:xfrm>
            <a:off x="2695734" y="2553230"/>
            <a:ext cx="313840" cy="313840"/>
            <a:chOff x="2522861" y="4803352"/>
            <a:chExt cx="1145755" cy="1145755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5ABE3072-E203-C2C7-8F0D-D54215E62C32}"/>
                </a:ext>
              </a:extLst>
            </p:cNvPr>
            <p:cNvSpPr/>
            <p:nvPr/>
          </p:nvSpPr>
          <p:spPr>
            <a:xfrm>
              <a:off x="2522861" y="4803352"/>
              <a:ext cx="1145755" cy="1145755"/>
            </a:xfrm>
            <a:prstGeom prst="ellipse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5" name="L 도형 14">
              <a:extLst>
                <a:ext uri="{FF2B5EF4-FFF2-40B4-BE49-F238E27FC236}">
                  <a16:creationId xmlns:a16="http://schemas.microsoft.com/office/drawing/2014/main" id="{18CF5162-C5D1-022D-EA89-3C7A87AB8AC8}"/>
                </a:ext>
              </a:extLst>
            </p:cNvPr>
            <p:cNvSpPr/>
            <p:nvPr/>
          </p:nvSpPr>
          <p:spPr>
            <a:xfrm rot="13500000">
              <a:off x="2699130" y="5054369"/>
              <a:ext cx="683046" cy="683046"/>
            </a:xfrm>
            <a:prstGeom prst="corner">
              <a:avLst>
                <a:gd name="adj1" fmla="val 32258"/>
                <a:gd name="adj2" fmla="val 33871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8960033-F58F-1AC9-250F-EE878CE212EB}"/>
              </a:ext>
            </a:extLst>
          </p:cNvPr>
          <p:cNvGrpSpPr/>
          <p:nvPr/>
        </p:nvGrpSpPr>
        <p:grpSpPr>
          <a:xfrm>
            <a:off x="4861637" y="2553230"/>
            <a:ext cx="313840" cy="313840"/>
            <a:chOff x="2522861" y="4803352"/>
            <a:chExt cx="1145755" cy="1145755"/>
          </a:xfrm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714A54B1-3F60-F8A6-B28F-4368EC1EA325}"/>
                </a:ext>
              </a:extLst>
            </p:cNvPr>
            <p:cNvSpPr/>
            <p:nvPr/>
          </p:nvSpPr>
          <p:spPr>
            <a:xfrm>
              <a:off x="2522861" y="4803352"/>
              <a:ext cx="1145755" cy="1145755"/>
            </a:xfrm>
            <a:prstGeom prst="ellipse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20" name="L 도형 19">
              <a:extLst>
                <a:ext uri="{FF2B5EF4-FFF2-40B4-BE49-F238E27FC236}">
                  <a16:creationId xmlns:a16="http://schemas.microsoft.com/office/drawing/2014/main" id="{057638B0-A5A4-AFD4-B301-F48EEAAE5531}"/>
                </a:ext>
              </a:extLst>
            </p:cNvPr>
            <p:cNvSpPr/>
            <p:nvPr/>
          </p:nvSpPr>
          <p:spPr>
            <a:xfrm rot="13500000">
              <a:off x="2699130" y="5054369"/>
              <a:ext cx="683046" cy="683046"/>
            </a:xfrm>
            <a:prstGeom prst="corner">
              <a:avLst>
                <a:gd name="adj1" fmla="val 32258"/>
                <a:gd name="adj2" fmla="val 33871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1F571A9-DB71-D295-3FDE-A3B07958124B}"/>
              </a:ext>
            </a:extLst>
          </p:cNvPr>
          <p:cNvGrpSpPr/>
          <p:nvPr/>
        </p:nvGrpSpPr>
        <p:grpSpPr>
          <a:xfrm>
            <a:off x="7027540" y="2553230"/>
            <a:ext cx="313840" cy="313840"/>
            <a:chOff x="2522861" y="4803352"/>
            <a:chExt cx="1145755" cy="1145755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99BC8293-19A1-CE79-6279-D5B67734E116}"/>
                </a:ext>
              </a:extLst>
            </p:cNvPr>
            <p:cNvSpPr/>
            <p:nvPr/>
          </p:nvSpPr>
          <p:spPr>
            <a:xfrm>
              <a:off x="2522861" y="4803352"/>
              <a:ext cx="1145755" cy="1145755"/>
            </a:xfrm>
            <a:prstGeom prst="ellipse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23" name="L 도형 22">
              <a:extLst>
                <a:ext uri="{FF2B5EF4-FFF2-40B4-BE49-F238E27FC236}">
                  <a16:creationId xmlns:a16="http://schemas.microsoft.com/office/drawing/2014/main" id="{3D72463E-E7C1-41E6-446A-BBEEE7B7F61C}"/>
                </a:ext>
              </a:extLst>
            </p:cNvPr>
            <p:cNvSpPr/>
            <p:nvPr/>
          </p:nvSpPr>
          <p:spPr>
            <a:xfrm rot="13500000">
              <a:off x="2699130" y="5054369"/>
              <a:ext cx="683046" cy="683046"/>
            </a:xfrm>
            <a:prstGeom prst="corner">
              <a:avLst>
                <a:gd name="adj1" fmla="val 32258"/>
                <a:gd name="adj2" fmla="val 33871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72D0A1E7-2A82-A4FA-1E86-AA55D783673D}"/>
              </a:ext>
            </a:extLst>
          </p:cNvPr>
          <p:cNvGrpSpPr/>
          <p:nvPr/>
        </p:nvGrpSpPr>
        <p:grpSpPr>
          <a:xfrm>
            <a:off x="9193443" y="2553230"/>
            <a:ext cx="313840" cy="313840"/>
            <a:chOff x="2522861" y="4803352"/>
            <a:chExt cx="1145755" cy="1145755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31983098-92C6-0192-4208-B05418BE64A2}"/>
                </a:ext>
              </a:extLst>
            </p:cNvPr>
            <p:cNvSpPr/>
            <p:nvPr/>
          </p:nvSpPr>
          <p:spPr>
            <a:xfrm>
              <a:off x="2522861" y="4803352"/>
              <a:ext cx="1145755" cy="1145755"/>
            </a:xfrm>
            <a:prstGeom prst="ellipse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26" name="L 도형 25">
              <a:extLst>
                <a:ext uri="{FF2B5EF4-FFF2-40B4-BE49-F238E27FC236}">
                  <a16:creationId xmlns:a16="http://schemas.microsoft.com/office/drawing/2014/main" id="{865B388B-67D0-324F-3758-10DCAF1B7E8E}"/>
                </a:ext>
              </a:extLst>
            </p:cNvPr>
            <p:cNvSpPr/>
            <p:nvPr/>
          </p:nvSpPr>
          <p:spPr>
            <a:xfrm rot="13500000">
              <a:off x="2699130" y="5054369"/>
              <a:ext cx="683046" cy="683046"/>
            </a:xfrm>
            <a:prstGeom prst="corner">
              <a:avLst>
                <a:gd name="adj1" fmla="val 32258"/>
                <a:gd name="adj2" fmla="val 33871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8F07690C-8FBD-43D6-9034-F466ACFA1BA6}"/>
              </a:ext>
            </a:extLst>
          </p:cNvPr>
          <p:cNvGrpSpPr/>
          <p:nvPr/>
        </p:nvGrpSpPr>
        <p:grpSpPr>
          <a:xfrm>
            <a:off x="947235" y="2228162"/>
            <a:ext cx="1644935" cy="963976"/>
            <a:chOff x="704861" y="2955274"/>
            <a:chExt cx="1644935" cy="963976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3BD5380D-0966-7E0C-EF9A-EB43C712B4A9}"/>
                </a:ext>
              </a:extLst>
            </p:cNvPr>
            <p:cNvSpPr/>
            <p:nvPr/>
          </p:nvSpPr>
          <p:spPr>
            <a:xfrm>
              <a:off x="704861" y="2955274"/>
              <a:ext cx="1644935" cy="963976"/>
            </a:xfrm>
            <a:prstGeom prst="ellipse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CB8AC52-26C5-908B-9774-D7BC90C98D66}"/>
                </a:ext>
              </a:extLst>
            </p:cNvPr>
            <p:cNvSpPr txBox="1"/>
            <p:nvPr/>
          </p:nvSpPr>
          <p:spPr>
            <a:xfrm>
              <a:off x="1088747" y="3114097"/>
              <a:ext cx="87716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rgbClr val="FFFF00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모델링</a:t>
              </a:r>
              <a:endParaRPr lang="en-US" altLang="ko-KR" b="1" dirty="0">
                <a:solidFill>
                  <a:srgbClr val="FFFF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/>
              <a:r>
                <a:rPr lang="en-US" altLang="ko-KR" b="1" dirty="0">
                  <a:solidFill>
                    <a:srgbClr val="FFFF00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ERD</a:t>
              </a:r>
              <a:endParaRPr lang="ko-KR" altLang="en-US" b="1" dirty="0">
                <a:solidFill>
                  <a:srgbClr val="FFFF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0C7E1943-3D00-C7C8-BCF8-D8D0A6B1C479}"/>
              </a:ext>
            </a:extLst>
          </p:cNvPr>
          <p:cNvGrpSpPr/>
          <p:nvPr/>
        </p:nvGrpSpPr>
        <p:grpSpPr>
          <a:xfrm>
            <a:off x="3113138" y="2228162"/>
            <a:ext cx="1644935" cy="963976"/>
            <a:chOff x="2989197" y="2955274"/>
            <a:chExt cx="1644935" cy="963976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EC0248CF-8E4F-9676-6762-31E247FEBCA2}"/>
                </a:ext>
              </a:extLst>
            </p:cNvPr>
            <p:cNvSpPr/>
            <p:nvPr/>
          </p:nvSpPr>
          <p:spPr>
            <a:xfrm>
              <a:off x="2989197" y="2955274"/>
              <a:ext cx="1644935" cy="963976"/>
            </a:xfrm>
            <a:prstGeom prst="ellipse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36E981D-E27A-6A22-0625-4AEA03C273DC}"/>
                </a:ext>
              </a:extLst>
            </p:cNvPr>
            <p:cNvSpPr txBox="1"/>
            <p:nvPr/>
          </p:nvSpPr>
          <p:spPr>
            <a:xfrm>
              <a:off x="3352244" y="3114097"/>
              <a:ext cx="91884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rgbClr val="FFFF00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물리</a:t>
              </a:r>
              <a:r>
                <a:rPr lang="en-US" altLang="ko-KR" b="1" dirty="0">
                  <a:solidFill>
                    <a:srgbClr val="FFFF00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DB</a:t>
              </a:r>
            </a:p>
            <a:p>
              <a:pPr algn="ctr"/>
              <a:r>
                <a:rPr lang="ko-KR" altLang="en-US" b="1" dirty="0">
                  <a:solidFill>
                    <a:srgbClr val="FFFF00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생성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034764D-B245-C993-3CEE-1D6A32AA27A9}"/>
              </a:ext>
            </a:extLst>
          </p:cNvPr>
          <p:cNvGrpSpPr/>
          <p:nvPr/>
        </p:nvGrpSpPr>
        <p:grpSpPr>
          <a:xfrm>
            <a:off x="5279041" y="2228162"/>
            <a:ext cx="1644935" cy="963976"/>
            <a:chOff x="5273533" y="2955274"/>
            <a:chExt cx="1644935" cy="963976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EBCCF5EB-3FE4-7563-513A-A5B374B41B39}"/>
                </a:ext>
              </a:extLst>
            </p:cNvPr>
            <p:cNvSpPr/>
            <p:nvPr/>
          </p:nvSpPr>
          <p:spPr>
            <a:xfrm>
              <a:off x="5273533" y="2955274"/>
              <a:ext cx="1644935" cy="963976"/>
            </a:xfrm>
            <a:prstGeom prst="ellipse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DC1E258-5107-EF07-0DCB-693DF9BAD01E}"/>
                </a:ext>
              </a:extLst>
            </p:cNvPr>
            <p:cNvSpPr txBox="1"/>
            <p:nvPr/>
          </p:nvSpPr>
          <p:spPr>
            <a:xfrm>
              <a:off x="5744782" y="3114097"/>
              <a:ext cx="70243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b="1" dirty="0">
                  <a:solidFill>
                    <a:srgbClr val="FFFF00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DATA</a:t>
              </a:r>
            </a:p>
            <a:p>
              <a:pPr algn="ctr"/>
              <a:r>
                <a:rPr lang="ko-KR" altLang="en-US" b="1" dirty="0">
                  <a:solidFill>
                    <a:srgbClr val="FFFF00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생성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A5E9418-606C-C6C7-7B57-E156C7DDA827}"/>
              </a:ext>
            </a:extLst>
          </p:cNvPr>
          <p:cNvGrpSpPr/>
          <p:nvPr/>
        </p:nvGrpSpPr>
        <p:grpSpPr>
          <a:xfrm>
            <a:off x="7444944" y="2228162"/>
            <a:ext cx="1644935" cy="963976"/>
            <a:chOff x="7557869" y="2955274"/>
            <a:chExt cx="1644935" cy="963976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757E0F26-72AC-FD20-A749-209A9692E452}"/>
                </a:ext>
              </a:extLst>
            </p:cNvPr>
            <p:cNvSpPr/>
            <p:nvPr/>
          </p:nvSpPr>
          <p:spPr>
            <a:xfrm>
              <a:off x="7557869" y="2955274"/>
              <a:ext cx="1644935" cy="963976"/>
            </a:xfrm>
            <a:prstGeom prst="ellipse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181412B-5D41-432F-AED3-96BE48D87D2D}"/>
                </a:ext>
              </a:extLst>
            </p:cNvPr>
            <p:cNvSpPr txBox="1"/>
            <p:nvPr/>
          </p:nvSpPr>
          <p:spPr>
            <a:xfrm>
              <a:off x="8057170" y="3114097"/>
              <a:ext cx="64633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b="1" dirty="0">
                  <a:solidFill>
                    <a:srgbClr val="FFFF00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SQL</a:t>
              </a:r>
            </a:p>
            <a:p>
              <a:pPr algn="ctr"/>
              <a:r>
                <a:rPr lang="ko-KR" altLang="en-US" b="1" dirty="0">
                  <a:solidFill>
                    <a:srgbClr val="FFFF00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분석</a:t>
              </a:r>
              <a:endParaRPr lang="en-US" altLang="ko-KR" b="1" dirty="0">
                <a:solidFill>
                  <a:srgbClr val="FFFF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2D786795-CF6B-8553-E3DC-FB3F1B48749A}"/>
              </a:ext>
            </a:extLst>
          </p:cNvPr>
          <p:cNvGrpSpPr/>
          <p:nvPr/>
        </p:nvGrpSpPr>
        <p:grpSpPr>
          <a:xfrm>
            <a:off x="9610847" y="2219899"/>
            <a:ext cx="1644935" cy="963976"/>
            <a:chOff x="9842204" y="2891926"/>
            <a:chExt cx="1644935" cy="963976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790F1B79-2029-1E76-9CEA-2F1FCA9E3F2A}"/>
                </a:ext>
              </a:extLst>
            </p:cNvPr>
            <p:cNvSpPr/>
            <p:nvPr/>
          </p:nvSpPr>
          <p:spPr>
            <a:xfrm>
              <a:off x="9842204" y="2891926"/>
              <a:ext cx="1644935" cy="963976"/>
            </a:xfrm>
            <a:prstGeom prst="ellipse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0143358-5329-AF10-7880-FBA0B5706910}"/>
                </a:ext>
              </a:extLst>
            </p:cNvPr>
            <p:cNvSpPr txBox="1"/>
            <p:nvPr/>
          </p:nvSpPr>
          <p:spPr>
            <a:xfrm>
              <a:off x="10069797" y="3189248"/>
              <a:ext cx="11897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rgbClr val="FFC000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성능 이슈</a:t>
              </a:r>
              <a:endParaRPr lang="en-US" altLang="ko-KR" b="1" dirty="0">
                <a:solidFill>
                  <a:srgbClr val="FFC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A8C5FC4-A183-45DA-9DA4-FF4FA9189A00}"/>
              </a:ext>
            </a:extLst>
          </p:cNvPr>
          <p:cNvSpPr txBox="1"/>
          <p:nvPr/>
        </p:nvSpPr>
        <p:spPr>
          <a:xfrm>
            <a:off x="1064511" y="4159300"/>
            <a:ext cx="1015096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사용자가 원하는 데이터를 정확하고 빠르게 제공하는 것이 데이터 모델링의 목표이다</a:t>
            </a:r>
            <a:r>
              <a:rPr lang="en-US" altLang="ko-KR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성능 문제는 개념 • 논리 • 물리 모델링 각 단계에서 검토해야 한다. 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하지만</a:t>
            </a:r>
            <a:r>
              <a:rPr lang="en-US" altLang="ko-KR" dirty="0"/>
              <a:t>, </a:t>
            </a:r>
            <a:r>
              <a:rPr lang="ko-KR" altLang="en-US" dirty="0"/>
              <a:t>검토가 해결을 의미하지는 않는다</a:t>
            </a:r>
            <a:r>
              <a:rPr lang="en-US" altLang="ko-KR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성능 검토는 정규화를 한 상태에서 해야 한다는 점을 주의해야 한다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C472CB-56B4-4ECC-7B97-4B785FB1C2BA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600" dirty="0" err="1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엔터티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(Entity)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E337C04-370A-807E-622C-7BF18EBEE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cxnSp>
        <p:nvCxnSpPr>
          <p:cNvPr id="8" name="연결선: 구부러짐 7">
            <a:extLst>
              <a:ext uri="{FF2B5EF4-FFF2-40B4-BE49-F238E27FC236}">
                <a16:creationId xmlns:a16="http://schemas.microsoft.com/office/drawing/2014/main" id="{5E7E6DB0-9F09-43B4-8DA8-944D01DDC441}"/>
              </a:ext>
            </a:extLst>
          </p:cNvPr>
          <p:cNvCxnSpPr>
            <a:cxnSpLocks/>
            <a:stCxn id="9" idx="0"/>
            <a:endCxn id="13" idx="0"/>
          </p:cNvCxnSpPr>
          <p:nvPr/>
        </p:nvCxnSpPr>
        <p:spPr>
          <a:xfrm rot="5400000" flipH="1" flipV="1">
            <a:off x="6097378" y="-2107775"/>
            <a:ext cx="8263" cy="8663612"/>
          </a:xfrm>
          <a:prstGeom prst="curvedConnector3">
            <a:avLst>
              <a:gd name="adj1" fmla="val 7157521"/>
            </a:avLst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402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23E5F0-716B-468F-A923-60155C3597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모델링 </a:t>
            </a:r>
            <a:r>
              <a:rPr lang="ko-KR" altLang="en-US" dirty="0" err="1"/>
              <a:t>실습예제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1FA4939-6D1B-4F07-8779-29EED134BB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81916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7A29C33-282E-419B-AFFA-9250CE12759D}"/>
              </a:ext>
            </a:extLst>
          </p:cNvPr>
          <p:cNvSpPr/>
          <p:nvPr/>
        </p:nvSpPr>
        <p:spPr>
          <a:xfrm>
            <a:off x="1323141" y="2367704"/>
            <a:ext cx="1698172" cy="290571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400" dirty="0">
                <a:solidFill>
                  <a:schemeClr val="tx1"/>
                </a:solidFill>
              </a:rPr>
              <a:t>#</a:t>
            </a:r>
            <a:r>
              <a:rPr lang="ko-KR" altLang="en-US" sz="1400" dirty="0">
                <a:solidFill>
                  <a:schemeClr val="tx1"/>
                </a:solidFill>
              </a:rPr>
              <a:t>선수번호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9C10D6F-D552-4CD3-A234-B9F89AEB3EE5}"/>
              </a:ext>
            </a:extLst>
          </p:cNvPr>
          <p:cNvSpPr/>
          <p:nvPr/>
        </p:nvSpPr>
        <p:spPr>
          <a:xfrm>
            <a:off x="3870398" y="2367704"/>
            <a:ext cx="1698172" cy="492519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400" dirty="0">
                <a:solidFill>
                  <a:schemeClr val="tx1"/>
                </a:solidFill>
              </a:rPr>
              <a:t>#</a:t>
            </a:r>
            <a:r>
              <a:rPr lang="ko-KR" altLang="en-US" sz="1400" dirty="0">
                <a:solidFill>
                  <a:schemeClr val="tx1"/>
                </a:solidFill>
              </a:rPr>
              <a:t>선수번호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#</a:t>
            </a:r>
            <a:r>
              <a:rPr lang="ko-KR" altLang="en-US" sz="1400" dirty="0">
                <a:solidFill>
                  <a:schemeClr val="tx1"/>
                </a:solidFill>
              </a:rPr>
              <a:t>구단번호</a:t>
            </a:r>
            <a:endParaRPr lang="ko-KR" altLang="en-US" sz="1400" u="sng" dirty="0">
              <a:solidFill>
                <a:schemeClr val="tx1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516CB6B-2EDC-4774-8FD1-1529F9C9337F}"/>
              </a:ext>
            </a:extLst>
          </p:cNvPr>
          <p:cNvSpPr/>
          <p:nvPr/>
        </p:nvSpPr>
        <p:spPr>
          <a:xfrm>
            <a:off x="6417655" y="2367704"/>
            <a:ext cx="1698172" cy="290571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400" dirty="0">
                <a:solidFill>
                  <a:schemeClr val="tx1"/>
                </a:solidFill>
              </a:rPr>
              <a:t>#</a:t>
            </a:r>
            <a:r>
              <a:rPr lang="ko-KR" altLang="en-US" sz="1400" dirty="0">
                <a:solidFill>
                  <a:schemeClr val="tx1"/>
                </a:solidFill>
              </a:rPr>
              <a:t>구단번호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9C57ACE-D9D8-4422-92D7-F7C5D820C878}"/>
              </a:ext>
            </a:extLst>
          </p:cNvPr>
          <p:cNvSpPr/>
          <p:nvPr/>
        </p:nvSpPr>
        <p:spPr>
          <a:xfrm>
            <a:off x="1323141" y="2077131"/>
            <a:ext cx="1698172" cy="290571"/>
          </a:xfrm>
          <a:prstGeom prst="roundRect">
            <a:avLst>
              <a:gd name="adj" fmla="val 67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/>
              <a:t>선수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AFE9370-B271-4BD7-B5DD-1030748C3F04}"/>
              </a:ext>
            </a:extLst>
          </p:cNvPr>
          <p:cNvSpPr/>
          <p:nvPr/>
        </p:nvSpPr>
        <p:spPr>
          <a:xfrm>
            <a:off x="3870398" y="2077131"/>
            <a:ext cx="1698172" cy="290571"/>
          </a:xfrm>
          <a:prstGeom prst="roundRect">
            <a:avLst>
              <a:gd name="adj" fmla="val 67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/>
              <a:t>선수구단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62472C0-C190-4BFF-9185-919EAD736A13}"/>
              </a:ext>
            </a:extLst>
          </p:cNvPr>
          <p:cNvSpPr/>
          <p:nvPr/>
        </p:nvSpPr>
        <p:spPr>
          <a:xfrm>
            <a:off x="6417655" y="2077131"/>
            <a:ext cx="1698172" cy="290571"/>
          </a:xfrm>
          <a:prstGeom prst="roundRect">
            <a:avLst>
              <a:gd name="adj" fmla="val 67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/>
              <a:t>구단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0027B3-441B-46B7-B9FC-754518DD4CF7}"/>
              </a:ext>
            </a:extLst>
          </p:cNvPr>
          <p:cNvSpPr txBox="1"/>
          <p:nvPr/>
        </p:nvSpPr>
        <p:spPr>
          <a:xfrm>
            <a:off x="4739148" y="3372784"/>
            <a:ext cx="4962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한번 지정된 선수의 소속 구단이 변경될 수 없을 경우</a:t>
            </a:r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ko-KR" altLang="en-US" sz="1400" dirty="0">
                <a:solidFill>
                  <a:srgbClr val="FF0000"/>
                </a:solidFill>
              </a:rPr>
              <a:t>입단일자는 업무식별자로 가져갈 수 없다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CDD5F69F-2044-42CD-897E-782EBBB6CA95}"/>
              </a:ext>
            </a:extLst>
          </p:cNvPr>
          <p:cNvCxnSpPr>
            <a:cxnSpLocks/>
            <a:stCxn id="10" idx="1"/>
          </p:cNvCxnSpPr>
          <p:nvPr/>
        </p:nvCxnSpPr>
        <p:spPr>
          <a:xfrm rot="10800000">
            <a:off x="4302034" y="3126522"/>
            <a:ext cx="437114" cy="50787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F452C3F-6458-4908-A5F0-B10BC060E66A}"/>
              </a:ext>
            </a:extLst>
          </p:cNvPr>
          <p:cNvSpPr txBox="1"/>
          <p:nvPr/>
        </p:nvSpPr>
        <p:spPr>
          <a:xfrm>
            <a:off x="570272" y="589987"/>
            <a:ext cx="10589342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Q. </a:t>
            </a:r>
            <a:r>
              <a:rPr lang="ko-KR" altLang="en-US" sz="1600" dirty="0"/>
              <a:t>아래의 업무를 만족하도록 선수의 소속구단을 관리하는 선수구단 </a:t>
            </a:r>
            <a:r>
              <a:rPr lang="ko-KR" altLang="en-US" sz="1600" dirty="0" err="1"/>
              <a:t>엔터티에</a:t>
            </a:r>
            <a:r>
              <a:rPr lang="ko-KR" altLang="en-US" sz="1600" dirty="0"/>
              <a:t> 대해 업무 식별자를 설계 하세요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선수는 여러 구단에 동시에 속할 수 있다</a:t>
            </a:r>
            <a:r>
              <a:rPr lang="en-US" altLang="ko-KR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u="sng" dirty="0"/>
              <a:t>한 번 지정된 선수의 소속 구단이 변경될 수 없다</a:t>
            </a:r>
            <a:r>
              <a:rPr lang="en-US" altLang="ko-KR" sz="1600" u="sng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구단에는 여러 선수가 소속된다</a:t>
            </a:r>
            <a:r>
              <a:rPr lang="en-US" altLang="ko-KR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선수가 구단에 소속된 일자를 관리한다</a:t>
            </a:r>
            <a:r>
              <a:rPr lang="en-US" altLang="ko-KR" sz="1600" dirty="0"/>
              <a:t>.</a:t>
            </a:r>
            <a:r>
              <a:rPr lang="ko-KR" altLang="en-US" sz="1600" dirty="0"/>
              <a:t> </a:t>
            </a:r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615C5787-7DAA-47B4-92CD-9EB726A7B4A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021313" y="2512990"/>
            <a:ext cx="849085" cy="10097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FBA24687-3C92-41DF-A6FC-913289381392}"/>
              </a:ext>
            </a:extLst>
          </p:cNvPr>
          <p:cNvCxnSpPr>
            <a:cxnSpLocks/>
            <a:stCxn id="6" idx="1"/>
            <a:endCxn id="5" idx="3"/>
          </p:cNvCxnSpPr>
          <p:nvPr/>
        </p:nvCxnSpPr>
        <p:spPr>
          <a:xfrm rot="10800000" flipV="1">
            <a:off x="5568571" y="2512990"/>
            <a:ext cx="849085" cy="10097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B866B97-E019-4483-BACF-7C6B5D72247B}"/>
              </a:ext>
            </a:extLst>
          </p:cNvPr>
          <p:cNvSpPr txBox="1"/>
          <p:nvPr/>
        </p:nvSpPr>
        <p:spPr>
          <a:xfrm>
            <a:off x="570270" y="4563020"/>
            <a:ext cx="10589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업무요건이 변경되었을 때 업무식별자가 문제가 생긴다면</a:t>
            </a:r>
            <a:r>
              <a:rPr lang="en-US" altLang="ko-KR" sz="1600" dirty="0"/>
              <a:t>,</a:t>
            </a:r>
          </a:p>
          <a:p>
            <a:r>
              <a:rPr lang="en-US" altLang="ko-KR" sz="1600" dirty="0"/>
              <a:t>   </a:t>
            </a:r>
            <a:r>
              <a:rPr lang="en-US" altLang="ko-KR" sz="1600" dirty="0">
                <a:sym typeface="Wingdings" panose="05000000000000000000" pitchFamily="2" charset="2"/>
              </a:rPr>
              <a:t></a:t>
            </a:r>
            <a:r>
              <a:rPr lang="en-US" altLang="ko-KR" sz="1600" dirty="0"/>
              <a:t> </a:t>
            </a:r>
            <a:r>
              <a:rPr lang="ko-KR" altLang="en-US" sz="1600" dirty="0"/>
              <a:t>인조식별자를 사용한다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3368C0-21A0-4CCA-A5E1-F9AB9792FC8E}"/>
              </a:ext>
            </a:extLst>
          </p:cNvPr>
          <p:cNvSpPr txBox="1"/>
          <p:nvPr/>
        </p:nvSpPr>
        <p:spPr>
          <a:xfrm>
            <a:off x="8409390" y="133966"/>
            <a:ext cx="3468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업무식별자 </a:t>
            </a:r>
            <a:r>
              <a:rPr lang="en-US" altLang="ko-KR" dirty="0"/>
              <a:t>(AK,  Alternate</a:t>
            </a:r>
            <a:r>
              <a:rPr lang="ko-KR" altLang="en-US" dirty="0"/>
              <a:t> </a:t>
            </a:r>
            <a:r>
              <a:rPr lang="en-US" altLang="ko-KR" dirty="0"/>
              <a:t>Key)</a:t>
            </a:r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DD2E796-ADC1-4227-83DC-DEA972DE3D90}"/>
              </a:ext>
            </a:extLst>
          </p:cNvPr>
          <p:cNvSpPr/>
          <p:nvPr/>
        </p:nvSpPr>
        <p:spPr>
          <a:xfrm>
            <a:off x="1323141" y="2658275"/>
            <a:ext cx="1698172" cy="589512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A08677-90C1-473D-BE6E-F033D2C0FEA0}"/>
              </a:ext>
            </a:extLst>
          </p:cNvPr>
          <p:cNvSpPr/>
          <p:nvPr/>
        </p:nvSpPr>
        <p:spPr>
          <a:xfrm>
            <a:off x="3870398" y="2860223"/>
            <a:ext cx="1698172" cy="387564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ko-KR" altLang="en-US" sz="1400" u="sng" dirty="0">
                <a:solidFill>
                  <a:schemeClr val="tx1"/>
                </a:solidFill>
              </a:rPr>
              <a:t>입단일자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8AD9E72-44F8-4836-B17D-74F1918EFBB3}"/>
              </a:ext>
            </a:extLst>
          </p:cNvPr>
          <p:cNvSpPr/>
          <p:nvPr/>
        </p:nvSpPr>
        <p:spPr>
          <a:xfrm>
            <a:off x="6417655" y="2658275"/>
            <a:ext cx="1698172" cy="589512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0905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7BEB081-EF84-47B2-912D-31305A6C3A86}"/>
              </a:ext>
            </a:extLst>
          </p:cNvPr>
          <p:cNvSpPr/>
          <p:nvPr/>
        </p:nvSpPr>
        <p:spPr>
          <a:xfrm>
            <a:off x="6711218" y="880560"/>
            <a:ext cx="1698172" cy="545169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400" u="sng" dirty="0">
                <a:solidFill>
                  <a:schemeClr val="tx1"/>
                </a:solidFill>
              </a:rPr>
              <a:t>#</a:t>
            </a:r>
            <a:r>
              <a:rPr lang="ko-KR" altLang="en-US" sz="1400" u="sng" dirty="0">
                <a:solidFill>
                  <a:schemeClr val="tx1"/>
                </a:solidFill>
              </a:rPr>
              <a:t>고객번호</a:t>
            </a:r>
            <a:endParaRPr lang="en-US" altLang="ko-KR" sz="1400" u="sng" dirty="0">
              <a:solidFill>
                <a:schemeClr val="tx1"/>
              </a:solidFill>
            </a:endParaRPr>
          </a:p>
          <a:p>
            <a:r>
              <a:rPr lang="en-US" altLang="ko-KR" sz="1400" u="sng" dirty="0">
                <a:solidFill>
                  <a:schemeClr val="tx1"/>
                </a:solidFill>
              </a:rPr>
              <a:t>#</a:t>
            </a:r>
            <a:r>
              <a:rPr lang="ko-KR" altLang="en-US" sz="1400" u="sng" dirty="0">
                <a:solidFill>
                  <a:schemeClr val="tx1"/>
                </a:solidFill>
              </a:rPr>
              <a:t>상품번호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713FF19-DBD5-4723-86CE-EEDDBFE97113}"/>
              </a:ext>
            </a:extLst>
          </p:cNvPr>
          <p:cNvSpPr/>
          <p:nvPr/>
        </p:nvSpPr>
        <p:spPr>
          <a:xfrm>
            <a:off x="6711218" y="589987"/>
            <a:ext cx="1698172" cy="290571"/>
          </a:xfrm>
          <a:prstGeom prst="roundRect">
            <a:avLst>
              <a:gd name="adj" fmla="val 67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/>
              <a:t>주문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966B0A-465A-4CC5-898B-CC8036438E60}"/>
              </a:ext>
            </a:extLst>
          </p:cNvPr>
          <p:cNvSpPr txBox="1"/>
          <p:nvPr/>
        </p:nvSpPr>
        <p:spPr>
          <a:xfrm>
            <a:off x="570272" y="589987"/>
            <a:ext cx="55257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Q. </a:t>
            </a:r>
            <a:r>
              <a:rPr lang="ko-KR" altLang="en-US" sz="1600" b="1" dirty="0">
                <a:solidFill>
                  <a:srgbClr val="FF0000"/>
                </a:solidFill>
              </a:rPr>
              <a:t>주문 </a:t>
            </a:r>
            <a:r>
              <a:rPr lang="en-US" altLang="ko-KR" sz="1600" b="1" dirty="0">
                <a:solidFill>
                  <a:srgbClr val="FF0000"/>
                </a:solidFill>
              </a:rPr>
              <a:t>= {</a:t>
            </a:r>
            <a:r>
              <a:rPr lang="ko-KR" altLang="en-US" sz="1600" b="1" dirty="0">
                <a:solidFill>
                  <a:srgbClr val="FF0000"/>
                </a:solidFill>
              </a:rPr>
              <a:t>고객번호</a:t>
            </a:r>
            <a:r>
              <a:rPr lang="en-US" altLang="ko-KR" sz="1600" b="1" dirty="0">
                <a:solidFill>
                  <a:srgbClr val="FF0000"/>
                </a:solidFill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</a:rPr>
              <a:t>상품번호</a:t>
            </a:r>
            <a:r>
              <a:rPr lang="en-US" altLang="ko-KR" sz="1600" b="1" dirty="0">
                <a:solidFill>
                  <a:srgbClr val="FF0000"/>
                </a:solidFill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</a:rPr>
              <a:t>주문일시</a:t>
            </a:r>
            <a:r>
              <a:rPr lang="en-US" altLang="ko-KR" sz="1600" b="1" dirty="0">
                <a:solidFill>
                  <a:srgbClr val="FF0000"/>
                </a:solidFill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</a:rPr>
              <a:t>주문수량</a:t>
            </a:r>
            <a:r>
              <a:rPr lang="en-US" altLang="ko-KR" sz="1600" b="1" dirty="0">
                <a:solidFill>
                  <a:srgbClr val="FF0000"/>
                </a:solidFill>
              </a:rPr>
              <a:t>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고객은 여러 개의 상품을 여러 개 주문할 수 있다</a:t>
            </a:r>
            <a:r>
              <a:rPr lang="en-US" altLang="ko-KR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한 번 주문한 상품은 다시는 주문할 수 없다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C338DAF-9C18-4E16-9730-EE0AA796A1D2}"/>
              </a:ext>
            </a:extLst>
          </p:cNvPr>
          <p:cNvSpPr/>
          <p:nvPr/>
        </p:nvSpPr>
        <p:spPr>
          <a:xfrm>
            <a:off x="6711218" y="1431980"/>
            <a:ext cx="1698172" cy="545169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ko-KR" altLang="en-US" sz="1400" dirty="0">
                <a:solidFill>
                  <a:schemeClr val="tx1"/>
                </a:solidFill>
              </a:rPr>
              <a:t>주문수량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ko-KR" altLang="en-US" sz="1400" dirty="0">
                <a:solidFill>
                  <a:schemeClr val="tx1"/>
                </a:solidFill>
              </a:rPr>
              <a:t>주문일시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5642BF-E5A9-48FE-8B3D-3A32B13E5C67}"/>
              </a:ext>
            </a:extLst>
          </p:cNvPr>
          <p:cNvSpPr txBox="1"/>
          <p:nvPr/>
        </p:nvSpPr>
        <p:spPr>
          <a:xfrm>
            <a:off x="570272" y="2497445"/>
            <a:ext cx="5525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고객은 여러 개의 상품을 여러 개 주문할 수 있다</a:t>
            </a:r>
            <a:r>
              <a:rPr lang="en-US" altLang="ko-KR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한 번 주문한 상품은 다시는 주문할 수 없다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3F160AC-C004-4D6D-B693-6FC28FFEAFB2}"/>
              </a:ext>
            </a:extLst>
          </p:cNvPr>
          <p:cNvSpPr/>
          <p:nvPr/>
        </p:nvSpPr>
        <p:spPr>
          <a:xfrm>
            <a:off x="6711218" y="2886289"/>
            <a:ext cx="1698172" cy="825909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400" u="sng" dirty="0">
                <a:solidFill>
                  <a:schemeClr val="tx1"/>
                </a:solidFill>
              </a:rPr>
              <a:t>#</a:t>
            </a:r>
            <a:r>
              <a:rPr lang="ko-KR" altLang="en-US" sz="1400" u="sng" dirty="0">
                <a:solidFill>
                  <a:schemeClr val="tx1"/>
                </a:solidFill>
              </a:rPr>
              <a:t>고객번호</a:t>
            </a:r>
            <a:endParaRPr lang="en-US" altLang="ko-KR" sz="1400" u="sng" dirty="0">
              <a:solidFill>
                <a:schemeClr val="tx1"/>
              </a:solidFill>
            </a:endParaRPr>
          </a:p>
          <a:p>
            <a:r>
              <a:rPr lang="en-US" altLang="ko-KR" sz="1400" u="sng" dirty="0">
                <a:solidFill>
                  <a:schemeClr val="tx1"/>
                </a:solidFill>
              </a:rPr>
              <a:t>#</a:t>
            </a:r>
            <a:r>
              <a:rPr lang="ko-KR" altLang="en-US" sz="1400" u="sng" dirty="0">
                <a:solidFill>
                  <a:schemeClr val="tx1"/>
                </a:solidFill>
              </a:rPr>
              <a:t>상품번호</a:t>
            </a:r>
            <a:endParaRPr lang="en-US" altLang="ko-KR" sz="1400" u="sng" dirty="0">
              <a:solidFill>
                <a:schemeClr val="tx1"/>
              </a:solidFill>
            </a:endParaRPr>
          </a:p>
          <a:p>
            <a:r>
              <a:rPr lang="en-US" altLang="ko-KR" sz="1400" u="sng" dirty="0">
                <a:solidFill>
                  <a:schemeClr val="tx1"/>
                </a:solidFill>
              </a:rPr>
              <a:t>#</a:t>
            </a:r>
            <a:r>
              <a:rPr lang="ko-KR" altLang="en-US" sz="1400" u="sng" dirty="0">
                <a:solidFill>
                  <a:schemeClr val="tx1"/>
                </a:solidFill>
              </a:rPr>
              <a:t>주문일시</a:t>
            </a:r>
            <a:endParaRPr lang="en-US" altLang="ko-KR" sz="1400" u="sng" dirty="0">
              <a:solidFill>
                <a:schemeClr val="tx1"/>
              </a:solidFill>
            </a:endParaRPr>
          </a:p>
          <a:p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DB9CCAF-325A-4086-9905-F7B30D782FD1}"/>
              </a:ext>
            </a:extLst>
          </p:cNvPr>
          <p:cNvSpPr/>
          <p:nvPr/>
        </p:nvSpPr>
        <p:spPr>
          <a:xfrm>
            <a:off x="6711218" y="2595716"/>
            <a:ext cx="1698172" cy="290571"/>
          </a:xfrm>
          <a:prstGeom prst="roundRect">
            <a:avLst>
              <a:gd name="adj" fmla="val 67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/>
              <a:t>주문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C0A11D5-C198-4BFD-BA8E-26669405669E}"/>
              </a:ext>
            </a:extLst>
          </p:cNvPr>
          <p:cNvSpPr/>
          <p:nvPr/>
        </p:nvSpPr>
        <p:spPr>
          <a:xfrm>
            <a:off x="6711218" y="3712198"/>
            <a:ext cx="1698172" cy="348993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ko-KR" altLang="en-US" sz="1400" dirty="0">
                <a:solidFill>
                  <a:schemeClr val="tx1"/>
                </a:solidFill>
              </a:rPr>
              <a:t>주문수량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C732DE1-1A25-4B2D-A136-22A9926BF4F3}"/>
              </a:ext>
            </a:extLst>
          </p:cNvPr>
          <p:cNvSpPr/>
          <p:nvPr/>
        </p:nvSpPr>
        <p:spPr>
          <a:xfrm>
            <a:off x="6711218" y="4896935"/>
            <a:ext cx="1698172" cy="348993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400" u="sng" dirty="0">
                <a:solidFill>
                  <a:schemeClr val="tx1"/>
                </a:solidFill>
              </a:rPr>
              <a:t>#</a:t>
            </a:r>
            <a:r>
              <a:rPr lang="ko-KR" altLang="en-US" sz="1400" u="sng" dirty="0">
                <a:solidFill>
                  <a:schemeClr val="tx1"/>
                </a:solidFill>
              </a:rPr>
              <a:t>상품번호</a:t>
            </a:r>
            <a:endParaRPr lang="en-US" altLang="ko-KR" sz="1400" u="sng" dirty="0">
              <a:solidFill>
                <a:schemeClr val="tx1"/>
              </a:solidFill>
            </a:endParaRPr>
          </a:p>
          <a:p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577FE93-02EB-4A13-9876-67651554F8DA}"/>
              </a:ext>
            </a:extLst>
          </p:cNvPr>
          <p:cNvSpPr/>
          <p:nvPr/>
        </p:nvSpPr>
        <p:spPr>
          <a:xfrm>
            <a:off x="6711218" y="4606362"/>
            <a:ext cx="1698172" cy="290571"/>
          </a:xfrm>
          <a:prstGeom prst="roundRect">
            <a:avLst>
              <a:gd name="adj" fmla="val 67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/>
              <a:t>주문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93F3DAA-1058-4BBE-A30E-A4DA8E558CD0}"/>
              </a:ext>
            </a:extLst>
          </p:cNvPr>
          <p:cNvSpPr/>
          <p:nvPr/>
        </p:nvSpPr>
        <p:spPr>
          <a:xfrm>
            <a:off x="6711218" y="5245929"/>
            <a:ext cx="1698172" cy="731512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ko-KR" altLang="en-US" sz="1400" dirty="0">
                <a:solidFill>
                  <a:schemeClr val="tx1"/>
                </a:solidFill>
              </a:rPr>
              <a:t>고객번호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ko-KR" altLang="en-US" sz="1400" dirty="0">
                <a:solidFill>
                  <a:schemeClr val="tx1"/>
                </a:solidFill>
              </a:rPr>
              <a:t>주문일시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ko-KR" altLang="en-US" sz="1400" dirty="0">
                <a:solidFill>
                  <a:schemeClr val="tx1"/>
                </a:solidFill>
              </a:rPr>
              <a:t>주문수량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D247E2-0012-45FD-8676-289CC0ADA9AA}"/>
              </a:ext>
            </a:extLst>
          </p:cNvPr>
          <p:cNvSpPr txBox="1"/>
          <p:nvPr/>
        </p:nvSpPr>
        <p:spPr>
          <a:xfrm>
            <a:off x="570272" y="4604545"/>
            <a:ext cx="5525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고객은 여러 개의 상품을 여러 개 주문할 수 있다</a:t>
            </a:r>
            <a:r>
              <a:rPr lang="en-US" altLang="ko-KR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상품은 전 고객을 통해 한 번만 주문될 수 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8D6C68-F4F4-41D7-AFF2-823CDC2E5516}"/>
              </a:ext>
            </a:extLst>
          </p:cNvPr>
          <p:cNvSpPr txBox="1"/>
          <p:nvPr/>
        </p:nvSpPr>
        <p:spPr>
          <a:xfrm>
            <a:off x="8409390" y="133966"/>
            <a:ext cx="3468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업무식별자 </a:t>
            </a:r>
            <a:r>
              <a:rPr lang="en-US" altLang="ko-KR" dirty="0"/>
              <a:t>(AK,  Alternate</a:t>
            </a:r>
            <a:r>
              <a:rPr lang="ko-KR" altLang="en-US" dirty="0"/>
              <a:t> </a:t>
            </a:r>
            <a:r>
              <a:rPr lang="en-US" altLang="ko-KR" dirty="0"/>
              <a:t>Key)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60031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47D7A9-8227-FC31-E1B0-95514D4CBF9C}"/>
              </a:ext>
            </a:extLst>
          </p:cNvPr>
          <p:cNvSpPr txBox="1"/>
          <p:nvPr/>
        </p:nvSpPr>
        <p:spPr>
          <a:xfrm>
            <a:off x="3048918" y="2278272"/>
            <a:ext cx="60978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sz="6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정규화</a:t>
            </a:r>
            <a:endParaRPr lang="en-US" altLang="ko-KR" sz="6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en-US" altLang="ko-KR" sz="6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</a:p>
          <a:p>
            <a:pPr algn="ctr"/>
            <a:r>
              <a:rPr lang="ko-KR" altLang="en-US" sz="2400" b="1" dirty="0">
                <a:solidFill>
                  <a:srgbClr val="FF0000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실무에서는 </a:t>
            </a:r>
            <a:r>
              <a:rPr lang="en-US" altLang="ko-KR" sz="2400" b="1" dirty="0">
                <a:solidFill>
                  <a:srgbClr val="FF0000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3,BC,4</a:t>
            </a:r>
            <a:r>
              <a:rPr lang="ko-KR" altLang="en-US" sz="2400" b="1" dirty="0">
                <a:solidFill>
                  <a:srgbClr val="FF0000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정규형까지 완성해야 한다</a:t>
            </a:r>
            <a:r>
              <a:rPr lang="en-US" altLang="ko-KR" sz="2400" b="1" dirty="0">
                <a:solidFill>
                  <a:srgbClr val="FF0000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.</a:t>
            </a:r>
            <a:endParaRPr lang="ko-KR" altLang="en-US" sz="2400" b="1" dirty="0">
              <a:solidFill>
                <a:srgbClr val="FF0000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E8A98D-9D34-B8FD-30D2-6CC5FFF0BE49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정규화 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en-US" altLang="ko-KR" sz="14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9897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2C56D-840A-4FBB-8F35-8DD846F552B9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함수종속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B3332F-02B7-45D9-81BC-1F7A531C3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함수종속 </a:t>
            </a:r>
            <a:r>
              <a:rPr lang="en-US" altLang="ko-KR" dirty="0"/>
              <a:t>: X </a:t>
            </a:r>
            <a:r>
              <a:rPr lang="en-US" altLang="ko-KR" dirty="0">
                <a:sym typeface="Wingdings" panose="05000000000000000000" pitchFamily="2" charset="2"/>
              </a:rPr>
              <a:t> Y   </a:t>
            </a:r>
            <a:r>
              <a:rPr lang="en-US" altLang="ko-KR" dirty="0" err="1">
                <a:sym typeface="Wingdings" panose="05000000000000000000" pitchFamily="2" charset="2"/>
              </a:rPr>
              <a:t>y</a:t>
            </a:r>
            <a:r>
              <a:rPr lang="en-US" altLang="ko-KR" dirty="0">
                <a:sym typeface="Wingdings" panose="05000000000000000000" pitchFamily="2" charset="2"/>
              </a:rPr>
              <a:t> = f(x)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X : </a:t>
            </a:r>
            <a:r>
              <a:rPr lang="ko-KR" altLang="en-US" dirty="0"/>
              <a:t>결정자 </a:t>
            </a:r>
            <a:r>
              <a:rPr lang="en-US" altLang="ko-KR" dirty="0"/>
              <a:t>(Determinant)</a:t>
            </a:r>
          </a:p>
          <a:p>
            <a:pPr marL="457200" lvl="1" indent="0">
              <a:buNone/>
            </a:pPr>
            <a:r>
              <a:rPr lang="ko-KR" altLang="en-US" sz="1800" b="1" dirty="0">
                <a:solidFill>
                  <a:srgbClr val="FF0000"/>
                </a:solidFill>
              </a:rPr>
              <a:t> 주민번호를 알면 이름을 알 수 있다</a:t>
            </a:r>
            <a:r>
              <a:rPr lang="en-US" altLang="ko-KR" sz="1800" b="1" dirty="0">
                <a:solidFill>
                  <a:srgbClr val="FF0000"/>
                </a:solidFill>
              </a:rPr>
              <a:t>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Y : </a:t>
            </a:r>
            <a:r>
              <a:rPr lang="ko-KR" altLang="en-US" dirty="0" err="1"/>
              <a:t>종속자</a:t>
            </a:r>
            <a:r>
              <a:rPr lang="ko-KR" altLang="en-US" dirty="0"/>
              <a:t> </a:t>
            </a:r>
            <a:r>
              <a:rPr lang="en-US" altLang="ko-KR" dirty="0"/>
              <a:t>(Dependent)</a:t>
            </a:r>
            <a:br>
              <a:rPr lang="en-US" altLang="ko-KR" dirty="0"/>
            </a:br>
            <a:r>
              <a:rPr lang="en-US" altLang="ko-KR" sz="1800" b="1" dirty="0">
                <a:solidFill>
                  <a:srgbClr val="FF0000"/>
                </a:solidFill>
              </a:rPr>
              <a:t>   </a:t>
            </a:r>
            <a:r>
              <a:rPr lang="ko-KR" altLang="en-US" sz="1800" b="1" dirty="0">
                <a:solidFill>
                  <a:srgbClr val="FF0000"/>
                </a:solidFill>
              </a:rPr>
              <a:t>이름을 알아도 주민번호를 알 수 없다</a:t>
            </a:r>
            <a:r>
              <a:rPr lang="en-US" altLang="ko-KR" sz="1800" b="1" dirty="0">
                <a:solidFill>
                  <a:srgbClr val="FF0000"/>
                </a:solidFill>
              </a:rPr>
              <a:t>. </a:t>
            </a:r>
            <a:r>
              <a:rPr lang="ko-KR" altLang="en-US" sz="1800" b="1" dirty="0">
                <a:solidFill>
                  <a:srgbClr val="FF0000"/>
                </a:solidFill>
              </a:rPr>
              <a:t>동명이인이 있기 때문에</a:t>
            </a:r>
            <a:r>
              <a:rPr lang="en-US" altLang="ko-KR" sz="1800" b="1" dirty="0">
                <a:solidFill>
                  <a:srgbClr val="FF0000"/>
                </a:solidFill>
              </a:rPr>
              <a:t>…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167293-C1E4-4442-8993-51EBEB2A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9916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20CCA9-AED6-41D8-A8CD-0B89C9448BD9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엔터티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ko-KR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도출방법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(</a:t>
            </a:r>
            <a:r>
              <a:rPr lang="en-US" altLang="ko-KR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57</a:t>
            </a:r>
            <a:r>
              <a:rPr lang="ko-KR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페이지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)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91499C-7BBF-4C8D-BFA0-8BA5E3B35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결정자가 같은 것 끼리 묶는다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엔터티는</a:t>
            </a:r>
            <a:r>
              <a:rPr lang="ko-KR" altLang="en-US" dirty="0"/>
              <a:t> 직접 종속만 하나의 </a:t>
            </a:r>
            <a:r>
              <a:rPr lang="ko-KR" altLang="en-US" dirty="0" err="1"/>
              <a:t>엔터티로</a:t>
            </a:r>
            <a:r>
              <a:rPr lang="ko-KR" altLang="en-US" dirty="0"/>
              <a:t> 묶는다</a:t>
            </a:r>
            <a:endParaRPr lang="en-US" altLang="ko-KR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ko-KR" b="1" dirty="0">
                <a:solidFill>
                  <a:srgbClr val="FF0000"/>
                </a:solidFill>
              </a:rPr>
              <a:t> X </a:t>
            </a: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 Y  Z </a:t>
            </a:r>
            <a:r>
              <a:rPr lang="ko-KR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일 경우</a:t>
            </a:r>
            <a:endParaRPr lang="en-US" altLang="ko-KR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 X  Z</a:t>
            </a:r>
            <a:r>
              <a:rPr lang="ko-KR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는 직접 종속이 아니므로</a:t>
            </a: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, </a:t>
            </a:r>
            <a:r>
              <a:rPr lang="ko-KR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함께 묶으면 안된다</a:t>
            </a: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.</a:t>
            </a:r>
            <a:endParaRPr lang="en-US" altLang="ko-KR" b="1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특이 사항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: </a:t>
            </a:r>
            <a:r>
              <a:rPr lang="ko-KR" altLang="en-US" dirty="0"/>
              <a:t>전사의 모든 속성을 다 파악한 후 종속관계를 파악한다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C64348-AE3C-4067-B219-C788747EC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4705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20CCA9-AED6-41D8-A8CD-0B89C9448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2483"/>
            <a:ext cx="10515600" cy="535531"/>
          </a:xfr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함수종속과 </a:t>
            </a:r>
            <a:r>
              <a:rPr lang="ko-KR" alt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페포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(Closure)</a:t>
            </a:r>
            <a:r>
              <a:rPr lang="en-US" altLang="ko-K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altLang="ko-K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 RDB</a:t>
            </a:r>
            <a:r>
              <a:rPr lang="ko-KR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  <a:sym typeface="Wingdings" panose="05000000000000000000" pitchFamily="2" charset="2"/>
              </a:rPr>
              <a:t>의 이론적인 개념</a:t>
            </a:r>
            <a:endParaRPr lang="ko-KR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91499C-7BBF-4C8D-BFA0-8BA5E3B35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C64348-AE3C-4067-B219-C788747EC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50607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20CCA9-AED6-41D8-A8CD-0B89C9448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2483"/>
            <a:ext cx="10515600" cy="535531"/>
          </a:xfr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그냥 릴레이션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(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NFNF, Non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Normal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Form,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NF2) </a:t>
            </a:r>
            <a:endParaRPr lang="ko-KR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91499C-7BBF-4C8D-BFA0-8BA5E3B35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반드시 정규형을 거친 후 비정규화 시켜라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그냥 릴레이션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정규형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비정규형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고객사 입장에서  </a:t>
            </a:r>
            <a:r>
              <a:rPr lang="en-US" altLang="ko-KR" dirty="0">
                <a:sym typeface="Wingdings" panose="05000000000000000000" pitchFamily="2" charset="2"/>
              </a:rPr>
              <a:t>To-BE </a:t>
            </a:r>
            <a:r>
              <a:rPr lang="ko-KR" altLang="en-US" dirty="0">
                <a:sym typeface="Wingdings" panose="05000000000000000000" pitchFamily="2" charset="2"/>
              </a:rPr>
              <a:t>모델이 </a:t>
            </a:r>
            <a:r>
              <a:rPr lang="en-US" altLang="ko-KR" dirty="0">
                <a:sym typeface="Wingdings" panose="05000000000000000000" pitchFamily="2" charset="2"/>
              </a:rPr>
              <a:t>AS-</a:t>
            </a:r>
            <a:r>
              <a:rPr lang="en-US" altLang="ko-KR" dirty="0" err="1">
                <a:sym typeface="Wingdings" panose="05000000000000000000" pitchFamily="2" charset="2"/>
              </a:rPr>
              <a:t>iS</a:t>
            </a:r>
            <a:r>
              <a:rPr lang="ko-KR" altLang="en-US" dirty="0">
                <a:sym typeface="Wingdings" panose="05000000000000000000" pitchFamily="2" charset="2"/>
              </a:rPr>
              <a:t>랑 똑같다면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</a:p>
          <a:p>
            <a:pPr marL="0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     </a:t>
            </a:r>
            <a:r>
              <a:rPr lang="ko-KR" altLang="en-US" dirty="0">
                <a:sym typeface="Wingdings" panose="05000000000000000000" pitchFamily="2" charset="2"/>
              </a:rPr>
              <a:t>문제 제기를 하라</a:t>
            </a:r>
            <a:r>
              <a:rPr lang="en-US" altLang="ko-KR" dirty="0">
                <a:sym typeface="Wingdings" panose="05000000000000000000" pitchFamily="2" charset="2"/>
              </a:rPr>
              <a:t>!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C64348-AE3C-4067-B219-C788747EC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89181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정규화</a:t>
            </a:r>
            <a:r>
              <a:rPr lang="en-US" altLang="ko-KR" sz="2400" dirty="0"/>
              <a:t> </a:t>
            </a:r>
            <a:r>
              <a:rPr lang="ko-KR" altLang="en-US" sz="2400" dirty="0"/>
              <a:t>의견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CA0BF2-DCA0-AA3E-F874-92A794DBA6D6}"/>
              </a:ext>
            </a:extLst>
          </p:cNvPr>
          <p:cNvSpPr txBox="1"/>
          <p:nvPr/>
        </p:nvSpPr>
        <p:spPr>
          <a:xfrm>
            <a:off x="1064585" y="1492836"/>
            <a:ext cx="1077854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정규화 </a:t>
            </a:r>
            <a:r>
              <a:rPr lang="en-US" altLang="ko-KR" sz="14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(Normalization)</a:t>
            </a:r>
            <a:r>
              <a:rPr lang="ko-KR" altLang="en-US" sz="14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와 통합화</a:t>
            </a:r>
            <a:r>
              <a:rPr lang="en-US" altLang="ko-KR" sz="14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(Generalization)</a:t>
            </a:r>
            <a:r>
              <a:rPr lang="ko-KR" altLang="en-US" sz="14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가 모델링의 꽃</a:t>
            </a:r>
            <a:r>
              <a:rPr lang="en-US" altLang="ko-KR" sz="14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정규화에 대한 훈련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</a:t>
            </a:r>
            <a:r>
              <a:rPr lang="ko-KR" altLang="en-US" b="1" u="sng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속성의 종속성을 파악해서 </a:t>
            </a:r>
            <a:r>
              <a:rPr lang="ko-KR" altLang="en-US" b="1" u="sng" dirty="0" err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엔터티를</a:t>
            </a:r>
            <a:r>
              <a:rPr lang="ko-KR" altLang="en-US" b="1" u="sng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설계하는 훈련이다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/>
              <a:t>속성이 </a:t>
            </a:r>
            <a:r>
              <a:rPr lang="ko-KR" altLang="en-US" sz="1400" dirty="0" err="1"/>
              <a:t>엔터티에</a:t>
            </a:r>
            <a:r>
              <a:rPr lang="ko-KR" altLang="en-US" sz="1400" dirty="0"/>
              <a:t> 속하는 것이 옳은지를 판단하는 것이다</a:t>
            </a:r>
            <a:r>
              <a:rPr lang="en-US" altLang="ko-KR" sz="1400" dirty="0"/>
              <a:t>. </a:t>
            </a:r>
            <a:r>
              <a:rPr lang="ko-KR" altLang="en-US" sz="1400" dirty="0"/>
              <a:t>이 훈련의 핵심은 </a:t>
            </a:r>
            <a:r>
              <a:rPr lang="ko-KR" altLang="en-US" sz="1400" b="1" u="sng" dirty="0"/>
              <a:t>식별자</a:t>
            </a:r>
            <a:r>
              <a:rPr lang="en-US" altLang="ko-KR" sz="1400" b="1" u="sng" dirty="0"/>
              <a:t>(Identifier)</a:t>
            </a:r>
            <a:r>
              <a:rPr lang="ko-KR" altLang="en-US" sz="1400" dirty="0"/>
              <a:t>와 </a:t>
            </a:r>
            <a:r>
              <a:rPr lang="ko-KR" altLang="en-US" sz="1400" b="1" u="sng" dirty="0"/>
              <a:t>종속성</a:t>
            </a:r>
            <a:r>
              <a:rPr lang="en-US" altLang="ko-KR" sz="1400" b="1" u="sng" dirty="0"/>
              <a:t>(Dependency)</a:t>
            </a:r>
            <a:r>
              <a:rPr lang="ko-KR" altLang="en-US" sz="1400" dirty="0"/>
              <a:t>이다</a:t>
            </a:r>
            <a:r>
              <a:rPr lang="en-US" altLang="ko-KR" sz="14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 err="1"/>
              <a:t>엔터티를</a:t>
            </a:r>
            <a:r>
              <a:rPr lang="ko-KR" altLang="en-US" sz="1400" dirty="0"/>
              <a:t> 대표하는 </a:t>
            </a:r>
            <a:r>
              <a:rPr lang="ko-KR" altLang="en-US" b="1" u="sng" dirty="0">
                <a:solidFill>
                  <a:srgbClr val="FF0000"/>
                </a:solidFill>
              </a:rPr>
              <a:t>업무 식별자를 찾은 후</a:t>
            </a:r>
            <a:r>
              <a:rPr lang="ko-KR" altLang="en-US" sz="1400" dirty="0"/>
              <a:t>에</a:t>
            </a:r>
            <a:r>
              <a:rPr lang="en-US" altLang="ko-KR" sz="1400" dirty="0"/>
              <a:t>, </a:t>
            </a:r>
            <a:r>
              <a:rPr lang="ko-KR" altLang="en-US" sz="1400" dirty="0"/>
              <a:t>그 속성을 기준으로 대상 속성이 종속됐는지 여부를 판단한다</a:t>
            </a:r>
            <a:r>
              <a:rPr lang="en-US" altLang="ko-KR" sz="14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/>
              <a:t>만약 종속성이 없다면 다른 </a:t>
            </a:r>
            <a:r>
              <a:rPr lang="ko-KR" altLang="en-US" sz="1400" dirty="0" err="1"/>
              <a:t>엔터티를</a:t>
            </a:r>
            <a:r>
              <a:rPr lang="ko-KR" altLang="en-US" sz="1400" dirty="0"/>
              <a:t> 찾는다</a:t>
            </a:r>
            <a:r>
              <a:rPr lang="en-US" altLang="ko-KR" sz="1400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2800" b="1" u="sng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2800" b="1" dirty="0"/>
              <a:t> </a:t>
            </a:r>
            <a:r>
              <a:rPr lang="en-US" altLang="ko-KR" sz="2800" b="1" u="sng" dirty="0">
                <a:solidFill>
                  <a:srgbClr val="FF0000"/>
                </a:solidFill>
              </a:rPr>
              <a:t>“</a:t>
            </a:r>
            <a:r>
              <a:rPr lang="ko-KR" altLang="en-US" sz="2800" b="1" u="sng" dirty="0">
                <a:solidFill>
                  <a:srgbClr val="FF0000"/>
                </a:solidFill>
              </a:rPr>
              <a:t>모든 속성은 하나의 </a:t>
            </a:r>
            <a:r>
              <a:rPr lang="ko-KR" altLang="en-US" sz="2800" b="1" u="sng" dirty="0" err="1">
                <a:solidFill>
                  <a:srgbClr val="FF0000"/>
                </a:solidFill>
              </a:rPr>
              <a:t>엔터티에만</a:t>
            </a:r>
            <a:r>
              <a:rPr lang="ko-KR" altLang="en-US" sz="2800" b="1" u="sng" dirty="0">
                <a:solidFill>
                  <a:srgbClr val="FF0000"/>
                </a:solidFill>
              </a:rPr>
              <a:t> 속하고</a:t>
            </a:r>
            <a:r>
              <a:rPr lang="en-US" altLang="ko-KR" sz="2800" b="1" u="sng" dirty="0">
                <a:solidFill>
                  <a:srgbClr val="FF0000"/>
                </a:solidFill>
              </a:rPr>
              <a:t>”</a:t>
            </a:r>
            <a:r>
              <a:rPr lang="en-US" altLang="ko-KR" sz="1400" dirty="0"/>
              <a:t>, </a:t>
            </a:r>
            <a:r>
              <a:rPr lang="ko-KR" altLang="en-US" sz="1400" dirty="0"/>
              <a:t>주식별자만이 다른 </a:t>
            </a:r>
            <a:r>
              <a:rPr lang="ko-KR" altLang="en-US" sz="1400" dirty="0" err="1"/>
              <a:t>엔터티에</a:t>
            </a:r>
            <a:r>
              <a:rPr lang="ko-KR" altLang="en-US" sz="1400" dirty="0"/>
              <a:t> 존재할 수 있음</a:t>
            </a:r>
            <a:r>
              <a:rPr lang="en-US" altLang="ko-KR" sz="14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b="1" dirty="0"/>
              <a:t>어떤 기준에 의해 구별되는 것</a:t>
            </a:r>
            <a:r>
              <a:rPr lang="en-US" altLang="ko-KR" sz="1400" dirty="0"/>
              <a:t>,</a:t>
            </a:r>
            <a:r>
              <a:rPr lang="ko-KR" altLang="en-US" sz="1400" dirty="0"/>
              <a:t> 이것이 바로 </a:t>
            </a:r>
            <a:r>
              <a:rPr lang="ko-KR" altLang="en-US" b="1" dirty="0"/>
              <a:t>식별자</a:t>
            </a:r>
            <a:r>
              <a:rPr lang="ko-KR" altLang="en-US" sz="1400" dirty="0"/>
              <a:t>이다</a:t>
            </a:r>
            <a:r>
              <a:rPr lang="en-US" altLang="ko-KR" sz="14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식별자에게 </a:t>
            </a:r>
            <a:r>
              <a:rPr lang="ko-KR" altLang="en-US" b="1" dirty="0">
                <a:solidFill>
                  <a:srgbClr val="FF0000"/>
                </a:solidFill>
              </a:rPr>
              <a:t>종속된 유사한 속성</a:t>
            </a:r>
            <a:r>
              <a:rPr lang="ko-KR" altLang="en-US" dirty="0"/>
              <a:t>은 </a:t>
            </a:r>
            <a:r>
              <a:rPr lang="ko-KR" altLang="en-US" b="1" dirty="0">
                <a:solidFill>
                  <a:srgbClr val="FF0000"/>
                </a:solidFill>
              </a:rPr>
              <a:t>모으고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반면 </a:t>
            </a:r>
            <a:r>
              <a:rPr lang="ko-KR" altLang="en-US" b="1" dirty="0">
                <a:solidFill>
                  <a:srgbClr val="FF0000"/>
                </a:solidFill>
              </a:rPr>
              <a:t>종속되지 않은 속성</a:t>
            </a:r>
            <a:r>
              <a:rPr lang="ko-KR" altLang="en-US" dirty="0"/>
              <a:t>들은 </a:t>
            </a:r>
            <a:r>
              <a:rPr lang="ko-KR" altLang="en-US" b="1" dirty="0">
                <a:solidFill>
                  <a:srgbClr val="FF0000"/>
                </a:solidFill>
              </a:rPr>
              <a:t>분리</a:t>
            </a:r>
            <a:r>
              <a:rPr lang="ko-KR" altLang="en-US" dirty="0"/>
              <a:t>하여 구별하는 것이 </a:t>
            </a:r>
            <a:r>
              <a:rPr lang="ko-KR" altLang="en-US" dirty="0" err="1"/>
              <a:t>정규화이다</a:t>
            </a:r>
            <a:r>
              <a:rPr lang="en-US" altLang="ko-KR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b="1" u="sng" dirty="0"/>
              <a:t>더는 분해될 수 없는 </a:t>
            </a:r>
            <a:r>
              <a:rPr lang="ko-KR" altLang="en-US" b="1" u="sng" dirty="0" err="1"/>
              <a:t>엔터티가</a:t>
            </a:r>
            <a:r>
              <a:rPr lang="ko-KR" altLang="en-US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“</a:t>
            </a:r>
            <a:r>
              <a:rPr lang="ko-KR" altLang="en-US" b="1" dirty="0">
                <a:solidFill>
                  <a:srgbClr val="FF0000"/>
                </a:solidFill>
              </a:rPr>
              <a:t>정규형 </a:t>
            </a:r>
            <a:r>
              <a:rPr lang="ko-KR" altLang="en-US" b="1" dirty="0" err="1">
                <a:solidFill>
                  <a:srgbClr val="FF0000"/>
                </a:solidFill>
              </a:rPr>
              <a:t>엔터티</a:t>
            </a:r>
            <a:r>
              <a:rPr lang="en-US" altLang="ko-KR" b="1" dirty="0">
                <a:solidFill>
                  <a:srgbClr val="FF0000"/>
                </a:solidFill>
              </a:rPr>
              <a:t>”</a:t>
            </a:r>
            <a:r>
              <a:rPr lang="ko-KR" altLang="en-US" dirty="0"/>
              <a:t>다</a:t>
            </a:r>
            <a:r>
              <a:rPr lang="en-US" altLang="ko-KR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속성의 종속성과 의존성을 분석해 </a:t>
            </a:r>
            <a:r>
              <a:rPr lang="ko-KR" altLang="en-US" b="1" u="sng" dirty="0">
                <a:solidFill>
                  <a:srgbClr val="FF0000"/>
                </a:solidFill>
              </a:rPr>
              <a:t>더는 분해될 수 없는 </a:t>
            </a:r>
            <a:r>
              <a:rPr lang="ko-KR" altLang="en-US" b="1" u="sng" dirty="0" err="1">
                <a:solidFill>
                  <a:srgbClr val="FF0000"/>
                </a:solidFill>
              </a:rPr>
              <a:t>엔터티로</a:t>
            </a:r>
            <a:r>
              <a:rPr lang="ko-KR" altLang="en-US" b="1" u="sng" dirty="0">
                <a:solidFill>
                  <a:srgbClr val="FF0000"/>
                </a:solidFill>
              </a:rPr>
              <a:t> 만드는 과정</a:t>
            </a:r>
            <a:r>
              <a:rPr lang="ko-KR" altLang="en-US" dirty="0"/>
              <a:t>을 정규화라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7AD787-EE39-1419-69F8-200A2DD90638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정규화 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en-US" altLang="ko-KR" sz="14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DE5E62-AED3-C36B-EFD7-695BF56C8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41966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학습목표">
            <a:extLst>
              <a:ext uri="{FF2B5EF4-FFF2-40B4-BE49-F238E27FC236}">
                <a16:creationId xmlns:a16="http://schemas.microsoft.com/office/drawing/2014/main" id="{8815EB51-8F88-5B73-A694-FC125D95F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952" y="2723519"/>
            <a:ext cx="8331846" cy="3960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 err="1"/>
              <a:t>정규화란</a:t>
            </a:r>
            <a:r>
              <a:rPr lang="en-US" altLang="ko-KR" sz="2400" dirty="0"/>
              <a:t>?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CA0BF2-DCA0-AA3E-F874-92A794DBA6D6}"/>
              </a:ext>
            </a:extLst>
          </p:cNvPr>
          <p:cNvSpPr txBox="1"/>
          <p:nvPr/>
        </p:nvSpPr>
        <p:spPr>
          <a:xfrm>
            <a:off x="1064585" y="1493211"/>
            <a:ext cx="1015096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b="1" dirty="0"/>
              <a:t>속성의 주인</a:t>
            </a:r>
            <a:r>
              <a:rPr lang="en-US" altLang="ko-KR" sz="1400" b="1" dirty="0"/>
              <a:t>(</a:t>
            </a:r>
            <a:r>
              <a:rPr lang="ko-KR" altLang="en-US" sz="1400" b="1" dirty="0" err="1"/>
              <a:t>엔터티</a:t>
            </a:r>
            <a:r>
              <a:rPr lang="en-US" altLang="ko-KR" sz="1400" b="1" dirty="0"/>
              <a:t>)</a:t>
            </a:r>
            <a:r>
              <a:rPr lang="ko-KR" altLang="en-US" sz="1400" b="1" dirty="0"/>
              <a:t>을 찾는 과정이 정규화다</a:t>
            </a:r>
            <a:r>
              <a:rPr lang="en-US" altLang="ko-KR" sz="1400" b="1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b="1" i="0" u="sng" dirty="0">
                <a:solidFill>
                  <a:srgbClr val="FF0000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속성을 제자리에</a:t>
            </a:r>
            <a:r>
              <a:rPr lang="ko-KR" altLang="en-US" sz="1400" b="1" i="0" dirty="0"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 위치시키는 것</a:t>
            </a:r>
            <a:r>
              <a:rPr lang="en-US" altLang="ko-KR" sz="1400" b="1" i="0" dirty="0"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400" b="1" dirty="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더는 </a:t>
            </a:r>
            <a:r>
              <a:rPr lang="ko-KR" altLang="en-US" sz="1400" b="1" u="sng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분해</a:t>
            </a:r>
            <a:r>
              <a:rPr lang="ko-KR" altLang="en-US" sz="1400" b="1" dirty="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될 수 없는 </a:t>
            </a:r>
            <a:r>
              <a:rPr lang="ko-KR" altLang="en-US" sz="1400" b="1" dirty="0" err="1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엔터티가</a:t>
            </a:r>
            <a:r>
              <a:rPr lang="ko-KR" altLang="en-US" sz="1400" b="1" dirty="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정규형 </a:t>
            </a:r>
            <a:r>
              <a:rPr lang="ko-KR" altLang="en-US" sz="1400" b="1" dirty="0" err="1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엔터티다</a:t>
            </a:r>
            <a:r>
              <a:rPr lang="en-US" altLang="ko-KR" sz="1400" b="1" dirty="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b="1" dirty="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정규화는 </a:t>
            </a:r>
            <a:r>
              <a:rPr lang="ko-KR" altLang="en-US" sz="1400" b="1" u="sng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중복제거가 목적</a:t>
            </a:r>
            <a:r>
              <a:rPr lang="ko-KR" altLang="en-US" sz="1400" b="1" dirty="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이며</a:t>
            </a:r>
            <a:r>
              <a:rPr lang="en-US" altLang="ko-KR" sz="1400" b="1" dirty="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1" dirty="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성능 최적화를 위함은 아니다</a:t>
            </a:r>
            <a:r>
              <a:rPr lang="en-US" altLang="ko-KR" sz="1400" b="1" dirty="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b="1" dirty="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추가할 속성이 없는 모델 보다는 </a:t>
            </a:r>
            <a:r>
              <a:rPr lang="ko-KR" altLang="en-US" sz="1400" b="1" u="sng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제거할 속성이 없는 모델</a:t>
            </a:r>
            <a:r>
              <a:rPr lang="ko-KR" altLang="en-US" sz="1400" b="1" dirty="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완벽한 모델이다</a:t>
            </a:r>
            <a:r>
              <a:rPr lang="en-US" altLang="ko-KR" sz="1400" b="1" dirty="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endParaRPr lang="ko-KR" altLang="en-US" sz="1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7DA5E7-AD44-7247-7482-BB24B91B6675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정규화 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en-US" altLang="ko-KR" sz="14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78DA5EB-7C89-91A5-3FDA-84C4ABD16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52627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정규화의 목적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CA0BF2-DCA0-AA3E-F874-92A794DBA6D6}"/>
              </a:ext>
            </a:extLst>
          </p:cNvPr>
          <p:cNvSpPr txBox="1"/>
          <p:nvPr/>
        </p:nvSpPr>
        <p:spPr>
          <a:xfrm>
            <a:off x="1020517" y="1493210"/>
            <a:ext cx="1083562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2800" b="1" i="0" u="sng" dirty="0">
                <a:solidFill>
                  <a:srgbClr val="FF0000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완전성</a:t>
            </a:r>
            <a:r>
              <a:rPr lang="en-US" altLang="ko-KR" sz="2800" b="1" i="0" u="sng" dirty="0">
                <a:solidFill>
                  <a:srgbClr val="FF0000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(Completeness)</a:t>
            </a:r>
            <a:endParaRPr lang="en-US" altLang="ko-KR" sz="1400" b="1" i="0" u="sng" dirty="0">
              <a:solidFill>
                <a:srgbClr val="FF0000"/>
              </a:solidFill>
              <a:effectLst/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정규화의 가장 커다란 목적 중의 하나는 중복 데이터를 제거하는 것으로 불완전한 데이터를 발생시키는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아노말리를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방지한다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lvl="1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아노말리가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생기지 않을수록 데이터 무결성은 높아지며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품질은 좋아지며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안정성과 신뢰성도 높아진다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lvl="1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데이터베이스는 데이터를 관리하는 저장소이기 때문에 데이터 이상이 없어야  완전해질 수 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A06293-991F-04D8-E32C-584AF2A2CF73}"/>
              </a:ext>
            </a:extLst>
          </p:cNvPr>
          <p:cNvSpPr txBox="1"/>
          <p:nvPr/>
        </p:nvSpPr>
        <p:spPr>
          <a:xfrm>
            <a:off x="6108802" y="846149"/>
            <a:ext cx="57343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/>
            <a:r>
              <a:rPr lang="ko-KR" altLang="en-US" b="1" i="0" u="none" strike="noStrike" dirty="0" err="1">
                <a:effectLst/>
                <a:latin typeface="-apple-system"/>
                <a:hlinkClick r:id="rId2"/>
              </a:rPr>
              <a:t>아노말리</a:t>
            </a:r>
            <a:r>
              <a:rPr lang="ko-KR" altLang="en-US" b="1" i="0" u="none" strike="noStrike" dirty="0">
                <a:effectLst/>
                <a:latin typeface="-apple-system"/>
                <a:hlinkClick r:id="rId2"/>
              </a:rPr>
              <a:t> </a:t>
            </a:r>
            <a:r>
              <a:rPr lang="en-US" altLang="ko-KR" b="0" i="0" u="none" strike="noStrike" dirty="0">
                <a:effectLst/>
                <a:latin typeface="-apple-system"/>
                <a:hlinkClick r:id="rId2"/>
              </a:rPr>
              <a:t>(anomaly)</a:t>
            </a:r>
          </a:p>
          <a:p>
            <a:pPr fontAlgn="t"/>
            <a:r>
              <a:rPr lang="ko-KR" altLang="en-US" sz="1400" b="0" i="0" dirty="0">
                <a:solidFill>
                  <a:srgbClr val="222225"/>
                </a:solidFill>
                <a:effectLst/>
                <a:latin typeface="-apple-system"/>
              </a:rPr>
              <a:t>데이터베이스가 추가</a:t>
            </a:r>
            <a:r>
              <a:rPr lang="en-US" altLang="ko-KR" sz="1400" b="0" i="0" dirty="0">
                <a:solidFill>
                  <a:srgbClr val="222225"/>
                </a:solidFill>
                <a:effectLst/>
                <a:latin typeface="-apple-system"/>
              </a:rPr>
              <a:t>, </a:t>
            </a:r>
            <a:r>
              <a:rPr lang="ko-KR" altLang="en-US" sz="1400" b="0" i="0" dirty="0">
                <a:solidFill>
                  <a:srgbClr val="222225"/>
                </a:solidFill>
                <a:effectLst/>
                <a:latin typeface="-apple-system"/>
              </a:rPr>
              <a:t>삭제 또는 변동이 될 때 생기는 불필요한 사항</a:t>
            </a:r>
            <a:r>
              <a:rPr lang="en-US" altLang="ko-KR" sz="1400" b="0" i="0" dirty="0">
                <a:solidFill>
                  <a:srgbClr val="222225"/>
                </a:solidFill>
                <a:effectLst/>
                <a:latin typeface="-apple-system"/>
              </a:rPr>
              <a:t>.</a:t>
            </a:r>
            <a:endParaRPr lang="en-US" altLang="ko-KR" b="0" i="0" u="none" strike="noStrike" dirty="0">
              <a:effectLst/>
              <a:latin typeface="-apple-system"/>
              <a:hlinkClick r:id="rId2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0D7065B-C431-40F6-B79F-F16F1B583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814" y="2831984"/>
            <a:ext cx="3768372" cy="29782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5828D4-2904-B06A-BB10-223EA7878937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정규화 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en-US" altLang="ko-KR" sz="14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C980650-824C-865A-D666-16F5DE7AE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41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7346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정규화의 목적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CA0BF2-DCA0-AA3E-F874-92A794DBA6D6}"/>
              </a:ext>
            </a:extLst>
          </p:cNvPr>
          <p:cNvSpPr txBox="1"/>
          <p:nvPr/>
        </p:nvSpPr>
        <p:spPr>
          <a:xfrm>
            <a:off x="1020517" y="1493210"/>
            <a:ext cx="1083562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2800" b="1" i="0" u="sng" dirty="0" err="1">
                <a:solidFill>
                  <a:srgbClr val="FF0000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확정성</a:t>
            </a:r>
            <a:r>
              <a:rPr lang="en-US" altLang="ko-KR" sz="2800" b="1" i="0" u="sng" dirty="0">
                <a:solidFill>
                  <a:srgbClr val="FF0000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(Flexibility)</a:t>
            </a:r>
          </a:p>
          <a:p>
            <a:pPr lvl="1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정규화를 수행하면 모델의 확장성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(Flexibility)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좋아진다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lvl="1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 종속을 기반으로 속성을 결정자와  종속자로 구분해 모델 구조를 정의하기 때문에 데이터의 성격에 맞는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엔터티가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설계된다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lvl="1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데이터의 정체성이 그대로 반영된 모델 구조에서는 업무가 수정되거나 추가돼도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엔터티에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반영하기 수월해 진다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lvl="1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엔터티간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명확하게 정의돼 있다면 추가 업무가 발생했을 때 이미 존재하는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엔터티에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통합할지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별도의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엔터티를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추가할 지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 </a:t>
            </a:r>
          </a:p>
          <a:p>
            <a:pPr lvl="1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속성으로 추가할지가 명확해자고 그에 따른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엔터티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간의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관계도 명확해 진다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A06293-991F-04D8-E32C-584AF2A2CF73}"/>
              </a:ext>
            </a:extLst>
          </p:cNvPr>
          <p:cNvSpPr txBox="1"/>
          <p:nvPr/>
        </p:nvSpPr>
        <p:spPr>
          <a:xfrm>
            <a:off x="6108802" y="846146"/>
            <a:ext cx="57821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/>
            <a:r>
              <a:rPr lang="ko-KR" altLang="en-US" b="1" i="0" u="none" strike="noStrike" dirty="0" err="1">
                <a:effectLst/>
                <a:latin typeface="-apple-system"/>
                <a:hlinkClick r:id="rId2"/>
              </a:rPr>
              <a:t>아노말리</a:t>
            </a:r>
            <a:r>
              <a:rPr lang="ko-KR" altLang="en-US" b="1" i="0" u="none" strike="noStrike" dirty="0">
                <a:effectLst/>
                <a:latin typeface="-apple-system"/>
                <a:hlinkClick r:id="rId2"/>
              </a:rPr>
              <a:t> </a:t>
            </a:r>
            <a:r>
              <a:rPr lang="en-US" altLang="ko-KR" b="0" i="0" u="none" strike="noStrike" dirty="0">
                <a:effectLst/>
                <a:latin typeface="-apple-system"/>
                <a:hlinkClick r:id="rId2"/>
              </a:rPr>
              <a:t>(anomaly)</a:t>
            </a:r>
          </a:p>
          <a:p>
            <a:pPr fontAlgn="t"/>
            <a:r>
              <a:rPr lang="ko-KR" altLang="en-US" sz="1400" b="0" i="0" dirty="0">
                <a:solidFill>
                  <a:srgbClr val="222225"/>
                </a:solidFill>
                <a:effectLst/>
                <a:latin typeface="-apple-system"/>
              </a:rPr>
              <a:t>데이터베이스가 추가</a:t>
            </a:r>
            <a:r>
              <a:rPr lang="en-US" altLang="ko-KR" sz="1400" b="0" i="0" dirty="0">
                <a:solidFill>
                  <a:srgbClr val="222225"/>
                </a:solidFill>
                <a:effectLst/>
                <a:latin typeface="-apple-system"/>
              </a:rPr>
              <a:t>, </a:t>
            </a:r>
            <a:r>
              <a:rPr lang="ko-KR" altLang="en-US" sz="1400" b="0" i="0" dirty="0">
                <a:solidFill>
                  <a:srgbClr val="222225"/>
                </a:solidFill>
                <a:effectLst/>
                <a:latin typeface="-apple-system"/>
              </a:rPr>
              <a:t>삭제 또는 변동이 될 때 생기는 불필요한 사항</a:t>
            </a:r>
            <a:r>
              <a:rPr lang="en-US" altLang="ko-KR" sz="1400" b="0" i="0" dirty="0">
                <a:solidFill>
                  <a:srgbClr val="222225"/>
                </a:solidFill>
                <a:effectLst/>
                <a:latin typeface="-apple-system"/>
              </a:rPr>
              <a:t>.</a:t>
            </a:r>
            <a:endParaRPr lang="en-US" altLang="ko-KR" b="0" i="0" u="none" strike="noStrike" dirty="0">
              <a:effectLst/>
              <a:latin typeface="-apple-system"/>
              <a:hlinkClick r:id="rId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A051F9-A0AF-EBC3-C4EB-D3DA4D6A1FCA}"/>
              </a:ext>
            </a:extLst>
          </p:cNvPr>
          <p:cNvSpPr txBox="1"/>
          <p:nvPr/>
        </p:nvSpPr>
        <p:spPr>
          <a:xfrm>
            <a:off x="1020517" y="3105960"/>
            <a:ext cx="1083562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2400" b="1" i="0" u="sng" dirty="0" err="1">
                <a:solidFill>
                  <a:srgbClr val="FF0000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아노말리</a:t>
            </a:r>
            <a:r>
              <a:rPr lang="ko-KR" altLang="en-US" sz="2400" b="1" i="0" u="sng" dirty="0">
                <a:solidFill>
                  <a:srgbClr val="FF0000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 제거</a:t>
            </a:r>
            <a:endParaRPr lang="en-US" altLang="ko-KR" sz="2400" b="1" i="0" u="sng" dirty="0">
              <a:solidFill>
                <a:srgbClr val="FF0000"/>
              </a:solidFill>
              <a:effectLst/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업데이트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아노말리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릴레이션에서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속성의 값을 업데이트할 때 발생하는 데이터 이상 현상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삭제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아노말리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릴레이션에서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인스턴스를 삭제할 때 발생하는 데이터 이상 현상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삽입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아노말리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릴레이션에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새로운 인스턴스를 삽입할 때 발생하는 데이터 이상 현상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뿐만 아니라 애플리케이션도 신뢰하지 못하게 만드는 </a:t>
            </a:r>
            <a:r>
              <a:rPr lang="ko-KR" altLang="en-US" sz="14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아노말리를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최소화할 수 있도록 정규형 모델로 설계해야 한다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75B332-0120-2DE7-5728-79B16556D6E9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정규화 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en-US" altLang="ko-KR" sz="14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C4308E9-03CA-C1E2-7A10-B67C888F4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42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5957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  <a:cs typeface="ADLaM Display" panose="02010000000000000000" pitchFamily="2" charset="0"/>
              </a:rPr>
              <a:t>함수 종속이란</a:t>
            </a:r>
            <a:r>
              <a:rPr lang="en-US" altLang="ko-K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CA0BF2-DCA0-AA3E-F874-92A794DBA6D6}"/>
              </a:ext>
            </a:extLst>
          </p:cNvPr>
          <p:cNvSpPr txBox="1"/>
          <p:nvPr/>
        </p:nvSpPr>
        <p:spPr>
          <a:xfrm>
            <a:off x="1064585" y="1493211"/>
            <a:ext cx="1015096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400" b="1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함수 종속은 관계형 모델을 설계할 때 가장 중요한 데이터 종속성</a:t>
            </a:r>
            <a:r>
              <a:rPr lang="en-US" altLang="ko-KR" sz="1400" b="1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(Data Dependency)</a:t>
            </a:r>
            <a:r>
              <a:rPr lang="ko-KR" altLang="en-US" sz="1400" b="1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이다</a:t>
            </a:r>
            <a:r>
              <a:rPr lang="en-US" altLang="ko-KR" sz="1400" b="1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400" b="1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데이터 종속성에는 </a:t>
            </a:r>
            <a:endParaRPr lang="en-US" altLang="ko-KR" sz="1400" b="1" i="0" dirty="0">
              <a:effectLst/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400" b="1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함수 종속</a:t>
            </a:r>
            <a:r>
              <a:rPr lang="en-US" altLang="ko-KR" sz="1400" b="1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(Functional Dependency)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400" b="1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다가 종속</a:t>
            </a:r>
            <a:r>
              <a:rPr lang="en-US" altLang="ko-KR" sz="1400" b="1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(Multivalued  Dependency)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400" b="1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조인 종속</a:t>
            </a:r>
            <a:r>
              <a:rPr lang="en-US" altLang="ko-KR" sz="1400" b="1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(Join Dependency 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400" b="1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파생 종속</a:t>
            </a:r>
            <a:r>
              <a:rPr lang="en-US" altLang="ko-KR" sz="1400" b="1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(Derivation Dependency) </a:t>
            </a:r>
            <a:r>
              <a:rPr lang="ko-KR" altLang="en-US" sz="1400" b="1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등이 있다</a:t>
            </a:r>
            <a:endParaRPr lang="ko-KR" altLang="en-US" sz="1400" b="1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B57E79A-D2F4-A77E-C26B-740504F9BC53}"/>
              </a:ext>
            </a:extLst>
          </p:cNvPr>
          <p:cNvSpPr/>
          <p:nvPr/>
        </p:nvSpPr>
        <p:spPr>
          <a:xfrm>
            <a:off x="1069881" y="2722220"/>
            <a:ext cx="3217061" cy="509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함수종속</a:t>
            </a:r>
            <a:r>
              <a:rPr lang="en-US" altLang="ko-KR" sz="1400" b="1" dirty="0"/>
              <a:t>(Functional Dependency)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2A62A99-30A5-EC98-9C05-F1048EBF4024}"/>
              </a:ext>
            </a:extLst>
          </p:cNvPr>
          <p:cNvSpPr/>
          <p:nvPr/>
        </p:nvSpPr>
        <p:spPr>
          <a:xfrm>
            <a:off x="1069881" y="3635096"/>
            <a:ext cx="3217061" cy="509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다치 종속</a:t>
            </a:r>
            <a:r>
              <a:rPr lang="en-US" altLang="ko-KR" sz="1400" b="1" dirty="0"/>
              <a:t>(Multivalued  Dependency)</a:t>
            </a:r>
            <a:endParaRPr lang="ko-KR" altLang="en-US" sz="14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80D859F-20E0-CDEC-74B9-D5D573CCF57B}"/>
              </a:ext>
            </a:extLst>
          </p:cNvPr>
          <p:cNvSpPr/>
          <p:nvPr/>
        </p:nvSpPr>
        <p:spPr>
          <a:xfrm>
            <a:off x="1069881" y="4547972"/>
            <a:ext cx="3217061" cy="509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조인 종속</a:t>
            </a:r>
            <a:r>
              <a:rPr lang="en-US" altLang="ko-KR" sz="1400" b="1" dirty="0"/>
              <a:t>(Join Dependency 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217FDE9-601B-C1AC-6889-DD29ED3C1635}"/>
              </a:ext>
            </a:extLst>
          </p:cNvPr>
          <p:cNvSpPr/>
          <p:nvPr/>
        </p:nvSpPr>
        <p:spPr>
          <a:xfrm>
            <a:off x="1069881" y="5460848"/>
            <a:ext cx="3217061" cy="509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파생 종속</a:t>
            </a:r>
            <a:r>
              <a:rPr lang="en-US" altLang="ko-KR" sz="1400" b="1" dirty="0"/>
              <a:t>(Derivation Dependency)</a:t>
            </a:r>
            <a:endParaRPr lang="ko-KR" altLang="en-US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85387D-2A9F-C794-A932-25033EBCDF64}"/>
              </a:ext>
            </a:extLst>
          </p:cNvPr>
          <p:cNvSpPr txBox="1"/>
          <p:nvPr/>
        </p:nvSpPr>
        <p:spPr>
          <a:xfrm>
            <a:off x="4371026" y="2724243"/>
            <a:ext cx="74721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관계 모델에서 데이터 의미를 표현하는 방법의 하나</a:t>
            </a:r>
            <a:r>
              <a:rPr lang="en-US" altLang="ko-KR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관계 </a:t>
            </a:r>
            <a:r>
              <a:rPr lang="en-US" altLang="ko-KR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R</a:t>
            </a:r>
            <a:r>
              <a:rPr lang="ko-KR" altLang="en-US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의 임의 속성 집합 </a:t>
            </a:r>
            <a:r>
              <a:rPr lang="en-US" altLang="ko-KR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X, Y</a:t>
            </a:r>
            <a:r>
              <a:rPr lang="ko-KR" altLang="en-US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에서 </a:t>
            </a:r>
            <a:r>
              <a:rPr lang="en-US" altLang="ko-KR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X </a:t>
            </a:r>
            <a:r>
              <a:rPr lang="ko-KR" altLang="en-US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속성값이 정해지면 대응하는 </a:t>
            </a:r>
            <a:r>
              <a:rPr lang="en-US" altLang="ko-KR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Y </a:t>
            </a:r>
            <a:r>
              <a:rPr lang="ko-KR" altLang="en-US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속성값이 한 가지로 정해질 때</a:t>
            </a:r>
            <a:r>
              <a:rPr lang="en-US" altLang="ko-KR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「</a:t>
            </a:r>
            <a:r>
              <a:rPr lang="en-US" altLang="ko-KR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Y</a:t>
            </a:r>
            <a:r>
              <a:rPr lang="ko-KR" altLang="en-US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는 </a:t>
            </a:r>
            <a:r>
              <a:rPr lang="en-US" altLang="ko-KR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r>
              <a:rPr lang="ko-KR" altLang="en-US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에 함수 </a:t>
            </a:r>
            <a:r>
              <a:rPr lang="ko-KR" altLang="en-US" sz="1200" i="0" dirty="0" err="1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종속이다」라고</a:t>
            </a:r>
            <a:r>
              <a:rPr lang="ko-KR" altLang="en-US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 한다</a:t>
            </a:r>
            <a:r>
              <a:rPr lang="en-US" altLang="ko-KR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그리고 </a:t>
            </a:r>
            <a:r>
              <a:rPr lang="en-US" altLang="ko-KR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X → Y</a:t>
            </a:r>
            <a:r>
              <a:rPr lang="ko-KR" altLang="en-US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로 쓴다</a:t>
            </a:r>
            <a:r>
              <a:rPr lang="en-US" altLang="ko-KR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 y=f(x)</a:t>
            </a:r>
            <a:r>
              <a:rPr lang="ko-KR" altLang="en-US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로부터 연상된 명명이다</a:t>
            </a:r>
            <a:r>
              <a:rPr lang="en-US" altLang="ko-KR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7F217C-83E8-1340-683E-58F10D4ED10A}"/>
              </a:ext>
            </a:extLst>
          </p:cNvPr>
          <p:cNvSpPr txBox="1"/>
          <p:nvPr/>
        </p:nvSpPr>
        <p:spPr>
          <a:xfrm>
            <a:off x="4371026" y="3635096"/>
            <a:ext cx="74721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관계 모델에서 데이터의 의미를 표현하는 방법의 하나</a:t>
            </a:r>
            <a:r>
              <a:rPr lang="en-US" altLang="ko-KR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관계 </a:t>
            </a:r>
            <a:r>
              <a:rPr lang="en-US" altLang="ko-KR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R</a:t>
            </a:r>
            <a:r>
              <a:rPr lang="ko-KR" altLang="en-US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의 상호 요소인 속성 집합 </a:t>
            </a:r>
            <a:r>
              <a:rPr lang="en-US" altLang="ko-KR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X, Y, Z</a:t>
            </a:r>
            <a:r>
              <a:rPr lang="ko-KR" altLang="en-US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에서 </a:t>
            </a:r>
            <a:r>
              <a:rPr lang="en-US" altLang="ko-KR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r>
              <a:rPr lang="ko-KR" altLang="en-US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의 속성값이 정해지면 </a:t>
            </a:r>
            <a:endParaRPr lang="en-US" altLang="ko-KR" sz="1200" i="0" dirty="0">
              <a:effectLst/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대응하는 </a:t>
            </a:r>
            <a:r>
              <a:rPr lang="en-US" altLang="ko-KR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Y</a:t>
            </a:r>
            <a:r>
              <a:rPr lang="ko-KR" altLang="en-US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의 속성값의 집합이 </a:t>
            </a:r>
            <a:r>
              <a:rPr lang="en-US" altLang="ko-KR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Z</a:t>
            </a:r>
            <a:r>
              <a:rPr lang="ko-KR" altLang="en-US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속성값에도 불구하고 일의적으로 정해질 때</a:t>
            </a:r>
            <a:r>
              <a:rPr lang="en-US" altLang="ko-KR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Y</a:t>
            </a:r>
            <a:r>
              <a:rPr lang="ko-KR" altLang="en-US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는 </a:t>
            </a:r>
            <a:r>
              <a:rPr lang="en-US" altLang="ko-KR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r>
              <a:rPr lang="ko-KR" altLang="en-US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에 </a:t>
            </a:r>
            <a:r>
              <a:rPr lang="en-US" altLang="ko-KR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r>
              <a:rPr lang="ko-KR" altLang="en-US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에 「다치 </a:t>
            </a:r>
            <a:r>
              <a:rPr lang="ko-KR" altLang="en-US" sz="1200" i="0" dirty="0" err="1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종속이다」라고</a:t>
            </a:r>
            <a:r>
              <a:rPr lang="ko-KR" altLang="en-US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 하고 </a:t>
            </a:r>
            <a:r>
              <a:rPr lang="en-US" altLang="ko-KR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X→→Y</a:t>
            </a:r>
            <a:r>
              <a:rPr lang="ko-KR" altLang="en-US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라고 쓴다</a:t>
            </a:r>
            <a:r>
              <a:rPr lang="en-US" altLang="ko-KR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 X→Y</a:t>
            </a:r>
            <a:r>
              <a:rPr lang="ko-KR" altLang="en-US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라면 </a:t>
            </a:r>
            <a:r>
              <a:rPr lang="en-US" altLang="ko-KR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X→→Y</a:t>
            </a:r>
            <a:r>
              <a:rPr lang="ko-KR" altLang="en-US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이다</a:t>
            </a:r>
            <a:r>
              <a:rPr lang="en-US" altLang="ko-KR" sz="1200" i="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629CA4-4992-57E2-28FF-AD674CA79FAF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정규화 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en-US" altLang="ko-KR" sz="14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674F251A-5A53-09B7-A6B0-B7D66971E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1460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421564F-F583-BCF1-FAB9-5E4E5C9B4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63" y="2003539"/>
            <a:ext cx="11383673" cy="39359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2DEED4-9E6A-2D6F-7CC3-5BCCED622F3B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A25B5B-DB14-1E7D-4026-069AF0F7CE36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제</a:t>
            </a:r>
            <a:r>
              <a:rPr lang="en-US" altLang="ko-KR" sz="2400" dirty="0"/>
              <a:t>1</a:t>
            </a:r>
            <a:r>
              <a:rPr lang="ko-KR" altLang="en-US" sz="2400" dirty="0"/>
              <a:t>정규형</a:t>
            </a:r>
            <a:r>
              <a:rPr lang="en-US" altLang="ko-KR" sz="2400" dirty="0"/>
              <a:t>(1NF)</a:t>
            </a:r>
            <a:r>
              <a:rPr lang="en-US" altLang="ko-KR" sz="1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- First Normal Form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이등변 삼각형 10">
            <a:extLst>
              <a:ext uri="{FF2B5EF4-FFF2-40B4-BE49-F238E27FC236}">
                <a16:creationId xmlns:a16="http://schemas.microsoft.com/office/drawing/2014/main" id="{AAC73D92-5193-F024-8B58-94583C6493F4}"/>
              </a:ext>
            </a:extLst>
          </p:cNvPr>
          <p:cNvSpPr/>
          <p:nvPr/>
        </p:nvSpPr>
        <p:spPr>
          <a:xfrm rot="10800000">
            <a:off x="3833867" y="3428949"/>
            <a:ext cx="199819" cy="21562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9F2F77-71F9-B804-044E-BA4F39CDA858}"/>
              </a:ext>
            </a:extLst>
          </p:cNvPr>
          <p:cNvSpPr txBox="1"/>
          <p:nvPr/>
        </p:nvSpPr>
        <p:spPr>
          <a:xfrm>
            <a:off x="1064585" y="1498470"/>
            <a:ext cx="101509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b="1" i="0" dirty="0"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릴레이션이 제</a:t>
            </a:r>
            <a:r>
              <a:rPr lang="en-US" altLang="ko-KR" sz="1400" b="1" i="0" dirty="0"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400" b="1" i="0" dirty="0"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정규형에 속하기 위해서는 </a:t>
            </a:r>
            <a:r>
              <a:rPr lang="ko-KR" altLang="en-US" sz="1400" b="1" i="0" dirty="0" err="1"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릴레이션에</a:t>
            </a:r>
            <a:r>
              <a:rPr lang="ko-KR" altLang="en-US" sz="1400" b="1" i="0" dirty="0"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 속한 모든 속성이 더는 분해되지 않는 </a:t>
            </a:r>
            <a:r>
              <a:rPr lang="ko-KR" altLang="en-US" sz="1400" b="1" i="0" u="sng" dirty="0">
                <a:solidFill>
                  <a:srgbClr val="FF0000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원자 값만 가져야 한다</a:t>
            </a:r>
            <a:r>
              <a:rPr lang="en-US" altLang="ko-KR" sz="1400" b="1" i="0" dirty="0"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053D6E-FC7F-B3EB-213A-7EFA677F9259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정규화 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en-US" altLang="ko-KR" sz="14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D0A4E8-89B3-9FBD-CA3A-C90317CF9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44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88297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9DCFDA10-F6AA-919E-30DC-1A8B8C5B2566}"/>
              </a:ext>
            </a:extLst>
          </p:cNvPr>
          <p:cNvSpPr/>
          <p:nvPr/>
        </p:nvSpPr>
        <p:spPr>
          <a:xfrm>
            <a:off x="6252920" y="2181339"/>
            <a:ext cx="5590213" cy="3211683"/>
          </a:xfrm>
          <a:prstGeom prst="roundRect">
            <a:avLst>
              <a:gd name="adj" fmla="val 6383"/>
            </a:avLst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2DEED4-9E6A-2D6F-7CC3-5BCCED622F3B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A25B5B-DB14-1E7D-4026-069AF0F7CE36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제</a:t>
            </a:r>
            <a:r>
              <a:rPr lang="en-US" altLang="ko-KR" sz="2400" dirty="0"/>
              <a:t>1</a:t>
            </a:r>
            <a:r>
              <a:rPr lang="ko-KR" altLang="en-US" sz="2400" dirty="0"/>
              <a:t>정규형</a:t>
            </a:r>
            <a:r>
              <a:rPr lang="en-US" altLang="ko-KR" sz="2400" dirty="0"/>
              <a:t>(1NF)</a:t>
            </a:r>
            <a:r>
              <a:rPr lang="en-US" altLang="ko-KR" sz="1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- First Normal Form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8C5FC4-A183-45DA-9DA4-FF4FA9189A00}"/>
              </a:ext>
            </a:extLst>
          </p:cNvPr>
          <p:cNvSpPr txBox="1"/>
          <p:nvPr/>
        </p:nvSpPr>
        <p:spPr>
          <a:xfrm>
            <a:off x="1064585" y="1498470"/>
            <a:ext cx="101509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b="1" i="0" dirty="0"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릴레이션이 제</a:t>
            </a:r>
            <a:r>
              <a:rPr lang="en-US" altLang="ko-KR" sz="1400" b="1" i="0" dirty="0"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400" b="1" i="0" dirty="0"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정규형에 속하기 위해서는 </a:t>
            </a:r>
            <a:r>
              <a:rPr lang="ko-KR" altLang="en-US" sz="1400" b="1" i="0" dirty="0" err="1"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릴레이션에</a:t>
            </a:r>
            <a:r>
              <a:rPr lang="ko-KR" altLang="en-US" sz="1400" b="1" i="0" dirty="0"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 속한 모든 속성이 더는 분해되지 않는 원자 값만 가져야 한다</a:t>
            </a:r>
            <a:r>
              <a:rPr lang="en-US" altLang="ko-KR" sz="1400" b="1" i="0" dirty="0"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b="1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757B0A2-90F0-0952-B477-2DDE0EC1A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149268"/>
              </p:ext>
            </p:extLst>
          </p:nvPr>
        </p:nvGraphicFramePr>
        <p:xfrm>
          <a:off x="704861" y="2304066"/>
          <a:ext cx="503141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6283">
                  <a:extLst>
                    <a:ext uri="{9D8B030D-6E8A-4147-A177-3AD203B41FA5}">
                      <a16:colId xmlns:a16="http://schemas.microsoft.com/office/drawing/2014/main" val="2744778448"/>
                    </a:ext>
                  </a:extLst>
                </a:gridCol>
                <a:gridCol w="1472097">
                  <a:extLst>
                    <a:ext uri="{9D8B030D-6E8A-4147-A177-3AD203B41FA5}">
                      <a16:colId xmlns:a16="http://schemas.microsoft.com/office/drawing/2014/main" val="1944879708"/>
                    </a:ext>
                  </a:extLst>
                </a:gridCol>
                <a:gridCol w="958611">
                  <a:extLst>
                    <a:ext uri="{9D8B030D-6E8A-4147-A177-3AD203B41FA5}">
                      <a16:colId xmlns:a16="http://schemas.microsoft.com/office/drawing/2014/main" val="1746824940"/>
                    </a:ext>
                  </a:extLst>
                </a:gridCol>
                <a:gridCol w="870576">
                  <a:extLst>
                    <a:ext uri="{9D8B030D-6E8A-4147-A177-3AD203B41FA5}">
                      <a16:colId xmlns:a16="http://schemas.microsoft.com/office/drawing/2014/main" val="1070507928"/>
                    </a:ext>
                  </a:extLst>
                </a:gridCol>
                <a:gridCol w="723849">
                  <a:extLst>
                    <a:ext uri="{9D8B030D-6E8A-4147-A177-3AD203B41FA5}">
                      <a16:colId xmlns:a16="http://schemas.microsoft.com/office/drawing/2014/main" val="1502413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고객 아이디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이벤트 번호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당첨 여부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등급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할인율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extLst>
                  <a:ext uri="{0D108BD9-81ED-4DB2-BD59-A6C34878D82A}">
                    <a16:rowId xmlns:a16="http://schemas.microsoft.com/office/drawing/2014/main" val="1885145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apple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F000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E001, E005, E010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F000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Y, N, Y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gold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10%</a:t>
                      </a:r>
                    </a:p>
                  </a:txBody>
                  <a:tcPr marL="74648" marR="74648" marT="62206" marB="46655" anchor="ctr"/>
                </a:tc>
                <a:extLst>
                  <a:ext uri="{0D108BD9-81ED-4DB2-BD59-A6C34878D82A}">
                    <a16:rowId xmlns:a16="http://schemas.microsoft.com/office/drawing/2014/main" val="3234134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banana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F000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E002, E005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F000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N, Y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vip</a:t>
                      </a:r>
                      <a:endParaRPr lang="en-US" sz="1200" dirty="0"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20%</a:t>
                      </a:r>
                    </a:p>
                  </a:txBody>
                  <a:tcPr marL="74648" marR="74648" marT="62206" marB="46655" anchor="ctr"/>
                </a:tc>
                <a:extLst>
                  <a:ext uri="{0D108BD9-81ED-4DB2-BD59-A6C34878D82A}">
                    <a16:rowId xmlns:a16="http://schemas.microsoft.com/office/drawing/2014/main" val="2396131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carrot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F000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E003, E007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F000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Y, Y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gold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10%</a:t>
                      </a:r>
                    </a:p>
                  </a:txBody>
                  <a:tcPr marL="74648" marR="74648" marT="62206" marB="46655" anchor="ctr"/>
                </a:tc>
                <a:extLst>
                  <a:ext uri="{0D108BD9-81ED-4DB2-BD59-A6C34878D82A}">
                    <a16:rowId xmlns:a16="http://schemas.microsoft.com/office/drawing/2014/main" val="69222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orange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E004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N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silver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5%</a:t>
                      </a:r>
                    </a:p>
                  </a:txBody>
                  <a:tcPr marL="74648" marR="74648" marT="62206" marB="46655" anchor="ctr"/>
                </a:tc>
                <a:extLst>
                  <a:ext uri="{0D108BD9-81ED-4DB2-BD59-A6C34878D82A}">
                    <a16:rowId xmlns:a16="http://schemas.microsoft.com/office/drawing/2014/main" val="1853334501"/>
                  </a:ext>
                </a:extLst>
              </a:tr>
            </a:tbl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A9C7215D-8E3F-9EDF-FB37-12B8C9D1F471}"/>
              </a:ext>
            </a:extLst>
          </p:cNvPr>
          <p:cNvGrpSpPr/>
          <p:nvPr/>
        </p:nvGrpSpPr>
        <p:grpSpPr>
          <a:xfrm>
            <a:off x="5839927" y="3074246"/>
            <a:ext cx="313840" cy="313840"/>
            <a:chOff x="2522861" y="4803352"/>
            <a:chExt cx="1145755" cy="1145755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D6AE6F4E-3BBE-EB27-A1E1-05DACD24B613}"/>
                </a:ext>
              </a:extLst>
            </p:cNvPr>
            <p:cNvSpPr/>
            <p:nvPr/>
          </p:nvSpPr>
          <p:spPr>
            <a:xfrm>
              <a:off x="2522861" y="4803352"/>
              <a:ext cx="1145755" cy="1145755"/>
            </a:xfrm>
            <a:prstGeom prst="ellipse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L 도형 15">
              <a:extLst>
                <a:ext uri="{FF2B5EF4-FFF2-40B4-BE49-F238E27FC236}">
                  <a16:creationId xmlns:a16="http://schemas.microsoft.com/office/drawing/2014/main" id="{AA8DF6EF-0B16-BA59-49AF-9792AD97FA45}"/>
                </a:ext>
              </a:extLst>
            </p:cNvPr>
            <p:cNvSpPr/>
            <p:nvPr/>
          </p:nvSpPr>
          <p:spPr>
            <a:xfrm rot="13500000">
              <a:off x="2699130" y="5054369"/>
              <a:ext cx="683046" cy="683046"/>
            </a:xfrm>
            <a:prstGeom prst="corner">
              <a:avLst>
                <a:gd name="adj1" fmla="val 32258"/>
                <a:gd name="adj2" fmla="val 33871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B86F357D-FECE-42F6-604A-15C4980B59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567106"/>
              </p:ext>
            </p:extLst>
          </p:nvPr>
        </p:nvGraphicFramePr>
        <p:xfrm>
          <a:off x="6455723" y="2304066"/>
          <a:ext cx="5031416" cy="290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6283">
                  <a:extLst>
                    <a:ext uri="{9D8B030D-6E8A-4147-A177-3AD203B41FA5}">
                      <a16:colId xmlns:a16="http://schemas.microsoft.com/office/drawing/2014/main" val="2744778448"/>
                    </a:ext>
                  </a:extLst>
                </a:gridCol>
                <a:gridCol w="1472097">
                  <a:extLst>
                    <a:ext uri="{9D8B030D-6E8A-4147-A177-3AD203B41FA5}">
                      <a16:colId xmlns:a16="http://schemas.microsoft.com/office/drawing/2014/main" val="1944879708"/>
                    </a:ext>
                  </a:extLst>
                </a:gridCol>
                <a:gridCol w="958611">
                  <a:extLst>
                    <a:ext uri="{9D8B030D-6E8A-4147-A177-3AD203B41FA5}">
                      <a16:colId xmlns:a16="http://schemas.microsoft.com/office/drawing/2014/main" val="1746824940"/>
                    </a:ext>
                  </a:extLst>
                </a:gridCol>
                <a:gridCol w="870576">
                  <a:extLst>
                    <a:ext uri="{9D8B030D-6E8A-4147-A177-3AD203B41FA5}">
                      <a16:colId xmlns:a16="http://schemas.microsoft.com/office/drawing/2014/main" val="1070507928"/>
                    </a:ext>
                  </a:extLst>
                </a:gridCol>
                <a:gridCol w="723849">
                  <a:extLst>
                    <a:ext uri="{9D8B030D-6E8A-4147-A177-3AD203B41FA5}">
                      <a16:colId xmlns:a16="http://schemas.microsoft.com/office/drawing/2014/main" val="1502413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고객 아이디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이벤트 번호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당첨 여부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등급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할인율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extLst>
                  <a:ext uri="{0D108BD9-81ED-4DB2-BD59-A6C34878D82A}">
                    <a16:rowId xmlns:a16="http://schemas.microsoft.com/office/drawing/2014/main" val="1885145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apple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E001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Y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gold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10%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3234134965"/>
                  </a:ext>
                </a:extLst>
              </a:tr>
              <a:tr h="16812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apple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E005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N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gold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10%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629275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apple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E010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Y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gold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10%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1838631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banana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E002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N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vip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20%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2396131815"/>
                  </a:ext>
                </a:extLst>
              </a:tr>
              <a:tr h="168128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banana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E005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Y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vip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20%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223713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carrot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E003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Y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gold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10%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4095964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carrot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E007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Y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gold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10%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69222219"/>
                  </a:ext>
                </a:extLst>
              </a:tr>
              <a:tr h="168128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orange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E004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N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silver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5%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391004456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61E64BE-15B5-482F-6A11-E1BA39BF1EDC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정규화 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en-US" altLang="ko-KR" sz="14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305958D-6B3F-0C0C-D326-6581E3151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45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07877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42DEED4-9E6A-2D6F-7CC3-5BCCED622F3B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A25B5B-DB14-1E7D-4026-069AF0F7CE36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제</a:t>
            </a:r>
            <a:r>
              <a:rPr lang="en-US" altLang="ko-KR" sz="2400" dirty="0"/>
              <a:t>2</a:t>
            </a:r>
            <a:r>
              <a:rPr lang="ko-KR" altLang="en-US" sz="2400" dirty="0"/>
              <a:t>정규형</a:t>
            </a:r>
            <a:r>
              <a:rPr lang="en-US" altLang="ko-KR" sz="2400" dirty="0"/>
              <a:t>(2NF)</a:t>
            </a:r>
            <a:r>
              <a:rPr lang="en-US" altLang="ko-KR" sz="1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- Second Normal Form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  <a:cs typeface="ADLaM Display" panose="02010000000000000000" pitchFamily="2" charset="0"/>
              </a:rPr>
              <a:t> - 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  <a:cs typeface="ADLaM Display" panose="02010000000000000000" pitchFamily="2" charset="0"/>
              </a:rPr>
              <a:t>부분 함수 종속 제거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4098" name="Picture 2" descr="[그림 9-16] 고객 릴레이션과 이벤트참여 릴레이션의 함수 종속 다이어그램">
            <a:extLst>
              <a:ext uri="{FF2B5EF4-FFF2-40B4-BE49-F238E27FC236}">
                <a16:creationId xmlns:a16="http://schemas.microsoft.com/office/drawing/2014/main" id="{2F59CEE5-BF74-AC95-48B9-782345815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75" y="2562225"/>
            <a:ext cx="5048250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3CB28D-85BA-7B02-21B4-FD0B430CB685}"/>
              </a:ext>
            </a:extLst>
          </p:cNvPr>
          <p:cNvSpPr txBox="1"/>
          <p:nvPr/>
        </p:nvSpPr>
        <p:spPr>
          <a:xfrm>
            <a:off x="1064585" y="1498470"/>
            <a:ext cx="101509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릴레이션이 제</a:t>
            </a:r>
            <a:r>
              <a:rPr lang="en-US" altLang="ko-KR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정규형에 속하고</a:t>
            </a:r>
            <a:r>
              <a:rPr lang="en-US" altLang="ko-KR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기본키가 아닌 </a:t>
            </a:r>
            <a:r>
              <a:rPr lang="ko-KR" altLang="en-US" sz="1400" b="1" i="0" u="sng" dirty="0">
                <a:solidFill>
                  <a:srgbClr val="FF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모든 속성이 기본키에 완전 함수 종속</a:t>
            </a: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되면 제</a:t>
            </a:r>
            <a:r>
              <a:rPr lang="en-US" altLang="ko-KR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정규형에 속한다</a:t>
            </a:r>
            <a:r>
              <a:rPr lang="en-US" altLang="ko-KR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제 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 </a:t>
            </a: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정규형은 주 식별자가 두 개 이상인 </a:t>
            </a:r>
            <a:r>
              <a:rPr lang="ko-KR" altLang="en-US" sz="14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릴레이션에서</a:t>
            </a: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생긴다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1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4490A6-D730-DAC4-3B66-8174B9075449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정규화 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en-US" altLang="ko-KR" sz="14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1132BE-6954-79E1-9385-8E05CF0D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CACCD7-8557-41B1-92F7-1998840D90CD}"/>
              </a:ext>
            </a:extLst>
          </p:cNvPr>
          <p:cNvSpPr txBox="1"/>
          <p:nvPr/>
        </p:nvSpPr>
        <p:spPr>
          <a:xfrm>
            <a:off x="8805349" y="815755"/>
            <a:ext cx="328712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/>
            <a:r>
              <a:rPr lang="en-US" altLang="ko-KR" b="1" i="0" u="none" strike="noStrike" dirty="0">
                <a:effectLst/>
                <a:latin typeface="-apple-system"/>
                <a:hlinkClick r:id="rId3"/>
              </a:rPr>
              <a:t>2</a:t>
            </a:r>
            <a:r>
              <a:rPr lang="ko-KR" altLang="en-US" b="1" i="0" u="none" strike="noStrike" dirty="0">
                <a:effectLst/>
                <a:latin typeface="-apple-system"/>
                <a:hlinkClick r:id="rId3"/>
              </a:rPr>
              <a:t>정규형</a:t>
            </a:r>
            <a:endParaRPr lang="en-US" altLang="ko-KR" b="0" i="0" u="none" strike="noStrike" dirty="0">
              <a:effectLst/>
              <a:latin typeface="-apple-system"/>
              <a:hlinkClick r:id="rId3"/>
            </a:endParaRPr>
          </a:p>
          <a:p>
            <a:pPr fontAlgn="t"/>
            <a:r>
              <a:rPr lang="en-US" altLang="ko-KR" sz="2000" b="1" i="0" dirty="0">
                <a:solidFill>
                  <a:srgbClr val="FF0000"/>
                </a:solidFill>
                <a:effectLst/>
                <a:latin typeface="-apple-system"/>
              </a:rPr>
              <a:t> </a:t>
            </a:r>
            <a:r>
              <a:rPr lang="ko-KR" altLang="en-US" sz="2000" b="1" i="0" dirty="0">
                <a:solidFill>
                  <a:srgbClr val="FF0000"/>
                </a:solidFill>
                <a:effectLst/>
                <a:latin typeface="-apple-system"/>
              </a:rPr>
              <a:t>식별자가 두 개 이상 일 때</a:t>
            </a:r>
            <a:r>
              <a:rPr lang="en-US" altLang="ko-KR" sz="2000" b="1" i="0" dirty="0">
                <a:solidFill>
                  <a:srgbClr val="FF0000"/>
                </a:solidFill>
                <a:effectLst/>
                <a:latin typeface="-apple-system"/>
              </a:rPr>
              <a:t>.</a:t>
            </a:r>
            <a:endParaRPr lang="en-US" altLang="ko-KR" sz="2800" b="1" i="0" u="none" strike="noStrike" dirty="0">
              <a:solidFill>
                <a:srgbClr val="FF0000"/>
              </a:solidFill>
              <a:effectLst/>
              <a:latin typeface="-apple-system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3208747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47968FA-911A-C0DF-70DA-757670468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11" y="2148701"/>
            <a:ext cx="11039577" cy="43845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4884DC-7AA2-D478-DE9F-67460A7D6E80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C08500-65BC-AD19-5ABB-34005F5564B2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제</a:t>
            </a:r>
            <a:r>
              <a:rPr lang="en-US" altLang="ko-KR" sz="2400" dirty="0"/>
              <a:t>2</a:t>
            </a:r>
            <a:r>
              <a:rPr lang="ko-KR" altLang="en-US" sz="2400" dirty="0"/>
              <a:t>정규형</a:t>
            </a:r>
            <a:r>
              <a:rPr lang="en-US" altLang="ko-KR" sz="2400" dirty="0"/>
              <a:t>(2NF)</a:t>
            </a:r>
            <a:r>
              <a:rPr lang="en-US" altLang="ko-KR" sz="1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- Second Normal Form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  <a:cs typeface="ADLaM Display" panose="02010000000000000000" pitchFamily="2" charset="0"/>
              </a:rPr>
              <a:t> - 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  <a:cs typeface="ADLaM Display" panose="02010000000000000000" pitchFamily="2" charset="0"/>
              </a:rPr>
              <a:t>부분 함수 종속 제거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2D1939-2605-2284-46FE-EBF5722AEE88}"/>
              </a:ext>
            </a:extLst>
          </p:cNvPr>
          <p:cNvSpPr txBox="1"/>
          <p:nvPr/>
        </p:nvSpPr>
        <p:spPr>
          <a:xfrm>
            <a:off x="1064585" y="1498470"/>
            <a:ext cx="101509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릴레이션이 제</a:t>
            </a:r>
            <a:r>
              <a:rPr lang="en-US" altLang="ko-KR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정규형에 속하고</a:t>
            </a:r>
            <a:r>
              <a:rPr lang="en-US" altLang="ko-KR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기본키가 아닌 </a:t>
            </a:r>
            <a:r>
              <a:rPr lang="ko-KR" altLang="en-US" sz="1400" b="1" i="0" u="sng" dirty="0">
                <a:solidFill>
                  <a:srgbClr val="FF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모든 속성이 기본키에 완전 함수 종속</a:t>
            </a: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되면 제</a:t>
            </a:r>
            <a:r>
              <a:rPr lang="en-US" altLang="ko-KR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정규형에 속한다</a:t>
            </a:r>
            <a:r>
              <a:rPr lang="en-US" altLang="ko-KR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제 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 </a:t>
            </a: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정규형은 주 식별자가 두 개 이상인 </a:t>
            </a:r>
            <a:r>
              <a:rPr lang="ko-KR" altLang="en-US" sz="14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릴레이션에서</a:t>
            </a: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생긴다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1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9" name="이등변 삼각형 8">
            <a:extLst>
              <a:ext uri="{FF2B5EF4-FFF2-40B4-BE49-F238E27FC236}">
                <a16:creationId xmlns:a16="http://schemas.microsoft.com/office/drawing/2014/main" id="{D125DC3A-2503-A205-CD29-86E9FEBD2232}"/>
              </a:ext>
            </a:extLst>
          </p:cNvPr>
          <p:cNvSpPr/>
          <p:nvPr/>
        </p:nvSpPr>
        <p:spPr>
          <a:xfrm rot="10800000">
            <a:off x="3833867" y="4233184"/>
            <a:ext cx="199819" cy="21562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6C1911-5770-EA5C-C544-FACC56C2B5B7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정규화 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en-US" altLang="ko-KR" sz="14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EB26E3-3F76-C797-B8CB-FFFBCF9DE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47</a:t>
            </a:fld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EBB26A-C887-4F7A-B23A-347432A19E85}"/>
              </a:ext>
            </a:extLst>
          </p:cNvPr>
          <p:cNvSpPr txBox="1"/>
          <p:nvPr/>
        </p:nvSpPr>
        <p:spPr>
          <a:xfrm>
            <a:off x="8805349" y="815755"/>
            <a:ext cx="324047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/>
            <a:r>
              <a:rPr lang="en-US" altLang="ko-KR" b="1" i="0" u="none" strike="noStrike" dirty="0">
                <a:effectLst/>
                <a:latin typeface="-apple-system"/>
                <a:hlinkClick r:id="rId3"/>
              </a:rPr>
              <a:t>2</a:t>
            </a:r>
            <a:r>
              <a:rPr lang="ko-KR" altLang="en-US" b="1" i="0" u="none" strike="noStrike" dirty="0">
                <a:effectLst/>
                <a:latin typeface="-apple-system"/>
                <a:hlinkClick r:id="rId3"/>
              </a:rPr>
              <a:t>정규형</a:t>
            </a:r>
            <a:endParaRPr lang="en-US" altLang="ko-KR" b="0" i="0" u="none" strike="noStrike" dirty="0">
              <a:effectLst/>
              <a:latin typeface="-apple-system"/>
              <a:hlinkClick r:id="rId3"/>
            </a:endParaRPr>
          </a:p>
          <a:p>
            <a:pPr fontAlgn="t"/>
            <a:r>
              <a:rPr lang="en-US" altLang="ko-KR" sz="2000" b="1" i="0" dirty="0">
                <a:solidFill>
                  <a:srgbClr val="FF0000"/>
                </a:solidFill>
                <a:effectLst/>
                <a:latin typeface="-apple-system"/>
              </a:rPr>
              <a:t> </a:t>
            </a:r>
            <a:r>
              <a:rPr lang="ko-KR" altLang="en-US" sz="2000" b="1" i="0" dirty="0">
                <a:solidFill>
                  <a:srgbClr val="FF0000"/>
                </a:solidFill>
                <a:effectLst/>
                <a:latin typeface="-apple-system"/>
              </a:rPr>
              <a:t>식별자가 두 개 이상 일 때</a:t>
            </a:r>
            <a:r>
              <a:rPr lang="en-US" altLang="ko-KR" sz="2000" b="1" i="0" dirty="0">
                <a:solidFill>
                  <a:srgbClr val="FF0000"/>
                </a:solidFill>
                <a:effectLst/>
                <a:latin typeface="-apple-system"/>
              </a:rPr>
              <a:t>.</a:t>
            </a:r>
            <a:endParaRPr lang="en-US" altLang="ko-KR" sz="2800" b="1" i="0" u="none" strike="noStrike" dirty="0">
              <a:solidFill>
                <a:srgbClr val="FF0000"/>
              </a:solidFill>
              <a:effectLst/>
              <a:latin typeface="-apple-system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35274152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A892BA0-3132-807A-4E08-AEE07816ADAB}"/>
              </a:ext>
            </a:extLst>
          </p:cNvPr>
          <p:cNvSpPr/>
          <p:nvPr/>
        </p:nvSpPr>
        <p:spPr>
          <a:xfrm>
            <a:off x="5660217" y="2247578"/>
            <a:ext cx="6182916" cy="3481193"/>
          </a:xfrm>
          <a:prstGeom prst="roundRect">
            <a:avLst>
              <a:gd name="adj" fmla="val 4765"/>
            </a:avLst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96B017E-8BBC-86B3-0136-B6779C848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64376" y="3661299"/>
            <a:ext cx="2433148" cy="6026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2DEED4-9E6A-2D6F-7CC3-5BCCED622F3B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A25B5B-DB14-1E7D-4026-069AF0F7CE36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제</a:t>
            </a:r>
            <a:r>
              <a:rPr lang="en-US" altLang="ko-KR" sz="2400" dirty="0"/>
              <a:t>2</a:t>
            </a:r>
            <a:r>
              <a:rPr lang="ko-KR" altLang="en-US" sz="2400" dirty="0"/>
              <a:t>정규형</a:t>
            </a:r>
            <a:r>
              <a:rPr lang="en-US" altLang="ko-KR" sz="2400" dirty="0"/>
              <a:t>(2NF)</a:t>
            </a:r>
            <a:r>
              <a:rPr lang="en-US" altLang="ko-KR" sz="1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- Second Normal Form </a:t>
            </a:r>
            <a:r>
              <a:rPr lang="en-US" altLang="ko-KR" sz="2000" dirty="0">
                <a:latin typeface="HY헤드라인M" panose="02030600000101010101" pitchFamily="18" charset="-127"/>
                <a:ea typeface="HY헤드라인M" panose="02030600000101010101" pitchFamily="18" charset="-127"/>
                <a:cs typeface="ADLaM Display" panose="02010000000000000000" pitchFamily="2" charset="0"/>
              </a:rPr>
              <a:t>- </a:t>
            </a:r>
            <a:r>
              <a: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  <a:cs typeface="ADLaM Display" panose="02010000000000000000" pitchFamily="2" charset="0"/>
              </a:rPr>
              <a:t>부분 함수 종속 제거</a:t>
            </a:r>
            <a:endParaRPr lang="en-US" altLang="ko-KR" sz="2400" dirty="0">
              <a:latin typeface="HY헤드라인M" panose="02030600000101010101" pitchFamily="18" charset="-127"/>
              <a:ea typeface="HY헤드라인M" panose="02030600000101010101" pitchFamily="18" charset="-127"/>
              <a:cs typeface="ADLaM Display" panose="02010000000000000000" pitchFamily="2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D0A49A5-B6F0-0D5B-0618-E6E0C157E9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095131"/>
              </p:ext>
            </p:extLst>
          </p:nvPr>
        </p:nvGraphicFramePr>
        <p:xfrm>
          <a:off x="5827659" y="2640110"/>
          <a:ext cx="2875563" cy="290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628">
                  <a:extLst>
                    <a:ext uri="{9D8B030D-6E8A-4147-A177-3AD203B41FA5}">
                      <a16:colId xmlns:a16="http://schemas.microsoft.com/office/drawing/2014/main" val="2744778448"/>
                    </a:ext>
                  </a:extLst>
                </a:gridCol>
                <a:gridCol w="1057619">
                  <a:extLst>
                    <a:ext uri="{9D8B030D-6E8A-4147-A177-3AD203B41FA5}">
                      <a16:colId xmlns:a16="http://schemas.microsoft.com/office/drawing/2014/main" val="1944879708"/>
                    </a:ext>
                  </a:extLst>
                </a:gridCol>
                <a:gridCol w="859316">
                  <a:extLst>
                    <a:ext uri="{9D8B030D-6E8A-4147-A177-3AD203B41FA5}">
                      <a16:colId xmlns:a16="http://schemas.microsoft.com/office/drawing/2014/main" val="17468249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고객 아이디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이벤트 번호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당첨 여부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extLst>
                  <a:ext uri="{0D108BD9-81ED-4DB2-BD59-A6C34878D82A}">
                    <a16:rowId xmlns:a16="http://schemas.microsoft.com/office/drawing/2014/main" val="1885145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apple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E001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Y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3234134965"/>
                  </a:ext>
                </a:extLst>
              </a:tr>
              <a:tr h="16812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apple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E005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N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629275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apple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E010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Y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1838631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banana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E002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N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2396131815"/>
                  </a:ext>
                </a:extLst>
              </a:tr>
              <a:tr h="168128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banana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E005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Y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223713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carrot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E003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Y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4095964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carrot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E007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Y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69222219"/>
                  </a:ext>
                </a:extLst>
              </a:tr>
              <a:tr h="168128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orange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E004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N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391004456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2210077-2E1F-AFC2-AB97-A4C69E425362}"/>
              </a:ext>
            </a:extLst>
          </p:cNvPr>
          <p:cNvSpPr txBox="1"/>
          <p:nvPr/>
        </p:nvSpPr>
        <p:spPr>
          <a:xfrm>
            <a:off x="5827659" y="2298737"/>
            <a:ext cx="26007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b="1" dirty="0"/>
              <a:t>이벤트참여 릴레이션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5453EB07-95B4-657E-F5A6-8A9A720C32DB}"/>
              </a:ext>
            </a:extLst>
          </p:cNvPr>
          <p:cNvGraphicFramePr>
            <a:graphicFrameLocks noGrp="1"/>
          </p:cNvGraphicFramePr>
          <p:nvPr/>
        </p:nvGraphicFramePr>
        <p:xfrm>
          <a:off x="881174" y="2640110"/>
          <a:ext cx="4151028" cy="290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739">
                  <a:extLst>
                    <a:ext uri="{9D8B030D-6E8A-4147-A177-3AD203B41FA5}">
                      <a16:colId xmlns:a16="http://schemas.microsoft.com/office/drawing/2014/main" val="2744778448"/>
                    </a:ext>
                  </a:extLst>
                </a:gridCol>
                <a:gridCol w="1058061">
                  <a:extLst>
                    <a:ext uri="{9D8B030D-6E8A-4147-A177-3AD203B41FA5}">
                      <a16:colId xmlns:a16="http://schemas.microsoft.com/office/drawing/2014/main" val="1944879708"/>
                    </a:ext>
                  </a:extLst>
                </a:gridCol>
                <a:gridCol w="872029">
                  <a:extLst>
                    <a:ext uri="{9D8B030D-6E8A-4147-A177-3AD203B41FA5}">
                      <a16:colId xmlns:a16="http://schemas.microsoft.com/office/drawing/2014/main" val="1746824940"/>
                    </a:ext>
                  </a:extLst>
                </a:gridCol>
                <a:gridCol w="605778">
                  <a:extLst>
                    <a:ext uri="{9D8B030D-6E8A-4147-A177-3AD203B41FA5}">
                      <a16:colId xmlns:a16="http://schemas.microsoft.com/office/drawing/2014/main" val="1070507928"/>
                    </a:ext>
                  </a:extLst>
                </a:gridCol>
                <a:gridCol w="603421">
                  <a:extLst>
                    <a:ext uri="{9D8B030D-6E8A-4147-A177-3AD203B41FA5}">
                      <a16:colId xmlns:a16="http://schemas.microsoft.com/office/drawing/2014/main" val="1502413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고객 아이디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이벤트 번호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당첨 여부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등급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할인율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extLst>
                  <a:ext uri="{0D108BD9-81ED-4DB2-BD59-A6C34878D82A}">
                    <a16:rowId xmlns:a16="http://schemas.microsoft.com/office/drawing/2014/main" val="1885145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apple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E001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Y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gold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10%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3234134965"/>
                  </a:ext>
                </a:extLst>
              </a:tr>
              <a:tr h="16812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apple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E005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N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gold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10%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629275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apple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E010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Y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gold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10%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1838631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banana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E002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N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vip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20%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2396131815"/>
                  </a:ext>
                </a:extLst>
              </a:tr>
              <a:tr h="168128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banana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E005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Y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vip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20%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223713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carrot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E003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Y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gold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10%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4095964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carrot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E007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Y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gold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10%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69222219"/>
                  </a:ext>
                </a:extLst>
              </a:tr>
              <a:tr h="168128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orange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E004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N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silver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5%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391004456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E66BCD5-8E33-EF97-3AEC-DA9564F09418}"/>
              </a:ext>
            </a:extLst>
          </p:cNvPr>
          <p:cNvSpPr txBox="1"/>
          <p:nvPr/>
        </p:nvSpPr>
        <p:spPr>
          <a:xfrm>
            <a:off x="881174" y="2298739"/>
            <a:ext cx="39331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b="1" dirty="0"/>
              <a:t>분해 전의 이벤트참여 릴레이션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7106E326-125C-E5B0-2B72-86C00BF80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241179"/>
              </p:ext>
            </p:extLst>
          </p:nvPr>
        </p:nvGraphicFramePr>
        <p:xfrm>
          <a:off x="9075993" y="2640110"/>
          <a:ext cx="260070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6283">
                  <a:extLst>
                    <a:ext uri="{9D8B030D-6E8A-4147-A177-3AD203B41FA5}">
                      <a16:colId xmlns:a16="http://schemas.microsoft.com/office/drawing/2014/main" val="2744778448"/>
                    </a:ext>
                  </a:extLst>
                </a:gridCol>
                <a:gridCol w="870576">
                  <a:extLst>
                    <a:ext uri="{9D8B030D-6E8A-4147-A177-3AD203B41FA5}">
                      <a16:colId xmlns:a16="http://schemas.microsoft.com/office/drawing/2014/main" val="1070507928"/>
                    </a:ext>
                  </a:extLst>
                </a:gridCol>
                <a:gridCol w="723849">
                  <a:extLst>
                    <a:ext uri="{9D8B030D-6E8A-4147-A177-3AD203B41FA5}">
                      <a16:colId xmlns:a16="http://schemas.microsoft.com/office/drawing/2014/main" val="1502413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고객 아이디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등급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할인율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extLst>
                  <a:ext uri="{0D108BD9-81ED-4DB2-BD59-A6C34878D82A}">
                    <a16:rowId xmlns:a16="http://schemas.microsoft.com/office/drawing/2014/main" val="1885145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7030A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apple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7030A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gold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7030A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10%</a:t>
                      </a:r>
                    </a:p>
                  </a:txBody>
                  <a:tcPr marL="74648" marR="74648" marT="62206" marB="46655" anchor="ctr"/>
                </a:tc>
                <a:extLst>
                  <a:ext uri="{0D108BD9-81ED-4DB2-BD59-A6C34878D82A}">
                    <a16:rowId xmlns:a16="http://schemas.microsoft.com/office/drawing/2014/main" val="3234134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7030A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banana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7030A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vip</a:t>
                      </a:r>
                      <a:endParaRPr lang="en-US" sz="1200" dirty="0">
                        <a:solidFill>
                          <a:srgbClr val="7030A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7030A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20%</a:t>
                      </a:r>
                    </a:p>
                  </a:txBody>
                  <a:tcPr marL="74648" marR="74648" marT="62206" marB="46655" anchor="ctr"/>
                </a:tc>
                <a:extLst>
                  <a:ext uri="{0D108BD9-81ED-4DB2-BD59-A6C34878D82A}">
                    <a16:rowId xmlns:a16="http://schemas.microsoft.com/office/drawing/2014/main" val="2396131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7030A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carrot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7030A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gold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7030A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10%</a:t>
                      </a:r>
                    </a:p>
                  </a:txBody>
                  <a:tcPr marL="74648" marR="74648" marT="62206" marB="46655" anchor="ctr"/>
                </a:tc>
                <a:extLst>
                  <a:ext uri="{0D108BD9-81ED-4DB2-BD59-A6C34878D82A}">
                    <a16:rowId xmlns:a16="http://schemas.microsoft.com/office/drawing/2014/main" val="69222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7030A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orange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7030A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silver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7030A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5%</a:t>
                      </a:r>
                    </a:p>
                  </a:txBody>
                  <a:tcPr marL="74648" marR="74648" marT="62206" marB="46655" anchor="ctr"/>
                </a:tc>
                <a:extLst>
                  <a:ext uri="{0D108BD9-81ED-4DB2-BD59-A6C34878D82A}">
                    <a16:rowId xmlns:a16="http://schemas.microsoft.com/office/drawing/2014/main" val="185333450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BA11DABE-E67F-E0AE-7A28-06465BD02994}"/>
              </a:ext>
            </a:extLst>
          </p:cNvPr>
          <p:cNvSpPr txBox="1"/>
          <p:nvPr/>
        </p:nvSpPr>
        <p:spPr>
          <a:xfrm>
            <a:off x="9075994" y="2298738"/>
            <a:ext cx="26007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b="1" dirty="0"/>
              <a:t>고객 릴레이션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98EE31-EEE3-DDBD-73E3-CD4D6AE4BE53}"/>
              </a:ext>
            </a:extLst>
          </p:cNvPr>
          <p:cNvSpPr txBox="1"/>
          <p:nvPr/>
        </p:nvSpPr>
        <p:spPr>
          <a:xfrm>
            <a:off x="1064585" y="1498470"/>
            <a:ext cx="101509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릴레이션이 제</a:t>
            </a:r>
            <a:r>
              <a:rPr lang="en-US" altLang="ko-KR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정규형에 속하고</a:t>
            </a:r>
            <a:r>
              <a:rPr lang="en-US" altLang="ko-KR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기본키가 아닌 </a:t>
            </a:r>
            <a:r>
              <a:rPr lang="ko-KR" altLang="en-US" sz="1400" b="1" i="0" u="sng" dirty="0">
                <a:solidFill>
                  <a:srgbClr val="FF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모든 속성이 기본키에 완전 함수 종속</a:t>
            </a: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되면 제</a:t>
            </a:r>
            <a:r>
              <a:rPr lang="en-US" altLang="ko-KR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정규형에 속한다</a:t>
            </a:r>
            <a:r>
              <a:rPr lang="en-US" altLang="ko-KR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제 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 </a:t>
            </a: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정규형은 주 식별자가 두 개 이상인 </a:t>
            </a:r>
            <a:r>
              <a:rPr lang="ko-KR" altLang="en-US" sz="14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릴레이션에서</a:t>
            </a: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생긴다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1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426ABE-F89B-1810-F0A8-A7019B0E6E79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정규화 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en-US" altLang="ko-KR" sz="14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F7C6CC9-AF7C-4016-B1A1-D0A98C8DD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48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83768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42DEED4-9E6A-2D6F-7CC3-5BCCED622F3B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80" name="Picture 8" descr="[그림 9-24] 고객 릴레이션과 고객등급 릴레이션의 함수 종속 다이어그램">
            <a:extLst>
              <a:ext uri="{FF2B5EF4-FFF2-40B4-BE49-F238E27FC236}">
                <a16:creationId xmlns:a16="http://schemas.microsoft.com/office/drawing/2014/main" id="{EEC0EA5B-F0BD-F6EC-5CC4-312D18332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3562" y="2718409"/>
            <a:ext cx="504825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[그림 9-22] 이행적 함수 종속">
            <a:extLst>
              <a:ext uri="{FF2B5EF4-FFF2-40B4-BE49-F238E27FC236}">
                <a16:creationId xmlns:a16="http://schemas.microsoft.com/office/drawing/2014/main" id="{A66E9BDA-D543-5B65-B7AE-73798F494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585" y="2722600"/>
            <a:ext cx="2133600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B6BC2C-2674-5E32-DF02-CB9E58F14255}"/>
              </a:ext>
            </a:extLst>
          </p:cNvPr>
          <p:cNvSpPr txBox="1"/>
          <p:nvPr/>
        </p:nvSpPr>
        <p:spPr>
          <a:xfrm>
            <a:off x="704861" y="84174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제</a:t>
            </a:r>
            <a:r>
              <a:rPr lang="en-US" altLang="ko-KR" sz="2400" dirty="0"/>
              <a:t>3</a:t>
            </a:r>
            <a:r>
              <a:rPr lang="ko-KR" altLang="en-US" sz="2400" dirty="0"/>
              <a:t>정규형</a:t>
            </a:r>
            <a:r>
              <a:rPr lang="en-US" altLang="ko-KR" sz="2400" dirty="0"/>
              <a:t>(3NF)</a:t>
            </a:r>
            <a:r>
              <a:rPr lang="en-US" altLang="ko-KR" sz="1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- Third Normal Form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  <a:cs typeface="ADLaM Display" panose="02010000000000000000" pitchFamily="2" charset="0"/>
              </a:rPr>
              <a:t> - </a:t>
            </a:r>
            <a:r>
              <a:rPr lang="ko-KR" altLang="en-US" sz="2400" dirty="0" err="1">
                <a:latin typeface="HY헤드라인M" panose="02030600000101010101" pitchFamily="18" charset="-127"/>
                <a:ea typeface="HY헤드라인M" panose="02030600000101010101" pitchFamily="18" charset="-127"/>
                <a:cs typeface="ADLaM Display" panose="02010000000000000000" pitchFamily="2" charset="0"/>
              </a:rPr>
              <a:t>이행적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  <a:cs typeface="ADLaM Display" panose="02010000000000000000" pitchFamily="2" charset="0"/>
              </a:rPr>
              <a:t> 함수 종속 제거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8C571F-A5C1-2176-8341-6C636A2F6207}"/>
              </a:ext>
            </a:extLst>
          </p:cNvPr>
          <p:cNvSpPr txBox="1"/>
          <p:nvPr/>
        </p:nvSpPr>
        <p:spPr>
          <a:xfrm>
            <a:off x="1064585" y="1338627"/>
            <a:ext cx="107785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릴레이션이 제</a:t>
            </a:r>
            <a:r>
              <a:rPr lang="en-US" altLang="ko-KR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정규형에 속하고</a:t>
            </a:r>
            <a:r>
              <a:rPr lang="en-US" altLang="ko-KR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1400" b="1" i="0" u="sng" dirty="0">
                <a:solidFill>
                  <a:srgbClr val="FF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비식별자 속성 간에 발생하는 </a:t>
            </a:r>
            <a:r>
              <a:rPr lang="ko-KR" altLang="en-US" sz="1400" b="1" i="0" u="sng" dirty="0" err="1">
                <a:solidFill>
                  <a:srgbClr val="FF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이행적</a:t>
            </a:r>
            <a:r>
              <a:rPr lang="ko-KR" altLang="en-US" sz="1400" b="1" i="0" u="sng" dirty="0">
                <a:solidFill>
                  <a:srgbClr val="FF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 함수 종속이 존재하지 않으면</a:t>
            </a: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 제</a:t>
            </a:r>
            <a:r>
              <a:rPr lang="en-US" altLang="ko-KR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3</a:t>
            </a: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정규형에 속한다</a:t>
            </a:r>
            <a:r>
              <a:rPr lang="en-US" altLang="ko-KR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식별자가 아닌 일반 속성 간에는 종속성이 존재하면 안된다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1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761E68-E05D-1A45-FCAF-10D6BEF33943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정규화 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en-US" altLang="ko-KR" sz="14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3F02DE-5804-5CE0-343D-B2B0D319D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49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D86FBB-9AB2-4CA7-BB7C-6E41DB36D8AC}"/>
              </a:ext>
            </a:extLst>
          </p:cNvPr>
          <p:cNvSpPr txBox="1"/>
          <p:nvPr/>
        </p:nvSpPr>
        <p:spPr>
          <a:xfrm>
            <a:off x="5753141" y="218266"/>
            <a:ext cx="32404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/>
            <a:r>
              <a:rPr lang="en-US" altLang="ko-KR" sz="1600" b="1" dirty="0">
                <a:latin typeface="-apple-system"/>
                <a:hlinkClick r:id="rId4"/>
              </a:rPr>
              <a:t>3</a:t>
            </a:r>
            <a:r>
              <a:rPr lang="ko-KR" altLang="en-US" sz="1600" b="1" i="0" u="none" strike="noStrike" dirty="0">
                <a:effectLst/>
                <a:latin typeface="-apple-system"/>
                <a:hlinkClick r:id="rId4"/>
              </a:rPr>
              <a:t>정규형</a:t>
            </a:r>
            <a:endParaRPr lang="en-US" altLang="ko-KR" sz="1600" b="0" i="0" u="none" strike="noStrike" dirty="0">
              <a:effectLst/>
              <a:latin typeface="-apple-system"/>
              <a:hlinkClick r:id="rId4"/>
            </a:endParaRPr>
          </a:p>
          <a:p>
            <a:pPr fontAlgn="t"/>
            <a:r>
              <a:rPr lang="en-US" altLang="ko-KR" sz="1400" b="1" i="0" dirty="0">
                <a:solidFill>
                  <a:srgbClr val="FF0000"/>
                </a:solidFill>
                <a:effectLst/>
                <a:latin typeface="-apple-system"/>
              </a:rPr>
              <a:t> </a:t>
            </a:r>
            <a:r>
              <a:rPr lang="ko-KR" altLang="en-US" sz="1400" b="1" i="0" dirty="0">
                <a:solidFill>
                  <a:srgbClr val="FF0000"/>
                </a:solidFill>
                <a:effectLst/>
                <a:latin typeface="-apple-system"/>
              </a:rPr>
              <a:t>일반 속성에서 종속성이 발생한 경우</a:t>
            </a:r>
            <a:r>
              <a:rPr lang="en-US" altLang="ko-KR" sz="1400" b="1" i="0" dirty="0">
                <a:solidFill>
                  <a:srgbClr val="FF0000"/>
                </a:solidFill>
                <a:effectLst/>
                <a:latin typeface="-apple-system"/>
              </a:rPr>
              <a:t>.</a:t>
            </a:r>
            <a:endParaRPr lang="en-US" altLang="ko-KR" b="1" i="0" u="none" strike="noStrike" dirty="0">
              <a:solidFill>
                <a:srgbClr val="FF0000"/>
              </a:solidFill>
              <a:effectLst/>
              <a:latin typeface="-apple-system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32410190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CFC1FE8-7BA8-B249-0201-5435AF2DA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85" y="1989650"/>
            <a:ext cx="10088383" cy="46012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C685BB-5008-DDDD-1D17-24724BEA4878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이등변 삼각형 11">
            <a:extLst>
              <a:ext uri="{FF2B5EF4-FFF2-40B4-BE49-F238E27FC236}">
                <a16:creationId xmlns:a16="http://schemas.microsoft.com/office/drawing/2014/main" id="{83FAD6F1-8C88-223F-0D42-CD538CE41040}"/>
              </a:ext>
            </a:extLst>
          </p:cNvPr>
          <p:cNvSpPr/>
          <p:nvPr/>
        </p:nvSpPr>
        <p:spPr>
          <a:xfrm rot="10800000">
            <a:off x="3833867" y="4012844"/>
            <a:ext cx="199819" cy="21562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BDBDE1-5C5B-947D-D389-BF0CB716CE8B}"/>
              </a:ext>
            </a:extLst>
          </p:cNvPr>
          <p:cNvSpPr txBox="1"/>
          <p:nvPr/>
        </p:nvSpPr>
        <p:spPr>
          <a:xfrm>
            <a:off x="704861" y="783379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제</a:t>
            </a:r>
            <a:r>
              <a:rPr lang="en-US" altLang="ko-KR" sz="2400" dirty="0"/>
              <a:t>3</a:t>
            </a:r>
            <a:r>
              <a:rPr lang="ko-KR" altLang="en-US" sz="2400" dirty="0"/>
              <a:t>정규형</a:t>
            </a:r>
            <a:r>
              <a:rPr lang="en-US" altLang="ko-KR" sz="2400" dirty="0"/>
              <a:t>(3NF)</a:t>
            </a:r>
            <a:r>
              <a:rPr lang="en-US" altLang="ko-KR" sz="1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- Third Normal Form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  <a:cs typeface="ADLaM Display" panose="02010000000000000000" pitchFamily="2" charset="0"/>
              </a:rPr>
              <a:t> - </a:t>
            </a:r>
            <a:r>
              <a:rPr lang="ko-KR" altLang="en-US" sz="2400" dirty="0" err="1">
                <a:latin typeface="HY헤드라인M" panose="02030600000101010101" pitchFamily="18" charset="-127"/>
                <a:ea typeface="HY헤드라인M" panose="02030600000101010101" pitchFamily="18" charset="-127"/>
                <a:cs typeface="ADLaM Display" panose="02010000000000000000" pitchFamily="2" charset="0"/>
              </a:rPr>
              <a:t>이행적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  <a:cs typeface="ADLaM Display" panose="02010000000000000000" pitchFamily="2" charset="0"/>
              </a:rPr>
              <a:t> 함수 종속 제거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A1E075-0CB6-99D3-3E98-0914F5CDA615}"/>
              </a:ext>
            </a:extLst>
          </p:cNvPr>
          <p:cNvSpPr txBox="1"/>
          <p:nvPr/>
        </p:nvSpPr>
        <p:spPr>
          <a:xfrm>
            <a:off x="1064585" y="1280259"/>
            <a:ext cx="107785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릴레이션이 제</a:t>
            </a:r>
            <a:r>
              <a:rPr lang="en-US" altLang="ko-KR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정규형에 속하고</a:t>
            </a:r>
            <a:r>
              <a:rPr lang="en-US" altLang="ko-KR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1400" b="1" i="0" u="sng" dirty="0">
                <a:solidFill>
                  <a:srgbClr val="FF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비식별자 속성 간에 발생하는 </a:t>
            </a:r>
            <a:r>
              <a:rPr lang="ko-KR" altLang="en-US" sz="1400" b="1" i="0" u="sng" dirty="0" err="1">
                <a:solidFill>
                  <a:srgbClr val="FF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이행적</a:t>
            </a:r>
            <a:r>
              <a:rPr lang="ko-KR" altLang="en-US" sz="1400" b="1" i="0" u="sng" dirty="0">
                <a:solidFill>
                  <a:srgbClr val="FF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 함수 종속이 존재하지 않으면</a:t>
            </a: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 제</a:t>
            </a:r>
            <a:r>
              <a:rPr lang="en-US" altLang="ko-KR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3</a:t>
            </a: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정규형에 속한다</a:t>
            </a:r>
            <a:r>
              <a:rPr lang="en-US" altLang="ko-KR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식별자가 아닌 일반 속성 간에는 종속성이 존재하면 안된다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1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4E7649-F0CD-9B82-6D0C-87C56D7B165F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정규화 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en-US" altLang="ko-KR" sz="14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C4BA08-3D16-FA78-CCF2-550181061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50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C7E811-6342-4EE3-BF63-922E7C59F69B}"/>
              </a:ext>
            </a:extLst>
          </p:cNvPr>
          <p:cNvSpPr txBox="1"/>
          <p:nvPr/>
        </p:nvSpPr>
        <p:spPr>
          <a:xfrm>
            <a:off x="5753141" y="218266"/>
            <a:ext cx="32404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/>
            <a:r>
              <a:rPr lang="en-US" altLang="ko-KR" sz="1600" b="1" dirty="0">
                <a:latin typeface="-apple-system"/>
                <a:hlinkClick r:id="rId3"/>
              </a:rPr>
              <a:t>3</a:t>
            </a:r>
            <a:r>
              <a:rPr lang="ko-KR" altLang="en-US" sz="1600" b="1" i="0" u="none" strike="noStrike" dirty="0">
                <a:effectLst/>
                <a:latin typeface="-apple-system"/>
                <a:hlinkClick r:id="rId3"/>
              </a:rPr>
              <a:t>정규형</a:t>
            </a:r>
            <a:endParaRPr lang="en-US" altLang="ko-KR" sz="1600" b="0" i="0" u="none" strike="noStrike" dirty="0">
              <a:effectLst/>
              <a:latin typeface="-apple-system"/>
              <a:hlinkClick r:id="rId3"/>
            </a:endParaRPr>
          </a:p>
          <a:p>
            <a:pPr fontAlgn="t"/>
            <a:r>
              <a:rPr lang="en-US" altLang="ko-KR" sz="1400" b="1" i="0" dirty="0">
                <a:solidFill>
                  <a:srgbClr val="FF0000"/>
                </a:solidFill>
                <a:effectLst/>
                <a:latin typeface="-apple-system"/>
              </a:rPr>
              <a:t> </a:t>
            </a:r>
            <a:r>
              <a:rPr lang="ko-KR" altLang="en-US" sz="1400" b="1" i="0" dirty="0">
                <a:solidFill>
                  <a:srgbClr val="FF0000"/>
                </a:solidFill>
                <a:effectLst/>
                <a:latin typeface="-apple-system"/>
              </a:rPr>
              <a:t>일반 속성에서 종속성이 발생한 경우</a:t>
            </a:r>
            <a:r>
              <a:rPr lang="en-US" altLang="ko-KR" sz="1400" b="1" i="0" dirty="0">
                <a:solidFill>
                  <a:srgbClr val="FF0000"/>
                </a:solidFill>
                <a:effectLst/>
                <a:latin typeface="-apple-system"/>
              </a:rPr>
              <a:t>.</a:t>
            </a:r>
            <a:endParaRPr lang="en-US" altLang="ko-KR" b="1" i="0" u="none" strike="noStrike" dirty="0">
              <a:solidFill>
                <a:srgbClr val="FF0000"/>
              </a:solidFill>
              <a:effectLst/>
              <a:latin typeface="-apple-system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21334567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2C40AC7-AAAC-5660-E58B-CCF7FD784B05}"/>
              </a:ext>
            </a:extLst>
          </p:cNvPr>
          <p:cNvSpPr/>
          <p:nvPr/>
        </p:nvSpPr>
        <p:spPr>
          <a:xfrm>
            <a:off x="8075362" y="2007375"/>
            <a:ext cx="2421457" cy="4062915"/>
          </a:xfrm>
          <a:prstGeom prst="roundRect">
            <a:avLst>
              <a:gd name="adj" fmla="val 6383"/>
            </a:avLst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0CBCC92-48BB-51B9-86A1-18E6C90CC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023467" y="3355914"/>
            <a:ext cx="2999876" cy="7734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2DEED4-9E6A-2D6F-7CC3-5BCCED622F3B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A25B5B-DB14-1E7D-4026-069AF0F7CE36}"/>
              </a:ext>
            </a:extLst>
          </p:cNvPr>
          <p:cNvSpPr txBox="1"/>
          <p:nvPr/>
        </p:nvSpPr>
        <p:spPr>
          <a:xfrm>
            <a:off x="704861" y="783379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제</a:t>
            </a:r>
            <a:r>
              <a:rPr lang="en-US" altLang="ko-KR" sz="2400" dirty="0"/>
              <a:t>3</a:t>
            </a:r>
            <a:r>
              <a:rPr lang="ko-KR" altLang="en-US" sz="2400" dirty="0"/>
              <a:t>정규형</a:t>
            </a:r>
            <a:r>
              <a:rPr lang="en-US" altLang="ko-KR" sz="2400" dirty="0"/>
              <a:t>(3NF)</a:t>
            </a:r>
            <a:r>
              <a:rPr lang="en-US" altLang="ko-KR" sz="1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- Third Normal Form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  <a:cs typeface="ADLaM Display" panose="02010000000000000000" pitchFamily="2" charset="0"/>
              </a:rPr>
              <a:t> - </a:t>
            </a:r>
            <a:r>
              <a:rPr lang="ko-KR" altLang="en-US" sz="2400" dirty="0" err="1">
                <a:latin typeface="HY헤드라인M" panose="02030600000101010101" pitchFamily="18" charset="-127"/>
                <a:ea typeface="HY헤드라인M" panose="02030600000101010101" pitchFamily="18" charset="-127"/>
                <a:cs typeface="ADLaM Display" panose="02010000000000000000" pitchFamily="2" charset="0"/>
              </a:rPr>
              <a:t>이행적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  <a:cs typeface="ADLaM Display" panose="02010000000000000000" pitchFamily="2" charset="0"/>
              </a:rPr>
              <a:t> 함수 종속 제거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E1DD121C-5307-8F6A-1B4A-B8F02060D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247251"/>
              </p:ext>
            </p:extLst>
          </p:nvPr>
        </p:nvGraphicFramePr>
        <p:xfrm>
          <a:off x="1068362" y="2408753"/>
          <a:ext cx="2875563" cy="290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628">
                  <a:extLst>
                    <a:ext uri="{9D8B030D-6E8A-4147-A177-3AD203B41FA5}">
                      <a16:colId xmlns:a16="http://schemas.microsoft.com/office/drawing/2014/main" val="2744778448"/>
                    </a:ext>
                  </a:extLst>
                </a:gridCol>
                <a:gridCol w="1057619">
                  <a:extLst>
                    <a:ext uri="{9D8B030D-6E8A-4147-A177-3AD203B41FA5}">
                      <a16:colId xmlns:a16="http://schemas.microsoft.com/office/drawing/2014/main" val="1944879708"/>
                    </a:ext>
                  </a:extLst>
                </a:gridCol>
                <a:gridCol w="859316">
                  <a:extLst>
                    <a:ext uri="{9D8B030D-6E8A-4147-A177-3AD203B41FA5}">
                      <a16:colId xmlns:a16="http://schemas.microsoft.com/office/drawing/2014/main" val="17468249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고객 아이디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이벤트 번호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당첨 여부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extLst>
                  <a:ext uri="{0D108BD9-81ED-4DB2-BD59-A6C34878D82A}">
                    <a16:rowId xmlns:a16="http://schemas.microsoft.com/office/drawing/2014/main" val="1885145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apple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E001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Y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3234134965"/>
                  </a:ext>
                </a:extLst>
              </a:tr>
              <a:tr h="16812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apple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E005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N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629275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apple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E010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Y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1838631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banana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E002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N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2396131815"/>
                  </a:ext>
                </a:extLst>
              </a:tr>
              <a:tr h="168128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banana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E005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Y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223713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carrot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E003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Y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4095964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carrot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E007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Y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69222219"/>
                  </a:ext>
                </a:extLst>
              </a:tr>
              <a:tr h="168128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orange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E004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N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3910044569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6997064-B566-FDBD-5364-2722FD5A2290}"/>
              </a:ext>
            </a:extLst>
          </p:cNvPr>
          <p:cNvSpPr txBox="1"/>
          <p:nvPr/>
        </p:nvSpPr>
        <p:spPr>
          <a:xfrm>
            <a:off x="1068362" y="2067380"/>
            <a:ext cx="26007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b="1" dirty="0"/>
              <a:t>이벤트참여 릴레이션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5C172C4D-ACA2-758E-3EFF-763CAA003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543060"/>
              </p:ext>
            </p:extLst>
          </p:nvPr>
        </p:nvGraphicFramePr>
        <p:xfrm>
          <a:off x="4371782" y="2408753"/>
          <a:ext cx="260070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6283">
                  <a:extLst>
                    <a:ext uri="{9D8B030D-6E8A-4147-A177-3AD203B41FA5}">
                      <a16:colId xmlns:a16="http://schemas.microsoft.com/office/drawing/2014/main" val="2744778448"/>
                    </a:ext>
                  </a:extLst>
                </a:gridCol>
                <a:gridCol w="870576">
                  <a:extLst>
                    <a:ext uri="{9D8B030D-6E8A-4147-A177-3AD203B41FA5}">
                      <a16:colId xmlns:a16="http://schemas.microsoft.com/office/drawing/2014/main" val="1070507928"/>
                    </a:ext>
                  </a:extLst>
                </a:gridCol>
                <a:gridCol w="723849">
                  <a:extLst>
                    <a:ext uri="{9D8B030D-6E8A-4147-A177-3AD203B41FA5}">
                      <a16:colId xmlns:a16="http://schemas.microsoft.com/office/drawing/2014/main" val="1502413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고객 아이디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등급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할인율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extLst>
                  <a:ext uri="{0D108BD9-81ED-4DB2-BD59-A6C34878D82A}">
                    <a16:rowId xmlns:a16="http://schemas.microsoft.com/office/drawing/2014/main" val="1885145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7030A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apple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7030A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gold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7030A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10%</a:t>
                      </a:r>
                    </a:p>
                  </a:txBody>
                  <a:tcPr marL="74648" marR="74648" marT="62206" marB="46655" anchor="ctr"/>
                </a:tc>
                <a:extLst>
                  <a:ext uri="{0D108BD9-81ED-4DB2-BD59-A6C34878D82A}">
                    <a16:rowId xmlns:a16="http://schemas.microsoft.com/office/drawing/2014/main" val="3234134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7030A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banana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7030A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vip</a:t>
                      </a:r>
                      <a:endParaRPr lang="en-US" sz="1200" dirty="0">
                        <a:solidFill>
                          <a:srgbClr val="7030A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7030A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20%</a:t>
                      </a:r>
                    </a:p>
                  </a:txBody>
                  <a:tcPr marL="74648" marR="74648" marT="62206" marB="46655" anchor="ctr"/>
                </a:tc>
                <a:extLst>
                  <a:ext uri="{0D108BD9-81ED-4DB2-BD59-A6C34878D82A}">
                    <a16:rowId xmlns:a16="http://schemas.microsoft.com/office/drawing/2014/main" val="2396131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7030A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carrot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7030A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gold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7030A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10%</a:t>
                      </a:r>
                    </a:p>
                  </a:txBody>
                  <a:tcPr marL="74648" marR="74648" marT="62206" marB="46655" anchor="ctr"/>
                </a:tc>
                <a:extLst>
                  <a:ext uri="{0D108BD9-81ED-4DB2-BD59-A6C34878D82A}">
                    <a16:rowId xmlns:a16="http://schemas.microsoft.com/office/drawing/2014/main" val="69222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7030A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orange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7030A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silver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7030A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5%</a:t>
                      </a:r>
                    </a:p>
                  </a:txBody>
                  <a:tcPr marL="74648" marR="74648" marT="62206" marB="46655" anchor="ctr"/>
                </a:tc>
                <a:extLst>
                  <a:ext uri="{0D108BD9-81ED-4DB2-BD59-A6C34878D82A}">
                    <a16:rowId xmlns:a16="http://schemas.microsoft.com/office/drawing/2014/main" val="1853334501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0ECE764D-2239-1D30-D046-121873565962}"/>
              </a:ext>
            </a:extLst>
          </p:cNvPr>
          <p:cNvSpPr txBox="1"/>
          <p:nvPr/>
        </p:nvSpPr>
        <p:spPr>
          <a:xfrm>
            <a:off x="4371783" y="2067381"/>
            <a:ext cx="26007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b="1" dirty="0"/>
              <a:t>분해 전 고객 릴레이션</a:t>
            </a: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B71BF180-85A7-2C63-1D55-38F05F345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872244"/>
              </p:ext>
            </p:extLst>
          </p:nvPr>
        </p:nvGraphicFramePr>
        <p:xfrm>
          <a:off x="8249965" y="2349229"/>
          <a:ext cx="2050806" cy="170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132">
                  <a:extLst>
                    <a:ext uri="{9D8B030D-6E8A-4147-A177-3AD203B41FA5}">
                      <a16:colId xmlns:a16="http://schemas.microsoft.com/office/drawing/2014/main" val="2744778448"/>
                    </a:ext>
                  </a:extLst>
                </a:gridCol>
                <a:gridCol w="862674">
                  <a:extLst>
                    <a:ext uri="{9D8B030D-6E8A-4147-A177-3AD203B41FA5}">
                      <a16:colId xmlns:a16="http://schemas.microsoft.com/office/drawing/2014/main" val="1070507928"/>
                    </a:ext>
                  </a:extLst>
                </a:gridCol>
              </a:tblGrid>
              <a:tr h="434627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고객 아이디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등급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extLst>
                  <a:ext uri="{0D108BD9-81ED-4DB2-BD59-A6C34878D82A}">
                    <a16:rowId xmlns:a16="http://schemas.microsoft.com/office/drawing/2014/main" val="1885145732"/>
                  </a:ext>
                </a:extLst>
              </a:tr>
              <a:tr h="31884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7030A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apple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7030A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gold</a:t>
                      </a:r>
                    </a:p>
                  </a:txBody>
                  <a:tcPr marL="74648" marR="74648" marT="62206" marB="46655" anchor="ctr"/>
                </a:tc>
                <a:extLst>
                  <a:ext uri="{0D108BD9-81ED-4DB2-BD59-A6C34878D82A}">
                    <a16:rowId xmlns:a16="http://schemas.microsoft.com/office/drawing/2014/main" val="3234134965"/>
                  </a:ext>
                </a:extLst>
              </a:tr>
              <a:tr h="31884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7030A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banana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7030A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vip</a:t>
                      </a:r>
                      <a:endParaRPr lang="en-US" sz="1200" dirty="0">
                        <a:solidFill>
                          <a:srgbClr val="7030A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74648" marR="74648" marT="62206" marB="46655" anchor="ctr"/>
                </a:tc>
                <a:extLst>
                  <a:ext uri="{0D108BD9-81ED-4DB2-BD59-A6C34878D82A}">
                    <a16:rowId xmlns:a16="http://schemas.microsoft.com/office/drawing/2014/main" val="2396131815"/>
                  </a:ext>
                </a:extLst>
              </a:tr>
              <a:tr h="31884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7030A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carrot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7030A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gold</a:t>
                      </a:r>
                    </a:p>
                  </a:txBody>
                  <a:tcPr marL="74648" marR="74648" marT="62206" marB="46655" anchor="ctr"/>
                </a:tc>
                <a:extLst>
                  <a:ext uri="{0D108BD9-81ED-4DB2-BD59-A6C34878D82A}">
                    <a16:rowId xmlns:a16="http://schemas.microsoft.com/office/drawing/2014/main" val="69222219"/>
                  </a:ext>
                </a:extLst>
              </a:tr>
              <a:tr h="31884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7030A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orange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7030A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silver</a:t>
                      </a:r>
                    </a:p>
                  </a:txBody>
                  <a:tcPr marL="74648" marR="74648" marT="62206" marB="46655" anchor="ctr"/>
                </a:tc>
                <a:extLst>
                  <a:ext uri="{0D108BD9-81ED-4DB2-BD59-A6C34878D82A}">
                    <a16:rowId xmlns:a16="http://schemas.microsoft.com/office/drawing/2014/main" val="1853334501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0BE51635-2B71-3650-43DF-DEC7093944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524586"/>
              </p:ext>
            </p:extLst>
          </p:nvPr>
        </p:nvGraphicFramePr>
        <p:xfrm>
          <a:off x="8243713" y="4552602"/>
          <a:ext cx="2050806" cy="1319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9766">
                  <a:extLst>
                    <a:ext uri="{9D8B030D-6E8A-4147-A177-3AD203B41FA5}">
                      <a16:colId xmlns:a16="http://schemas.microsoft.com/office/drawing/2014/main" val="1070507928"/>
                    </a:ext>
                  </a:extLst>
                </a:gridCol>
                <a:gridCol w="931040">
                  <a:extLst>
                    <a:ext uri="{9D8B030D-6E8A-4147-A177-3AD203B41FA5}">
                      <a16:colId xmlns:a16="http://schemas.microsoft.com/office/drawing/2014/main" val="1502413141"/>
                    </a:ext>
                  </a:extLst>
                </a:gridCol>
              </a:tblGrid>
              <a:tr h="345064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등급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할인율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extLst>
                  <a:ext uri="{0D108BD9-81ED-4DB2-BD59-A6C34878D82A}">
                    <a16:rowId xmlns:a16="http://schemas.microsoft.com/office/drawing/2014/main" val="1885145732"/>
                  </a:ext>
                </a:extLst>
              </a:tr>
              <a:tr h="32477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C0000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gold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C0000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10%</a:t>
                      </a:r>
                    </a:p>
                  </a:txBody>
                  <a:tcPr marL="74648" marR="74648" marT="62206" marB="46655" anchor="ctr"/>
                </a:tc>
                <a:extLst>
                  <a:ext uri="{0D108BD9-81ED-4DB2-BD59-A6C34878D82A}">
                    <a16:rowId xmlns:a16="http://schemas.microsoft.com/office/drawing/2014/main" val="3234134965"/>
                  </a:ext>
                </a:extLst>
              </a:tr>
              <a:tr h="32477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C0000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vip</a:t>
                      </a:r>
                      <a:endParaRPr lang="en-US" sz="1200" dirty="0">
                        <a:solidFill>
                          <a:srgbClr val="C0000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C0000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20%</a:t>
                      </a:r>
                    </a:p>
                  </a:txBody>
                  <a:tcPr marL="74648" marR="74648" marT="62206" marB="46655" anchor="ctr"/>
                </a:tc>
                <a:extLst>
                  <a:ext uri="{0D108BD9-81ED-4DB2-BD59-A6C34878D82A}">
                    <a16:rowId xmlns:a16="http://schemas.microsoft.com/office/drawing/2014/main" val="2396131815"/>
                  </a:ext>
                </a:extLst>
              </a:tr>
              <a:tr h="32477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C0000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silver</a:t>
                      </a: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C0000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5%</a:t>
                      </a:r>
                    </a:p>
                  </a:txBody>
                  <a:tcPr marL="74648" marR="74648" marT="62206" marB="46655" anchor="ctr"/>
                </a:tc>
                <a:extLst>
                  <a:ext uri="{0D108BD9-81ED-4DB2-BD59-A6C34878D82A}">
                    <a16:rowId xmlns:a16="http://schemas.microsoft.com/office/drawing/2014/main" val="1853334501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D0FC2236-3A4D-F54C-90A4-FC4A3AB91854}"/>
              </a:ext>
            </a:extLst>
          </p:cNvPr>
          <p:cNvSpPr txBox="1"/>
          <p:nvPr/>
        </p:nvSpPr>
        <p:spPr>
          <a:xfrm>
            <a:off x="8249965" y="2059062"/>
            <a:ext cx="15190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고객 릴레이션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54F3FD-D5DA-4ED6-4191-D7D5AEDFFBCD}"/>
              </a:ext>
            </a:extLst>
          </p:cNvPr>
          <p:cNvSpPr txBox="1"/>
          <p:nvPr/>
        </p:nvSpPr>
        <p:spPr>
          <a:xfrm>
            <a:off x="8238249" y="4252602"/>
            <a:ext cx="11646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등급 </a:t>
            </a:r>
            <a:r>
              <a:rPr lang="ko-KR" altLang="en-US" sz="1200" b="1" dirty="0"/>
              <a:t>릴레이션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82D839-DFD1-43A9-0A18-21F2EA9FE6BE}"/>
              </a:ext>
            </a:extLst>
          </p:cNvPr>
          <p:cNvSpPr txBox="1"/>
          <p:nvPr/>
        </p:nvSpPr>
        <p:spPr>
          <a:xfrm>
            <a:off x="1064585" y="1280259"/>
            <a:ext cx="107785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릴레이션이 제</a:t>
            </a:r>
            <a:r>
              <a:rPr lang="en-US" altLang="ko-KR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정규형에 속하고</a:t>
            </a:r>
            <a:r>
              <a:rPr lang="en-US" altLang="ko-KR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1400" b="1" i="0" u="sng" dirty="0">
                <a:solidFill>
                  <a:srgbClr val="FF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비식별자 속성 간에 발생하는 </a:t>
            </a:r>
            <a:r>
              <a:rPr lang="ko-KR" altLang="en-US" sz="1400" b="1" i="0" u="sng" dirty="0" err="1">
                <a:solidFill>
                  <a:srgbClr val="FF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이행적</a:t>
            </a:r>
            <a:r>
              <a:rPr lang="ko-KR" altLang="en-US" sz="1400" b="1" i="0" u="sng" dirty="0">
                <a:solidFill>
                  <a:srgbClr val="FF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 함수 종속이 존재하지 않으면</a:t>
            </a: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 제</a:t>
            </a:r>
            <a:r>
              <a:rPr lang="en-US" altLang="ko-KR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3</a:t>
            </a: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정규형에 속한다</a:t>
            </a:r>
            <a:r>
              <a:rPr lang="en-US" altLang="ko-KR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식별자가 아닌 일반 속성 간에는 종속성이 존재하면 안된다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1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84AC97-E12C-ED21-8CCC-DDB1F32A69DB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정규화 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en-US" altLang="ko-KR" sz="14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7F73A8-D084-B847-9ABF-7C1B29601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51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10D7FF-D390-48F0-94A5-269DBC6BFE1C}"/>
              </a:ext>
            </a:extLst>
          </p:cNvPr>
          <p:cNvSpPr txBox="1"/>
          <p:nvPr/>
        </p:nvSpPr>
        <p:spPr>
          <a:xfrm>
            <a:off x="5753141" y="218266"/>
            <a:ext cx="32404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/>
            <a:r>
              <a:rPr lang="en-US" altLang="ko-KR" sz="1600" b="1" dirty="0">
                <a:latin typeface="-apple-system"/>
                <a:hlinkClick r:id="rId3"/>
              </a:rPr>
              <a:t>3</a:t>
            </a:r>
            <a:r>
              <a:rPr lang="ko-KR" altLang="en-US" sz="1600" b="1" i="0" u="none" strike="noStrike" dirty="0">
                <a:effectLst/>
                <a:latin typeface="-apple-system"/>
                <a:hlinkClick r:id="rId3"/>
              </a:rPr>
              <a:t>정규형</a:t>
            </a:r>
            <a:endParaRPr lang="en-US" altLang="ko-KR" sz="1600" b="0" i="0" u="none" strike="noStrike" dirty="0">
              <a:effectLst/>
              <a:latin typeface="-apple-system"/>
              <a:hlinkClick r:id="rId3"/>
            </a:endParaRPr>
          </a:p>
          <a:p>
            <a:pPr fontAlgn="t"/>
            <a:r>
              <a:rPr lang="en-US" altLang="ko-KR" sz="1400" b="1" i="0" dirty="0">
                <a:solidFill>
                  <a:srgbClr val="FF0000"/>
                </a:solidFill>
                <a:effectLst/>
                <a:latin typeface="-apple-system"/>
              </a:rPr>
              <a:t> </a:t>
            </a:r>
            <a:r>
              <a:rPr lang="ko-KR" altLang="en-US" sz="1400" b="1" i="0" dirty="0">
                <a:solidFill>
                  <a:srgbClr val="FF0000"/>
                </a:solidFill>
                <a:effectLst/>
                <a:latin typeface="-apple-system"/>
              </a:rPr>
              <a:t>일반 속성에서 종속성이 발생한 경우</a:t>
            </a:r>
            <a:r>
              <a:rPr lang="en-US" altLang="ko-KR" sz="1400" b="1" i="0" dirty="0">
                <a:solidFill>
                  <a:srgbClr val="FF0000"/>
                </a:solidFill>
                <a:effectLst/>
                <a:latin typeface="-apple-system"/>
              </a:rPr>
              <a:t>.</a:t>
            </a:r>
            <a:endParaRPr lang="en-US" altLang="ko-KR" b="1" i="0" u="none" strike="noStrike" dirty="0">
              <a:solidFill>
                <a:srgbClr val="FF0000"/>
              </a:solidFill>
              <a:effectLst/>
              <a:latin typeface="-apple-system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19455761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C837C9E-FBB8-5CC2-93C2-AC24CCD97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19" y="1778838"/>
            <a:ext cx="11322290" cy="48763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2DEED4-9E6A-2D6F-7CC3-5BCCED622F3B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A25B5B-DB14-1E7D-4026-069AF0F7CE36}"/>
              </a:ext>
            </a:extLst>
          </p:cNvPr>
          <p:cNvSpPr txBox="1"/>
          <p:nvPr/>
        </p:nvSpPr>
        <p:spPr>
          <a:xfrm>
            <a:off x="704861" y="79439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400" dirty="0"/>
              <a:t>Boyce/Codd</a:t>
            </a:r>
            <a:r>
              <a:rPr lang="ko-KR" altLang="en-US" sz="2400" dirty="0"/>
              <a:t>정규화</a:t>
            </a:r>
            <a:r>
              <a:rPr lang="en-US" altLang="ko-KR" sz="2400" dirty="0"/>
              <a:t>(BCNF)</a:t>
            </a:r>
            <a:r>
              <a:rPr lang="en-US" altLang="ko-KR" sz="1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  <a:cs typeface="ADLaM Display" panose="02010000000000000000" pitchFamily="2" charset="0"/>
              </a:rPr>
              <a:t>– 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  <a:cs typeface="ADLaM Display" panose="02010000000000000000" pitchFamily="2" charset="0"/>
              </a:rPr>
              <a:t>모든 결정자를 후보키로 생성한다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  <a:cs typeface="ADLaM Display" panose="02010000000000000000" pitchFamily="2" charset="0"/>
              </a:rPr>
              <a:t>.</a:t>
            </a:r>
            <a:endParaRPr lang="en-US" altLang="ko-KR" sz="2400" dirty="0">
              <a:latin typeface="HY헤드라인M" panose="02030600000101010101" pitchFamily="18" charset="-127"/>
              <a:ea typeface="HY헤드라인M" panose="02030600000101010101" pitchFamily="18" charset="-127"/>
              <a:cs typeface="ADLaM Display" panose="0201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8C5FC4-A183-45DA-9DA4-FF4FA9189A00}"/>
              </a:ext>
            </a:extLst>
          </p:cNvPr>
          <p:cNvSpPr txBox="1"/>
          <p:nvPr/>
        </p:nvSpPr>
        <p:spPr>
          <a:xfrm>
            <a:off x="1064585" y="1195755"/>
            <a:ext cx="101509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릴레이션의 함수 종속 관계에서 </a:t>
            </a:r>
            <a:r>
              <a:rPr lang="ko-KR" altLang="en-US" sz="1400" b="1" i="0" u="sng" dirty="0">
                <a:solidFill>
                  <a:srgbClr val="FF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모든 결정자가 </a:t>
            </a:r>
            <a:r>
              <a:rPr lang="ko-KR" altLang="en-US" sz="1400" b="1" i="0" u="sng" dirty="0" err="1">
                <a:solidFill>
                  <a:srgbClr val="FF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후보키이면</a:t>
            </a: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 보이스</a:t>
            </a:r>
            <a:r>
              <a:rPr lang="en-US" altLang="ko-KR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코드 정규형에 속한다</a:t>
            </a:r>
            <a:r>
              <a:rPr lang="en-US" altLang="ko-KR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모든 결정자는 주식별자 여야 한다는 것이다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1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" name="이등변 삼각형 11">
            <a:extLst>
              <a:ext uri="{FF2B5EF4-FFF2-40B4-BE49-F238E27FC236}">
                <a16:creationId xmlns:a16="http://schemas.microsoft.com/office/drawing/2014/main" id="{3E34DFB7-D5A8-9B29-A301-09D9E6D5D13C}"/>
              </a:ext>
            </a:extLst>
          </p:cNvPr>
          <p:cNvSpPr/>
          <p:nvPr/>
        </p:nvSpPr>
        <p:spPr>
          <a:xfrm rot="10800000">
            <a:off x="3833867" y="3614766"/>
            <a:ext cx="199819" cy="21562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83D3A3-7A68-AD11-55BE-F44AECFF50DC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정규화 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en-US" altLang="ko-KR" sz="14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3AC167-1109-6BFE-3067-E96BF6DF5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52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4914A3-FBA5-45BF-9228-2C56B1899296}"/>
              </a:ext>
            </a:extLst>
          </p:cNvPr>
          <p:cNvSpPr txBox="1"/>
          <p:nvPr/>
        </p:nvSpPr>
        <p:spPr>
          <a:xfrm>
            <a:off x="5753141" y="12988"/>
            <a:ext cx="3240471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/>
            <a:r>
              <a:rPr lang="en-US" altLang="ko-KR" sz="1600" b="1" i="0" u="none" strike="noStrike" dirty="0">
                <a:effectLst/>
                <a:latin typeface="-apple-system"/>
                <a:hlinkClick r:id="rId3"/>
              </a:rPr>
              <a:t>BC</a:t>
            </a:r>
            <a:r>
              <a:rPr lang="ko-KR" altLang="en-US" sz="1600" b="1" i="0" u="none" strike="noStrike" dirty="0">
                <a:effectLst/>
                <a:latin typeface="-apple-system"/>
                <a:hlinkClick r:id="rId3"/>
              </a:rPr>
              <a:t>정규형</a:t>
            </a:r>
            <a:endParaRPr lang="en-US" altLang="ko-KR" sz="1600" b="0" i="0" u="none" strike="noStrike" dirty="0">
              <a:effectLst/>
              <a:latin typeface="-apple-system"/>
              <a:hlinkClick r:id="rId3"/>
            </a:endParaRPr>
          </a:p>
          <a:p>
            <a:pPr fontAlgn="t"/>
            <a:r>
              <a:rPr lang="ko-KR" altLang="en-US" sz="1400" b="1" i="0" dirty="0">
                <a:solidFill>
                  <a:srgbClr val="FF0000"/>
                </a:solidFill>
                <a:effectLst/>
                <a:latin typeface="-apple-system"/>
              </a:rPr>
              <a:t>  종속자는 식별자이고</a:t>
            </a:r>
            <a:r>
              <a:rPr lang="en-US" altLang="ko-KR" sz="1400" b="1" i="0" dirty="0">
                <a:solidFill>
                  <a:srgbClr val="FF0000"/>
                </a:solidFill>
                <a:effectLst/>
                <a:latin typeface="-apple-system"/>
              </a:rPr>
              <a:t>, </a:t>
            </a:r>
          </a:p>
          <a:p>
            <a:pPr fontAlgn="t"/>
            <a:r>
              <a:rPr lang="en-US" altLang="ko-KR" sz="1400" b="1" dirty="0">
                <a:solidFill>
                  <a:srgbClr val="FF0000"/>
                </a:solidFill>
                <a:latin typeface="-apple-system"/>
              </a:rPr>
              <a:t>  </a:t>
            </a:r>
            <a:r>
              <a:rPr lang="ko-KR" altLang="en-US" sz="1400" b="1" dirty="0">
                <a:solidFill>
                  <a:srgbClr val="FF0000"/>
                </a:solidFill>
                <a:latin typeface="-apple-system"/>
              </a:rPr>
              <a:t>종속자가 </a:t>
            </a:r>
            <a:r>
              <a:rPr lang="en-US" altLang="ko-KR" sz="1400" b="1" dirty="0">
                <a:solidFill>
                  <a:srgbClr val="FF0000"/>
                </a:solidFill>
                <a:latin typeface="-apple-system"/>
              </a:rPr>
              <a:t>PK</a:t>
            </a:r>
            <a:r>
              <a:rPr lang="ko-KR" altLang="en-US" sz="1400" b="1" dirty="0">
                <a:solidFill>
                  <a:srgbClr val="FF0000"/>
                </a:solidFill>
                <a:latin typeface="-apple-system"/>
              </a:rPr>
              <a:t>여서는 안된다</a:t>
            </a:r>
            <a:r>
              <a:rPr lang="en-US" altLang="ko-KR" sz="1400" b="1" dirty="0">
                <a:solidFill>
                  <a:srgbClr val="FF0000"/>
                </a:solidFill>
                <a:latin typeface="-apple-system"/>
              </a:rPr>
              <a:t>.</a:t>
            </a:r>
            <a:endParaRPr lang="en-US" altLang="ko-KR" sz="1400" b="1" i="0" dirty="0">
              <a:solidFill>
                <a:srgbClr val="FF0000"/>
              </a:solidFill>
              <a:effectLst/>
              <a:latin typeface="-apple-system"/>
            </a:endParaRPr>
          </a:p>
          <a:p>
            <a:pPr fontAlgn="t"/>
            <a:r>
              <a:rPr lang="ko-KR" altLang="en-US" sz="1400" b="1" i="0" dirty="0">
                <a:solidFill>
                  <a:srgbClr val="FF0000"/>
                </a:solidFill>
                <a:effectLst/>
                <a:latin typeface="-apple-system"/>
              </a:rPr>
              <a:t>  모든 결정자는 주 식별자여야 한다</a:t>
            </a:r>
            <a:r>
              <a:rPr lang="en-US" altLang="ko-KR" sz="1400" b="1" i="0" dirty="0">
                <a:solidFill>
                  <a:srgbClr val="FF0000"/>
                </a:solidFill>
                <a:effectLst/>
                <a:latin typeface="-apple-system"/>
              </a:rPr>
              <a:t>.</a:t>
            </a:r>
            <a:endParaRPr lang="en-US" altLang="ko-KR" b="1" i="0" u="none" strike="noStrike" dirty="0">
              <a:solidFill>
                <a:srgbClr val="FF0000"/>
              </a:solidFill>
              <a:effectLst/>
              <a:latin typeface="-apple-system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16547059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0CBCC92-48BB-51B9-86A1-18E6C90CC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18401" y="3587271"/>
            <a:ext cx="2999876" cy="7734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2DEED4-9E6A-2D6F-7CC3-5BCCED622F3B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E1DD121C-5307-8F6A-1B4A-B8F02060DDE9}"/>
              </a:ext>
            </a:extLst>
          </p:cNvPr>
          <p:cNvGraphicFramePr>
            <a:graphicFrameLocks noGrp="1"/>
          </p:cNvGraphicFramePr>
          <p:nvPr/>
        </p:nvGraphicFramePr>
        <p:xfrm>
          <a:off x="1079383" y="2640110"/>
          <a:ext cx="3823130" cy="290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683">
                  <a:extLst>
                    <a:ext uri="{9D8B030D-6E8A-4147-A177-3AD203B41FA5}">
                      <a16:colId xmlns:a16="http://schemas.microsoft.com/office/drawing/2014/main" val="2744778448"/>
                    </a:ext>
                  </a:extLst>
                </a:gridCol>
                <a:gridCol w="1031738">
                  <a:extLst>
                    <a:ext uri="{9D8B030D-6E8A-4147-A177-3AD203B41FA5}">
                      <a16:colId xmlns:a16="http://schemas.microsoft.com/office/drawing/2014/main" val="1944879708"/>
                    </a:ext>
                  </a:extLst>
                </a:gridCol>
                <a:gridCol w="933994">
                  <a:extLst>
                    <a:ext uri="{9D8B030D-6E8A-4147-A177-3AD203B41FA5}">
                      <a16:colId xmlns:a16="http://schemas.microsoft.com/office/drawing/2014/main" val="1746824940"/>
                    </a:ext>
                  </a:extLst>
                </a:gridCol>
                <a:gridCol w="955715">
                  <a:extLst>
                    <a:ext uri="{9D8B030D-6E8A-4147-A177-3AD203B41FA5}">
                      <a16:colId xmlns:a16="http://schemas.microsoft.com/office/drawing/2014/main" val="10318978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도시</a:t>
                      </a:r>
                      <a:r>
                        <a:rPr lang="en-US" altLang="ko-KR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#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구</a:t>
                      </a:r>
                      <a:r>
                        <a:rPr lang="en-US" altLang="ko-KR" sz="1200" b="1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#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동</a:t>
                      </a:r>
                      <a:r>
                        <a:rPr lang="en-US" altLang="ko-KR" sz="1200" b="1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#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u="none" dirty="0" err="1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동이름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extLst>
                  <a:ext uri="{0D108BD9-81ED-4DB2-BD59-A6C34878D82A}">
                    <a16:rowId xmlns:a16="http://schemas.microsoft.com/office/drawing/2014/main" val="1885145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S01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D01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0070C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ADLaM Display" panose="02010000000000000000" pitchFamily="2" charset="0"/>
                        </a:rPr>
                        <a:t>정자동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3234134965"/>
                  </a:ext>
                </a:extLst>
              </a:tr>
              <a:tr h="16812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S02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D01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0070C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ADLaM Display" panose="02010000000000000000" pitchFamily="2" charset="0"/>
                        </a:rPr>
                        <a:t>정자동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629275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03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D02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0070C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ADLaM Display" panose="02010000000000000000" pitchFamily="2" charset="0"/>
                        </a:rPr>
                        <a:t>서현동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1838631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4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04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D02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0070C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ADLaM Display" panose="02010000000000000000" pitchFamily="2" charset="0"/>
                        </a:rPr>
                        <a:t>서현동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2396131815"/>
                  </a:ext>
                </a:extLst>
              </a:tr>
              <a:tr h="16812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5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05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D03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err="1">
                          <a:solidFill>
                            <a:srgbClr val="0070C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ADLaM Display" panose="02010000000000000000" pitchFamily="2" charset="0"/>
                        </a:rPr>
                        <a:t>수내동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223713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6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06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D03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err="1">
                          <a:solidFill>
                            <a:srgbClr val="0070C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ADLaM Display" panose="02010000000000000000" pitchFamily="2" charset="0"/>
                        </a:rPr>
                        <a:t>수내동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4095964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7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07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D03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err="1">
                          <a:solidFill>
                            <a:srgbClr val="0070C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ADLaM Display" panose="02010000000000000000" pitchFamily="2" charset="0"/>
                        </a:rPr>
                        <a:t>수내동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69222219"/>
                  </a:ext>
                </a:extLst>
              </a:tr>
              <a:tr h="16812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8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08</a:t>
                      </a:r>
                      <a:endParaRPr lang="en-US" sz="1200" dirty="0"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D04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err="1">
                          <a:solidFill>
                            <a:srgbClr val="0070C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ADLaM Display" panose="02010000000000000000" pitchFamily="2" charset="0"/>
                        </a:rPr>
                        <a:t>판교동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3910044569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6997064-B566-FDBD-5364-2722FD5A2290}"/>
              </a:ext>
            </a:extLst>
          </p:cNvPr>
          <p:cNvSpPr txBox="1"/>
          <p:nvPr/>
        </p:nvSpPr>
        <p:spPr>
          <a:xfrm>
            <a:off x="1068367" y="2298737"/>
            <a:ext cx="26007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b="1" dirty="0"/>
              <a:t>주소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2C40AC7-AAAC-5660-E58B-CCF7FD784B05}"/>
              </a:ext>
            </a:extLst>
          </p:cNvPr>
          <p:cNvSpPr/>
          <p:nvPr/>
        </p:nvSpPr>
        <p:spPr>
          <a:xfrm>
            <a:off x="6090098" y="2474035"/>
            <a:ext cx="5257282" cy="3188636"/>
          </a:xfrm>
          <a:prstGeom prst="roundRect">
            <a:avLst>
              <a:gd name="adj" fmla="val 3619"/>
            </a:avLst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F1DC0A1-B533-623D-9C5C-648549549FEF}"/>
              </a:ext>
            </a:extLst>
          </p:cNvPr>
          <p:cNvGraphicFramePr>
            <a:graphicFrameLocks noGrp="1"/>
          </p:cNvGraphicFramePr>
          <p:nvPr/>
        </p:nvGraphicFramePr>
        <p:xfrm>
          <a:off x="6269026" y="2640110"/>
          <a:ext cx="2867415" cy="290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683">
                  <a:extLst>
                    <a:ext uri="{9D8B030D-6E8A-4147-A177-3AD203B41FA5}">
                      <a16:colId xmlns:a16="http://schemas.microsoft.com/office/drawing/2014/main" val="2744778448"/>
                    </a:ext>
                  </a:extLst>
                </a:gridCol>
                <a:gridCol w="1031738">
                  <a:extLst>
                    <a:ext uri="{9D8B030D-6E8A-4147-A177-3AD203B41FA5}">
                      <a16:colId xmlns:a16="http://schemas.microsoft.com/office/drawing/2014/main" val="1944879708"/>
                    </a:ext>
                  </a:extLst>
                </a:gridCol>
                <a:gridCol w="933994">
                  <a:extLst>
                    <a:ext uri="{9D8B030D-6E8A-4147-A177-3AD203B41FA5}">
                      <a16:colId xmlns:a16="http://schemas.microsoft.com/office/drawing/2014/main" val="17468249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도시</a:t>
                      </a:r>
                      <a:r>
                        <a:rPr lang="en-US" altLang="ko-KR" sz="1200" b="1" i="0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#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구</a:t>
                      </a:r>
                      <a:r>
                        <a:rPr lang="en-US" altLang="ko-KR" sz="1200" b="1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#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동</a:t>
                      </a:r>
                      <a:r>
                        <a:rPr lang="en-US" altLang="ko-KR" sz="1200" b="1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#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extLst>
                  <a:ext uri="{0D108BD9-81ED-4DB2-BD59-A6C34878D82A}">
                    <a16:rowId xmlns:a16="http://schemas.microsoft.com/office/drawing/2014/main" val="1885145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S01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D01</a:t>
                      </a: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3234134965"/>
                  </a:ext>
                </a:extLst>
              </a:tr>
              <a:tr h="16812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S02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D01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629275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03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D02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1838631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4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04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D02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2396131815"/>
                  </a:ext>
                </a:extLst>
              </a:tr>
              <a:tr h="16812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5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05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D03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223713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6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06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D03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4095964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7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07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D03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69222219"/>
                  </a:ext>
                </a:extLst>
              </a:tr>
              <a:tr h="16812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8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08</a:t>
                      </a:r>
                      <a:endParaRPr lang="en-US" sz="1200" dirty="0"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D04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3910044569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9CB8FB3-EFAE-2F85-7A5B-359077C1A5B7}"/>
              </a:ext>
            </a:extLst>
          </p:cNvPr>
          <p:cNvGraphicFramePr>
            <a:graphicFrameLocks noGrp="1"/>
          </p:cNvGraphicFramePr>
          <p:nvPr/>
        </p:nvGraphicFramePr>
        <p:xfrm>
          <a:off x="9320000" y="2640110"/>
          <a:ext cx="1889709" cy="163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3994">
                  <a:extLst>
                    <a:ext uri="{9D8B030D-6E8A-4147-A177-3AD203B41FA5}">
                      <a16:colId xmlns:a16="http://schemas.microsoft.com/office/drawing/2014/main" val="1746824940"/>
                    </a:ext>
                  </a:extLst>
                </a:gridCol>
                <a:gridCol w="955715">
                  <a:extLst>
                    <a:ext uri="{9D8B030D-6E8A-4147-A177-3AD203B41FA5}">
                      <a16:colId xmlns:a16="http://schemas.microsoft.com/office/drawing/2014/main" val="10318978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동</a:t>
                      </a:r>
                      <a:r>
                        <a:rPr lang="en-US" altLang="ko-KR" sz="1200" b="1" u="none" dirty="0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#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u="none" dirty="0" err="1">
                          <a:solidFill>
                            <a:srgbClr val="FFC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동이름</a:t>
                      </a:r>
                      <a:endParaRPr lang="ko-KR" altLang="en-US" sz="1200" b="1" u="none" dirty="0">
                        <a:solidFill>
                          <a:srgbClr val="FFC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74648" marR="74648" marT="62206" marB="46655" anchor="ctr"/>
                </a:tc>
                <a:extLst>
                  <a:ext uri="{0D108BD9-81ED-4DB2-BD59-A6C34878D82A}">
                    <a16:rowId xmlns:a16="http://schemas.microsoft.com/office/drawing/2014/main" val="1885145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D01</a:t>
                      </a: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0070C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ADLaM Display" panose="02010000000000000000" pitchFamily="2" charset="0"/>
                        </a:rPr>
                        <a:t>정자동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3234134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D02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0070C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ADLaM Display" panose="02010000000000000000" pitchFamily="2" charset="0"/>
                        </a:rPr>
                        <a:t>서현동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1838631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D03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err="1">
                          <a:solidFill>
                            <a:srgbClr val="0070C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ADLaM Display" panose="02010000000000000000" pitchFamily="2" charset="0"/>
                        </a:rPr>
                        <a:t>수내동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69222219"/>
                  </a:ext>
                </a:extLst>
              </a:tr>
              <a:tr h="16812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70C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D04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err="1">
                          <a:solidFill>
                            <a:srgbClr val="0070C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ADLaM Display" panose="02010000000000000000" pitchFamily="2" charset="0"/>
                        </a:rPr>
                        <a:t>판교동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ADLaM Display" panose="02010000000000000000" pitchFamily="2" charset="0"/>
                      </a:endParaRPr>
                    </a:p>
                  </a:txBody>
                  <a:tcPr marT="76200" marB="57150" anchor="ctr"/>
                </a:tc>
                <a:extLst>
                  <a:ext uri="{0D108BD9-81ED-4DB2-BD59-A6C34878D82A}">
                    <a16:rowId xmlns:a16="http://schemas.microsoft.com/office/drawing/2014/main" val="391004456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3268F56-756E-BBB5-2499-D32777BFE1F0}"/>
              </a:ext>
            </a:extLst>
          </p:cNvPr>
          <p:cNvSpPr txBox="1"/>
          <p:nvPr/>
        </p:nvSpPr>
        <p:spPr>
          <a:xfrm>
            <a:off x="704861" y="79439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400" dirty="0"/>
              <a:t>Boyce/Codd</a:t>
            </a:r>
            <a:r>
              <a:rPr lang="ko-KR" altLang="en-US" sz="2400" dirty="0"/>
              <a:t>정규화</a:t>
            </a:r>
            <a:r>
              <a:rPr lang="en-US" altLang="ko-KR" sz="2400" dirty="0"/>
              <a:t>(BCNF)</a:t>
            </a:r>
            <a:r>
              <a:rPr lang="en-US" altLang="ko-KR" sz="1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  <a:cs typeface="ADLaM Display" panose="02010000000000000000" pitchFamily="2" charset="0"/>
              </a:rPr>
              <a:t>– 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  <a:cs typeface="ADLaM Display" panose="02010000000000000000" pitchFamily="2" charset="0"/>
              </a:rPr>
              <a:t>모든 결정자를 후보키로 생성한다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  <a:cs typeface="ADLaM Display" panose="02010000000000000000" pitchFamily="2" charset="0"/>
              </a:rPr>
              <a:t>.</a:t>
            </a:r>
            <a:endParaRPr lang="en-US" altLang="ko-KR" sz="2400" dirty="0">
              <a:latin typeface="HY헤드라인M" panose="02030600000101010101" pitchFamily="18" charset="-127"/>
              <a:ea typeface="HY헤드라인M" panose="02030600000101010101" pitchFamily="18" charset="-127"/>
              <a:cs typeface="ADLaM Display" panose="0201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E179C6-C5B4-B7C5-75B6-6A412AB3EF2D}"/>
              </a:ext>
            </a:extLst>
          </p:cNvPr>
          <p:cNvSpPr txBox="1"/>
          <p:nvPr/>
        </p:nvSpPr>
        <p:spPr>
          <a:xfrm>
            <a:off x="1064585" y="1195755"/>
            <a:ext cx="101509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릴레이션의 함수 종속 관계에서 모든 결정자가 </a:t>
            </a:r>
            <a:r>
              <a:rPr lang="ko-KR" altLang="en-US" sz="1400" i="0" dirty="0" err="1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후보키이면</a:t>
            </a: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 보이스</a:t>
            </a:r>
            <a:r>
              <a:rPr lang="en-US" altLang="ko-KR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코드 정규형에 속한다</a:t>
            </a:r>
            <a:r>
              <a:rPr lang="en-US" altLang="ko-KR" sz="1400" i="0" dirty="0">
                <a:solidFill>
                  <a:srgbClr val="333333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모든 결정자는 주식별자 여야 한다는 것이다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1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04DD10-C2C5-4C9D-1CDC-571853DCF407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정규화 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en-US" altLang="ko-KR" sz="14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C75AF1-9A41-9D5A-4EAB-DF8D3B907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53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98C8E5-DBB3-4371-B958-FC7844FE0C9A}"/>
              </a:ext>
            </a:extLst>
          </p:cNvPr>
          <p:cNvSpPr txBox="1"/>
          <p:nvPr/>
        </p:nvSpPr>
        <p:spPr>
          <a:xfrm>
            <a:off x="5753141" y="12988"/>
            <a:ext cx="3240471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/>
            <a:r>
              <a:rPr lang="en-US" altLang="ko-KR" sz="1600" b="1" i="0" u="none" strike="noStrike" dirty="0">
                <a:effectLst/>
                <a:latin typeface="-apple-system"/>
                <a:hlinkClick r:id="rId3"/>
              </a:rPr>
              <a:t>BC</a:t>
            </a:r>
            <a:r>
              <a:rPr lang="ko-KR" altLang="en-US" sz="1600" b="1" i="0" u="none" strike="noStrike" dirty="0">
                <a:effectLst/>
                <a:latin typeface="-apple-system"/>
                <a:hlinkClick r:id="rId3"/>
              </a:rPr>
              <a:t>정규형</a:t>
            </a:r>
            <a:endParaRPr lang="en-US" altLang="ko-KR" sz="1600" b="0" i="0" u="none" strike="noStrike" dirty="0">
              <a:effectLst/>
              <a:latin typeface="-apple-system"/>
              <a:hlinkClick r:id="rId3"/>
            </a:endParaRPr>
          </a:p>
          <a:p>
            <a:pPr fontAlgn="t"/>
            <a:r>
              <a:rPr lang="ko-KR" altLang="en-US" sz="1400" b="1" i="0" dirty="0">
                <a:solidFill>
                  <a:srgbClr val="FF0000"/>
                </a:solidFill>
                <a:effectLst/>
                <a:latin typeface="-apple-system"/>
              </a:rPr>
              <a:t>  종속자는 식별자이고</a:t>
            </a:r>
            <a:r>
              <a:rPr lang="en-US" altLang="ko-KR" sz="1400" b="1" i="0" dirty="0">
                <a:solidFill>
                  <a:srgbClr val="FF0000"/>
                </a:solidFill>
                <a:effectLst/>
                <a:latin typeface="-apple-system"/>
              </a:rPr>
              <a:t>, </a:t>
            </a:r>
          </a:p>
          <a:p>
            <a:pPr fontAlgn="t"/>
            <a:r>
              <a:rPr lang="en-US" altLang="ko-KR" sz="1400" b="1" dirty="0">
                <a:solidFill>
                  <a:srgbClr val="FF0000"/>
                </a:solidFill>
                <a:latin typeface="-apple-system"/>
              </a:rPr>
              <a:t>  </a:t>
            </a:r>
            <a:r>
              <a:rPr lang="ko-KR" altLang="en-US" sz="1400" b="1" dirty="0">
                <a:solidFill>
                  <a:srgbClr val="FF0000"/>
                </a:solidFill>
                <a:latin typeface="-apple-system"/>
              </a:rPr>
              <a:t>종속자가 </a:t>
            </a:r>
            <a:r>
              <a:rPr lang="en-US" altLang="ko-KR" sz="1400" b="1" dirty="0">
                <a:solidFill>
                  <a:srgbClr val="FF0000"/>
                </a:solidFill>
                <a:latin typeface="-apple-system"/>
              </a:rPr>
              <a:t>PK</a:t>
            </a:r>
            <a:r>
              <a:rPr lang="ko-KR" altLang="en-US" sz="1400" b="1" dirty="0">
                <a:solidFill>
                  <a:srgbClr val="FF0000"/>
                </a:solidFill>
                <a:latin typeface="-apple-system"/>
              </a:rPr>
              <a:t>여서는 안된다</a:t>
            </a:r>
            <a:r>
              <a:rPr lang="en-US" altLang="ko-KR" sz="1400" b="1" dirty="0">
                <a:solidFill>
                  <a:srgbClr val="FF0000"/>
                </a:solidFill>
                <a:latin typeface="-apple-system"/>
              </a:rPr>
              <a:t>.</a:t>
            </a:r>
            <a:endParaRPr lang="en-US" altLang="ko-KR" sz="1400" b="1" i="0" dirty="0">
              <a:solidFill>
                <a:srgbClr val="FF0000"/>
              </a:solidFill>
              <a:effectLst/>
              <a:latin typeface="-apple-system"/>
            </a:endParaRPr>
          </a:p>
          <a:p>
            <a:pPr fontAlgn="t"/>
            <a:r>
              <a:rPr lang="ko-KR" altLang="en-US" sz="1400" b="1" i="0" dirty="0">
                <a:solidFill>
                  <a:srgbClr val="FF0000"/>
                </a:solidFill>
                <a:effectLst/>
                <a:latin typeface="-apple-system"/>
              </a:rPr>
              <a:t>  모든 결정자는 주 식별자여야 한다</a:t>
            </a:r>
            <a:r>
              <a:rPr lang="en-US" altLang="ko-KR" sz="1400" b="1" i="0" dirty="0">
                <a:solidFill>
                  <a:srgbClr val="FF0000"/>
                </a:solidFill>
                <a:effectLst/>
                <a:latin typeface="-apple-system"/>
              </a:rPr>
              <a:t>.</a:t>
            </a:r>
            <a:endParaRPr lang="en-US" altLang="ko-KR" b="1" i="0" u="none" strike="noStrike" dirty="0">
              <a:solidFill>
                <a:srgbClr val="FF0000"/>
              </a:solidFill>
              <a:effectLst/>
              <a:latin typeface="-apple-system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26963067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1AAB282D-DE68-7E33-9485-7740F78B8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504" y="1643454"/>
            <a:ext cx="9394409" cy="50403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2DEED4-9E6A-2D6F-7CC3-5BCCED622F3B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A25B5B-DB14-1E7D-4026-069AF0F7CE36}"/>
              </a:ext>
            </a:extLst>
          </p:cNvPr>
          <p:cNvSpPr txBox="1"/>
          <p:nvPr/>
        </p:nvSpPr>
        <p:spPr>
          <a:xfrm>
            <a:off x="704861" y="79439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제</a:t>
            </a:r>
            <a:r>
              <a:rPr lang="en-US" altLang="ko-KR" sz="2400" dirty="0"/>
              <a:t>4</a:t>
            </a:r>
            <a:r>
              <a:rPr lang="ko-KR" altLang="en-US" sz="2400" dirty="0"/>
              <a:t>정규형</a:t>
            </a:r>
            <a:r>
              <a:rPr lang="en-US" altLang="ko-KR" sz="2400" dirty="0"/>
              <a:t>(4NF)</a:t>
            </a:r>
            <a:r>
              <a:rPr lang="en-US" altLang="ko-KR" sz="1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– 4th Normal Form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  <a:cs typeface="ADLaM Display" panose="02010000000000000000" pitchFamily="2" charset="0"/>
              </a:rPr>
              <a:t> - 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  <a:cs typeface="ADLaM Display" panose="02010000000000000000" pitchFamily="2" charset="0"/>
              </a:rPr>
              <a:t>다가 종속 제거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8C5FC4-A183-45DA-9DA4-FF4FA9189A00}"/>
              </a:ext>
            </a:extLst>
          </p:cNvPr>
          <p:cNvSpPr txBox="1"/>
          <p:nvPr/>
        </p:nvSpPr>
        <p:spPr>
          <a:xfrm>
            <a:off x="1064585" y="1195755"/>
            <a:ext cx="107785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b="1" i="0" dirty="0"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릴레이션이 보이스</a:t>
            </a:r>
            <a:r>
              <a:rPr lang="en-US" altLang="ko-KR" sz="1400" b="1" i="0" dirty="0"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400" b="1" i="0" dirty="0"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코드 </a:t>
            </a:r>
            <a:r>
              <a:rPr lang="ko-KR" altLang="en-US" sz="1400" b="1" i="0" dirty="0" err="1"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정규형를</a:t>
            </a:r>
            <a:r>
              <a:rPr lang="ko-KR" altLang="en-US" sz="1400" b="1" i="0" dirty="0"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 만족하면서</a:t>
            </a:r>
            <a:r>
              <a:rPr lang="en-US" altLang="ko-KR" sz="1400" b="1" i="0" dirty="0"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1" i="0" u="sng" dirty="0">
                <a:solidFill>
                  <a:srgbClr val="FF0000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함수 종속이 아닌 다가 종속</a:t>
            </a:r>
            <a:r>
              <a:rPr lang="en-US" altLang="ko-KR" sz="1400" b="1" i="0" u="sng" dirty="0">
                <a:solidFill>
                  <a:srgbClr val="FF0000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-US" altLang="ko-KR" sz="1400" b="1" i="0" u="sng" dirty="0" err="1">
                <a:solidFill>
                  <a:srgbClr val="FF0000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MVD;MultiValued</a:t>
            </a:r>
            <a:r>
              <a:rPr lang="en-US" altLang="ko-KR" sz="1400" b="1" i="0" u="sng" dirty="0">
                <a:solidFill>
                  <a:srgbClr val="FF0000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 Dependency)</a:t>
            </a:r>
            <a:r>
              <a:rPr lang="ko-KR" altLang="en-US" sz="1400" b="1" i="0" u="sng" dirty="0">
                <a:solidFill>
                  <a:srgbClr val="FF0000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을 제거</a:t>
            </a:r>
            <a:r>
              <a:rPr lang="ko-KR" altLang="en-US" sz="1400" b="1" i="0" dirty="0"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해야 만족할 수 있다</a:t>
            </a:r>
            <a:r>
              <a:rPr lang="en-US" altLang="ko-KR" sz="1400" b="1" i="0" dirty="0"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b="1" dirty="0"/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AF00A312-5CBB-D952-BC51-6B18AA379F41}"/>
              </a:ext>
            </a:extLst>
          </p:cNvPr>
          <p:cNvSpPr/>
          <p:nvPr/>
        </p:nvSpPr>
        <p:spPr>
          <a:xfrm rot="10800000">
            <a:off x="3833867" y="3030090"/>
            <a:ext cx="199819" cy="21562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C74EA8B-452E-AC09-CA32-6CC346A99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886" y="4875310"/>
            <a:ext cx="2629267" cy="1724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DD4580-8E35-6970-7E52-B247E015B668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정규화 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en-US" altLang="ko-KR" sz="14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9E4C61-F80E-5C29-0744-E2D63C4C3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54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3537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5AFF0882-0320-82AC-161C-151715EBF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447" y="1599909"/>
            <a:ext cx="8986176" cy="51299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2DEED4-9E6A-2D6F-7CC3-5BCCED622F3B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A25B5B-DB14-1E7D-4026-069AF0F7CE36}"/>
              </a:ext>
            </a:extLst>
          </p:cNvPr>
          <p:cNvSpPr txBox="1"/>
          <p:nvPr/>
        </p:nvSpPr>
        <p:spPr>
          <a:xfrm>
            <a:off x="704861" y="79439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제</a:t>
            </a:r>
            <a:r>
              <a:rPr lang="en-US" altLang="ko-KR" sz="2400" dirty="0"/>
              <a:t>5</a:t>
            </a:r>
            <a:r>
              <a:rPr lang="ko-KR" altLang="en-US" sz="2400" dirty="0"/>
              <a:t>정규형</a:t>
            </a:r>
            <a:r>
              <a:rPr lang="en-US" altLang="ko-KR" sz="2400" dirty="0"/>
              <a:t>(5NF)</a:t>
            </a:r>
            <a:r>
              <a:rPr lang="en-US" altLang="ko-KR" sz="1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- 5th Normal Form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  <a:cs typeface="ADLaM Display" panose="02010000000000000000" pitchFamily="2" charset="0"/>
              </a:rPr>
              <a:t> - 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  <a:cs typeface="ADLaM Display" panose="02010000000000000000" pitchFamily="2" charset="0"/>
              </a:rPr>
              <a:t>조인 종속 제거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8C5FC4-A183-45DA-9DA4-FF4FA9189A00}"/>
              </a:ext>
            </a:extLst>
          </p:cNvPr>
          <p:cNvSpPr txBox="1"/>
          <p:nvPr/>
        </p:nvSpPr>
        <p:spPr>
          <a:xfrm>
            <a:off x="1064585" y="1195755"/>
            <a:ext cx="107785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b="1" i="0" dirty="0"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릴레이션이 제</a:t>
            </a:r>
            <a:r>
              <a:rPr lang="en-US" altLang="ko-KR" sz="1400" b="1" i="0" dirty="0"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sz="1400" b="1" i="0" dirty="0"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정규형을 만족하면서 </a:t>
            </a:r>
            <a:r>
              <a:rPr lang="ko-KR" altLang="en-US" sz="1400" b="1" i="0" u="sng" dirty="0">
                <a:solidFill>
                  <a:srgbClr val="FF0000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후보키를 통하지 않는 조인 종속</a:t>
            </a:r>
            <a:r>
              <a:rPr lang="en-US" altLang="ko-KR" sz="1400" b="1" i="0" u="sng" dirty="0">
                <a:solidFill>
                  <a:srgbClr val="FF0000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-US" altLang="ko-KR" sz="1400" b="1" i="0" u="sng" dirty="0" err="1">
                <a:solidFill>
                  <a:srgbClr val="FF0000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JD;Join</a:t>
            </a:r>
            <a:r>
              <a:rPr lang="en-US" altLang="ko-KR" sz="1400" b="1" i="0" u="sng" dirty="0">
                <a:solidFill>
                  <a:srgbClr val="FF0000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 Dependency)</a:t>
            </a:r>
            <a:r>
              <a:rPr lang="ko-KR" altLang="en-US" sz="1400" b="1" i="0" u="sng" dirty="0">
                <a:solidFill>
                  <a:srgbClr val="FF0000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을 제거</a:t>
            </a:r>
            <a:r>
              <a:rPr lang="ko-KR" altLang="en-US" sz="1400" b="1" i="0" dirty="0"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해야 만족할 수 있다</a:t>
            </a:r>
            <a:r>
              <a:rPr lang="en-US" altLang="ko-KR" sz="1400" b="1" i="0" dirty="0"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b="1" dirty="0"/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34A632F8-B344-52CB-2C9A-072AC22BF0F1}"/>
              </a:ext>
            </a:extLst>
          </p:cNvPr>
          <p:cNvSpPr/>
          <p:nvPr/>
        </p:nvSpPr>
        <p:spPr>
          <a:xfrm rot="10800000">
            <a:off x="3838220" y="3006780"/>
            <a:ext cx="199819" cy="21562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DEC6888-F6EC-A57D-75C8-096F9FC2E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0765" y="4871784"/>
            <a:ext cx="2705478" cy="18195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1CC22E-F703-D79A-D7A7-16C61C1A8433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정규화 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en-US" altLang="ko-KR" sz="14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52FAEC-30C8-03F9-3ECB-15A2A68B7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55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88694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42DEED4-9E6A-2D6F-7CC3-5BCCED622F3B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Generalization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A25B5B-DB14-1E7D-4026-069AF0F7CE36}"/>
              </a:ext>
            </a:extLst>
          </p:cNvPr>
          <p:cNvSpPr txBox="1"/>
          <p:nvPr/>
        </p:nvSpPr>
        <p:spPr>
          <a:xfrm>
            <a:off x="704861" y="79439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요약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F16988C-585D-6013-F4F6-98D64D59F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967" y="1285576"/>
            <a:ext cx="9612066" cy="42868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B2B0AA-C208-B9EB-E65C-89BA67620C0C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정규화 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en-US" altLang="ko-KR" sz="14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3726F68-3C3A-EF6E-F91D-C105185A2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56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69103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C12761D-4196-8A74-917A-AD3246140B00}"/>
              </a:ext>
            </a:extLst>
          </p:cNvPr>
          <p:cNvSpPr txBox="1"/>
          <p:nvPr/>
        </p:nvSpPr>
        <p:spPr>
          <a:xfrm>
            <a:off x="0" y="2465999"/>
            <a:ext cx="1219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6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 </a:t>
            </a:r>
            <a:r>
              <a:rPr lang="en-US" altLang="ko-KR" sz="6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&amp; </a:t>
            </a:r>
            <a:r>
              <a:rPr lang="ko-KR" altLang="en-US" sz="6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en-US" altLang="ko-KR" sz="6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en-US" altLang="ko-KR" sz="6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Generalization &amp; Subtype</a:t>
            </a:r>
            <a:endParaRPr lang="ko-KR" altLang="en-US" sz="6000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5A7D20-B600-C86B-3C0D-E823BAADFB9A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4106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7AE825-702E-E134-722A-4FC614FFA9F1}"/>
              </a:ext>
            </a:extLst>
          </p:cNvPr>
          <p:cNvSpPr txBox="1"/>
          <p:nvPr/>
        </p:nvSpPr>
        <p:spPr>
          <a:xfrm>
            <a:off x="0" y="2642271"/>
            <a:ext cx="1219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3.1. </a:t>
            </a:r>
            <a:r>
              <a:rPr lang="ko-KR" altLang="en-US" sz="4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</a:t>
            </a:r>
            <a:endParaRPr lang="en-US" altLang="ko-KR" sz="4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en-US" altLang="ko-KR" sz="4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Generalization</a:t>
            </a:r>
            <a:endParaRPr lang="ko-KR" altLang="en-US" sz="4800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1BDDD0-3E73-2826-5123-1D963F18FA15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7934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통합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Generalization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데이터 통합의 의견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1064585" y="1557705"/>
            <a:ext cx="10778548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2000" b="1" i="0" dirty="0">
                <a:solidFill>
                  <a:srgbClr val="333333"/>
                </a:solidFill>
                <a:effectLst/>
                <a:latin typeface="+mn-ea"/>
              </a:rPr>
              <a:t>정규화</a:t>
            </a:r>
            <a:r>
              <a:rPr lang="en-US" altLang="ko-KR" sz="2000" b="1" i="0" dirty="0">
                <a:solidFill>
                  <a:srgbClr val="333333"/>
                </a:solidFill>
                <a:effectLst/>
                <a:latin typeface="+mn-ea"/>
              </a:rPr>
              <a:t>(Normalization) </a:t>
            </a:r>
            <a:r>
              <a:rPr lang="ko-KR" altLang="en-US" sz="2000" b="1" i="0" dirty="0">
                <a:solidFill>
                  <a:srgbClr val="333333"/>
                </a:solidFill>
                <a:effectLst/>
                <a:latin typeface="+mn-ea"/>
              </a:rPr>
              <a:t>와 데이터 통합화</a:t>
            </a:r>
            <a:r>
              <a:rPr lang="en-US" altLang="ko-KR" sz="2000" b="1" i="0" dirty="0">
                <a:solidFill>
                  <a:srgbClr val="333333"/>
                </a:solidFill>
                <a:effectLst/>
                <a:latin typeface="+mn-ea"/>
              </a:rPr>
              <a:t>(Generalization)</a:t>
            </a: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이</a:t>
            </a:r>
            <a:r>
              <a:rPr lang="ko-KR" altLang="en-US" sz="2000" b="1" i="0" dirty="0">
                <a:solidFill>
                  <a:srgbClr val="333333"/>
                </a:solidFill>
                <a:effectLst/>
                <a:latin typeface="+mn-ea"/>
              </a:rPr>
              <a:t> 모델링의 꽃이다</a:t>
            </a:r>
            <a:r>
              <a:rPr lang="en-US" altLang="ko-KR" sz="2000" b="1" i="0" dirty="0">
                <a:solidFill>
                  <a:srgbClr val="333333"/>
                </a:solidFill>
                <a:effectLst/>
                <a:latin typeface="+mn-ea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2000" b="1" i="0" dirty="0">
              <a:solidFill>
                <a:srgbClr val="333333"/>
              </a:solidFill>
              <a:effectLst/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2000" b="1" dirty="0">
                <a:latin typeface="+mn-ea"/>
              </a:rPr>
              <a:t>데이터의 본질을 파악하여 분해하는 </a:t>
            </a:r>
            <a:r>
              <a:rPr lang="ko-KR" altLang="en-US" sz="2000" b="1" u="sng" dirty="0">
                <a:solidFill>
                  <a:srgbClr val="FF0000"/>
                </a:solidFill>
                <a:latin typeface="+mn-ea"/>
              </a:rPr>
              <a:t>첫 번째 단계가 정규화</a:t>
            </a:r>
            <a:r>
              <a:rPr lang="ko-KR" altLang="en-US" sz="2000" b="1" dirty="0">
                <a:latin typeface="+mn-ea"/>
              </a:rPr>
              <a:t> 이며</a:t>
            </a:r>
            <a:r>
              <a:rPr lang="en-US" altLang="ko-KR" sz="2000" b="1" dirty="0">
                <a:latin typeface="+mn-ea"/>
              </a:rPr>
              <a:t>,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2000" b="1" dirty="0">
                <a:latin typeface="+mn-ea"/>
              </a:rPr>
              <a:t>분해된 데이터를 묶는 </a:t>
            </a:r>
            <a:r>
              <a:rPr lang="ko-KR" altLang="en-US" sz="2000" b="1" u="sng" dirty="0">
                <a:solidFill>
                  <a:srgbClr val="FF0000"/>
                </a:solidFill>
                <a:latin typeface="+mn-ea"/>
              </a:rPr>
              <a:t>마지막 단계가 통합화</a:t>
            </a:r>
            <a:r>
              <a:rPr lang="ko-KR" altLang="en-US" sz="2000" b="1" dirty="0">
                <a:latin typeface="+mn-ea"/>
              </a:rPr>
              <a:t> 이다</a:t>
            </a:r>
            <a:r>
              <a:rPr lang="en-US" altLang="ko-KR" sz="2000" b="1" dirty="0">
                <a:latin typeface="+mn-ea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2000" b="1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2800" b="1" u="sng" dirty="0">
                <a:solidFill>
                  <a:srgbClr val="FF0000"/>
                </a:solidFill>
                <a:latin typeface="+mn-ea"/>
              </a:rPr>
              <a:t>모델링</a:t>
            </a:r>
            <a:r>
              <a:rPr lang="ko-KR" altLang="en-US" sz="2800" b="1" dirty="0">
                <a:latin typeface="+mn-ea"/>
              </a:rPr>
              <a:t>의 </a:t>
            </a:r>
            <a:r>
              <a:rPr lang="ko-KR" altLang="en-US" sz="2800" b="1" u="sng" dirty="0">
                <a:solidFill>
                  <a:srgbClr val="FF0000"/>
                </a:solidFill>
                <a:latin typeface="+mn-ea"/>
              </a:rPr>
              <a:t>처음은 정규화</a:t>
            </a:r>
            <a:r>
              <a:rPr lang="ko-KR" altLang="en-US" sz="2000" b="1" dirty="0">
                <a:latin typeface="+mn-ea"/>
              </a:rPr>
              <a:t>다</a:t>
            </a:r>
            <a:r>
              <a:rPr lang="en-US" altLang="ko-KR" sz="2000" b="1" dirty="0">
                <a:latin typeface="+mn-ea"/>
              </a:rPr>
              <a:t>. </a:t>
            </a:r>
            <a:r>
              <a:rPr lang="ko-KR" altLang="en-US" sz="2000" b="1" dirty="0">
                <a:latin typeface="+mn-ea"/>
              </a:rPr>
              <a:t>그리고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800" b="1" u="sng" dirty="0">
                <a:solidFill>
                  <a:srgbClr val="FF0000"/>
                </a:solidFill>
                <a:latin typeface="+mn-ea"/>
              </a:rPr>
              <a:t>모델링의 끝은 통합화</a:t>
            </a:r>
            <a:r>
              <a:rPr lang="ko-KR" altLang="en-US" sz="2000" b="1" dirty="0">
                <a:latin typeface="+mn-ea"/>
              </a:rPr>
              <a:t>다</a:t>
            </a:r>
            <a:r>
              <a:rPr lang="en-US" altLang="ko-KR" sz="2000" b="1" dirty="0">
                <a:latin typeface="+mn-ea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2000" b="1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2000" b="1" dirty="0">
                <a:latin typeface="+mn-ea"/>
              </a:rPr>
              <a:t>데이터 통합은 정규화를 기반으로 이루어져야 한다</a:t>
            </a:r>
            <a:r>
              <a:rPr lang="en-US" altLang="ko-KR" sz="2000" b="1" dirty="0">
                <a:latin typeface="+mn-ea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2000" b="1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2000" b="1" dirty="0">
                <a:latin typeface="+mn-ea"/>
              </a:rPr>
              <a:t>통합했을 때 실제 이득 유무를 판단 후 통합한다</a:t>
            </a:r>
            <a:r>
              <a:rPr lang="en-US" altLang="ko-KR" sz="2000" b="1" dirty="0">
                <a:latin typeface="+mn-ea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3CD2E7-1867-2B2D-960E-E153F78A459B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E73C77-C733-3F7C-0864-7C3A497F1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59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65658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통합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Generalization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일반화와 상세화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1064585" y="1557705"/>
            <a:ext cx="1077854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2800" b="1" i="0" dirty="0">
                <a:solidFill>
                  <a:srgbClr val="C00000"/>
                </a:solidFill>
                <a:effectLst/>
                <a:latin typeface="+mn-ea"/>
              </a:rPr>
              <a:t>일반화</a:t>
            </a:r>
            <a:r>
              <a:rPr lang="en-US" altLang="ko-KR" sz="2800" b="1" i="0" dirty="0">
                <a:solidFill>
                  <a:srgbClr val="C00000"/>
                </a:solidFill>
                <a:effectLst/>
                <a:latin typeface="+mn-ea"/>
              </a:rPr>
              <a:t>(</a:t>
            </a:r>
            <a:r>
              <a:rPr lang="en-US" altLang="ko-KR" sz="28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Generalization</a:t>
            </a:r>
            <a:r>
              <a:rPr lang="en-US" altLang="ko-KR" sz="2800" b="1" i="0" dirty="0">
                <a:solidFill>
                  <a:srgbClr val="C00000"/>
                </a:solidFill>
                <a:effectLst/>
                <a:latin typeface="+mn-ea"/>
              </a:rPr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모델링에서 일반화한다는 것은 데이터 통합</a:t>
            </a:r>
            <a:r>
              <a:rPr lang="en-US" altLang="ko-KR" sz="1600" b="1" dirty="0">
                <a:solidFill>
                  <a:srgbClr val="333333"/>
                </a:solidFill>
                <a:latin typeface="+mn-ea"/>
              </a:rPr>
              <a:t>(Generalization)</a:t>
            </a: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을 의미한다</a:t>
            </a:r>
            <a:endParaRPr lang="en-US" altLang="ko-KR" sz="1600" b="1" dirty="0">
              <a:solidFill>
                <a:srgbClr val="333333"/>
              </a:solidFill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데이터를 일반화하면 자연히 묶이게 되고 자연스럽게 통합된다</a:t>
            </a:r>
            <a:r>
              <a:rPr lang="en-US" altLang="ko-KR" sz="1600" b="1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600" b="1" dirty="0">
              <a:solidFill>
                <a:srgbClr val="333333"/>
              </a:solidFill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600" b="1" dirty="0">
              <a:solidFill>
                <a:srgbClr val="333333"/>
              </a:solidFill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rgbClr val="C00000"/>
                </a:solidFill>
                <a:latin typeface="+mn-ea"/>
              </a:rPr>
              <a:t>상세화</a:t>
            </a:r>
            <a:r>
              <a:rPr lang="en-US" altLang="ko-KR" sz="2000" b="1" dirty="0">
                <a:solidFill>
                  <a:srgbClr val="C00000"/>
                </a:solidFill>
                <a:latin typeface="+mn-ea"/>
              </a:rPr>
              <a:t>(Specialization)</a:t>
            </a:r>
            <a:r>
              <a:rPr lang="ko-KR" altLang="en-US" sz="2000" b="1" dirty="0">
                <a:solidFill>
                  <a:srgbClr val="C00000"/>
                </a:solidFill>
                <a:latin typeface="+mn-ea"/>
              </a:rPr>
              <a:t> </a:t>
            </a:r>
            <a:endParaRPr lang="en-US" altLang="ko-KR" sz="2000" b="1" dirty="0">
              <a:solidFill>
                <a:srgbClr val="C00000"/>
              </a:solidFill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</a:rPr>
              <a:t>일반화 개념에서 구체적인 개념으로 만드는 것이 상세화다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600" b="1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A79BEA-8DAA-338E-B149-B5FB91A25A86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EA8409-FB83-942C-8748-79D01469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60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22218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통합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Generalization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통합 시 유의사항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1064585" y="1557705"/>
            <a:ext cx="10778548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2000" b="1" i="0" dirty="0">
                <a:solidFill>
                  <a:srgbClr val="333333"/>
                </a:solidFill>
                <a:effectLst/>
                <a:latin typeface="+mn-ea"/>
              </a:rPr>
              <a:t>성능 저하 </a:t>
            </a:r>
            <a:r>
              <a:rPr lang="en-US" altLang="ko-KR" sz="2000" b="1" i="0" dirty="0">
                <a:solidFill>
                  <a:srgbClr val="333333"/>
                </a:solidFill>
                <a:effectLst/>
                <a:latin typeface="+mn-ea"/>
              </a:rPr>
              <a:t>– </a:t>
            </a:r>
            <a:r>
              <a:rPr lang="ko-KR" altLang="en-US" sz="2000" b="1" i="0" dirty="0">
                <a:solidFill>
                  <a:srgbClr val="333333"/>
                </a:solidFill>
                <a:effectLst/>
                <a:latin typeface="+mn-ea"/>
              </a:rPr>
              <a:t>주요한 요인</a:t>
            </a:r>
            <a:endParaRPr lang="en-US" altLang="ko-KR" sz="2000" b="1" i="0" dirty="0">
              <a:solidFill>
                <a:srgbClr val="333333"/>
              </a:solidFill>
              <a:effectLst/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rgbClr val="333333"/>
                </a:solidFill>
                <a:latin typeface="+mn-ea"/>
              </a:rPr>
              <a:t>데이터를 통합하면 데이터는 많아지면서 성능이 나빠질 수 있다</a:t>
            </a:r>
            <a:r>
              <a:rPr lang="en-US" altLang="ko-KR" sz="1200" b="1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rgbClr val="333333"/>
                </a:solidFill>
                <a:latin typeface="+mn-ea"/>
              </a:rPr>
              <a:t>통합 후 성능이 좋아지는 경우도 많아서</a:t>
            </a:r>
            <a:r>
              <a:rPr lang="en-US" altLang="ko-KR" sz="1200" b="1" dirty="0">
                <a:solidFill>
                  <a:srgbClr val="333333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rgbClr val="333333"/>
                </a:solidFill>
                <a:latin typeface="+mn-ea"/>
              </a:rPr>
              <a:t>통합을 추천함</a:t>
            </a:r>
            <a:r>
              <a:rPr lang="en-US" altLang="ko-KR" sz="1200" b="1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무결성 저하 </a:t>
            </a:r>
            <a:r>
              <a:rPr lang="en-US" altLang="ko-KR" sz="2000" b="1" dirty="0">
                <a:solidFill>
                  <a:srgbClr val="333333"/>
                </a:solidFill>
                <a:latin typeface="+mn-ea"/>
              </a:rPr>
              <a:t>– </a:t>
            </a: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마이너 요인</a:t>
            </a: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데이터를 통합하면 데이터 무결성이 저하될 수 있다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통합해서 같이 사용하게 됨으로써 제약 조건을 생성하지 못하거나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도메인을 정확히 설정하지 못할 수 있다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정체성 희석 </a:t>
            </a: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333333"/>
                </a:solidFill>
                <a:latin typeface="+mn-ea"/>
              </a:rPr>
              <a:t>     – </a:t>
            </a:r>
            <a:r>
              <a:rPr lang="en-US" altLang="ko-KR" sz="1200" b="1" dirty="0">
                <a:solidFill>
                  <a:srgbClr val="333333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rgbClr val="333333"/>
                </a:solidFill>
                <a:latin typeface="+mn-ea"/>
              </a:rPr>
              <a:t>예컨대</a:t>
            </a:r>
            <a:r>
              <a:rPr lang="en-US" altLang="ko-KR" sz="1200" b="1" dirty="0">
                <a:solidFill>
                  <a:srgbClr val="333333"/>
                </a:solidFill>
                <a:latin typeface="+mn-ea"/>
              </a:rPr>
              <a:t>,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Party Entity Model</a:t>
            </a:r>
            <a:r>
              <a:rPr lang="en-US" altLang="ko-KR" sz="1600" b="1" dirty="0">
                <a:solidFill>
                  <a:srgbClr val="333333"/>
                </a:solidFill>
                <a:latin typeface="+mn-ea"/>
              </a:rPr>
              <a:t> </a:t>
            </a:r>
            <a:r>
              <a:rPr lang="en-US" altLang="ko-KR" sz="1200" b="1" dirty="0">
                <a:solidFill>
                  <a:srgbClr val="333333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사원과 부서</a:t>
            </a:r>
            <a:r>
              <a:rPr lang="ko-KR" altLang="en-US" sz="1200" b="1" dirty="0">
                <a:solidFill>
                  <a:srgbClr val="333333"/>
                </a:solidFill>
                <a:latin typeface="+mn-ea"/>
              </a:rPr>
              <a:t>를 통합</a:t>
            </a:r>
            <a:r>
              <a:rPr lang="en-US" altLang="ko-KR" sz="1200" b="1" dirty="0">
                <a:solidFill>
                  <a:srgbClr val="333333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rgbClr val="333333"/>
                </a:solidFill>
                <a:latin typeface="+mn-ea"/>
              </a:rPr>
              <a:t>성격이 달라서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비추</a:t>
            </a:r>
            <a:r>
              <a:rPr lang="en-US" altLang="ko-KR" sz="1200" b="1" dirty="0">
                <a:solidFill>
                  <a:srgbClr val="333333"/>
                </a:solidFill>
                <a:latin typeface="+mn-ea"/>
              </a:rPr>
              <a:t>),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사원과 고객</a:t>
            </a:r>
            <a:r>
              <a:rPr lang="ko-KR" altLang="en-US" sz="1200" b="1" dirty="0">
                <a:solidFill>
                  <a:srgbClr val="333333"/>
                </a:solidFill>
                <a:latin typeface="+mn-ea"/>
              </a:rPr>
              <a:t>을 통합</a:t>
            </a:r>
            <a:r>
              <a:rPr lang="en-US" altLang="ko-KR" sz="1200" b="1" dirty="0">
                <a:solidFill>
                  <a:srgbClr val="333333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rgbClr val="333333"/>
                </a:solidFill>
                <a:latin typeface="+mn-ea"/>
              </a:rPr>
              <a:t>성격이 유사하여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가능하지만 역시 비추</a:t>
            </a:r>
            <a:r>
              <a:rPr lang="en-US" altLang="ko-KR" sz="1200" b="1" dirty="0">
                <a:solidFill>
                  <a:srgbClr val="333333"/>
                </a:solidFill>
                <a:latin typeface="+mn-ea"/>
              </a:rPr>
              <a:t>))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지나치게 통합하면 데이터의 정체성이 희석된다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각각의 데이터의 의미가 모호한 문제가 발생될 수 있다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마이그레이션 이슈</a:t>
            </a: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기존에 사용하던 </a:t>
            </a:r>
            <a:r>
              <a:rPr lang="ko-KR" altLang="en-US" sz="1200" b="1" dirty="0" err="1">
                <a:latin typeface="+mn-ea"/>
              </a:rPr>
              <a:t>엔터티를</a:t>
            </a:r>
            <a:r>
              <a:rPr lang="ko-KR" altLang="en-US" sz="1200" b="1" dirty="0">
                <a:latin typeface="+mn-ea"/>
              </a:rPr>
              <a:t> 통합할 때는 데이터 마이그레이션을 고려해야 한다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통합하는 데 있어 모든 조건을 만족하더라도 마이그레이션에 문제가 생기면 통합 모델을 사용할 수 없다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시스템을 오픈하는 시점에 절대적인 마이그레이션 시간이 필요하다</a:t>
            </a:r>
            <a:r>
              <a:rPr lang="en-US" altLang="ko-KR" sz="1200" b="1" dirty="0">
                <a:latin typeface="+mn-ea"/>
              </a:rPr>
              <a:t>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370D4A-1DC2-AFE8-3AAB-C30C8AFCEEEA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7CCB9C-83F7-9825-178B-E826AA7B6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61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362746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통합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Generalization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 </a:t>
            </a:r>
            <a:r>
              <a:rPr lang="ko-KR" altLang="en-US" sz="2400" u="sng" dirty="0">
                <a:solidFill>
                  <a:srgbClr val="FF0000"/>
                </a:solidFill>
              </a:rPr>
              <a:t>통합의 사례</a:t>
            </a:r>
            <a:endParaRPr lang="en-US" altLang="ko-KR" sz="2400" u="sng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704861" y="1557705"/>
            <a:ext cx="1113827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i="0" dirty="0">
                <a:solidFill>
                  <a:srgbClr val="333333"/>
                </a:solidFill>
                <a:effectLst/>
                <a:latin typeface="+mn-ea"/>
              </a:rPr>
              <a:t>1. </a:t>
            </a:r>
            <a:r>
              <a:rPr lang="ko-KR" altLang="en-US" sz="2000" b="1" i="0" dirty="0">
                <a:solidFill>
                  <a:srgbClr val="333333"/>
                </a:solidFill>
                <a:effectLst/>
                <a:latin typeface="+mn-ea"/>
              </a:rPr>
              <a:t>데이터의 성격이 유사할 때</a:t>
            </a:r>
            <a:endParaRPr lang="en-US" altLang="ko-KR" sz="2000" b="1" i="0" dirty="0">
              <a:solidFill>
                <a:srgbClr val="333333"/>
              </a:solidFill>
              <a:effectLst/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rgbClr val="333333"/>
                </a:solidFill>
                <a:latin typeface="+mn-ea"/>
              </a:rPr>
              <a:t>가장 원론적인 원칙은 데이터의 성격</a:t>
            </a:r>
            <a:r>
              <a:rPr lang="en-US" altLang="ko-KR" sz="1200" b="1" dirty="0">
                <a:solidFill>
                  <a:srgbClr val="333333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rgbClr val="333333"/>
                </a:solidFill>
                <a:latin typeface="+mn-ea"/>
              </a:rPr>
              <a:t>본질</a:t>
            </a:r>
            <a:r>
              <a:rPr lang="en-US" altLang="ko-KR" sz="1200" b="1" dirty="0">
                <a:solidFill>
                  <a:srgbClr val="333333"/>
                </a:solidFill>
                <a:latin typeface="+mn-ea"/>
              </a:rPr>
              <a:t>)</a:t>
            </a:r>
            <a:r>
              <a:rPr lang="ko-KR" altLang="en-US" sz="1200" b="1" dirty="0">
                <a:solidFill>
                  <a:srgbClr val="333333"/>
                </a:solidFill>
                <a:latin typeface="+mn-ea"/>
              </a:rPr>
              <a:t>이 유사할 때 </a:t>
            </a:r>
            <a:endParaRPr lang="en-US" altLang="ko-KR" sz="1200" b="1" dirty="0">
              <a:solidFill>
                <a:srgbClr val="333333"/>
              </a:solidFill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rgbClr val="333333"/>
                </a:solidFill>
                <a:latin typeface="+mn-ea"/>
              </a:rPr>
              <a:t>통합할 수 있다는 것이다</a:t>
            </a:r>
            <a:r>
              <a:rPr lang="en-US" altLang="ko-KR" sz="1200" b="1" dirty="0">
                <a:solidFill>
                  <a:srgbClr val="333333"/>
                </a:solidFill>
                <a:latin typeface="+mn-ea"/>
              </a:rPr>
              <a:t>.  </a:t>
            </a:r>
            <a:r>
              <a:rPr lang="ko-KR" altLang="en-US" sz="1200" b="1" dirty="0">
                <a:solidFill>
                  <a:srgbClr val="333333"/>
                </a:solidFill>
                <a:latin typeface="+mn-ea"/>
              </a:rPr>
              <a:t>데이터의 성격이 개념</a:t>
            </a:r>
            <a:r>
              <a:rPr lang="en-US" altLang="ko-KR" sz="1200" b="1" dirty="0">
                <a:solidFill>
                  <a:srgbClr val="333333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rgbClr val="333333"/>
                </a:solidFill>
                <a:latin typeface="+mn-ea"/>
              </a:rPr>
              <a:t>본질</a:t>
            </a:r>
            <a:r>
              <a:rPr lang="en-US" altLang="ko-KR" sz="1200" b="1" dirty="0">
                <a:solidFill>
                  <a:srgbClr val="333333"/>
                </a:solidFill>
                <a:latin typeface="+mn-ea"/>
              </a:rPr>
              <a:t>)</a:t>
            </a:r>
            <a:r>
              <a:rPr lang="ko-KR" altLang="en-US" sz="1200" b="1" dirty="0">
                <a:solidFill>
                  <a:srgbClr val="333333"/>
                </a:solidFill>
                <a:latin typeface="+mn-ea"/>
              </a:rPr>
              <a:t>적으로 </a:t>
            </a:r>
            <a:endParaRPr lang="en-US" altLang="ko-KR" sz="1200" b="1" dirty="0">
              <a:solidFill>
                <a:srgbClr val="333333"/>
              </a:solidFill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rgbClr val="333333"/>
                </a:solidFill>
                <a:latin typeface="+mn-ea"/>
              </a:rPr>
              <a:t>유사하면 통합할 수 있다</a:t>
            </a:r>
            <a:r>
              <a:rPr lang="en-US" altLang="ko-KR" sz="1200" b="1" dirty="0">
                <a:solidFill>
                  <a:srgbClr val="333333"/>
                </a:solidFill>
                <a:latin typeface="+mn-ea"/>
              </a:rPr>
              <a:t>.  </a:t>
            </a:r>
            <a:r>
              <a:rPr lang="ko-KR" altLang="en-US" sz="1200" b="1" dirty="0">
                <a:solidFill>
                  <a:srgbClr val="333333"/>
                </a:solidFill>
                <a:latin typeface="+mn-ea"/>
              </a:rPr>
              <a:t>주로 핵심적인 실체를 관리하는 </a:t>
            </a:r>
            <a:endParaRPr lang="en-US" altLang="ko-KR" sz="1200" b="1" dirty="0">
              <a:solidFill>
                <a:srgbClr val="333333"/>
              </a:solidFill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rgbClr val="333333"/>
                </a:solidFill>
                <a:latin typeface="+mn-ea"/>
              </a:rPr>
              <a:t>데이터 중에서 데이터의 본질이 유사한 경우가 많다</a:t>
            </a:r>
            <a:r>
              <a:rPr lang="en-US" altLang="ko-KR" sz="1200" b="1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200" b="1" dirty="0">
              <a:solidFill>
                <a:srgbClr val="333333"/>
              </a:solidFill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200" b="1" dirty="0">
              <a:solidFill>
                <a:srgbClr val="333333"/>
              </a:solidFill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r>
              <a:rPr lang="en-US" altLang="ko-KR" sz="2000" b="1" dirty="0">
                <a:solidFill>
                  <a:srgbClr val="333333"/>
                </a:solidFill>
                <a:latin typeface="+mn-ea"/>
              </a:rPr>
              <a:t>2. </a:t>
            </a:r>
            <a:r>
              <a:rPr lang="ko-KR" altLang="en-US" sz="2000" b="1" dirty="0" err="1">
                <a:solidFill>
                  <a:srgbClr val="333333"/>
                </a:solidFill>
                <a:latin typeface="+mn-ea"/>
              </a:rPr>
              <a:t>엔터티의</a:t>
            </a: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 기초 속성이 유사할 때</a:t>
            </a: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 err="1">
                <a:latin typeface="+mn-ea"/>
              </a:rPr>
              <a:t>엔터티에서</a:t>
            </a:r>
            <a:r>
              <a:rPr lang="ko-KR" altLang="en-US" sz="1200" b="1" dirty="0">
                <a:latin typeface="+mn-ea"/>
              </a:rPr>
              <a:t> 관리하는 데이터의 본질은 속성으로 나타난다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따라서 속성이 유사하면 본질이 유사할 가능성이 높다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더욱이 기초 속성이 유사하면 통합을 고려할 수 있다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r>
              <a:rPr lang="en-US" altLang="ko-KR" sz="2000" b="1" dirty="0">
                <a:solidFill>
                  <a:srgbClr val="333333"/>
                </a:solidFill>
                <a:latin typeface="+mn-ea"/>
              </a:rPr>
              <a:t>3. </a:t>
            </a: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데이터가 조회 등에 같이 사용될 때</a:t>
            </a: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유사한 데이터를 같이 사용하는지 여부다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데이터 성격이 다소 다르기 때문에</a:t>
            </a:r>
            <a:r>
              <a:rPr lang="en-US" altLang="ko-KR" sz="1200" b="1" dirty="0">
                <a:latin typeface="+mn-ea"/>
              </a:rPr>
              <a:t>,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만약 고객이 약정한 서비스를 함께 사용하지 않는다면 </a:t>
            </a:r>
            <a:endParaRPr lang="en-US" altLang="ko-KR" sz="12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통합하는 것을 고민해야 한다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데이터를 같이 본다는 측면이 통합하는 명분이 된다</a:t>
            </a:r>
            <a:r>
              <a:rPr lang="en-US" altLang="ko-KR" sz="1200" b="1" dirty="0">
                <a:latin typeface="+mn-ea"/>
              </a:rPr>
              <a:t>.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D487830-5824-04F4-139D-2B8764346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723" y="1556240"/>
            <a:ext cx="2631866" cy="118692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D7727E3-501D-7867-DC1C-A9F22FC8B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3726" y="1556240"/>
            <a:ext cx="2716275" cy="110279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101928A-82BD-5906-F413-D6A29E1E97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3723" y="3263629"/>
            <a:ext cx="2999661" cy="142764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AE4F925-353B-411C-99F9-FAF8958F67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6790" y="3263629"/>
            <a:ext cx="1932937" cy="121109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C4A82E4-2362-081B-F9B2-598910B46C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6138" y="5008916"/>
            <a:ext cx="3410181" cy="11869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23CCBD-DF21-A1F1-BE28-C399B54EC4F0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7477FE-C3CB-B241-A21B-04F90B138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62</a:t>
            </a:fld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4A05154-9D47-49B8-BDE0-51EECF227462}"/>
              </a:ext>
            </a:extLst>
          </p:cNvPr>
          <p:cNvSpPr/>
          <p:nvPr/>
        </p:nvSpPr>
        <p:spPr>
          <a:xfrm>
            <a:off x="6283723" y="3473259"/>
            <a:ext cx="2999661" cy="367414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7815889-C184-421B-AB75-8894C6CEF39C}"/>
              </a:ext>
            </a:extLst>
          </p:cNvPr>
          <p:cNvSpPr/>
          <p:nvPr/>
        </p:nvSpPr>
        <p:spPr>
          <a:xfrm>
            <a:off x="6349037" y="5211744"/>
            <a:ext cx="3247753" cy="321309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96990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통합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Generalization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 </a:t>
            </a:r>
            <a:r>
              <a:rPr lang="ko-KR" altLang="en-US" sz="2400" u="sng" dirty="0">
                <a:solidFill>
                  <a:srgbClr val="FF0000"/>
                </a:solidFill>
              </a:rPr>
              <a:t>통합의 사례</a:t>
            </a:r>
            <a:endParaRPr lang="en-US" altLang="ko-KR" sz="2400" u="sng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704861" y="1557705"/>
            <a:ext cx="11138272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333333"/>
                </a:solidFill>
                <a:latin typeface="+mn-ea"/>
              </a:rPr>
              <a:t>4. </a:t>
            </a: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역할을 관리할 때</a:t>
            </a: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역할을 관리하는 </a:t>
            </a:r>
            <a:r>
              <a:rPr lang="ko-KR" altLang="en-US" sz="1200" b="1" dirty="0" err="1">
                <a:latin typeface="+mn-ea"/>
              </a:rPr>
              <a:t>엔터티는</a:t>
            </a:r>
            <a:r>
              <a:rPr lang="ko-KR" altLang="en-US" sz="1200" b="1" dirty="0">
                <a:latin typeface="+mn-ea"/>
              </a:rPr>
              <a:t> 대체로 통합하는 것이 좋다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2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2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2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2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2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2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2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2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200" b="1" dirty="0">
              <a:latin typeface="+mn-ea"/>
            </a:endParaRPr>
          </a:p>
          <a:p>
            <a:r>
              <a:rPr lang="en-US" altLang="ko-KR" sz="2000" b="1" dirty="0">
                <a:solidFill>
                  <a:srgbClr val="333333"/>
                </a:solidFill>
                <a:latin typeface="+mn-ea"/>
              </a:rPr>
              <a:t>5. </a:t>
            </a: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대칭적인 업무일 때</a:t>
            </a: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대칭적인 업무를 관리하는 데이터도 통합을 고려할 수 있다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200" b="1" dirty="0">
              <a:latin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32E337A-AF6F-8C4C-7827-AD5DD04EC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859" y="1278619"/>
            <a:ext cx="2420033" cy="156752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1C7E576-BEB7-0F82-450E-10D3EA99A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900" y="3676256"/>
            <a:ext cx="1971950" cy="10288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EEDB08-2C69-504E-6ED9-6C0406A42B5A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8D5813-A1D2-56D7-5625-E5859CF03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63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FE66F41-5002-4C1E-98C7-1D682458D405}"/>
              </a:ext>
            </a:extLst>
          </p:cNvPr>
          <p:cNvSpPr/>
          <p:nvPr/>
        </p:nvSpPr>
        <p:spPr>
          <a:xfrm>
            <a:off x="7175368" y="1290571"/>
            <a:ext cx="932932" cy="1377984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286073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통합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Generalization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 </a:t>
            </a:r>
            <a:r>
              <a:rPr lang="ko-KR" altLang="en-US" sz="2400" u="sng" dirty="0">
                <a:solidFill>
                  <a:srgbClr val="FF0000"/>
                </a:solidFill>
              </a:rPr>
              <a:t>통합의 사례</a:t>
            </a:r>
            <a:endParaRPr lang="en-US" altLang="ko-KR" sz="2400" u="sng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704861" y="1557705"/>
            <a:ext cx="11138272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333333"/>
                </a:solidFill>
                <a:latin typeface="+mn-ea"/>
              </a:rPr>
              <a:t>6. </a:t>
            </a: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계층 관계가 존재할 때</a:t>
            </a: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계층 관계도 통합을 고려해야 할 주요 대상이다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재귀관계가 생긴다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2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2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2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2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2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2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200" b="1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r>
              <a:rPr lang="en-US" altLang="ko-KR" sz="2000" b="1" dirty="0">
                <a:solidFill>
                  <a:srgbClr val="333333"/>
                </a:solidFill>
                <a:latin typeface="+mn-ea"/>
              </a:rPr>
              <a:t>7. </a:t>
            </a: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공통 속성이 존재할 때</a:t>
            </a: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보통 연락처를 관리하는 속성들은 공통으로 존재한다</a:t>
            </a:r>
            <a:r>
              <a:rPr lang="en-US" altLang="ko-KR" sz="1200" b="1" dirty="0">
                <a:latin typeface="+mn-ea"/>
              </a:rPr>
              <a:t>.  </a:t>
            </a:r>
            <a:r>
              <a:rPr lang="ko-KR" altLang="en-US" sz="1200" b="1" dirty="0">
                <a:latin typeface="+mn-ea"/>
              </a:rPr>
              <a:t>이때 공통 속성이 별도의 데이터 성격을 지닌다면  그 속성만을 분리해서 통합을 고려할 만하다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200" b="1" dirty="0">
              <a:latin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6F3CD0E-0315-7501-47BA-6139800E9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859" y="1214257"/>
            <a:ext cx="2029108" cy="261974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FD699DC-1525-449F-F159-02CC1E0AD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145" y="4604693"/>
            <a:ext cx="3896269" cy="177189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EAC66F6-1451-119C-3FB5-F38A15D123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336" y="5300295"/>
            <a:ext cx="2048161" cy="10097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E2673E-DDC0-E7B8-807E-D23833B09F13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B1E240C-C79C-DBD2-E6F6-FF678F559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64</a:t>
            </a:fld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2D62948-91FC-4BA2-B01A-2FAF6D6260E2}"/>
              </a:ext>
            </a:extLst>
          </p:cNvPr>
          <p:cNvSpPr/>
          <p:nvPr/>
        </p:nvSpPr>
        <p:spPr>
          <a:xfrm>
            <a:off x="2099469" y="5329986"/>
            <a:ext cx="3816141" cy="604283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808092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통합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Generalization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 </a:t>
            </a:r>
            <a:r>
              <a:rPr lang="ko-KR" altLang="en-US" sz="2400" u="sng" dirty="0">
                <a:solidFill>
                  <a:srgbClr val="FF0000"/>
                </a:solidFill>
              </a:rPr>
              <a:t>통합의 사례</a:t>
            </a:r>
            <a:endParaRPr lang="en-US" altLang="ko-KR" sz="2400" u="sng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704861" y="1557705"/>
            <a:ext cx="11138272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333333"/>
                </a:solidFill>
                <a:latin typeface="+mn-ea"/>
              </a:rPr>
              <a:t>8. </a:t>
            </a: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베타 관계가 발생할 때</a:t>
            </a: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배타 관 계 는 모델의 구조를 복잡하게 만들고 </a:t>
            </a:r>
            <a:r>
              <a:rPr lang="en-US" altLang="ko-KR" sz="1200" b="1" dirty="0">
                <a:latin typeface="+mn-ea"/>
              </a:rPr>
              <a:t>,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복잡한 조인이 발생해 바람직하지 않은 관계다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따라서 배타 관계가  발생하지 않도록 설계하는 것이 바람직하다 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거래내역 </a:t>
            </a:r>
            <a:r>
              <a:rPr lang="ko-KR" altLang="en-US" sz="1200" b="1" dirty="0" err="1">
                <a:latin typeface="+mn-ea"/>
              </a:rPr>
              <a:t>엔터티에</a:t>
            </a:r>
            <a:r>
              <a:rPr lang="ko-KR" altLang="en-US" sz="1200" b="1" dirty="0">
                <a:latin typeface="+mn-ea"/>
              </a:rPr>
              <a:t> 배타 관계를 발생시킨 </a:t>
            </a:r>
            <a:r>
              <a:rPr lang="ko-KR" altLang="en-US" sz="1200" b="1" dirty="0" err="1">
                <a:latin typeface="+mn-ea"/>
              </a:rPr>
              <a:t>엔터티를</a:t>
            </a:r>
            <a:r>
              <a:rPr lang="ko-KR" altLang="en-US" sz="1200" b="1" dirty="0">
                <a:latin typeface="+mn-ea"/>
              </a:rPr>
              <a:t> 통합하면 </a:t>
            </a:r>
            <a:endParaRPr lang="en-US" altLang="ko-KR" sz="12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거래내역 </a:t>
            </a:r>
            <a:r>
              <a:rPr lang="ko-KR" altLang="en-US" sz="1200" b="1" dirty="0" err="1">
                <a:latin typeface="+mn-ea"/>
              </a:rPr>
              <a:t>엔터티에는</a:t>
            </a:r>
            <a:r>
              <a:rPr lang="ko-KR" altLang="en-US" sz="1200" b="1" dirty="0">
                <a:latin typeface="+mn-ea"/>
              </a:rPr>
              <a:t> 배타 관계가 발생하지 않는다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2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배타는 통합을 고려하라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! 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단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성격이 같아야 한다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2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200" b="1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r>
              <a:rPr lang="en-US" altLang="ko-KR" sz="2000" b="1" dirty="0">
                <a:solidFill>
                  <a:srgbClr val="333333"/>
                </a:solidFill>
                <a:latin typeface="+mn-ea"/>
              </a:rPr>
              <a:t>9. </a:t>
            </a: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집계 </a:t>
            </a:r>
            <a:r>
              <a:rPr lang="ko-KR" altLang="en-US" sz="2000" b="1" dirty="0" err="1">
                <a:solidFill>
                  <a:srgbClr val="333333"/>
                </a:solidFill>
                <a:latin typeface="+mn-ea"/>
              </a:rPr>
              <a:t>엔터티의</a:t>
            </a: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 집계 대상이 같을 때</a:t>
            </a: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통합해야 좋은 대표적인 </a:t>
            </a:r>
            <a:r>
              <a:rPr lang="ko-KR" altLang="en-US" sz="1200" b="1" dirty="0" err="1">
                <a:latin typeface="+mn-ea"/>
              </a:rPr>
              <a:t>엔터티는</a:t>
            </a:r>
            <a:r>
              <a:rPr lang="ko-KR" altLang="en-US" sz="1200" b="1" dirty="0">
                <a:latin typeface="+mn-ea"/>
              </a:rPr>
              <a:t> 집계 </a:t>
            </a:r>
            <a:r>
              <a:rPr lang="ko-KR" altLang="en-US" sz="1200" b="1" dirty="0" err="1">
                <a:latin typeface="+mn-ea"/>
              </a:rPr>
              <a:t>엔터티다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집계 </a:t>
            </a:r>
            <a:r>
              <a:rPr lang="ko-KR" altLang="en-US" sz="1200" b="1" dirty="0" err="1">
                <a:latin typeface="+mn-ea"/>
              </a:rPr>
              <a:t>엔터티를</a:t>
            </a:r>
            <a:r>
              <a:rPr lang="ko-KR" altLang="en-US" sz="1200" b="1" dirty="0">
                <a:latin typeface="+mn-ea"/>
              </a:rPr>
              <a:t> 설계할 때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집계하려는 대상이 같다면 </a:t>
            </a:r>
            <a:endParaRPr lang="en-US" altLang="ko-KR" sz="12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통합을 검토해야 한다 </a:t>
            </a:r>
            <a:r>
              <a:rPr lang="en-US" altLang="ko-KR" sz="1200" b="1" dirty="0">
                <a:latin typeface="+mn-ea"/>
              </a:rPr>
              <a:t>. </a:t>
            </a:r>
            <a:r>
              <a:rPr lang="ko-KR" altLang="en-US" sz="1200" b="1" dirty="0">
                <a:latin typeface="+mn-ea"/>
              </a:rPr>
              <a:t>물론 집계 기준이 유사할수록 좋다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2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분기별 엔티티는 필요 없어 보이므로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통합할 것</a:t>
            </a:r>
            <a:r>
              <a:rPr lang="en-US" altLang="ko-KR" sz="1200" b="1" dirty="0">
                <a:latin typeface="+mn-ea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D5D70A6-5F9D-7348-1330-545A4F953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5241" y="1206867"/>
            <a:ext cx="2781688" cy="206721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C31074D-30F2-8DA3-A16C-19AA3BE98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161" y="3692791"/>
            <a:ext cx="1991003" cy="102884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C487C4F-A704-7F6F-E495-F4E4B46BD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1079" y="4837612"/>
            <a:ext cx="2333951" cy="12860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B11318-6CB6-ED9C-77EA-2E22D50D2205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52CC1F-B715-552D-5505-FB576EB05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65</a:t>
            </a:fld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5604428-CBF9-48B6-B21A-A5F4A1D8C50B}"/>
              </a:ext>
            </a:extLst>
          </p:cNvPr>
          <p:cNvSpPr/>
          <p:nvPr/>
        </p:nvSpPr>
        <p:spPr>
          <a:xfrm>
            <a:off x="8087794" y="1372924"/>
            <a:ext cx="459049" cy="1584880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FA9A19-0AD6-4366-92EF-655029B30358}"/>
              </a:ext>
            </a:extLst>
          </p:cNvPr>
          <p:cNvSpPr/>
          <p:nvPr/>
        </p:nvSpPr>
        <p:spPr>
          <a:xfrm>
            <a:off x="8627836" y="2516729"/>
            <a:ext cx="945374" cy="254463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1249BEC-A8C0-416C-9A05-7BC0D728CBB8}"/>
              </a:ext>
            </a:extLst>
          </p:cNvPr>
          <p:cNvSpPr/>
          <p:nvPr/>
        </p:nvSpPr>
        <p:spPr>
          <a:xfrm>
            <a:off x="7028282" y="4256984"/>
            <a:ext cx="1807808" cy="174682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DE56A6B-7DB0-4F0A-A60B-373E7185A23A}"/>
              </a:ext>
            </a:extLst>
          </p:cNvPr>
          <p:cNvSpPr/>
          <p:nvPr/>
        </p:nvSpPr>
        <p:spPr>
          <a:xfrm>
            <a:off x="7968054" y="5545302"/>
            <a:ext cx="973110" cy="342314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3842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통합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Generalization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 </a:t>
            </a:r>
            <a:r>
              <a:rPr lang="ko-KR" altLang="en-US" sz="2400" u="sng" dirty="0">
                <a:solidFill>
                  <a:srgbClr val="FF0000"/>
                </a:solidFill>
              </a:rPr>
              <a:t>통합의 사례</a:t>
            </a:r>
            <a:endParaRPr lang="en-US" altLang="ko-KR" sz="2400" u="sng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704861" y="1557705"/>
            <a:ext cx="11138272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333333"/>
                </a:solidFill>
                <a:latin typeface="+mn-ea"/>
              </a:rPr>
              <a:t>10. </a:t>
            </a: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비정규화를 수행할 때</a:t>
            </a: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비정규화를 하면서 </a:t>
            </a:r>
            <a:r>
              <a:rPr lang="ko-KR" altLang="en-US" sz="1200" b="1" dirty="0" err="1">
                <a:latin typeface="+mn-ea"/>
              </a:rPr>
              <a:t>엔터티가</a:t>
            </a:r>
            <a:r>
              <a:rPr lang="ko-KR" altLang="en-US" sz="1200" b="1" dirty="0">
                <a:latin typeface="+mn-ea"/>
              </a:rPr>
              <a:t> 통합될 수 있다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정규형 모델에 성능 문제가  발생하면 </a:t>
            </a:r>
            <a:r>
              <a:rPr lang="ko-KR" altLang="en-US" sz="1200" b="1" dirty="0" err="1">
                <a:latin typeface="+mn-ea"/>
              </a:rPr>
              <a:t>엔터티를</a:t>
            </a:r>
            <a:r>
              <a:rPr lang="ko-KR" altLang="en-US" sz="1200" b="1" dirty="0">
                <a:latin typeface="+mn-ea"/>
              </a:rPr>
              <a:t> 통합할 수 있다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2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2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200" b="1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r>
              <a:rPr lang="en-US" altLang="ko-KR" sz="2000" b="1" dirty="0">
                <a:solidFill>
                  <a:srgbClr val="333333"/>
                </a:solidFill>
                <a:latin typeface="+mn-ea"/>
              </a:rPr>
              <a:t>11. </a:t>
            </a: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일대일</a:t>
            </a:r>
            <a:r>
              <a:rPr lang="en-US" altLang="ko-KR" sz="2000" b="1" dirty="0">
                <a:solidFill>
                  <a:srgbClr val="333333"/>
                </a:solidFill>
                <a:latin typeface="+mn-ea"/>
              </a:rPr>
              <a:t>(1:1) </a:t>
            </a: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관계일 때</a:t>
            </a: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600" b="1" dirty="0" err="1">
                <a:solidFill>
                  <a:srgbClr val="FF0000"/>
                </a:solidFill>
                <a:latin typeface="+mn-ea"/>
              </a:rPr>
              <a:t>엔터티가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 합체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용어 다름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될 때도 데이터 통합 개념이 적용된다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일대일</a:t>
            </a:r>
            <a:r>
              <a:rPr lang="en-US" altLang="ko-KR" sz="1200" b="1" dirty="0">
                <a:latin typeface="+mn-ea"/>
              </a:rPr>
              <a:t>(1:1) </a:t>
            </a:r>
            <a:r>
              <a:rPr lang="ko-KR" altLang="en-US" sz="1200" b="1" dirty="0">
                <a:latin typeface="+mn-ea"/>
              </a:rPr>
              <a:t>관계가 발생한 </a:t>
            </a:r>
            <a:r>
              <a:rPr lang="ko-KR" altLang="en-US" sz="1200" b="1" dirty="0" err="1">
                <a:latin typeface="+mn-ea"/>
              </a:rPr>
              <a:t>엔터티는</a:t>
            </a:r>
            <a:r>
              <a:rPr lang="ko-KR" altLang="en-US" sz="1200" b="1" dirty="0">
                <a:latin typeface="+mn-ea"/>
              </a:rPr>
              <a:t> 통합할 수 있다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단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두 </a:t>
            </a:r>
            <a:r>
              <a:rPr lang="ko-KR" altLang="en-US" sz="1200" b="1" dirty="0" err="1">
                <a:latin typeface="+mn-ea"/>
              </a:rPr>
              <a:t>엔터티의</a:t>
            </a:r>
            <a:r>
              <a:rPr lang="ko-KR" altLang="en-US" sz="1200" b="1" dirty="0">
                <a:latin typeface="+mn-ea"/>
              </a:rPr>
              <a:t> 성격이 같은지를 검토해야 하고</a:t>
            </a:r>
            <a:r>
              <a:rPr lang="en-US" altLang="ko-KR" sz="1200" b="1" dirty="0">
                <a:latin typeface="+mn-ea"/>
              </a:rPr>
              <a:t>,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또한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관계비가 불변인지를 검토해야 한다</a:t>
            </a:r>
            <a:r>
              <a:rPr lang="en-US" altLang="ko-KR" sz="1200" b="1" dirty="0">
                <a:latin typeface="+mn-ea"/>
              </a:rPr>
              <a:t>.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7997275-B42C-45A9-F5FD-9DE3EB057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854" y="1557705"/>
            <a:ext cx="2410161" cy="133368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9C8C789-0F5B-655E-A2D4-0FF354BFC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854" y="3773281"/>
            <a:ext cx="2610214" cy="11622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87B303-A6BF-DC4A-1D93-F851EE1A6772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694F3A-37C8-FA33-7E75-AD73B03C5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66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60656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통합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Generalization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 </a:t>
            </a:r>
            <a:r>
              <a:rPr lang="ko-KR" altLang="en-US" sz="2400" u="sng" dirty="0">
                <a:solidFill>
                  <a:srgbClr val="FF0000"/>
                </a:solidFill>
              </a:rPr>
              <a:t>통합의 사례</a:t>
            </a:r>
            <a:endParaRPr lang="en-US" altLang="ko-KR" sz="2400" u="sng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704861" y="1557705"/>
            <a:ext cx="1113827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333333"/>
                </a:solidFill>
                <a:latin typeface="+mn-ea"/>
              </a:rPr>
              <a:t>12. </a:t>
            </a: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유사한 종류의 데이터를 하나의 기준으로 만들 때</a:t>
            </a: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기준 데이터는 업무의 기준이 되기 때문에 전사에서 하나만 존재해야 한다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만약 우편번호 </a:t>
            </a:r>
            <a:r>
              <a:rPr lang="ko-KR" altLang="en-US" sz="1200" b="1" dirty="0" err="1">
                <a:latin typeface="+mn-ea"/>
              </a:rPr>
              <a:t>엔터티가</a:t>
            </a:r>
            <a:r>
              <a:rPr lang="ko-KR" altLang="en-US" sz="1200" b="1" dirty="0">
                <a:latin typeface="+mn-ea"/>
              </a:rPr>
              <a:t> 세 개 존재하면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어떤 것이 기준인지 알 수 없게 된다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세 개의 </a:t>
            </a:r>
            <a:r>
              <a:rPr lang="ko-KR" altLang="en-US" sz="1200" b="1" dirty="0" err="1">
                <a:latin typeface="+mn-ea"/>
              </a:rPr>
              <a:t>엔터티에서</a:t>
            </a:r>
            <a:r>
              <a:rPr lang="ko-KR" altLang="en-US" sz="1200" b="1" dirty="0">
                <a:latin typeface="+mn-ea"/>
              </a:rPr>
              <a:t> 특정 우편번호가 틀리면  어떤 게 맞는지 알 수 없게 된다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금리나 환율 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우편번호 등의 기준 데이터가 여러 </a:t>
            </a:r>
            <a:r>
              <a:rPr lang="ko-KR" altLang="en-US" sz="1200" b="1" dirty="0" err="1">
                <a:latin typeface="+mn-ea"/>
              </a:rPr>
              <a:t>엔터티에</a:t>
            </a:r>
            <a:r>
              <a:rPr lang="ko-KR" altLang="en-US" sz="1200" b="1" dirty="0">
                <a:latin typeface="+mn-ea"/>
              </a:rPr>
              <a:t> 존재하는 경우가 많다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성격이 다른 경우가 아니라면 기준 데이터는 하나의 </a:t>
            </a:r>
            <a:r>
              <a:rPr lang="ko-KR" altLang="en-US" sz="1200" b="1" dirty="0" err="1">
                <a:latin typeface="+mn-ea"/>
              </a:rPr>
              <a:t>엔터티에서</a:t>
            </a:r>
            <a:r>
              <a:rPr lang="ko-KR" altLang="en-US" sz="1200" b="1" dirty="0">
                <a:latin typeface="+mn-ea"/>
              </a:rPr>
              <a:t> 통합 관리해야 한다 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r>
              <a:rPr lang="en-US" altLang="ko-KR" sz="2000" b="1" dirty="0">
                <a:solidFill>
                  <a:srgbClr val="333333"/>
                </a:solidFill>
                <a:latin typeface="+mn-ea"/>
              </a:rPr>
              <a:t>13. </a:t>
            </a: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업무가 변경될 가능성이 많을 때</a:t>
            </a: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마지막으로 업무가 바뀔 가능성이 많을수록 데이터를 일반화해야 한다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데이터를 일반화 시킬수록  업무 변경에 유연한 모델이 된다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데이터는 마치 생명이 있는 유기체와 같아서 변화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진화 </a:t>
            </a:r>
            <a:r>
              <a:rPr lang="en-US" altLang="ko-KR" sz="1200" b="1" dirty="0">
                <a:latin typeface="+mn-ea"/>
              </a:rPr>
              <a:t>• </a:t>
            </a:r>
            <a:r>
              <a:rPr lang="ko-KR" altLang="en-US" sz="1200" b="1" dirty="0">
                <a:latin typeface="+mn-ea"/>
              </a:rPr>
              <a:t>퇴화</a:t>
            </a:r>
            <a:r>
              <a:rPr lang="en-US" altLang="ko-KR" sz="1200" b="1" dirty="0"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한다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업무는 시간이 지날수록 당연히 바뀐다</a:t>
            </a:r>
            <a:r>
              <a:rPr lang="en-US" altLang="ko-KR" sz="1200" b="1" dirty="0">
                <a:latin typeface="+mn-ea"/>
              </a:rPr>
              <a:t>. </a:t>
            </a:r>
            <a:r>
              <a:rPr lang="ko-KR" altLang="en-US" sz="1200" b="1" dirty="0">
                <a:latin typeface="+mn-ea"/>
              </a:rPr>
              <a:t>핵심적인 업무일수록 요구 사항이 변경</a:t>
            </a:r>
            <a:r>
              <a:rPr lang="en-US" altLang="ko-KR" sz="1200" b="1" dirty="0">
                <a:latin typeface="+mn-ea"/>
              </a:rPr>
              <a:t> • </a:t>
            </a:r>
            <a:r>
              <a:rPr lang="ko-KR" altLang="en-US" sz="1200" b="1" dirty="0">
                <a:latin typeface="+mn-ea"/>
              </a:rPr>
              <a:t>추가될 가능성은 커진다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이때 </a:t>
            </a:r>
            <a:r>
              <a:rPr lang="ko-KR" altLang="en-US" sz="1200" b="1" dirty="0" err="1">
                <a:latin typeface="+mn-ea"/>
              </a:rPr>
              <a:t>엔터티를</a:t>
            </a:r>
            <a:r>
              <a:rPr lang="ko-KR" altLang="en-US" sz="1200" b="1" dirty="0">
                <a:latin typeface="+mn-ea"/>
              </a:rPr>
              <a:t> 통합할수록 새로운 업무가 생길 때 신규 </a:t>
            </a:r>
            <a:r>
              <a:rPr lang="ko-KR" altLang="en-US" sz="1200" b="1" dirty="0" err="1">
                <a:latin typeface="+mn-ea"/>
              </a:rPr>
              <a:t>엔터티를</a:t>
            </a:r>
            <a:r>
              <a:rPr lang="ko-KR" altLang="en-US" sz="1200" b="1" dirty="0">
                <a:latin typeface="+mn-ea"/>
              </a:rPr>
              <a:t> 생성하지 않고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인스턴스만 추가해서 대응할 수 있다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일반화한 속성 또한 공용으로 사용할 성이 커진다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 err="1">
                <a:latin typeface="+mn-ea"/>
              </a:rPr>
              <a:t>엔터티를</a:t>
            </a:r>
            <a:r>
              <a:rPr lang="ko-KR" altLang="en-US" sz="1200" b="1" dirty="0">
                <a:latin typeface="+mn-ea"/>
              </a:rPr>
              <a:t> 통합하면 </a:t>
            </a:r>
            <a:r>
              <a:rPr lang="ko-KR" altLang="en-US" sz="1200" b="1" dirty="0" err="1">
                <a:latin typeface="+mn-ea"/>
              </a:rPr>
              <a:t>엔터티나</a:t>
            </a:r>
            <a:r>
              <a:rPr lang="ko-KR" altLang="en-US" sz="1200" b="1" dirty="0">
                <a:latin typeface="+mn-ea"/>
              </a:rPr>
              <a:t> 속성이 추가되는 것이 최소화된다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미래에 모델이 변경되는 것을 줄일 수 있도록 현재 고민해서 일반화하는 것은 노력할 만한 일이다</a:t>
            </a:r>
            <a:r>
              <a:rPr lang="en-US" altLang="ko-KR" sz="1200" b="1" dirty="0">
                <a:latin typeface="+mn-ea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B2D299-56A3-A746-A6BE-C41AFC67487D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493932-6FB1-94ED-268E-BDCF74ECC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67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419226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통합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Generalization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통합의 요약 </a:t>
            </a:r>
            <a:r>
              <a:rPr lang="en-US" altLang="ko-KR" sz="2000" dirty="0">
                <a:solidFill>
                  <a:srgbClr val="FF0000"/>
                </a:solidFill>
              </a:rPr>
              <a:t>– </a:t>
            </a:r>
            <a:r>
              <a:rPr lang="ko-KR" altLang="en-US" sz="2000" dirty="0">
                <a:solidFill>
                  <a:srgbClr val="FF0000"/>
                </a:solidFill>
              </a:rPr>
              <a:t>하나라도 만족하면 통합을 고려해 본다</a:t>
            </a:r>
            <a:r>
              <a:rPr lang="en-US" altLang="ko-KR" sz="2000" dirty="0">
                <a:solidFill>
                  <a:srgbClr val="FF0000"/>
                </a:solidFill>
              </a:rPr>
              <a:t>.</a:t>
            </a:r>
            <a:endParaRPr lang="en-US" altLang="ko-KR" sz="2400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1064585" y="1557705"/>
            <a:ext cx="1007346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ko-KR" altLang="en-US" sz="2400" b="1" dirty="0">
                <a:solidFill>
                  <a:srgbClr val="333333"/>
                </a:solidFill>
                <a:latin typeface="+mn-ea"/>
              </a:rPr>
              <a:t> 데이터의 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본질</a:t>
            </a:r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성격</a:t>
            </a:r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이 유사</a:t>
            </a:r>
            <a:r>
              <a:rPr lang="ko-KR" altLang="en-US" sz="2400" b="1" dirty="0">
                <a:solidFill>
                  <a:srgbClr val="333333"/>
                </a:solidFill>
                <a:latin typeface="+mn-ea"/>
              </a:rPr>
              <a:t>하다</a:t>
            </a:r>
            <a:r>
              <a:rPr lang="en-US" altLang="ko-KR" sz="2400" b="1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ko-KR" altLang="en-US" sz="2400" b="1" dirty="0">
              <a:solidFill>
                <a:srgbClr val="333333"/>
              </a:solidFill>
              <a:latin typeface="+mn-ea"/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sz="2400" b="1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식별자가 동일</a:t>
            </a:r>
            <a:r>
              <a:rPr lang="ko-KR" altLang="en-US" sz="2400" b="1" dirty="0">
                <a:solidFill>
                  <a:srgbClr val="333333"/>
                </a:solidFill>
                <a:latin typeface="+mn-ea"/>
              </a:rPr>
              <a:t>하면서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 유사한 속성</a:t>
            </a:r>
            <a:r>
              <a:rPr lang="ko-KR" altLang="en-US" sz="2400" b="1" dirty="0">
                <a:solidFill>
                  <a:srgbClr val="333333"/>
                </a:solidFill>
                <a:latin typeface="+mn-ea"/>
              </a:rPr>
              <a:t>이 존재한다</a:t>
            </a:r>
            <a:r>
              <a:rPr lang="en-US" altLang="ko-KR" sz="2400" b="1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ko-KR" altLang="en-US" sz="2400" b="1" dirty="0">
              <a:solidFill>
                <a:srgbClr val="333333"/>
              </a:solidFill>
              <a:latin typeface="+mn-ea"/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sz="2400" b="1" dirty="0">
                <a:solidFill>
                  <a:srgbClr val="333333"/>
                </a:solidFill>
                <a:latin typeface="+mn-ea"/>
              </a:rPr>
              <a:t> 식별자는 다르지만</a:t>
            </a:r>
            <a:r>
              <a:rPr lang="en-US" altLang="ko-KR" sz="2400" b="1" dirty="0">
                <a:solidFill>
                  <a:srgbClr val="333333"/>
                </a:solidFill>
                <a:latin typeface="+mn-ea"/>
              </a:rPr>
              <a:t>, 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기초 속성이 유사</a:t>
            </a:r>
            <a:r>
              <a:rPr lang="ko-KR" altLang="en-US" sz="2400" b="1" dirty="0">
                <a:solidFill>
                  <a:srgbClr val="333333"/>
                </a:solidFill>
                <a:latin typeface="+mn-ea"/>
              </a:rPr>
              <a:t>하다</a:t>
            </a:r>
            <a:r>
              <a:rPr lang="en-US" altLang="ko-KR" sz="2400" b="1" dirty="0">
                <a:solidFill>
                  <a:srgbClr val="333333"/>
                </a:solidFill>
                <a:latin typeface="+mn-ea"/>
              </a:rPr>
              <a:t>.</a:t>
            </a:r>
            <a:endParaRPr lang="en-US" altLang="ko-KR" sz="1400" b="1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F0C5E8-60B2-8FBB-E2BA-D47A03CF1544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E13B04-AD22-5D13-FC94-BF81010FA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68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95675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통합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Generalization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데이터 통합이 어려운 이유 </a:t>
            </a:r>
            <a:r>
              <a:rPr lang="en-US" altLang="ko-KR" sz="2000" dirty="0">
                <a:solidFill>
                  <a:srgbClr val="FF0000"/>
                </a:solidFill>
              </a:rPr>
              <a:t>– </a:t>
            </a:r>
            <a:r>
              <a:rPr lang="ko-KR" altLang="en-US" sz="2000" dirty="0">
                <a:solidFill>
                  <a:srgbClr val="FF0000"/>
                </a:solidFill>
              </a:rPr>
              <a:t>세 가지 모두 만족하면 통합 </a:t>
            </a:r>
            <a:r>
              <a:rPr lang="ko-KR" altLang="en-US" sz="2000" dirty="0" err="1">
                <a:solidFill>
                  <a:srgbClr val="FF0000"/>
                </a:solidFill>
              </a:rPr>
              <a:t>비추천</a:t>
            </a:r>
            <a:endParaRPr lang="en-US" altLang="ko-KR" sz="2400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704861" y="1557705"/>
            <a:ext cx="1043319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ko-KR" altLang="en-US" sz="2000" b="1" dirty="0" err="1">
                <a:solidFill>
                  <a:srgbClr val="333333"/>
                </a:solidFill>
                <a:latin typeface="+mn-ea"/>
              </a:rPr>
              <a:t>엔터티가</a:t>
            </a: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2000" b="1" u="sng" dirty="0">
                <a:solidFill>
                  <a:srgbClr val="FF0000"/>
                </a:solidFill>
                <a:latin typeface="+mn-ea"/>
              </a:rPr>
              <a:t>같이 조회되지 않는다</a:t>
            </a: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면 통합을 고려하지 않을 수 있다</a:t>
            </a:r>
            <a:r>
              <a:rPr lang="en-US" altLang="ko-KR" sz="2000" b="1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ko-KR" altLang="en-US" sz="2000" b="1" dirty="0">
              <a:solidFill>
                <a:srgbClr val="333333"/>
              </a:solidFill>
              <a:latin typeface="+mn-ea"/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유사 종류의 </a:t>
            </a:r>
            <a:r>
              <a:rPr lang="ko-KR" altLang="en-US" sz="2000" b="1" dirty="0" err="1">
                <a:solidFill>
                  <a:srgbClr val="333333"/>
                </a:solidFill>
                <a:latin typeface="+mn-ea"/>
              </a:rPr>
              <a:t>엔터티가</a:t>
            </a: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2000" b="1" u="sng" dirty="0">
                <a:solidFill>
                  <a:srgbClr val="FF0000"/>
                </a:solidFill>
                <a:latin typeface="+mn-ea"/>
              </a:rPr>
              <a:t>향후에도 늘어나지 않을 때</a:t>
            </a: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 통합하지 않는다</a:t>
            </a:r>
            <a:r>
              <a:rPr lang="en-US" altLang="ko-KR" sz="2000" b="1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ko-KR" altLang="en-US" sz="2000" b="1" dirty="0">
              <a:solidFill>
                <a:srgbClr val="333333"/>
              </a:solidFill>
              <a:latin typeface="+mn-ea"/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 u="sng" dirty="0">
                <a:solidFill>
                  <a:srgbClr val="FF0000"/>
                </a:solidFill>
                <a:latin typeface="+mn-ea"/>
              </a:rPr>
              <a:t>유사한 하위 </a:t>
            </a:r>
            <a:r>
              <a:rPr lang="ko-KR" altLang="en-US" sz="2000" b="1" u="sng" dirty="0" err="1">
                <a:solidFill>
                  <a:srgbClr val="FF0000"/>
                </a:solidFill>
                <a:latin typeface="+mn-ea"/>
              </a:rPr>
              <a:t>엔터티가</a:t>
            </a:r>
            <a:r>
              <a:rPr lang="ko-KR" altLang="en-US" sz="2000" b="1" u="sng" dirty="0">
                <a:solidFill>
                  <a:srgbClr val="FF0000"/>
                </a:solidFill>
                <a:latin typeface="+mn-ea"/>
              </a:rPr>
              <a:t> 없을 때</a:t>
            </a: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도 통합을 고려하지 않을 수 있다</a:t>
            </a:r>
            <a:r>
              <a:rPr lang="en-US" altLang="ko-KR" sz="2000" b="1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457200" indent="-457200">
              <a:buFont typeface="+mj-lt"/>
              <a:buAutoNum type="arabicPeriod"/>
            </a:pP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457200" indent="-457200">
              <a:buFont typeface="+mj-lt"/>
              <a:buAutoNum type="arabicPeriod"/>
            </a:pP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457200" indent="-457200">
              <a:buFont typeface="+mj-lt"/>
              <a:buAutoNum type="arabicPeriod"/>
            </a:pP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457200" indent="-457200">
              <a:buFont typeface="+mj-lt"/>
              <a:buAutoNum type="arabicPeriod"/>
            </a:pP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457200" indent="-457200">
              <a:buFont typeface="+mj-lt"/>
              <a:buAutoNum type="arabicPeriod"/>
            </a:pP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457200" indent="-457200">
              <a:buFont typeface="+mj-lt"/>
              <a:buAutoNum type="arabicPeriod"/>
            </a:pP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457200" indent="-457200">
              <a:buFont typeface="+mj-lt"/>
              <a:buAutoNum type="arabicPeriod"/>
            </a:pP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457200" indent="-457200">
              <a:buFont typeface="+mj-lt"/>
              <a:buAutoNum type="arabicPeriod"/>
            </a:pP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흔히 </a:t>
            </a:r>
            <a:r>
              <a:rPr lang="ko-KR" altLang="en-US" sz="2000" b="1" u="sng" dirty="0">
                <a:solidFill>
                  <a:srgbClr val="FF0000"/>
                </a:solidFill>
                <a:latin typeface="+mn-ea"/>
              </a:rPr>
              <a:t>사용하는 조직이 다르거나 업무 프로세스가 다르면</a:t>
            </a: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 통합을 하지 않는다</a:t>
            </a:r>
            <a:r>
              <a:rPr lang="en-US" altLang="ko-KR" sz="2000" b="1" dirty="0">
                <a:solidFill>
                  <a:srgbClr val="333333"/>
                </a:solidFill>
                <a:latin typeface="+mn-ea"/>
              </a:rPr>
              <a:t>. </a:t>
            </a:r>
            <a:endParaRPr lang="en-US" altLang="ko-KR" sz="1200" b="1" dirty="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7732B9F-03BF-9E0F-8A5E-7C55E8AF9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938" y="3429000"/>
            <a:ext cx="5805599" cy="20934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61543E-635B-820E-212F-A53E89434657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560EF0-FF14-DCBF-DB60-E268D87F5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69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331355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통합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Generalization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통합을 고려하지 않아도 되는 경우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1064585" y="1557705"/>
            <a:ext cx="1007346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조직과 연관이 있다</a:t>
            </a:r>
            <a:r>
              <a:rPr lang="en-US" altLang="ko-KR" sz="2000" b="1" dirty="0">
                <a:solidFill>
                  <a:srgbClr val="333333"/>
                </a:solidFill>
                <a:latin typeface="+mn-ea"/>
              </a:rPr>
              <a:t>. </a:t>
            </a: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조직이 원인으로 데이터가 통합되지 않는 경우가 빈번하다</a:t>
            </a:r>
            <a:r>
              <a:rPr lang="en-US" altLang="ko-KR" sz="2000" b="1" dirty="0">
                <a:solidFill>
                  <a:srgbClr val="333333"/>
                </a:solidFill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단지 주식과 수익증권계좌 </a:t>
            </a:r>
            <a:r>
              <a:rPr lang="ko-KR" altLang="en-US" sz="2000" b="1" dirty="0" err="1">
                <a:solidFill>
                  <a:srgbClr val="333333"/>
                </a:solidFill>
                <a:latin typeface="+mn-ea"/>
              </a:rPr>
              <a:t>엔터티를</a:t>
            </a: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 관리하는 담당자만 다르더라도 통합이 어렵다</a:t>
            </a:r>
            <a:r>
              <a:rPr lang="en-US" altLang="ko-KR" sz="2000" b="1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만약 담당자의 소속</a:t>
            </a:r>
            <a:r>
              <a:rPr lang="en-US" altLang="ko-KR" sz="2000" b="1" dirty="0">
                <a:solidFill>
                  <a:srgbClr val="333333"/>
                </a:solidFill>
                <a:latin typeface="+mn-ea"/>
              </a:rPr>
              <a:t>(</a:t>
            </a: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팀</a:t>
            </a:r>
            <a:r>
              <a:rPr lang="en-US" altLang="ko-KR" sz="2000" b="1" dirty="0">
                <a:solidFill>
                  <a:srgbClr val="333333"/>
                </a:solidFill>
                <a:latin typeface="+mn-ea"/>
              </a:rPr>
              <a:t>)</a:t>
            </a: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이 다르면 더욱 어려워진다</a:t>
            </a:r>
            <a:r>
              <a:rPr lang="en-US" altLang="ko-KR" sz="2000" b="1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2000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000" b="1" dirty="0">
                <a:solidFill>
                  <a:srgbClr val="333333"/>
                </a:solidFill>
                <a:latin typeface="+mn-ea"/>
              </a:rPr>
              <a:t>조직 때문에 데이터가 통합 안 되는 근본적인 원인은 업무량 때문일 것이다</a:t>
            </a:r>
            <a:r>
              <a:rPr lang="en-US" altLang="ko-KR" sz="2000" b="1" dirty="0">
                <a:solidFill>
                  <a:srgbClr val="333333"/>
                </a:solidFill>
                <a:latin typeface="+mn-ea"/>
              </a:rPr>
              <a:t>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00AE56-E9D5-911E-17BA-6377528FB32C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5C30AE-274B-9D79-CCF5-59B4EA08E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70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725718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통합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Generalization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데이터 </a:t>
            </a:r>
            <a:r>
              <a:rPr lang="ko-KR" altLang="en-US" sz="2400" u="sng" dirty="0">
                <a:solidFill>
                  <a:srgbClr val="FF0000"/>
                </a:solidFill>
              </a:rPr>
              <a:t>주제 영역</a:t>
            </a:r>
            <a:endParaRPr lang="en-US" altLang="ko-KR" sz="2400" u="sng" dirty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주제 영역의 목적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1064585" y="1557705"/>
            <a:ext cx="10073468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주제 영역은 데이터 아키텍처의 최상위 단계로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,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비즈니스의 목표를 달성하는 데 필요한 데이터 그룹</a:t>
            </a: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을 의미한다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여기저기에 산재된 유사한 성격의 데이터를 체계화해 그룹으로 묶은 것을 의미한다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애플리케이션에도 유사한 기능을 메뉴로 묶어 놓은 것과 같이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,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데이터를 유사한 성격으로 묶어 놓은 것이 주제 영역이다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고객이나 상품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조직 등이 </a:t>
            </a:r>
            <a:r>
              <a:rPr lang="ko-KR" altLang="en-US" sz="2000" b="1" u="sng" dirty="0">
                <a:solidFill>
                  <a:srgbClr val="FF0000"/>
                </a:solidFill>
                <a:latin typeface="+mn-ea"/>
              </a:rPr>
              <a:t>데이터 성격으로 분류하고 정의</a:t>
            </a: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한 주제 영역이다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주제 영역을 구축하는 가장 근본적인 목적은 </a:t>
            </a:r>
            <a:endParaRPr lang="en-US" altLang="ko-KR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400" b="1" u="sng" dirty="0">
                <a:solidFill>
                  <a:srgbClr val="FF0000"/>
                </a:solidFill>
                <a:latin typeface="+mn-ea"/>
              </a:rPr>
              <a:t>기업의 정보 체계 구조를 한눈에 파악하고 관리</a:t>
            </a: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할 수 있도록 하기 위해서다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데이터를 체계적으로 분류하는 것은 그 자체로 중요하다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6B82D5-1460-5545-A0F9-6DF174200F18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43855B-066A-3AB7-AC1A-A878A1141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71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209955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통합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Generalization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주제 영역 설계 방법</a:t>
            </a:r>
            <a:endParaRPr lang="en-US" altLang="ko-KR" sz="24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주제 영역 두 가지 유형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1064585" y="1557705"/>
            <a:ext cx="1007346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주제  영역을 설계하기  위해서는 기본적으로 모든 </a:t>
            </a:r>
            <a:r>
              <a:rPr lang="ko-KR" altLang="en-US" b="1" dirty="0" err="1">
                <a:solidFill>
                  <a:srgbClr val="333333"/>
                </a:solidFill>
                <a:latin typeface="+mn-ea"/>
              </a:rPr>
              <a:t>엔터티를</a:t>
            </a: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 파악해야 한다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모든 </a:t>
            </a:r>
            <a:r>
              <a:rPr lang="ko-KR" altLang="en-US" b="1" dirty="0" err="1">
                <a:solidFill>
                  <a:srgbClr val="333333"/>
                </a:solidFill>
                <a:latin typeface="+mn-ea"/>
              </a:rPr>
              <a:t>엔터티를</a:t>
            </a: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 정의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(Definition)</a:t>
            </a: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하면서 유사한 </a:t>
            </a:r>
            <a:r>
              <a:rPr lang="ko-KR" altLang="en-US" b="1" dirty="0" err="1">
                <a:solidFill>
                  <a:srgbClr val="333333"/>
                </a:solidFill>
                <a:latin typeface="+mn-ea"/>
              </a:rPr>
              <a:t>엔터티를</a:t>
            </a: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 묶는 일반화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(</a:t>
            </a:r>
            <a:r>
              <a:rPr lang="en-US" altLang="ko-KR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Generalization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)</a:t>
            </a: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과정을 거치면서 주제 영역을 설계한다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실체</a:t>
            </a: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 주제 영역 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(Thing Subject Area)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행위</a:t>
            </a: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 주제 영역 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(Do Subject Area)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18ACE8-DBE5-5586-9AE7-037649A73A8B}"/>
              </a:ext>
            </a:extLst>
          </p:cNvPr>
          <p:cNvSpPr txBox="1"/>
          <p:nvPr/>
        </p:nvSpPr>
        <p:spPr>
          <a:xfrm>
            <a:off x="1781985" y="3863938"/>
            <a:ext cx="100611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실체 주제 영역은 사람과 사물을 의미하는 데이터로 이루어진 주제 영역이다. 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업무를 수행하는 주체와 대상</a:t>
            </a:r>
            <a:r>
              <a:rPr lang="en-US" altLang="ko-KR" sz="1400" dirty="0"/>
              <a:t>, </a:t>
            </a:r>
            <a:r>
              <a:rPr lang="ko-KR" altLang="en-US" sz="1400" dirty="0"/>
              <a:t>자원 등과 관련된 데이터로 고객 • 계좌 • 조직 같은 주제 영역이 이에 해당한다.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실체 주제 영역은 누가 모델링을 하더라도 모델이 유사해질 수 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974D7D-BD60-2EC5-7CE0-8275DA59E0DA}"/>
              </a:ext>
            </a:extLst>
          </p:cNvPr>
          <p:cNvSpPr txBox="1"/>
          <p:nvPr/>
        </p:nvSpPr>
        <p:spPr>
          <a:xfrm>
            <a:off x="1781985" y="5245074"/>
            <a:ext cx="100611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행위 주제 영역은 여러 가지 행위를 나타내는 데이터로 이루어진 주제 영역이다</a:t>
            </a:r>
            <a:r>
              <a:rPr lang="en-US" altLang="ko-KR" sz="1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이는 업무</a:t>
            </a:r>
            <a:r>
              <a:rPr lang="en-US" altLang="ko-KR" sz="1400" dirty="0"/>
              <a:t> </a:t>
            </a:r>
            <a:r>
              <a:rPr lang="ko-KR" altLang="en-US" sz="1400" dirty="0"/>
              <a:t>수행한 결과가 모두 포함돼 너무 포괄적이라</a:t>
            </a:r>
            <a:r>
              <a:rPr lang="en-US" altLang="ko-KR" sz="1400" dirty="0"/>
              <a:t>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보통 행위 데이터를 다시 분류하여 계약</a:t>
            </a:r>
            <a:r>
              <a:rPr lang="en-US" altLang="ko-KR" sz="1400" dirty="0"/>
              <a:t>•</a:t>
            </a:r>
            <a:r>
              <a:rPr lang="ko-KR" altLang="en-US" sz="1400" dirty="0"/>
              <a:t>주문</a:t>
            </a:r>
            <a:r>
              <a:rPr lang="en-US" altLang="ko-KR" sz="1400" dirty="0"/>
              <a:t>•</a:t>
            </a:r>
            <a:r>
              <a:rPr lang="ko-KR" altLang="en-US" sz="1400" dirty="0"/>
              <a:t>결제 등과 같은 주제 영역으로 나눌 수 있다</a:t>
            </a:r>
            <a:r>
              <a:rPr lang="en-US" altLang="ko-KR" sz="1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반면에 행위 주제 영역은 </a:t>
            </a:r>
            <a:r>
              <a:rPr lang="ko-KR" altLang="en-US" sz="1400" dirty="0" err="1"/>
              <a:t>모델러에</a:t>
            </a:r>
            <a:r>
              <a:rPr lang="ko-KR" altLang="en-US" sz="1400" dirty="0"/>
              <a:t> 따라 많이 달라지는 경향이 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BA2FDF-BAD1-02B4-2CA0-B637E05C0631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ADC20C4-D8C9-725B-D91E-B529B9F34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72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921218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통합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Generalization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하위 주제영역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1064585" y="1557705"/>
            <a:ext cx="10073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Erwin </a:t>
            </a: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은 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b="1" dirty="0" err="1">
                <a:solidFill>
                  <a:srgbClr val="333333"/>
                </a:solidFill>
                <a:latin typeface="+mn-ea"/>
              </a:rPr>
              <a:t>단계까지만</a:t>
            </a: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 표현 가능</a:t>
            </a:r>
            <a:endParaRPr lang="en-US" altLang="ko-KR" b="1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BA2FDF-BAD1-02B4-2CA0-B637E05C0631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97080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통합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Generalization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데이터 오너십과</a:t>
            </a:r>
            <a:r>
              <a:rPr lang="en-US" altLang="ko-KR" sz="2400" dirty="0"/>
              <a:t> </a:t>
            </a:r>
            <a:r>
              <a:rPr lang="ko-KR" altLang="en-US" sz="2800" dirty="0">
                <a:solidFill>
                  <a:srgbClr val="FF0000"/>
                </a:solidFill>
              </a:rPr>
              <a:t>모델 </a:t>
            </a:r>
            <a:r>
              <a:rPr lang="ko-KR" altLang="en-US" sz="2800" dirty="0" err="1">
                <a:solidFill>
                  <a:srgbClr val="FF0000"/>
                </a:solidFill>
              </a:rPr>
              <a:t>오너십</a:t>
            </a:r>
            <a:r>
              <a:rPr lang="ko-KR" altLang="en-US" sz="2800" dirty="0">
                <a:solidFill>
                  <a:srgbClr val="FF0000"/>
                </a:solidFill>
              </a:rPr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(</a:t>
            </a:r>
            <a:r>
              <a:rPr lang="ko-KR" altLang="en-US" sz="2000" u="sng" dirty="0">
                <a:solidFill>
                  <a:srgbClr val="FF0000"/>
                </a:solidFill>
              </a:rPr>
              <a:t>데이터 오너십은 쓰지 않는다</a:t>
            </a:r>
            <a:r>
              <a:rPr lang="en-US" altLang="ko-KR" sz="2000" dirty="0">
                <a:solidFill>
                  <a:srgbClr val="FF0000"/>
                </a:solidFill>
              </a:rPr>
              <a:t>.)</a:t>
            </a:r>
            <a:endParaRPr lang="en-US" altLang="ko-KR" sz="2000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1064584" y="1557705"/>
            <a:ext cx="1043702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b="1" strike="sngStrike" dirty="0">
                <a:solidFill>
                  <a:srgbClr val="FF0000"/>
                </a:solidFill>
                <a:latin typeface="+mn-ea"/>
              </a:rPr>
              <a:t>데이터 오너십</a:t>
            </a: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이 있다면 기업 전체에 있어야 하며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,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개인이나 팀에서 데이터를 독점할 수 없다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물론 예외는 있다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. </a:t>
            </a: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급여와 같은 민감한 데이터 를 누구나 사용하도록 할 수는 없다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그렇더라도 급여 데이터가 누구의 소유는 될 수 없다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. </a:t>
            </a: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이는 보안의 문제다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DB</a:t>
            </a: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에 저장된 데이터를 관리하는 관리자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(DBA)</a:t>
            </a: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가 권한을 부여해 사용 못 하도록 하면 된다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데이터에 대한 접근을 허용과 특정 부서나 사람에게 접근 허용은 권한 관리에 해당하는 것이다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하지만 데이터가 아니라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정보</a:t>
            </a:r>
            <a:r>
              <a:rPr lang="en-US" altLang="ko-KR" b="1" u="sng" dirty="0">
                <a:solidFill>
                  <a:srgbClr val="FF0000"/>
                </a:solidFill>
                <a:latin typeface="+mn-ea"/>
              </a:rPr>
              <a:t>(Information)</a:t>
            </a: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라면 달라진다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원천 데이터를 사용해 생성한 정보는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생성한 소유자의 소유</a:t>
            </a: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가 될 수 있다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데이터를 분석해서 만들어낸 정보는 공개하지 않을 수 있다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물론이 역시도 기업 차원에서는 공개돼야 시너지 효과를 얻을 것이다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특정 데이터를 제외한 모든 데이터는 누구나 사용할 수 있어야</a:t>
            </a: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 하며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,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특정 팀이나 담당자의 소유가 아니므로 데이터에 대한 오너십은 기업 전체에 있는 게 원칙이다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데이터의 접근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생성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수정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권한을 관리</a:t>
            </a:r>
            <a:r>
              <a:rPr lang="ko-KR" altLang="en-US" b="1" dirty="0">
                <a:latin typeface="+mn-ea"/>
              </a:rPr>
              <a:t>해 훼손되지 않고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품질이 유지 될 수 </a:t>
            </a:r>
            <a:r>
              <a:rPr lang="ko-KR" altLang="en-US" b="1" u="sng" dirty="0" err="1">
                <a:solidFill>
                  <a:srgbClr val="FF0000"/>
                </a:solidFill>
                <a:latin typeface="+mn-ea"/>
              </a:rPr>
              <a:t>있도록</a:t>
            </a:r>
            <a:r>
              <a:rPr lang="ko-KR" altLang="en-US" b="1" dirty="0" err="1">
                <a:solidFill>
                  <a:srgbClr val="333333"/>
                </a:solidFill>
                <a:latin typeface="+mn-ea"/>
              </a:rPr>
              <a:t>해야</a:t>
            </a: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 한다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09578E-AC85-52D3-D8A9-16CF97E93313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E7948B-B6E7-581C-8E0C-19373C866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74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969874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통합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Generalization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데이터 오너십과</a:t>
            </a:r>
            <a:r>
              <a:rPr lang="en-US" altLang="ko-KR" sz="2400" dirty="0"/>
              <a:t> </a:t>
            </a:r>
            <a:r>
              <a:rPr lang="ko-KR" altLang="en-US" sz="2400" dirty="0"/>
              <a:t>모델 </a:t>
            </a:r>
            <a:r>
              <a:rPr lang="ko-KR" altLang="en-US" sz="2400" dirty="0" err="1"/>
              <a:t>오너십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704862" y="1557705"/>
            <a:ext cx="11350289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데이터 오너십은 또한 데이터 통합에 반하는 개념이다</a:t>
            </a:r>
            <a:r>
              <a:rPr lang="en-US" altLang="ko-KR" sz="1600" b="1" dirty="0">
                <a:solidFill>
                  <a:srgbClr val="333333"/>
                </a:solidFill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같은 성격의 데이터를 담당자가 개별적으로 관리하는 경우가 많다</a:t>
            </a:r>
            <a:r>
              <a:rPr lang="en-US" altLang="ko-KR" sz="1600" b="1" dirty="0">
                <a:solidFill>
                  <a:srgbClr val="333333"/>
                </a:solidFill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기준 정보는 중요한 역할을 하기 때문에 하나의 </a:t>
            </a:r>
            <a:r>
              <a:rPr lang="ko-KR" altLang="en-US" sz="1600" b="1" dirty="0" err="1">
                <a:solidFill>
                  <a:srgbClr val="333333"/>
                </a:solidFill>
                <a:latin typeface="+mn-ea"/>
              </a:rPr>
              <a:t>엔터티에서</a:t>
            </a: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 관리해야 한다</a:t>
            </a:r>
            <a:r>
              <a:rPr lang="en-US" altLang="ko-KR" sz="1600" b="1" dirty="0">
                <a:solidFill>
                  <a:srgbClr val="333333"/>
                </a:solidFill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그래야 모든 담당자가 사용하는 기준이 같아진다</a:t>
            </a:r>
            <a:r>
              <a:rPr lang="en-US" altLang="ko-KR" sz="1600" b="1" dirty="0">
                <a:solidFill>
                  <a:srgbClr val="333333"/>
                </a:solidFill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 err="1">
                <a:solidFill>
                  <a:srgbClr val="333333"/>
                </a:solidFill>
                <a:latin typeface="+mn-ea"/>
              </a:rPr>
              <a:t>엔터티는</a:t>
            </a: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 여러 개가 있을지라도 최소한 한 영역에 존재해야 효율적으로 관리할 수 있다</a:t>
            </a:r>
            <a:r>
              <a:rPr lang="en-US" altLang="ko-KR" sz="1600" b="1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데이터 오너십이 있다면 데이터를 통합 관리하는데 방해가 될 수 있다</a:t>
            </a:r>
            <a:r>
              <a:rPr lang="en-US" altLang="ko-KR" sz="1600" b="1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데이터를 개별적으로 관리하는 것은 폐쇄적이다</a:t>
            </a:r>
            <a:r>
              <a:rPr lang="en-US" altLang="ko-KR" sz="1600" b="1" dirty="0">
                <a:solidFill>
                  <a:srgbClr val="333333"/>
                </a:solidFill>
                <a:latin typeface="+mn-ea"/>
              </a:rPr>
              <a:t>. </a:t>
            </a: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바람직하지 않으며 절대 지양해야 한다</a:t>
            </a:r>
            <a:r>
              <a:rPr lang="en-US" altLang="ko-KR" sz="1600" b="1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600" b="1" u="sng" dirty="0">
                <a:solidFill>
                  <a:schemeClr val="accent1"/>
                </a:solidFill>
                <a:latin typeface="+mn-ea"/>
              </a:rPr>
              <a:t>“</a:t>
            </a:r>
            <a:r>
              <a:rPr lang="ko-KR" altLang="en-US" sz="1600" b="1" u="sng" dirty="0">
                <a:solidFill>
                  <a:schemeClr val="accent1"/>
                </a:solidFill>
                <a:latin typeface="+mn-ea"/>
              </a:rPr>
              <a:t>데이터 </a:t>
            </a:r>
            <a:r>
              <a:rPr lang="ko-KR" altLang="en-US" sz="1600" b="1" u="sng" dirty="0" err="1">
                <a:solidFill>
                  <a:schemeClr val="accent1"/>
                </a:solidFill>
                <a:latin typeface="+mn-ea"/>
              </a:rPr>
              <a:t>오너십</a:t>
            </a:r>
            <a:r>
              <a:rPr lang="en-US" altLang="ko-KR" sz="1600" b="1" u="sng" dirty="0">
                <a:solidFill>
                  <a:schemeClr val="accent1"/>
                </a:solidFill>
                <a:latin typeface="+mn-ea"/>
              </a:rPr>
              <a:t>”</a:t>
            </a: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이라는 용어를 사용하지 않는 대신 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“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모델 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오너십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”</a:t>
            </a: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이란 용어를 사용한다</a:t>
            </a:r>
            <a:r>
              <a:rPr lang="en-US" altLang="ko-KR" sz="1600" b="1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모델 오너십은 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엔터티가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 어떤 주제 영역의 모델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(ERD)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에 속하는지를 의미</a:t>
            </a: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한다</a:t>
            </a:r>
            <a:r>
              <a:rPr lang="en-US" altLang="ko-KR" sz="1600" b="1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주제 영역에 대한 </a:t>
            </a:r>
            <a:r>
              <a:rPr lang="ko-KR" altLang="en-US" sz="1600" b="1" dirty="0" err="1">
                <a:solidFill>
                  <a:srgbClr val="333333"/>
                </a:solidFill>
                <a:latin typeface="+mn-ea"/>
              </a:rPr>
              <a:t>엔터티의</a:t>
            </a: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 소속 개념인 모델 오너십은 </a:t>
            </a:r>
            <a:r>
              <a:rPr lang="ko-KR" altLang="en-US" sz="1600" b="1" dirty="0" err="1">
                <a:solidFill>
                  <a:srgbClr val="333333"/>
                </a:solidFill>
                <a:latin typeface="+mn-ea"/>
              </a:rPr>
              <a:t>모델러가</a:t>
            </a: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 유의해야 할 용어다</a:t>
            </a:r>
            <a:r>
              <a:rPr lang="en-US" altLang="ko-KR" sz="1600" b="1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“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모델 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오너십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”</a:t>
            </a: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과 유사한 용어로 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“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업무 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오너십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”</a:t>
            </a: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이 있다</a:t>
            </a:r>
            <a:r>
              <a:rPr lang="en-US" altLang="ko-KR" sz="1600" b="1" dirty="0">
                <a:solidFill>
                  <a:srgbClr val="333333"/>
                </a:solidFill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모델 오너십은 </a:t>
            </a:r>
            <a:r>
              <a:rPr lang="ko-KR" altLang="en-US" sz="1600" b="1" dirty="0" err="1">
                <a:solidFill>
                  <a:srgbClr val="333333"/>
                </a:solidFill>
                <a:latin typeface="+mn-ea"/>
              </a:rPr>
              <a:t>엔터티가</a:t>
            </a: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 속하는 영역</a:t>
            </a:r>
            <a:r>
              <a:rPr lang="en-US" altLang="ko-KR" sz="1600" b="1" dirty="0">
                <a:solidFill>
                  <a:srgbClr val="333333"/>
                </a:solidFill>
                <a:latin typeface="+mn-ea"/>
              </a:rPr>
              <a:t>(ERD)</a:t>
            </a: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을 의미하고</a:t>
            </a:r>
            <a:r>
              <a:rPr lang="en-US" altLang="ko-KR" sz="1600" b="1" dirty="0">
                <a:solidFill>
                  <a:srgbClr val="333333"/>
                </a:solidFill>
                <a:latin typeface="+mn-ea"/>
              </a:rPr>
              <a:t>, </a:t>
            </a: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업무 오너십은 애플리케이션이 속하는 영역</a:t>
            </a:r>
            <a:r>
              <a:rPr lang="en-US" altLang="ko-KR" sz="1600" b="1" dirty="0">
                <a:solidFill>
                  <a:srgbClr val="333333"/>
                </a:solidFill>
                <a:latin typeface="+mn-ea"/>
              </a:rPr>
              <a:t>(</a:t>
            </a: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화면</a:t>
            </a:r>
            <a:r>
              <a:rPr lang="en-US" altLang="ko-KR" sz="1600" b="1" dirty="0">
                <a:solidFill>
                  <a:srgbClr val="333333"/>
                </a:solidFill>
                <a:latin typeface="+mn-ea"/>
              </a:rPr>
              <a:t>)</a:t>
            </a: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을 의미한다</a:t>
            </a:r>
            <a:r>
              <a:rPr lang="en-US" altLang="ko-KR" sz="1600" b="1" dirty="0">
                <a:solidFill>
                  <a:srgbClr val="333333"/>
                </a:solidFill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모델 오너십은 주제 영역과 연관되며</a:t>
            </a:r>
            <a:r>
              <a:rPr lang="en-US" altLang="ko-KR" sz="1600" b="1" dirty="0">
                <a:solidFill>
                  <a:srgbClr val="333333"/>
                </a:solidFill>
                <a:latin typeface="+mn-ea"/>
              </a:rPr>
              <a:t>, </a:t>
            </a: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업무 오너십은 애플리케이션 영역과 연관된다</a:t>
            </a:r>
            <a:r>
              <a:rPr lang="en-US" altLang="ko-KR" sz="1600" b="1" dirty="0">
                <a:solidFill>
                  <a:srgbClr val="333333"/>
                </a:solidFill>
                <a:latin typeface="+mn-ea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9DD973-E291-86D6-7DF5-300F82428A22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DDD32A-A6D1-8CD1-DEF6-B24359998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75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378181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통합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Generalization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데이터 통합의 시발점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1064584" y="1557705"/>
            <a:ext cx="1077854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데이터 통합의 시발점은 데이터는 기업 전체의 공동자산이라는 인식에서부터 시작된다</a:t>
            </a:r>
            <a:r>
              <a:rPr lang="en-US" altLang="ko-KR" sz="1600" b="1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특수한  데이터를 제외하고 어떤 데이터도 특정팀이나 특정인에게 소속돼서는 안된다</a:t>
            </a:r>
            <a:r>
              <a:rPr lang="en-US" altLang="ko-KR" sz="1600" b="1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특정 팀이나 특정인에게 데이터가 소유되면 데이터 통합은 요원해질 수밖에 없다</a:t>
            </a:r>
            <a:r>
              <a:rPr lang="en-US" altLang="ko-KR" sz="1600" b="1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더 나아가 데이터를 통합해  일관되게 사용하지 못하면 기업 전체적으로 많은 비효율이 발생한다</a:t>
            </a:r>
            <a:r>
              <a:rPr lang="en-US" altLang="ko-KR" sz="1600" b="1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기업의 데이터는 기업 전체의 공동자산이라는 인식의 가져야 한다</a:t>
            </a:r>
            <a:r>
              <a:rPr lang="en-US" altLang="ko-KR" sz="1600" b="1" dirty="0">
                <a:solidFill>
                  <a:srgbClr val="333333"/>
                </a:solidFill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특정 담당자가 사용하기 위해 데이터가 아니라</a:t>
            </a:r>
            <a:r>
              <a:rPr lang="en-US" altLang="ko-KR" sz="1600" b="1" dirty="0">
                <a:solidFill>
                  <a:srgbClr val="333333"/>
                </a:solidFill>
                <a:latin typeface="+mn-ea"/>
              </a:rPr>
              <a:t>, </a:t>
            </a: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기업이 사용하도록 데이터를 관리하는 것이다</a:t>
            </a:r>
            <a:r>
              <a:rPr lang="en-US" altLang="ko-KR" sz="1600" b="1" dirty="0">
                <a:solidFill>
                  <a:srgbClr val="333333"/>
                </a:solidFill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업무 영역과 개발 영역</a:t>
            </a:r>
            <a:r>
              <a:rPr lang="en-US" altLang="ko-KR" sz="1600" b="1" dirty="0">
                <a:solidFill>
                  <a:srgbClr val="333333"/>
                </a:solidFill>
                <a:latin typeface="+mn-ea"/>
              </a:rPr>
              <a:t>, </a:t>
            </a: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주제 영역이 반드시 일치할 필요는 없다</a:t>
            </a:r>
            <a:r>
              <a:rPr lang="en-US" altLang="ko-KR" sz="1600" b="1" dirty="0">
                <a:solidFill>
                  <a:srgbClr val="333333"/>
                </a:solidFill>
                <a:latin typeface="+mn-ea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88031C-9832-2939-7D50-0FFD552F1329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62BA69-3CCA-077E-3781-B451CFA57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76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972952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통합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Generalization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데이터 통합과 정규화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1064584" y="1557705"/>
            <a:ext cx="1077854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정규화와 통합화라는 두 영역은 언뜻 관련이 없는 것으로 보이지만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서로 밀접하게 엮여 있다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데이터 통합은 정규화를 기반으로 이루어진다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정규화를 배제한 데이터 통합은 잘못 설계한 </a:t>
            </a:r>
            <a:r>
              <a:rPr lang="ko-KR" altLang="en-US" b="1" dirty="0" err="1">
                <a:solidFill>
                  <a:srgbClr val="333333"/>
                </a:solidFill>
                <a:latin typeface="+mn-ea"/>
              </a:rPr>
              <a:t>엔터티들</a:t>
            </a: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 사이에 존재하는 관계선과 같으며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무의미하다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정규화는 명확한 이론이 있지만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데이터 통합은 특별한 이론이 없다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데이터 통합은 동질성을 가진 데이터를 합치는 것으로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동질성의 성격을 규정할 수 있어야 한다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solidFill>
                  <a:srgbClr val="333333"/>
                </a:solidFill>
                <a:latin typeface="+mn-ea"/>
              </a:rPr>
              <a:t>만약 데이터와 정규화를 정확히 정의한다면 통합하는 데도 많은 도움이 될 것이다</a:t>
            </a:r>
            <a:r>
              <a:rPr lang="en-US" altLang="ko-KR" b="1" dirty="0">
                <a:solidFill>
                  <a:srgbClr val="333333"/>
                </a:solidFill>
                <a:latin typeface="+mn-ea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5977E5-4C3C-F82C-BA01-86A6CD45ACED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927398-415E-7F44-F3F3-74F326B7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77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602595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통합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Generalization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통합과 합체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1064584" y="1557705"/>
            <a:ext cx="10778549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통합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인스턴스를 합치는 것 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–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인스턴스가 늘어난다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!</a:t>
            </a:r>
          </a:p>
          <a:p>
            <a:r>
              <a:rPr lang="en-US" altLang="ko-KR" sz="1400" b="1" dirty="0">
                <a:solidFill>
                  <a:srgbClr val="333333"/>
                </a:solidFill>
                <a:latin typeface="+mn-ea"/>
              </a:rPr>
              <a:t>   - </a:t>
            </a:r>
            <a:r>
              <a:rPr lang="ko-KR" altLang="en-US" sz="1400" b="1" dirty="0">
                <a:solidFill>
                  <a:srgbClr val="333333"/>
                </a:solidFill>
                <a:latin typeface="+mn-ea"/>
              </a:rPr>
              <a:t>두 개 이상의 집합을 합쳐서 하나의 집합을 만드는 것을 통합이라 한다</a:t>
            </a:r>
            <a:r>
              <a:rPr lang="en-US" altLang="ko-KR" sz="1400" b="1" dirty="0">
                <a:solidFill>
                  <a:srgbClr val="333333"/>
                </a:solidFill>
                <a:latin typeface="+mn-ea"/>
              </a:rPr>
              <a:t>. </a:t>
            </a:r>
          </a:p>
          <a:p>
            <a:r>
              <a:rPr lang="en-US" altLang="ko-KR" sz="1400" b="1" dirty="0">
                <a:solidFill>
                  <a:srgbClr val="333333"/>
                </a:solidFill>
                <a:latin typeface="+mn-ea"/>
              </a:rPr>
              <a:t>   - </a:t>
            </a:r>
            <a:r>
              <a:rPr lang="ko-KR" altLang="en-US" sz="1400" b="1" dirty="0">
                <a:solidFill>
                  <a:srgbClr val="333333"/>
                </a:solidFill>
                <a:latin typeface="+mn-ea"/>
              </a:rPr>
              <a:t>집합의 원소는 </a:t>
            </a:r>
            <a:r>
              <a:rPr lang="ko-KR" altLang="en-US" sz="1400" b="1" dirty="0" err="1">
                <a:solidFill>
                  <a:srgbClr val="333333"/>
                </a:solidFill>
                <a:latin typeface="+mn-ea"/>
              </a:rPr>
              <a:t>엔터티의</a:t>
            </a:r>
            <a:r>
              <a:rPr lang="ko-KR" altLang="en-US" sz="1400" b="1" dirty="0">
                <a:solidFill>
                  <a:srgbClr val="333333"/>
                </a:solidFill>
                <a:latin typeface="+mn-ea"/>
              </a:rPr>
              <a:t> 인스턴스를 의미하며</a:t>
            </a:r>
            <a:r>
              <a:rPr lang="en-US" altLang="ko-KR" sz="1400" b="1" dirty="0">
                <a:solidFill>
                  <a:srgbClr val="333333"/>
                </a:solidFill>
                <a:latin typeface="+mn-ea"/>
              </a:rPr>
              <a:t>, </a:t>
            </a:r>
          </a:p>
          <a:p>
            <a:r>
              <a:rPr lang="en-US" altLang="ko-KR" sz="1400" b="1" dirty="0">
                <a:solidFill>
                  <a:srgbClr val="333333"/>
                </a:solidFill>
                <a:latin typeface="+mn-ea"/>
              </a:rPr>
              <a:t>   -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인스턴스를 하나의 집합을 만드는 것</a:t>
            </a:r>
            <a:r>
              <a:rPr lang="ko-KR" altLang="en-US" sz="1400" b="1" dirty="0">
                <a:solidFill>
                  <a:srgbClr val="333333"/>
                </a:solidFill>
                <a:latin typeface="+mn-ea"/>
              </a:rPr>
              <a:t>을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통합</a:t>
            </a:r>
            <a:r>
              <a:rPr lang="ko-KR" altLang="en-US" sz="1400" b="1" dirty="0">
                <a:solidFill>
                  <a:srgbClr val="333333"/>
                </a:solidFill>
                <a:latin typeface="+mn-ea"/>
              </a:rPr>
              <a:t>하는 것이다</a:t>
            </a:r>
            <a:r>
              <a:rPr lang="en-US" altLang="ko-KR" sz="1400" b="1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endParaRPr lang="en-US" altLang="ko-KR" sz="1600" b="1" dirty="0">
              <a:solidFill>
                <a:srgbClr val="333333"/>
              </a:solidFill>
              <a:latin typeface="+mn-ea"/>
            </a:endParaRPr>
          </a:p>
          <a:p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endParaRPr lang="en-US" altLang="ko-KR" sz="1600" b="1" dirty="0">
              <a:solidFill>
                <a:srgbClr val="333333"/>
              </a:solidFill>
              <a:latin typeface="+mn-ea"/>
            </a:endParaRPr>
          </a:p>
          <a:p>
            <a:endParaRPr lang="en-US" altLang="ko-KR" sz="1600" b="1" dirty="0">
              <a:solidFill>
                <a:srgbClr val="333333"/>
              </a:solidFill>
              <a:latin typeface="+mn-ea"/>
            </a:endParaRPr>
          </a:p>
          <a:p>
            <a:endParaRPr lang="en-US" altLang="ko-KR" sz="1600" b="1" dirty="0">
              <a:solidFill>
                <a:srgbClr val="333333"/>
              </a:solidFill>
              <a:latin typeface="+mn-ea"/>
            </a:endParaRPr>
          </a:p>
          <a:p>
            <a:endParaRPr lang="en-US" altLang="ko-KR" sz="1600" b="1" dirty="0">
              <a:solidFill>
                <a:srgbClr val="333333"/>
              </a:solidFill>
              <a:latin typeface="+mn-ea"/>
            </a:endParaRPr>
          </a:p>
          <a:p>
            <a:endParaRPr lang="en-US" altLang="ko-KR" sz="1600" b="1" dirty="0">
              <a:solidFill>
                <a:srgbClr val="333333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합체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속성을 합치는 것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r>
              <a:rPr lang="en-US" altLang="ko-KR" sz="1400" b="1" dirty="0">
                <a:solidFill>
                  <a:srgbClr val="333333"/>
                </a:solidFill>
                <a:latin typeface="+mn-ea"/>
              </a:rPr>
              <a:t>   - </a:t>
            </a:r>
            <a:r>
              <a:rPr lang="ko-KR" altLang="en-US" sz="1400" b="1" dirty="0">
                <a:solidFill>
                  <a:srgbClr val="333333"/>
                </a:solidFill>
                <a:latin typeface="+mn-ea"/>
              </a:rPr>
              <a:t>데이터 성격상 그 자체로 이미 하나의 집합인데 </a:t>
            </a:r>
            <a:endParaRPr lang="en-US" altLang="ko-KR" sz="1400" b="1" dirty="0">
              <a:solidFill>
                <a:srgbClr val="333333"/>
              </a:solidFill>
              <a:latin typeface="+mn-ea"/>
            </a:endParaRPr>
          </a:p>
          <a:p>
            <a:r>
              <a:rPr lang="en-US" altLang="ko-KR" sz="1400" b="1" dirty="0">
                <a:solidFill>
                  <a:srgbClr val="333333"/>
                </a:solidFill>
                <a:latin typeface="+mn-ea"/>
              </a:rPr>
              <a:t>   -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성능 등의 이유로 일부 속성을 분리한 일대일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(1:1)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관계</a:t>
            </a:r>
            <a:r>
              <a:rPr lang="ko-KR" altLang="en-US" sz="1400" b="1" dirty="0">
                <a:solidFill>
                  <a:srgbClr val="333333"/>
                </a:solidFill>
                <a:latin typeface="+mn-ea"/>
              </a:rPr>
              <a:t>가 있다</a:t>
            </a:r>
            <a:r>
              <a:rPr lang="en-US" altLang="ko-KR" sz="1400" b="1" dirty="0">
                <a:solidFill>
                  <a:srgbClr val="333333"/>
                </a:solidFill>
                <a:latin typeface="+mn-ea"/>
              </a:rPr>
              <a:t>. </a:t>
            </a:r>
          </a:p>
          <a:p>
            <a:r>
              <a:rPr lang="en-US" altLang="ko-KR" sz="1400" b="1" dirty="0">
                <a:solidFill>
                  <a:srgbClr val="333333"/>
                </a:solidFill>
                <a:latin typeface="+mn-ea"/>
              </a:rPr>
              <a:t>   - </a:t>
            </a:r>
            <a:r>
              <a:rPr lang="ko-KR" altLang="en-US" sz="1400" b="1" dirty="0">
                <a:solidFill>
                  <a:srgbClr val="333333"/>
                </a:solidFill>
                <a:latin typeface="+mn-ea"/>
              </a:rPr>
              <a:t>이런 일대일 관계의 </a:t>
            </a:r>
            <a:r>
              <a:rPr lang="ko-KR" altLang="en-US" sz="1400" b="1" dirty="0" err="1">
                <a:solidFill>
                  <a:srgbClr val="333333"/>
                </a:solidFill>
                <a:latin typeface="+mn-ea"/>
              </a:rPr>
              <a:t>엔터티를</a:t>
            </a:r>
            <a:r>
              <a:rPr lang="ko-KR" altLang="en-US" sz="1400" b="1" dirty="0">
                <a:solidFill>
                  <a:srgbClr val="333333"/>
                </a:solidFill>
                <a:latin typeface="+mn-ea"/>
              </a:rPr>
              <a:t> 합치는 것을</a:t>
            </a:r>
            <a:endParaRPr lang="en-US" altLang="ko-KR" sz="1400" b="1" dirty="0">
              <a:solidFill>
                <a:srgbClr val="333333"/>
              </a:solidFill>
              <a:latin typeface="+mn-ea"/>
            </a:endParaRPr>
          </a:p>
          <a:p>
            <a:r>
              <a:rPr lang="en-US" altLang="ko-KR" sz="1400" b="1" dirty="0">
                <a:solidFill>
                  <a:srgbClr val="333333"/>
                </a:solidFill>
                <a:latin typeface="+mn-ea"/>
              </a:rPr>
              <a:t>   - </a:t>
            </a:r>
            <a:r>
              <a:rPr lang="ko-KR" altLang="en-US" sz="1400" b="1" dirty="0" err="1">
                <a:solidFill>
                  <a:srgbClr val="FF0000"/>
                </a:solidFill>
                <a:latin typeface="+mn-ea"/>
              </a:rPr>
              <a:t>엔터티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 합체</a:t>
            </a:r>
            <a:r>
              <a:rPr lang="ko-KR" altLang="en-US" sz="1400" b="1" dirty="0">
                <a:solidFill>
                  <a:srgbClr val="333333"/>
                </a:solidFill>
                <a:latin typeface="+mn-ea"/>
              </a:rPr>
              <a:t>라고 한다</a:t>
            </a:r>
            <a:r>
              <a:rPr lang="en-US" altLang="ko-KR" sz="1400" b="1" dirty="0">
                <a:solidFill>
                  <a:srgbClr val="333333"/>
                </a:solidFill>
                <a:latin typeface="+mn-ea"/>
              </a:rPr>
              <a:t>.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65F2736-F5CC-3ED6-F5E9-2818F4F19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229" y="2553445"/>
            <a:ext cx="2410161" cy="149563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5F61D5D-0343-4FD4-2E3B-24890B5D2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3033" y="2153340"/>
            <a:ext cx="2076740" cy="2295845"/>
          </a:xfrm>
          <a:prstGeom prst="rect">
            <a:avLst/>
          </a:prstGeom>
        </p:spPr>
      </p:pic>
      <p:sp>
        <p:nvSpPr>
          <p:cNvPr id="12" name="이등변 삼각형 11">
            <a:extLst>
              <a:ext uri="{FF2B5EF4-FFF2-40B4-BE49-F238E27FC236}">
                <a16:creationId xmlns:a16="http://schemas.microsoft.com/office/drawing/2014/main" id="{29382981-0C52-5F53-02B6-4A25C14AE1F0}"/>
              </a:ext>
            </a:extLst>
          </p:cNvPr>
          <p:cNvSpPr/>
          <p:nvPr/>
        </p:nvSpPr>
        <p:spPr>
          <a:xfrm rot="5400000">
            <a:off x="9102699" y="3193452"/>
            <a:ext cx="199819" cy="21562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038287F-BC21-8F86-7FC9-4EBAC526CA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0229" y="4934843"/>
            <a:ext cx="2591162" cy="118126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2B82525-4750-1B27-3C7C-E1D5F59875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4034" y="4791948"/>
            <a:ext cx="1743318" cy="1467055"/>
          </a:xfrm>
          <a:prstGeom prst="rect">
            <a:avLst/>
          </a:prstGeom>
        </p:spPr>
      </p:pic>
      <p:sp>
        <p:nvSpPr>
          <p:cNvPr id="17" name="이등변 삼각형 16">
            <a:extLst>
              <a:ext uri="{FF2B5EF4-FFF2-40B4-BE49-F238E27FC236}">
                <a16:creationId xmlns:a16="http://schemas.microsoft.com/office/drawing/2014/main" id="{EA37BE15-DF37-8E64-F0B9-94ACDC208697}"/>
              </a:ext>
            </a:extLst>
          </p:cNvPr>
          <p:cNvSpPr/>
          <p:nvPr/>
        </p:nvSpPr>
        <p:spPr>
          <a:xfrm rot="5400000">
            <a:off x="9283700" y="5417665"/>
            <a:ext cx="199819" cy="21562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E0E41-5FC5-0385-8F4B-5E1D5177F18A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352F8E-F907-4332-92EF-2C5BE8EA2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2434" y="6017004"/>
            <a:ext cx="2743200" cy="365125"/>
          </a:xfrm>
        </p:spPr>
        <p:txBody>
          <a:bodyPr/>
          <a:lstStyle/>
          <a:p>
            <a:fld id="{6414D9B4-A085-4D58-9827-DD73C3602634}" type="slidenum">
              <a:rPr lang="ko-KR" altLang="en-US" smtClean="0"/>
              <a:pPr/>
              <a:t>78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222974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통합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Generalization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 주 식별자가 다른 </a:t>
            </a:r>
            <a:r>
              <a:rPr lang="ko-KR" altLang="en-US" sz="2400" dirty="0" err="1"/>
              <a:t>엔터티의</a:t>
            </a:r>
            <a:r>
              <a:rPr lang="ko-KR" altLang="en-US" sz="2400" dirty="0"/>
              <a:t> 통합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1064584" y="1557705"/>
            <a:ext cx="10778549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주 식별자 속성의 개수가 같을 때</a:t>
            </a: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200" b="1" dirty="0">
                <a:latin typeface="+mn-ea"/>
              </a:rPr>
              <a:t>주 식별자를 통합하는 방법  </a:t>
            </a:r>
            <a:r>
              <a:rPr lang="en-US" altLang="ko-KR" sz="1200" b="1" dirty="0">
                <a:latin typeface="+mn-ea"/>
                <a:sym typeface="Wingdings" panose="05000000000000000000" pitchFamily="2" charset="2"/>
              </a:rPr>
              <a:t> </a:t>
            </a:r>
            <a:r>
              <a:rPr lang="ko-KR" altLang="en-US" sz="1200" b="1" dirty="0">
                <a:latin typeface="+mn-ea"/>
                <a:sym typeface="Wingdings" panose="05000000000000000000" pitchFamily="2" charset="2"/>
              </a:rPr>
              <a:t>선호 방법</a:t>
            </a:r>
            <a:endParaRPr lang="en-US" altLang="ko-KR" sz="1200" b="1" dirty="0">
              <a:latin typeface="+mn-ea"/>
            </a:endParaRP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+mn-ea"/>
              </a:rPr>
              <a:t>통합 대상 </a:t>
            </a:r>
            <a:r>
              <a:rPr lang="ko-KR" altLang="en-US" sz="1200" b="1" dirty="0" err="1">
                <a:latin typeface="+mn-ea"/>
              </a:rPr>
              <a:t>엔터티</a:t>
            </a:r>
            <a:r>
              <a:rPr lang="ko-KR" altLang="en-US" sz="1200" b="1" dirty="0">
                <a:latin typeface="+mn-ea"/>
              </a:rPr>
              <a:t> 중에는 주 식별자가 다른 </a:t>
            </a:r>
            <a:r>
              <a:rPr lang="ko-KR" altLang="en-US" sz="1200" b="1" dirty="0" err="1">
                <a:latin typeface="+mn-ea"/>
              </a:rPr>
              <a:t>엔터티가</a:t>
            </a:r>
            <a:r>
              <a:rPr lang="ko-KR" altLang="en-US" sz="1200" b="1" dirty="0">
                <a:latin typeface="+mn-ea"/>
              </a:rPr>
              <a:t> 있다</a:t>
            </a:r>
            <a:r>
              <a:rPr lang="en-US" altLang="ko-KR" sz="1200" b="1" dirty="0">
                <a:latin typeface="+mn-ea"/>
              </a:rPr>
              <a:t>. 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주 식별자를 통합 후 값의 길이가 달라도 문제없다</a:t>
            </a:r>
            <a:r>
              <a:rPr lang="en-US" altLang="ko-KR" sz="1200" b="1" u="sng" dirty="0">
                <a:solidFill>
                  <a:srgbClr val="FF0000"/>
                </a:solidFill>
                <a:latin typeface="+mn-ea"/>
              </a:rPr>
              <a:t>.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+mn-ea"/>
              </a:rPr>
              <a:t>주 식별자가 다소 다르더라도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데이터 성격이 같고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기초 속성이 유사</a:t>
            </a:r>
            <a:r>
              <a:rPr lang="ko-KR" altLang="en-US" sz="1200" b="1" dirty="0">
                <a:latin typeface="+mn-ea"/>
              </a:rPr>
              <a:t>하다면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통합</a:t>
            </a:r>
            <a:r>
              <a:rPr lang="ko-KR" altLang="en-US" sz="1200" b="1" dirty="0">
                <a:latin typeface="+mn-ea"/>
              </a:rPr>
              <a:t>할 수 있다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+mj-lt"/>
              <a:buAutoNum type="arabicPeriod" startAt="2"/>
            </a:pPr>
            <a:r>
              <a:rPr lang="ko-KR" altLang="en-US" sz="1200" b="1" dirty="0">
                <a:latin typeface="+mn-ea"/>
              </a:rPr>
              <a:t>인조 식별자를 사용하는 방법  </a:t>
            </a:r>
            <a:r>
              <a:rPr lang="en-US" altLang="ko-KR" sz="1200" b="1" dirty="0">
                <a:latin typeface="+mn-ea"/>
                <a:sym typeface="Wingdings" panose="05000000000000000000" pitchFamily="2" charset="2"/>
              </a:rPr>
              <a:t> </a:t>
            </a:r>
            <a:r>
              <a:rPr lang="ko-KR" altLang="en-US" sz="1200" b="1" dirty="0" err="1">
                <a:latin typeface="+mn-ea"/>
                <a:sym typeface="Wingdings" panose="05000000000000000000" pitchFamily="2" charset="2"/>
              </a:rPr>
              <a:t>비선호</a:t>
            </a:r>
            <a:r>
              <a:rPr lang="ko-KR" altLang="en-US" sz="1200" b="1" dirty="0">
                <a:latin typeface="+mn-ea"/>
                <a:sym typeface="Wingdings" panose="05000000000000000000" pitchFamily="2" charset="2"/>
              </a:rPr>
              <a:t> 방법</a:t>
            </a:r>
            <a:endParaRPr lang="en-US" altLang="ko-KR" sz="1200" b="1" dirty="0">
              <a:latin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E837091-E551-7607-A73B-78298969E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602" y="2497706"/>
            <a:ext cx="2343477" cy="130510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92A39F3-4ED3-91BF-E7AB-0252026E4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190" y="2426258"/>
            <a:ext cx="2238687" cy="1448002"/>
          </a:xfrm>
          <a:prstGeom prst="rect">
            <a:avLst/>
          </a:prstGeom>
        </p:spPr>
      </p:pic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C5239ECA-AFF8-A02F-F243-08F945D8D2CB}"/>
              </a:ext>
            </a:extLst>
          </p:cNvPr>
          <p:cNvSpPr/>
          <p:nvPr/>
        </p:nvSpPr>
        <p:spPr>
          <a:xfrm rot="5400000">
            <a:off x="5198422" y="3042449"/>
            <a:ext cx="199819" cy="21562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ED1A338-0CFD-C97C-75B8-0E75C3114DA1}"/>
              </a:ext>
            </a:extLst>
          </p:cNvPr>
          <p:cNvSpPr/>
          <p:nvPr/>
        </p:nvSpPr>
        <p:spPr>
          <a:xfrm>
            <a:off x="2505602" y="2743206"/>
            <a:ext cx="2343477" cy="184826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1D6E147-4404-270A-7B9B-00A6969DA5C8}"/>
              </a:ext>
            </a:extLst>
          </p:cNvPr>
          <p:cNvSpPr/>
          <p:nvPr/>
        </p:nvSpPr>
        <p:spPr>
          <a:xfrm>
            <a:off x="6040876" y="2655659"/>
            <a:ext cx="1449421" cy="359925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5D56DE8B-76BB-DBA2-B85D-B70400267B56}"/>
              </a:ext>
            </a:extLst>
          </p:cNvPr>
          <p:cNvCxnSpPr>
            <a:cxnSpLocks/>
            <a:stCxn id="15" idx="3"/>
            <a:endCxn id="18" idx="1"/>
          </p:cNvCxnSpPr>
          <p:nvPr/>
        </p:nvCxnSpPr>
        <p:spPr>
          <a:xfrm>
            <a:off x="4849079" y="2835619"/>
            <a:ext cx="1191797" cy="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890A8D3-C302-C43C-806E-9C9A161D04E0}"/>
              </a:ext>
            </a:extLst>
          </p:cNvPr>
          <p:cNvSpPr txBox="1"/>
          <p:nvPr/>
        </p:nvSpPr>
        <p:spPr>
          <a:xfrm>
            <a:off x="8280637" y="2973170"/>
            <a:ext cx="306888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rgbClr val="FF0000"/>
                </a:solidFill>
              </a:rPr>
              <a:t>배타 속성</a:t>
            </a:r>
            <a:r>
              <a:rPr lang="ko-KR" altLang="en-US" sz="1000" dirty="0"/>
              <a:t> </a:t>
            </a:r>
            <a:r>
              <a:rPr lang="en-US" altLang="ko-KR" sz="1000" dirty="0"/>
              <a:t>:</a:t>
            </a:r>
            <a:r>
              <a:rPr lang="ko-KR" altLang="en-US" sz="1000" dirty="0"/>
              <a:t> </a:t>
            </a:r>
            <a:r>
              <a:rPr lang="ko-KR" altLang="en-US" sz="1000" b="1" u="sng" dirty="0">
                <a:solidFill>
                  <a:srgbClr val="FF0000"/>
                </a:solidFill>
              </a:rPr>
              <a:t>한 속성에 여러 종류의 값을 저장</a:t>
            </a:r>
            <a:r>
              <a:rPr lang="ko-KR" altLang="en-US" sz="1000" dirty="0"/>
              <a:t>하고</a:t>
            </a:r>
            <a:r>
              <a:rPr lang="en-US" altLang="ko-KR" sz="1000" dirty="0"/>
              <a:t>,</a:t>
            </a:r>
            <a:r>
              <a:rPr lang="ko-KR" altLang="en-US" sz="1000" dirty="0"/>
              <a:t> 그 값들이 배타적일 때, 또는 </a:t>
            </a:r>
            <a:r>
              <a:rPr lang="ko-KR" altLang="en-US" sz="1000" b="1" u="sng" dirty="0">
                <a:solidFill>
                  <a:srgbClr val="FF0000"/>
                </a:solidFill>
              </a:rPr>
              <a:t>여러 속성 간에 값이 상호 배타적일 때의 속성</a:t>
            </a:r>
            <a:r>
              <a:rPr lang="ko-KR" altLang="en-US" sz="1000" dirty="0"/>
              <a:t>을 의미한다.</a:t>
            </a: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284C6F40-6B8B-3DE3-6A71-0116D1231ADF}"/>
              </a:ext>
            </a:extLst>
          </p:cNvPr>
          <p:cNvCxnSpPr>
            <a:cxnSpLocks/>
            <a:stCxn id="31" idx="3"/>
            <a:endCxn id="24" idx="1"/>
          </p:cNvCxnSpPr>
          <p:nvPr/>
        </p:nvCxnSpPr>
        <p:spPr>
          <a:xfrm>
            <a:off x="7286017" y="2896227"/>
            <a:ext cx="994620" cy="353942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6A1B7F26-DB00-D794-F908-DB7D1E703BBC}"/>
              </a:ext>
            </a:extLst>
          </p:cNvPr>
          <p:cNvSpPr/>
          <p:nvPr/>
        </p:nvSpPr>
        <p:spPr>
          <a:xfrm>
            <a:off x="6382319" y="2796709"/>
            <a:ext cx="903698" cy="1990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FFDF8167-E206-6C71-0B92-36FA2CC796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663" y="4945176"/>
            <a:ext cx="1933845" cy="1638529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3946FCC-4BB0-1B10-28DD-B946A6457BD9}"/>
              </a:ext>
            </a:extLst>
          </p:cNvPr>
          <p:cNvSpPr txBox="1"/>
          <p:nvPr/>
        </p:nvSpPr>
        <p:spPr>
          <a:xfrm>
            <a:off x="1789926" y="4448570"/>
            <a:ext cx="400873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FF0000"/>
                </a:solidFill>
              </a:rPr>
              <a:t>인조 식별자</a:t>
            </a:r>
            <a:r>
              <a:rPr lang="ko-KR" altLang="en-US" sz="1400" dirty="0"/>
              <a:t> </a:t>
            </a:r>
            <a:r>
              <a:rPr lang="ko-KR" altLang="en-US" sz="1000" dirty="0"/>
              <a:t>모델을 사용하면 주 식별자의 길이는 고정된다</a:t>
            </a:r>
            <a:r>
              <a:rPr lang="en-US" altLang="ko-KR" sz="10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이 모델의 업무 식별자는 고객계좌통합번호 속성이며</a:t>
            </a:r>
            <a:r>
              <a:rPr lang="en-US" altLang="ko-KR" sz="1000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고객계좌통합번호 속성의 값이 고객번호인지 계좌번호인지를 알려면 고객계좌구분코드 속성으로 알 수 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CE80B91B-C1D4-EAE3-4056-3E36C84649CB}"/>
              </a:ext>
            </a:extLst>
          </p:cNvPr>
          <p:cNvCxnSpPr>
            <a:cxnSpLocks/>
            <a:stCxn id="47" idx="2"/>
            <a:endCxn id="45" idx="1"/>
          </p:cNvCxnSpPr>
          <p:nvPr/>
        </p:nvCxnSpPr>
        <p:spPr>
          <a:xfrm rot="16200000" flipH="1">
            <a:off x="4112399" y="3152864"/>
            <a:ext cx="552537" cy="373243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369A9426-2718-6C2F-A546-20250376E8BB}"/>
              </a:ext>
            </a:extLst>
          </p:cNvPr>
          <p:cNvSpPr/>
          <p:nvPr/>
        </p:nvSpPr>
        <p:spPr>
          <a:xfrm>
            <a:off x="6254885" y="5193128"/>
            <a:ext cx="991460" cy="20444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B7FFE499-D633-A554-6778-BDE5D6E19575}"/>
              </a:ext>
            </a:extLst>
          </p:cNvPr>
          <p:cNvSpPr/>
          <p:nvPr/>
        </p:nvSpPr>
        <p:spPr>
          <a:xfrm>
            <a:off x="1990415" y="4472042"/>
            <a:ext cx="1064069" cy="270772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D29574-091F-529B-4681-33EFF3C12C5F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72F69A-CA3A-3B8E-0861-47294B8EC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79</a:t>
            </a:fld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4B1687-2607-48B3-B6FE-980E0198AE82}"/>
              </a:ext>
            </a:extLst>
          </p:cNvPr>
          <p:cNvSpPr txBox="1"/>
          <p:nvPr/>
        </p:nvSpPr>
        <p:spPr>
          <a:xfrm>
            <a:off x="7894877" y="5274462"/>
            <a:ext cx="26007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~</a:t>
            </a:r>
            <a:r>
              <a:rPr lang="ko-KR" altLang="en-US" sz="1000" b="1" dirty="0">
                <a:solidFill>
                  <a:srgbClr val="FF0000"/>
                </a:solidFill>
              </a:rPr>
              <a:t>통합번호 혹은 </a:t>
            </a:r>
            <a:r>
              <a:rPr lang="en-US" altLang="ko-KR" sz="1000" dirty="0"/>
              <a:t>~</a:t>
            </a:r>
            <a:r>
              <a:rPr lang="ko-KR" altLang="en-US" sz="1000" dirty="0"/>
              <a:t>식별번호로 명명함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506C9C1D-D92A-442D-84C1-17559B43BC15}"/>
              </a:ext>
            </a:extLst>
          </p:cNvPr>
          <p:cNvSpPr/>
          <p:nvPr/>
        </p:nvSpPr>
        <p:spPr>
          <a:xfrm>
            <a:off x="6812360" y="5494292"/>
            <a:ext cx="454995" cy="20444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42F1DB99-C15D-46B8-AFEF-EAE1B8D35D13}"/>
              </a:ext>
            </a:extLst>
          </p:cNvPr>
          <p:cNvCxnSpPr>
            <a:cxnSpLocks/>
            <a:stCxn id="26" idx="1"/>
            <a:endCxn id="27" idx="3"/>
          </p:cNvCxnSpPr>
          <p:nvPr/>
        </p:nvCxnSpPr>
        <p:spPr>
          <a:xfrm rot="10800000" flipV="1">
            <a:off x="7267355" y="5397573"/>
            <a:ext cx="627522" cy="198942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62683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DFB4B83-6E6A-E311-9877-F737A286D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137" y="2747598"/>
            <a:ext cx="2676899" cy="26483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통합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Generalization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 주 식별자가 다른 </a:t>
            </a:r>
            <a:r>
              <a:rPr lang="ko-KR" altLang="en-US" sz="2400" dirty="0" err="1"/>
              <a:t>엔터티의</a:t>
            </a:r>
            <a:r>
              <a:rPr lang="ko-KR" altLang="en-US" sz="2400" dirty="0"/>
              <a:t> 통합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1064584" y="1557705"/>
            <a:ext cx="1077854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주 식별자 속성의 개수가 다를 때</a:t>
            </a: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+mj-lt"/>
              <a:buAutoNum type="arabicPeriod" startAt="3"/>
            </a:pPr>
            <a:r>
              <a:rPr lang="ko-KR" altLang="en-US" sz="1200" b="1" dirty="0">
                <a:latin typeface="+mn-ea"/>
              </a:rPr>
              <a:t>주 식별자 속성의 개수가 다를 때는 다소 복잡해 진다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+mn-ea"/>
              </a:rPr>
              <a:t>이때는 통합했을 때의 장</a:t>
            </a:r>
            <a:r>
              <a:rPr lang="en-US" altLang="ko-KR" sz="1200" b="1" dirty="0">
                <a:latin typeface="+mn-ea"/>
              </a:rPr>
              <a:t>•</a:t>
            </a:r>
            <a:r>
              <a:rPr lang="ko-KR" altLang="en-US" sz="1200" b="1" dirty="0">
                <a:latin typeface="+mn-ea"/>
              </a:rPr>
              <a:t>단점을 심도 있게 검토해야 한다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+mn-ea"/>
              </a:rPr>
              <a:t>아래의 모델에서 통합 대상인 두 </a:t>
            </a:r>
            <a:r>
              <a:rPr lang="ko-KR" altLang="en-US" sz="1200" b="1" dirty="0" err="1">
                <a:latin typeface="+mn-ea"/>
              </a:rPr>
              <a:t>엔터티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 err="1">
                <a:latin typeface="+mn-ea"/>
              </a:rPr>
              <a:t>고객알림서비스</a:t>
            </a:r>
            <a:r>
              <a:rPr lang="ko-KR" altLang="en-US" sz="1200" b="1" dirty="0">
                <a:latin typeface="+mn-ea"/>
              </a:rPr>
              <a:t> </a:t>
            </a:r>
            <a:r>
              <a:rPr lang="en-US" altLang="ko-KR" sz="1200" b="1" dirty="0">
                <a:latin typeface="+mn-ea"/>
              </a:rPr>
              <a:t>• </a:t>
            </a:r>
            <a:r>
              <a:rPr lang="ko-KR" altLang="en-US" sz="1200" b="1" dirty="0" err="1">
                <a:latin typeface="+mn-ea"/>
              </a:rPr>
              <a:t>종합계좌알림서비스</a:t>
            </a:r>
            <a:r>
              <a:rPr lang="en-US" altLang="ko-KR" sz="1200" b="1" dirty="0"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는 주 식별자 개수가 다르며</a:t>
            </a:r>
            <a:r>
              <a:rPr lang="en-US" altLang="ko-KR" sz="1200" b="1" dirty="0">
                <a:latin typeface="+mn-ea"/>
              </a:rPr>
              <a:t>, 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+mn-ea"/>
              </a:rPr>
              <a:t>주 식별자에 공통속성이 존재한다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</p:txBody>
      </p:sp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C5239ECA-AFF8-A02F-F243-08F945D8D2CB}"/>
              </a:ext>
            </a:extLst>
          </p:cNvPr>
          <p:cNvSpPr/>
          <p:nvPr/>
        </p:nvSpPr>
        <p:spPr>
          <a:xfrm rot="5400000">
            <a:off x="5154753" y="3609384"/>
            <a:ext cx="199819" cy="21562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90A8D3-C302-C43C-806E-9C9A161D04E0}"/>
              </a:ext>
            </a:extLst>
          </p:cNvPr>
          <p:cNvSpPr txBox="1"/>
          <p:nvPr/>
        </p:nvSpPr>
        <p:spPr>
          <a:xfrm>
            <a:off x="4303136" y="3440569"/>
            <a:ext cx="9266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</a:rPr>
              <a:t>주 식별자 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r>
              <a:rPr lang="ko-KR" altLang="en-US" sz="1000" b="1" dirty="0">
                <a:solidFill>
                  <a:srgbClr val="FF0000"/>
                </a:solidFill>
              </a:rPr>
              <a:t>개수가 다름</a:t>
            </a:r>
            <a:endParaRPr lang="ko-KR" altLang="en-US" sz="1000" dirty="0"/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284C6F40-6B8B-3DE3-6A71-0116D1231ADF}"/>
              </a:ext>
            </a:extLst>
          </p:cNvPr>
          <p:cNvCxnSpPr>
            <a:cxnSpLocks/>
            <a:stCxn id="31" idx="3"/>
            <a:endCxn id="24" idx="0"/>
          </p:cNvCxnSpPr>
          <p:nvPr/>
        </p:nvCxnSpPr>
        <p:spPr>
          <a:xfrm>
            <a:off x="4192617" y="3120261"/>
            <a:ext cx="573840" cy="320308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6A1B7F26-DB00-D794-F908-DB7D1E703BBC}"/>
              </a:ext>
            </a:extLst>
          </p:cNvPr>
          <p:cNvSpPr/>
          <p:nvPr/>
        </p:nvSpPr>
        <p:spPr>
          <a:xfrm>
            <a:off x="3202855" y="3027848"/>
            <a:ext cx="989762" cy="18482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FF40D42-96D9-BEE9-4489-5C726A9B36A7}"/>
              </a:ext>
            </a:extLst>
          </p:cNvPr>
          <p:cNvSpPr/>
          <p:nvPr/>
        </p:nvSpPr>
        <p:spPr>
          <a:xfrm>
            <a:off x="3132586" y="4146122"/>
            <a:ext cx="1171740" cy="339764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F2A64CC5-4285-621D-661B-EC1F6FCB5043}"/>
              </a:ext>
            </a:extLst>
          </p:cNvPr>
          <p:cNvCxnSpPr>
            <a:cxnSpLocks/>
            <a:stCxn id="16" idx="3"/>
            <a:endCxn id="24" idx="2"/>
          </p:cNvCxnSpPr>
          <p:nvPr/>
        </p:nvCxnSpPr>
        <p:spPr>
          <a:xfrm flipV="1">
            <a:off x="4304326" y="3840679"/>
            <a:ext cx="462131" cy="47532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그림 32">
            <a:extLst>
              <a:ext uri="{FF2B5EF4-FFF2-40B4-BE49-F238E27FC236}">
                <a16:creationId xmlns:a16="http://schemas.microsoft.com/office/drawing/2014/main" id="{46AD7B84-3005-ED79-9E96-84DD0A17E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738" y="2893167"/>
            <a:ext cx="1810003" cy="1648055"/>
          </a:xfrm>
          <a:prstGeom prst="rect">
            <a:avLst/>
          </a:prstGeom>
        </p:spPr>
      </p:pic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B72D9A8B-54D9-0264-CFD7-CD862AC09052}"/>
              </a:ext>
            </a:extLst>
          </p:cNvPr>
          <p:cNvSpPr/>
          <p:nvPr/>
        </p:nvSpPr>
        <p:spPr>
          <a:xfrm>
            <a:off x="5971339" y="3126190"/>
            <a:ext cx="1480053" cy="491095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DB59BB2F-2AD4-829E-1B57-757441BA73AF}"/>
              </a:ext>
            </a:extLst>
          </p:cNvPr>
          <p:cNvSpPr/>
          <p:nvPr/>
        </p:nvSpPr>
        <p:spPr>
          <a:xfrm>
            <a:off x="6297248" y="3456931"/>
            <a:ext cx="989762" cy="15062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56124203-616E-EF79-3C37-3EDF067F7194}"/>
              </a:ext>
            </a:extLst>
          </p:cNvPr>
          <p:cNvSpPr/>
          <p:nvPr/>
        </p:nvSpPr>
        <p:spPr>
          <a:xfrm>
            <a:off x="6294004" y="3307772"/>
            <a:ext cx="989762" cy="15062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F91AFBBE-A509-7C39-1E70-8234D557CB3C}"/>
              </a:ext>
            </a:extLst>
          </p:cNvPr>
          <p:cNvCxnSpPr>
            <a:cxnSpLocks/>
            <a:stCxn id="42" idx="3"/>
            <a:endCxn id="51" idx="1"/>
          </p:cNvCxnSpPr>
          <p:nvPr/>
        </p:nvCxnSpPr>
        <p:spPr>
          <a:xfrm>
            <a:off x="7283766" y="3383085"/>
            <a:ext cx="422973" cy="7610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0248A282-7538-D333-791B-9129D17E9CF2}"/>
              </a:ext>
            </a:extLst>
          </p:cNvPr>
          <p:cNvCxnSpPr>
            <a:cxnSpLocks/>
            <a:stCxn id="41" idx="3"/>
            <a:endCxn id="54" idx="1"/>
          </p:cNvCxnSpPr>
          <p:nvPr/>
        </p:nvCxnSpPr>
        <p:spPr>
          <a:xfrm>
            <a:off x="7287010" y="3532244"/>
            <a:ext cx="446477" cy="55373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4543D9C2-8343-5C90-C12B-B155EB62BEBD}"/>
              </a:ext>
            </a:extLst>
          </p:cNvPr>
          <p:cNvSpPr txBox="1"/>
          <p:nvPr/>
        </p:nvSpPr>
        <p:spPr>
          <a:xfrm>
            <a:off x="7706739" y="3259132"/>
            <a:ext cx="39696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일반 고객일 경우 주 </a:t>
            </a:r>
            <a:r>
              <a:rPr lang="ko-KR" altLang="en-US" sz="1000" b="1" dirty="0">
                <a:solidFill>
                  <a:srgbClr val="FF0000"/>
                </a:solidFill>
              </a:rPr>
              <a:t>식별자에는 </a:t>
            </a:r>
            <a:r>
              <a:rPr lang="en-US" altLang="ko-KR" sz="1000" b="1" dirty="0">
                <a:solidFill>
                  <a:srgbClr val="FF0000"/>
                </a:solidFill>
              </a:rPr>
              <a:t>null</a:t>
            </a:r>
            <a:r>
              <a:rPr lang="ko-KR" altLang="en-US" sz="1000" dirty="0"/>
              <a:t>이 존재할 수 없기 때문에 </a:t>
            </a:r>
            <a:endParaRPr lang="en-US" altLang="ko-KR" sz="1000" dirty="0"/>
          </a:p>
          <a:p>
            <a:r>
              <a:rPr lang="ko-KR" altLang="en-US" sz="1000" dirty="0" err="1"/>
              <a:t>종합계좌순번</a:t>
            </a:r>
            <a:r>
              <a:rPr lang="ko-KR" altLang="en-US" sz="1000" dirty="0"/>
              <a:t> 속성에는 </a:t>
            </a:r>
            <a:r>
              <a:rPr lang="ko-KR" altLang="en-US" sz="1000" b="1" u="sng" dirty="0">
                <a:solidFill>
                  <a:srgbClr val="FF0000"/>
                </a:solidFill>
              </a:rPr>
              <a:t>기본 값 (</a:t>
            </a:r>
            <a:r>
              <a:rPr lang="ko-KR" altLang="en-US" sz="1000" b="1" u="sng" dirty="0" err="1">
                <a:solidFill>
                  <a:srgbClr val="FF0000"/>
                </a:solidFill>
              </a:rPr>
              <a:t>Default</a:t>
            </a:r>
            <a:r>
              <a:rPr lang="ko-KR" altLang="en-US" sz="1000" b="1" u="sng" dirty="0">
                <a:solidFill>
                  <a:srgbClr val="FF0000"/>
                </a:solidFill>
              </a:rPr>
              <a:t> </a:t>
            </a:r>
            <a:r>
              <a:rPr lang="ko-KR" altLang="en-US" sz="1000" b="1" u="sng" dirty="0" err="1">
                <a:solidFill>
                  <a:srgbClr val="FF0000"/>
                </a:solidFill>
              </a:rPr>
              <a:t>Value</a:t>
            </a:r>
            <a:r>
              <a:rPr lang="ko-KR" altLang="en-US" sz="1000" b="1" u="sng" dirty="0">
                <a:solidFill>
                  <a:srgbClr val="FF0000"/>
                </a:solidFill>
              </a:rPr>
              <a:t>)</a:t>
            </a:r>
            <a:r>
              <a:rPr lang="ko-KR" altLang="en-US" sz="1000" dirty="0"/>
              <a:t> 을 사용해야 한다.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846BCBE-5046-AE22-0FBF-8CB0A5396262}"/>
              </a:ext>
            </a:extLst>
          </p:cNvPr>
          <p:cNvSpPr txBox="1"/>
          <p:nvPr/>
        </p:nvSpPr>
        <p:spPr>
          <a:xfrm>
            <a:off x="7733487" y="3808982"/>
            <a:ext cx="39696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고객에 대한 알림 인지 계좌에 대한 알림 인지를 구분하기 위해 고객계좌구분코드 속성을 추가해야 한다</a:t>
            </a:r>
            <a:r>
              <a:rPr lang="en-US" altLang="ko-KR" sz="1000" dirty="0"/>
              <a:t>. </a:t>
            </a:r>
          </a:p>
          <a:p>
            <a:r>
              <a:rPr lang="ko-KR" altLang="en-US" sz="1000" dirty="0"/>
              <a:t>효율성을 위해 추출 속성인 </a:t>
            </a:r>
            <a:r>
              <a:rPr lang="ko-KR" altLang="en-US" sz="1000" b="1" u="sng" dirty="0">
                <a:solidFill>
                  <a:srgbClr val="FF0000"/>
                </a:solidFill>
              </a:rPr>
              <a:t>고객계좌구분코드</a:t>
            </a:r>
            <a:r>
              <a:rPr lang="ko-KR" altLang="en-US" sz="1000" dirty="0"/>
              <a:t>를 사용한다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AEB7576A-5C83-3EAD-B2A2-2B7E554F0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4725" y="4652050"/>
            <a:ext cx="2648320" cy="1752845"/>
          </a:xfrm>
          <a:prstGeom prst="rect">
            <a:avLst/>
          </a:prstGeom>
        </p:spPr>
      </p:pic>
      <p:sp>
        <p:nvSpPr>
          <p:cNvPr id="58" name="이등변 삼각형 57">
            <a:extLst>
              <a:ext uri="{FF2B5EF4-FFF2-40B4-BE49-F238E27FC236}">
                <a16:creationId xmlns:a16="http://schemas.microsoft.com/office/drawing/2014/main" id="{D4E4E461-5C98-CBA2-2A92-E8FDE219D995}"/>
              </a:ext>
            </a:extLst>
          </p:cNvPr>
          <p:cNvSpPr/>
          <p:nvPr/>
        </p:nvSpPr>
        <p:spPr>
          <a:xfrm rot="5400000">
            <a:off x="5154753" y="5155938"/>
            <a:ext cx="199819" cy="21562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762C576-1FD0-DC14-0ACD-F31114C9D11A}"/>
              </a:ext>
            </a:extLst>
          </p:cNvPr>
          <p:cNvSpPr txBox="1"/>
          <p:nvPr/>
        </p:nvSpPr>
        <p:spPr>
          <a:xfrm>
            <a:off x="7733487" y="4945731"/>
            <a:ext cx="37744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/>
            </a:lvl1pPr>
          </a:lstStyle>
          <a:p>
            <a:r>
              <a:rPr lang="ko-KR" altLang="en-US" dirty="0"/>
              <a:t>만약 주 식별자에 논리적인 널 값을 사용하지 않도록 하려면</a:t>
            </a:r>
            <a:endParaRPr lang="en-US" altLang="ko-KR" dirty="0"/>
          </a:p>
          <a:p>
            <a:r>
              <a:rPr lang="ko-KR" altLang="en-US" b="1" dirty="0">
                <a:solidFill>
                  <a:srgbClr val="FF0000"/>
                </a:solidFill>
              </a:rPr>
              <a:t>인조 식별자</a:t>
            </a:r>
            <a:r>
              <a:rPr lang="ko-KR" altLang="en-US" dirty="0"/>
              <a:t>를 사용할 수 있다.</a:t>
            </a: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125100BC-55AD-245E-F545-D8295F386256}"/>
              </a:ext>
            </a:extLst>
          </p:cNvPr>
          <p:cNvSpPr/>
          <p:nvPr/>
        </p:nvSpPr>
        <p:spPr>
          <a:xfrm>
            <a:off x="6144176" y="4900456"/>
            <a:ext cx="1307215" cy="15062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4" name="연결선: 꺾임 63">
            <a:extLst>
              <a:ext uri="{FF2B5EF4-FFF2-40B4-BE49-F238E27FC236}">
                <a16:creationId xmlns:a16="http://schemas.microsoft.com/office/drawing/2014/main" id="{91CDDA5B-A2F1-78E0-E94A-7A88DFBE6EA2}"/>
              </a:ext>
            </a:extLst>
          </p:cNvPr>
          <p:cNvCxnSpPr>
            <a:cxnSpLocks/>
            <a:stCxn id="63" idx="3"/>
            <a:endCxn id="62" idx="1"/>
          </p:cNvCxnSpPr>
          <p:nvPr/>
        </p:nvCxnSpPr>
        <p:spPr>
          <a:xfrm>
            <a:off x="7451391" y="4975769"/>
            <a:ext cx="282096" cy="17001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7C0D830C-E2C1-AA04-1E78-37DCA02E5B44}"/>
              </a:ext>
            </a:extLst>
          </p:cNvPr>
          <p:cNvSpPr/>
          <p:nvPr/>
        </p:nvSpPr>
        <p:spPr>
          <a:xfrm>
            <a:off x="6144177" y="5185863"/>
            <a:ext cx="1239118" cy="320400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8DC88D-3B35-842B-4CBC-BBAEB387198F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583A41-2369-613F-43C2-EDB82A8D9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095268"/>
            <a:ext cx="2743200" cy="365125"/>
          </a:xfrm>
        </p:spPr>
        <p:txBody>
          <a:bodyPr/>
          <a:lstStyle/>
          <a:p>
            <a:fld id="{6414D9B4-A085-4D58-9827-DD73C3602634}" type="slidenum">
              <a:rPr lang="ko-KR" altLang="en-US" smtClean="0"/>
              <a:pPr/>
              <a:t>80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668700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112E8A4C-021D-3D47-3B9E-EE14EE2D4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715" y="2142274"/>
            <a:ext cx="2629267" cy="207674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82EA92E-119B-26FE-9504-743908FDF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68" y="2142274"/>
            <a:ext cx="2553056" cy="26006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통합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Generalization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 주 식별자가 다른 </a:t>
            </a:r>
            <a:r>
              <a:rPr lang="ko-KR" altLang="en-US" sz="2400" dirty="0" err="1"/>
              <a:t>엔터티의</a:t>
            </a:r>
            <a:r>
              <a:rPr lang="ko-KR" altLang="en-US" sz="2400" dirty="0"/>
              <a:t> 통합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1064584" y="1557705"/>
            <a:ext cx="10778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주 식별자 속성의 개수가 다를 때</a:t>
            </a: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+mj-lt"/>
              <a:buAutoNum type="arabicPeriod" startAt="4"/>
            </a:pPr>
            <a:r>
              <a:rPr lang="ko-KR" altLang="en-US" sz="1200" b="1" dirty="0">
                <a:latin typeface="+mn-ea"/>
              </a:rPr>
              <a:t>서로 개수도 다르고 유사성이 없는 모델이다</a:t>
            </a:r>
            <a:r>
              <a:rPr lang="en-US" altLang="ko-KR" sz="1200" b="1" dirty="0">
                <a:latin typeface="+mn-ea"/>
              </a:rPr>
              <a:t>.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90A8D3-C302-C43C-806E-9C9A161D04E0}"/>
              </a:ext>
            </a:extLst>
          </p:cNvPr>
          <p:cNvSpPr txBox="1"/>
          <p:nvPr/>
        </p:nvSpPr>
        <p:spPr>
          <a:xfrm>
            <a:off x="3816753" y="2652627"/>
            <a:ext cx="10742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FF0000"/>
                </a:solidFill>
              </a:rPr>
              <a:t>주 식별자 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b="1" dirty="0">
                <a:solidFill>
                  <a:srgbClr val="FF0000"/>
                </a:solidFill>
              </a:rPr>
              <a:t>개수가 다름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&amp;</a:t>
            </a:r>
          </a:p>
          <a:p>
            <a:pPr algn="ctr"/>
            <a:r>
              <a:rPr lang="ko-KR" altLang="en-US" sz="1000" b="1" dirty="0">
                <a:solidFill>
                  <a:srgbClr val="FF0000"/>
                </a:solidFill>
              </a:rPr>
              <a:t>유사성도 없음</a:t>
            </a:r>
            <a:endParaRPr lang="ko-KR" altLang="en-US" sz="1000" dirty="0"/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284C6F40-6B8B-3DE3-6A71-0116D1231ADF}"/>
              </a:ext>
            </a:extLst>
          </p:cNvPr>
          <p:cNvCxnSpPr>
            <a:cxnSpLocks/>
            <a:stCxn id="31" idx="3"/>
            <a:endCxn id="24" idx="0"/>
          </p:cNvCxnSpPr>
          <p:nvPr/>
        </p:nvCxnSpPr>
        <p:spPr>
          <a:xfrm>
            <a:off x="3608954" y="2439323"/>
            <a:ext cx="744944" cy="213304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6A1B7F26-DB00-D794-F908-DB7D1E703BBC}"/>
              </a:ext>
            </a:extLst>
          </p:cNvPr>
          <p:cNvSpPr/>
          <p:nvPr/>
        </p:nvSpPr>
        <p:spPr>
          <a:xfrm>
            <a:off x="2619192" y="2346910"/>
            <a:ext cx="989762" cy="18482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FF40D42-96D9-BEE9-4489-5C726A9B36A7}"/>
              </a:ext>
            </a:extLst>
          </p:cNvPr>
          <p:cNvSpPr/>
          <p:nvPr/>
        </p:nvSpPr>
        <p:spPr>
          <a:xfrm>
            <a:off x="2626746" y="3426271"/>
            <a:ext cx="1171740" cy="468247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F2A64CC5-4285-621D-661B-EC1F6FCB5043}"/>
              </a:ext>
            </a:extLst>
          </p:cNvPr>
          <p:cNvCxnSpPr>
            <a:cxnSpLocks/>
            <a:stCxn id="16" idx="3"/>
            <a:endCxn id="24" idx="2"/>
          </p:cNvCxnSpPr>
          <p:nvPr/>
        </p:nvCxnSpPr>
        <p:spPr>
          <a:xfrm flipV="1">
            <a:off x="3798486" y="3360513"/>
            <a:ext cx="555412" cy="299882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56124203-616E-EF79-3C37-3EDF067F7194}"/>
              </a:ext>
            </a:extLst>
          </p:cNvPr>
          <p:cNvSpPr/>
          <p:nvPr/>
        </p:nvSpPr>
        <p:spPr>
          <a:xfrm>
            <a:off x="5709412" y="2376796"/>
            <a:ext cx="1401503" cy="1766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F91AFBBE-A509-7C39-1E70-8234D557CB3C}"/>
              </a:ext>
            </a:extLst>
          </p:cNvPr>
          <p:cNvCxnSpPr>
            <a:cxnSpLocks/>
            <a:stCxn id="42" idx="3"/>
            <a:endCxn id="54" idx="1"/>
          </p:cNvCxnSpPr>
          <p:nvPr/>
        </p:nvCxnSpPr>
        <p:spPr>
          <a:xfrm flipV="1">
            <a:off x="7110915" y="2212896"/>
            <a:ext cx="564074" cy="25221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846BCBE-5046-AE22-0FBF-8CB0A5396262}"/>
              </a:ext>
            </a:extLst>
          </p:cNvPr>
          <p:cNvSpPr txBox="1"/>
          <p:nvPr/>
        </p:nvSpPr>
        <p:spPr>
          <a:xfrm>
            <a:off x="7674989" y="2012841"/>
            <a:ext cx="42446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주 식별자 </a:t>
            </a:r>
            <a:r>
              <a:rPr lang="ko-KR" altLang="en-US" sz="1000" b="1" u="sng" dirty="0">
                <a:solidFill>
                  <a:srgbClr val="FF0000"/>
                </a:solidFill>
              </a:rPr>
              <a:t>개수도 다르고</a:t>
            </a:r>
            <a:r>
              <a:rPr lang="en-US" altLang="ko-KR" sz="1000" b="1" u="sng" dirty="0">
                <a:solidFill>
                  <a:srgbClr val="FF0000"/>
                </a:solidFill>
              </a:rPr>
              <a:t>, </a:t>
            </a:r>
            <a:r>
              <a:rPr lang="ko-KR" altLang="en-US" sz="1000" b="1" u="sng" dirty="0">
                <a:solidFill>
                  <a:srgbClr val="FF0000"/>
                </a:solidFill>
              </a:rPr>
              <a:t>유사성도 없는 경우</a:t>
            </a:r>
            <a:endParaRPr lang="en-US" altLang="ko-KR" sz="1000" b="1" u="sng" dirty="0">
              <a:solidFill>
                <a:srgbClr val="FF0000"/>
              </a:solidFill>
            </a:endParaRPr>
          </a:p>
          <a:p>
            <a:r>
              <a:rPr lang="ko-KR" altLang="en-US" sz="1000" dirty="0"/>
              <a:t>통합하는 방식은 </a:t>
            </a:r>
            <a:r>
              <a:rPr lang="ko-KR" altLang="en-US" sz="1000" b="1" u="sng" dirty="0">
                <a:solidFill>
                  <a:srgbClr val="FF0000"/>
                </a:solidFill>
              </a:rPr>
              <a:t>인조 식별자를 사용</a:t>
            </a:r>
            <a:r>
              <a:rPr lang="ko-KR" altLang="en-US" sz="1000" dirty="0"/>
              <a:t>하는 것이다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58" name="이등변 삼각형 57">
            <a:extLst>
              <a:ext uri="{FF2B5EF4-FFF2-40B4-BE49-F238E27FC236}">
                <a16:creationId xmlns:a16="http://schemas.microsoft.com/office/drawing/2014/main" id="{D4E4E461-5C98-CBA2-2A92-E8FDE219D995}"/>
              </a:ext>
            </a:extLst>
          </p:cNvPr>
          <p:cNvSpPr/>
          <p:nvPr/>
        </p:nvSpPr>
        <p:spPr>
          <a:xfrm rot="5400000">
            <a:off x="4882379" y="3467686"/>
            <a:ext cx="199819" cy="21562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26F1D20A-82B7-B194-945E-4F25A1F5C8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5727" y="4308531"/>
            <a:ext cx="4715533" cy="136226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5DF9A4A-02B8-64DD-D021-7F14DE510CC1}"/>
              </a:ext>
            </a:extLst>
          </p:cNvPr>
          <p:cNvSpPr txBox="1"/>
          <p:nvPr/>
        </p:nvSpPr>
        <p:spPr>
          <a:xfrm>
            <a:off x="6790900" y="5828409"/>
            <a:ext cx="50573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/>
            </a:lvl1pPr>
          </a:lstStyle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b="1" dirty="0">
                <a:solidFill>
                  <a:srgbClr val="FF0000"/>
                </a:solidFill>
              </a:rPr>
              <a:t>Null </a:t>
            </a:r>
            <a:r>
              <a:rPr lang="ko-KR" altLang="en-US" b="1" dirty="0">
                <a:solidFill>
                  <a:srgbClr val="FF0000"/>
                </a:solidFill>
              </a:rPr>
              <a:t>값 존재</a:t>
            </a:r>
            <a:r>
              <a:rPr lang="ko-KR" altLang="en-US" dirty="0"/>
              <a:t>   </a:t>
            </a:r>
            <a:r>
              <a:rPr lang="en-US" altLang="ko-KR" dirty="0"/>
              <a:t>: </a:t>
            </a:r>
            <a:r>
              <a:rPr lang="ko-KR" altLang="en-US" dirty="0" err="1"/>
              <a:t>종합계좌순번</a:t>
            </a:r>
            <a:r>
              <a:rPr lang="ko-KR" altLang="en-US" dirty="0"/>
              <a:t> </a:t>
            </a:r>
            <a:r>
              <a:rPr lang="en-US" altLang="ko-KR" dirty="0"/>
              <a:t>&lt;null&gt; </a:t>
            </a:r>
            <a:r>
              <a:rPr lang="ko-KR" altLang="en-US" dirty="0"/>
              <a:t>개설상품번호</a:t>
            </a:r>
            <a:r>
              <a:rPr lang="en-US" altLang="ko-KR" dirty="0"/>
              <a:t>, </a:t>
            </a:r>
            <a:r>
              <a:rPr lang="ko-KR" altLang="en-US" dirty="0" err="1"/>
              <a:t>개설순번</a:t>
            </a: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b="1" dirty="0">
                <a:solidFill>
                  <a:srgbClr val="FF0000"/>
                </a:solidFill>
              </a:rPr>
              <a:t>배타속성 주의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상위</a:t>
            </a:r>
            <a:r>
              <a:rPr lang="en-US" altLang="ko-KR" dirty="0"/>
              <a:t>(</a:t>
            </a:r>
            <a:r>
              <a:rPr lang="ko-KR" altLang="en-US" dirty="0"/>
              <a:t>부모 </a:t>
            </a:r>
            <a:r>
              <a:rPr lang="ko-KR" altLang="en-US" dirty="0" err="1"/>
              <a:t>엔터티의</a:t>
            </a:r>
            <a:r>
              <a:rPr lang="ko-KR" altLang="en-US" dirty="0"/>
              <a:t> 주 식별자가 서로 배타 속성이라는 것을 의미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8D7A9B7-D0F5-D6F5-BF04-137F4E351CEA}"/>
              </a:ext>
            </a:extLst>
          </p:cNvPr>
          <p:cNvSpPr/>
          <p:nvPr/>
        </p:nvSpPr>
        <p:spPr>
          <a:xfrm>
            <a:off x="7645360" y="4526377"/>
            <a:ext cx="1274902" cy="944781"/>
          </a:xfrm>
          <a:prstGeom prst="roundRect">
            <a:avLst>
              <a:gd name="adj" fmla="val 9964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5E0A9C12-1A18-8AFE-EFA0-3BD0E5BBBFD0}"/>
              </a:ext>
            </a:extLst>
          </p:cNvPr>
          <p:cNvCxnSpPr>
            <a:cxnSpLocks/>
            <a:stCxn id="32" idx="3"/>
            <a:endCxn id="30" idx="0"/>
          </p:cNvCxnSpPr>
          <p:nvPr/>
        </p:nvCxnSpPr>
        <p:spPr>
          <a:xfrm>
            <a:off x="8920262" y="4998768"/>
            <a:ext cx="399331" cy="82964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8C55C389-3445-7A44-0D1B-78F9B64243AE}"/>
              </a:ext>
            </a:extLst>
          </p:cNvPr>
          <p:cNvSpPr/>
          <p:nvPr/>
        </p:nvSpPr>
        <p:spPr>
          <a:xfrm>
            <a:off x="5782897" y="2825654"/>
            <a:ext cx="1346030" cy="505675"/>
          </a:xfrm>
          <a:prstGeom prst="roundRect">
            <a:avLst>
              <a:gd name="adj" fmla="val 9964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13ECD774-59C8-0C08-1E63-2948195C766F}"/>
              </a:ext>
            </a:extLst>
          </p:cNvPr>
          <p:cNvCxnSpPr>
            <a:cxnSpLocks/>
            <a:stCxn id="49" idx="3"/>
            <a:endCxn id="32" idx="0"/>
          </p:cNvCxnSpPr>
          <p:nvPr/>
        </p:nvCxnSpPr>
        <p:spPr>
          <a:xfrm>
            <a:off x="7128927" y="3078492"/>
            <a:ext cx="1153884" cy="14478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D3F9738-F304-1B49-DA82-8F0E74B7E66C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4D8E36-097F-82A4-EDE6-B77372890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81</a:t>
            </a:fld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D680F2-3D72-4215-A514-6768C5E35646}"/>
              </a:ext>
            </a:extLst>
          </p:cNvPr>
          <p:cNvSpPr txBox="1"/>
          <p:nvPr/>
        </p:nvSpPr>
        <p:spPr>
          <a:xfrm>
            <a:off x="8518181" y="2652627"/>
            <a:ext cx="26377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</a:rPr>
              <a:t>인덱스 가용성 측면에서 </a:t>
            </a:r>
            <a:r>
              <a:rPr lang="en-US" altLang="ko-KR" sz="1000" b="1" dirty="0">
                <a:solidFill>
                  <a:srgbClr val="FF0000"/>
                </a:solidFill>
              </a:rPr>
              <a:t>Not Null </a:t>
            </a:r>
            <a:r>
              <a:rPr lang="ko-KR" altLang="en-US" sz="1000" b="1" dirty="0">
                <a:solidFill>
                  <a:srgbClr val="FF0000"/>
                </a:solidFill>
              </a:rPr>
              <a:t>설계 후 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r>
              <a:rPr lang="en-US" altLang="ko-KR" sz="1000" b="1" dirty="0">
                <a:solidFill>
                  <a:srgbClr val="FF0000"/>
                </a:solidFill>
              </a:rPr>
              <a:t>Default </a:t>
            </a:r>
            <a:r>
              <a:rPr lang="ko-KR" altLang="en-US" sz="1000" b="1" dirty="0">
                <a:solidFill>
                  <a:srgbClr val="FF0000"/>
                </a:solidFill>
              </a:rPr>
              <a:t>값을 사용해야 한다</a:t>
            </a:r>
            <a:r>
              <a:rPr lang="en-US" altLang="ko-KR" sz="1000" b="1" dirty="0">
                <a:solidFill>
                  <a:srgbClr val="FF0000"/>
                </a:solidFill>
              </a:rPr>
              <a:t>.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8668A267-1821-4090-A512-2185236C6D1A}"/>
              </a:ext>
            </a:extLst>
          </p:cNvPr>
          <p:cNvCxnSpPr>
            <a:cxnSpLocks/>
            <a:stCxn id="49" idx="3"/>
            <a:endCxn id="26" idx="1"/>
          </p:cNvCxnSpPr>
          <p:nvPr/>
        </p:nvCxnSpPr>
        <p:spPr>
          <a:xfrm flipV="1">
            <a:off x="7128927" y="2852682"/>
            <a:ext cx="1389254" cy="22581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619499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05F52185-6ACD-9725-D953-58BF85ADD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295" y="2911410"/>
            <a:ext cx="4166209" cy="33850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통합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Generalization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 주 식별자가 다른 여러 </a:t>
            </a:r>
            <a:r>
              <a:rPr lang="ko-KR" altLang="en-US" sz="2400" dirty="0" err="1"/>
              <a:t>엔터티를</a:t>
            </a:r>
            <a:r>
              <a:rPr lang="ko-KR" altLang="en-US" sz="2400" dirty="0"/>
              <a:t> 통합할 수 있는 유연한 모델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1064584" y="1557705"/>
            <a:ext cx="107785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b="1" dirty="0">
                <a:latin typeface="+mn-ea"/>
              </a:rPr>
              <a:t>위 모델에서는 이력 데이터를 관리하는 대상이 계좌</a:t>
            </a:r>
            <a:r>
              <a:rPr lang="en-US" altLang="ko-KR" sz="1200" b="1" dirty="0">
                <a:latin typeface="+mn-ea"/>
              </a:rPr>
              <a:t> • </a:t>
            </a:r>
            <a:r>
              <a:rPr lang="ko-KR" altLang="en-US" sz="1200" b="1" dirty="0">
                <a:latin typeface="+mn-ea"/>
              </a:rPr>
              <a:t>고객</a:t>
            </a:r>
            <a:r>
              <a:rPr lang="en-US" altLang="ko-KR" sz="1200" b="1" dirty="0">
                <a:latin typeface="+mn-ea"/>
              </a:rPr>
              <a:t>•</a:t>
            </a:r>
            <a:r>
              <a:rPr lang="ko-KR" altLang="en-US" sz="1200" b="1" dirty="0">
                <a:latin typeface="+mn-ea"/>
              </a:rPr>
              <a:t>고객주소 </a:t>
            </a:r>
            <a:r>
              <a:rPr lang="ko-KR" altLang="en-US" sz="1200" b="1" dirty="0" err="1">
                <a:latin typeface="+mn-ea"/>
              </a:rPr>
              <a:t>엔터티며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각각 주 식별자 개수가 다르다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b="1" dirty="0">
                <a:latin typeface="+mn-ea"/>
              </a:rPr>
              <a:t>통합 이력을 관리하는 </a:t>
            </a:r>
            <a:r>
              <a:rPr lang="ko-KR" altLang="en-US" sz="1200" b="1" dirty="0" err="1">
                <a:latin typeface="+mn-ea"/>
              </a:rPr>
              <a:t>엔터티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속성통합이력</a:t>
            </a:r>
            <a:r>
              <a:rPr lang="en-US" altLang="ko-KR" sz="1200" b="1" dirty="0"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는 배타 관계가 발생하고</a:t>
            </a:r>
            <a:r>
              <a:rPr lang="en-US" altLang="ko-KR" sz="1200" b="1" dirty="0">
                <a:latin typeface="+mn-ea"/>
              </a:rPr>
              <a:t>,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b="1" dirty="0">
                <a:latin typeface="+mn-ea"/>
              </a:rPr>
              <a:t>세 개의 속성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통합이력 식별속성</a:t>
            </a:r>
            <a:r>
              <a:rPr lang="en-US" altLang="ko-KR" sz="1200" b="1" dirty="0">
                <a:latin typeface="+mn-ea"/>
              </a:rPr>
              <a:t>•</a:t>
            </a:r>
            <a:r>
              <a:rPr lang="ko-KR" altLang="en-US" sz="1200" b="1" dirty="0">
                <a:latin typeface="+mn-ea"/>
              </a:rPr>
              <a:t>통합이력식별속성</a:t>
            </a:r>
            <a:r>
              <a:rPr lang="en-US" altLang="ko-KR" sz="1200" b="1" dirty="0">
                <a:latin typeface="+mn-ea"/>
              </a:rPr>
              <a:t>2•</a:t>
            </a:r>
            <a:r>
              <a:rPr lang="ko-KR" altLang="en-US" sz="1200" b="1" dirty="0">
                <a:latin typeface="+mn-ea"/>
              </a:rPr>
              <a:t>통합이력식별속성</a:t>
            </a:r>
            <a:r>
              <a:rPr lang="en-US" altLang="ko-KR" sz="1200" b="1" dirty="0">
                <a:latin typeface="+mn-ea"/>
              </a:rPr>
              <a:t>3)</a:t>
            </a:r>
            <a:r>
              <a:rPr lang="ko-KR" altLang="en-US" sz="1200" b="1" dirty="0">
                <a:latin typeface="+mn-ea"/>
              </a:rPr>
              <a:t>에서 대상 </a:t>
            </a:r>
            <a:r>
              <a:rPr lang="ko-KR" altLang="en-US" sz="1200" b="1" dirty="0" err="1">
                <a:latin typeface="+mn-ea"/>
              </a:rPr>
              <a:t>엔터티의</a:t>
            </a:r>
            <a:r>
              <a:rPr lang="ko-KR" altLang="en-US" sz="1200" b="1" dirty="0">
                <a:latin typeface="+mn-ea"/>
              </a:rPr>
              <a:t> 주 식별자 값을 관리한다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b="1" dirty="0">
                <a:latin typeface="+mn-ea"/>
              </a:rPr>
              <a:t>또한 이력 대상 속성은 별도의 </a:t>
            </a:r>
            <a:r>
              <a:rPr lang="ko-KR" altLang="en-US" sz="1200" b="1" dirty="0" err="1">
                <a:latin typeface="+mn-ea"/>
              </a:rPr>
              <a:t>엔터티에서</a:t>
            </a:r>
            <a:r>
              <a:rPr lang="ko-KR" altLang="en-US" sz="1200" b="1" dirty="0">
                <a:latin typeface="+mn-ea"/>
              </a:rPr>
              <a:t> 기준 정보로 관리한다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b="1" dirty="0">
                <a:latin typeface="+mn-ea"/>
              </a:rPr>
              <a:t>이 모델은 일반적인 속성 명을 미리 정해 놓고 대상이 추가될 때를 고려해서 사용하는 매우 유연한 모델이지만，</a:t>
            </a:r>
            <a:endParaRPr lang="en-US" altLang="ko-KR" sz="12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b="1" dirty="0" err="1">
                <a:latin typeface="+mn-ea"/>
              </a:rPr>
              <a:t>엔터티의</a:t>
            </a:r>
            <a:r>
              <a:rPr lang="ko-KR" altLang="en-US" sz="1200" b="1" dirty="0">
                <a:latin typeface="+mn-ea"/>
              </a:rPr>
              <a:t> 의미가 상당히 희석되며 너무 일반화돼서 사용하기 혼란스러운 단점이 있는 모델이다</a:t>
            </a:r>
            <a:r>
              <a:rPr lang="en-US" altLang="ko-KR" sz="1200" b="1" dirty="0">
                <a:latin typeface="+mn-ea"/>
              </a:rPr>
              <a:t>.</a:t>
            </a:r>
            <a:endParaRPr lang="en-US" altLang="ko-KR" sz="1050" b="1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AB1695-43E9-F73B-C63C-C5397B9CA9FB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8AC734-5E2B-16D7-BAD2-93F315DEA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82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AD0938-2F1E-4CB1-8749-5139DA5EEA3B}"/>
              </a:ext>
            </a:extLst>
          </p:cNvPr>
          <p:cNvSpPr txBox="1"/>
          <p:nvPr/>
        </p:nvSpPr>
        <p:spPr>
          <a:xfrm>
            <a:off x="7344583" y="3515192"/>
            <a:ext cx="433163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rgbClr val="FF0000"/>
                </a:solidFill>
              </a:rPr>
              <a:t>Meta Model </a:t>
            </a:r>
          </a:p>
          <a:p>
            <a:r>
              <a:rPr lang="en-US" altLang="ko-KR" b="1" dirty="0">
                <a:solidFill>
                  <a:srgbClr val="FF0000"/>
                </a:solidFill>
              </a:rPr>
              <a:t>   – </a:t>
            </a:r>
            <a:r>
              <a:rPr lang="ko-KR" altLang="en-US" b="1" dirty="0">
                <a:solidFill>
                  <a:srgbClr val="FF0000"/>
                </a:solidFill>
              </a:rPr>
              <a:t>메타 모델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ko-KR" altLang="en-US" b="1" dirty="0">
                <a:solidFill>
                  <a:srgbClr val="FF0000"/>
                </a:solidFill>
              </a:rPr>
              <a:t>설계는 하지 않는게 좋다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9750779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3.1.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통합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Generalization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 통합의 결론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1064584" y="1557705"/>
            <a:ext cx="10778549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데이터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성격이 유사</a:t>
            </a:r>
            <a:r>
              <a:rPr lang="ko-KR" altLang="en-US" sz="1600" b="1" dirty="0">
                <a:latin typeface="+mn-ea"/>
              </a:rPr>
              <a:t>하고 관리할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속성이 유사</a:t>
            </a:r>
            <a:r>
              <a:rPr lang="ko-KR" altLang="en-US" sz="1600" b="1" dirty="0">
                <a:latin typeface="+mn-ea"/>
              </a:rPr>
              <a:t>하다면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u="sng" dirty="0">
                <a:latin typeface="+mn-ea"/>
              </a:rPr>
              <a:t>주 식별자가 다르더라도 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엔터티를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 통합</a:t>
            </a:r>
            <a:r>
              <a:rPr lang="ko-KR" altLang="en-US" sz="1600" b="1" dirty="0">
                <a:latin typeface="+mn-ea"/>
              </a:rPr>
              <a:t>할 수 있다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주 식별자가 다른 것은 </a:t>
            </a: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통합하는 데 일반적으로 장애가 되지 않는다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통합 </a:t>
            </a:r>
            <a:r>
              <a:rPr lang="ko-KR" altLang="en-US" sz="1600" b="1" dirty="0" err="1">
                <a:latin typeface="+mn-ea"/>
              </a:rPr>
              <a:t>엔터티의</a:t>
            </a:r>
            <a:r>
              <a:rPr lang="ko-KR" altLang="en-US" sz="1600" b="1" dirty="0">
                <a:latin typeface="+mn-ea"/>
              </a:rPr>
              <a:t> 주 식별자는 가능하면 통합 대상 </a:t>
            </a:r>
            <a:r>
              <a:rPr lang="ko-KR" altLang="en-US" sz="1600" b="1" dirty="0" err="1">
                <a:latin typeface="+mn-ea"/>
              </a:rPr>
              <a:t>엔터티의</a:t>
            </a:r>
            <a:r>
              <a:rPr lang="ko-KR" altLang="en-US" sz="1600" b="1" dirty="0">
                <a:latin typeface="+mn-ea"/>
              </a:rPr>
              <a:t> 주 식별자를 활용하는 것이 좋다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업무 식별자를 사용해야 데이터를 생성하는 기준이 명확해지기 때문이다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하지만</a:t>
            </a:r>
            <a:r>
              <a:rPr lang="en-US" altLang="ko-KR" sz="1600" b="1" dirty="0">
                <a:latin typeface="+mn-ea"/>
              </a:rPr>
              <a:t>,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인조 식별자</a:t>
            </a:r>
            <a:r>
              <a:rPr lang="ko-KR" altLang="en-US" sz="1600" b="1" dirty="0">
                <a:latin typeface="+mn-ea"/>
              </a:rPr>
              <a:t>를 사용해서라도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유사한 데이터</a:t>
            </a:r>
            <a:r>
              <a:rPr lang="ko-KR" altLang="en-US" sz="1600" b="1" dirty="0">
                <a:latin typeface="+mn-ea"/>
              </a:rPr>
              <a:t>를 관리하는 </a:t>
            </a:r>
            <a:r>
              <a:rPr lang="ko-KR" altLang="en-US" sz="1600" b="1" dirty="0" err="1">
                <a:latin typeface="+mn-ea"/>
              </a:rPr>
              <a:t>엔터티는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통합하는 것이 우선</a:t>
            </a:r>
            <a:r>
              <a:rPr lang="ko-KR" altLang="en-US" sz="1600" b="1" dirty="0">
                <a:latin typeface="+mn-ea"/>
              </a:rPr>
              <a:t>이다</a:t>
            </a:r>
            <a:r>
              <a:rPr lang="en-US" altLang="ko-KR" sz="1600" b="1" dirty="0">
                <a:latin typeface="+mn-ea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886FA2-919A-5572-E01B-22AF13DDFA9B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1DBABC-37FB-86C4-F28E-5B3288C3F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83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53553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D73F50-E192-0AEA-2945-CE23C886E411}"/>
              </a:ext>
            </a:extLst>
          </p:cNvPr>
          <p:cNvSpPr txBox="1"/>
          <p:nvPr/>
        </p:nvSpPr>
        <p:spPr>
          <a:xfrm>
            <a:off x="0" y="2642271"/>
            <a:ext cx="1219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3.2. </a:t>
            </a:r>
            <a:r>
              <a:rPr lang="ko-KR" altLang="en-US" sz="4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en-US" altLang="ko-KR" sz="4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en-US" altLang="ko-KR" sz="4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Subtypes</a:t>
            </a:r>
            <a:endParaRPr lang="ko-KR" altLang="en-US" sz="4800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73878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3.2.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서브타입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Subtypes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서브타입 이야기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1064584" y="1557705"/>
            <a:ext cx="10778549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 err="1">
                <a:latin typeface="+mn-ea"/>
              </a:rPr>
              <a:t>서브타입이란</a:t>
            </a:r>
            <a:r>
              <a:rPr lang="ko-KR" altLang="en-US" sz="1600" b="1" dirty="0">
                <a:latin typeface="+mn-ea"/>
              </a:rPr>
              <a:t> 서브타입 </a:t>
            </a:r>
            <a:r>
              <a:rPr lang="ko-KR" altLang="en-US" sz="1600" b="1" dirty="0" err="1">
                <a:latin typeface="+mn-ea"/>
              </a:rPr>
              <a:t>엔터티</a:t>
            </a:r>
            <a:r>
              <a:rPr lang="en-US" altLang="ko-KR" sz="1600" b="1" dirty="0">
                <a:latin typeface="+mn-ea"/>
              </a:rPr>
              <a:t>(Subtypes Entity)</a:t>
            </a:r>
            <a:r>
              <a:rPr lang="ko-KR" altLang="en-US" sz="1600" b="1" dirty="0">
                <a:latin typeface="+mn-ea"/>
              </a:rPr>
              <a:t>를 말한다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800" b="1" u="sng" dirty="0">
                <a:solidFill>
                  <a:srgbClr val="FF0000"/>
                </a:solidFill>
                <a:latin typeface="+mn-ea"/>
              </a:rPr>
              <a:t>서브타입</a:t>
            </a:r>
            <a:r>
              <a:rPr lang="ko-KR" altLang="en-US" sz="2400" b="1" dirty="0">
                <a:latin typeface="+mn-ea"/>
              </a:rPr>
              <a:t>은 </a:t>
            </a:r>
            <a:r>
              <a:rPr lang="ko-KR" altLang="en-US" sz="2400" b="1" u="sng" dirty="0">
                <a:solidFill>
                  <a:srgbClr val="FF0000"/>
                </a:solidFill>
                <a:latin typeface="+mn-ea"/>
              </a:rPr>
              <a:t>그 자체</a:t>
            </a:r>
            <a:r>
              <a:rPr lang="ko-KR" altLang="en-US" sz="2400" b="1" dirty="0">
                <a:latin typeface="+mn-ea"/>
              </a:rPr>
              <a:t>가 </a:t>
            </a:r>
            <a:r>
              <a:rPr lang="ko-KR" altLang="en-US" sz="2800" b="1" u="sng" dirty="0" err="1">
                <a:solidFill>
                  <a:srgbClr val="FF0000"/>
                </a:solidFill>
                <a:latin typeface="+mn-ea"/>
              </a:rPr>
              <a:t>엔터티다</a:t>
            </a:r>
            <a:r>
              <a:rPr lang="en-US" altLang="ko-KR" sz="24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슈퍼타입도 마찬가지로 슈퍼타입 </a:t>
            </a:r>
            <a:r>
              <a:rPr lang="ko-KR" altLang="en-US" sz="1600" b="1" dirty="0" err="1">
                <a:latin typeface="+mn-ea"/>
              </a:rPr>
              <a:t>엔터티</a:t>
            </a:r>
            <a:r>
              <a:rPr lang="en-US" altLang="ko-KR" sz="1600" b="1" dirty="0">
                <a:latin typeface="+mn-ea"/>
              </a:rPr>
              <a:t>(Supertypes Entity)</a:t>
            </a:r>
            <a:r>
              <a:rPr lang="ko-KR" altLang="en-US" sz="1600" b="1" dirty="0">
                <a:latin typeface="+mn-ea"/>
              </a:rPr>
              <a:t>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서브타입이 슈퍼타입과 쌍을 이룬다는 점에서 일반 </a:t>
            </a:r>
            <a:r>
              <a:rPr lang="ko-KR" altLang="en-US" sz="1600" b="1" dirty="0" err="1">
                <a:latin typeface="+mn-ea"/>
              </a:rPr>
              <a:t>엔터티와</a:t>
            </a:r>
            <a:r>
              <a:rPr lang="ko-KR" altLang="en-US" sz="1600" b="1" dirty="0">
                <a:latin typeface="+mn-ea"/>
              </a:rPr>
              <a:t> 구분된다</a:t>
            </a:r>
            <a:r>
              <a:rPr lang="en-US" altLang="ko-KR" sz="1600" b="1" dirty="0">
                <a:latin typeface="+mn-ea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A820F1-F832-3529-8701-FCCD08EDA7BD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D1BB01-660E-17CB-D171-3B4F0CC66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85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393373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3.2.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서브타입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Subtypes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서브타입은 어떻게 도출하는가</a:t>
            </a:r>
            <a:r>
              <a:rPr lang="en-US" altLang="ko-KR" sz="2400" dirty="0"/>
              <a:t>?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1064585" y="1557705"/>
            <a:ext cx="1008393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 두 개 이상의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유사한 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엔터티에서</a:t>
            </a:r>
            <a:r>
              <a:rPr lang="ko-KR" altLang="en-US" sz="1600" b="1" dirty="0">
                <a:latin typeface="+mn-ea"/>
              </a:rPr>
              <a:t> </a:t>
            </a: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공통 속성</a:t>
            </a:r>
            <a:r>
              <a:rPr lang="ko-KR" altLang="en-US" sz="1600" b="1" dirty="0">
                <a:latin typeface="+mn-ea"/>
              </a:rPr>
              <a:t>을 </a:t>
            </a:r>
            <a:r>
              <a:rPr lang="ko-KR" altLang="en-US" sz="1600" b="1" u="sng" dirty="0">
                <a:latin typeface="+mn-ea"/>
              </a:rPr>
              <a:t>도출</a:t>
            </a:r>
            <a:r>
              <a:rPr lang="ko-KR" altLang="en-US" sz="1600" b="1" dirty="0">
                <a:latin typeface="+mn-ea"/>
              </a:rPr>
              <a:t>하는 방법</a:t>
            </a:r>
            <a:endParaRPr lang="en-US" altLang="ko-KR" sz="1600" b="1" dirty="0">
              <a:latin typeface="+mn-ea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altLang="ko-KR" sz="1600" b="1" dirty="0">
              <a:latin typeface="+mn-ea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통합하는 행위</a:t>
            </a:r>
            <a:endParaRPr lang="en-US" altLang="ko-KR" sz="1600" dirty="0">
              <a:latin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C215B52-C45D-6712-7602-D37289326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611" y="1048683"/>
            <a:ext cx="2688485" cy="270646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5F39E58-BA3A-7EF7-7D1B-502042571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1502" y="4009797"/>
            <a:ext cx="2454703" cy="230184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978792C-AF2C-0D39-2869-73DB7EC397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2005" y="3137916"/>
            <a:ext cx="2675744" cy="2170324"/>
          </a:xfrm>
          <a:prstGeom prst="rect">
            <a:avLst/>
          </a:prstGeom>
        </p:spPr>
      </p:pic>
      <p:sp>
        <p:nvSpPr>
          <p:cNvPr id="13" name="왼쪽 중괄호 12">
            <a:extLst>
              <a:ext uri="{FF2B5EF4-FFF2-40B4-BE49-F238E27FC236}">
                <a16:creationId xmlns:a16="http://schemas.microsoft.com/office/drawing/2014/main" id="{5ADD9235-7961-619E-97C9-4E2639EC749C}"/>
              </a:ext>
            </a:extLst>
          </p:cNvPr>
          <p:cNvSpPr/>
          <p:nvPr/>
        </p:nvSpPr>
        <p:spPr>
          <a:xfrm>
            <a:off x="6096000" y="2357610"/>
            <a:ext cx="540058" cy="3691507"/>
          </a:xfrm>
          <a:prstGeom prst="leftBrace">
            <a:avLst>
              <a:gd name="adj1" fmla="val 115347"/>
              <a:gd name="adj2" fmla="val 50000"/>
            </a:avLst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93036B-F94C-E66D-9BAE-01DF5E55355F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D7D7AAB-468B-6149-4708-DAFA39368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86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400637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3.2.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서브타입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Subtypes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왜 서브타입을</a:t>
            </a:r>
            <a:r>
              <a:rPr lang="en-US" altLang="ko-KR" sz="2400" dirty="0"/>
              <a:t> </a:t>
            </a:r>
            <a:r>
              <a:rPr lang="ko-KR" altLang="en-US" sz="2400" dirty="0"/>
              <a:t>사용하는가</a:t>
            </a:r>
            <a:r>
              <a:rPr lang="en-US" altLang="ko-KR" sz="2400" dirty="0"/>
              <a:t>?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1064584" y="1557705"/>
            <a:ext cx="1078623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b="1" dirty="0">
                <a:latin typeface="+mn-ea"/>
              </a:rPr>
              <a:t>데이터가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어떤 종류</a:t>
            </a:r>
            <a:r>
              <a:rPr lang="en-US" altLang="ko-KR" sz="1200" b="1" u="sng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집합</a:t>
            </a:r>
            <a:r>
              <a:rPr lang="en-US" altLang="ko-KR" sz="1200" b="1" u="sng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로 이루어졌는지를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한 눈에 보여주기 위함</a:t>
            </a:r>
            <a:r>
              <a:rPr lang="ko-KR" altLang="en-US" sz="1200" b="1" dirty="0">
                <a:latin typeface="+mn-ea"/>
              </a:rPr>
              <a:t>이 서브타입의 가장 중요한 사용법이다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b="1" dirty="0">
                <a:latin typeface="+mn-ea"/>
              </a:rPr>
              <a:t>좋은 </a:t>
            </a:r>
            <a:r>
              <a:rPr lang="ko-KR" altLang="en-US" sz="1200" b="1" dirty="0" err="1">
                <a:latin typeface="+mn-ea"/>
              </a:rPr>
              <a:t>모델러는</a:t>
            </a:r>
            <a:r>
              <a:rPr lang="ko-KR" altLang="en-US" sz="1200" b="1" dirty="0">
                <a:latin typeface="+mn-ea"/>
              </a:rPr>
              <a:t> 서브타입을 도출하여 데이터를 입체화 한다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모델의 확장성을 고려할 때</a:t>
            </a:r>
            <a:r>
              <a:rPr lang="ko-KR" altLang="en-US" sz="1200" b="1" dirty="0">
                <a:latin typeface="+mn-ea"/>
              </a:rPr>
              <a:t>도 서브타입을 사용할 수 있다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b="1" dirty="0">
                <a:latin typeface="+mn-ea"/>
              </a:rPr>
              <a:t>온라인 쇼핑몰에서 서적만을 취급하면  </a:t>
            </a:r>
            <a:endParaRPr lang="en-US" altLang="ko-KR" sz="12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서적 </a:t>
            </a:r>
            <a:r>
              <a:rPr lang="ko-KR" altLang="en-US" sz="1200" b="1" u="sng" dirty="0" err="1">
                <a:solidFill>
                  <a:srgbClr val="FF0000"/>
                </a:solidFill>
                <a:latin typeface="+mn-ea"/>
              </a:rPr>
              <a:t>엔터티로</a:t>
            </a:r>
            <a:r>
              <a:rPr lang="ko-KR" altLang="en-US" sz="1200" b="1" dirty="0">
                <a:latin typeface="+mn-ea"/>
              </a:rPr>
              <a:t> 정의할 수 있지만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en-US" altLang="ko-KR" sz="1200" b="1" u="sng" dirty="0">
                <a:solidFill>
                  <a:srgbClr val="FF0000"/>
                </a:solidFill>
                <a:latin typeface="+mn-ea"/>
              </a:rPr>
              <a:t>DVD</a:t>
            </a:r>
            <a:r>
              <a:rPr lang="ko-KR" altLang="en-US" sz="1200" b="1" dirty="0">
                <a:latin typeface="+mn-ea"/>
              </a:rPr>
              <a:t>나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의류</a:t>
            </a:r>
            <a:r>
              <a:rPr lang="ko-KR" altLang="en-US" sz="1200" b="1" dirty="0">
                <a:latin typeface="+mn-ea"/>
              </a:rPr>
              <a:t> 등이 추가될 것을 대비해서 </a:t>
            </a:r>
            <a:r>
              <a:rPr lang="en-US" altLang="ko-KR" sz="1200" b="1" dirty="0">
                <a:latin typeface="+mn-ea"/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b="1" dirty="0">
                <a:latin typeface="+mn-ea"/>
              </a:rPr>
              <a:t>오른쪽의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dirty="0">
                <a:latin typeface="+mn-ea"/>
              </a:rPr>
              <a:t>모델과 같이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기타 서브타입</a:t>
            </a:r>
            <a:r>
              <a:rPr lang="ko-KR" altLang="en-US" sz="1200" b="1" dirty="0">
                <a:latin typeface="+mn-ea"/>
              </a:rPr>
              <a:t>을 도출할 수 있다</a:t>
            </a:r>
            <a:r>
              <a:rPr lang="en-US" altLang="ko-KR" sz="1200" b="1" dirty="0">
                <a:latin typeface="+mn-ea"/>
              </a:rPr>
              <a:t>.</a:t>
            </a:r>
          </a:p>
        </p:txBody>
      </p:sp>
      <p:sp>
        <p:nvSpPr>
          <p:cNvPr id="13" name="왼쪽 중괄호 12">
            <a:extLst>
              <a:ext uri="{FF2B5EF4-FFF2-40B4-BE49-F238E27FC236}">
                <a16:creationId xmlns:a16="http://schemas.microsoft.com/office/drawing/2014/main" id="{5ADD9235-7961-619E-97C9-4E2639EC749C}"/>
              </a:ext>
            </a:extLst>
          </p:cNvPr>
          <p:cNvSpPr/>
          <p:nvPr/>
        </p:nvSpPr>
        <p:spPr>
          <a:xfrm rot="10800000">
            <a:off x="2774509" y="3007596"/>
            <a:ext cx="250496" cy="1355075"/>
          </a:xfrm>
          <a:prstGeom prst="leftBrace">
            <a:avLst>
              <a:gd name="adj1" fmla="val 115347"/>
              <a:gd name="adj2" fmla="val 50000"/>
            </a:avLst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07EB6E2-5B63-B43A-1245-A60935A36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574" y="2509163"/>
            <a:ext cx="1791476" cy="216552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564087E-8AAA-DE60-2B75-BEA2E002B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464" y="3178506"/>
            <a:ext cx="2382071" cy="149617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2393A34-F2DB-F51B-27D7-18AE1964B4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949" y="2469790"/>
            <a:ext cx="2628154" cy="2204893"/>
          </a:xfrm>
          <a:prstGeom prst="rect">
            <a:avLst/>
          </a:prstGeom>
        </p:spPr>
      </p:pic>
      <p:sp>
        <p:nvSpPr>
          <p:cNvPr id="17" name="왼쪽 중괄호 16">
            <a:extLst>
              <a:ext uri="{FF2B5EF4-FFF2-40B4-BE49-F238E27FC236}">
                <a16:creationId xmlns:a16="http://schemas.microsoft.com/office/drawing/2014/main" id="{2B3F0DA2-A064-B781-CCFE-5ED5A5F4C083}"/>
              </a:ext>
            </a:extLst>
          </p:cNvPr>
          <p:cNvSpPr/>
          <p:nvPr/>
        </p:nvSpPr>
        <p:spPr>
          <a:xfrm rot="10800000">
            <a:off x="5695994" y="3007596"/>
            <a:ext cx="250496" cy="1355075"/>
          </a:xfrm>
          <a:prstGeom prst="leftBrace">
            <a:avLst>
              <a:gd name="adj1" fmla="val 115347"/>
              <a:gd name="adj2" fmla="val 50000"/>
            </a:avLst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왼쪽 중괄호 17">
            <a:extLst>
              <a:ext uri="{FF2B5EF4-FFF2-40B4-BE49-F238E27FC236}">
                <a16:creationId xmlns:a16="http://schemas.microsoft.com/office/drawing/2014/main" id="{5E8A4C07-3110-C8BB-2FFD-3A5EBD91F2B9}"/>
              </a:ext>
            </a:extLst>
          </p:cNvPr>
          <p:cNvSpPr/>
          <p:nvPr/>
        </p:nvSpPr>
        <p:spPr>
          <a:xfrm rot="10800000">
            <a:off x="8863562" y="3007595"/>
            <a:ext cx="250496" cy="1355075"/>
          </a:xfrm>
          <a:prstGeom prst="leftBrace">
            <a:avLst>
              <a:gd name="adj1" fmla="val 115347"/>
              <a:gd name="adj2" fmla="val 50000"/>
            </a:avLst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FD0A15C-EB95-1C95-CBC2-2D4EA7C61B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516" y="2058854"/>
            <a:ext cx="2176989" cy="261582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28E70746-E7E5-3CE7-4E1D-96F89E66F3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3055" y="4928469"/>
            <a:ext cx="2000529" cy="1457528"/>
          </a:xfrm>
          <a:prstGeom prst="rect">
            <a:avLst/>
          </a:prstGeom>
        </p:spPr>
      </p:pic>
      <p:sp>
        <p:nvSpPr>
          <p:cNvPr id="25" name="왼쪽 중괄호 24">
            <a:extLst>
              <a:ext uri="{FF2B5EF4-FFF2-40B4-BE49-F238E27FC236}">
                <a16:creationId xmlns:a16="http://schemas.microsoft.com/office/drawing/2014/main" id="{BEA4050C-605A-566A-78F6-864A9E3CF7EC}"/>
              </a:ext>
            </a:extLst>
          </p:cNvPr>
          <p:cNvSpPr/>
          <p:nvPr/>
        </p:nvSpPr>
        <p:spPr>
          <a:xfrm rot="10800000">
            <a:off x="6828423" y="5418893"/>
            <a:ext cx="219320" cy="775261"/>
          </a:xfrm>
          <a:prstGeom prst="leftBrace">
            <a:avLst>
              <a:gd name="adj1" fmla="val 115347"/>
              <a:gd name="adj2" fmla="val 50000"/>
            </a:avLst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122921-F86A-436D-227B-74242463A10C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B2D862-F598-C49D-4103-093288F2B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87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091851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3.2.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서브타입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Subtypes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 </a:t>
            </a:r>
            <a:r>
              <a:rPr lang="ko-KR" altLang="en-US" sz="2400" u="sng" dirty="0">
                <a:solidFill>
                  <a:srgbClr val="FF0000"/>
                </a:solidFill>
              </a:rPr>
              <a:t>한 </a:t>
            </a:r>
            <a:r>
              <a:rPr lang="ko-KR" altLang="en-US" sz="2400" u="sng" dirty="0" err="1">
                <a:solidFill>
                  <a:srgbClr val="FF0000"/>
                </a:solidFill>
              </a:rPr>
              <a:t>엔터티에</a:t>
            </a:r>
            <a:r>
              <a:rPr lang="ko-KR" altLang="en-US" sz="2400" dirty="0"/>
              <a:t> </a:t>
            </a:r>
            <a:r>
              <a:rPr lang="ko-KR" altLang="en-US" sz="2400" u="sng" dirty="0">
                <a:solidFill>
                  <a:srgbClr val="FF0000"/>
                </a:solidFill>
              </a:rPr>
              <a:t>한 개의 서브타입</a:t>
            </a:r>
            <a:r>
              <a:rPr lang="ko-KR" altLang="en-US" sz="2400" dirty="0"/>
              <a:t>만 사용함을 원칙</a:t>
            </a:r>
            <a:r>
              <a:rPr lang="en-US" altLang="ko-KR" sz="2400" dirty="0"/>
              <a:t>!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1064584" y="1557705"/>
            <a:ext cx="1078623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서브타입이 여러 개 존재하는 이유 </a:t>
            </a:r>
            <a:r>
              <a:rPr lang="en-US" altLang="ko-KR" sz="1600" b="1" dirty="0">
                <a:latin typeface="+mn-ea"/>
              </a:rPr>
              <a:t>#1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+mn-ea"/>
              </a:rPr>
              <a:t>집합을 나누는 </a:t>
            </a:r>
            <a:r>
              <a:rPr lang="en-US" altLang="ko-KR" b="1" u="sng" dirty="0">
                <a:solidFill>
                  <a:srgbClr val="FF0000"/>
                </a:solidFill>
                <a:latin typeface="+mn-ea"/>
              </a:rPr>
              <a:t>View(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관점</a:t>
            </a:r>
            <a:r>
              <a:rPr lang="en-US" altLang="ko-KR" b="1" u="sng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에 따라</a:t>
            </a:r>
            <a:r>
              <a:rPr lang="ko-KR" altLang="en-US" sz="1400" b="1" dirty="0">
                <a:latin typeface="+mn-ea"/>
              </a:rPr>
              <a:t> </a:t>
            </a:r>
            <a:r>
              <a:rPr lang="ko-KR" altLang="en-US" sz="1200" b="1" dirty="0">
                <a:latin typeface="+mn-ea"/>
              </a:rPr>
              <a:t>다양한 뷰가 존재하기 때문이다</a:t>
            </a:r>
            <a:r>
              <a:rPr lang="en-US" altLang="ko-KR" sz="1200" b="1" dirty="0">
                <a:latin typeface="+mn-ea"/>
              </a:rPr>
              <a:t>. </a:t>
            </a:r>
            <a:r>
              <a:rPr lang="ko-KR" altLang="en-US" sz="1200" b="1" dirty="0">
                <a:latin typeface="+mn-ea"/>
              </a:rPr>
              <a:t>특정 집합은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기준이 무엇이냐 </a:t>
            </a:r>
            <a:r>
              <a:rPr lang="ko-KR" altLang="en-US" sz="1200" b="1" dirty="0">
                <a:latin typeface="+mn-ea"/>
              </a:rPr>
              <a:t>에 따라 여러 가지로 분류할 수 있다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+mn-ea"/>
              </a:rPr>
              <a:t>예를 들어 프로젝트에 참여한 사람은 여러 기준으로 나뉠 수 있다</a:t>
            </a:r>
            <a:r>
              <a:rPr lang="en-US" altLang="ko-KR" sz="1200" b="1" dirty="0">
                <a:latin typeface="+mn-ea"/>
              </a:rPr>
              <a:t>.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성별에 따라</a:t>
            </a:r>
            <a:r>
              <a:rPr lang="ko-KR" altLang="en-US" sz="1200" b="1" dirty="0">
                <a:latin typeface="+mn-ea"/>
              </a:rPr>
              <a:t> 남자와 여자로 나눌 수 있고，</a:t>
            </a:r>
            <a:endParaRPr lang="en-US" altLang="ko-KR" sz="12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역할에 따라</a:t>
            </a:r>
            <a:r>
              <a:rPr lang="ko-KR" altLang="en-US" sz="1200" b="1" dirty="0">
                <a:latin typeface="+mn-ea"/>
              </a:rPr>
              <a:t> </a:t>
            </a:r>
            <a:r>
              <a:rPr lang="ko-KR" altLang="en-US" sz="1200" b="1" dirty="0" err="1">
                <a:latin typeface="+mn-ea"/>
              </a:rPr>
              <a:t>모델러와</a:t>
            </a:r>
            <a:r>
              <a:rPr lang="ko-KR" altLang="en-US" sz="1200" b="1" dirty="0">
                <a:latin typeface="+mn-ea"/>
              </a:rPr>
              <a:t> 개발자로 나눌 수 있으며，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경력에 따라</a:t>
            </a:r>
            <a:r>
              <a:rPr lang="ko-KR" altLang="en-US" sz="1200" b="1" dirty="0">
                <a:latin typeface="+mn-ea"/>
              </a:rPr>
              <a:t> 중급과 고급으로 나눌 수 있다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sz="12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+mn-ea"/>
              </a:rPr>
              <a:t>이렇게 다양한 서브타입이의 여러 분류 중에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고유 속성이 존재하는 분류</a:t>
            </a:r>
            <a:r>
              <a:rPr lang="ko-KR" altLang="en-US" sz="1400" b="1" dirty="0">
                <a:latin typeface="+mn-ea"/>
              </a:rPr>
              <a:t>로</a:t>
            </a: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가장 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의미있는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 분류</a:t>
            </a:r>
            <a:r>
              <a:rPr lang="ko-KR" altLang="en-US" sz="1600" b="1" dirty="0">
                <a:latin typeface="+mn-ea"/>
              </a:rPr>
              <a:t>를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서브타입 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개만 도출</a:t>
            </a:r>
            <a:r>
              <a:rPr lang="ko-KR" altLang="en-US" sz="1600" b="1" dirty="0">
                <a:latin typeface="+mn-ea"/>
              </a:rPr>
              <a:t>해야 한다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서브타입이 여러 개 존재하는 이유 </a:t>
            </a:r>
            <a:r>
              <a:rPr lang="en-US" altLang="ko-KR" sz="1600" b="1" dirty="0">
                <a:latin typeface="+mn-ea"/>
              </a:rPr>
              <a:t>#2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코드를 서브타입</a:t>
            </a:r>
            <a:r>
              <a:rPr lang="ko-KR" altLang="en-US" sz="1200" b="1" dirty="0">
                <a:latin typeface="+mn-ea"/>
              </a:rPr>
              <a:t>으로 표현하기 때문이다</a:t>
            </a:r>
            <a:r>
              <a:rPr lang="en-US" altLang="ko-KR" sz="1200" b="1" dirty="0">
                <a:latin typeface="+mn-ea"/>
              </a:rPr>
              <a:t>. </a:t>
            </a:r>
            <a:r>
              <a:rPr lang="ko-KR" altLang="en-US" sz="1200" b="1" dirty="0">
                <a:latin typeface="+mn-ea"/>
              </a:rPr>
              <a:t>코드 속성에 존재할 수 있는 코드명을 서브타입으로 표현하면 </a:t>
            </a:r>
            <a:endParaRPr lang="en-US" altLang="ko-KR" sz="12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+mn-ea"/>
              </a:rPr>
              <a:t>모델의 가독성이 높아져서 코드를 간혹 서브타입처럼 표현 하지만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코드는 서브타입으로 표현하는 것은 바람직하지 않다</a:t>
            </a:r>
            <a:r>
              <a:rPr lang="en-US" altLang="ko-KR" sz="1200" b="1" u="sng" dirty="0">
                <a:solidFill>
                  <a:srgbClr val="FF0000"/>
                </a:solidFill>
                <a:latin typeface="+mn-ea"/>
              </a:rPr>
              <a:t>. 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3" name="왼쪽 중괄호 12">
            <a:extLst>
              <a:ext uri="{FF2B5EF4-FFF2-40B4-BE49-F238E27FC236}">
                <a16:creationId xmlns:a16="http://schemas.microsoft.com/office/drawing/2014/main" id="{5ADD9235-7961-619E-97C9-4E2639EC749C}"/>
              </a:ext>
            </a:extLst>
          </p:cNvPr>
          <p:cNvSpPr/>
          <p:nvPr/>
        </p:nvSpPr>
        <p:spPr>
          <a:xfrm rot="10800000">
            <a:off x="3379486" y="4318749"/>
            <a:ext cx="296342" cy="2062394"/>
          </a:xfrm>
          <a:prstGeom prst="leftBrace">
            <a:avLst>
              <a:gd name="adj1" fmla="val 115347"/>
              <a:gd name="adj2" fmla="val 50000"/>
            </a:avLst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3860571-DC19-BCBF-A713-C2E0E38CD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358" y="3989145"/>
            <a:ext cx="1663676" cy="272160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A0A3238-A3C7-809B-7660-0C6147E01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3886" y="4127842"/>
            <a:ext cx="4481908" cy="246303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A3F6D49-D36E-5131-7A51-8B27DDE76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4822" y="4140370"/>
            <a:ext cx="2305372" cy="2534004"/>
          </a:xfrm>
          <a:prstGeom prst="rect">
            <a:avLst/>
          </a:prstGeom>
        </p:spPr>
      </p:pic>
      <p:sp>
        <p:nvSpPr>
          <p:cNvPr id="15" name="왼쪽 중괄호 14">
            <a:extLst>
              <a:ext uri="{FF2B5EF4-FFF2-40B4-BE49-F238E27FC236}">
                <a16:creationId xmlns:a16="http://schemas.microsoft.com/office/drawing/2014/main" id="{BD4F2ED2-5652-0D2F-FC74-8BBF4B0E13C0}"/>
              </a:ext>
            </a:extLst>
          </p:cNvPr>
          <p:cNvSpPr/>
          <p:nvPr/>
        </p:nvSpPr>
        <p:spPr>
          <a:xfrm rot="10800000">
            <a:off x="8383074" y="4328160"/>
            <a:ext cx="296342" cy="2062394"/>
          </a:xfrm>
          <a:prstGeom prst="leftBrace">
            <a:avLst>
              <a:gd name="adj1" fmla="val 115347"/>
              <a:gd name="adj2" fmla="val 50000"/>
            </a:avLst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84EDFCE-4155-61E2-AEE6-A532204D8A73}"/>
              </a:ext>
            </a:extLst>
          </p:cNvPr>
          <p:cNvSpPr/>
          <p:nvPr/>
        </p:nvSpPr>
        <p:spPr>
          <a:xfrm>
            <a:off x="9589905" y="6410811"/>
            <a:ext cx="1449421" cy="224651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D35A8B1-B69A-0A05-D82F-9CFDDC02D903}"/>
              </a:ext>
            </a:extLst>
          </p:cNvPr>
          <p:cNvSpPr/>
          <p:nvPr/>
        </p:nvSpPr>
        <p:spPr>
          <a:xfrm>
            <a:off x="6717929" y="6436427"/>
            <a:ext cx="597278" cy="1990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A3C8D01-8708-468D-A95E-54E075D2DBCF}"/>
              </a:ext>
            </a:extLst>
          </p:cNvPr>
          <p:cNvSpPr/>
          <p:nvPr/>
        </p:nvSpPr>
        <p:spPr>
          <a:xfrm>
            <a:off x="1714929" y="4212076"/>
            <a:ext cx="1359011" cy="749029"/>
          </a:xfrm>
          <a:prstGeom prst="roundRect">
            <a:avLst>
              <a:gd name="adj" fmla="val 10465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연결선: 구부러짐 25">
            <a:extLst>
              <a:ext uri="{FF2B5EF4-FFF2-40B4-BE49-F238E27FC236}">
                <a16:creationId xmlns:a16="http://schemas.microsoft.com/office/drawing/2014/main" id="{2E8D931C-D603-1E99-CCF8-125D96C2FA74}"/>
              </a:ext>
            </a:extLst>
          </p:cNvPr>
          <p:cNvCxnSpPr>
            <a:cxnSpLocks/>
            <a:stCxn id="22" idx="3"/>
            <a:endCxn id="19" idx="1"/>
          </p:cNvCxnSpPr>
          <p:nvPr/>
        </p:nvCxnSpPr>
        <p:spPr>
          <a:xfrm>
            <a:off x="3073940" y="4586591"/>
            <a:ext cx="6515965" cy="1936546"/>
          </a:xfrm>
          <a:prstGeom prst="curvedConnector3">
            <a:avLst/>
          </a:prstGeom>
          <a:ln w="38100">
            <a:prstDash val="sysDot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F4A5143-459E-B845-2B84-2EAC9A62A5C1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EA8E6E-6E31-A3A6-5DDC-D9879D7A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88</a:t>
            </a:fld>
            <a:endParaRPr lang="ko-KR" altLang="en-US" dirty="0"/>
          </a:p>
        </p:txBody>
      </p:sp>
      <p:sp>
        <p:nvSpPr>
          <p:cNvPr id="16" name="곱하기 기호 15">
            <a:extLst>
              <a:ext uri="{FF2B5EF4-FFF2-40B4-BE49-F238E27FC236}">
                <a16:creationId xmlns:a16="http://schemas.microsoft.com/office/drawing/2014/main" id="{FF27C773-DEF4-4DCD-A5C2-9CA4DAB114D7}"/>
              </a:ext>
            </a:extLst>
          </p:cNvPr>
          <p:cNvSpPr/>
          <p:nvPr/>
        </p:nvSpPr>
        <p:spPr>
          <a:xfrm>
            <a:off x="5410594" y="4824993"/>
            <a:ext cx="1619938" cy="1619938"/>
          </a:xfrm>
          <a:prstGeom prst="mathMultiply">
            <a:avLst>
              <a:gd name="adj1" fmla="val 13122"/>
            </a:avLst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3BA02CD-328D-4870-B0DD-2788EC958A21}"/>
              </a:ext>
            </a:extLst>
          </p:cNvPr>
          <p:cNvSpPr/>
          <p:nvPr/>
        </p:nvSpPr>
        <p:spPr>
          <a:xfrm>
            <a:off x="3835846" y="4889228"/>
            <a:ext cx="4547228" cy="1514732"/>
          </a:xfrm>
          <a:prstGeom prst="roundRect">
            <a:avLst>
              <a:gd name="adj" fmla="val 6153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87542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3.2.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서브타입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Subtypes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서브타입 </a:t>
            </a:r>
            <a:r>
              <a:rPr lang="en-US" altLang="ko-KR" sz="2400" dirty="0"/>
              <a:t>vs</a:t>
            </a:r>
            <a:r>
              <a:rPr lang="ko-KR" altLang="en-US" sz="2400" dirty="0"/>
              <a:t> 코드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1064585" y="1557705"/>
            <a:ext cx="100839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서브타입과 코드는 다른 것인 데도 불구하고 유사하게 사용하는 경우가 많다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서브타입의 종류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>
                <a:latin typeface="+mn-ea"/>
              </a:rPr>
              <a:t>서브타입 </a:t>
            </a:r>
            <a:r>
              <a:rPr lang="ko-KR" altLang="en-US" sz="1600" b="1" dirty="0" err="1">
                <a:latin typeface="+mn-ea"/>
              </a:rPr>
              <a:t>구분자</a:t>
            </a:r>
            <a:r>
              <a:rPr lang="en-US" altLang="ko-KR" sz="1600" b="1" dirty="0">
                <a:latin typeface="+mn-ea"/>
              </a:rPr>
              <a:t>)</a:t>
            </a:r>
            <a:r>
              <a:rPr lang="ko-KR" altLang="en-US" sz="1600" b="1" dirty="0">
                <a:latin typeface="+mn-ea"/>
              </a:rPr>
              <a:t>를 코드로 관리하기 때문에 유사해 보일 뿐</a:t>
            </a:r>
            <a:r>
              <a:rPr lang="en-US" altLang="ko-KR" sz="1600" b="1" dirty="0">
                <a:latin typeface="+mn-ea"/>
              </a:rPr>
              <a:t>,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서브타입과 코드는 다르므로 구분해서 사용해야 한다</a:t>
            </a:r>
            <a:r>
              <a:rPr lang="en-US" altLang="ko-KR" sz="1600" b="1" dirty="0">
                <a:latin typeface="+mn-ea"/>
              </a:rPr>
              <a:t>.</a:t>
            </a:r>
            <a:endParaRPr lang="en-US" altLang="ko-KR" sz="1600" dirty="0"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BFB61B4-00F9-3D8C-0288-71CA10614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130" y="2645143"/>
            <a:ext cx="2709996" cy="30435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211FC22-0A44-4F6F-27B3-F53F25E3343B}"/>
              </a:ext>
            </a:extLst>
          </p:cNvPr>
          <p:cNvSpPr txBox="1"/>
          <p:nvPr/>
        </p:nvSpPr>
        <p:spPr>
          <a:xfrm>
            <a:off x="2918148" y="5963850"/>
            <a:ext cx="60805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b="1" dirty="0">
                <a:latin typeface="+mn-ea"/>
              </a:rPr>
              <a:t>고객상태구분코드 </a:t>
            </a:r>
            <a:r>
              <a:rPr lang="en-US" altLang="ko-KR" sz="1200" b="1" dirty="0">
                <a:latin typeface="+mn-ea"/>
              </a:rPr>
              <a:t>: </a:t>
            </a:r>
            <a:r>
              <a:rPr lang="ko-KR" altLang="en-US" sz="1200" b="1" dirty="0" err="1">
                <a:latin typeface="+mn-ea"/>
              </a:rPr>
              <a:t>엔터티</a:t>
            </a:r>
            <a:r>
              <a:rPr lang="ko-KR" altLang="en-US" sz="1200" b="1" dirty="0">
                <a:latin typeface="+mn-ea"/>
              </a:rPr>
              <a:t> 명을 의미하지 않고 코드 인스턴스를 의미한다</a:t>
            </a:r>
            <a:r>
              <a:rPr lang="en-US" altLang="ko-KR" sz="1200" b="1" dirty="0">
                <a:latin typeface="+mn-ea"/>
              </a:rPr>
              <a:t>.</a:t>
            </a:r>
            <a:endParaRPr lang="en-US" altLang="ko-KR" sz="1200" dirty="0">
              <a:latin typeface="+mn-ea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4B3A1F9-3532-A016-D115-CFEA13F7C09A}"/>
              </a:ext>
            </a:extLst>
          </p:cNvPr>
          <p:cNvSpPr/>
          <p:nvPr/>
        </p:nvSpPr>
        <p:spPr>
          <a:xfrm>
            <a:off x="2015653" y="4905222"/>
            <a:ext cx="1136622" cy="451238"/>
          </a:xfrm>
          <a:prstGeom prst="roundRect">
            <a:avLst>
              <a:gd name="adj" fmla="val 10465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연결선: 구부러짐 13">
            <a:extLst>
              <a:ext uri="{FF2B5EF4-FFF2-40B4-BE49-F238E27FC236}">
                <a16:creationId xmlns:a16="http://schemas.microsoft.com/office/drawing/2014/main" id="{6CD79DAF-3BE0-EDF7-3A83-C2B74862CAEE}"/>
              </a:ext>
            </a:extLst>
          </p:cNvPr>
          <p:cNvCxnSpPr>
            <a:cxnSpLocks/>
            <a:stCxn id="12" idx="2"/>
            <a:endCxn id="10" idx="1"/>
          </p:cNvCxnSpPr>
          <p:nvPr/>
        </p:nvCxnSpPr>
        <p:spPr>
          <a:xfrm rot="16200000" flipH="1">
            <a:off x="2378111" y="5562313"/>
            <a:ext cx="745890" cy="33418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2" name="그림 21">
            <a:extLst>
              <a:ext uri="{FF2B5EF4-FFF2-40B4-BE49-F238E27FC236}">
                <a16:creationId xmlns:a16="http://schemas.microsoft.com/office/drawing/2014/main" id="{78C3F4D8-A99F-4366-06B0-AE41D5554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584" y="2526632"/>
            <a:ext cx="3844390" cy="3151139"/>
          </a:xfrm>
          <a:prstGeom prst="rect">
            <a:avLst/>
          </a:prstGeom>
        </p:spPr>
      </p:pic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687605E2-A573-11C0-0330-FD657ACC7AA9}"/>
              </a:ext>
            </a:extLst>
          </p:cNvPr>
          <p:cNvCxnSpPr>
            <a:cxnSpLocks/>
            <a:stCxn id="8" idx="3"/>
            <a:endCxn id="22" idx="1"/>
          </p:cNvCxnSpPr>
          <p:nvPr/>
        </p:nvCxnSpPr>
        <p:spPr>
          <a:xfrm flipV="1">
            <a:off x="4620126" y="4102202"/>
            <a:ext cx="2763458" cy="64708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2A596B11-9133-153E-FA4C-CC5382B9850D}"/>
              </a:ext>
            </a:extLst>
          </p:cNvPr>
          <p:cNvSpPr/>
          <p:nvPr/>
        </p:nvSpPr>
        <p:spPr>
          <a:xfrm>
            <a:off x="9145248" y="3092116"/>
            <a:ext cx="2082726" cy="1491915"/>
          </a:xfrm>
          <a:prstGeom prst="roundRect">
            <a:avLst>
              <a:gd name="adj" fmla="val 1046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rgbClr val="FF0000"/>
              </a:solidFill>
            </a:endParaRPr>
          </a:p>
        </p:txBody>
      </p:sp>
      <p:sp>
        <p:nvSpPr>
          <p:cNvPr id="42" name="곱하기 기호 41">
            <a:extLst>
              <a:ext uri="{FF2B5EF4-FFF2-40B4-BE49-F238E27FC236}">
                <a16:creationId xmlns:a16="http://schemas.microsoft.com/office/drawing/2014/main" id="{A79DF42F-C8C9-7FCD-897D-6493864C522E}"/>
              </a:ext>
            </a:extLst>
          </p:cNvPr>
          <p:cNvSpPr/>
          <p:nvPr/>
        </p:nvSpPr>
        <p:spPr>
          <a:xfrm>
            <a:off x="9402035" y="3048314"/>
            <a:ext cx="1619938" cy="1619938"/>
          </a:xfrm>
          <a:prstGeom prst="mathMultiply">
            <a:avLst>
              <a:gd name="adj1" fmla="val 13122"/>
            </a:avLst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561D28-7F0F-57CC-A96D-093CDFE86965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7E3B249-C3A7-DA02-28B3-7DD031572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89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A632B1-346B-4C19-AC30-24633089AF1C}"/>
              </a:ext>
            </a:extLst>
          </p:cNvPr>
          <p:cNvSpPr txBox="1"/>
          <p:nvPr/>
        </p:nvSpPr>
        <p:spPr>
          <a:xfrm>
            <a:off x="2884896" y="3010731"/>
            <a:ext cx="2396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lphaUcParenBoth" startAt="19"/>
            </a:pPr>
            <a:r>
              <a:rPr lang="en-US" altLang="ko-KR" sz="1200" b="1" dirty="0">
                <a:solidFill>
                  <a:srgbClr val="FF0000"/>
                </a:solidFill>
              </a:rPr>
              <a:t>&lt;- </a:t>
            </a:r>
            <a:r>
              <a:rPr lang="ko-KR" altLang="en-US" sz="1200" b="1" dirty="0">
                <a:solidFill>
                  <a:srgbClr val="FF0000"/>
                </a:solidFill>
              </a:rPr>
              <a:t>서브타입 표기법을  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lang="ko-KR" altLang="en-US" sz="1200" b="1" dirty="0">
                <a:solidFill>
                  <a:srgbClr val="FF0000"/>
                </a:solidFill>
              </a:rPr>
              <a:t>        사용하면 구분할 수 있다</a:t>
            </a:r>
            <a:r>
              <a:rPr lang="en-US" altLang="ko-KR" sz="1200" b="1" dirty="0">
                <a:solidFill>
                  <a:srgbClr val="FF0000"/>
                </a:solidFill>
              </a:rPr>
              <a:t>.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E4D5EB-5D1D-476C-806B-C97A1FA96219}"/>
              </a:ext>
            </a:extLst>
          </p:cNvPr>
          <p:cNvSpPr txBox="1"/>
          <p:nvPr/>
        </p:nvSpPr>
        <p:spPr>
          <a:xfrm>
            <a:off x="4591376" y="4375796"/>
            <a:ext cx="1912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ß"/>
            </a:pPr>
            <a:r>
              <a:rPr lang="ko-KR" altLang="en-US" sz="1200" b="1" dirty="0">
                <a:solidFill>
                  <a:srgbClr val="FF0000"/>
                </a:solidFill>
                <a:sym typeface="Wingdings" panose="05000000000000000000" pitchFamily="2" charset="2"/>
              </a:rPr>
              <a:t>서브타입은 반드시 </a:t>
            </a:r>
            <a:endParaRPr lang="en-US" altLang="ko-KR" sz="1200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ko-KR" altLang="en-US" sz="1200" b="1" dirty="0">
                <a:solidFill>
                  <a:srgbClr val="FF0000"/>
                </a:solidFill>
                <a:sym typeface="Wingdings" panose="05000000000000000000" pitchFamily="2" charset="2"/>
              </a:rPr>
              <a:t>정사각형으로 표시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B3A5FD-8CB1-41DF-91C9-A7D532431782}"/>
              </a:ext>
            </a:extLst>
          </p:cNvPr>
          <p:cNvSpPr txBox="1"/>
          <p:nvPr/>
        </p:nvSpPr>
        <p:spPr>
          <a:xfrm>
            <a:off x="9402035" y="1953131"/>
            <a:ext cx="10310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</a:rPr>
              <a:t>고객상태코드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r>
              <a:rPr lang="en-US" altLang="ko-KR" sz="1000" b="1" dirty="0">
                <a:solidFill>
                  <a:srgbClr val="FF0000"/>
                </a:solidFill>
              </a:rPr>
              <a:t>----------------</a:t>
            </a:r>
          </a:p>
          <a:p>
            <a:r>
              <a:rPr lang="en-US" altLang="ko-KR" sz="1000" b="1" dirty="0">
                <a:solidFill>
                  <a:srgbClr val="FF0000"/>
                </a:solidFill>
              </a:rPr>
              <a:t>10-</a:t>
            </a:r>
            <a:r>
              <a:rPr lang="ko-KR" altLang="en-US" sz="1000" b="1" dirty="0">
                <a:solidFill>
                  <a:srgbClr val="FF0000"/>
                </a:solidFill>
              </a:rPr>
              <a:t>가입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r>
              <a:rPr lang="en-US" altLang="ko-KR" sz="1000" b="1" dirty="0">
                <a:solidFill>
                  <a:srgbClr val="FF0000"/>
                </a:solidFill>
              </a:rPr>
              <a:t>20-</a:t>
            </a:r>
            <a:r>
              <a:rPr lang="ko-KR" altLang="en-US" sz="1000" b="1" dirty="0">
                <a:solidFill>
                  <a:srgbClr val="FF0000"/>
                </a:solidFill>
              </a:rPr>
              <a:t>탈퇴</a:t>
            </a:r>
          </a:p>
        </p:txBody>
      </p: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89B4B93B-D015-42F9-9D60-6602D30B11A5}"/>
              </a:ext>
            </a:extLst>
          </p:cNvPr>
          <p:cNvCxnSpPr>
            <a:cxnSpLocks/>
            <a:stCxn id="41" idx="0"/>
            <a:endCxn id="9" idx="2"/>
          </p:cNvCxnSpPr>
          <p:nvPr/>
        </p:nvCxnSpPr>
        <p:spPr>
          <a:xfrm rot="16200000" flipV="1">
            <a:off x="9836537" y="2742042"/>
            <a:ext cx="431099" cy="269050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8073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3.2.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서브타입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Subtypes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1047787"/>
            <a:ext cx="11138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서브타입 </a:t>
            </a:r>
            <a:r>
              <a:rPr lang="en-US" altLang="ko-KR" sz="2400" dirty="0"/>
              <a:t>vs</a:t>
            </a:r>
            <a:r>
              <a:rPr lang="ko-KR" altLang="en-US" sz="2400" dirty="0"/>
              <a:t> 코드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1064585" y="1557705"/>
            <a:ext cx="100839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서브타입과 코드의 서브타입과 코드는 근본적으로 다른 차이점</a:t>
            </a:r>
            <a:endParaRPr lang="en-US" altLang="ko-KR" sz="1600" dirty="0"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98A81B4-719A-8F49-7AEF-71BC573509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199776"/>
              </p:ext>
            </p:extLst>
          </p:nvPr>
        </p:nvGraphicFramePr>
        <p:xfrm>
          <a:off x="1311442" y="2029992"/>
          <a:ext cx="9837078" cy="3564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8539">
                  <a:extLst>
                    <a:ext uri="{9D8B030D-6E8A-4147-A177-3AD203B41FA5}">
                      <a16:colId xmlns:a16="http://schemas.microsoft.com/office/drawing/2014/main" val="2328773966"/>
                    </a:ext>
                  </a:extLst>
                </a:gridCol>
                <a:gridCol w="4918539">
                  <a:extLst>
                    <a:ext uri="{9D8B030D-6E8A-4147-A177-3AD203B41FA5}">
                      <a16:colId xmlns:a16="http://schemas.microsoft.com/office/drawing/2014/main" val="2942194185"/>
                    </a:ext>
                  </a:extLst>
                </a:gridCol>
              </a:tblGrid>
              <a:tr h="7129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>
                          <a:solidFill>
                            <a:schemeClr val="accent2"/>
                          </a:solidFill>
                        </a:rPr>
                        <a:t>서브타입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>
                          <a:solidFill>
                            <a:schemeClr val="accent2"/>
                          </a:solidFill>
                        </a:rPr>
                        <a:t>코드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3552183"/>
                  </a:ext>
                </a:extLst>
              </a:tr>
              <a:tr h="7129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2"/>
                          </a:solidFill>
                        </a:rPr>
                        <a:t>전체 집합에 대한 </a:t>
                      </a:r>
                      <a:r>
                        <a:rPr lang="ko-KR" altLang="en-US" b="1" i="0" u="sng" dirty="0">
                          <a:solidFill>
                            <a:srgbClr val="FF0000"/>
                          </a:solidFill>
                        </a:rPr>
                        <a:t>부분집합을 표현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2"/>
                          </a:solidFill>
                        </a:rPr>
                        <a:t>특정 </a:t>
                      </a:r>
                      <a:r>
                        <a:rPr lang="ko-KR" altLang="en-US" b="1" u="sng" dirty="0">
                          <a:solidFill>
                            <a:srgbClr val="FF0000"/>
                          </a:solidFill>
                        </a:rPr>
                        <a:t>속성의 구분을 표현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0428528"/>
                  </a:ext>
                </a:extLst>
              </a:tr>
              <a:tr h="7129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2"/>
                          </a:solidFill>
                        </a:rPr>
                        <a:t>전체 집합의 성격을 파악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2"/>
                          </a:solidFill>
                        </a:rPr>
                        <a:t>한 속성의 성격을 파악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527753"/>
                  </a:ext>
                </a:extLst>
              </a:tr>
              <a:tr h="7129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2"/>
                          </a:solidFill>
                        </a:rPr>
                        <a:t>속한 </a:t>
                      </a:r>
                      <a:r>
                        <a:rPr lang="ko-KR" altLang="en-US" b="1" u="sng" dirty="0">
                          <a:solidFill>
                            <a:srgbClr val="FF0000"/>
                          </a:solidFill>
                        </a:rPr>
                        <a:t>속성이 여러 개 존재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2"/>
                          </a:solidFill>
                        </a:rPr>
                        <a:t>속한 </a:t>
                      </a:r>
                      <a:r>
                        <a:rPr lang="ko-KR" altLang="en-US" b="1" u="sng" dirty="0">
                          <a:solidFill>
                            <a:srgbClr val="FF0000"/>
                          </a:solidFill>
                        </a:rPr>
                        <a:t>속성이 거의 존재하지 않음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3421155"/>
                  </a:ext>
                </a:extLst>
              </a:tr>
              <a:tr h="7129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2"/>
                          </a:solidFill>
                        </a:rPr>
                        <a:t>한 </a:t>
                      </a:r>
                      <a:r>
                        <a:rPr lang="ko-KR" altLang="en-US" dirty="0" err="1">
                          <a:solidFill>
                            <a:schemeClr val="tx2"/>
                          </a:solidFill>
                        </a:rPr>
                        <a:t>엔터티에</a:t>
                      </a:r>
                      <a:r>
                        <a:rPr lang="ko-KR" altLang="en-US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ko-KR" altLang="en-US" b="1" u="sng" dirty="0">
                          <a:solidFill>
                            <a:srgbClr val="FF0000"/>
                          </a:solidFill>
                        </a:rPr>
                        <a:t>하나만 존재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2"/>
                          </a:solidFill>
                        </a:rPr>
                        <a:t>한 </a:t>
                      </a:r>
                      <a:r>
                        <a:rPr lang="ko-KR" altLang="en-US" dirty="0" err="1">
                          <a:solidFill>
                            <a:schemeClr val="tx2"/>
                          </a:solidFill>
                        </a:rPr>
                        <a:t>엔터티에</a:t>
                      </a:r>
                      <a:r>
                        <a:rPr lang="ko-KR" altLang="en-US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ko-KR" altLang="en-US" b="1" u="sng" dirty="0">
                          <a:solidFill>
                            <a:srgbClr val="FF0000"/>
                          </a:solidFill>
                        </a:rPr>
                        <a:t>여러 개 존재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806533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B7C8B47-B15A-80D9-9A27-2327A64DB53C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D83761D-AD84-6D27-EFD3-D49FBF92D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90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257404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3.2.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서브타입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Subtypes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704861" y="992704"/>
            <a:ext cx="51230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400" dirty="0"/>
              <a:t> Is ~ A : </a:t>
            </a:r>
            <a:r>
              <a:rPr lang="ko-KR" altLang="en-US" sz="2400" dirty="0"/>
              <a:t>서브타입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1064585" y="1535673"/>
            <a:ext cx="464215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데이터를 일반화하면 부분집합은 </a:t>
            </a: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전체 집합과 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“~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이다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(Is-A)”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의 관계</a:t>
            </a:r>
            <a:r>
              <a:rPr lang="ko-KR" altLang="en-US" sz="1400" dirty="0">
                <a:latin typeface="+mn-ea"/>
              </a:rPr>
              <a:t>가 성립한다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개인고객은 고객이다</a:t>
            </a:r>
            <a:r>
              <a:rPr lang="en-US" altLang="ko-KR" sz="1400" dirty="0">
                <a:latin typeface="+mn-ea"/>
              </a:rPr>
              <a:t>.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  </a:t>
            </a:r>
            <a:r>
              <a:rPr lang="ko-KR" altLang="en-US" sz="1400" dirty="0">
                <a:latin typeface="+mn-ea"/>
                <a:sym typeface="Wingdings" panose="05000000000000000000" pitchFamily="2" charset="2"/>
              </a:rPr>
              <a:t>말이 됨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.</a:t>
            </a: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법인고객은 고객이다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 </a:t>
            </a:r>
            <a:r>
              <a:rPr lang="ko-KR" altLang="en-US" sz="1400" dirty="0">
                <a:latin typeface="+mn-ea"/>
                <a:sym typeface="Wingdings" panose="05000000000000000000" pitchFamily="2" charset="2"/>
              </a:rPr>
              <a:t>말이 됨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.</a:t>
            </a: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8D92853-C7CD-7CD1-0D20-032BE65BC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275" y="4289514"/>
            <a:ext cx="2524477" cy="170521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49188D6-296A-B225-F686-D90E720B4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8559" y="4256172"/>
            <a:ext cx="1857634" cy="17718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C59C7E-E057-9B8C-9CF9-B32A7F5EE20B}"/>
              </a:ext>
            </a:extLst>
          </p:cNvPr>
          <p:cNvSpPr txBox="1"/>
          <p:nvPr/>
        </p:nvSpPr>
        <p:spPr>
          <a:xfrm>
            <a:off x="6493302" y="1535673"/>
            <a:ext cx="550406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요소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속성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를 기준으로 묶는 모델은 소프트웨어가 </a:t>
            </a: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프로그램과 사용자매뉴얼로 이루어졌다는 것을 표현하고 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프로그램과 사용자 매뉴얼은 프로그램의</a:t>
            </a: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구성 요소로 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“~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의 일부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(Part-Of)”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관계</a:t>
            </a:r>
            <a:r>
              <a:rPr lang="ko-KR" altLang="en-US" sz="1400" dirty="0">
                <a:latin typeface="+mn-ea"/>
              </a:rPr>
              <a:t>라고 한다</a:t>
            </a: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프로그램은 소프트웨어이다 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 </a:t>
            </a:r>
            <a:r>
              <a:rPr lang="ko-KR" altLang="en-US" sz="1400" dirty="0">
                <a:latin typeface="+mn-ea"/>
                <a:sym typeface="Wingdings" panose="05000000000000000000" pitchFamily="2" charset="2"/>
              </a:rPr>
              <a:t>말이 됨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사용자매뉴얼은 소프트웨어다 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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말이 안됨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프로그램은 소프트웨어의 구성요소이다 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 </a:t>
            </a:r>
            <a:r>
              <a:rPr lang="ko-KR" altLang="en-US" sz="1400" dirty="0">
                <a:latin typeface="+mn-ea"/>
                <a:sym typeface="Wingdings" panose="05000000000000000000" pitchFamily="2" charset="2"/>
              </a:rPr>
              <a:t>말이 됨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  <a:sym typeface="Wingdings" panose="05000000000000000000" pitchFamily="2" charset="2"/>
              </a:rPr>
              <a:t>사용자매뉴얼은 소프트웨어의 구성요소이다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.</a:t>
            </a:r>
            <a:r>
              <a:rPr lang="ko-KR" altLang="en-US" sz="1400" dirty="0"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 </a:t>
            </a:r>
            <a:r>
              <a:rPr lang="ko-KR" altLang="en-US" sz="1400" dirty="0">
                <a:latin typeface="+mn-ea"/>
                <a:sym typeface="Wingdings" panose="05000000000000000000" pitchFamily="2" charset="2"/>
              </a:rPr>
              <a:t>말이 안됨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.</a:t>
            </a: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C7D36A-8F6A-A22E-18D6-994E69AE483E}"/>
              </a:ext>
            </a:extLst>
          </p:cNvPr>
          <p:cNvSpPr txBox="1"/>
          <p:nvPr/>
        </p:nvSpPr>
        <p:spPr>
          <a:xfrm>
            <a:off x="6107710" y="992704"/>
            <a:ext cx="57431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400" dirty="0"/>
              <a:t>Part ~ Of : </a:t>
            </a:r>
            <a:r>
              <a:rPr lang="ko-KR" altLang="en-US" sz="2400" dirty="0"/>
              <a:t>서브타입</a:t>
            </a:r>
            <a:r>
              <a:rPr lang="ko-KR" altLang="en-US" sz="1800" dirty="0"/>
              <a:t> </a:t>
            </a:r>
            <a:r>
              <a:rPr lang="en-US" altLang="ko-KR" sz="2000" dirty="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r>
              <a:rPr lang="ko-KR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서브타입 아님</a:t>
            </a:r>
            <a:endParaRPr lang="en-US" altLang="ko-KR" sz="2400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1B28139-B15C-8D6E-E501-E06E3ABC5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6503" y="3949201"/>
            <a:ext cx="2500358" cy="2385838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6A24C912-1D83-C4BB-2808-C46252A55A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4587" y="4441935"/>
            <a:ext cx="2534004" cy="1400370"/>
          </a:xfrm>
          <a:prstGeom prst="rect">
            <a:avLst/>
          </a:prstGeom>
        </p:spPr>
      </p:pic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3699B7C-91D6-3536-2E82-E6FF4CB80217}"/>
              </a:ext>
            </a:extLst>
          </p:cNvPr>
          <p:cNvCxnSpPr>
            <a:cxnSpLocks/>
            <a:stCxn id="8" idx="3"/>
            <a:endCxn id="20" idx="1"/>
          </p:cNvCxnSpPr>
          <p:nvPr/>
        </p:nvCxnSpPr>
        <p:spPr>
          <a:xfrm flipV="1">
            <a:off x="3137752" y="5142120"/>
            <a:ext cx="426835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A67A5E6D-1172-E34C-F994-9BA6F26E9193}"/>
              </a:ext>
            </a:extLst>
          </p:cNvPr>
          <p:cNvCxnSpPr>
            <a:cxnSpLocks/>
            <a:stCxn id="10" idx="3"/>
            <a:endCxn id="14" idx="1"/>
          </p:cNvCxnSpPr>
          <p:nvPr/>
        </p:nvCxnSpPr>
        <p:spPr>
          <a:xfrm flipV="1">
            <a:off x="8636193" y="5142120"/>
            <a:ext cx="530310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FCE6CA6-2A83-AAAC-346C-FE13C1A5A1BC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AF7C1A7-0DA4-5ADE-1F08-13447735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91</a:t>
            </a:fld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51756F8-61EE-4245-9A98-D2EC76C1D056}"/>
              </a:ext>
            </a:extLst>
          </p:cNvPr>
          <p:cNvSpPr/>
          <p:nvPr/>
        </p:nvSpPr>
        <p:spPr>
          <a:xfrm>
            <a:off x="496274" y="2910492"/>
            <a:ext cx="5504064" cy="225618"/>
          </a:xfrm>
          <a:prstGeom prst="roundRect">
            <a:avLst>
              <a:gd name="adj" fmla="val 10465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A622C4E-6C2E-45C0-B530-284FF80C7256}"/>
              </a:ext>
            </a:extLst>
          </p:cNvPr>
          <p:cNvSpPr/>
          <p:nvPr/>
        </p:nvSpPr>
        <p:spPr>
          <a:xfrm>
            <a:off x="496274" y="3189445"/>
            <a:ext cx="5504064" cy="225618"/>
          </a:xfrm>
          <a:prstGeom prst="roundRect">
            <a:avLst>
              <a:gd name="adj" fmla="val 10465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9C8B66E-0203-4A3A-8DC0-E94CB5AA22CF}"/>
              </a:ext>
            </a:extLst>
          </p:cNvPr>
          <p:cNvSpPr/>
          <p:nvPr/>
        </p:nvSpPr>
        <p:spPr>
          <a:xfrm>
            <a:off x="496274" y="3468398"/>
            <a:ext cx="5504064" cy="225618"/>
          </a:xfrm>
          <a:prstGeom prst="roundRect">
            <a:avLst>
              <a:gd name="adj" fmla="val 10465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BC93DDF-F2C8-474B-8AA4-A06CCA4665B1}"/>
              </a:ext>
            </a:extLst>
          </p:cNvPr>
          <p:cNvSpPr/>
          <p:nvPr/>
        </p:nvSpPr>
        <p:spPr>
          <a:xfrm>
            <a:off x="6637685" y="3556185"/>
            <a:ext cx="1265344" cy="565573"/>
          </a:xfrm>
          <a:prstGeom prst="roundRect">
            <a:avLst>
              <a:gd name="adj" fmla="val 10465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8DB718E-DA12-4E5F-89E4-CA0C1BA998C1}"/>
              </a:ext>
            </a:extLst>
          </p:cNvPr>
          <p:cNvSpPr/>
          <p:nvPr/>
        </p:nvSpPr>
        <p:spPr>
          <a:xfrm>
            <a:off x="7979990" y="3551622"/>
            <a:ext cx="672856" cy="565573"/>
          </a:xfrm>
          <a:prstGeom prst="roundRect">
            <a:avLst>
              <a:gd name="adj" fmla="val 10465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8E24E65-5571-4018-9986-E21FBE6B75E2}"/>
              </a:ext>
            </a:extLst>
          </p:cNvPr>
          <p:cNvSpPr/>
          <p:nvPr/>
        </p:nvSpPr>
        <p:spPr>
          <a:xfrm>
            <a:off x="8729807" y="3551622"/>
            <a:ext cx="672856" cy="565573"/>
          </a:xfrm>
          <a:prstGeom prst="roundRect">
            <a:avLst>
              <a:gd name="adj" fmla="val 10465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EFE9A1-9FF2-415C-A387-BB44B51C0410}"/>
              </a:ext>
            </a:extLst>
          </p:cNvPr>
          <p:cNvSpPr txBox="1"/>
          <p:nvPr/>
        </p:nvSpPr>
        <p:spPr>
          <a:xfrm>
            <a:off x="1511559" y="3166454"/>
            <a:ext cx="12218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/>
              <a:t>인스턴스로 구분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D1E251-D50E-4353-8550-0AAC67E90CF8}"/>
              </a:ext>
            </a:extLst>
          </p:cNvPr>
          <p:cNvSpPr txBox="1"/>
          <p:nvPr/>
        </p:nvSpPr>
        <p:spPr>
          <a:xfrm>
            <a:off x="7744520" y="3718844"/>
            <a:ext cx="10807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/>
              <a:t>속성으로 </a:t>
            </a:r>
            <a:r>
              <a:rPr lang="ko-KR" altLang="en-US" sz="1100" b="1" dirty="0"/>
              <a:t>구분</a:t>
            </a:r>
          </a:p>
        </p:txBody>
      </p:sp>
    </p:spTree>
    <p:extLst>
      <p:ext uri="{BB962C8B-B14F-4D97-AF65-F5344CB8AC3E}">
        <p14:creationId xmlns:p14="http://schemas.microsoft.com/office/powerpoint/2010/main" val="121869008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3.2.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서브타입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Subtypes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506555" y="992701"/>
            <a:ext cx="53911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 배타 서브타입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745093" y="1535670"/>
            <a:ext cx="51929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배타 서브타입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 (Exclusive Subtype /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Disjoint Subtype)</a:t>
            </a:r>
            <a:r>
              <a:rPr lang="ko-KR" altLang="en-US" sz="1400" dirty="0">
                <a:latin typeface="+mn-ea"/>
              </a:rPr>
              <a:t>은 </a:t>
            </a: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서브타입 부분집합 간에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중복이 발생하지 않는 서브타입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8157DD1-6D87-D418-3420-90E064370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147" y="3293195"/>
            <a:ext cx="1838582" cy="17147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97C9EA1-3827-6728-26EF-456F9D00D5BE}"/>
              </a:ext>
            </a:extLst>
          </p:cNvPr>
          <p:cNvSpPr txBox="1"/>
          <p:nvPr/>
        </p:nvSpPr>
        <p:spPr>
          <a:xfrm>
            <a:off x="6257581" y="992701"/>
            <a:ext cx="53911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 중복 서브타입 </a:t>
            </a:r>
            <a:r>
              <a:rPr lang="en-US" altLang="ko-KR" sz="3600" dirty="0">
                <a:solidFill>
                  <a:srgbClr val="FF0000"/>
                </a:solidFill>
              </a:rPr>
              <a:t>(Inclusive)</a:t>
            </a:r>
            <a:endParaRPr lang="en-US" altLang="ko-KR" sz="2400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AF431A-DB3C-AE4D-86E2-05A587C1EDA4}"/>
              </a:ext>
            </a:extLst>
          </p:cNvPr>
          <p:cNvSpPr txBox="1"/>
          <p:nvPr/>
        </p:nvSpPr>
        <p:spPr>
          <a:xfrm>
            <a:off x="6419162" y="1535670"/>
            <a:ext cx="539113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중복 서브타입은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서브타입 부분집합 간</a:t>
            </a:r>
            <a:r>
              <a:rPr lang="ko-KR" altLang="en-US" sz="1400" dirty="0">
                <a:latin typeface="+mn-ea"/>
              </a:rPr>
              <a:t>에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중복이 발생</a:t>
            </a:r>
            <a:r>
              <a:rPr lang="ko-KR" altLang="en-US" sz="1400" dirty="0">
                <a:latin typeface="+mn-ea"/>
              </a:rPr>
              <a:t>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겹쳐지는 부분이 존재하며</a:t>
            </a:r>
            <a:r>
              <a:rPr lang="en-US" altLang="ko-KR" sz="1400" dirty="0">
                <a:latin typeface="+mn-ea"/>
              </a:rPr>
              <a:t>,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중복 인스턴스가 있는 타입이다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예컨대</a:t>
            </a:r>
            <a:r>
              <a:rPr lang="en-US" altLang="ko-KR" sz="1400" dirty="0">
                <a:latin typeface="+mn-ea"/>
              </a:rPr>
              <a:t>,</a:t>
            </a:r>
            <a:r>
              <a:rPr lang="ko-KR" altLang="en-US" sz="1400" dirty="0">
                <a:latin typeface="+mn-ea"/>
              </a:rPr>
              <a:t> 고객은 개인고객이면서 사원고객일 수 있다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BE36482-24A3-77BC-761D-878152C7D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2541" y="3274142"/>
            <a:ext cx="1886213" cy="175284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D8236A5D-85FD-9449-1377-58E06C2A8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4297" y="2926431"/>
            <a:ext cx="1771897" cy="2448267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0D8AE72A-DCC2-01A4-8C94-837FE914FD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4746" y="2897852"/>
            <a:ext cx="1810003" cy="2505425"/>
          </a:xfrm>
          <a:prstGeom prst="rect">
            <a:avLst/>
          </a:prstGeom>
        </p:spPr>
      </p:pic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22AABE1D-3529-7320-704C-8E0F3499962E}"/>
              </a:ext>
            </a:extLst>
          </p:cNvPr>
          <p:cNvSpPr/>
          <p:nvPr/>
        </p:nvSpPr>
        <p:spPr>
          <a:xfrm>
            <a:off x="6921487" y="3767112"/>
            <a:ext cx="1814216" cy="226197"/>
          </a:xfrm>
          <a:prstGeom prst="roundRect">
            <a:avLst>
              <a:gd name="adj" fmla="val 10465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B32D66E0-02B9-A131-5112-469B484F3F7E}"/>
              </a:ext>
            </a:extLst>
          </p:cNvPr>
          <p:cNvSpPr/>
          <p:nvPr/>
        </p:nvSpPr>
        <p:spPr>
          <a:xfrm>
            <a:off x="9816525" y="3767112"/>
            <a:ext cx="980005" cy="383453"/>
          </a:xfrm>
          <a:prstGeom prst="roundRect">
            <a:avLst>
              <a:gd name="adj" fmla="val 10465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0AC014A1-64F9-CB7A-F19E-87E212AC57A2}"/>
              </a:ext>
            </a:extLst>
          </p:cNvPr>
          <p:cNvCxnSpPr>
            <a:cxnSpLocks/>
            <a:stCxn id="7" idx="3"/>
            <a:endCxn id="19" idx="1"/>
          </p:cNvCxnSpPr>
          <p:nvPr/>
        </p:nvCxnSpPr>
        <p:spPr>
          <a:xfrm>
            <a:off x="2859729" y="4150565"/>
            <a:ext cx="55456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6150E8D8-CB6A-CA85-9C47-361137AA589A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>
            <a:off x="8768754" y="4150565"/>
            <a:ext cx="52599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A3D26B3-1480-C58F-B2C1-161833CBA46C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E6C3864-E3E6-EB52-432E-382E1F9BF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92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694632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3.2.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서브타입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Subtypes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506555" y="992704"/>
            <a:ext cx="53911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 배타 서브타입</a:t>
            </a:r>
            <a:endParaRPr lang="en-US" altLang="ko-K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EAF1-2D6D-67E7-2EBA-FF5602F0D7DD}"/>
              </a:ext>
            </a:extLst>
          </p:cNvPr>
          <p:cNvSpPr txBox="1"/>
          <p:nvPr/>
        </p:nvSpPr>
        <p:spPr>
          <a:xfrm>
            <a:off x="745092" y="1535673"/>
            <a:ext cx="5391139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배타 서브타입에서는 서브타입 간에 중복이 발생하지 않는다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직원이 정규직이면서 임시직일 수 없다는 요건이 있다면</a:t>
            </a:r>
            <a:r>
              <a:rPr lang="en-US" altLang="ko-KR" sz="1400" dirty="0">
                <a:latin typeface="+mn-ea"/>
              </a:rPr>
              <a:t>,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특정 시점으로</a:t>
            </a:r>
            <a:r>
              <a:rPr lang="ko-KR" altLang="en-US" sz="1400" dirty="0">
                <a:latin typeface="+mn-ea"/>
              </a:rPr>
              <a:t> 배타 서브타입으로 도출해야 한다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9381CE9-BFE8-2A56-BB61-21BB6F1CB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39" y="2675143"/>
            <a:ext cx="1857634" cy="258163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CCC6DFE-A599-4558-3528-DDF8CCDDA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7775" y="2664114"/>
            <a:ext cx="4124901" cy="2267266"/>
          </a:xfrm>
          <a:prstGeom prst="rect">
            <a:avLst/>
          </a:prstGeom>
        </p:spPr>
      </p:pic>
      <p:cxnSp>
        <p:nvCxnSpPr>
          <p:cNvPr id="12" name="연결선: 구부러짐 11">
            <a:extLst>
              <a:ext uri="{FF2B5EF4-FFF2-40B4-BE49-F238E27FC236}">
                <a16:creationId xmlns:a16="http://schemas.microsoft.com/office/drawing/2014/main" id="{701A1442-55C1-F673-E780-8067573CF831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 flipV="1">
            <a:off x="1982273" y="3797747"/>
            <a:ext cx="315502" cy="16821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8" name="그림 17">
            <a:extLst>
              <a:ext uri="{FF2B5EF4-FFF2-40B4-BE49-F238E27FC236}">
                <a16:creationId xmlns:a16="http://schemas.microsoft.com/office/drawing/2014/main" id="{270B921B-791F-6B59-3AEC-8B13E85C7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0496" y="3297889"/>
            <a:ext cx="2514951" cy="261021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BA42192-F791-B249-D718-530CA851654D}"/>
              </a:ext>
            </a:extLst>
          </p:cNvPr>
          <p:cNvSpPr txBox="1"/>
          <p:nvPr/>
        </p:nvSpPr>
        <p:spPr>
          <a:xfrm>
            <a:off x="6107020" y="992704"/>
            <a:ext cx="23838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 </a:t>
            </a:r>
            <a:r>
              <a:rPr lang="ko-KR" altLang="en-US" sz="2400" u="sng" dirty="0">
                <a:solidFill>
                  <a:srgbClr val="FF0000"/>
                </a:solidFill>
              </a:rPr>
              <a:t>이력 데이터</a:t>
            </a:r>
            <a:endParaRPr lang="en-US" altLang="ko-KR" sz="2400" u="sng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DB6DE5-EE27-B9FB-C12F-E7C9F4A96E14}"/>
              </a:ext>
            </a:extLst>
          </p:cNvPr>
          <p:cNvSpPr txBox="1"/>
          <p:nvPr/>
        </p:nvSpPr>
        <p:spPr>
          <a:xfrm>
            <a:off x="6294309" y="1535673"/>
            <a:ext cx="58976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이력 데이터를 별도의 </a:t>
            </a:r>
            <a:r>
              <a:rPr lang="ko-KR" altLang="en-US" sz="1200" dirty="0" err="1">
                <a:latin typeface="+mn-ea"/>
              </a:rPr>
              <a:t>엔터티에서</a:t>
            </a:r>
            <a:r>
              <a:rPr lang="ko-KR" altLang="en-US" sz="1200" dirty="0">
                <a:latin typeface="+mn-ea"/>
              </a:rPr>
              <a:t> 분명하게 관리하지 않으면 </a:t>
            </a:r>
            <a:endParaRPr lang="en-US" altLang="ko-KR" sz="12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dirty="0" err="1">
                <a:latin typeface="+mn-ea"/>
              </a:rPr>
              <a:t>릴레이션에</a:t>
            </a:r>
            <a:r>
              <a:rPr lang="ko-KR" altLang="en-US" sz="1200" dirty="0">
                <a:latin typeface="+mn-ea"/>
              </a:rPr>
              <a:t> 중복 인스턴스가 존재하고 중복 서브타입으로 파악하면 안 된다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이력 데이터가 중복의 원인</a:t>
            </a:r>
            <a:r>
              <a:rPr lang="ko-KR" altLang="en-US" sz="1200" dirty="0">
                <a:latin typeface="+mn-ea"/>
              </a:rPr>
              <a:t>이 된 것이며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논리적으로는 배타 관계라는 것을 인식해야 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사원이 동시에 정규직이면서 임시직일 수 있다</a:t>
            </a:r>
            <a:endParaRPr lang="en-US" altLang="ko-KR" sz="1200" dirty="0">
              <a:latin typeface="+mn-ea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5D5F1C6F-CF26-34F9-2EB3-E7E2F7170B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2041" y="4937318"/>
            <a:ext cx="4801270" cy="1724266"/>
          </a:xfrm>
          <a:prstGeom prst="rect">
            <a:avLst/>
          </a:prstGeom>
        </p:spPr>
      </p:pic>
      <p:cxnSp>
        <p:nvCxnSpPr>
          <p:cNvPr id="35" name="연결선: 구부러짐 34">
            <a:extLst>
              <a:ext uri="{FF2B5EF4-FFF2-40B4-BE49-F238E27FC236}">
                <a16:creationId xmlns:a16="http://schemas.microsoft.com/office/drawing/2014/main" id="{93C1D83E-502B-EF90-D244-0DBECA1BC807}"/>
              </a:ext>
            </a:extLst>
          </p:cNvPr>
          <p:cNvCxnSpPr>
            <a:cxnSpLocks/>
            <a:stCxn id="18" idx="1"/>
            <a:endCxn id="26" idx="3"/>
          </p:cNvCxnSpPr>
          <p:nvPr/>
        </p:nvCxnSpPr>
        <p:spPr>
          <a:xfrm rot="10800000" flipV="1">
            <a:off x="8823312" y="4602995"/>
            <a:ext cx="347185" cy="119645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DC6013FC-3496-21A5-4FE1-C88390E12131}"/>
              </a:ext>
            </a:extLst>
          </p:cNvPr>
          <p:cNvSpPr/>
          <p:nvPr/>
        </p:nvSpPr>
        <p:spPr>
          <a:xfrm>
            <a:off x="10670013" y="3276308"/>
            <a:ext cx="982383" cy="1315669"/>
          </a:xfrm>
          <a:prstGeom prst="roundRect">
            <a:avLst>
              <a:gd name="adj" fmla="val 10465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7134FB-943A-3EE6-FC27-758B4CB2C58B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43B1AE3-07D3-34BA-8CD7-0D6372FA7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93</a:t>
            </a:fld>
            <a:endParaRPr lang="ko-KR" altLang="en-US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60F03E0-1B36-4F75-B19A-B1F504F7B33E}"/>
              </a:ext>
            </a:extLst>
          </p:cNvPr>
          <p:cNvSpPr/>
          <p:nvPr/>
        </p:nvSpPr>
        <p:spPr>
          <a:xfrm>
            <a:off x="4920619" y="3066738"/>
            <a:ext cx="687080" cy="231151"/>
          </a:xfrm>
          <a:prstGeom prst="roundRect">
            <a:avLst>
              <a:gd name="adj" fmla="val 10465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F285E76-9FED-4289-9420-D10E77DD0280}"/>
              </a:ext>
            </a:extLst>
          </p:cNvPr>
          <p:cNvSpPr/>
          <p:nvPr/>
        </p:nvSpPr>
        <p:spPr>
          <a:xfrm>
            <a:off x="4276808" y="3430175"/>
            <a:ext cx="593773" cy="218096"/>
          </a:xfrm>
          <a:prstGeom prst="roundRect">
            <a:avLst>
              <a:gd name="adj" fmla="val 10465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E5390A4-C132-415D-81FA-54DA1149F59C}"/>
              </a:ext>
            </a:extLst>
          </p:cNvPr>
          <p:cNvSpPr/>
          <p:nvPr/>
        </p:nvSpPr>
        <p:spPr>
          <a:xfrm>
            <a:off x="3349469" y="2883162"/>
            <a:ext cx="899346" cy="802434"/>
          </a:xfrm>
          <a:prstGeom prst="roundRect">
            <a:avLst>
              <a:gd name="adj" fmla="val 10465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F1EE29-C39D-4BA4-8965-8B92144E76DB}"/>
              </a:ext>
            </a:extLst>
          </p:cNvPr>
          <p:cNvSpPr txBox="1"/>
          <p:nvPr/>
        </p:nvSpPr>
        <p:spPr>
          <a:xfrm>
            <a:off x="3366434" y="2624909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</a:rPr>
              <a:t>업무식별자</a:t>
            </a:r>
          </a:p>
        </p:txBody>
      </p:sp>
      <p:cxnSp>
        <p:nvCxnSpPr>
          <p:cNvPr id="22" name="연결선: 구부러짐 21">
            <a:extLst>
              <a:ext uri="{FF2B5EF4-FFF2-40B4-BE49-F238E27FC236}">
                <a16:creationId xmlns:a16="http://schemas.microsoft.com/office/drawing/2014/main" id="{5A853E2E-2860-4EEB-BB45-A86A63C9F6C6}"/>
              </a:ext>
            </a:extLst>
          </p:cNvPr>
          <p:cNvCxnSpPr>
            <a:cxnSpLocks/>
            <a:stCxn id="16" idx="2"/>
            <a:endCxn id="17" idx="3"/>
          </p:cNvCxnSpPr>
          <p:nvPr/>
        </p:nvCxnSpPr>
        <p:spPr>
          <a:xfrm rot="5400000">
            <a:off x="4946703" y="3221767"/>
            <a:ext cx="241334" cy="39357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연결선: 구부러짐 22">
            <a:extLst>
              <a:ext uri="{FF2B5EF4-FFF2-40B4-BE49-F238E27FC236}">
                <a16:creationId xmlns:a16="http://schemas.microsoft.com/office/drawing/2014/main" id="{D7F53BEE-4A1A-4DC3-8226-1C03EB6AC27E}"/>
              </a:ext>
            </a:extLst>
          </p:cNvPr>
          <p:cNvCxnSpPr>
            <a:cxnSpLocks/>
            <a:stCxn id="20" idx="2"/>
            <a:endCxn id="16" idx="3"/>
          </p:cNvCxnSpPr>
          <p:nvPr/>
        </p:nvCxnSpPr>
        <p:spPr>
          <a:xfrm rot="5400000">
            <a:off x="5589347" y="1472721"/>
            <a:ext cx="1727945" cy="169124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9DAB89B-DC4C-483D-8512-7B6A6AA37A0E}"/>
              </a:ext>
            </a:extLst>
          </p:cNvPr>
          <p:cNvSpPr txBox="1"/>
          <p:nvPr/>
        </p:nvSpPr>
        <p:spPr>
          <a:xfrm>
            <a:off x="6756520" y="2677455"/>
            <a:ext cx="3437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</a:rPr>
              <a:t>이력 데이터가 존재하여</a:t>
            </a:r>
            <a:r>
              <a:rPr lang="en-US" altLang="ko-KR" sz="1000" b="1" dirty="0">
                <a:solidFill>
                  <a:srgbClr val="FF0000"/>
                </a:solidFill>
              </a:rPr>
              <a:t>, </a:t>
            </a:r>
            <a:r>
              <a:rPr lang="ko-KR" altLang="en-US" sz="1000" b="1" dirty="0">
                <a:solidFill>
                  <a:srgbClr val="FF0000"/>
                </a:solidFill>
              </a:rPr>
              <a:t>중복이 발생된다</a:t>
            </a:r>
            <a:r>
              <a:rPr lang="en-US" altLang="ko-KR" sz="1000" b="1" dirty="0">
                <a:solidFill>
                  <a:srgbClr val="FF0000"/>
                </a:solidFill>
              </a:rPr>
              <a:t>.</a:t>
            </a:r>
          </a:p>
          <a:p>
            <a:r>
              <a:rPr lang="ko-KR" altLang="en-US" sz="1000" b="1" dirty="0">
                <a:solidFill>
                  <a:srgbClr val="FF0000"/>
                </a:solidFill>
              </a:rPr>
              <a:t>특정 시점으로만 확인이 되어야 중복이 발생되지 않는다</a:t>
            </a:r>
            <a:r>
              <a:rPr lang="en-US" altLang="ko-KR" sz="1000" b="1" dirty="0">
                <a:solidFill>
                  <a:srgbClr val="FF0000"/>
                </a:solidFill>
              </a:rPr>
              <a:t>.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BDDABB-94CE-4C95-9A33-7ABCBAB98227}"/>
              </a:ext>
            </a:extLst>
          </p:cNvPr>
          <p:cNvSpPr txBox="1"/>
          <p:nvPr/>
        </p:nvSpPr>
        <p:spPr>
          <a:xfrm>
            <a:off x="169703" y="5334623"/>
            <a:ext cx="3852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실체 </a:t>
            </a:r>
            <a:r>
              <a:rPr lang="ko-KR" altLang="en-US" sz="1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엔터티</a:t>
            </a:r>
            <a:r>
              <a:rPr lang="en-US" altLang="ko-KR" sz="1400" b="1" dirty="0">
                <a:solidFill>
                  <a:srgbClr val="FF0000"/>
                </a:solidFill>
              </a:rPr>
              <a:t>(</a:t>
            </a:r>
            <a:r>
              <a:rPr lang="ko-KR" altLang="en-US" sz="1400" b="1" dirty="0">
                <a:solidFill>
                  <a:srgbClr val="FF0000"/>
                </a:solidFill>
              </a:rPr>
              <a:t>사원</a:t>
            </a:r>
            <a:r>
              <a:rPr lang="en-US" altLang="ko-KR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)</a:t>
            </a:r>
            <a:r>
              <a:rPr lang="ko-KR" altLang="en-US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에는 이력을 만들지 말아라</a:t>
            </a:r>
            <a:r>
              <a:rPr lang="en-US" altLang="ko-KR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!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29" name="곱하기 기호 28">
            <a:extLst>
              <a:ext uri="{FF2B5EF4-FFF2-40B4-BE49-F238E27FC236}">
                <a16:creationId xmlns:a16="http://schemas.microsoft.com/office/drawing/2014/main" id="{9D1FBA43-C304-4185-A92A-5E2D633177C7}"/>
              </a:ext>
            </a:extLst>
          </p:cNvPr>
          <p:cNvSpPr/>
          <p:nvPr/>
        </p:nvSpPr>
        <p:spPr>
          <a:xfrm>
            <a:off x="243006" y="3124173"/>
            <a:ext cx="1619938" cy="1619938"/>
          </a:xfrm>
          <a:prstGeom prst="mathMultiply">
            <a:avLst>
              <a:gd name="adj1" fmla="val 13122"/>
            </a:avLst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곱하기 기호 29">
            <a:extLst>
              <a:ext uri="{FF2B5EF4-FFF2-40B4-BE49-F238E27FC236}">
                <a16:creationId xmlns:a16="http://schemas.microsoft.com/office/drawing/2014/main" id="{79F51D2A-FB34-421D-A406-45B43064198D}"/>
              </a:ext>
            </a:extLst>
          </p:cNvPr>
          <p:cNvSpPr/>
          <p:nvPr/>
        </p:nvSpPr>
        <p:spPr>
          <a:xfrm>
            <a:off x="3499505" y="2487920"/>
            <a:ext cx="1619938" cy="1619938"/>
          </a:xfrm>
          <a:prstGeom prst="mathMultiply">
            <a:avLst>
              <a:gd name="adj1" fmla="val 13122"/>
            </a:avLst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1077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3.2.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서브타입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Subtypes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400" dirty="0" err="1"/>
              <a:t>ERWin</a:t>
            </a:r>
            <a:r>
              <a:rPr lang="en-US" altLang="ko-KR" sz="2400" dirty="0"/>
              <a:t> </a:t>
            </a:r>
            <a:r>
              <a:rPr lang="ko-KR" altLang="en-US" sz="2400" dirty="0"/>
              <a:t>툴의 서브타입 표기법</a:t>
            </a:r>
            <a:endParaRPr lang="en-US" altLang="ko-KR" sz="2400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D9A9F7B-55FC-826B-DA57-F3C6CA7EFAB4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3931662" y="3428998"/>
            <a:ext cx="108310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1DDCA99F-F685-A60A-6586-BC0712ACB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501" y="2223917"/>
            <a:ext cx="2229161" cy="241016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1F8F258-79CA-ECD7-BAEB-C6F831569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765" y="2362049"/>
            <a:ext cx="2162477" cy="213389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361C876-8929-43B1-0422-7140FFAB4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709" y="2271548"/>
            <a:ext cx="2572109" cy="2362530"/>
          </a:xfrm>
          <a:prstGeom prst="rect">
            <a:avLst/>
          </a:prstGeom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E58E1E4-4D98-2B6B-05B4-BB76D347C21A}"/>
              </a:ext>
            </a:extLst>
          </p:cNvPr>
          <p:cNvCxnSpPr>
            <a:cxnSpLocks/>
            <a:stCxn id="10" idx="3"/>
            <a:endCxn id="17" idx="1"/>
          </p:cNvCxnSpPr>
          <p:nvPr/>
        </p:nvCxnSpPr>
        <p:spPr>
          <a:xfrm>
            <a:off x="7177242" y="3428998"/>
            <a:ext cx="1100467" cy="238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75F7457-0B41-6535-498A-62186BC3B9BD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5F51DC6-1730-EB99-8DC6-1DAEFCB11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94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17275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3.2.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서브타입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Subtypes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중첩 서브타입</a:t>
            </a:r>
            <a:endParaRPr lang="en-US" altLang="ko-KR" sz="2400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D9A9F7B-55FC-826B-DA57-F3C6CA7EFAB4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4547325" y="5066204"/>
            <a:ext cx="22797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0F1E2FE-FA50-29C3-EF27-0AB20453F15C}"/>
              </a:ext>
            </a:extLst>
          </p:cNvPr>
          <p:cNvSpPr txBox="1"/>
          <p:nvPr/>
        </p:nvSpPr>
        <p:spPr>
          <a:xfrm>
            <a:off x="866910" y="1505409"/>
            <a:ext cx="1098391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b="1" u="sng" dirty="0"/>
              <a:t>서브타입 안에</a:t>
            </a:r>
            <a:r>
              <a:rPr lang="ko-KR" altLang="en-US" sz="1600" dirty="0"/>
              <a:t> 다시 </a:t>
            </a:r>
            <a:r>
              <a:rPr lang="ko-KR" altLang="en-US" sz="1600" b="1" u="sng" dirty="0"/>
              <a:t>서브타입이 존재</a:t>
            </a:r>
            <a:r>
              <a:rPr lang="ko-KR" altLang="en-US" sz="1600" dirty="0"/>
              <a:t>할 수 있는데, 이를 </a:t>
            </a:r>
            <a:r>
              <a:rPr lang="ko-KR" altLang="en-US" sz="1600" b="1" u="sng" dirty="0">
                <a:solidFill>
                  <a:srgbClr val="FF0000"/>
                </a:solidFill>
              </a:rPr>
              <a:t>중첩 서브타입(</a:t>
            </a:r>
            <a:r>
              <a:rPr lang="en-US" altLang="ko-KR" sz="1600" b="1" u="sng" dirty="0">
                <a:solidFill>
                  <a:srgbClr val="FF0000"/>
                </a:solidFill>
              </a:rPr>
              <a:t>Nested-Subtype</a:t>
            </a:r>
            <a:r>
              <a:rPr lang="ko-KR" altLang="en-US" sz="1600" b="1" u="sng" dirty="0">
                <a:solidFill>
                  <a:srgbClr val="FF0000"/>
                </a:solidFill>
              </a:rPr>
              <a:t>)</a:t>
            </a:r>
            <a:r>
              <a:rPr lang="ko-KR" altLang="en-US" sz="1600" dirty="0"/>
              <a:t>이라 한다</a:t>
            </a:r>
            <a:endParaRPr lang="en-US" altLang="ko-KR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dirty="0"/>
              <a:t>중첩 서브타입은 기초 속성은 유사하지만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고유 속성이 존재하는 다수의 </a:t>
            </a:r>
            <a:r>
              <a:rPr lang="ko-KR" altLang="en-US" sz="1600" dirty="0" err="1"/>
              <a:t>엔터티를</a:t>
            </a:r>
            <a:r>
              <a:rPr lang="ko-KR" altLang="en-US" sz="1600" dirty="0"/>
              <a:t> 통합하는 과정에서 생긴다</a:t>
            </a:r>
            <a:r>
              <a:rPr lang="en-US" altLang="ko-KR" sz="16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dirty="0"/>
              <a:t>중첩 서브타입은 개념 모델링이나 초기 논리 모델링 단계에서는 간혹 보이지만</a:t>
            </a:r>
            <a:r>
              <a:rPr lang="en-US" altLang="ko-KR" sz="1600" dirty="0"/>
              <a:t>, </a:t>
            </a:r>
            <a:r>
              <a:rPr lang="ko-KR" altLang="en-US" sz="1600" dirty="0"/>
              <a:t>실무에서 물리화 되는 일은 드물다</a:t>
            </a:r>
            <a:r>
              <a:rPr lang="en-US" altLang="ko-KR" sz="16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b="1" u="sng" dirty="0">
                <a:solidFill>
                  <a:srgbClr val="FF0000"/>
                </a:solidFill>
              </a:rPr>
              <a:t>물리 모델</a:t>
            </a:r>
            <a:r>
              <a:rPr lang="ko-KR" altLang="en-US" sz="1600" dirty="0"/>
              <a:t>에는 대부분 </a:t>
            </a:r>
            <a:r>
              <a:rPr lang="en-US" altLang="ko-KR" sz="1600" b="1" u="sng" dirty="0">
                <a:solidFill>
                  <a:srgbClr val="FF0000"/>
                </a:solidFill>
              </a:rPr>
              <a:t>1</a:t>
            </a:r>
            <a:r>
              <a:rPr lang="ko-KR" altLang="en-US" sz="1600" b="1" u="sng" dirty="0">
                <a:solidFill>
                  <a:srgbClr val="FF0000"/>
                </a:solidFill>
              </a:rPr>
              <a:t>단계 서브타입</a:t>
            </a:r>
            <a:r>
              <a:rPr lang="ko-KR" altLang="en-US" sz="1600" dirty="0"/>
              <a:t>을 대상으로 </a:t>
            </a:r>
            <a:r>
              <a:rPr lang="ko-KR" altLang="en-US" sz="1600" dirty="0" err="1"/>
              <a:t>엔터티로</a:t>
            </a:r>
            <a:r>
              <a:rPr lang="ko-KR" altLang="en-US" sz="1600" dirty="0"/>
              <a:t> 설계된다</a:t>
            </a:r>
            <a:r>
              <a:rPr lang="en-US" altLang="ko-KR" sz="16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dirty="0"/>
              <a:t>하지만 이처럼 </a:t>
            </a:r>
            <a:r>
              <a:rPr lang="ko-KR" altLang="en-US" sz="1600" b="1" strike="sngStrike" dirty="0">
                <a:solidFill>
                  <a:srgbClr val="FF0000"/>
                </a:solidFill>
              </a:rPr>
              <a:t>중첩 서브타입 그대로 물리 모델을 생성하는 경우는 흔치 않다</a:t>
            </a:r>
            <a:r>
              <a:rPr lang="en-US" altLang="ko-KR" sz="1600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dirty="0"/>
              <a:t>계층 서브타입을 모두 물리 모델로 생성하면 </a:t>
            </a:r>
            <a:r>
              <a:rPr lang="ko-KR" altLang="en-US" sz="1600" dirty="0" err="1"/>
              <a:t>엔터티</a:t>
            </a:r>
            <a:r>
              <a:rPr lang="ko-KR" altLang="en-US" sz="1600" dirty="0"/>
              <a:t> 관계가 복잡해질 뿐 실익이 없다</a:t>
            </a:r>
            <a:r>
              <a:rPr lang="en-US" altLang="ko-KR" sz="16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dirty="0"/>
              <a:t>따라서</a:t>
            </a:r>
            <a:r>
              <a:rPr lang="en-US" altLang="ko-KR" sz="1600" dirty="0"/>
              <a:t>, </a:t>
            </a:r>
            <a:r>
              <a:rPr lang="ko-KR" altLang="en-US" sz="1600" b="1" u="sng" dirty="0">
                <a:solidFill>
                  <a:srgbClr val="FF0000"/>
                </a:solidFill>
              </a:rPr>
              <a:t>통합 원칙</a:t>
            </a:r>
            <a:r>
              <a:rPr lang="ko-KR" altLang="en-US" sz="1600" dirty="0"/>
              <a:t>이 반영된 </a:t>
            </a:r>
            <a:r>
              <a:rPr lang="en-US" altLang="ko-KR" sz="1600" dirty="0"/>
              <a:t>[</a:t>
            </a:r>
            <a:r>
              <a:rPr lang="ko-KR" altLang="en-US" sz="1600" dirty="0"/>
              <a:t>그림 </a:t>
            </a:r>
            <a:r>
              <a:rPr lang="en-US" altLang="ko-KR" sz="1600" dirty="0"/>
              <a:t>3.117]</a:t>
            </a:r>
            <a:r>
              <a:rPr lang="ko-KR" altLang="en-US" sz="1600" dirty="0"/>
              <a:t> 모델이 효과적이다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469699E-D2E2-52E0-5B31-D1FF71C5D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14" y="3803965"/>
            <a:ext cx="4201111" cy="252447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436A228-9C42-193C-2286-CFD78A095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295" y="3489596"/>
            <a:ext cx="4477375" cy="2838846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3613514-84FB-D928-AB18-6F4E8763BA81}"/>
              </a:ext>
            </a:extLst>
          </p:cNvPr>
          <p:cNvSpPr/>
          <p:nvPr/>
        </p:nvSpPr>
        <p:spPr>
          <a:xfrm>
            <a:off x="2290622" y="6143041"/>
            <a:ext cx="867163" cy="176270"/>
          </a:xfrm>
          <a:prstGeom prst="roundRect">
            <a:avLst>
              <a:gd name="adj" fmla="val 10465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1C6E5CB-E95B-8BCC-CE70-D88D690E0DD5}"/>
              </a:ext>
            </a:extLst>
          </p:cNvPr>
          <p:cNvSpPr/>
          <p:nvPr/>
        </p:nvSpPr>
        <p:spPr>
          <a:xfrm>
            <a:off x="7343968" y="6120642"/>
            <a:ext cx="1024183" cy="198565"/>
          </a:xfrm>
          <a:prstGeom prst="roundRect">
            <a:avLst>
              <a:gd name="adj" fmla="val 10465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EAB3A06D-DB38-CF00-1F51-CCDA990CF3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9874" y="3746807"/>
            <a:ext cx="2553056" cy="2581635"/>
          </a:xfrm>
          <a:prstGeom prst="rect">
            <a:avLst/>
          </a:prstGeom>
        </p:spPr>
      </p:pic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C4D6A83-37EC-CA58-37CC-1DE5269C0CEC}"/>
              </a:ext>
            </a:extLst>
          </p:cNvPr>
          <p:cNvCxnSpPr>
            <a:cxnSpLocks/>
          </p:cNvCxnSpPr>
          <p:nvPr/>
        </p:nvCxnSpPr>
        <p:spPr>
          <a:xfrm>
            <a:off x="9252670" y="5098588"/>
            <a:ext cx="23720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845F71F-36BB-9C9E-DC26-C8ECE7BAB9C7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</a:t>
            </a:r>
            <a:r>
              <a:rPr lang="en-US" altLang="ko-KR" sz="140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lang="ko-KR" altLang="en-US" sz="140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5451D6D-DE54-95FF-6693-5C5FBB725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95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89127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3.2.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서브타입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Subtypes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서브타입 간의 관계 표현법</a:t>
            </a:r>
            <a:endParaRPr lang="en-US" altLang="ko-KR" sz="2400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1E2FE-FA50-29C3-EF27-0AB20453F15C}"/>
              </a:ext>
            </a:extLst>
          </p:cNvPr>
          <p:cNvSpPr txBox="1"/>
          <p:nvPr/>
        </p:nvSpPr>
        <p:spPr>
          <a:xfrm>
            <a:off x="324782" y="1505409"/>
            <a:ext cx="8645048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/>
              <a:t>서브타입 간에도 관계가 존재할 수 있다</a:t>
            </a:r>
            <a:r>
              <a:rPr lang="en-US" altLang="ko-KR" sz="1400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/>
              <a:t>이런 관계는 서브타입의 성격이 다를수록</a:t>
            </a:r>
            <a:r>
              <a:rPr lang="en-US" altLang="ko-KR" sz="1400" dirty="0"/>
              <a:t>, </a:t>
            </a:r>
            <a:r>
              <a:rPr lang="ko-KR" altLang="en-US" sz="1400" dirty="0"/>
              <a:t>즉 </a:t>
            </a:r>
            <a:r>
              <a:rPr lang="ko-KR" altLang="en-US" sz="1400" dirty="0" err="1"/>
              <a:t>엔터티를</a:t>
            </a:r>
            <a:r>
              <a:rPr lang="ko-KR" altLang="en-US" sz="1400" dirty="0"/>
              <a:t> 일반화</a:t>
            </a:r>
            <a:r>
              <a:rPr lang="en-US" altLang="ko-KR" sz="1400" dirty="0"/>
              <a:t>(</a:t>
            </a:r>
            <a:r>
              <a:rPr lang="ko-KR" altLang="en-US" sz="1400" dirty="0"/>
              <a:t>통합</a:t>
            </a:r>
            <a:r>
              <a:rPr lang="en-US" altLang="ko-KR" sz="1400" dirty="0"/>
              <a:t>)</a:t>
            </a:r>
            <a:r>
              <a:rPr lang="ko-KR" altLang="en-US" sz="1400" dirty="0"/>
              <a:t>할수록 발생할 가능성이 높다</a:t>
            </a:r>
            <a:r>
              <a:rPr lang="en-US" altLang="ko-KR" sz="14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/>
              <a:t>관계는 세 가지 방법으로 관리할 수 있다</a:t>
            </a:r>
            <a:r>
              <a:rPr lang="en-US" altLang="ko-KR" sz="1400" dirty="0"/>
              <a:t>.</a:t>
            </a:r>
          </a:p>
          <a:p>
            <a:pPr lvl="1"/>
            <a:r>
              <a:rPr lang="en-US" altLang="ko-KR" sz="1200" b="1" dirty="0"/>
              <a:t>1. </a:t>
            </a:r>
            <a:r>
              <a:rPr lang="ko-KR" altLang="en-US" sz="1200" b="1" dirty="0"/>
              <a:t>슈퍼타입 </a:t>
            </a:r>
            <a:r>
              <a:rPr lang="ko-KR" altLang="en-US" sz="1200" b="1" dirty="0" err="1"/>
              <a:t>엔터티에</a:t>
            </a:r>
            <a:r>
              <a:rPr lang="ko-KR" altLang="en-US" sz="1200" b="1" dirty="0"/>
              <a:t> 재귀 관계 도출</a:t>
            </a:r>
          </a:p>
          <a:p>
            <a:pPr lvl="1"/>
            <a:r>
              <a:rPr lang="en-US" altLang="ko-KR" sz="1200" b="1" dirty="0"/>
              <a:t>2. </a:t>
            </a:r>
            <a:r>
              <a:rPr lang="ko-KR" altLang="en-US" sz="1200" b="1" dirty="0"/>
              <a:t>서브타입 </a:t>
            </a:r>
            <a:r>
              <a:rPr lang="ko-KR" altLang="en-US" sz="1200" b="1" dirty="0" err="1"/>
              <a:t>엔터티</a:t>
            </a:r>
            <a:r>
              <a:rPr lang="ko-KR" altLang="en-US" sz="1200" b="1" dirty="0"/>
              <a:t> 사이의 관계 도출</a:t>
            </a:r>
          </a:p>
          <a:p>
            <a:pPr lvl="1"/>
            <a:r>
              <a:rPr lang="en-US" altLang="ko-KR" sz="1200" b="1" dirty="0"/>
              <a:t>3. </a:t>
            </a:r>
            <a:r>
              <a:rPr lang="ko-KR" altLang="en-US" sz="1200" b="1" dirty="0"/>
              <a:t>슈퍼타입 </a:t>
            </a:r>
            <a:r>
              <a:rPr lang="ko-KR" altLang="en-US" sz="1200" b="1" dirty="0" err="1"/>
              <a:t>엔터티에</a:t>
            </a:r>
            <a:r>
              <a:rPr lang="ko-KR" altLang="en-US" sz="1200" b="1" dirty="0"/>
              <a:t> 별도의 관계 </a:t>
            </a:r>
            <a:r>
              <a:rPr lang="ko-KR" altLang="en-US" sz="1200" b="1" dirty="0" err="1"/>
              <a:t>엔터티</a:t>
            </a:r>
            <a:r>
              <a:rPr lang="ko-KR" altLang="en-US" sz="1200" b="1" dirty="0"/>
              <a:t> 도출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C4D6A83-37EC-CA58-37CC-1DE5269C0CEC}"/>
              </a:ext>
            </a:extLst>
          </p:cNvPr>
          <p:cNvCxnSpPr>
            <a:cxnSpLocks/>
            <a:stCxn id="23" idx="2"/>
            <a:endCxn id="25" idx="0"/>
          </p:cNvCxnSpPr>
          <p:nvPr/>
        </p:nvCxnSpPr>
        <p:spPr>
          <a:xfrm>
            <a:off x="6088824" y="5313785"/>
            <a:ext cx="1" cy="3044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788CD09-1076-CA48-1B4E-BD8442E32203}"/>
              </a:ext>
            </a:extLst>
          </p:cNvPr>
          <p:cNvSpPr txBox="1"/>
          <p:nvPr/>
        </p:nvSpPr>
        <p:spPr>
          <a:xfrm>
            <a:off x="506555" y="2865634"/>
            <a:ext cx="28277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chemeClr val="accent2"/>
                </a:solidFill>
              </a:rPr>
              <a:t>1. </a:t>
            </a:r>
            <a:r>
              <a:rPr lang="ko-KR" altLang="en-US" sz="1200" b="1" dirty="0">
                <a:solidFill>
                  <a:schemeClr val="accent2"/>
                </a:solidFill>
              </a:rPr>
              <a:t>슈퍼타입 </a:t>
            </a:r>
            <a:r>
              <a:rPr lang="ko-KR" altLang="en-US" sz="1200" b="1" dirty="0" err="1">
                <a:solidFill>
                  <a:schemeClr val="accent2"/>
                </a:solidFill>
              </a:rPr>
              <a:t>엔터티에</a:t>
            </a:r>
            <a:r>
              <a:rPr lang="ko-KR" altLang="en-US" sz="1200" b="1" dirty="0">
                <a:solidFill>
                  <a:schemeClr val="accent2"/>
                </a:solidFill>
              </a:rPr>
              <a:t> 재귀 관계 도출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CE725A5-EF17-0E1A-A47B-476C15B69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81" y="3234291"/>
            <a:ext cx="3191320" cy="286742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5482FB8-E8AE-C640-2BD0-699A27BD6177}"/>
              </a:ext>
            </a:extLst>
          </p:cNvPr>
          <p:cNvSpPr txBox="1"/>
          <p:nvPr/>
        </p:nvSpPr>
        <p:spPr>
          <a:xfrm>
            <a:off x="4499022" y="2430720"/>
            <a:ext cx="28277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chemeClr val="accent2"/>
                </a:solidFill>
              </a:rPr>
              <a:t>2. </a:t>
            </a:r>
            <a:r>
              <a:rPr lang="ko-KR" altLang="en-US" sz="1200" b="1" dirty="0">
                <a:solidFill>
                  <a:schemeClr val="accent2"/>
                </a:solidFill>
              </a:rPr>
              <a:t>서브타입 </a:t>
            </a:r>
            <a:r>
              <a:rPr lang="ko-KR" altLang="en-US" sz="1200" b="1" dirty="0" err="1">
                <a:solidFill>
                  <a:schemeClr val="accent2"/>
                </a:solidFill>
              </a:rPr>
              <a:t>엔터티</a:t>
            </a:r>
            <a:r>
              <a:rPr lang="ko-KR" altLang="en-US" sz="1200" b="1" dirty="0">
                <a:solidFill>
                  <a:schemeClr val="accent2"/>
                </a:solidFill>
              </a:rPr>
              <a:t> 사이의 관계 도출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48396BC4-4826-306F-B064-FFA16C8B4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189" y="3217993"/>
            <a:ext cx="4801270" cy="209579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01693AE-6BAD-EE9C-8D57-624EC7AA0E98}"/>
              </a:ext>
            </a:extLst>
          </p:cNvPr>
          <p:cNvSpPr txBox="1"/>
          <p:nvPr/>
        </p:nvSpPr>
        <p:spPr>
          <a:xfrm>
            <a:off x="8489459" y="2430720"/>
            <a:ext cx="37031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chemeClr val="accent2"/>
                </a:solidFill>
              </a:rPr>
              <a:t>3. </a:t>
            </a:r>
            <a:r>
              <a:rPr lang="ko-KR" altLang="en-US" sz="1200" b="1" dirty="0">
                <a:solidFill>
                  <a:schemeClr val="accent2"/>
                </a:solidFill>
              </a:rPr>
              <a:t>슈퍼타입 </a:t>
            </a:r>
            <a:r>
              <a:rPr lang="ko-KR" altLang="en-US" sz="1200" b="1" dirty="0" err="1">
                <a:solidFill>
                  <a:schemeClr val="accent2"/>
                </a:solidFill>
              </a:rPr>
              <a:t>엔터티에</a:t>
            </a:r>
            <a:r>
              <a:rPr lang="ko-KR" altLang="en-US" sz="1200" b="1" dirty="0">
                <a:solidFill>
                  <a:schemeClr val="accent2"/>
                </a:solidFill>
              </a:rPr>
              <a:t> 별도의 </a:t>
            </a:r>
            <a:r>
              <a:rPr lang="en-US" altLang="ko-KR" sz="1200" b="1" dirty="0">
                <a:solidFill>
                  <a:schemeClr val="accent2"/>
                </a:solidFill>
              </a:rPr>
              <a:t>“</a:t>
            </a:r>
            <a:r>
              <a:rPr lang="ko-KR" altLang="en-US" sz="1200" b="1" u="sng" dirty="0">
                <a:solidFill>
                  <a:srgbClr val="FF0000"/>
                </a:solidFill>
              </a:rPr>
              <a:t>관계 </a:t>
            </a:r>
            <a:r>
              <a:rPr lang="ko-KR" altLang="en-US" sz="1200" b="1" u="sng" dirty="0" err="1">
                <a:solidFill>
                  <a:srgbClr val="FF0000"/>
                </a:solidFill>
              </a:rPr>
              <a:t>엔터티</a:t>
            </a:r>
            <a:r>
              <a:rPr lang="en-US" altLang="ko-KR" sz="1200" b="1" dirty="0">
                <a:solidFill>
                  <a:schemeClr val="accent2"/>
                </a:solidFill>
              </a:rPr>
              <a:t>”</a:t>
            </a:r>
            <a:r>
              <a:rPr lang="ko-KR" altLang="en-US" sz="1200" b="1" dirty="0">
                <a:solidFill>
                  <a:schemeClr val="accent2"/>
                </a:solidFill>
              </a:rPr>
              <a:t> 도출</a:t>
            </a: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01BB32AB-7458-0ADD-9961-3766296DB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1391" y="2717789"/>
            <a:ext cx="3267531" cy="2372056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45EF9AAA-DF52-0CF9-5E9B-281F2992E2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548" y="5103802"/>
            <a:ext cx="3515216" cy="166710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F99AFD49-076B-BADA-2B70-3A2919E876CC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AB62C13-9099-BC18-CA0B-DAE20BE05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96</a:t>
            </a:fld>
            <a:endParaRPr lang="ko-KR" altLang="en-US" dirty="0"/>
          </a:p>
        </p:txBody>
      </p:sp>
      <p:sp>
        <p:nvSpPr>
          <p:cNvPr id="16" name="곱하기 기호 15">
            <a:extLst>
              <a:ext uri="{FF2B5EF4-FFF2-40B4-BE49-F238E27FC236}">
                <a16:creationId xmlns:a16="http://schemas.microsoft.com/office/drawing/2014/main" id="{76E0B49D-50C0-446C-8D00-334CC80EFD76}"/>
              </a:ext>
            </a:extLst>
          </p:cNvPr>
          <p:cNvSpPr/>
          <p:nvPr/>
        </p:nvSpPr>
        <p:spPr>
          <a:xfrm>
            <a:off x="2363895" y="3868102"/>
            <a:ext cx="845835" cy="862518"/>
          </a:xfrm>
          <a:prstGeom prst="mathMultiply">
            <a:avLst>
              <a:gd name="adj1" fmla="val 13122"/>
            </a:avLst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82D9CB-3322-4B78-A92C-8DAB3ED0BB6F}"/>
              </a:ext>
            </a:extLst>
          </p:cNvPr>
          <p:cNvSpPr txBox="1"/>
          <p:nvPr/>
        </p:nvSpPr>
        <p:spPr>
          <a:xfrm>
            <a:off x="2752740" y="3522981"/>
            <a:ext cx="2055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b="1" dirty="0">
                <a:solidFill>
                  <a:srgbClr val="FF0000"/>
                </a:solidFill>
              </a:rPr>
              <a:t>여러 재귀 </a:t>
            </a:r>
            <a:r>
              <a:rPr lang="ko-KR" altLang="en-US" sz="1100" b="1" dirty="0" err="1">
                <a:solidFill>
                  <a:srgbClr val="FF0000"/>
                </a:solidFill>
              </a:rPr>
              <a:t>관게는</a:t>
            </a:r>
            <a:r>
              <a:rPr lang="ko-KR" altLang="en-US" sz="1100" b="1" dirty="0">
                <a:solidFill>
                  <a:srgbClr val="FF0000"/>
                </a:solidFill>
              </a:rPr>
              <a:t> 좋지 않음</a:t>
            </a:r>
            <a:r>
              <a:rPr lang="en-US" altLang="ko-KR" sz="1100" b="1" dirty="0">
                <a:solidFill>
                  <a:srgbClr val="FF0000"/>
                </a:solidFill>
              </a:rPr>
              <a:t>.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cxnSp>
        <p:nvCxnSpPr>
          <p:cNvPr id="7" name="연결선: 구부러짐 6">
            <a:extLst>
              <a:ext uri="{FF2B5EF4-FFF2-40B4-BE49-F238E27FC236}">
                <a16:creationId xmlns:a16="http://schemas.microsoft.com/office/drawing/2014/main" id="{2C5A6491-E3B8-4A25-AEF5-8015292B3993}"/>
              </a:ext>
            </a:extLst>
          </p:cNvPr>
          <p:cNvCxnSpPr>
            <a:cxnSpLocks/>
            <a:stCxn id="19" idx="3"/>
            <a:endCxn id="28" idx="1"/>
          </p:cNvCxnSpPr>
          <p:nvPr/>
        </p:nvCxnSpPr>
        <p:spPr>
          <a:xfrm flipV="1">
            <a:off x="4808220" y="2569220"/>
            <a:ext cx="3681239" cy="1084566"/>
          </a:xfrm>
          <a:prstGeom prst="curvedConnector3">
            <a:avLst>
              <a:gd name="adj1" fmla="val 34286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CFC2CAA-2BFD-4EFA-BDB6-4BD53B306DB0}"/>
              </a:ext>
            </a:extLst>
          </p:cNvPr>
          <p:cNvSpPr/>
          <p:nvPr/>
        </p:nvSpPr>
        <p:spPr>
          <a:xfrm>
            <a:off x="5038512" y="4706373"/>
            <a:ext cx="1057488" cy="332162"/>
          </a:xfrm>
          <a:prstGeom prst="roundRect">
            <a:avLst>
              <a:gd name="adj" fmla="val 10465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4306928-D095-470D-A49E-615B508FBFE3}"/>
              </a:ext>
            </a:extLst>
          </p:cNvPr>
          <p:cNvSpPr/>
          <p:nvPr/>
        </p:nvSpPr>
        <p:spPr>
          <a:xfrm>
            <a:off x="6917579" y="4641057"/>
            <a:ext cx="845490" cy="406809"/>
          </a:xfrm>
          <a:prstGeom prst="roundRect">
            <a:avLst>
              <a:gd name="adj" fmla="val 10465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09CFFCE5-1AB1-458E-FDBB-6520E19D73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9637" y="5618224"/>
            <a:ext cx="4658375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72082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3.2.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서브타입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Subtypes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400" dirty="0"/>
              <a:t>“</a:t>
            </a:r>
            <a:r>
              <a:rPr lang="ko-KR" altLang="en-US" sz="2400" u="sng" dirty="0"/>
              <a:t>범주</a:t>
            </a:r>
            <a:r>
              <a:rPr lang="en-US" altLang="ko-KR" sz="2400" dirty="0"/>
              <a:t>”</a:t>
            </a:r>
            <a:r>
              <a:rPr lang="ko-KR" altLang="en-US" sz="2400" dirty="0"/>
              <a:t>에 대해서</a:t>
            </a:r>
            <a:endParaRPr lang="en-US" altLang="ko-KR" sz="2400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1E2FE-FA50-29C3-EF27-0AB20453F15C}"/>
              </a:ext>
            </a:extLst>
          </p:cNvPr>
          <p:cNvSpPr txBox="1"/>
          <p:nvPr/>
        </p:nvSpPr>
        <p:spPr>
          <a:xfrm>
            <a:off x="866910" y="1505409"/>
            <a:ext cx="10983912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b="1" dirty="0">
                <a:solidFill>
                  <a:schemeClr val="tx2"/>
                </a:solidFill>
                <a:latin typeface="+mn-ea"/>
              </a:rPr>
              <a:t>“ </a:t>
            </a:r>
            <a:r>
              <a:rPr lang="ko-KR" altLang="en-US" b="1" u="sng" dirty="0" err="1">
                <a:solidFill>
                  <a:schemeClr val="tx2"/>
                </a:solidFill>
                <a:latin typeface="+mn-ea"/>
              </a:rPr>
              <a:t>판다곰과</a:t>
            </a:r>
            <a:r>
              <a:rPr lang="ko-KR" altLang="en-US" b="1" u="sng" dirty="0">
                <a:solidFill>
                  <a:schemeClr val="tx2"/>
                </a:solidFill>
                <a:latin typeface="+mn-ea"/>
              </a:rPr>
              <a:t> 원숭이와 바나나가 있습니다</a:t>
            </a:r>
            <a:r>
              <a:rPr lang="en-US" altLang="ko-KR" b="1" u="sng" dirty="0">
                <a:solidFill>
                  <a:schemeClr val="tx2"/>
                </a:solidFill>
                <a:latin typeface="+mn-ea"/>
              </a:rPr>
              <a:t>.</a:t>
            </a:r>
            <a:r>
              <a:rPr lang="en-US" altLang="ko-KR" b="1" dirty="0">
                <a:solidFill>
                  <a:schemeClr val="tx2"/>
                </a:solidFill>
                <a:latin typeface="+mn-ea"/>
              </a:rPr>
              <a:t>  </a:t>
            </a:r>
            <a:r>
              <a:rPr lang="ko-KR" altLang="en-US" b="1" u="sng" dirty="0">
                <a:solidFill>
                  <a:schemeClr val="tx2"/>
                </a:solidFill>
                <a:latin typeface="+mn-ea"/>
              </a:rPr>
              <a:t>셋 중에서 두 가지를 묶는다면 어떤 것을 묶겠습니까</a:t>
            </a:r>
            <a:r>
              <a:rPr lang="en-US" altLang="ko-KR" b="1" u="sng" dirty="0">
                <a:solidFill>
                  <a:schemeClr val="tx2"/>
                </a:solidFill>
                <a:latin typeface="+mn-ea"/>
              </a:rPr>
              <a:t>?</a:t>
            </a:r>
            <a:r>
              <a:rPr lang="en-US" altLang="ko-KR" b="1" dirty="0">
                <a:solidFill>
                  <a:schemeClr val="tx2"/>
                </a:solidFill>
                <a:latin typeface="+mn-ea"/>
              </a:rPr>
              <a:t> ”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1400" b="1" u="sng" dirty="0">
              <a:solidFill>
                <a:srgbClr val="FF0000"/>
              </a:solidFill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1400" b="1" u="sng" dirty="0">
              <a:solidFill>
                <a:srgbClr val="FF0000"/>
              </a:solidFill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  <a:latin typeface="+mn-ea"/>
              </a:rPr>
              <a:t>범주</a:t>
            </a:r>
            <a:r>
              <a:rPr lang="ko-KR" altLang="en-US" sz="1400" b="1" dirty="0">
                <a:latin typeface="+mn-ea"/>
              </a:rPr>
              <a:t> </a:t>
            </a:r>
            <a:r>
              <a:rPr lang="en-US" altLang="ko-KR" sz="1400" b="1" dirty="0">
                <a:latin typeface="+mn-ea"/>
              </a:rPr>
              <a:t>: </a:t>
            </a:r>
            <a:r>
              <a:rPr lang="ko-KR" altLang="en-US" sz="1400" b="1" dirty="0">
                <a:latin typeface="+mn-ea"/>
              </a:rPr>
              <a:t>서양 학생은 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판다곰과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 원숭이</a:t>
            </a:r>
            <a:r>
              <a:rPr lang="ko-KR" altLang="en-US" sz="1400" b="1" dirty="0">
                <a:latin typeface="+mn-ea"/>
              </a:rPr>
              <a:t>는 동물이라는 동일한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‘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범주</a:t>
            </a:r>
            <a:r>
              <a:rPr lang="ko-KR" altLang="en-US" sz="1400" b="1" dirty="0" err="1">
                <a:solidFill>
                  <a:srgbClr val="FF0000"/>
                </a:solidFill>
                <a:latin typeface="+mn-ea"/>
              </a:rPr>
              <a:t>’</a:t>
            </a:r>
            <a:r>
              <a:rPr lang="ko-KR" altLang="en-US" sz="1400" b="1" dirty="0" err="1">
                <a:latin typeface="+mn-ea"/>
              </a:rPr>
              <a:t>에</a:t>
            </a:r>
            <a:r>
              <a:rPr lang="ko-KR" altLang="en-US" sz="1400" b="1" dirty="0">
                <a:latin typeface="+mn-ea"/>
              </a:rPr>
              <a:t> 속한다고 보고 묶었으며</a:t>
            </a:r>
            <a:r>
              <a:rPr lang="en-US" altLang="ko-KR" sz="1400" b="1" dirty="0">
                <a:latin typeface="+mn-ea"/>
              </a:rPr>
              <a:t>,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  <a:latin typeface="+mn-ea"/>
              </a:rPr>
              <a:t>관계</a:t>
            </a:r>
            <a:r>
              <a:rPr lang="ko-KR" altLang="en-US" sz="1400" b="1" dirty="0">
                <a:latin typeface="+mn-ea"/>
              </a:rPr>
              <a:t> </a:t>
            </a:r>
            <a:r>
              <a:rPr lang="en-US" altLang="ko-KR" sz="1400" b="1" dirty="0">
                <a:latin typeface="+mn-ea"/>
              </a:rPr>
              <a:t>: </a:t>
            </a:r>
            <a:r>
              <a:rPr lang="ko-KR" altLang="en-US" sz="1400" b="1" dirty="0">
                <a:latin typeface="+mn-ea"/>
              </a:rPr>
              <a:t>동양 학생은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원숭이가 바나나</a:t>
            </a:r>
            <a:r>
              <a:rPr lang="ko-KR" altLang="en-US" sz="1400" b="1" dirty="0">
                <a:latin typeface="+mn-ea"/>
              </a:rPr>
              <a:t>를 먹는다는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‘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관계</a:t>
            </a:r>
            <a:r>
              <a:rPr lang="ko-KR" altLang="en-US" sz="1400" b="1" dirty="0" err="1">
                <a:solidFill>
                  <a:srgbClr val="FF0000"/>
                </a:solidFill>
                <a:latin typeface="+mn-ea"/>
              </a:rPr>
              <a:t>’</a:t>
            </a:r>
            <a:r>
              <a:rPr lang="ko-KR" altLang="en-US" sz="1400" b="1" dirty="0" err="1">
                <a:latin typeface="+mn-ea"/>
              </a:rPr>
              <a:t>에</a:t>
            </a:r>
            <a:r>
              <a:rPr lang="ko-KR" altLang="en-US" sz="1400" b="1" dirty="0">
                <a:latin typeface="+mn-ea"/>
              </a:rPr>
              <a:t> 근거해서 묶었다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1400" b="1" u="sng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1400" b="1" u="sng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b="1" u="sng" dirty="0" err="1">
                <a:solidFill>
                  <a:srgbClr val="FF0000"/>
                </a:solidFill>
                <a:latin typeface="+mn-ea"/>
              </a:rPr>
              <a:t>엔터티를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 통합</a:t>
            </a:r>
            <a:r>
              <a:rPr lang="ko-KR" altLang="en-US" sz="1400" dirty="0">
                <a:latin typeface="+mn-ea"/>
              </a:rPr>
              <a:t>하기 위해서는 </a:t>
            </a:r>
            <a:r>
              <a:rPr lang="ko-KR" altLang="en-US" sz="1400" b="1" u="sng" dirty="0" err="1">
                <a:solidFill>
                  <a:srgbClr val="FF0000"/>
                </a:solidFill>
                <a:latin typeface="+mn-ea"/>
              </a:rPr>
              <a:t>엔터티의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 속성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특성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을 제대로 파악</a:t>
            </a:r>
            <a:r>
              <a:rPr lang="ko-KR" altLang="en-US" sz="1400" dirty="0">
                <a:latin typeface="+mn-ea"/>
              </a:rPr>
              <a:t>해야 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데이터 통합은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성질이 유사한 것끼리 통합하는 것</a:t>
            </a:r>
            <a:r>
              <a:rPr lang="ko-KR" altLang="en-US" sz="1400" dirty="0">
                <a:latin typeface="+mn-ea"/>
              </a:rPr>
              <a:t>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b="1" strike="sngStrike" dirty="0">
                <a:solidFill>
                  <a:srgbClr val="FF0000"/>
                </a:solidFill>
                <a:latin typeface="+mn-ea"/>
              </a:rPr>
              <a:t>관계가 있는 </a:t>
            </a:r>
            <a:r>
              <a:rPr lang="ko-KR" altLang="en-US" sz="1400" b="1" strike="sngStrike" dirty="0" err="1">
                <a:solidFill>
                  <a:srgbClr val="FF0000"/>
                </a:solidFill>
                <a:latin typeface="+mn-ea"/>
              </a:rPr>
              <a:t>엔터티끼리</a:t>
            </a:r>
            <a:r>
              <a:rPr lang="ko-KR" altLang="en-US" sz="1400" b="1" strike="sngStrike" dirty="0">
                <a:solidFill>
                  <a:srgbClr val="FF0000"/>
                </a:solidFill>
                <a:latin typeface="+mn-ea"/>
              </a:rPr>
              <a:t> 통합하는 것이 아니다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 err="1">
                <a:latin typeface="+mn-ea"/>
              </a:rPr>
              <a:t>엔터티를</a:t>
            </a:r>
            <a:r>
              <a:rPr lang="ko-KR" altLang="en-US" sz="1400" dirty="0">
                <a:latin typeface="+mn-ea"/>
              </a:rPr>
              <a:t> 통합할 때도 </a:t>
            </a:r>
            <a:r>
              <a:rPr lang="ko-KR" altLang="en-US" sz="1400" b="1" u="sng" dirty="0" err="1">
                <a:solidFill>
                  <a:srgbClr val="FF0000"/>
                </a:solidFill>
                <a:latin typeface="+mn-ea"/>
              </a:rPr>
              <a:t>엔터티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 자체의 본질이 기준</a:t>
            </a:r>
            <a:r>
              <a:rPr lang="ko-KR" altLang="en-US" sz="1400" dirty="0">
                <a:latin typeface="+mn-ea"/>
              </a:rPr>
              <a:t>이 되어야 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000" b="1" dirty="0">
                <a:latin typeface="+mn-ea"/>
              </a:rPr>
              <a:t>요컨대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모델링 측면에서는 </a:t>
            </a:r>
            <a:r>
              <a:rPr lang="ko-KR" altLang="en-US" sz="2000" b="1" u="sng" dirty="0" err="1">
                <a:solidFill>
                  <a:srgbClr val="FF0000"/>
                </a:solidFill>
                <a:latin typeface="+mn-ea"/>
              </a:rPr>
              <a:t>판다곰과</a:t>
            </a:r>
            <a:r>
              <a:rPr lang="ko-KR" altLang="en-US" sz="2000" b="1" u="sng" dirty="0">
                <a:solidFill>
                  <a:srgbClr val="FF0000"/>
                </a:solidFill>
                <a:latin typeface="+mn-ea"/>
              </a:rPr>
              <a:t> 원숭이</a:t>
            </a:r>
            <a:r>
              <a:rPr lang="ko-KR" altLang="en-US" sz="2000" b="1" dirty="0">
                <a:latin typeface="+mn-ea"/>
              </a:rPr>
              <a:t>를 묶어야 </a:t>
            </a:r>
            <a:r>
              <a:rPr lang="ko-KR" altLang="en-US" sz="2000" b="1" u="sng" dirty="0">
                <a:solidFill>
                  <a:srgbClr val="FF0000"/>
                </a:solidFill>
                <a:latin typeface="+mn-ea"/>
              </a:rPr>
              <a:t>모델</a:t>
            </a:r>
            <a:r>
              <a:rPr lang="ko-KR" altLang="en-US" sz="2000" b="1" dirty="0">
                <a:latin typeface="+mn-ea"/>
              </a:rPr>
              <a:t>이 견고해 진다</a:t>
            </a:r>
            <a:r>
              <a:rPr lang="en-US" altLang="ko-KR" sz="2000" b="1" dirty="0">
                <a:latin typeface="+mn-ea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 </a:t>
            </a:r>
            <a:r>
              <a:rPr lang="ko-KR" altLang="en-US" sz="1400" b="1" strike="sngStrike" dirty="0">
                <a:solidFill>
                  <a:srgbClr val="FF0000"/>
                </a:solidFill>
                <a:latin typeface="+mn-ea"/>
              </a:rPr>
              <a:t>원숭이와 바나나</a:t>
            </a:r>
            <a:r>
              <a:rPr lang="ko-KR" altLang="en-US" sz="1400" dirty="0">
                <a:latin typeface="+mn-ea"/>
              </a:rPr>
              <a:t>를 묶었다면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시스템이 힘들어질 것이다</a:t>
            </a:r>
            <a:r>
              <a:rPr lang="en-US" altLang="ko-KR" sz="1400" dirty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통합과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서브타입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046737A-DDD6-EE86-AD50-6F01377E5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97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575038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6361E3-037A-B71A-325B-40866B484C5C}"/>
              </a:ext>
            </a:extLst>
          </p:cNvPr>
          <p:cNvSpPr txBox="1"/>
          <p:nvPr/>
        </p:nvSpPr>
        <p:spPr>
          <a:xfrm>
            <a:off x="0" y="2465999"/>
            <a:ext cx="1219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6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속성</a:t>
            </a:r>
            <a:endParaRPr lang="en-US" altLang="ko-KR" sz="6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en-US" altLang="ko-KR" sz="6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endParaRPr lang="ko-KR" altLang="en-US" sz="6000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B73F9D-8778-35ED-E681-13A54E4BAEA6}"/>
              </a:ext>
            </a:extLst>
          </p:cNvPr>
          <p:cNvSpPr txBox="1"/>
          <p:nvPr/>
        </p:nvSpPr>
        <p:spPr>
          <a:xfrm>
            <a:off x="7128927" y="253481"/>
            <a:ext cx="4721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4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18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85143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속성 이야기</a:t>
            </a:r>
            <a:endParaRPr lang="en-US" altLang="ko-KR" sz="2400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1E2FE-FA50-29C3-EF27-0AB20453F15C}"/>
              </a:ext>
            </a:extLst>
          </p:cNvPr>
          <p:cNvSpPr txBox="1"/>
          <p:nvPr/>
        </p:nvSpPr>
        <p:spPr>
          <a:xfrm>
            <a:off x="866910" y="1505409"/>
            <a:ext cx="10983912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000" b="1" dirty="0">
                <a:latin typeface="+mn-ea"/>
              </a:rPr>
              <a:t> </a:t>
            </a:r>
            <a:r>
              <a:rPr lang="ko-KR" altLang="en-US" sz="2000" b="1" u="sng" dirty="0">
                <a:solidFill>
                  <a:srgbClr val="FF0000"/>
                </a:solidFill>
                <a:latin typeface="+mn-ea"/>
              </a:rPr>
              <a:t>속성</a:t>
            </a:r>
            <a:r>
              <a:rPr lang="ko-KR" altLang="en-US" sz="2000" b="1" dirty="0">
                <a:latin typeface="+mn-ea"/>
              </a:rPr>
              <a:t>은 </a:t>
            </a:r>
            <a:r>
              <a:rPr lang="ko-KR" altLang="en-US" sz="2000" b="1" u="sng" dirty="0" err="1">
                <a:solidFill>
                  <a:srgbClr val="FF0000"/>
                </a:solidFill>
                <a:latin typeface="+mn-ea"/>
              </a:rPr>
              <a:t>엔터티의</a:t>
            </a:r>
            <a:r>
              <a:rPr lang="ko-KR" altLang="en-US" sz="2000" b="1" u="sng" dirty="0">
                <a:solidFill>
                  <a:srgbClr val="FF0000"/>
                </a:solidFill>
                <a:latin typeface="+mn-ea"/>
              </a:rPr>
              <a:t> 성격을 상세하게 기술하는 요소</a:t>
            </a:r>
            <a:r>
              <a:rPr lang="en-US" altLang="ko-KR" sz="2000" b="1" u="sng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2000" b="1" u="sng" dirty="0">
                <a:solidFill>
                  <a:srgbClr val="FF0000"/>
                </a:solidFill>
                <a:latin typeface="+mn-ea"/>
              </a:rPr>
              <a:t>특성</a:t>
            </a:r>
            <a:r>
              <a:rPr lang="en-US" altLang="ko-KR" sz="2000" b="1" u="sng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2000" b="1" dirty="0">
                <a:latin typeface="+mn-ea"/>
              </a:rPr>
              <a:t>다</a:t>
            </a:r>
            <a:r>
              <a:rPr lang="en-US" altLang="ko-KR" sz="2000" b="1" dirty="0">
                <a:latin typeface="+mn-ea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000" b="1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000" b="1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000" b="1" dirty="0">
                <a:latin typeface="+mn-ea"/>
              </a:rPr>
              <a:t> 속성을 모두 도출</a:t>
            </a:r>
            <a:r>
              <a:rPr lang="en-US" altLang="ko-KR" sz="2000" b="1" dirty="0">
                <a:latin typeface="+mn-ea"/>
              </a:rPr>
              <a:t>(</a:t>
            </a:r>
            <a:r>
              <a:rPr lang="ko-KR" altLang="en-US" sz="2000" b="1" dirty="0">
                <a:latin typeface="+mn-ea"/>
              </a:rPr>
              <a:t>설계</a:t>
            </a:r>
            <a:r>
              <a:rPr lang="en-US" altLang="ko-KR" sz="2000" b="1" dirty="0">
                <a:latin typeface="+mn-ea"/>
              </a:rPr>
              <a:t>)</a:t>
            </a:r>
            <a:r>
              <a:rPr lang="ko-KR" altLang="en-US" sz="2000" b="1" dirty="0">
                <a:latin typeface="+mn-ea"/>
              </a:rPr>
              <a:t>하면 </a:t>
            </a:r>
            <a:r>
              <a:rPr lang="ko-KR" altLang="en-US" sz="2000" b="1" u="sng" dirty="0">
                <a:solidFill>
                  <a:srgbClr val="FF0000"/>
                </a:solidFill>
                <a:latin typeface="+mn-ea"/>
              </a:rPr>
              <a:t>해당 </a:t>
            </a:r>
            <a:r>
              <a:rPr lang="ko-KR" altLang="en-US" sz="2000" b="1" u="sng" dirty="0" err="1">
                <a:solidFill>
                  <a:srgbClr val="FF0000"/>
                </a:solidFill>
                <a:latin typeface="+mn-ea"/>
              </a:rPr>
              <a:t>엔터티가</a:t>
            </a:r>
            <a:r>
              <a:rPr lang="ko-KR" altLang="en-US" sz="2000" b="1" u="sng" dirty="0">
                <a:solidFill>
                  <a:srgbClr val="FF0000"/>
                </a:solidFill>
                <a:latin typeface="+mn-ea"/>
              </a:rPr>
              <a:t> 관리하는 데이터가 무엇인지 알게 된다</a:t>
            </a:r>
            <a:r>
              <a:rPr lang="en-US" altLang="ko-KR" sz="2000" b="1" dirty="0">
                <a:latin typeface="+mn-ea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000" b="1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000" b="1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000" b="1" dirty="0">
                <a:latin typeface="+mn-ea"/>
              </a:rPr>
              <a:t> 속성은 </a:t>
            </a:r>
            <a:r>
              <a:rPr lang="ko-KR" altLang="en-US" sz="2000" b="1" u="sng" dirty="0">
                <a:latin typeface="+mn-ea"/>
              </a:rPr>
              <a:t>데이터를 저장하는 가장 작은</a:t>
            </a:r>
            <a:r>
              <a:rPr lang="en-US" altLang="ko-KR" sz="2000" b="1" u="sng" dirty="0">
                <a:latin typeface="+mn-ea"/>
              </a:rPr>
              <a:t>, </a:t>
            </a:r>
            <a:r>
              <a:rPr lang="ko-KR" altLang="en-US" sz="2000" b="1" u="sng" dirty="0">
                <a:latin typeface="+mn-ea"/>
              </a:rPr>
              <a:t>독립된 저장 단위</a:t>
            </a:r>
            <a:r>
              <a:rPr lang="ko-KR" altLang="en-US" sz="2000" b="1" dirty="0">
                <a:latin typeface="+mn-ea"/>
              </a:rPr>
              <a:t>다</a:t>
            </a:r>
            <a:r>
              <a:rPr lang="en-US" altLang="ko-KR" sz="2000" b="1" dirty="0">
                <a:latin typeface="+mn-ea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000" b="1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000" b="1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000" b="1" dirty="0">
                <a:latin typeface="+mn-ea"/>
              </a:rPr>
              <a:t> 더는 나눌 수 없는</a:t>
            </a:r>
            <a:r>
              <a:rPr lang="en-US" altLang="ko-KR" sz="2000" b="1" dirty="0">
                <a:latin typeface="+mn-ea"/>
              </a:rPr>
              <a:t>(UNCUT) </a:t>
            </a:r>
            <a:r>
              <a:rPr lang="ko-KR" altLang="en-US" sz="2000" b="1" u="sng" dirty="0">
                <a:solidFill>
                  <a:srgbClr val="FF0000"/>
                </a:solidFill>
                <a:latin typeface="+mn-ea"/>
              </a:rPr>
              <a:t>원자</a:t>
            </a:r>
            <a:r>
              <a:rPr lang="en-US" altLang="ko-KR" sz="2000" b="1" u="sng" dirty="0">
                <a:solidFill>
                  <a:srgbClr val="FF0000"/>
                </a:solidFill>
                <a:latin typeface="+mn-ea"/>
              </a:rPr>
              <a:t>(ATOM)</a:t>
            </a:r>
            <a:r>
              <a:rPr lang="ko-KR" altLang="en-US" sz="2000" b="1" u="sng" dirty="0">
                <a:solidFill>
                  <a:srgbClr val="FF0000"/>
                </a:solidFill>
                <a:latin typeface="+mn-ea"/>
              </a:rPr>
              <a:t>데이터를 저장하는 곳</a:t>
            </a:r>
            <a:r>
              <a:rPr lang="ko-KR" altLang="en-US" sz="2000" b="1" dirty="0">
                <a:latin typeface="+mn-ea"/>
              </a:rPr>
              <a:t>이 속성이다</a:t>
            </a:r>
            <a:r>
              <a:rPr lang="en-US" altLang="ko-KR" sz="2000" b="1" dirty="0">
                <a:latin typeface="+mn-ea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000" b="1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000" b="1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000" b="1" dirty="0">
                <a:latin typeface="+mn-ea"/>
              </a:rPr>
              <a:t> 이런 속성에 저장된 데이터가 </a:t>
            </a:r>
            <a:r>
              <a:rPr lang="ko-KR" altLang="en-US" sz="2000" b="1" u="sng" dirty="0" err="1">
                <a:latin typeface="+mn-ea"/>
              </a:rPr>
              <a:t>엔터티를</a:t>
            </a:r>
            <a:r>
              <a:rPr lang="ko-KR" altLang="en-US" sz="2000" b="1" u="sng" dirty="0">
                <a:latin typeface="+mn-ea"/>
              </a:rPr>
              <a:t> 자세하게 묘사</a:t>
            </a:r>
            <a:r>
              <a:rPr lang="ko-KR" altLang="en-US" sz="2000" b="1" dirty="0">
                <a:latin typeface="+mn-ea"/>
              </a:rPr>
              <a:t>한다</a:t>
            </a:r>
            <a:r>
              <a:rPr lang="en-US" altLang="ko-KR" sz="2000" b="1" dirty="0">
                <a:latin typeface="+mn-ea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70B3D68-1219-E9F9-C203-69C2B856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99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860464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다양한 속성 분류법</a:t>
            </a:r>
            <a:endParaRPr lang="en-US" altLang="ko-KR" sz="2400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1E2FE-FA50-29C3-EF27-0AB20453F15C}"/>
              </a:ext>
            </a:extLst>
          </p:cNvPr>
          <p:cNvSpPr txBox="1"/>
          <p:nvPr/>
        </p:nvSpPr>
        <p:spPr>
          <a:xfrm>
            <a:off x="866910" y="1505409"/>
            <a:ext cx="1098391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altLang="ko-KR" sz="2000" b="1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2000" b="1" dirty="0">
                <a:latin typeface="+mn-ea"/>
              </a:rPr>
              <a:t>식별자</a:t>
            </a:r>
            <a:r>
              <a:rPr lang="en-US" altLang="ko-KR" sz="2000" b="1" dirty="0">
                <a:latin typeface="+mn-ea"/>
              </a:rPr>
              <a:t>(Key) </a:t>
            </a:r>
            <a:r>
              <a:rPr lang="ko-KR" altLang="en-US" sz="2000" b="1" dirty="0">
                <a:latin typeface="+mn-ea"/>
              </a:rPr>
              <a:t>속성 </a:t>
            </a:r>
            <a:r>
              <a:rPr lang="en-US" altLang="ko-KR" sz="2000" b="1" dirty="0">
                <a:latin typeface="+mn-ea"/>
              </a:rPr>
              <a:t>vs</a:t>
            </a:r>
            <a:r>
              <a:rPr lang="ko-KR" altLang="en-US" sz="2000" b="1" dirty="0">
                <a:latin typeface="+mn-ea"/>
              </a:rPr>
              <a:t> 비식별자</a:t>
            </a:r>
            <a:r>
              <a:rPr lang="en-US" altLang="ko-KR" sz="2000" b="1" dirty="0">
                <a:latin typeface="+mn-ea"/>
              </a:rPr>
              <a:t>(Non-Key) </a:t>
            </a:r>
            <a:r>
              <a:rPr lang="ko-KR" altLang="en-US" sz="2000" b="1" dirty="0">
                <a:latin typeface="+mn-ea"/>
              </a:rPr>
              <a:t>속성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2000" b="1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2000" b="1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2000" b="1" dirty="0">
                <a:latin typeface="+mn-ea"/>
              </a:rPr>
              <a:t>기초</a:t>
            </a:r>
            <a:r>
              <a:rPr lang="en-US" altLang="ko-KR" sz="2000" b="1" dirty="0">
                <a:latin typeface="+mn-ea"/>
              </a:rPr>
              <a:t>(Basic) • </a:t>
            </a:r>
            <a:r>
              <a:rPr lang="ko-KR" altLang="en-US" sz="2000" b="1" dirty="0">
                <a:latin typeface="+mn-ea"/>
              </a:rPr>
              <a:t>관계</a:t>
            </a:r>
            <a:r>
              <a:rPr lang="en-US" altLang="ko-KR" sz="2000" b="1" dirty="0">
                <a:latin typeface="+mn-ea"/>
              </a:rPr>
              <a:t>(Relationship) • </a:t>
            </a:r>
            <a:r>
              <a:rPr lang="ko-KR" altLang="en-US" sz="2000" b="1" dirty="0">
                <a:latin typeface="+mn-ea"/>
              </a:rPr>
              <a:t>추출 </a:t>
            </a:r>
            <a:r>
              <a:rPr lang="en-US" altLang="ko-KR" sz="2000" b="1" dirty="0">
                <a:latin typeface="+mn-ea"/>
              </a:rPr>
              <a:t>(Derived) • </a:t>
            </a:r>
            <a:r>
              <a:rPr lang="ko-KR" altLang="en-US" sz="2000" b="1" dirty="0">
                <a:latin typeface="+mn-ea"/>
              </a:rPr>
              <a:t>시스템</a:t>
            </a:r>
            <a:r>
              <a:rPr lang="en-US" altLang="ko-KR" sz="2000" b="1" dirty="0">
                <a:latin typeface="+mn-ea"/>
              </a:rPr>
              <a:t>(System) </a:t>
            </a:r>
            <a:r>
              <a:rPr lang="ko-KR" altLang="en-US" sz="2000" b="1" dirty="0">
                <a:latin typeface="+mn-ea"/>
              </a:rPr>
              <a:t>속성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2000" b="1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2000" b="1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2000" b="1" dirty="0">
                <a:latin typeface="+mn-ea"/>
              </a:rPr>
              <a:t>원본</a:t>
            </a:r>
            <a:r>
              <a:rPr lang="en-US" altLang="ko-KR" sz="2000" b="1" dirty="0">
                <a:latin typeface="+mn-ea"/>
              </a:rPr>
              <a:t>(Raw) </a:t>
            </a:r>
            <a:r>
              <a:rPr lang="ko-KR" altLang="en-US" sz="2000" b="1" dirty="0">
                <a:latin typeface="+mn-ea"/>
              </a:rPr>
              <a:t>속성 </a:t>
            </a:r>
            <a:r>
              <a:rPr lang="en-US" altLang="ko-KR" sz="2000" b="1" dirty="0">
                <a:latin typeface="+mn-ea"/>
              </a:rPr>
              <a:t>vs</a:t>
            </a:r>
            <a:r>
              <a:rPr lang="ko-KR" altLang="en-US" sz="2000" b="1" dirty="0">
                <a:latin typeface="+mn-ea"/>
              </a:rPr>
              <a:t> 추출</a:t>
            </a:r>
            <a:r>
              <a:rPr lang="en-US" altLang="ko-KR" sz="2000" b="1" dirty="0">
                <a:latin typeface="+mn-ea"/>
              </a:rPr>
              <a:t>(Derived) </a:t>
            </a:r>
            <a:r>
              <a:rPr lang="ko-KR" altLang="en-US" sz="2000" b="1" dirty="0">
                <a:latin typeface="+mn-ea"/>
              </a:rPr>
              <a:t>속성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2000" b="1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2000" b="1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2000" b="1" dirty="0">
                <a:latin typeface="+mn-ea"/>
              </a:rPr>
              <a:t>단일 값</a:t>
            </a:r>
            <a:r>
              <a:rPr lang="en-US" altLang="ko-KR" sz="2000" b="1" dirty="0">
                <a:latin typeface="+mn-ea"/>
              </a:rPr>
              <a:t>(Single-Valued) </a:t>
            </a:r>
            <a:r>
              <a:rPr lang="ko-KR" altLang="en-US" sz="2000" b="1" dirty="0">
                <a:latin typeface="+mn-ea"/>
              </a:rPr>
              <a:t>속성 </a:t>
            </a:r>
            <a:r>
              <a:rPr lang="en-US" altLang="ko-KR" sz="2000" b="1" dirty="0">
                <a:latin typeface="+mn-ea"/>
              </a:rPr>
              <a:t>vs</a:t>
            </a:r>
            <a:r>
              <a:rPr lang="ko-KR" altLang="en-US" sz="2000" b="1" dirty="0">
                <a:latin typeface="+mn-ea"/>
              </a:rPr>
              <a:t> 다가</a:t>
            </a:r>
            <a:r>
              <a:rPr lang="en-US" altLang="ko-KR" sz="2000" b="1" dirty="0">
                <a:latin typeface="+mn-ea"/>
              </a:rPr>
              <a:t>(Multivalued) </a:t>
            </a:r>
            <a:r>
              <a:rPr lang="ko-KR" altLang="en-US" sz="2000" b="1" dirty="0">
                <a:latin typeface="+mn-ea"/>
              </a:rPr>
              <a:t>속성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2000" b="1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2000" b="1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2000" b="1" dirty="0">
                <a:latin typeface="+mn-ea"/>
              </a:rPr>
              <a:t>단순</a:t>
            </a:r>
            <a:r>
              <a:rPr lang="en-US" altLang="ko-KR" sz="2000" b="1" dirty="0">
                <a:latin typeface="+mn-ea"/>
              </a:rPr>
              <a:t>(Simple)</a:t>
            </a:r>
            <a:r>
              <a:rPr lang="ko-KR" altLang="en-US" sz="2000" b="1" dirty="0">
                <a:latin typeface="+mn-ea"/>
              </a:rPr>
              <a:t>속성 </a:t>
            </a:r>
            <a:r>
              <a:rPr lang="en-US" altLang="ko-KR" sz="2000" b="1" dirty="0">
                <a:latin typeface="+mn-ea"/>
              </a:rPr>
              <a:t>vs</a:t>
            </a:r>
            <a:r>
              <a:rPr lang="ko-KR" altLang="en-US" sz="2000" b="1" dirty="0">
                <a:latin typeface="+mn-ea"/>
              </a:rPr>
              <a:t> 복합</a:t>
            </a:r>
            <a:r>
              <a:rPr lang="en-US" altLang="ko-KR" sz="2000" b="1" dirty="0">
                <a:latin typeface="+mn-ea"/>
              </a:rPr>
              <a:t>(Composite) </a:t>
            </a:r>
            <a:r>
              <a:rPr lang="ko-KR" altLang="en-US" sz="2000" b="1" dirty="0">
                <a:latin typeface="+mn-ea"/>
              </a:rPr>
              <a:t>속성</a:t>
            </a:r>
            <a:endParaRPr lang="en-US" altLang="ko-KR" sz="2000" b="1" dirty="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71F1BE-8275-9218-4F53-D9FD7CD02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100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675512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/>
              <a:t>다양한 속성 분류법</a:t>
            </a:r>
            <a:endParaRPr lang="en-US" altLang="ko-KR" sz="2400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1E2FE-FA50-29C3-EF27-0AB20453F15C}"/>
              </a:ext>
            </a:extLst>
          </p:cNvPr>
          <p:cNvSpPr txBox="1"/>
          <p:nvPr/>
        </p:nvSpPr>
        <p:spPr>
          <a:xfrm>
            <a:off x="866909" y="1496173"/>
            <a:ext cx="11325091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b="1" dirty="0">
                <a:latin typeface="+mn-ea"/>
              </a:rPr>
              <a:t>식별자</a:t>
            </a:r>
            <a:r>
              <a:rPr lang="en-US" altLang="ko-KR" b="1" dirty="0">
                <a:latin typeface="+mn-ea"/>
              </a:rPr>
              <a:t>(Key) </a:t>
            </a:r>
            <a:r>
              <a:rPr lang="ko-KR" altLang="en-US" b="1" dirty="0">
                <a:latin typeface="+mn-ea"/>
              </a:rPr>
              <a:t>속성과 비식별자</a:t>
            </a:r>
            <a:r>
              <a:rPr lang="en-US" altLang="ko-KR" b="1" dirty="0">
                <a:latin typeface="+mn-ea"/>
              </a:rPr>
              <a:t>(Non-Key) </a:t>
            </a:r>
            <a:r>
              <a:rPr lang="ko-KR" altLang="en-US" b="1" dirty="0">
                <a:latin typeface="+mn-ea"/>
              </a:rPr>
              <a:t>속성</a:t>
            </a:r>
            <a:endParaRPr lang="en-US" altLang="ko-KR" b="1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dirty="0">
              <a:latin typeface="+mn-ea"/>
            </a:endParaRPr>
          </a:p>
          <a:p>
            <a:pPr lvl="1"/>
            <a:r>
              <a:rPr lang="en-US" altLang="ko-KR" sz="1400" b="1" dirty="0">
                <a:latin typeface="+mn-ea"/>
              </a:rPr>
              <a:t>-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식별자 속성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결정자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이란 </a:t>
            </a:r>
            <a:r>
              <a:rPr lang="ko-KR" altLang="en-US" sz="1400" dirty="0" err="1">
                <a:latin typeface="+mn-ea"/>
              </a:rPr>
              <a:t>엔터티에</a:t>
            </a:r>
            <a:r>
              <a:rPr lang="ko-KR" altLang="en-US" sz="1400" dirty="0">
                <a:latin typeface="+mn-ea"/>
              </a:rPr>
              <a:t> 존재하는 인스턴스의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유일성을 보장해 주는 속성이나 속성 집합</a:t>
            </a:r>
            <a:r>
              <a:rPr lang="ko-KR" altLang="en-US" sz="1400" dirty="0">
                <a:latin typeface="+mn-ea"/>
              </a:rPr>
              <a:t>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lvl="1"/>
            <a:r>
              <a:rPr lang="en-US" altLang="ko-KR" sz="1400" dirty="0">
                <a:latin typeface="+mn-ea"/>
              </a:rPr>
              <a:t>  (</a:t>
            </a:r>
            <a:r>
              <a:rPr lang="ko-KR" altLang="en-US" sz="1400" b="1" dirty="0">
                <a:latin typeface="+mn-ea"/>
              </a:rPr>
              <a:t>업무 식별자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후보 식별자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주 식별자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대리 식별자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인조 식별자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외래 식별자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슈퍼 식별자</a:t>
            </a:r>
            <a:r>
              <a:rPr lang="ko-KR" altLang="en-US" sz="1400" dirty="0">
                <a:latin typeface="+mn-ea"/>
              </a:rPr>
              <a:t> 등</a:t>
            </a:r>
            <a:r>
              <a:rPr lang="en-US" altLang="ko-KR" sz="1400" dirty="0">
                <a:latin typeface="+mn-ea"/>
              </a:rPr>
              <a:t>)</a:t>
            </a:r>
          </a:p>
          <a:p>
            <a:pPr lvl="1"/>
            <a:r>
              <a:rPr lang="en-US" altLang="ko-KR" sz="1400" dirty="0">
                <a:latin typeface="+mn-ea"/>
              </a:rPr>
              <a:t>  (</a:t>
            </a:r>
            <a:r>
              <a:rPr lang="ko-KR" altLang="en-US" sz="1400" b="1" dirty="0">
                <a:latin typeface="+mn-ea"/>
              </a:rPr>
              <a:t>물리적으로 존재하는 식별자 </a:t>
            </a:r>
            <a:r>
              <a:rPr lang="en-US" altLang="ko-KR" sz="1400" b="1" dirty="0">
                <a:latin typeface="+mn-ea"/>
              </a:rPr>
              <a:t>: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주 식별자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대리 식별자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외래 식별자</a:t>
            </a:r>
            <a:r>
              <a:rPr lang="en-US" altLang="ko-KR" sz="1400" dirty="0">
                <a:latin typeface="+mn-ea"/>
              </a:rPr>
              <a:t>)</a:t>
            </a:r>
          </a:p>
          <a:p>
            <a:pPr lvl="1"/>
            <a:endParaRPr lang="en-US" altLang="ko-KR" sz="1400" dirty="0">
              <a:latin typeface="+mn-ea"/>
            </a:endParaRPr>
          </a:p>
          <a:p>
            <a:pPr lvl="1"/>
            <a:endParaRPr lang="en-US" altLang="ko-KR" sz="1400" dirty="0">
              <a:latin typeface="+mn-ea"/>
            </a:endParaRPr>
          </a:p>
          <a:p>
            <a:pPr lvl="1"/>
            <a:r>
              <a:rPr lang="en-US" altLang="ko-KR" sz="1400" b="1" dirty="0">
                <a:latin typeface="+mn-ea"/>
              </a:rPr>
              <a:t>-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비식별자 속성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600" b="1" dirty="0" err="1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종속자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은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일반속성</a:t>
            </a:r>
            <a:r>
              <a:rPr lang="ko-KR" altLang="en-US" sz="1400" dirty="0">
                <a:latin typeface="+mn-ea"/>
              </a:rPr>
              <a:t>으로서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식별자 속성에 따른 특성을 설명하는 속성</a:t>
            </a:r>
            <a:r>
              <a:rPr lang="ko-KR" altLang="en-US" sz="1400" dirty="0">
                <a:latin typeface="+mn-ea"/>
              </a:rPr>
              <a:t>으로 인스턴스마다 같은 값을 가질 수 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lvl="1"/>
            <a:r>
              <a:rPr lang="en-US" altLang="ko-KR" sz="1400" dirty="0">
                <a:latin typeface="+mn-ea"/>
              </a:rPr>
              <a:t>  </a:t>
            </a:r>
            <a:r>
              <a:rPr lang="ko-KR" altLang="en-US" sz="1400" dirty="0" err="1">
                <a:latin typeface="+mn-ea"/>
              </a:rPr>
              <a:t>엔터티에</a:t>
            </a:r>
            <a:r>
              <a:rPr lang="ko-KR" altLang="en-US" sz="1400" dirty="0">
                <a:latin typeface="+mn-ea"/>
              </a:rPr>
              <a:t> 한 두 개인 식별자 속성을 제외한 모든 속성은 비식별자 속성이다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4BC6264-A7C0-B654-A1B2-85289DCF6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549" y="4157764"/>
            <a:ext cx="4124901" cy="1695687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6CAEC4E-DB96-F933-4AE7-2FF16D60A84A}"/>
              </a:ext>
            </a:extLst>
          </p:cNvPr>
          <p:cNvSpPr/>
          <p:nvPr/>
        </p:nvSpPr>
        <p:spPr>
          <a:xfrm>
            <a:off x="5534068" y="4603730"/>
            <a:ext cx="1171532" cy="896640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CAE4D9F-BF8D-1915-C384-F81DBC1E33FF}"/>
              </a:ext>
            </a:extLst>
          </p:cNvPr>
          <p:cNvSpPr/>
          <p:nvPr/>
        </p:nvSpPr>
        <p:spPr>
          <a:xfrm>
            <a:off x="5534068" y="4433452"/>
            <a:ext cx="1171532" cy="161042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5769FF9-F65F-26E5-9C00-EDE5C4401E87}"/>
              </a:ext>
            </a:extLst>
          </p:cNvPr>
          <p:cNvSpPr/>
          <p:nvPr/>
        </p:nvSpPr>
        <p:spPr>
          <a:xfrm>
            <a:off x="5529455" y="4733632"/>
            <a:ext cx="1171532" cy="161042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0AFA008-1683-8130-369B-557AC129C11C}"/>
              </a:ext>
            </a:extLst>
          </p:cNvPr>
          <p:cNvSpPr/>
          <p:nvPr/>
        </p:nvSpPr>
        <p:spPr>
          <a:xfrm>
            <a:off x="4108926" y="5231804"/>
            <a:ext cx="1072673" cy="240858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B0025B1-4F9B-6F93-E6A0-6926F8BC5A42}"/>
              </a:ext>
            </a:extLst>
          </p:cNvPr>
          <p:cNvSpPr/>
          <p:nvPr/>
        </p:nvSpPr>
        <p:spPr>
          <a:xfrm>
            <a:off x="7043823" y="4405744"/>
            <a:ext cx="1019522" cy="197986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097E6E3-8B03-F316-0E19-BFD617124267}"/>
              </a:ext>
            </a:extLst>
          </p:cNvPr>
          <p:cNvSpPr/>
          <p:nvPr/>
        </p:nvSpPr>
        <p:spPr>
          <a:xfrm>
            <a:off x="7053456" y="4696688"/>
            <a:ext cx="1019522" cy="197986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30BC1B5-05B1-D8BF-A6C0-D3772E07E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101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978086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2183-E0F2-339C-8498-EE67A825FE24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식별자</a:t>
            </a:r>
            <a:r>
              <a:rPr lang="en-US" altLang="ko-KR" sz="2400" b="1" dirty="0">
                <a:latin typeface="+mn-ea"/>
              </a:rPr>
              <a:t>(Key) </a:t>
            </a:r>
            <a:r>
              <a:rPr lang="ko-KR" altLang="en-US" sz="2400" b="1" dirty="0">
                <a:latin typeface="+mn-ea"/>
              </a:rPr>
              <a:t>속성과 비식별자</a:t>
            </a:r>
            <a:r>
              <a:rPr lang="en-US" altLang="ko-KR" sz="2400" b="1" dirty="0">
                <a:latin typeface="+mn-ea"/>
              </a:rPr>
              <a:t>(Non-Key) </a:t>
            </a:r>
            <a:r>
              <a:rPr lang="ko-KR" altLang="en-US" sz="2400" b="1" dirty="0">
                <a:latin typeface="+mn-ea"/>
              </a:rPr>
              <a:t>속성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1E2FE-FA50-29C3-EF27-0AB20453F15C}"/>
              </a:ext>
            </a:extLst>
          </p:cNvPr>
          <p:cNvSpPr txBox="1"/>
          <p:nvPr/>
        </p:nvSpPr>
        <p:spPr>
          <a:xfrm>
            <a:off x="866909" y="1496173"/>
            <a:ext cx="11325091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b="1" dirty="0">
                <a:latin typeface="+mn-ea"/>
              </a:rPr>
              <a:t>후보 식별자</a:t>
            </a:r>
            <a:endParaRPr lang="en-US" altLang="ko-KR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후보 식별자 </a:t>
            </a:r>
            <a:r>
              <a:rPr lang="en-US" altLang="ko-KR" sz="1600" dirty="0">
                <a:latin typeface="+mn-ea"/>
              </a:rPr>
              <a:t>(Candidate Identifier)</a:t>
            </a:r>
            <a:r>
              <a:rPr lang="ko-KR" altLang="en-US" sz="1600" dirty="0">
                <a:latin typeface="+mn-ea"/>
              </a:rPr>
              <a:t>는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주 식별자가 될 가능성이 있는 식별자</a:t>
            </a:r>
            <a:r>
              <a:rPr lang="ko-KR" altLang="en-US" sz="1600" dirty="0">
                <a:latin typeface="+mn-ea"/>
              </a:rPr>
              <a:t>를 의미한다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모든 식별자는 주 식별자가 될 수 있는 후보이므로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식별자와 후보 식별자는 사실상 동의어다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n-ea"/>
              </a:rPr>
              <a:t>“</a:t>
            </a:r>
            <a:r>
              <a:rPr lang="ko-KR" altLang="en-US" sz="1600" b="1" dirty="0">
                <a:latin typeface="+mn-ea"/>
              </a:rPr>
              <a:t>주민등록번호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휴대폰번호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 err="1">
                <a:latin typeface="+mn-ea"/>
              </a:rPr>
              <a:t>이메일주소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고객번호</a:t>
            </a:r>
            <a:r>
              <a:rPr lang="en-US" altLang="ko-KR" sz="1600" dirty="0">
                <a:latin typeface="+mn-ea"/>
              </a:rPr>
              <a:t>”</a:t>
            </a:r>
            <a:r>
              <a:rPr lang="ko-KR" altLang="en-US" sz="1600" dirty="0">
                <a:latin typeface="+mn-ea"/>
              </a:rPr>
              <a:t>로 </a:t>
            </a:r>
            <a:r>
              <a:rPr lang="ko-KR" altLang="en-US" sz="1600" b="1" u="sng" dirty="0">
                <a:latin typeface="+mn-ea"/>
              </a:rPr>
              <a:t>사원명</a:t>
            </a:r>
            <a:r>
              <a:rPr lang="ko-KR" altLang="en-US" sz="1600" dirty="0">
                <a:latin typeface="+mn-ea"/>
              </a:rPr>
              <a:t>을 알 수 있다</a:t>
            </a:r>
            <a:r>
              <a:rPr lang="en-US" altLang="ko-KR" sz="1600" dirty="0">
                <a:latin typeface="+mn-ea"/>
              </a:rPr>
              <a:t>. 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>
                <a:latin typeface="+mn-ea"/>
              </a:rPr>
              <a:t>함수 종속</a:t>
            </a:r>
            <a:r>
              <a:rPr lang="en-US" altLang="ko-KR" sz="1600" b="1" dirty="0">
                <a:latin typeface="+mn-ea"/>
              </a:rPr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9FB8956-FC21-5641-93D7-A15AB65DD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693" y="3626768"/>
            <a:ext cx="4382112" cy="1114581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ED4F275-F43C-DEED-A3EE-71DBD5D45466}"/>
              </a:ext>
            </a:extLst>
          </p:cNvPr>
          <p:cNvSpPr/>
          <p:nvPr/>
        </p:nvSpPr>
        <p:spPr>
          <a:xfrm>
            <a:off x="1859280" y="3818719"/>
            <a:ext cx="802639" cy="741680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CCAEEAA-9FDC-1229-D031-F7A29A728B90}"/>
              </a:ext>
            </a:extLst>
          </p:cNvPr>
          <p:cNvSpPr/>
          <p:nvPr/>
        </p:nvSpPr>
        <p:spPr>
          <a:xfrm>
            <a:off x="3149599" y="3818719"/>
            <a:ext cx="670561" cy="741680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E6078A6-2C67-B09F-1182-250E66B11546}"/>
              </a:ext>
            </a:extLst>
          </p:cNvPr>
          <p:cNvSpPr/>
          <p:nvPr/>
        </p:nvSpPr>
        <p:spPr>
          <a:xfrm>
            <a:off x="3893421" y="3818719"/>
            <a:ext cx="556659" cy="741680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E9CF979-AF4F-DC51-9278-480C9D5F2DB4}"/>
              </a:ext>
            </a:extLst>
          </p:cNvPr>
          <p:cNvSpPr/>
          <p:nvPr/>
        </p:nvSpPr>
        <p:spPr>
          <a:xfrm>
            <a:off x="5033613" y="3818719"/>
            <a:ext cx="556659" cy="741680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EB7968-914F-F113-2EE5-484FB578B7B9}"/>
              </a:ext>
            </a:extLst>
          </p:cNvPr>
          <p:cNvSpPr txBox="1"/>
          <p:nvPr/>
        </p:nvSpPr>
        <p:spPr>
          <a:xfrm>
            <a:off x="2696762" y="2851533"/>
            <a:ext cx="22111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모두 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“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후보 식별자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”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이다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.</a:t>
            </a:r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A399DD7A-2DD3-84C8-6C70-9C7CF6E9A45F}"/>
              </a:ext>
            </a:extLst>
          </p:cNvPr>
          <p:cNvCxnSpPr>
            <a:cxnSpLocks/>
            <a:stCxn id="15" idx="0"/>
            <a:endCxn id="19" idx="2"/>
          </p:cNvCxnSpPr>
          <p:nvPr/>
        </p:nvCxnSpPr>
        <p:spPr>
          <a:xfrm rot="5400000" flipH="1" flipV="1">
            <a:off x="2701762" y="2718149"/>
            <a:ext cx="659409" cy="1541732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A8802366-3684-60AA-D2D0-9DC429814F4B}"/>
              </a:ext>
            </a:extLst>
          </p:cNvPr>
          <p:cNvCxnSpPr>
            <a:cxnSpLocks/>
            <a:stCxn id="16" idx="0"/>
            <a:endCxn id="19" idx="2"/>
          </p:cNvCxnSpPr>
          <p:nvPr/>
        </p:nvCxnSpPr>
        <p:spPr>
          <a:xfrm rot="5400000" flipH="1" flipV="1">
            <a:off x="3313902" y="3330289"/>
            <a:ext cx="659409" cy="317452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6A95EE26-6C2E-478C-DF22-E5A4029F8265}"/>
              </a:ext>
            </a:extLst>
          </p:cNvPr>
          <p:cNvCxnSpPr>
            <a:cxnSpLocks/>
            <a:stCxn id="17" idx="0"/>
            <a:endCxn id="19" idx="2"/>
          </p:cNvCxnSpPr>
          <p:nvPr/>
        </p:nvCxnSpPr>
        <p:spPr>
          <a:xfrm rot="16200000" flipV="1">
            <a:off x="3657338" y="3304305"/>
            <a:ext cx="659409" cy="369419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FD01F6C8-F4ED-CA44-3E24-79C2535E0E3C}"/>
              </a:ext>
            </a:extLst>
          </p:cNvPr>
          <p:cNvCxnSpPr>
            <a:cxnSpLocks/>
            <a:stCxn id="18" idx="0"/>
            <a:endCxn id="19" idx="2"/>
          </p:cNvCxnSpPr>
          <p:nvPr/>
        </p:nvCxnSpPr>
        <p:spPr>
          <a:xfrm rot="16200000" flipV="1">
            <a:off x="4227434" y="2734209"/>
            <a:ext cx="659409" cy="150961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9B1E7B5B-5617-64BD-A8A3-AD2B63FD0AE4}"/>
              </a:ext>
            </a:extLst>
          </p:cNvPr>
          <p:cNvSpPr/>
          <p:nvPr/>
        </p:nvSpPr>
        <p:spPr>
          <a:xfrm>
            <a:off x="2729507" y="3860525"/>
            <a:ext cx="328654" cy="699873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A9CB293-B825-C421-18BA-A12AB98DD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102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057392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1E2FE-FA50-29C3-EF27-0AB20453F15C}"/>
              </a:ext>
            </a:extLst>
          </p:cNvPr>
          <p:cNvSpPr txBox="1"/>
          <p:nvPr/>
        </p:nvSpPr>
        <p:spPr>
          <a:xfrm>
            <a:off x="866909" y="1496173"/>
            <a:ext cx="1132509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b="1" dirty="0">
                <a:latin typeface="+mn-ea"/>
              </a:rPr>
              <a:t>주 식별자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주 식별자</a:t>
            </a:r>
            <a:r>
              <a:rPr lang="en-US" altLang="ko-KR" b="1" u="sng" dirty="0">
                <a:solidFill>
                  <a:srgbClr val="FF0000"/>
                </a:solidFill>
                <a:latin typeface="+mn-ea"/>
              </a:rPr>
              <a:t>(Primary Identifier)</a:t>
            </a:r>
            <a:r>
              <a:rPr lang="ko-KR" altLang="en-US" sz="1600" b="1" dirty="0">
                <a:latin typeface="+mn-ea"/>
              </a:rPr>
              <a:t>는 </a:t>
            </a:r>
            <a:r>
              <a:rPr lang="ko-KR" altLang="en-US" sz="1600" b="1" dirty="0" err="1">
                <a:latin typeface="+mn-ea"/>
              </a:rPr>
              <a:t>엔터티에</a:t>
            </a:r>
            <a:r>
              <a:rPr lang="ko-KR" altLang="en-US" sz="1600" b="1" dirty="0">
                <a:latin typeface="+mn-ea"/>
              </a:rPr>
              <a:t> 하나만 존재하는 대표 식별자다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</a:rPr>
              <a:t>흔히 주 식별자와 주 키</a:t>
            </a:r>
            <a:r>
              <a:rPr lang="en-US" altLang="ko-KR" sz="1600" b="1" dirty="0">
                <a:latin typeface="+mn-ea"/>
              </a:rPr>
              <a:t>(Primary Key)</a:t>
            </a:r>
            <a:r>
              <a:rPr lang="ko-KR" altLang="en-US" sz="1600" b="1" dirty="0">
                <a:latin typeface="+mn-ea"/>
              </a:rPr>
              <a:t>라는 용어는 동일하게 사용한다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엄밀히 보면 같은 개념은 아니다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rgbClr val="FF0000"/>
                </a:solidFill>
                <a:latin typeface="+mn-ea"/>
              </a:rPr>
              <a:t>PK(Primary Key)</a:t>
            </a:r>
            <a:r>
              <a:rPr lang="ko-KR" altLang="en-US" sz="1600" b="1" dirty="0">
                <a:latin typeface="+mn-ea"/>
              </a:rPr>
              <a:t>는 테이블에 지정된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물리적인 제약</a:t>
            </a:r>
            <a:r>
              <a:rPr lang="ko-KR" altLang="en-US" sz="1600" b="1" dirty="0">
                <a:latin typeface="+mn-ea"/>
              </a:rPr>
              <a:t>을 의미한다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</a:rPr>
              <a:t>이에 반해 주 식별자는 논리적으로 인스턴스를 식별하는 기준을 의미한다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</a:rPr>
              <a:t>논리적인 주 식별자에 다른 속성을 추가해서 물리적인 </a:t>
            </a:r>
            <a:r>
              <a:rPr lang="en-US" altLang="ko-KR" sz="1600" b="1" dirty="0">
                <a:latin typeface="+mn-ea"/>
              </a:rPr>
              <a:t>PK</a:t>
            </a:r>
            <a:r>
              <a:rPr lang="ko-KR" altLang="en-US" sz="1600" b="1" dirty="0">
                <a:latin typeface="+mn-ea"/>
              </a:rPr>
              <a:t>를 생성할 수 있다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</a:rPr>
              <a:t>따라서 두 용어가 완전히 일치한다고 볼 수 없다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b="1" dirty="0">
                <a:latin typeface="+mn-ea"/>
              </a:rPr>
              <a:t>주 식별자를 선정하는 두가지 방법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600" b="1" dirty="0">
                <a:latin typeface="+mn-ea"/>
              </a:rPr>
              <a:t>하나 이상의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후보 식별자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중에서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대표</a:t>
            </a:r>
            <a:r>
              <a:rPr lang="ko-KR" altLang="en-US" sz="1600" b="1" dirty="0">
                <a:latin typeface="+mn-ea"/>
              </a:rPr>
              <a:t>를 지정해서 </a:t>
            </a:r>
            <a:r>
              <a:rPr lang="ko-KR" altLang="en-US" sz="1600" b="1" u="sng" dirty="0">
                <a:latin typeface="+mn-ea"/>
              </a:rPr>
              <a:t>주 식별자로 사용</a:t>
            </a:r>
            <a:r>
              <a:rPr lang="ko-KR" altLang="en-US" sz="1600" b="1" dirty="0">
                <a:latin typeface="+mn-ea"/>
              </a:rPr>
              <a:t>하는 방법</a:t>
            </a: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600" b="1" dirty="0">
                <a:latin typeface="+mn-ea"/>
              </a:rPr>
              <a:t>적당한 후보 식별자가 없다면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인조 식별자</a:t>
            </a:r>
            <a:r>
              <a:rPr lang="ko-KR" altLang="en-US" sz="1600" b="1" dirty="0">
                <a:latin typeface="+mn-ea"/>
              </a:rPr>
              <a:t>를 만들어 </a:t>
            </a:r>
            <a:r>
              <a:rPr lang="ko-KR" altLang="en-US" sz="1600" b="1" u="sng" dirty="0">
                <a:latin typeface="+mn-ea"/>
              </a:rPr>
              <a:t>주 식별자로 사용</a:t>
            </a:r>
            <a:r>
              <a:rPr lang="ko-KR" altLang="en-US" sz="1600" b="1" dirty="0">
                <a:latin typeface="+mn-ea"/>
              </a:rPr>
              <a:t>하는 방법</a:t>
            </a:r>
            <a:endParaRPr lang="en-US" altLang="ko-KR" sz="1600" b="1" dirty="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E1BEC0-5040-129E-6648-873FBB1F2920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식별자</a:t>
            </a:r>
            <a:r>
              <a:rPr lang="en-US" altLang="ko-KR" sz="2400" b="1" dirty="0">
                <a:latin typeface="+mn-ea"/>
              </a:rPr>
              <a:t>(Key) </a:t>
            </a:r>
            <a:r>
              <a:rPr lang="ko-KR" altLang="en-US" sz="2400" b="1" dirty="0">
                <a:latin typeface="+mn-ea"/>
              </a:rPr>
              <a:t>속성과 비식별자</a:t>
            </a:r>
            <a:r>
              <a:rPr lang="en-US" altLang="ko-KR" sz="2400" b="1" dirty="0">
                <a:latin typeface="+mn-ea"/>
              </a:rPr>
              <a:t>(Non-Key) </a:t>
            </a:r>
            <a:r>
              <a:rPr lang="ko-KR" altLang="en-US" sz="2400" b="1" dirty="0">
                <a:latin typeface="+mn-ea"/>
              </a:rPr>
              <a:t>속성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943D5A0-C1C7-6681-C9EE-D3DB6E2E5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103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224887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1E2FE-FA50-29C3-EF27-0AB20453F15C}"/>
              </a:ext>
            </a:extLst>
          </p:cNvPr>
          <p:cNvSpPr txBox="1"/>
          <p:nvPr/>
        </p:nvSpPr>
        <p:spPr>
          <a:xfrm>
            <a:off x="866909" y="1496173"/>
            <a:ext cx="11325091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 err="1">
                <a:latin typeface="+mn-ea"/>
              </a:rPr>
              <a:t>엔터티에는</a:t>
            </a:r>
            <a:r>
              <a:rPr lang="ko-KR" altLang="en-US" sz="1600" b="1" dirty="0">
                <a:latin typeface="+mn-ea"/>
              </a:rPr>
              <a:t> 주 식별자가 반드시 존재해야 한다</a:t>
            </a:r>
            <a:r>
              <a:rPr lang="en-US" altLang="ko-KR" sz="1600" b="1" dirty="0">
                <a:latin typeface="+mn-ea"/>
              </a:rPr>
              <a:t>.</a:t>
            </a:r>
            <a:r>
              <a:rPr lang="ko-KR" altLang="en-US" sz="1600" b="1" dirty="0">
                <a:latin typeface="+mn-ea"/>
              </a:rPr>
              <a:t> </a:t>
            </a: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주 식별자는 하나만 존재해야 한다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주 식별자는 정규화의 기준이 되는 속성이기도 하다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주 식별자는 </a:t>
            </a:r>
            <a:r>
              <a:rPr lang="ko-KR" altLang="en-US" sz="1600" b="1" dirty="0" err="1">
                <a:latin typeface="+mn-ea"/>
              </a:rPr>
              <a:t>엔터티의</a:t>
            </a:r>
            <a:r>
              <a:rPr lang="ko-KR" altLang="en-US" sz="1600" b="1" dirty="0">
                <a:latin typeface="+mn-ea"/>
              </a:rPr>
              <a:t> 성격 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>
                <a:latin typeface="+mn-ea"/>
              </a:rPr>
              <a:t>정체성</a:t>
            </a:r>
            <a:r>
              <a:rPr lang="en-US" altLang="ko-KR" sz="1600" b="1" dirty="0">
                <a:latin typeface="+mn-ea"/>
              </a:rPr>
              <a:t>)</a:t>
            </a:r>
            <a:r>
              <a:rPr lang="ko-KR" altLang="en-US" sz="1600" b="1" dirty="0">
                <a:latin typeface="+mn-ea"/>
              </a:rPr>
              <a:t>을 대변할 수 있는 기초 속성이므로 가장 중요한 요소 중 하나다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시간이 부족할 때 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엔터티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 명</a:t>
            </a:r>
            <a:r>
              <a:rPr lang="ko-KR" altLang="en-US" sz="1600" dirty="0">
                <a:latin typeface="+mn-ea"/>
              </a:rPr>
              <a:t>과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주 식별자</a:t>
            </a:r>
            <a:r>
              <a:rPr lang="ko-KR" altLang="en-US" sz="1600" b="1" u="sng" dirty="0">
                <a:latin typeface="+mn-ea"/>
              </a:rPr>
              <a:t>만 바로 잡아도</a:t>
            </a:r>
            <a:r>
              <a:rPr lang="ko-KR" altLang="en-US" sz="1600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모델이 깔끔</a:t>
            </a:r>
            <a:r>
              <a:rPr lang="ko-KR" altLang="en-US" sz="1600" dirty="0">
                <a:latin typeface="+mn-ea"/>
              </a:rPr>
              <a:t>해 질 때가 있다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40851F-2053-2F94-2DBC-742FFADE2220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주 식별자의 특성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F8087E-DC62-35FE-7735-16F2E4662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104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911172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1E2FE-FA50-29C3-EF27-0AB20453F15C}"/>
              </a:ext>
            </a:extLst>
          </p:cNvPr>
          <p:cNvSpPr txBox="1"/>
          <p:nvPr/>
        </p:nvSpPr>
        <p:spPr>
          <a:xfrm>
            <a:off x="866909" y="1496173"/>
            <a:ext cx="11325091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 err="1">
                <a:latin typeface="+mn-ea"/>
              </a:rPr>
              <a:t>엔터티</a:t>
            </a:r>
            <a:r>
              <a:rPr lang="ko-KR" altLang="en-US" sz="1600" b="1" dirty="0">
                <a:latin typeface="+mn-ea"/>
              </a:rPr>
              <a:t> 정의가 불명확할 때</a:t>
            </a:r>
            <a:endParaRPr lang="en-US" altLang="ko-KR" sz="1600" b="1" dirty="0">
              <a:latin typeface="+mn-ea"/>
            </a:endParaRPr>
          </a:p>
          <a:p>
            <a:pPr lvl="2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 err="1">
                <a:latin typeface="+mn-ea"/>
              </a:rPr>
              <a:t>엔터티</a:t>
            </a:r>
            <a:r>
              <a:rPr lang="ko-KR" altLang="en-US" sz="1400" dirty="0">
                <a:latin typeface="+mn-ea"/>
              </a:rPr>
              <a:t> 정의가 명확하지 않기 때문이다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정의가 분명하지 않으면 나중에 </a:t>
            </a:r>
            <a:r>
              <a:rPr lang="ko-KR" altLang="en-US" sz="1400" dirty="0" err="1">
                <a:latin typeface="+mn-ea"/>
              </a:rPr>
              <a:t>엔터티를</a:t>
            </a:r>
            <a:r>
              <a:rPr lang="ko-KR" altLang="en-US" sz="1400" dirty="0">
                <a:latin typeface="+mn-ea"/>
              </a:rPr>
              <a:t> 사용할 때 임의대로 사용 할 수 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lvl="2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b="1" u="sng" dirty="0" err="1">
                <a:solidFill>
                  <a:srgbClr val="FF0000"/>
                </a:solidFill>
                <a:latin typeface="+mn-ea"/>
              </a:rPr>
              <a:t>엔터티를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 명확하게 정의하는 것</a:t>
            </a:r>
            <a:r>
              <a:rPr lang="ko-KR" altLang="en-US" sz="1400" dirty="0">
                <a:latin typeface="+mn-ea"/>
              </a:rPr>
              <a:t>은 업무 식별자나 주식별자와 연관돼 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이를 명확하게 하면 </a:t>
            </a:r>
            <a:r>
              <a:rPr lang="ko-KR" altLang="en-US" sz="1400" dirty="0" err="1">
                <a:latin typeface="+mn-ea"/>
              </a:rPr>
              <a:t>엔터티는</a:t>
            </a:r>
            <a:r>
              <a:rPr lang="ko-KR" altLang="en-US" sz="1400" dirty="0">
                <a:latin typeface="+mn-ea"/>
              </a:rPr>
              <a:t> 대체로 명확해 진다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ko-KR" altLang="en-US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데이터 분석이 미흡할 때</a:t>
            </a:r>
            <a:endParaRPr lang="en-US" altLang="ko-KR" sz="1600" b="1" dirty="0">
              <a:latin typeface="+mn-ea"/>
            </a:endParaRPr>
          </a:p>
          <a:p>
            <a:pPr lvl="2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데이터를 정확하게 분석하지 않았거나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예외 업무에 대한 고려가 미흡한 때도 주 식별 자가 변경될 수 있다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lvl="2"/>
            <a:r>
              <a:rPr lang="en-US" altLang="ko-KR" sz="1400" dirty="0">
                <a:latin typeface="+mn-ea"/>
              </a:rPr>
              <a:t>-</a:t>
            </a:r>
            <a:r>
              <a:rPr lang="en-US" altLang="ko-KR" sz="1400" b="1" dirty="0">
                <a:latin typeface="+mn-ea"/>
              </a:rPr>
              <a:t>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정확한 분석을 통해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명확한 </a:t>
            </a:r>
            <a:r>
              <a:rPr lang="ko-KR" altLang="en-US" sz="1400" b="1" u="sng" dirty="0" err="1">
                <a:solidFill>
                  <a:srgbClr val="FF0000"/>
                </a:solidFill>
                <a:latin typeface="+mn-ea"/>
              </a:rPr>
              <a:t>엔터티를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 정의</a:t>
            </a:r>
            <a:r>
              <a:rPr lang="ko-KR" altLang="en-US" sz="1400" dirty="0">
                <a:latin typeface="+mn-ea"/>
              </a:rPr>
              <a:t>하면 주 식별자가 변경되는 것을 어느 정도 막을 수 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ko-KR" altLang="en-US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이력 데이터를 고려하지 않았을 때</a:t>
            </a:r>
            <a:endParaRPr lang="en-US" altLang="ko-KR" sz="1600" b="1" dirty="0">
              <a:latin typeface="+mn-ea"/>
            </a:endParaRPr>
          </a:p>
          <a:p>
            <a:pPr lvl="2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이력 등의 시간 개념을 고려하지 않아서 주 식별자가 변경되는 일도 빈번하게 발생한다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lvl="2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주 식별자가 변경되지 않도록 원천 데이터를 설계할 때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이력 데이터를 고려</a:t>
            </a:r>
            <a:r>
              <a:rPr lang="ko-KR" altLang="en-US" sz="1400" dirty="0">
                <a:latin typeface="+mn-ea"/>
              </a:rPr>
              <a:t>해야 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ko-KR" altLang="en-US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업무가 변경될 때</a:t>
            </a:r>
            <a:endParaRPr lang="en-US" altLang="ko-KR" sz="1600" b="1" dirty="0">
              <a:latin typeface="+mn-ea"/>
            </a:endParaRPr>
          </a:p>
          <a:p>
            <a:pPr lvl="2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업무가 바뀜으로 인해서 주 식별자가 변경되는 것은 어쩔 수 없는 일이다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lvl="2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프로젝트 시작 전이나 분석 단계 등 초반 생각과 프로젝트가 한참 진척되고 나서의 담당자의 생각이 변하는 일은 자주 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lvl="2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b="1" u="sng" dirty="0" err="1">
                <a:solidFill>
                  <a:srgbClr val="FF0000"/>
                </a:solidFill>
                <a:latin typeface="+mn-ea"/>
              </a:rPr>
              <a:t>엔터티를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 유연하게 설계</a:t>
            </a:r>
            <a:r>
              <a:rPr lang="ko-KR" altLang="en-US" sz="1400" dirty="0">
                <a:latin typeface="+mn-ea"/>
              </a:rPr>
              <a:t>하는 방법 중 하나가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인조 식별자를 채택</a:t>
            </a:r>
            <a:r>
              <a:rPr lang="ko-KR" altLang="en-US" sz="1400" dirty="0">
                <a:latin typeface="+mn-ea"/>
              </a:rPr>
              <a:t>하는 것이다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lvl="2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주 식별자가 바뀔 수 있다고 생각되면 인조 식별자를 사용하여 영향을 최소화 해야 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50EAB-870F-76B9-8D89-B6D07B599CA8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주 식별자가 바뀌는 현상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44F6A02-1D27-6298-7097-EB7D434AA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105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451837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1E2FE-FA50-29C3-EF27-0AB20453F15C}"/>
              </a:ext>
            </a:extLst>
          </p:cNvPr>
          <p:cNvSpPr txBox="1"/>
          <p:nvPr/>
        </p:nvSpPr>
        <p:spPr>
          <a:xfrm>
            <a:off x="866909" y="1496173"/>
            <a:ext cx="1132509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20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2000" b="1" u="sng" dirty="0">
                <a:solidFill>
                  <a:srgbClr val="FF0000"/>
                </a:solidFill>
                <a:latin typeface="+mn-ea"/>
              </a:rPr>
              <a:t>업무 식별자</a:t>
            </a:r>
            <a:r>
              <a:rPr lang="ko-KR" altLang="en-US" sz="2000" b="1" dirty="0">
                <a:latin typeface="+mn-ea"/>
              </a:rPr>
              <a:t>가 주 식별자가 될 수도 있고</a:t>
            </a:r>
            <a:r>
              <a:rPr lang="en-US" altLang="ko-KR" sz="2000" b="1" dirty="0">
                <a:latin typeface="+mn-ea"/>
              </a:rPr>
              <a:t>,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20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2000" b="1" u="sng" dirty="0">
                <a:solidFill>
                  <a:srgbClr val="FF0000"/>
                </a:solidFill>
                <a:latin typeface="+mn-ea"/>
              </a:rPr>
              <a:t>후보 식별자</a:t>
            </a:r>
            <a:r>
              <a:rPr lang="ko-KR" altLang="en-US" sz="2000" b="1" dirty="0">
                <a:latin typeface="+mn-ea"/>
              </a:rPr>
              <a:t>가 주 식별자가 될 수도 있고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업무</a:t>
            </a:r>
            <a:r>
              <a:rPr lang="en-US" altLang="ko-KR" sz="2000" b="1" dirty="0">
                <a:latin typeface="+mn-ea"/>
              </a:rPr>
              <a:t>•</a:t>
            </a:r>
            <a:r>
              <a:rPr lang="ko-KR" altLang="en-US" sz="2000" b="1" dirty="0">
                <a:latin typeface="+mn-ea"/>
              </a:rPr>
              <a:t>후보 식별자가 주 식별자로 부적절하면 </a:t>
            </a:r>
            <a:endParaRPr lang="en-US" altLang="ko-KR" sz="20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20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2000" b="1" u="sng" dirty="0">
                <a:solidFill>
                  <a:srgbClr val="FF0000"/>
                </a:solidFill>
                <a:latin typeface="+mn-ea"/>
              </a:rPr>
              <a:t>인조 식별자</a:t>
            </a:r>
            <a:r>
              <a:rPr lang="ko-KR" altLang="en-US" sz="2000" b="1" dirty="0">
                <a:latin typeface="+mn-ea"/>
              </a:rPr>
              <a:t>가 주 식별자가 된다</a:t>
            </a:r>
            <a:r>
              <a:rPr lang="en-US" altLang="ko-KR" sz="2000" b="1" dirty="0">
                <a:latin typeface="+mn-ea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61A417-CBD4-82CE-0D66-0D58333EA154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어떤 속성을 주 식별자로 선택해야 하는가</a:t>
            </a:r>
            <a:r>
              <a:rPr lang="en-US" altLang="ko-KR" sz="2400" b="1" dirty="0">
                <a:latin typeface="+mn-ea"/>
              </a:rPr>
              <a:t>?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0A1ED1-DEC4-18FA-2365-3BD3D1A17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106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097289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1E2FE-FA50-29C3-EF27-0AB20453F15C}"/>
              </a:ext>
            </a:extLst>
          </p:cNvPr>
          <p:cNvSpPr txBox="1"/>
          <p:nvPr/>
        </p:nvSpPr>
        <p:spPr>
          <a:xfrm>
            <a:off x="866909" y="1496173"/>
            <a:ext cx="11325091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ea"/>
              <a:buAutoNum type="circleNumDbPlain"/>
            </a:pPr>
            <a:r>
              <a:rPr lang="ko-KR" altLang="en-US" sz="2000" b="1" dirty="0">
                <a:latin typeface="+mn-ea"/>
              </a:rPr>
              <a:t>주 식별자 </a:t>
            </a:r>
            <a:r>
              <a:rPr lang="ko-KR" altLang="en-US" sz="2000" b="1" u="sng" dirty="0">
                <a:latin typeface="+mn-ea"/>
              </a:rPr>
              <a:t>속성의 값이 변경되지 않도록</a:t>
            </a:r>
            <a:r>
              <a:rPr lang="ko-KR" altLang="en-US" sz="2000" b="1" dirty="0">
                <a:latin typeface="+mn-ea"/>
              </a:rPr>
              <a:t> 선정</a:t>
            </a:r>
            <a:endParaRPr lang="en-US" altLang="ko-KR" sz="2000" b="1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2000" b="1" u="sng" dirty="0">
                <a:latin typeface="+mn-ea"/>
              </a:rPr>
              <a:t>일반 속성에 종속되지 않도록</a:t>
            </a:r>
            <a:r>
              <a:rPr lang="ko-KR" altLang="en-US" sz="2000" b="1" dirty="0">
                <a:latin typeface="+mn-ea"/>
              </a:rPr>
              <a:t> 선정</a:t>
            </a:r>
            <a:endParaRPr lang="en-US" altLang="ko-KR" sz="2000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2000" b="1" u="sng" dirty="0">
                <a:latin typeface="+mn-ea"/>
              </a:rPr>
              <a:t>인조 식별자에는 의미를 부여하지 않도록</a:t>
            </a:r>
            <a:r>
              <a:rPr lang="ko-KR" altLang="en-US" sz="2000" b="1" dirty="0">
                <a:latin typeface="+mn-ea"/>
              </a:rPr>
              <a:t> 선정</a:t>
            </a:r>
            <a:endParaRPr lang="en-US" altLang="ko-KR" sz="2000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2000" b="1" dirty="0">
                <a:latin typeface="+mn-ea"/>
              </a:rPr>
              <a:t>주 식별자 속성에 </a:t>
            </a:r>
            <a:r>
              <a:rPr lang="ko-KR" altLang="en-US" sz="2000" b="1" u="sng" dirty="0">
                <a:latin typeface="+mn-ea"/>
              </a:rPr>
              <a:t>논리적으로 널 값이 존재하지 않도록</a:t>
            </a:r>
            <a:r>
              <a:rPr lang="ko-KR" altLang="en-US" sz="2000" b="1" dirty="0">
                <a:latin typeface="+mn-ea"/>
              </a:rPr>
              <a:t> 선정</a:t>
            </a:r>
            <a:endParaRPr lang="en-US" altLang="ko-KR" sz="2000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2000" b="1" u="sng" dirty="0">
                <a:latin typeface="+mn-ea"/>
              </a:rPr>
              <a:t>최소한의 속성이 포함되도록</a:t>
            </a:r>
            <a:r>
              <a:rPr lang="ko-KR" altLang="en-US" sz="2000" b="1" dirty="0">
                <a:latin typeface="+mn-ea"/>
              </a:rPr>
              <a:t> 선정</a:t>
            </a:r>
            <a:endParaRPr lang="en-US" altLang="ko-KR" sz="2000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2000" b="1" u="sng" dirty="0">
                <a:latin typeface="+mn-ea"/>
              </a:rPr>
              <a:t>업무적으로 활용도가 높은 속성</a:t>
            </a:r>
            <a:r>
              <a:rPr lang="ko-KR" altLang="en-US" sz="2000" b="1" dirty="0">
                <a:latin typeface="+mn-ea"/>
              </a:rPr>
              <a:t>으로 선정</a:t>
            </a:r>
            <a:endParaRPr lang="en-US" altLang="ko-KR" sz="2000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2000" b="1" u="sng" dirty="0">
                <a:latin typeface="+mn-ea"/>
              </a:rPr>
              <a:t>업무 식별자와 인조 식별자가 혼합되지 않도록</a:t>
            </a:r>
            <a:r>
              <a:rPr lang="ko-KR" altLang="en-US" sz="2000" b="1" dirty="0">
                <a:latin typeface="+mn-ea"/>
              </a:rPr>
              <a:t> 선정</a:t>
            </a:r>
            <a:endParaRPr lang="en-US" altLang="ko-KR" sz="2000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2000" b="1" u="sng" dirty="0">
                <a:latin typeface="+mn-ea"/>
              </a:rPr>
              <a:t>슈퍼 식별자가 되지 않도록</a:t>
            </a:r>
            <a:r>
              <a:rPr lang="ko-KR" altLang="en-US" sz="2000" b="1" dirty="0">
                <a:latin typeface="+mn-ea"/>
              </a:rPr>
              <a:t> 선정</a:t>
            </a:r>
            <a:endParaRPr lang="en-US" altLang="ko-KR" sz="2000" b="1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2000" b="1" u="sng" dirty="0">
                <a:latin typeface="+mn-ea"/>
              </a:rPr>
              <a:t>최소 길이가 되도록</a:t>
            </a:r>
            <a:r>
              <a:rPr lang="ko-KR" altLang="en-US" sz="2000" b="1" dirty="0">
                <a:latin typeface="+mn-ea"/>
              </a:rPr>
              <a:t> 선정</a:t>
            </a:r>
            <a:endParaRPr lang="en-US" altLang="ko-KR" sz="2000" b="1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2000" b="1" dirty="0">
                <a:latin typeface="+mn-ea"/>
              </a:rPr>
              <a:t>주 식별자 속성 값은 </a:t>
            </a:r>
            <a:r>
              <a:rPr lang="ko-KR" altLang="en-US" sz="2000" b="1" u="sng" dirty="0">
                <a:latin typeface="+mn-ea"/>
              </a:rPr>
              <a:t>가능한 고정 길이가 되도록</a:t>
            </a:r>
            <a:r>
              <a:rPr lang="ko-KR" altLang="en-US" sz="2000" b="1" dirty="0">
                <a:latin typeface="+mn-ea"/>
              </a:rPr>
              <a:t> 선정</a:t>
            </a:r>
            <a:endParaRPr lang="en-US" altLang="ko-KR" sz="2000" b="1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2000" b="1" dirty="0">
                <a:latin typeface="+mn-ea"/>
              </a:rPr>
              <a:t>주 식별자속성은 </a:t>
            </a:r>
            <a:r>
              <a:rPr lang="ko-KR" altLang="en-US" sz="2000" b="1" u="sng" dirty="0">
                <a:latin typeface="+mn-ea"/>
              </a:rPr>
              <a:t>전사에서 한 번만 사용되도록</a:t>
            </a:r>
            <a:r>
              <a:rPr lang="ko-KR" altLang="en-US" sz="2000" b="1" dirty="0">
                <a:latin typeface="+mn-ea"/>
              </a:rPr>
              <a:t> 선정</a:t>
            </a:r>
            <a:endParaRPr lang="en-US" altLang="ko-KR" sz="2000" b="1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2000" b="1" u="sng" dirty="0">
                <a:latin typeface="+mn-ea"/>
              </a:rPr>
              <a:t>암호화 대상 속성이 포함되지 않도록</a:t>
            </a:r>
            <a:r>
              <a:rPr lang="ko-KR" altLang="en-US" sz="2000" b="1" dirty="0">
                <a:latin typeface="+mn-ea"/>
              </a:rPr>
              <a:t> 선정</a:t>
            </a:r>
            <a:endParaRPr lang="en-US" altLang="ko-KR" sz="2000" b="1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2000" b="1" u="sng" dirty="0">
                <a:latin typeface="+mn-ea"/>
              </a:rPr>
              <a:t>업무를 대표할 수 있는 속성</a:t>
            </a:r>
            <a:r>
              <a:rPr lang="ko-KR" altLang="en-US" sz="2000" b="1" dirty="0">
                <a:latin typeface="+mn-ea"/>
              </a:rPr>
              <a:t>으로 선정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463BC0-7DD6-10D2-763F-27C13A313FBD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어떤 속성을 주 식별자로 선택해야 하는가</a:t>
            </a:r>
            <a:r>
              <a:rPr lang="en-US" altLang="ko-KR" sz="2400" b="1" dirty="0">
                <a:latin typeface="+mn-ea"/>
              </a:rPr>
              <a:t>?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B210F4-9272-B447-159D-629D066C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107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459294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1E2FE-FA50-29C3-EF27-0AB20453F15C}"/>
              </a:ext>
            </a:extLst>
          </p:cNvPr>
          <p:cNvSpPr txBox="1"/>
          <p:nvPr/>
        </p:nvSpPr>
        <p:spPr>
          <a:xfrm>
            <a:off x="866909" y="1496173"/>
            <a:ext cx="113250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주 식별자를 구성하는 속성의 수는 가능한 적을수록 좋다</a:t>
            </a:r>
            <a:r>
              <a:rPr lang="en-US" altLang="ko-KR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업무 식별자를 주 식별자로 채택하는 것이 바람직하지만</a:t>
            </a:r>
            <a:r>
              <a:rPr lang="en-US" altLang="ko-KR" b="1" dirty="0">
                <a:latin typeface="+mn-ea"/>
              </a:rPr>
              <a:t>,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업무 식별자를 구성하는 속성의 개수가 많고 해당 </a:t>
            </a:r>
            <a:r>
              <a:rPr lang="ko-KR" altLang="en-US" b="1" dirty="0" err="1">
                <a:latin typeface="+mn-ea"/>
              </a:rPr>
              <a:t>엔터티가</a:t>
            </a:r>
            <a:r>
              <a:rPr lang="ko-KR" altLang="en-US" b="1" dirty="0">
                <a:latin typeface="+mn-ea"/>
              </a:rPr>
              <a:t> 비교적 상위</a:t>
            </a:r>
            <a:r>
              <a:rPr lang="en-US" altLang="ko-KR" b="1" dirty="0">
                <a:latin typeface="+mn-ea"/>
              </a:rPr>
              <a:t>(</a:t>
            </a:r>
            <a:r>
              <a:rPr lang="ko-KR" altLang="en-US" b="1" dirty="0">
                <a:latin typeface="+mn-ea"/>
              </a:rPr>
              <a:t>부모</a:t>
            </a:r>
            <a:r>
              <a:rPr lang="en-US" altLang="ko-KR" b="1" dirty="0">
                <a:latin typeface="+mn-ea"/>
              </a:rPr>
              <a:t>) </a:t>
            </a:r>
            <a:r>
              <a:rPr lang="ko-KR" altLang="en-US" b="1" dirty="0" err="1">
                <a:latin typeface="+mn-ea"/>
              </a:rPr>
              <a:t>엔터티라면</a:t>
            </a:r>
            <a:r>
              <a:rPr lang="ko-KR" altLang="en-US" b="1" dirty="0">
                <a:latin typeface="+mn-ea"/>
              </a:rPr>
              <a:t> </a:t>
            </a:r>
            <a:endParaRPr lang="en-US" altLang="ko-KR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하위</a:t>
            </a:r>
            <a:r>
              <a:rPr lang="en-US" altLang="ko-KR" b="1" dirty="0">
                <a:latin typeface="+mn-ea"/>
              </a:rPr>
              <a:t>(</a:t>
            </a:r>
            <a:r>
              <a:rPr lang="ko-KR" altLang="en-US" b="1" dirty="0">
                <a:latin typeface="+mn-ea"/>
              </a:rPr>
              <a:t>자식</a:t>
            </a:r>
            <a:r>
              <a:rPr lang="en-US" altLang="ko-KR" b="1" dirty="0">
                <a:latin typeface="+mn-ea"/>
              </a:rPr>
              <a:t>) </a:t>
            </a:r>
            <a:r>
              <a:rPr lang="ko-KR" altLang="en-US" b="1" dirty="0" err="1">
                <a:latin typeface="+mn-ea"/>
              </a:rPr>
              <a:t>엔터티를</a:t>
            </a:r>
            <a:r>
              <a:rPr lang="ko-KR" altLang="en-US" b="1" dirty="0">
                <a:latin typeface="+mn-ea"/>
              </a:rPr>
              <a:t> 고려해 주 식별자를 간략하게 만들어야 한다</a:t>
            </a:r>
            <a:r>
              <a:rPr lang="en-US" altLang="ko-KR" b="1" dirty="0">
                <a:latin typeface="+mn-ea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4231322-FE29-A615-59ED-0C02C239E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328" y="2934630"/>
            <a:ext cx="3238952" cy="174331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CCC93C4-AA3E-4BA0-FF69-813BF505B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725" y="3158499"/>
            <a:ext cx="2991267" cy="1295581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1D484E80-1B49-5641-862D-746472FE0EC5}"/>
              </a:ext>
            </a:extLst>
          </p:cNvPr>
          <p:cNvCxnSpPr>
            <a:cxnSpLocks/>
            <a:stCxn id="7" idx="3"/>
            <a:endCxn id="14" idx="1"/>
          </p:cNvCxnSpPr>
          <p:nvPr/>
        </p:nvCxnSpPr>
        <p:spPr>
          <a:xfrm>
            <a:off x="4653280" y="3806289"/>
            <a:ext cx="416560" cy="17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61561DC-AEBE-65EB-B857-A2F2154F521C}"/>
              </a:ext>
            </a:extLst>
          </p:cNvPr>
          <p:cNvSpPr txBox="1"/>
          <p:nvPr/>
        </p:nvSpPr>
        <p:spPr>
          <a:xfrm>
            <a:off x="5069840" y="3392577"/>
            <a:ext cx="2052320" cy="83099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ko-KR" altLang="en-US" sz="1200" dirty="0"/>
              <a:t>계좌번호 단독 속성으로 </a:t>
            </a:r>
            <a:endParaRPr lang="en-US" altLang="ko-KR" sz="1200" dirty="0"/>
          </a:p>
          <a:p>
            <a:pPr algn="ctr"/>
            <a:r>
              <a:rPr lang="ko-KR" altLang="en-US" sz="1200" dirty="0"/>
              <a:t>주 식별자를 사용하면 </a:t>
            </a:r>
            <a:endParaRPr lang="en-US" altLang="ko-KR" sz="1200" dirty="0"/>
          </a:p>
          <a:p>
            <a:pPr algn="ctr"/>
            <a:r>
              <a:rPr lang="ko-KR" altLang="en-US" sz="1200" dirty="0"/>
              <a:t>하위 </a:t>
            </a:r>
            <a:r>
              <a:rPr lang="ko-KR" altLang="en-US" sz="1200" dirty="0" err="1"/>
              <a:t>엔터티의</a:t>
            </a:r>
            <a:r>
              <a:rPr lang="ko-KR" altLang="en-US" sz="1200" dirty="0"/>
              <a:t> 관계 속성이 </a:t>
            </a:r>
            <a:endParaRPr lang="en-US" altLang="ko-KR" sz="1200" dirty="0"/>
          </a:p>
          <a:p>
            <a:pPr algn="ctr"/>
            <a:r>
              <a:rPr lang="ko-KR" altLang="en-US" sz="1200" dirty="0"/>
              <a:t>단순</a:t>
            </a:r>
            <a:r>
              <a:rPr lang="en-US" altLang="ko-KR" sz="1200" dirty="0"/>
              <a:t>,</a:t>
            </a:r>
            <a:r>
              <a:rPr lang="ko-KR" altLang="en-US" sz="1200" dirty="0"/>
              <a:t> 명확해 진다.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3CC97077-0B6A-B7FB-0892-4C64A3E1799B}"/>
              </a:ext>
            </a:extLst>
          </p:cNvPr>
          <p:cNvCxnSpPr>
            <a:cxnSpLocks/>
            <a:stCxn id="14" idx="3"/>
            <a:endCxn id="9" idx="1"/>
          </p:cNvCxnSpPr>
          <p:nvPr/>
        </p:nvCxnSpPr>
        <p:spPr>
          <a:xfrm flipV="1">
            <a:off x="7122160" y="3806290"/>
            <a:ext cx="430565" cy="17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5DE3E34B-24A6-5FCD-0A0E-1E8DCDBD1BC6}"/>
              </a:ext>
            </a:extLst>
          </p:cNvPr>
          <p:cNvSpPr/>
          <p:nvPr/>
        </p:nvSpPr>
        <p:spPr>
          <a:xfrm>
            <a:off x="1649228" y="3309163"/>
            <a:ext cx="829811" cy="433188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AECA2AD-FBDB-AA5B-ADAE-8EDD8F4FD9C6}"/>
              </a:ext>
            </a:extLst>
          </p:cNvPr>
          <p:cNvSpPr/>
          <p:nvPr/>
        </p:nvSpPr>
        <p:spPr>
          <a:xfrm>
            <a:off x="3230880" y="3474956"/>
            <a:ext cx="1259840" cy="925141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CA742D6-97FF-42D9-BA8C-94A6EFA7EA23}"/>
              </a:ext>
            </a:extLst>
          </p:cNvPr>
          <p:cNvSpPr/>
          <p:nvPr/>
        </p:nvSpPr>
        <p:spPr>
          <a:xfrm>
            <a:off x="7780220" y="3376591"/>
            <a:ext cx="683060" cy="209026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3C98C5C-B25B-7CD4-75CA-3C0B4DB451A1}"/>
              </a:ext>
            </a:extLst>
          </p:cNvPr>
          <p:cNvSpPr/>
          <p:nvPr/>
        </p:nvSpPr>
        <p:spPr>
          <a:xfrm>
            <a:off x="9324540" y="3781635"/>
            <a:ext cx="1089460" cy="346796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C81179-0CA8-AEA7-B22A-6EC373E4CF56}"/>
              </a:ext>
            </a:extLst>
          </p:cNvPr>
          <p:cNvSpPr txBox="1"/>
          <p:nvPr/>
        </p:nvSpPr>
        <p:spPr>
          <a:xfrm>
            <a:off x="506555" y="992702"/>
            <a:ext cx="106398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000" b="1" dirty="0">
                <a:latin typeface="+mn-ea"/>
              </a:rPr>
              <a:t> 주 식별자를 단순하게 설계해야 하는 이유</a:t>
            </a:r>
            <a:endParaRPr lang="en-US" altLang="ko-KR" sz="2000" b="1" dirty="0">
              <a:latin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4A3A01D-546D-CD86-9379-2FC1A5351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108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276350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1E2FE-FA50-29C3-EF27-0AB20453F15C}"/>
              </a:ext>
            </a:extLst>
          </p:cNvPr>
          <p:cNvSpPr txBox="1"/>
          <p:nvPr/>
        </p:nvSpPr>
        <p:spPr>
          <a:xfrm>
            <a:off x="866909" y="1496173"/>
            <a:ext cx="1132509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2000" b="1" dirty="0">
                <a:latin typeface="+mn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n-ea"/>
              </a:rPr>
              <a:t>[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</a:rPr>
              <a:t>최우선</a:t>
            </a:r>
            <a:r>
              <a:rPr lang="en-US" altLang="ko-KR" sz="2000" b="1" dirty="0">
                <a:solidFill>
                  <a:srgbClr val="FF0000"/>
                </a:solidFill>
                <a:latin typeface="+mn-ea"/>
              </a:rPr>
              <a:t>] 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</a:rPr>
              <a:t>업무 식별자</a:t>
            </a:r>
            <a:r>
              <a:rPr lang="ko-KR" altLang="en-US" sz="2000" b="1" dirty="0">
                <a:latin typeface="+mn-ea"/>
              </a:rPr>
              <a:t>를 주 식별자로 채택하는 것을 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</a:rPr>
              <a:t>최우선</a:t>
            </a:r>
            <a:r>
              <a:rPr lang="ko-KR" altLang="en-US" sz="2000" b="1" dirty="0">
                <a:latin typeface="+mn-ea"/>
              </a:rPr>
              <a:t> 고려</a:t>
            </a:r>
            <a:r>
              <a:rPr lang="en-US" altLang="ko-KR" sz="2000" b="1" dirty="0">
                <a:latin typeface="+mn-ea"/>
              </a:rPr>
              <a:t>,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2000" b="1" dirty="0">
                <a:latin typeface="+mn-ea"/>
              </a:rPr>
              <a:t> </a:t>
            </a:r>
            <a:r>
              <a:rPr lang="en-US" altLang="ko-KR" sz="2000" b="1" dirty="0">
                <a:solidFill>
                  <a:schemeClr val="accent2"/>
                </a:solidFill>
                <a:latin typeface="+mn-ea"/>
              </a:rPr>
              <a:t>[</a:t>
            </a:r>
            <a:r>
              <a:rPr lang="ko-KR" altLang="en-US" sz="2000" b="1" dirty="0">
                <a:solidFill>
                  <a:schemeClr val="accent2"/>
                </a:solidFill>
                <a:latin typeface="+mn-ea"/>
              </a:rPr>
              <a:t>차선책</a:t>
            </a:r>
            <a:r>
              <a:rPr lang="en-US" altLang="ko-KR" sz="2000" b="1" dirty="0">
                <a:solidFill>
                  <a:schemeClr val="accent2"/>
                </a:solidFill>
                <a:latin typeface="+mn-ea"/>
              </a:rPr>
              <a:t>] </a:t>
            </a:r>
            <a:r>
              <a:rPr lang="ko-KR" altLang="en-US" sz="2000" b="1" dirty="0">
                <a:solidFill>
                  <a:schemeClr val="accent2"/>
                </a:solidFill>
                <a:latin typeface="+mn-ea"/>
              </a:rPr>
              <a:t>후보 식별자</a:t>
            </a:r>
            <a:r>
              <a:rPr lang="ko-KR" altLang="en-US" sz="2000" b="1" dirty="0">
                <a:latin typeface="+mn-ea"/>
              </a:rPr>
              <a:t>를 주 식별자로 채택하는 것을 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</a:rPr>
              <a:t>차선</a:t>
            </a:r>
            <a:r>
              <a:rPr lang="ko-KR" altLang="en-US" sz="2000" b="1" dirty="0">
                <a:latin typeface="+mn-ea"/>
              </a:rPr>
              <a:t>으로 고려</a:t>
            </a:r>
            <a:r>
              <a:rPr lang="en-US" altLang="ko-KR" sz="2000" b="1" dirty="0">
                <a:latin typeface="+mn-ea"/>
              </a:rPr>
              <a:t>,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2000" b="1" dirty="0">
                <a:latin typeface="+mn-ea"/>
              </a:rPr>
              <a:t> </a:t>
            </a:r>
            <a:r>
              <a:rPr lang="en-US" altLang="ko-KR" sz="2000" b="1" dirty="0">
                <a:solidFill>
                  <a:srgbClr val="7030A0"/>
                </a:solidFill>
                <a:latin typeface="+mn-ea"/>
              </a:rPr>
              <a:t>[</a:t>
            </a:r>
            <a:r>
              <a:rPr lang="ko-KR" altLang="en-US" sz="2000" b="1" dirty="0">
                <a:solidFill>
                  <a:srgbClr val="7030A0"/>
                </a:solidFill>
                <a:latin typeface="+mn-ea"/>
              </a:rPr>
              <a:t>마지막</a:t>
            </a:r>
            <a:r>
              <a:rPr lang="en-US" altLang="ko-KR" sz="2000" b="1" dirty="0">
                <a:solidFill>
                  <a:srgbClr val="7030A0"/>
                </a:solidFill>
                <a:latin typeface="+mn-ea"/>
              </a:rPr>
              <a:t>] </a:t>
            </a:r>
            <a:r>
              <a:rPr lang="ko-KR" altLang="en-US" sz="2000" b="1" dirty="0">
                <a:solidFill>
                  <a:srgbClr val="7030A0"/>
                </a:solidFill>
                <a:latin typeface="+mn-ea"/>
              </a:rPr>
              <a:t>인조 식별자</a:t>
            </a:r>
            <a:r>
              <a:rPr lang="ko-KR" altLang="en-US" sz="2000" b="1" dirty="0">
                <a:latin typeface="+mn-ea"/>
              </a:rPr>
              <a:t>를 주 식별자로 채택하는 것을 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</a:rPr>
              <a:t>마지막</a:t>
            </a:r>
            <a:r>
              <a:rPr lang="ko-KR" altLang="en-US" sz="2000" b="1" dirty="0">
                <a:latin typeface="+mn-ea"/>
              </a:rPr>
              <a:t>으로 고려</a:t>
            </a:r>
            <a:r>
              <a:rPr lang="en-US" altLang="ko-KR" sz="2000" b="1" dirty="0">
                <a:latin typeface="+mn-ea"/>
              </a:rPr>
              <a:t>!</a:t>
            </a:r>
          </a:p>
          <a:p>
            <a:pPr lvl="2"/>
            <a:r>
              <a:rPr lang="en-US" altLang="ko-KR" b="1" dirty="0">
                <a:latin typeface="+mn-ea"/>
              </a:rPr>
              <a:t>-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인조 식별자의 특징</a:t>
            </a:r>
            <a:r>
              <a:rPr lang="ko-KR" altLang="en-US" b="1" dirty="0">
                <a:latin typeface="+mn-ea"/>
              </a:rPr>
              <a:t>은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단일 속성</a:t>
            </a:r>
            <a:r>
              <a:rPr lang="ko-KR" altLang="en-US" b="1" dirty="0">
                <a:latin typeface="+mn-ea"/>
              </a:rPr>
              <a:t>으로 이뤄진 식별자</a:t>
            </a:r>
            <a:endParaRPr lang="en-US" altLang="ko-KR" b="1" dirty="0">
              <a:latin typeface="+mn-ea"/>
            </a:endParaRPr>
          </a:p>
          <a:p>
            <a:pPr lvl="2"/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단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인조 식별자 사용 시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주의할 점은</a:t>
            </a:r>
            <a:r>
              <a:rPr lang="en-US" altLang="ko-KR" b="1" dirty="0">
                <a:latin typeface="+mn-ea"/>
              </a:rPr>
              <a:t>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반드시 유니크 인덱스를 생성</a:t>
            </a:r>
            <a:r>
              <a:rPr lang="ko-KR" altLang="en-US" b="1" dirty="0">
                <a:latin typeface="+mn-ea"/>
              </a:rPr>
              <a:t>해야 한다는 것이다</a:t>
            </a:r>
            <a:r>
              <a:rPr lang="en-US" altLang="ko-KR" b="1" dirty="0">
                <a:latin typeface="+mn-ea"/>
              </a:rPr>
              <a:t>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314A988-C681-DA20-890D-E20763ACD0A7}"/>
              </a:ext>
            </a:extLst>
          </p:cNvPr>
          <p:cNvSpPr/>
          <p:nvPr/>
        </p:nvSpPr>
        <p:spPr>
          <a:xfrm>
            <a:off x="2204225" y="3718500"/>
            <a:ext cx="1298583" cy="457200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업무 식별자 도출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3BB3411-2F2B-528A-A65D-A3C362B0F6B6}"/>
              </a:ext>
            </a:extLst>
          </p:cNvPr>
          <p:cNvSpPr/>
          <p:nvPr/>
        </p:nvSpPr>
        <p:spPr>
          <a:xfrm>
            <a:off x="2206617" y="4579489"/>
            <a:ext cx="1298583" cy="457200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후보 식별자 도출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9D6CC40-92C6-B857-2FDF-C325C1A8A317}"/>
              </a:ext>
            </a:extLst>
          </p:cNvPr>
          <p:cNvSpPr/>
          <p:nvPr/>
        </p:nvSpPr>
        <p:spPr>
          <a:xfrm>
            <a:off x="3763627" y="3718500"/>
            <a:ext cx="1298583" cy="457200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rgbClr val="FF0000"/>
                </a:solidFill>
              </a:rPr>
              <a:t>업무 식별자를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b="1" dirty="0">
                <a:solidFill>
                  <a:srgbClr val="FF0000"/>
                </a:solidFill>
              </a:rPr>
              <a:t>주 식별자로 검토</a:t>
            </a:r>
          </a:p>
        </p:txBody>
      </p:sp>
      <p:sp>
        <p:nvSpPr>
          <p:cNvPr id="15" name="순서도: 판단 14">
            <a:extLst>
              <a:ext uri="{FF2B5EF4-FFF2-40B4-BE49-F238E27FC236}">
                <a16:creationId xmlns:a16="http://schemas.microsoft.com/office/drawing/2014/main" id="{57C6060E-DCBA-0DEE-2901-0EB90734B98E}"/>
              </a:ext>
            </a:extLst>
          </p:cNvPr>
          <p:cNvSpPr/>
          <p:nvPr/>
        </p:nvSpPr>
        <p:spPr>
          <a:xfrm>
            <a:off x="5331874" y="3718500"/>
            <a:ext cx="1298583" cy="457200"/>
          </a:xfrm>
          <a:prstGeom prst="flowChartDecisi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chemeClr val="dk1"/>
                </a:solidFill>
              </a:rPr>
              <a:t>적합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F271DBD-8323-4476-2839-C9D5BCD0938D}"/>
              </a:ext>
            </a:extLst>
          </p:cNvPr>
          <p:cNvSpPr/>
          <p:nvPr/>
        </p:nvSpPr>
        <p:spPr>
          <a:xfrm>
            <a:off x="5331874" y="4579489"/>
            <a:ext cx="1298583" cy="457200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rgbClr val="FF0000"/>
                </a:solidFill>
              </a:rPr>
              <a:t>후보 식별자 중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b="1" dirty="0">
                <a:solidFill>
                  <a:srgbClr val="FF0000"/>
                </a:solidFill>
              </a:rPr>
              <a:t>주 식별자로 검토</a:t>
            </a:r>
          </a:p>
        </p:txBody>
      </p:sp>
      <p:sp>
        <p:nvSpPr>
          <p:cNvPr id="17" name="순서도: 판단 16">
            <a:extLst>
              <a:ext uri="{FF2B5EF4-FFF2-40B4-BE49-F238E27FC236}">
                <a16:creationId xmlns:a16="http://schemas.microsoft.com/office/drawing/2014/main" id="{5C43E409-D90D-A650-1657-9230AF66A5C1}"/>
              </a:ext>
            </a:extLst>
          </p:cNvPr>
          <p:cNvSpPr/>
          <p:nvPr/>
        </p:nvSpPr>
        <p:spPr>
          <a:xfrm>
            <a:off x="6882431" y="4579489"/>
            <a:ext cx="1298583" cy="457200"/>
          </a:xfrm>
          <a:prstGeom prst="flowChartDecisi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chemeClr val="dk1"/>
                </a:solidFill>
              </a:rPr>
              <a:t>적합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3DEEC4E-0B0C-60A3-600F-DE3DBA779173}"/>
              </a:ext>
            </a:extLst>
          </p:cNvPr>
          <p:cNvSpPr/>
          <p:nvPr/>
        </p:nvSpPr>
        <p:spPr>
          <a:xfrm>
            <a:off x="8441833" y="4579489"/>
            <a:ext cx="1298583" cy="457200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rgbClr val="FF0000"/>
                </a:solidFill>
              </a:rPr>
              <a:t>후보 식별자</a:t>
            </a:r>
            <a:r>
              <a:rPr lang="ko-KR" altLang="en-US" sz="1000" b="1" dirty="0"/>
              <a:t>를</a:t>
            </a:r>
            <a:endParaRPr lang="en-US" altLang="ko-KR" sz="1000" b="1" dirty="0"/>
          </a:p>
          <a:p>
            <a:pPr algn="ctr"/>
            <a:r>
              <a:rPr lang="ko-KR" altLang="en-US" sz="1000" b="1" dirty="0"/>
              <a:t>주 식별자로 </a:t>
            </a:r>
            <a:r>
              <a:rPr lang="ko-KR" altLang="en-US" sz="1000" b="1" dirty="0">
                <a:solidFill>
                  <a:srgbClr val="FF0000"/>
                </a:solidFill>
              </a:rPr>
              <a:t>선정</a:t>
            </a:r>
            <a:endParaRPr lang="ko-KR" altLang="en-US" sz="1000" b="1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55BC11E-B4EA-5DD0-6437-C130420689A2}"/>
              </a:ext>
            </a:extLst>
          </p:cNvPr>
          <p:cNvSpPr/>
          <p:nvPr/>
        </p:nvSpPr>
        <p:spPr>
          <a:xfrm>
            <a:off x="8441833" y="5408098"/>
            <a:ext cx="1298583" cy="457200"/>
          </a:xfrm>
          <a:prstGeom prst="roundRect">
            <a:avLst>
              <a:gd name="adj" fmla="val 50000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rgbClr val="FF0000"/>
                </a:solidFill>
              </a:rPr>
              <a:t>인조 식별자</a:t>
            </a:r>
            <a:r>
              <a:rPr lang="ko-KR" altLang="en-US" sz="1000" b="1" dirty="0"/>
              <a:t>를</a:t>
            </a:r>
            <a:endParaRPr lang="en-US" altLang="ko-KR" sz="1000" b="1" dirty="0"/>
          </a:p>
          <a:p>
            <a:pPr algn="ctr"/>
            <a:r>
              <a:rPr lang="ko-KR" altLang="en-US" sz="1000" b="1" dirty="0"/>
              <a:t>주 식별자로 </a:t>
            </a:r>
            <a:r>
              <a:rPr lang="ko-KR" altLang="en-US" sz="1000" b="1" dirty="0">
                <a:solidFill>
                  <a:srgbClr val="FF0000"/>
                </a:solidFill>
              </a:rPr>
              <a:t>선정</a:t>
            </a:r>
            <a:endParaRPr lang="ko-KR" altLang="en-US" sz="1000" b="1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64AE3D3-8CA4-C7AF-4821-AC44A1325343}"/>
              </a:ext>
            </a:extLst>
          </p:cNvPr>
          <p:cNvSpPr/>
          <p:nvPr/>
        </p:nvSpPr>
        <p:spPr>
          <a:xfrm>
            <a:off x="8441833" y="3718500"/>
            <a:ext cx="1298583" cy="457200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rgbClr val="FF0000"/>
                </a:solidFill>
              </a:rPr>
              <a:t>업무 식별자</a:t>
            </a:r>
            <a:r>
              <a:rPr lang="ko-KR" altLang="en-US" sz="1000" b="1" dirty="0"/>
              <a:t>를</a:t>
            </a:r>
            <a:endParaRPr lang="en-US" altLang="ko-KR" sz="1000" b="1" dirty="0"/>
          </a:p>
          <a:p>
            <a:pPr algn="ctr"/>
            <a:r>
              <a:rPr lang="ko-KR" altLang="en-US" sz="1000" b="1" dirty="0"/>
              <a:t>주 식별자로 </a:t>
            </a:r>
            <a:r>
              <a:rPr lang="ko-KR" altLang="en-US" sz="1000" b="1" dirty="0">
                <a:solidFill>
                  <a:srgbClr val="FF0000"/>
                </a:solidFill>
              </a:rPr>
              <a:t>선정</a:t>
            </a: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EBE52174-76EE-4702-1438-EFD05ECA58F9}"/>
              </a:ext>
            </a:extLst>
          </p:cNvPr>
          <p:cNvCxnSpPr>
            <a:cxnSpLocks/>
            <a:stCxn id="17" idx="2"/>
            <a:endCxn id="20" idx="1"/>
          </p:cNvCxnSpPr>
          <p:nvPr/>
        </p:nvCxnSpPr>
        <p:spPr>
          <a:xfrm rot="16200000" flipH="1">
            <a:off x="7686774" y="4881638"/>
            <a:ext cx="600009" cy="910110"/>
          </a:xfrm>
          <a:prstGeom prst="bentConnector2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타원 31">
            <a:extLst>
              <a:ext uri="{FF2B5EF4-FFF2-40B4-BE49-F238E27FC236}">
                <a16:creationId xmlns:a16="http://schemas.microsoft.com/office/drawing/2014/main" id="{8B903D8F-A313-AAD3-9867-7B9B9848AF44}"/>
              </a:ext>
            </a:extLst>
          </p:cNvPr>
          <p:cNvSpPr/>
          <p:nvPr/>
        </p:nvSpPr>
        <p:spPr>
          <a:xfrm>
            <a:off x="10309144" y="4541798"/>
            <a:ext cx="1111515" cy="53258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2"/>
                </a:solidFill>
              </a:rPr>
              <a:t>선정</a:t>
            </a:r>
          </a:p>
        </p:txBody>
      </p: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1B4A7561-678A-0ABB-675A-690A40B80E50}"/>
              </a:ext>
            </a:extLst>
          </p:cNvPr>
          <p:cNvCxnSpPr>
            <a:cxnSpLocks/>
            <a:stCxn id="20" idx="3"/>
            <a:endCxn id="32" idx="4"/>
          </p:cNvCxnSpPr>
          <p:nvPr/>
        </p:nvCxnSpPr>
        <p:spPr>
          <a:xfrm flipV="1">
            <a:off x="9740416" y="5074380"/>
            <a:ext cx="1124486" cy="562318"/>
          </a:xfrm>
          <a:prstGeom prst="bentConnector2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6D8EEAA3-F9F4-D2DF-884B-743933B3D1BE}"/>
              </a:ext>
            </a:extLst>
          </p:cNvPr>
          <p:cNvCxnSpPr>
            <a:cxnSpLocks/>
            <a:stCxn id="25" idx="3"/>
            <a:endCxn id="32" idx="0"/>
          </p:cNvCxnSpPr>
          <p:nvPr/>
        </p:nvCxnSpPr>
        <p:spPr>
          <a:xfrm>
            <a:off x="9740416" y="3947100"/>
            <a:ext cx="1124486" cy="594698"/>
          </a:xfrm>
          <a:prstGeom prst="bentConnector2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65610070-F9C8-AA92-0C7F-5108F50B3764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3505200" y="3947100"/>
            <a:ext cx="258427" cy="860989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타원 44">
            <a:extLst>
              <a:ext uri="{FF2B5EF4-FFF2-40B4-BE49-F238E27FC236}">
                <a16:creationId xmlns:a16="http://schemas.microsoft.com/office/drawing/2014/main" id="{EFC75684-EBC2-3A59-F632-0C3D36D87875}"/>
              </a:ext>
            </a:extLst>
          </p:cNvPr>
          <p:cNvSpPr/>
          <p:nvPr/>
        </p:nvSpPr>
        <p:spPr>
          <a:xfrm>
            <a:off x="635978" y="3680809"/>
            <a:ext cx="1018179" cy="53258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chemeClr val="tx2"/>
                </a:solidFill>
              </a:rPr>
              <a:t>검토</a:t>
            </a:r>
            <a:endParaRPr lang="ko-KR" altLang="en-US" sz="1200" b="1" dirty="0">
              <a:solidFill>
                <a:schemeClr val="tx2"/>
              </a:solidFill>
            </a:endParaRP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9F98FCD8-62BD-2296-BD97-C6E2DF3A330D}"/>
              </a:ext>
            </a:extLst>
          </p:cNvPr>
          <p:cNvCxnSpPr>
            <a:cxnSpLocks/>
            <a:stCxn id="45" idx="6"/>
            <a:endCxn id="11" idx="1"/>
          </p:cNvCxnSpPr>
          <p:nvPr/>
        </p:nvCxnSpPr>
        <p:spPr>
          <a:xfrm>
            <a:off x="1654157" y="3947100"/>
            <a:ext cx="550068" cy="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58210A3C-ED0F-898A-50E2-E79C3F2DE841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2853517" y="4175700"/>
            <a:ext cx="2392" cy="403789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A598B5A-ADE0-1739-F3FB-E34110435EC8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5062210" y="3947100"/>
            <a:ext cx="269664" cy="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F1DD2408-F3B5-1133-E203-2110CA367CAF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5981166" y="4175700"/>
            <a:ext cx="0" cy="403789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229D5792-813D-8FF7-D2A4-FA6DC76D6C72}"/>
              </a:ext>
            </a:extLst>
          </p:cNvPr>
          <p:cNvCxnSpPr>
            <a:cxnSpLocks/>
            <a:stCxn id="15" idx="3"/>
            <a:endCxn id="25" idx="1"/>
          </p:cNvCxnSpPr>
          <p:nvPr/>
        </p:nvCxnSpPr>
        <p:spPr>
          <a:xfrm>
            <a:off x="6630457" y="3947100"/>
            <a:ext cx="1811376" cy="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18B45D76-2C51-68E2-C230-95B0FACDFC2D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>
            <a:off x="6630457" y="4808089"/>
            <a:ext cx="251974" cy="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747FA36F-6479-EA41-A994-8075DBFABBAD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8181014" y="4808089"/>
            <a:ext cx="260819" cy="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BB67E9A4-0122-F29E-B44F-6BED91B7297D}"/>
              </a:ext>
            </a:extLst>
          </p:cNvPr>
          <p:cNvCxnSpPr>
            <a:cxnSpLocks/>
            <a:stCxn id="19" idx="3"/>
            <a:endCxn id="32" idx="2"/>
          </p:cNvCxnSpPr>
          <p:nvPr/>
        </p:nvCxnSpPr>
        <p:spPr>
          <a:xfrm>
            <a:off x="9740416" y="4808089"/>
            <a:ext cx="568728" cy="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D3F2660A-035E-E223-656F-254402F84DB2}"/>
              </a:ext>
            </a:extLst>
          </p:cNvPr>
          <p:cNvSpPr txBox="1"/>
          <p:nvPr/>
        </p:nvSpPr>
        <p:spPr>
          <a:xfrm>
            <a:off x="6633181" y="3691058"/>
            <a:ext cx="4090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YES</a:t>
            </a:r>
            <a:endParaRPr lang="ko-KR" altLang="en-US" sz="1000" b="1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D0DFEB8-3215-A718-BEA1-1F53671CAF46}"/>
              </a:ext>
            </a:extLst>
          </p:cNvPr>
          <p:cNvSpPr txBox="1"/>
          <p:nvPr/>
        </p:nvSpPr>
        <p:spPr>
          <a:xfrm>
            <a:off x="8032745" y="4563157"/>
            <a:ext cx="4090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YES</a:t>
            </a:r>
            <a:endParaRPr lang="ko-KR" altLang="en-US" sz="1000" b="1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00D7976-2342-9580-C804-5A5412F2C606}"/>
              </a:ext>
            </a:extLst>
          </p:cNvPr>
          <p:cNvSpPr txBox="1"/>
          <p:nvPr/>
        </p:nvSpPr>
        <p:spPr>
          <a:xfrm>
            <a:off x="5605483" y="4188749"/>
            <a:ext cx="383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</a:t>
            </a:r>
            <a:endParaRPr lang="ko-KR" altLang="en-US" sz="1000" b="1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249E969-4B91-F335-B339-644BDCE87F23}"/>
              </a:ext>
            </a:extLst>
          </p:cNvPr>
          <p:cNvSpPr txBox="1"/>
          <p:nvPr/>
        </p:nvSpPr>
        <p:spPr>
          <a:xfrm>
            <a:off x="7159407" y="5036687"/>
            <a:ext cx="383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</a:t>
            </a:r>
            <a:endParaRPr lang="ko-KR" altLang="en-US" sz="1000" b="1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76" name="그림 75">
            <a:extLst>
              <a:ext uri="{FF2B5EF4-FFF2-40B4-BE49-F238E27FC236}">
                <a16:creationId xmlns:a16="http://schemas.microsoft.com/office/drawing/2014/main" id="{65504A65-D5B1-4BA1-EE5E-AB8434955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625" y="5956738"/>
            <a:ext cx="2428750" cy="3532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A72789-B561-B3D6-5CDF-799124C54610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주 식별자 선정 절차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B865E0B-F1FF-E67D-5D28-BE2DCD277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109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693253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1E2FE-FA50-29C3-EF27-0AB20453F15C}"/>
              </a:ext>
            </a:extLst>
          </p:cNvPr>
          <p:cNvSpPr txBox="1"/>
          <p:nvPr/>
        </p:nvSpPr>
        <p:spPr>
          <a:xfrm>
            <a:off x="866909" y="1496173"/>
            <a:ext cx="1132509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주 식별자가 복잡해지는 가장 큰 원인은 업무 식별자가 복잡하기 때문이다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주 식별자가 복잡 해지는 원인 </a:t>
            </a:r>
            <a:endParaRPr lang="en-US" altLang="ko-KR" sz="1600" b="1" dirty="0">
              <a:latin typeface="+mn-ea"/>
            </a:endParaRPr>
          </a:p>
          <a:p>
            <a:pPr lvl="2"/>
            <a:endParaRPr lang="en-US" altLang="ko-KR" sz="1400" dirty="0">
              <a:latin typeface="+mn-ea"/>
            </a:endParaRPr>
          </a:p>
          <a:p>
            <a:pPr lvl="2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기준 데이터를 관리할 때</a:t>
            </a:r>
            <a:endParaRPr lang="en-US" altLang="ko-KR" sz="1400" dirty="0">
              <a:latin typeface="+mn-ea"/>
            </a:endParaRPr>
          </a:p>
          <a:p>
            <a:pPr lvl="2"/>
            <a:endParaRPr lang="en-US" altLang="ko-KR" sz="1400" dirty="0">
              <a:latin typeface="+mn-ea"/>
            </a:endParaRPr>
          </a:p>
          <a:p>
            <a:pPr lvl="2"/>
            <a:endParaRPr lang="en-US" altLang="ko-KR" sz="1400" dirty="0">
              <a:latin typeface="+mn-ea"/>
            </a:endParaRPr>
          </a:p>
          <a:p>
            <a:pPr lvl="2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집계 데이터를 관리할 때</a:t>
            </a:r>
            <a:endParaRPr lang="en-US" altLang="ko-KR" sz="1400" dirty="0">
              <a:latin typeface="+mn-ea"/>
            </a:endParaRPr>
          </a:p>
          <a:p>
            <a:pPr lvl="2"/>
            <a:endParaRPr lang="en-US" altLang="ko-KR" sz="1400" dirty="0">
              <a:latin typeface="+mn-ea"/>
            </a:endParaRPr>
          </a:p>
          <a:p>
            <a:pPr lvl="2"/>
            <a:endParaRPr lang="en-US" altLang="ko-KR" sz="1400" dirty="0">
              <a:latin typeface="+mn-ea"/>
            </a:endParaRPr>
          </a:p>
          <a:p>
            <a:pPr lvl="2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인스턴스를 생성하는 기준이 복잡할 때</a:t>
            </a:r>
            <a:endParaRPr lang="en-US" altLang="ko-KR" sz="1400" dirty="0">
              <a:latin typeface="+mn-ea"/>
            </a:endParaRPr>
          </a:p>
          <a:p>
            <a:pPr lvl="2"/>
            <a:endParaRPr lang="en-US" altLang="ko-KR" sz="1400" dirty="0">
              <a:latin typeface="+mn-ea"/>
            </a:endParaRPr>
          </a:p>
          <a:p>
            <a:pPr lvl="2"/>
            <a:endParaRPr lang="en-US" altLang="ko-KR" sz="1400" dirty="0">
              <a:latin typeface="+mn-ea"/>
            </a:endParaRPr>
          </a:p>
          <a:p>
            <a:pPr lvl="2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교차 </a:t>
            </a:r>
            <a:r>
              <a:rPr lang="ko-KR" altLang="en-US" sz="1400" dirty="0" err="1">
                <a:latin typeface="+mn-ea"/>
              </a:rPr>
              <a:t>엔터티일</a:t>
            </a:r>
            <a:r>
              <a:rPr lang="ko-KR" altLang="en-US" sz="1400" dirty="0">
                <a:latin typeface="+mn-ea"/>
              </a:rPr>
              <a:t> 때</a:t>
            </a:r>
            <a:endParaRPr lang="en-US" altLang="ko-KR" sz="1400" dirty="0">
              <a:latin typeface="+mn-ea"/>
            </a:endParaRPr>
          </a:p>
          <a:p>
            <a:pPr lvl="2"/>
            <a:endParaRPr lang="en-US" altLang="ko-KR" sz="1400" dirty="0">
              <a:latin typeface="+mn-ea"/>
            </a:endParaRPr>
          </a:p>
          <a:p>
            <a:pPr lvl="2"/>
            <a:endParaRPr lang="en-US" altLang="ko-KR" sz="1400" dirty="0">
              <a:latin typeface="+mn-ea"/>
            </a:endParaRPr>
          </a:p>
          <a:p>
            <a:pPr marL="1200150" lvl="2" indent="-285750">
              <a:buFontTx/>
              <a:buChar char="-"/>
            </a:pPr>
            <a:r>
              <a:rPr lang="ko-KR" altLang="en-US" sz="1400" dirty="0">
                <a:latin typeface="+mn-ea"/>
              </a:rPr>
              <a:t>슈퍼 식별자가 사용될 때</a:t>
            </a:r>
            <a:endParaRPr lang="en-US" altLang="ko-KR" sz="1400" dirty="0">
              <a:latin typeface="+mn-ea"/>
            </a:endParaRPr>
          </a:p>
          <a:p>
            <a:pPr lvl="2"/>
            <a:r>
              <a:rPr lang="en-US" altLang="ko-KR" sz="1200" b="1" dirty="0">
                <a:latin typeface="+mn-ea"/>
              </a:rPr>
              <a:t>    (</a:t>
            </a:r>
            <a:r>
              <a:rPr lang="ko-KR" altLang="en-US" sz="1200" b="1" dirty="0">
                <a:latin typeface="+mn-ea"/>
              </a:rPr>
              <a:t>고객번호를 일반속성으로 사용해야 한다</a:t>
            </a:r>
            <a:r>
              <a:rPr lang="en-US" altLang="ko-KR" sz="1200" b="1" dirty="0">
                <a:latin typeface="+mn-ea"/>
              </a:rPr>
              <a:t>.)</a:t>
            </a:r>
          </a:p>
          <a:p>
            <a:pPr lvl="2"/>
            <a:endParaRPr lang="en-US" altLang="ko-KR" sz="1400" dirty="0">
              <a:latin typeface="+mn-ea"/>
            </a:endParaRPr>
          </a:p>
          <a:p>
            <a:pPr lvl="2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주 식별자 상속이 지속적으로 이루어질 때</a:t>
            </a:r>
            <a:endParaRPr lang="en-US" altLang="ko-KR" sz="1400" dirty="0">
              <a:latin typeface="+mn-ea"/>
            </a:endParaRPr>
          </a:p>
          <a:p>
            <a:pPr lvl="2"/>
            <a:endParaRPr lang="en-US" altLang="ko-KR" sz="1400" dirty="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0604924-A954-E66E-750E-023C5ED69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1568" y="1330238"/>
            <a:ext cx="2152918" cy="174244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4E26991-A462-058A-8228-0C3F8E5F6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1531" y="2459525"/>
            <a:ext cx="2310037" cy="137601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0E8DADB-8A20-2B0B-9FFC-F96500897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5610" y="3299590"/>
            <a:ext cx="2187796" cy="1135534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AF15D1A2-8985-405A-A688-EEAEEEAB1AC1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3992137" y="2201458"/>
            <a:ext cx="5749431" cy="402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9BEFCFFE-7AC5-8A71-5576-DDA21FCBFE9F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4092498" y="3147532"/>
            <a:ext cx="3339033" cy="44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94106F64-AC09-ED0C-E463-A45475E91EDB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5172635" y="3867357"/>
            <a:ext cx="4029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>
            <a:extLst>
              <a:ext uri="{FF2B5EF4-FFF2-40B4-BE49-F238E27FC236}">
                <a16:creationId xmlns:a16="http://schemas.microsoft.com/office/drawing/2014/main" id="{08ADFB06-317C-863E-8B19-E9D6723FCC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1519" y="4146854"/>
            <a:ext cx="3698133" cy="1430664"/>
          </a:xfrm>
          <a:prstGeom prst="rect">
            <a:avLst/>
          </a:prstGeom>
        </p:spPr>
      </p:pic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EFF59DFD-2716-F7A6-78A6-CC79FEEDCC44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3490332" y="4524227"/>
            <a:ext cx="4861187" cy="3379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그림 30">
            <a:extLst>
              <a:ext uri="{FF2B5EF4-FFF2-40B4-BE49-F238E27FC236}">
                <a16:creationId xmlns:a16="http://schemas.microsoft.com/office/drawing/2014/main" id="{F1B17983-1050-447C-783F-6D84789D81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6094" y="5108800"/>
            <a:ext cx="2505425" cy="981212"/>
          </a:xfrm>
          <a:prstGeom prst="rect">
            <a:avLst/>
          </a:prstGeom>
        </p:spPr>
      </p:pic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0389C23C-FA8A-ED4F-1AFE-F7E79393A9D6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4237463" y="5188885"/>
            <a:ext cx="1608631" cy="410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A38CCE5-9073-0011-7E44-46192F617073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복잡한 주 식별자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FB0E912-8093-55E1-DF5B-5DA6507D1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01675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1E2FE-FA50-29C3-EF27-0AB20453F15C}"/>
              </a:ext>
            </a:extLst>
          </p:cNvPr>
          <p:cNvSpPr txBox="1"/>
          <p:nvPr/>
        </p:nvSpPr>
        <p:spPr>
          <a:xfrm>
            <a:off x="866909" y="1496173"/>
            <a:ext cx="1132509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9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600" b="1" dirty="0">
                <a:latin typeface="+mn-ea"/>
              </a:rPr>
              <a:t>여러 속성으로 구성된 </a:t>
            </a:r>
            <a:r>
              <a:rPr lang="en-US" altLang="ko-KR" sz="1600" b="1" dirty="0">
                <a:latin typeface="+mn-ea"/>
              </a:rPr>
              <a:t>“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복합 주 식별자</a:t>
            </a:r>
            <a:r>
              <a:rPr lang="en-US" altLang="ko-KR" sz="1600" b="1" dirty="0">
                <a:latin typeface="+mn-ea"/>
              </a:rPr>
              <a:t>”</a:t>
            </a:r>
            <a:r>
              <a:rPr lang="ko-KR" altLang="en-US" sz="1600" b="1" dirty="0">
                <a:latin typeface="+mn-ea"/>
              </a:rPr>
              <a:t>일 때는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조회 성능을 고려</a:t>
            </a:r>
            <a:r>
              <a:rPr lang="ko-KR" altLang="en-US" sz="1600" b="1" dirty="0">
                <a:latin typeface="+mn-ea"/>
              </a:rPr>
              <a:t>하여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속성의 순서를 결정</a:t>
            </a:r>
            <a:r>
              <a:rPr lang="ko-KR" altLang="en-US" sz="1600" b="1" dirty="0">
                <a:latin typeface="+mn-ea"/>
              </a:rPr>
              <a:t>해야 한다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600" b="1" dirty="0">
                <a:latin typeface="+mn-ea"/>
              </a:rPr>
              <a:t>이 작업은 주 식별자가 결정된 후에 마지막으로 고려한다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800100" lvl="1" indent="-342900">
              <a:buFont typeface="+mj-ea"/>
              <a:buAutoNum type="circleNumDbPlain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600" b="1" dirty="0">
                <a:latin typeface="+mn-ea"/>
              </a:rPr>
              <a:t>주 식별자를 물리적인 주 키로 생성하면 유니크 인덱스가 생성된다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600" b="1" dirty="0">
                <a:latin typeface="+mn-ea"/>
              </a:rPr>
              <a:t>이 유니크 인덱스의 첫 번째 속성이 해당 데이터를 조회하는 조건절에 자주 사용되도록 하는 것이 핵심이다</a:t>
            </a:r>
            <a:r>
              <a:rPr lang="en-US" altLang="ko-KR" sz="1600" b="1" dirty="0">
                <a:latin typeface="+mn-ea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499C148-24EB-05BD-4FCE-A8D37ADEA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954" y="3836804"/>
            <a:ext cx="1752845" cy="131463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3A8FC3C-95DC-7989-FB66-F92D1D4EC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235" y="3874910"/>
            <a:ext cx="2543530" cy="126700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447F2B1-3FA3-4D13-38F8-069238E2C2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8876" y="3865383"/>
            <a:ext cx="2543530" cy="12860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0A15CA-F9B0-13B4-DC0D-CEE4790DA004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복합 주식별자의 속성순서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158A5A3-86D4-1DDA-2CBE-01871DE8C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292534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1E2FE-FA50-29C3-EF27-0AB20453F15C}"/>
              </a:ext>
            </a:extLst>
          </p:cNvPr>
          <p:cNvSpPr txBox="1"/>
          <p:nvPr/>
        </p:nvSpPr>
        <p:spPr>
          <a:xfrm>
            <a:off x="866909" y="1496173"/>
            <a:ext cx="113250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교차 </a:t>
            </a:r>
            <a:r>
              <a:rPr lang="ko-KR" altLang="en-US" sz="1600" b="1" dirty="0" err="1">
                <a:latin typeface="+mn-ea"/>
              </a:rPr>
              <a:t>엔터티의</a:t>
            </a:r>
            <a:r>
              <a:rPr lang="ko-KR" altLang="en-US" sz="1600" b="1" dirty="0">
                <a:latin typeface="+mn-ea"/>
              </a:rPr>
              <a:t> 주 식별자를 결정하는 방법은 크게 네 가지 유형으로 구분할 수 있다</a:t>
            </a:r>
            <a:r>
              <a:rPr lang="en-US" altLang="ko-KR" sz="1600" b="1" dirty="0">
                <a:latin typeface="+mn-ea"/>
              </a:rPr>
              <a:t>.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BE29010-C5F6-67F5-D645-C7942D40D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336" y="2451168"/>
            <a:ext cx="6712279" cy="29201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76B2ED-550A-711D-FDCB-7BD0EB531DF7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교차 </a:t>
            </a:r>
            <a:r>
              <a:rPr lang="ko-KR" altLang="en-US" sz="2400" b="1" dirty="0" err="1">
                <a:latin typeface="+mn-ea"/>
              </a:rPr>
              <a:t>엔터티의</a:t>
            </a:r>
            <a:r>
              <a:rPr lang="ko-KR" altLang="en-US" sz="2400" b="1" dirty="0">
                <a:latin typeface="+mn-ea"/>
              </a:rPr>
              <a:t> 주식별자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7B0687-0227-CDA6-A27B-0EE390DFC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112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23B7ED-490F-4765-BFFF-1FF50CCF7B4D}"/>
              </a:ext>
            </a:extLst>
          </p:cNvPr>
          <p:cNvSpPr txBox="1"/>
          <p:nvPr/>
        </p:nvSpPr>
        <p:spPr>
          <a:xfrm>
            <a:off x="1291422" y="5774716"/>
            <a:ext cx="5118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200" b="1" dirty="0" err="1">
                <a:solidFill>
                  <a:srgbClr val="FF0000"/>
                </a:solidFill>
              </a:rPr>
              <a:t>교차엔터티에서</a:t>
            </a:r>
            <a:r>
              <a:rPr lang="ko-KR" altLang="en-US" sz="1200" b="1" dirty="0">
                <a:solidFill>
                  <a:srgbClr val="FF0000"/>
                </a:solidFill>
              </a:rPr>
              <a:t> 인조식별자를 사용하지 않는 이유</a:t>
            </a:r>
            <a:r>
              <a:rPr lang="en-US" altLang="ko-KR" sz="1200" b="1" dirty="0">
                <a:solidFill>
                  <a:srgbClr val="FF0000"/>
                </a:solidFill>
              </a:rPr>
              <a:t>.</a:t>
            </a:r>
          </a:p>
          <a:p>
            <a:r>
              <a:rPr lang="ko-KR" altLang="en-US" sz="1200" b="1" dirty="0">
                <a:solidFill>
                  <a:srgbClr val="FF0000"/>
                </a:solidFill>
              </a:rPr>
              <a:t>    </a:t>
            </a:r>
            <a:r>
              <a:rPr lang="en-US" altLang="ko-KR" sz="1200" b="1" dirty="0">
                <a:solidFill>
                  <a:srgbClr val="FF0000"/>
                </a:solidFill>
              </a:rPr>
              <a:t>: </a:t>
            </a:r>
            <a:r>
              <a:rPr lang="ko-KR" altLang="en-US" sz="1200" b="1" dirty="0" err="1">
                <a:solidFill>
                  <a:srgbClr val="FF0000"/>
                </a:solidFill>
              </a:rPr>
              <a:t>교차엔터티의</a:t>
            </a:r>
            <a:r>
              <a:rPr lang="ko-KR" altLang="en-US" sz="1200" b="1" dirty="0">
                <a:solidFill>
                  <a:srgbClr val="FF0000"/>
                </a:solidFill>
              </a:rPr>
              <a:t> </a:t>
            </a:r>
            <a:r>
              <a:rPr lang="ko-KR" altLang="en-US" sz="1200" b="1" dirty="0" err="1">
                <a:solidFill>
                  <a:srgbClr val="FF0000"/>
                </a:solidFill>
              </a:rPr>
              <a:t>하위엔터티가</a:t>
            </a:r>
            <a:r>
              <a:rPr lang="ko-KR" altLang="en-US" sz="1200" b="1" dirty="0">
                <a:solidFill>
                  <a:srgbClr val="FF0000"/>
                </a:solidFill>
              </a:rPr>
              <a:t> 많을 경우에만 인조식별자를 사용한다</a:t>
            </a:r>
            <a:r>
              <a:rPr lang="en-US" altLang="ko-KR" sz="1200" b="1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118F08-DCB8-400D-82BE-FC2BE60F1432}"/>
              </a:ext>
            </a:extLst>
          </p:cNvPr>
          <p:cNvSpPr txBox="1"/>
          <p:nvPr/>
        </p:nvSpPr>
        <p:spPr>
          <a:xfrm>
            <a:off x="9209654" y="5140523"/>
            <a:ext cx="22926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200" b="1" dirty="0">
                <a:solidFill>
                  <a:srgbClr val="FF0000"/>
                </a:solidFill>
              </a:rPr>
              <a:t>#C</a:t>
            </a:r>
            <a:r>
              <a:rPr lang="ko-KR" altLang="en-US" sz="1200" b="1" dirty="0">
                <a:solidFill>
                  <a:srgbClr val="FF0000"/>
                </a:solidFill>
              </a:rPr>
              <a:t> 는 순번이며</a:t>
            </a:r>
            <a:r>
              <a:rPr lang="en-US" altLang="ko-KR" sz="1200" b="1" dirty="0">
                <a:solidFill>
                  <a:srgbClr val="FF0000"/>
                </a:solidFill>
              </a:rPr>
              <a:t>, </a:t>
            </a:r>
            <a:r>
              <a:rPr lang="ko-KR" altLang="en-US" sz="1200" b="1" dirty="0">
                <a:solidFill>
                  <a:srgbClr val="FF0000"/>
                </a:solidFill>
              </a:rPr>
              <a:t>만능이다</a:t>
            </a:r>
            <a:r>
              <a:rPr lang="en-US" altLang="ko-KR" sz="1200" b="1" dirty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sz="1200" b="1" dirty="0">
                <a:solidFill>
                  <a:srgbClr val="FF0000"/>
                </a:solidFill>
              </a:rPr>
              <a:t>    : </a:t>
            </a:r>
            <a:r>
              <a:rPr lang="ko-KR" altLang="en-US" sz="1200" b="1" dirty="0">
                <a:solidFill>
                  <a:srgbClr val="FF0000"/>
                </a:solidFill>
              </a:rPr>
              <a:t>만능은 가급적 쓰지 마라</a:t>
            </a:r>
            <a:r>
              <a:rPr lang="en-US" altLang="ko-KR" sz="1200" b="1" dirty="0">
                <a:solidFill>
                  <a:srgbClr val="FF0000"/>
                </a:solidFill>
              </a:rPr>
              <a:t>.</a:t>
            </a:r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4B4E4908-E0B3-49A2-8C0D-CB7CB1326DFE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>
            <a:off x="7931020" y="4524082"/>
            <a:ext cx="1278634" cy="847274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F0761C01-2B31-45E9-A9A6-B837DCD7898D}"/>
              </a:ext>
            </a:extLst>
          </p:cNvPr>
          <p:cNvCxnSpPr>
            <a:cxnSpLocks/>
            <a:stCxn id="7" idx="0"/>
          </p:cNvCxnSpPr>
          <p:nvPr/>
        </p:nvCxnSpPr>
        <p:spPr>
          <a:xfrm rot="5400000" flipH="1" flipV="1">
            <a:off x="3389215" y="4902950"/>
            <a:ext cx="1333328" cy="410205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051198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1E2FE-FA50-29C3-EF27-0AB20453F15C}"/>
              </a:ext>
            </a:extLst>
          </p:cNvPr>
          <p:cNvSpPr txBox="1"/>
          <p:nvPr/>
        </p:nvSpPr>
        <p:spPr>
          <a:xfrm>
            <a:off x="866909" y="1496173"/>
            <a:ext cx="1132509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교차 </a:t>
            </a:r>
            <a:r>
              <a:rPr lang="ko-KR" altLang="en-US" sz="1600" b="1" dirty="0" err="1">
                <a:latin typeface="+mn-ea"/>
              </a:rPr>
              <a:t>엔터티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유형</a:t>
            </a:r>
            <a:r>
              <a:rPr lang="en-US" altLang="ko-KR" b="1" dirty="0">
                <a:solidFill>
                  <a:srgbClr val="FF0000"/>
                </a:solidFill>
                <a:latin typeface="+mn-ea"/>
              </a:rPr>
              <a:t>1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lvl="2"/>
            <a:r>
              <a:rPr lang="en-US" altLang="ko-KR" sz="1400" b="1" dirty="0">
                <a:latin typeface="+mn-ea"/>
              </a:rPr>
              <a:t>- </a:t>
            </a:r>
            <a:r>
              <a:rPr lang="ko-KR" altLang="en-US" sz="1400" b="1" dirty="0">
                <a:latin typeface="+mn-ea"/>
              </a:rPr>
              <a:t>가장 기본적인 유형으로 양쪽 상위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부모</a:t>
            </a:r>
            <a:r>
              <a:rPr lang="en-US" altLang="ko-KR" sz="1400" b="1" dirty="0">
                <a:latin typeface="+mn-ea"/>
              </a:rPr>
              <a:t>)</a:t>
            </a:r>
            <a:r>
              <a:rPr lang="ko-KR" altLang="en-US" sz="1400" b="1" dirty="0">
                <a:latin typeface="+mn-ea"/>
              </a:rPr>
              <a:t> 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주 식별자만으로 교차 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주 식별자를 구성하는 모델이다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lvl="2"/>
            <a:r>
              <a:rPr lang="en-US" altLang="ko-KR" sz="1400" b="1" dirty="0">
                <a:latin typeface="+mn-ea"/>
              </a:rPr>
              <a:t>- </a:t>
            </a:r>
            <a:r>
              <a:rPr lang="ko-KR" altLang="en-US" sz="1400" b="1" dirty="0">
                <a:latin typeface="+mn-ea"/>
              </a:rPr>
              <a:t>상속받은 양쪽 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주 식별자는 각자 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업무 식별자이거나 인조 식별자다 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lvl="2"/>
            <a:r>
              <a:rPr lang="en-US" altLang="ko-KR" sz="1400" b="1" dirty="0">
                <a:latin typeface="+mn-ea"/>
              </a:rPr>
              <a:t>- </a:t>
            </a:r>
            <a:r>
              <a:rPr lang="ko-KR" altLang="en-US" sz="1400" b="1" dirty="0">
                <a:latin typeface="+mn-ea"/>
              </a:rPr>
              <a:t>한 사원은 여러 프로젝트에 참여할 수 있으며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프로젝트에는 당연히 여러 사원이 참여할 수 있기 때문에 </a:t>
            </a:r>
            <a:endParaRPr lang="en-US" altLang="ko-KR" sz="1400" b="1" dirty="0">
              <a:latin typeface="+mn-ea"/>
            </a:endParaRPr>
          </a:p>
          <a:p>
            <a:pPr lvl="2"/>
            <a:r>
              <a:rPr lang="en-US" altLang="ko-KR" sz="1400" b="1" dirty="0">
                <a:latin typeface="+mn-ea"/>
              </a:rPr>
              <a:t>- </a:t>
            </a:r>
            <a:r>
              <a:rPr lang="ko-KR" altLang="en-US" sz="1400" b="1" dirty="0">
                <a:latin typeface="+mn-ea"/>
              </a:rPr>
              <a:t>프로젝트 인력 </a:t>
            </a:r>
            <a:r>
              <a:rPr lang="ko-KR" altLang="en-US" sz="1400" b="1" dirty="0" err="1">
                <a:latin typeface="+mn-ea"/>
              </a:rPr>
              <a:t>엔터티는</a:t>
            </a:r>
            <a:r>
              <a:rPr lang="ko-KR" altLang="en-US" sz="1400" b="1" dirty="0">
                <a:latin typeface="+mn-ea"/>
              </a:rPr>
              <a:t> 다대다 </a:t>
            </a:r>
            <a:r>
              <a:rPr lang="en-US" altLang="ko-KR" sz="1400" b="1" dirty="0">
                <a:latin typeface="+mn-ea"/>
              </a:rPr>
              <a:t>(M:M)</a:t>
            </a:r>
            <a:r>
              <a:rPr lang="ko-KR" altLang="en-US" sz="1400" b="1" dirty="0">
                <a:latin typeface="+mn-ea"/>
              </a:rPr>
              <a:t>관계를 관리하는 전형적인 교차 </a:t>
            </a:r>
            <a:r>
              <a:rPr lang="ko-KR" altLang="en-US" sz="1400" b="1" dirty="0" err="1">
                <a:latin typeface="+mn-ea"/>
              </a:rPr>
              <a:t>엔터티다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lvl="2"/>
            <a:r>
              <a:rPr lang="en-US" altLang="ko-KR" sz="1400" b="1" dirty="0">
                <a:latin typeface="+mn-ea"/>
              </a:rPr>
              <a:t>- BOM </a:t>
            </a:r>
            <a:r>
              <a:rPr lang="ko-KR" altLang="en-US" sz="1400" b="1" dirty="0">
                <a:latin typeface="+mn-ea"/>
              </a:rPr>
              <a:t>모델이나 양쪽 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인스턴스 간 매핑을 관리하는 </a:t>
            </a:r>
            <a:r>
              <a:rPr lang="ko-KR" altLang="en-US" sz="1400" b="1" dirty="0" err="1">
                <a:latin typeface="+mn-ea"/>
              </a:rPr>
              <a:t>엔터티도</a:t>
            </a:r>
            <a:r>
              <a:rPr lang="ko-KR" altLang="en-US" sz="1400" b="1" dirty="0">
                <a:latin typeface="+mn-ea"/>
              </a:rPr>
              <a:t> 이에 속한다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762EA0A-43C7-75F6-CF6E-F935BFA1C8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928" b="58955"/>
          <a:stretch/>
        </p:blipFill>
        <p:spPr>
          <a:xfrm>
            <a:off x="6760160" y="3450390"/>
            <a:ext cx="3226718" cy="1198587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CD8BFF1-FEE6-F2CE-BF84-FB01D24434E0}"/>
              </a:ext>
            </a:extLst>
          </p:cNvPr>
          <p:cNvCxnSpPr>
            <a:cxnSpLocks/>
          </p:cNvCxnSpPr>
          <p:nvPr/>
        </p:nvCxnSpPr>
        <p:spPr>
          <a:xfrm flipH="1">
            <a:off x="5899986" y="4181764"/>
            <a:ext cx="76200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1D395835-E4C1-B3DF-710E-9E6CDECC4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3449" y="3798518"/>
            <a:ext cx="3829584" cy="1066949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20924EC-7D61-3AD8-18F7-039335946191}"/>
              </a:ext>
            </a:extLst>
          </p:cNvPr>
          <p:cNvSpPr/>
          <p:nvPr/>
        </p:nvSpPr>
        <p:spPr>
          <a:xfrm>
            <a:off x="2087414" y="4100084"/>
            <a:ext cx="3517931" cy="281605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EBA059-42DF-8B3E-CC71-B903BFB00578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교차 </a:t>
            </a:r>
            <a:r>
              <a:rPr lang="ko-KR" altLang="en-US" sz="2400" b="1" dirty="0" err="1">
                <a:latin typeface="+mn-ea"/>
              </a:rPr>
              <a:t>엔터티의</a:t>
            </a:r>
            <a:r>
              <a:rPr lang="ko-KR" altLang="en-US" sz="2400" b="1" dirty="0">
                <a:latin typeface="+mn-ea"/>
              </a:rPr>
              <a:t> 주식별자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E1A1609-C2E0-312E-F4B9-E180431FF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072238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1E2FE-FA50-29C3-EF27-0AB20453F15C}"/>
              </a:ext>
            </a:extLst>
          </p:cNvPr>
          <p:cNvSpPr txBox="1"/>
          <p:nvPr/>
        </p:nvSpPr>
        <p:spPr>
          <a:xfrm>
            <a:off x="866909" y="1496173"/>
            <a:ext cx="11325091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교차 </a:t>
            </a:r>
            <a:r>
              <a:rPr lang="ko-KR" altLang="en-US" sz="1600" b="1" dirty="0" err="1">
                <a:latin typeface="+mn-ea"/>
              </a:rPr>
              <a:t>엔터티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유형</a:t>
            </a:r>
            <a:r>
              <a:rPr lang="en-US" altLang="ko-KR" b="1" dirty="0">
                <a:solidFill>
                  <a:srgbClr val="FF0000"/>
                </a:solidFill>
                <a:latin typeface="+mn-ea"/>
              </a:rPr>
              <a:t>2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lvl="2"/>
            <a:r>
              <a:rPr lang="en-US" altLang="ko-KR" sz="1400" b="1" dirty="0">
                <a:latin typeface="+mn-ea"/>
              </a:rPr>
              <a:t>- </a:t>
            </a:r>
            <a:r>
              <a:rPr lang="ko-KR" altLang="en-US" sz="1400" b="1" dirty="0">
                <a:latin typeface="+mn-ea"/>
              </a:rPr>
              <a:t>상위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부모</a:t>
            </a:r>
            <a:r>
              <a:rPr lang="en-US" altLang="ko-KR" sz="1400" b="1" dirty="0">
                <a:latin typeface="+mn-ea"/>
              </a:rPr>
              <a:t>)</a:t>
            </a:r>
            <a:r>
              <a:rPr lang="ko-KR" altLang="en-US" sz="1400" b="1" dirty="0">
                <a:latin typeface="+mn-ea"/>
              </a:rPr>
              <a:t> 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주 식별자만으로 교차 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인스턴스를 유일하게 식별할 수 없을 때는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유형</a:t>
            </a:r>
            <a:r>
              <a:rPr lang="en-US" altLang="ko-KR" sz="1400" b="1" dirty="0">
                <a:latin typeface="+mn-ea"/>
              </a:rPr>
              <a:t>2] </a:t>
            </a:r>
            <a:r>
              <a:rPr lang="ko-KR" altLang="en-US" sz="1400" b="1" dirty="0">
                <a:latin typeface="+mn-ea"/>
              </a:rPr>
              <a:t>모델을 사용해야 한다</a:t>
            </a:r>
            <a:r>
              <a:rPr lang="en-US" altLang="ko-KR" sz="1400" b="1" dirty="0">
                <a:latin typeface="+mn-ea"/>
              </a:rPr>
              <a:t>.  </a:t>
            </a:r>
          </a:p>
          <a:p>
            <a:pPr lvl="2"/>
            <a:r>
              <a:rPr lang="en-US" altLang="ko-KR" sz="1400" b="1" dirty="0">
                <a:latin typeface="+mn-ea"/>
              </a:rPr>
              <a:t>- [</a:t>
            </a:r>
            <a:r>
              <a:rPr lang="ko-KR" altLang="en-US" sz="1400" b="1" dirty="0">
                <a:latin typeface="+mn-ea"/>
              </a:rPr>
              <a:t>유형</a:t>
            </a:r>
            <a:r>
              <a:rPr lang="en-US" altLang="ko-KR" sz="1400" b="1" dirty="0">
                <a:latin typeface="+mn-ea"/>
              </a:rPr>
              <a:t>2] </a:t>
            </a:r>
            <a:r>
              <a:rPr lang="ko-KR" altLang="en-US" sz="1400" b="1" dirty="0">
                <a:latin typeface="+mn-ea"/>
              </a:rPr>
              <a:t>모델은 양쪽 상위 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부모</a:t>
            </a:r>
            <a:r>
              <a:rPr lang="en-US" altLang="ko-KR" sz="1400" b="1" dirty="0">
                <a:latin typeface="+mn-ea"/>
              </a:rPr>
              <a:t>) 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주 식별자에 자체 업무 식별자가 추가된 모델이다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lvl="2"/>
            <a:r>
              <a:rPr lang="en-US" altLang="ko-KR" sz="1400" b="1" dirty="0">
                <a:latin typeface="+mn-ea"/>
              </a:rPr>
              <a:t>- 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4.26]</a:t>
            </a:r>
            <a:r>
              <a:rPr lang="ko-KR" altLang="en-US" sz="1400" b="1" dirty="0">
                <a:latin typeface="+mn-ea"/>
              </a:rPr>
              <a:t>에서 고객은 여러 종류의 보험을 계약할 수 있고，하나의 보험 계약에는 관련자가 여러 명이 있을 수 있다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lvl="2"/>
            <a:endParaRPr lang="en-US" altLang="ko-KR" sz="1200" dirty="0">
              <a:latin typeface="+mn-ea"/>
            </a:endParaRPr>
          </a:p>
          <a:p>
            <a:pPr lvl="2"/>
            <a:endParaRPr lang="en-US" altLang="ko-KR" sz="1200" dirty="0">
              <a:latin typeface="+mn-ea"/>
            </a:endParaRPr>
          </a:p>
          <a:p>
            <a:pPr lvl="2"/>
            <a:endParaRPr lang="en-US" altLang="ko-KR" sz="1200" dirty="0">
              <a:latin typeface="+mn-ea"/>
            </a:endParaRPr>
          </a:p>
          <a:p>
            <a:pPr lvl="2"/>
            <a:endParaRPr lang="en-US" altLang="ko-KR" sz="1200" dirty="0">
              <a:latin typeface="+mn-ea"/>
            </a:endParaRPr>
          </a:p>
          <a:p>
            <a:pPr lvl="2"/>
            <a:endParaRPr lang="en-US" altLang="ko-KR" sz="1200" dirty="0">
              <a:latin typeface="+mn-ea"/>
            </a:endParaRPr>
          </a:p>
          <a:p>
            <a:pPr lvl="2"/>
            <a:endParaRPr lang="en-US" altLang="ko-KR" sz="1200" dirty="0">
              <a:latin typeface="+mn-ea"/>
            </a:endParaRPr>
          </a:p>
          <a:p>
            <a:pPr lvl="2"/>
            <a:endParaRPr lang="en-US" altLang="ko-KR" sz="1200" dirty="0">
              <a:latin typeface="+mn-ea"/>
            </a:endParaRPr>
          </a:p>
          <a:p>
            <a:pPr lvl="2"/>
            <a:endParaRPr lang="en-US" altLang="ko-KR" sz="1200" dirty="0">
              <a:latin typeface="+mn-ea"/>
            </a:endParaRPr>
          </a:p>
          <a:p>
            <a:pPr lvl="2"/>
            <a:endParaRPr lang="en-US" altLang="ko-KR" sz="1200" dirty="0">
              <a:latin typeface="+mn-ea"/>
            </a:endParaRPr>
          </a:p>
          <a:p>
            <a:pPr lvl="2"/>
            <a:endParaRPr lang="en-US" altLang="ko-KR" sz="1200" dirty="0">
              <a:latin typeface="+mn-ea"/>
            </a:endParaRPr>
          </a:p>
          <a:p>
            <a:pPr lvl="2"/>
            <a:endParaRPr lang="en-US" altLang="ko-KR" sz="1200" dirty="0">
              <a:latin typeface="+mn-ea"/>
            </a:endParaRPr>
          </a:p>
          <a:p>
            <a:pPr lvl="2"/>
            <a:r>
              <a:rPr lang="en-US" altLang="ko-KR" sz="1200" dirty="0">
                <a:latin typeface="+mn-ea"/>
              </a:rPr>
              <a:t>- 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4.27]</a:t>
            </a:r>
            <a:r>
              <a:rPr lang="ko-KR" altLang="en-US" sz="1200" dirty="0">
                <a:latin typeface="+mn-ea"/>
              </a:rPr>
              <a:t>과 같은 유형의 모델에서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b="1" u="sng" dirty="0">
                <a:latin typeface="+mn-ea"/>
              </a:rPr>
              <a:t>한 학생</a:t>
            </a:r>
            <a:r>
              <a:rPr lang="ko-KR" altLang="en-US" sz="1200" dirty="0">
                <a:latin typeface="+mn-ea"/>
              </a:rPr>
              <a:t>은 </a:t>
            </a:r>
            <a:r>
              <a:rPr lang="ko-KR" altLang="en-US" sz="1200" b="1" u="sng" dirty="0">
                <a:latin typeface="+mn-ea"/>
              </a:rPr>
              <a:t>같은 과목</a:t>
            </a:r>
            <a:r>
              <a:rPr lang="ko-KR" altLang="en-US" sz="1200" dirty="0">
                <a:latin typeface="+mn-ea"/>
              </a:rPr>
              <a:t>을 </a:t>
            </a:r>
            <a:r>
              <a:rPr lang="ko-KR" altLang="en-US" sz="1200" b="1" u="sng" dirty="0">
                <a:latin typeface="+mn-ea"/>
              </a:rPr>
              <a:t>같은 해</a:t>
            </a:r>
            <a:r>
              <a:rPr lang="ko-KR" altLang="en-US" sz="1200" dirty="0">
                <a:latin typeface="+mn-ea"/>
              </a:rPr>
              <a:t>에 </a:t>
            </a:r>
            <a:r>
              <a:rPr lang="ko-KR" altLang="en-US" sz="1200" b="1" u="sng" dirty="0">
                <a:latin typeface="+mn-ea"/>
              </a:rPr>
              <a:t>재수강</a:t>
            </a:r>
            <a:r>
              <a:rPr lang="ko-KR" altLang="en-US" sz="1200" dirty="0">
                <a:latin typeface="+mn-ea"/>
              </a:rPr>
              <a:t> 할 수 있다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D726DE2-94B0-B06E-015F-71843060E4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521" r="-293" b="56627"/>
          <a:stretch/>
        </p:blipFill>
        <p:spPr>
          <a:xfrm>
            <a:off x="7025043" y="2574354"/>
            <a:ext cx="3139439" cy="126657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4E5F741-EA43-0984-C807-4B47F3D99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445" y="2903799"/>
            <a:ext cx="4198502" cy="118583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4F6B792-D737-1ECF-C616-3CE73DB9F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6285" y="4706308"/>
            <a:ext cx="3391373" cy="1267002"/>
          </a:xfrm>
          <a:prstGeom prst="rect">
            <a:avLst/>
          </a:prstGeom>
        </p:spPr>
      </p:pic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EE515CF-4E9C-B6AC-2710-FFDC2EFC0710}"/>
              </a:ext>
            </a:extLst>
          </p:cNvPr>
          <p:cNvCxnSpPr>
            <a:cxnSpLocks/>
          </p:cNvCxnSpPr>
          <p:nvPr/>
        </p:nvCxnSpPr>
        <p:spPr>
          <a:xfrm flipH="1">
            <a:off x="6104106" y="3309245"/>
            <a:ext cx="9076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1D77AD9-C696-4C89-0498-28FB48A17AA6}"/>
              </a:ext>
            </a:extLst>
          </p:cNvPr>
          <p:cNvSpPr/>
          <p:nvPr/>
        </p:nvSpPr>
        <p:spPr>
          <a:xfrm>
            <a:off x="3310961" y="3556196"/>
            <a:ext cx="976559" cy="186654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6881538-4D4B-ED10-5DCE-E3F0B9C055DB}"/>
              </a:ext>
            </a:extLst>
          </p:cNvPr>
          <p:cNvSpPr/>
          <p:nvPr/>
        </p:nvSpPr>
        <p:spPr>
          <a:xfrm>
            <a:off x="3310961" y="5388774"/>
            <a:ext cx="976559" cy="186654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C451A7-5784-044B-06B8-428D41CBEA8A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교차 </a:t>
            </a:r>
            <a:r>
              <a:rPr lang="ko-KR" altLang="en-US" sz="2400" b="1" dirty="0" err="1">
                <a:latin typeface="+mn-ea"/>
              </a:rPr>
              <a:t>엔터티의</a:t>
            </a:r>
            <a:r>
              <a:rPr lang="ko-KR" altLang="en-US" sz="2400" b="1" dirty="0">
                <a:latin typeface="+mn-ea"/>
              </a:rPr>
              <a:t> 주식별자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06D550-D3FC-C6AB-D77D-9D68874E0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227123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1E2FE-FA50-29C3-EF27-0AB20453F15C}"/>
              </a:ext>
            </a:extLst>
          </p:cNvPr>
          <p:cNvSpPr txBox="1"/>
          <p:nvPr/>
        </p:nvSpPr>
        <p:spPr>
          <a:xfrm>
            <a:off x="866909" y="1496173"/>
            <a:ext cx="10983913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교차 </a:t>
            </a:r>
            <a:r>
              <a:rPr lang="ko-KR" altLang="en-US" sz="1600" b="1" dirty="0" err="1">
                <a:latin typeface="+mn-ea"/>
              </a:rPr>
              <a:t>엔터티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유형</a:t>
            </a:r>
            <a:r>
              <a:rPr lang="en-US" altLang="ko-KR" b="1" dirty="0">
                <a:solidFill>
                  <a:srgbClr val="FF0000"/>
                </a:solidFill>
                <a:latin typeface="+mn-ea"/>
              </a:rPr>
              <a:t>3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lvl="2"/>
            <a:r>
              <a:rPr lang="en-US" altLang="ko-KR" sz="1200" dirty="0">
                <a:latin typeface="+mn-ea"/>
              </a:rPr>
              <a:t>-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4.27]</a:t>
            </a:r>
            <a:r>
              <a:rPr lang="ko-KR" altLang="en-US" sz="1400" b="1" dirty="0">
                <a:latin typeface="+mn-ea"/>
              </a:rPr>
              <a:t> 수강 </a:t>
            </a:r>
            <a:r>
              <a:rPr lang="ko-KR" altLang="en-US" sz="1400" b="1" dirty="0" err="1">
                <a:latin typeface="+mn-ea"/>
              </a:rPr>
              <a:t>엔터티와</a:t>
            </a:r>
            <a:r>
              <a:rPr lang="ko-KR" altLang="en-US" sz="1400" b="1" dirty="0">
                <a:latin typeface="+mn-ea"/>
              </a:rPr>
              <a:t> 같이 업무 식별자가 복잡한 </a:t>
            </a:r>
            <a:r>
              <a:rPr lang="ko-KR" altLang="en-US" sz="1400" b="1" dirty="0" err="1">
                <a:latin typeface="+mn-ea"/>
              </a:rPr>
              <a:t>엔터티는</a:t>
            </a:r>
            <a:r>
              <a:rPr lang="ko-KR" altLang="en-US" sz="1400" b="1" dirty="0">
                <a:latin typeface="+mn-ea"/>
              </a:rPr>
              <a:t> 주 식별자를 단순화시킬 필요가 있다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이때 사용할 수 있는 모델이 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유형</a:t>
            </a:r>
            <a:r>
              <a:rPr lang="en-US" altLang="ko-KR" sz="1400" b="1" dirty="0">
                <a:latin typeface="+mn-ea"/>
              </a:rPr>
              <a:t>3]</a:t>
            </a:r>
            <a:r>
              <a:rPr lang="ko-KR" altLang="en-US" sz="1400" b="1" dirty="0">
                <a:latin typeface="+mn-ea"/>
              </a:rPr>
              <a:t>이다</a:t>
            </a:r>
            <a:r>
              <a:rPr lang="en-US" altLang="ko-KR" sz="1400" b="1" dirty="0">
                <a:latin typeface="+mn-ea"/>
              </a:rPr>
              <a:t>. [</a:t>
            </a:r>
            <a:r>
              <a:rPr lang="ko-KR" altLang="en-US" sz="1400" b="1" dirty="0">
                <a:latin typeface="+mn-ea"/>
              </a:rPr>
              <a:t>유형</a:t>
            </a:r>
            <a:r>
              <a:rPr lang="en-US" altLang="ko-KR" sz="1400" b="1" dirty="0">
                <a:latin typeface="+mn-ea"/>
              </a:rPr>
              <a:t>3] </a:t>
            </a:r>
            <a:r>
              <a:rPr lang="ko-KR" altLang="en-US" sz="1400" b="1" dirty="0">
                <a:latin typeface="+mn-ea"/>
              </a:rPr>
              <a:t>모델은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인조 식별자를 사용하는 모델</a:t>
            </a:r>
            <a:r>
              <a:rPr lang="ko-KR" altLang="en-US" sz="1400" b="1" dirty="0">
                <a:latin typeface="+mn-ea"/>
              </a:rPr>
              <a:t>이다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교차 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하위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자식</a:t>
            </a:r>
            <a:r>
              <a:rPr lang="en-US" altLang="ko-KR" sz="1400" b="1" dirty="0">
                <a:latin typeface="+mn-ea"/>
              </a:rPr>
              <a:t>) </a:t>
            </a:r>
            <a:r>
              <a:rPr lang="ko-KR" altLang="en-US" sz="1400" b="1" dirty="0" err="1">
                <a:latin typeface="+mn-ea"/>
              </a:rPr>
              <a:t>엔터티가</a:t>
            </a:r>
            <a:r>
              <a:rPr lang="ko-KR" altLang="en-US" sz="1400" b="1" dirty="0">
                <a:latin typeface="+mn-ea"/>
              </a:rPr>
              <a:t> 존재하면 주 식별자를 단순하게 만들기 위해 </a:t>
            </a:r>
            <a:endParaRPr lang="en-US" altLang="ko-KR" sz="1400" b="1" dirty="0">
              <a:latin typeface="+mn-ea"/>
            </a:endParaRPr>
          </a:p>
          <a:p>
            <a:pPr lvl="2"/>
            <a:r>
              <a:rPr lang="en-US" altLang="ko-KR" sz="1400" b="1" dirty="0">
                <a:latin typeface="+mn-ea"/>
              </a:rPr>
              <a:t>- 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4.28] </a:t>
            </a:r>
            <a:r>
              <a:rPr lang="ko-KR" altLang="en-US" sz="1400" b="1" dirty="0">
                <a:latin typeface="+mn-ea"/>
              </a:rPr>
              <a:t>수강 </a:t>
            </a:r>
            <a:r>
              <a:rPr lang="ko-KR" altLang="en-US" sz="1400" b="1" dirty="0" err="1">
                <a:latin typeface="+mn-ea"/>
              </a:rPr>
              <a:t>엔터티와</a:t>
            </a:r>
            <a:r>
              <a:rPr lang="ko-KR" altLang="en-US" sz="1400" b="1" dirty="0">
                <a:latin typeface="+mn-ea"/>
              </a:rPr>
              <a:t> 같이 인조 식별자를 사용할 수 있다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D726DE2-94B0-B06E-015F-71843060E4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8" t="42806" r="52449" b="14184"/>
          <a:stretch/>
        </p:blipFill>
        <p:spPr>
          <a:xfrm>
            <a:off x="6554571" y="3071289"/>
            <a:ext cx="3149599" cy="1255992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DB722CF-8BB4-F5A0-221F-35123855E594}"/>
              </a:ext>
            </a:extLst>
          </p:cNvPr>
          <p:cNvCxnSpPr>
            <a:cxnSpLocks/>
          </p:cNvCxnSpPr>
          <p:nvPr/>
        </p:nvCxnSpPr>
        <p:spPr>
          <a:xfrm flipH="1">
            <a:off x="5646905" y="3699285"/>
            <a:ext cx="9076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B586DD21-7695-E529-0E5E-B17173384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965" y="3161016"/>
            <a:ext cx="3372321" cy="1457528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DF2000F-BD22-F7F6-B2D3-90E01D7FC175}"/>
              </a:ext>
            </a:extLst>
          </p:cNvPr>
          <p:cNvSpPr/>
          <p:nvPr/>
        </p:nvSpPr>
        <p:spPr>
          <a:xfrm>
            <a:off x="3280480" y="3424667"/>
            <a:ext cx="651439" cy="190062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C2CE2E-617D-BAA7-37EF-A8306A236771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교차 </a:t>
            </a:r>
            <a:r>
              <a:rPr lang="ko-KR" altLang="en-US" sz="2400" b="1" dirty="0" err="1">
                <a:latin typeface="+mn-ea"/>
              </a:rPr>
              <a:t>엔터티의</a:t>
            </a:r>
            <a:r>
              <a:rPr lang="ko-KR" altLang="en-US" sz="2400" b="1" dirty="0">
                <a:latin typeface="+mn-ea"/>
              </a:rPr>
              <a:t> 주식별자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FC42983-E017-5343-4E59-DB170B436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115</a:t>
            </a:fld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3AE3B5-88A0-49E4-A698-4F11B7505051}"/>
              </a:ext>
            </a:extLst>
          </p:cNvPr>
          <p:cNvSpPr txBox="1"/>
          <p:nvPr/>
        </p:nvSpPr>
        <p:spPr>
          <a:xfrm>
            <a:off x="5069402" y="4410081"/>
            <a:ext cx="5118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200" b="1" dirty="0" err="1">
                <a:solidFill>
                  <a:srgbClr val="FF0000"/>
                </a:solidFill>
              </a:rPr>
              <a:t>교차엔터티에서</a:t>
            </a:r>
            <a:r>
              <a:rPr lang="ko-KR" altLang="en-US" sz="1200" b="1" dirty="0">
                <a:solidFill>
                  <a:srgbClr val="FF0000"/>
                </a:solidFill>
              </a:rPr>
              <a:t> 인조식별자를 사용하지 않는 이유</a:t>
            </a:r>
            <a:r>
              <a:rPr lang="en-US" altLang="ko-KR" sz="1200" b="1" dirty="0">
                <a:solidFill>
                  <a:srgbClr val="FF0000"/>
                </a:solidFill>
              </a:rPr>
              <a:t>.</a:t>
            </a:r>
          </a:p>
          <a:p>
            <a:r>
              <a:rPr lang="ko-KR" altLang="en-US" sz="1200" b="1" dirty="0">
                <a:solidFill>
                  <a:srgbClr val="FF0000"/>
                </a:solidFill>
              </a:rPr>
              <a:t>    </a:t>
            </a:r>
            <a:r>
              <a:rPr lang="en-US" altLang="ko-KR" sz="1200" b="1" dirty="0">
                <a:solidFill>
                  <a:srgbClr val="FF0000"/>
                </a:solidFill>
              </a:rPr>
              <a:t>: </a:t>
            </a:r>
            <a:r>
              <a:rPr lang="ko-KR" altLang="en-US" sz="1200" b="1" dirty="0" err="1">
                <a:solidFill>
                  <a:srgbClr val="FF0000"/>
                </a:solidFill>
              </a:rPr>
              <a:t>교차엔터티의</a:t>
            </a:r>
            <a:r>
              <a:rPr lang="ko-KR" altLang="en-US" sz="1200" b="1" dirty="0">
                <a:solidFill>
                  <a:srgbClr val="FF0000"/>
                </a:solidFill>
              </a:rPr>
              <a:t> </a:t>
            </a:r>
            <a:r>
              <a:rPr lang="ko-KR" altLang="en-US" sz="1200" b="1" dirty="0" err="1">
                <a:solidFill>
                  <a:srgbClr val="FF0000"/>
                </a:solidFill>
              </a:rPr>
              <a:t>하위엔터티가</a:t>
            </a:r>
            <a:r>
              <a:rPr lang="ko-KR" altLang="en-US" sz="1200" b="1" dirty="0">
                <a:solidFill>
                  <a:srgbClr val="FF0000"/>
                </a:solidFill>
              </a:rPr>
              <a:t> 많을 경우에만 인조식별자를 사용한다</a:t>
            </a:r>
            <a:r>
              <a:rPr lang="en-US" altLang="ko-KR" sz="1200" b="1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3843D1-77B9-47B1-9BDC-12861131AD48}"/>
              </a:ext>
            </a:extLst>
          </p:cNvPr>
          <p:cNvSpPr txBox="1"/>
          <p:nvPr/>
        </p:nvSpPr>
        <p:spPr>
          <a:xfrm>
            <a:off x="5069402" y="5130994"/>
            <a:ext cx="32928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200" b="1" dirty="0">
                <a:solidFill>
                  <a:srgbClr val="FF0000"/>
                </a:solidFill>
              </a:rPr>
              <a:t>실체 </a:t>
            </a:r>
            <a:r>
              <a:rPr lang="ko-KR" altLang="en-US" sz="1200" b="1" dirty="0" err="1">
                <a:solidFill>
                  <a:srgbClr val="FF0000"/>
                </a:solidFill>
              </a:rPr>
              <a:t>엔터티에는</a:t>
            </a:r>
            <a:r>
              <a:rPr lang="ko-KR" altLang="en-US" sz="1200" b="1" dirty="0">
                <a:solidFill>
                  <a:srgbClr val="FF0000"/>
                </a:solidFill>
              </a:rPr>
              <a:t> 인조식별자를 사용한다</a:t>
            </a:r>
            <a:r>
              <a:rPr lang="en-US" altLang="ko-KR" sz="1200" b="1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692321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1E2FE-FA50-29C3-EF27-0AB20453F15C}"/>
              </a:ext>
            </a:extLst>
          </p:cNvPr>
          <p:cNvSpPr txBox="1"/>
          <p:nvPr/>
        </p:nvSpPr>
        <p:spPr>
          <a:xfrm>
            <a:off x="866909" y="1496173"/>
            <a:ext cx="10983913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교차 </a:t>
            </a:r>
            <a:r>
              <a:rPr lang="ko-KR" altLang="en-US" sz="1600" b="1" dirty="0" err="1">
                <a:latin typeface="+mn-ea"/>
              </a:rPr>
              <a:t>엔터티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유형</a:t>
            </a:r>
            <a:r>
              <a:rPr lang="en-US" altLang="ko-KR" b="1" dirty="0">
                <a:solidFill>
                  <a:srgbClr val="FF0000"/>
                </a:solidFill>
                <a:latin typeface="+mn-ea"/>
              </a:rPr>
              <a:t>4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lvl="2"/>
            <a:r>
              <a:rPr lang="en-US" altLang="ko-KR" sz="1400" b="1" dirty="0">
                <a:latin typeface="+mn-ea"/>
              </a:rPr>
              <a:t>- [</a:t>
            </a:r>
            <a:r>
              <a:rPr lang="ko-KR" altLang="en-US" sz="1400" b="1" dirty="0">
                <a:latin typeface="+mn-ea"/>
              </a:rPr>
              <a:t>유형</a:t>
            </a:r>
            <a:r>
              <a:rPr lang="en-US" altLang="ko-KR" sz="1400" b="1" dirty="0">
                <a:latin typeface="+mn-ea"/>
              </a:rPr>
              <a:t>4 ]</a:t>
            </a:r>
            <a:r>
              <a:rPr lang="ko-KR" altLang="en-US" sz="1400" b="1" dirty="0">
                <a:latin typeface="+mn-ea"/>
              </a:rPr>
              <a:t>는 부분 인조 식별자</a:t>
            </a:r>
            <a:r>
              <a:rPr lang="en-US" altLang="ko-KR" sz="1400" b="1" dirty="0">
                <a:latin typeface="+mn-ea"/>
              </a:rPr>
              <a:t>(Partial Artificial Identifier)</a:t>
            </a:r>
            <a:r>
              <a:rPr lang="ko-KR" altLang="en-US" sz="1400" b="1" dirty="0">
                <a:latin typeface="+mn-ea"/>
              </a:rPr>
              <a:t>를 사용하는 모델이다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양쪽 상위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부모</a:t>
            </a:r>
            <a:r>
              <a:rPr lang="en-US" altLang="ko-KR" sz="1400" b="1" dirty="0">
                <a:latin typeface="+mn-ea"/>
              </a:rPr>
              <a:t>) 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주 식별자</a:t>
            </a:r>
            <a:endParaRPr lang="en-US" altLang="ko-KR" sz="1400" b="1" dirty="0">
              <a:latin typeface="+mn-ea"/>
            </a:endParaRPr>
          </a:p>
          <a:p>
            <a:pPr lvl="2"/>
            <a:r>
              <a:rPr lang="en-US" altLang="ko-KR" sz="1400" b="1" dirty="0">
                <a:latin typeface="+mn-ea"/>
              </a:rPr>
              <a:t>-</a:t>
            </a:r>
            <a:r>
              <a:rPr lang="ko-KR" altLang="en-US" sz="1400" b="1" dirty="0">
                <a:latin typeface="+mn-ea"/>
              </a:rPr>
              <a:t> 중에서</a:t>
            </a:r>
            <a:r>
              <a:rPr lang="en-US" altLang="ko-KR" sz="1400" b="1" dirty="0">
                <a:latin typeface="+mn-ea"/>
              </a:rPr>
              <a:t>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자주 사용하는 한쪽 부모 </a:t>
            </a:r>
            <a:r>
              <a:rPr lang="ko-KR" altLang="en-US" sz="1400" b="1" u="sng" dirty="0" err="1">
                <a:solidFill>
                  <a:srgbClr val="FF0000"/>
                </a:solidFill>
                <a:latin typeface="+mn-ea"/>
              </a:rPr>
              <a:t>엔터티의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 주 식별자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대표 주 식별자</a:t>
            </a:r>
            <a:r>
              <a:rPr lang="en-US" altLang="ko-KR" sz="1400" b="1" dirty="0">
                <a:latin typeface="+mn-ea"/>
              </a:rPr>
              <a:t>)</a:t>
            </a:r>
            <a:r>
              <a:rPr lang="ko-KR" altLang="en-US" sz="1400" b="1" dirty="0">
                <a:latin typeface="+mn-ea"/>
              </a:rPr>
              <a:t>만 상속하면서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순번 속성을 추가</a:t>
            </a:r>
            <a:r>
              <a:rPr lang="ko-KR" altLang="en-US" sz="1400" b="1" dirty="0">
                <a:latin typeface="+mn-ea"/>
              </a:rPr>
              <a:t>하는 모델이다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D726DE2-94B0-B06E-015F-71843060E4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827" t="42807" r="704" b="14261"/>
          <a:stretch/>
        </p:blipFill>
        <p:spPr>
          <a:xfrm>
            <a:off x="6578193" y="2806809"/>
            <a:ext cx="3119120" cy="1253732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DB722CF-8BB4-F5A0-221F-35123855E594}"/>
              </a:ext>
            </a:extLst>
          </p:cNvPr>
          <p:cNvCxnSpPr>
            <a:cxnSpLocks/>
          </p:cNvCxnSpPr>
          <p:nvPr/>
        </p:nvCxnSpPr>
        <p:spPr>
          <a:xfrm flipH="1">
            <a:off x="5646908" y="3610078"/>
            <a:ext cx="9076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B77CABA7-352F-633D-E1B8-DC25D8DF8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5448" y="2991382"/>
            <a:ext cx="3353268" cy="1505160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E2F97ED-1689-1AB0-5FC2-47AD6CD52237}"/>
              </a:ext>
            </a:extLst>
          </p:cNvPr>
          <p:cNvSpPr/>
          <p:nvPr/>
        </p:nvSpPr>
        <p:spPr>
          <a:xfrm>
            <a:off x="3515363" y="3233860"/>
            <a:ext cx="883920" cy="352622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BDB0DAF-0855-0415-E18B-35EFD06A9914}"/>
              </a:ext>
            </a:extLst>
          </p:cNvPr>
          <p:cNvSpPr/>
          <p:nvPr/>
        </p:nvSpPr>
        <p:spPr>
          <a:xfrm>
            <a:off x="2482474" y="3371020"/>
            <a:ext cx="616328" cy="215462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CCDB2C-4766-C873-FCD8-C7D90A9B3A3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교차 </a:t>
            </a:r>
            <a:r>
              <a:rPr lang="ko-KR" altLang="en-US" sz="2400" b="1" dirty="0" err="1">
                <a:latin typeface="+mn-ea"/>
              </a:rPr>
              <a:t>엔터티의</a:t>
            </a:r>
            <a:r>
              <a:rPr lang="ko-KR" altLang="en-US" sz="2400" b="1" dirty="0">
                <a:latin typeface="+mn-ea"/>
              </a:rPr>
              <a:t> 주식별자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440314-F83E-1DE2-C474-7F3B9F5D2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116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93590C-D9B8-47AE-9D56-CCCB5B2CF6F0}"/>
              </a:ext>
            </a:extLst>
          </p:cNvPr>
          <p:cNvSpPr txBox="1"/>
          <p:nvPr/>
        </p:nvSpPr>
        <p:spPr>
          <a:xfrm>
            <a:off x="5585514" y="4478532"/>
            <a:ext cx="3764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200" b="1" dirty="0">
                <a:solidFill>
                  <a:srgbClr val="FF0000"/>
                </a:solidFill>
              </a:rPr>
              <a:t>성능 이슈가 있을 경우에만 이와 같이 설계한다</a:t>
            </a:r>
            <a:r>
              <a:rPr lang="en-US" altLang="ko-KR" sz="1200" b="1" dirty="0">
                <a:solidFill>
                  <a:srgbClr val="FF0000"/>
                </a:solidFill>
              </a:rPr>
              <a:t>.</a:t>
            </a: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4F943AC0-7A10-422B-8898-B240D192A752}"/>
              </a:ext>
            </a:extLst>
          </p:cNvPr>
          <p:cNvCxnSpPr>
            <a:cxnSpLocks/>
            <a:stCxn id="12" idx="1"/>
            <a:endCxn id="10" idx="3"/>
          </p:cNvCxnSpPr>
          <p:nvPr/>
        </p:nvCxnSpPr>
        <p:spPr>
          <a:xfrm rot="10800000">
            <a:off x="4399284" y="3410172"/>
            <a:ext cx="1186231" cy="1206861"/>
          </a:xfrm>
          <a:prstGeom prst="bentConnector3">
            <a:avLst>
              <a:gd name="adj1" fmla="val 68878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2649931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1E2FE-FA50-29C3-EF27-0AB20453F15C}"/>
              </a:ext>
            </a:extLst>
          </p:cNvPr>
          <p:cNvSpPr txBox="1"/>
          <p:nvPr/>
        </p:nvSpPr>
        <p:spPr>
          <a:xfrm>
            <a:off x="866909" y="1496173"/>
            <a:ext cx="11325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교차 </a:t>
            </a:r>
            <a:r>
              <a:rPr lang="ko-KR" altLang="en-US" sz="1600" b="1" dirty="0" err="1">
                <a:latin typeface="+mn-ea"/>
              </a:rPr>
              <a:t>엔터티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변형된 다양한 유형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B297C65-6FB9-6439-9D5C-79DA24064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436" y="2144461"/>
            <a:ext cx="3458058" cy="100026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93275E8-9CBB-3D66-15E4-520E5B9FA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218" y="2163514"/>
            <a:ext cx="3410426" cy="96215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4087841-0B1F-EA6C-7931-CFA0FCEF0E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1278" y="3670218"/>
            <a:ext cx="3934374" cy="174331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94FF84E-9219-5B10-329A-6E9045D10B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1218" y="3975061"/>
            <a:ext cx="3772426" cy="1133633"/>
          </a:xfrm>
          <a:prstGeom prst="rect">
            <a:avLst/>
          </a:prstGeom>
        </p:spPr>
      </p:pic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31C45A6-F214-25C0-1DAD-E5C328F20C8D}"/>
              </a:ext>
            </a:extLst>
          </p:cNvPr>
          <p:cNvSpPr/>
          <p:nvPr/>
        </p:nvSpPr>
        <p:spPr>
          <a:xfrm>
            <a:off x="2897846" y="2693700"/>
            <a:ext cx="892065" cy="187124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8E3465F-9B1D-12AC-07DA-8E55C591416F}"/>
              </a:ext>
            </a:extLst>
          </p:cNvPr>
          <p:cNvSpPr/>
          <p:nvPr/>
        </p:nvSpPr>
        <p:spPr>
          <a:xfrm>
            <a:off x="8167139" y="2689389"/>
            <a:ext cx="1018539" cy="182199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3BE5D0E-61F2-B63B-0760-7E55F99A4A3C}"/>
              </a:ext>
            </a:extLst>
          </p:cNvPr>
          <p:cNvSpPr/>
          <p:nvPr/>
        </p:nvSpPr>
        <p:spPr>
          <a:xfrm>
            <a:off x="2873139" y="3899971"/>
            <a:ext cx="892065" cy="187124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529167F-7825-F90D-70A5-0D04D59EDA17}"/>
              </a:ext>
            </a:extLst>
          </p:cNvPr>
          <p:cNvSpPr/>
          <p:nvPr/>
        </p:nvSpPr>
        <p:spPr>
          <a:xfrm>
            <a:off x="8266545" y="4295335"/>
            <a:ext cx="812800" cy="291648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032C5A-DE9F-DC5D-61F2-4AEE1FD91EB5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교차 </a:t>
            </a:r>
            <a:r>
              <a:rPr lang="ko-KR" altLang="en-US" sz="2400" b="1" dirty="0" err="1">
                <a:latin typeface="+mn-ea"/>
              </a:rPr>
              <a:t>엔터티의</a:t>
            </a:r>
            <a:r>
              <a:rPr lang="ko-KR" altLang="en-US" sz="2400" b="1" dirty="0">
                <a:latin typeface="+mn-ea"/>
              </a:rPr>
              <a:t> 주식별자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FB4BDA-A36B-5C11-B054-4D9E5D6A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117</a:t>
            </a:fld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D062D72-B96A-4475-B498-150748FB58F6}"/>
              </a:ext>
            </a:extLst>
          </p:cNvPr>
          <p:cNvSpPr/>
          <p:nvPr/>
        </p:nvSpPr>
        <p:spPr>
          <a:xfrm>
            <a:off x="6942217" y="4161969"/>
            <a:ext cx="904827" cy="223419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5537BC9-C6C3-4427-B1D8-DB5A9CA2F016}"/>
              </a:ext>
            </a:extLst>
          </p:cNvPr>
          <p:cNvSpPr/>
          <p:nvPr/>
        </p:nvSpPr>
        <p:spPr>
          <a:xfrm>
            <a:off x="9352371" y="4183625"/>
            <a:ext cx="904827" cy="223419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15521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1E2FE-FA50-29C3-EF27-0AB20453F15C}"/>
              </a:ext>
            </a:extLst>
          </p:cNvPr>
          <p:cNvSpPr txBox="1"/>
          <p:nvPr/>
        </p:nvSpPr>
        <p:spPr>
          <a:xfrm>
            <a:off x="866909" y="1496173"/>
            <a:ext cx="1132509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사원 </a:t>
            </a:r>
            <a:r>
              <a:rPr lang="ko-KR" altLang="en-US" sz="1600" b="1" dirty="0" err="1">
                <a:latin typeface="+mn-ea"/>
              </a:rPr>
              <a:t>엔터티의</a:t>
            </a:r>
            <a:r>
              <a:rPr lang="ko-KR" altLang="en-US" sz="1600" b="1" dirty="0">
                <a:latin typeface="+mn-ea"/>
              </a:rPr>
              <a:t> 주 식별자는 두 가지 측면에서 고민할 점이 있다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1143000" lvl="2" indent="-2286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143000" lvl="2" indent="-228600">
              <a:buFont typeface="+mj-ea"/>
              <a:buAutoNum type="circleNumDbPlain"/>
            </a:pPr>
            <a:r>
              <a:rPr lang="ko-KR" altLang="en-US" sz="1200" dirty="0">
                <a:latin typeface="+mn-ea"/>
              </a:rPr>
              <a:t>사원이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고객 </a:t>
            </a:r>
            <a:r>
              <a:rPr lang="ko-KR" altLang="en-US" sz="1200" b="1" u="sng" dirty="0" err="1">
                <a:solidFill>
                  <a:srgbClr val="FF0000"/>
                </a:solidFill>
                <a:latin typeface="+mn-ea"/>
              </a:rPr>
              <a:t>엔터티에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 통합</a:t>
            </a:r>
            <a:r>
              <a:rPr lang="ko-KR" altLang="en-US" sz="1200" dirty="0">
                <a:latin typeface="+mn-ea"/>
              </a:rPr>
              <a:t>되는 것이 좋을지 고민해야 하며</a:t>
            </a:r>
            <a:r>
              <a:rPr lang="en-US" altLang="ko-KR" sz="1200" dirty="0">
                <a:latin typeface="+mn-ea"/>
              </a:rPr>
              <a:t>,</a:t>
            </a:r>
          </a:p>
          <a:p>
            <a:pPr marL="1143000" lvl="2" indent="-2286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143000" lvl="2" indent="-228600">
              <a:buFont typeface="+mj-ea"/>
              <a:buAutoNum type="circleNumDbPlain"/>
            </a:pPr>
            <a:r>
              <a:rPr lang="ko-KR" altLang="en-US" sz="1200" dirty="0">
                <a:latin typeface="+mn-ea"/>
              </a:rPr>
              <a:t>주 식별자인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사원번호 속성</a:t>
            </a:r>
            <a:r>
              <a:rPr lang="ko-KR" altLang="en-US" sz="1200" dirty="0">
                <a:latin typeface="+mn-ea"/>
              </a:rPr>
              <a:t>에 대해 고민해야 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143000" lvl="2" indent="-2286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143000" lvl="2" indent="-2286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143000" lvl="2" indent="-2286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143000" lvl="2" indent="-2286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사원 데이터는 고객 </a:t>
            </a:r>
            <a:r>
              <a:rPr lang="ko-KR" altLang="en-US" sz="1600" b="1" dirty="0" err="1">
                <a:latin typeface="+mn-ea"/>
              </a:rPr>
              <a:t>엔터티에</a:t>
            </a:r>
            <a:r>
              <a:rPr lang="ko-KR" altLang="en-US" sz="1600" b="1" dirty="0">
                <a:latin typeface="+mn-ea"/>
              </a:rPr>
              <a:t> 통합하지 않고 개별적인 </a:t>
            </a:r>
            <a:r>
              <a:rPr lang="ko-KR" altLang="en-US" sz="1600" b="1" dirty="0" err="1">
                <a:latin typeface="+mn-ea"/>
              </a:rPr>
              <a:t>엔터티로</a:t>
            </a:r>
            <a:r>
              <a:rPr lang="ko-KR" altLang="en-US" sz="1600" b="1" dirty="0">
                <a:latin typeface="+mn-ea"/>
              </a:rPr>
              <a:t> 설계하는 것이 일반적이다</a:t>
            </a:r>
            <a:r>
              <a:rPr lang="en-US" altLang="ko-KR" sz="1600" b="1" dirty="0">
                <a:latin typeface="+mn-ea"/>
              </a:rPr>
              <a:t>.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BF69A-051B-A8B8-9156-7061616BC10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+mj-lt"/>
              <a:buAutoNum type="arabicPeriod"/>
            </a:pPr>
            <a:r>
              <a:rPr lang="ko-KR" altLang="en-US" sz="2400" b="1" dirty="0">
                <a:latin typeface="+mn-ea"/>
              </a:rPr>
              <a:t> 사원 </a:t>
            </a:r>
            <a:r>
              <a:rPr lang="ko-KR" altLang="en-US" sz="2400" b="1" dirty="0" err="1">
                <a:latin typeface="+mn-ea"/>
              </a:rPr>
              <a:t>엔터티의</a:t>
            </a:r>
            <a:r>
              <a:rPr lang="ko-KR" altLang="en-US" sz="2400" b="1" dirty="0">
                <a:latin typeface="+mn-ea"/>
              </a:rPr>
              <a:t> 주 식별자와 사원의 정의</a:t>
            </a:r>
            <a:endParaRPr lang="en-US" altLang="ko-KR" sz="2400" b="1" dirty="0">
              <a:latin typeface="+mn-ea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DB722CF-8BB4-F5A0-221F-35123855E594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4555644" y="4290012"/>
            <a:ext cx="808840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EC7CE217-0A23-DC09-FC82-C4E7EC855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905" y="3646985"/>
            <a:ext cx="1352739" cy="128605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1A2E48C-C59E-F4E0-205F-8E1E15C96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484" y="3723196"/>
            <a:ext cx="3629532" cy="1133633"/>
          </a:xfrm>
          <a:prstGeom prst="rect">
            <a:avLst/>
          </a:prstGeom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DA8AB6F-436D-1CD0-4E65-279B9BACE41C}"/>
              </a:ext>
            </a:extLst>
          </p:cNvPr>
          <p:cNvSpPr/>
          <p:nvPr/>
        </p:nvSpPr>
        <p:spPr>
          <a:xfrm>
            <a:off x="3406104" y="3870277"/>
            <a:ext cx="676370" cy="186516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4D1C636-E5D8-B351-10F8-B2C1861BFE39}"/>
              </a:ext>
            </a:extLst>
          </p:cNvPr>
          <p:cNvSpPr/>
          <p:nvPr/>
        </p:nvSpPr>
        <p:spPr>
          <a:xfrm>
            <a:off x="5532581" y="3945957"/>
            <a:ext cx="480291" cy="720436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2E89B1-B2BC-CAC1-A843-37B7FD094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708552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0F1E2FE-FA50-29C3-EF27-0AB20453F15C}"/>
              </a:ext>
            </a:extLst>
          </p:cNvPr>
          <p:cNvSpPr txBox="1"/>
          <p:nvPr/>
        </p:nvSpPr>
        <p:spPr>
          <a:xfrm>
            <a:off x="866909" y="1496173"/>
            <a:ext cx="10983913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인조 식별자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(Artificial Identifier)</a:t>
            </a:r>
            <a:r>
              <a:rPr lang="ko-KR" altLang="en-US" sz="1400" dirty="0">
                <a:latin typeface="+mn-ea"/>
              </a:rPr>
              <a:t>는 임의로 생성한 식별자를 의미한다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후보 식별자 중에서 주 식별자로 사용할 마땅한 후보가 없을 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순번 성격의 속성</a:t>
            </a:r>
            <a:r>
              <a:rPr lang="ko-KR" altLang="en-US" sz="1400" dirty="0">
                <a:latin typeface="+mn-ea"/>
              </a:rPr>
              <a:t>을 추가해서 식별자로 사용한다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이렇게 기존에 존재하는 속성 중에서 선택한 식별자가 아닌 새롭게 추가한 속성으로 만든 식별자이다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모든 후보 식별자를 분석한 후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주 식별자로 사용할 최적의 후보가 없을 때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인조 식별자를 사용</a:t>
            </a:r>
            <a:r>
              <a:rPr lang="ko-KR" altLang="en-US" sz="1400" dirty="0">
                <a:latin typeface="+mn-ea"/>
              </a:rPr>
              <a:t>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인조 식별자 속성은 사원번호로 하고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그 속성에는 의미 없는 번호를 사용한다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사원번호 속성 같은 인조 식별자는 사원을 관리하기 위한 번호로써 오히려 업무를 더욱 명확하게 만들기도 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고객번호</a:t>
            </a:r>
            <a:r>
              <a:rPr lang="en-US" altLang="ko-KR" sz="1400" dirty="0">
                <a:latin typeface="+mn-ea"/>
              </a:rPr>
              <a:t>•</a:t>
            </a:r>
            <a:r>
              <a:rPr lang="ko-KR" altLang="en-US" sz="1400" dirty="0">
                <a:latin typeface="+mn-ea"/>
              </a:rPr>
              <a:t>계좌번호</a:t>
            </a:r>
            <a:r>
              <a:rPr lang="en-US" altLang="ko-KR" sz="1400" dirty="0">
                <a:latin typeface="+mn-ea"/>
              </a:rPr>
              <a:t>•</a:t>
            </a:r>
            <a:r>
              <a:rPr lang="ko-KR" altLang="en-US" sz="1400" dirty="0">
                <a:latin typeface="+mn-ea"/>
              </a:rPr>
              <a:t>부서번호</a:t>
            </a:r>
            <a:r>
              <a:rPr lang="en-US" altLang="ko-KR" sz="1400" dirty="0">
                <a:latin typeface="+mn-ea"/>
              </a:rPr>
              <a:t>•</a:t>
            </a:r>
            <a:r>
              <a:rPr lang="ko-KR" altLang="en-US" sz="1400" dirty="0">
                <a:latin typeface="+mn-ea"/>
              </a:rPr>
              <a:t>상품번호 등과 같이 실체 </a:t>
            </a:r>
            <a:r>
              <a:rPr lang="ko-KR" altLang="en-US" sz="1400" dirty="0" err="1">
                <a:latin typeface="+mn-ea"/>
              </a:rPr>
              <a:t>엔터티에</a:t>
            </a:r>
            <a:r>
              <a:rPr lang="ko-KR" altLang="en-US" sz="1400" dirty="0">
                <a:latin typeface="+mn-ea"/>
              </a:rPr>
              <a:t> 인조 식별자가 많이 사용되는 이유이기도 하다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인조 식별자를 사용하면 주 식별자가 단순해 진다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주 식별자가 단순해지면 외래 식별자와 모델이 전체적으로 단순해 진다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조인이 단순해 져 쿼리 구문도 단순해지고 자연히 구문을 실수할 가능성도 적어진다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E1E08FE-789B-7E01-A5E2-964CE627C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711" y="2287063"/>
            <a:ext cx="4124901" cy="10955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BF69A-051B-A8B8-9156-7061616BC10F}"/>
              </a:ext>
            </a:extLst>
          </p:cNvPr>
          <p:cNvSpPr txBox="1"/>
          <p:nvPr/>
        </p:nvSpPr>
        <p:spPr>
          <a:xfrm>
            <a:off x="506555" y="992702"/>
            <a:ext cx="113250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식별자 종류 </a:t>
            </a:r>
            <a:r>
              <a:rPr lang="en-US" altLang="ko-KR" sz="2400" b="1" dirty="0">
                <a:latin typeface="+mn-ea"/>
              </a:rPr>
              <a:t>– </a:t>
            </a:r>
            <a:r>
              <a:rPr lang="ko-KR" altLang="en-US" sz="2400" b="1" dirty="0">
                <a:latin typeface="+mn-ea"/>
              </a:rPr>
              <a:t>인조 식별자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600" dirty="0" err="1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실체엔터티</a:t>
            </a:r>
            <a:r>
              <a:rPr lang="ko-KR" altLang="en-US" sz="16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 일 때</a:t>
            </a:r>
            <a:r>
              <a:rPr lang="en-US" altLang="ko-KR" sz="16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, </a:t>
            </a:r>
            <a:r>
              <a:rPr lang="ko-KR" altLang="en-US" sz="1600" dirty="0" err="1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하위엔터티가</a:t>
            </a:r>
            <a:r>
              <a:rPr lang="ko-KR" altLang="en-US" sz="16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 많을 때</a:t>
            </a:r>
            <a:r>
              <a:rPr lang="en-US" altLang="ko-KR" sz="16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, </a:t>
            </a:r>
            <a:r>
              <a:rPr lang="ko-KR" altLang="en-US" sz="16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업무를 유연하게 설계할 때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,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B78F7C-1DD1-3E95-61D9-019CE71FD807}"/>
              </a:ext>
            </a:extLst>
          </p:cNvPr>
          <p:cNvSpPr txBox="1"/>
          <p:nvPr/>
        </p:nvSpPr>
        <p:spPr>
          <a:xfrm>
            <a:off x="3764030" y="5504466"/>
            <a:ext cx="64377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ko-KR" altLang="en-US" sz="1400" b="1" dirty="0"/>
              <a:t>후보(업무) 식별자 도출</a:t>
            </a:r>
          </a:p>
          <a:p>
            <a:pPr marL="342900" indent="-342900">
              <a:buFont typeface="+mj-ea"/>
              <a:buAutoNum type="circleNumDbPlain"/>
            </a:pPr>
            <a:r>
              <a:rPr lang="ko-KR" altLang="en-US" sz="1400" b="1" dirty="0"/>
              <a:t>도출된 후보(업무) 식별자 중에 주 식별자로 적당한 후보가 있는지 검토</a:t>
            </a:r>
          </a:p>
          <a:p>
            <a:pPr marL="342900" indent="-342900">
              <a:buFont typeface="+mj-ea"/>
              <a:buAutoNum type="circleNumDbPlain"/>
            </a:pPr>
            <a:r>
              <a:rPr lang="ko-KR" altLang="en-US" sz="1400" b="1" dirty="0"/>
              <a:t>적당한 후보가 없다면 인조 식별자 사용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EDB6B1-5595-DC7A-5FC6-05E57D98799B}"/>
              </a:ext>
            </a:extLst>
          </p:cNvPr>
          <p:cNvSpPr txBox="1"/>
          <p:nvPr/>
        </p:nvSpPr>
        <p:spPr>
          <a:xfrm>
            <a:off x="1701580" y="5719910"/>
            <a:ext cx="2062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400" b="1" dirty="0"/>
              <a:t>인조식별자 도출 순서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946A176-3ED2-6511-6DE5-EE0DF6010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481262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0F1E2FE-FA50-29C3-EF27-0AB20453F15C}"/>
              </a:ext>
            </a:extLst>
          </p:cNvPr>
          <p:cNvSpPr txBox="1"/>
          <p:nvPr/>
        </p:nvSpPr>
        <p:spPr>
          <a:xfrm>
            <a:off x="866909" y="1496173"/>
            <a:ext cx="1132509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주 식별자가 복잡하면서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하위 </a:t>
            </a:r>
            <a:r>
              <a:rPr lang="ko-KR" altLang="en-US" sz="1400" b="1" u="sng" dirty="0" err="1">
                <a:solidFill>
                  <a:srgbClr val="FF0000"/>
                </a:solidFill>
                <a:latin typeface="+mn-ea"/>
              </a:rPr>
              <a:t>엔터티가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 다수</a:t>
            </a:r>
            <a:r>
              <a:rPr lang="ko-KR" altLang="en-US" sz="1400" dirty="0">
                <a:latin typeface="+mn-ea"/>
              </a:rPr>
              <a:t>일 때</a:t>
            </a: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업무를 직관적으로 만들어주는 번호</a:t>
            </a:r>
            <a:r>
              <a:rPr lang="ko-KR" altLang="en-US" sz="1400" dirty="0">
                <a:latin typeface="+mn-ea"/>
              </a:rPr>
              <a:t>를 사용할 때</a:t>
            </a: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적당한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후보 식별자가 없을 때</a:t>
            </a:r>
            <a:endParaRPr lang="en-US" altLang="ko-KR" sz="1400" b="1" u="sng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모델을 유연하게 설계</a:t>
            </a:r>
            <a:r>
              <a:rPr lang="ko-KR" altLang="en-US" sz="1400" dirty="0">
                <a:latin typeface="+mn-ea"/>
              </a:rPr>
              <a:t>해야 할 때</a:t>
            </a:r>
            <a:endParaRPr lang="en-US" altLang="ko-KR" sz="140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BF69A-051B-A8B8-9156-7061616BC10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인조 식별자를 사용해야 좋을 때</a:t>
            </a:r>
            <a:endParaRPr lang="en-US" altLang="ko-KR" sz="2400" b="1" dirty="0"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4E45D75-B100-1D93-9F62-C0C35AC84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64052"/>
            <a:ext cx="2734057" cy="144800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6CF97F4-B4F9-2913-97AA-B0832EA7F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8289" y="1900996"/>
            <a:ext cx="2705478" cy="140037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7748A37-3CF8-0CEE-637C-570FA37D2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962631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0F1E2FE-FA50-29C3-EF27-0AB20453F15C}"/>
              </a:ext>
            </a:extLst>
          </p:cNvPr>
          <p:cNvSpPr txBox="1"/>
          <p:nvPr/>
        </p:nvSpPr>
        <p:spPr>
          <a:xfrm>
            <a:off x="866909" y="1496173"/>
            <a:ext cx="10983913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업무 식별자와 인조 식별자의 혼합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 “</a:t>
            </a:r>
            <a:r>
              <a:rPr lang="ko-KR" altLang="en-US" b="1" dirty="0" err="1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비추천</a:t>
            </a:r>
            <a:r>
              <a:rPr lang="en-US" altLang="ko-KR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”</a:t>
            </a:r>
            <a:endParaRPr lang="en-US" altLang="ko-KR" b="1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+mj-lt"/>
              <a:buAutoNum type="arabicPeriod" startAt="14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업무 식별자와 인조 식별자가 혼합된 형식의 주 식별자를 자주 볼 수 있다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+mn-ea"/>
              </a:rPr>
              <a:t>“</a:t>
            </a:r>
            <a:r>
              <a:rPr lang="ko-KR" altLang="en-US" sz="1400" dirty="0">
                <a:latin typeface="+mn-ea"/>
              </a:rPr>
              <a:t>고객번호</a:t>
            </a:r>
            <a:r>
              <a:rPr lang="en-US" altLang="ko-KR" sz="1400" dirty="0">
                <a:latin typeface="+mn-ea"/>
              </a:rPr>
              <a:t>+</a:t>
            </a:r>
            <a:r>
              <a:rPr lang="ko-KR" altLang="en-US" sz="1400" dirty="0">
                <a:latin typeface="+mn-ea"/>
              </a:rPr>
              <a:t>순번</a:t>
            </a:r>
            <a:r>
              <a:rPr lang="en-US" altLang="ko-KR" sz="1400" dirty="0">
                <a:latin typeface="+mn-ea"/>
              </a:rPr>
              <a:t>”, “</a:t>
            </a:r>
            <a:r>
              <a:rPr lang="ko-KR" altLang="en-US" sz="1400" dirty="0">
                <a:latin typeface="+mn-ea"/>
              </a:rPr>
              <a:t>계좌번호</a:t>
            </a:r>
            <a:r>
              <a:rPr lang="en-US" altLang="ko-KR" sz="1400" dirty="0">
                <a:latin typeface="+mn-ea"/>
              </a:rPr>
              <a:t>+</a:t>
            </a:r>
            <a:r>
              <a:rPr lang="ko-KR" altLang="en-US" sz="1400" dirty="0">
                <a:latin typeface="+mn-ea"/>
              </a:rPr>
              <a:t>순번</a:t>
            </a:r>
            <a:r>
              <a:rPr lang="en-US" altLang="ko-KR" sz="1400" dirty="0">
                <a:latin typeface="+mn-ea"/>
              </a:rPr>
              <a:t>”</a:t>
            </a:r>
            <a:r>
              <a:rPr lang="ko-KR" altLang="en-US" sz="1400" dirty="0">
                <a:latin typeface="+mn-ea"/>
              </a:rPr>
              <a:t>이 주 식별자인 </a:t>
            </a:r>
            <a:r>
              <a:rPr lang="ko-KR" altLang="en-US" sz="1400" dirty="0" err="1">
                <a:latin typeface="+mn-ea"/>
              </a:rPr>
              <a:t>엔터티는</a:t>
            </a:r>
            <a:r>
              <a:rPr lang="ko-KR" altLang="en-US" sz="1400" dirty="0">
                <a:latin typeface="+mn-ea"/>
              </a:rPr>
              <a:t> 상당히 많다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하지만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업무 식별자와 인조 식별자를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혼합해서 사용</a:t>
            </a:r>
            <a:r>
              <a:rPr lang="ko-KR" altLang="en-US" sz="1400" dirty="0">
                <a:latin typeface="+mn-ea"/>
              </a:rPr>
              <a:t>하면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바람직하지 않은 이유가 몇 가지</a:t>
            </a:r>
            <a:r>
              <a:rPr lang="ko-KR" altLang="en-US" sz="1400" dirty="0">
                <a:latin typeface="+mn-ea"/>
              </a:rPr>
              <a:t> 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요건을 알기 어려워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가독성이 떨어짐</a:t>
            </a:r>
            <a:endParaRPr lang="en-US" altLang="ko-KR" sz="1400" b="1" u="sng" dirty="0">
              <a:solidFill>
                <a:srgbClr val="FF0000"/>
              </a:solidFill>
              <a:latin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b="1" dirty="0" err="1">
                <a:latin typeface="+mn-ea"/>
              </a:rPr>
              <a:t>엔터티</a:t>
            </a:r>
            <a:r>
              <a:rPr lang="ko-KR" altLang="en-US" sz="1400" b="1" dirty="0">
                <a:latin typeface="+mn-ea"/>
              </a:rPr>
              <a:t>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성격이 모호</a:t>
            </a:r>
            <a:r>
              <a:rPr lang="ko-KR" altLang="en-US" sz="1400" b="1" dirty="0">
                <a:latin typeface="+mn-ea"/>
              </a:rPr>
              <a:t>해짐</a:t>
            </a:r>
            <a:endParaRPr lang="en-US" altLang="ko-KR" sz="1400" b="1" dirty="0">
              <a:latin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모델을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관리하기 복잡</a:t>
            </a:r>
            <a:r>
              <a:rPr lang="ko-KR" altLang="en-US" sz="1400" b="1" dirty="0">
                <a:latin typeface="+mn-ea"/>
              </a:rPr>
              <a:t>해짐</a:t>
            </a:r>
            <a:endParaRPr lang="en-US" altLang="ko-KR" sz="1400" b="1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BF69A-051B-A8B8-9156-7061616BC10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업무 식별자와 인조 식별자의 혼합</a:t>
            </a:r>
            <a:endParaRPr lang="en-US" altLang="ko-KR" sz="2400" b="1" dirty="0"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BB3F3D3-743E-0AB7-1EB8-8285BC060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546" y="2917144"/>
            <a:ext cx="3324689" cy="130510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C284521-AB99-2987-15E3-5A7C3D636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454" y="2836170"/>
            <a:ext cx="3381847" cy="1467055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A4338B1-E784-D848-CD2C-F054E6A3BAB3}"/>
              </a:ext>
            </a:extLst>
          </p:cNvPr>
          <p:cNvSpPr/>
          <p:nvPr/>
        </p:nvSpPr>
        <p:spPr>
          <a:xfrm>
            <a:off x="7509163" y="4100944"/>
            <a:ext cx="1884220" cy="202281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E16445F-4F0F-DA0F-A530-2BF83B792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898927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0F1E2FE-FA50-29C3-EF27-0AB20453F15C}"/>
              </a:ext>
            </a:extLst>
          </p:cNvPr>
          <p:cNvSpPr txBox="1"/>
          <p:nvPr/>
        </p:nvSpPr>
        <p:spPr>
          <a:xfrm>
            <a:off x="866909" y="1496173"/>
            <a:ext cx="113250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주문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 err="1">
                <a:latin typeface="+mn-ea"/>
              </a:rPr>
              <a:t>주문순번</a:t>
            </a:r>
            <a:r>
              <a:rPr lang="ko-KR" altLang="en-US" sz="1400" dirty="0">
                <a:latin typeface="+mn-ea"/>
              </a:rPr>
              <a:t> 속성과 같은 </a:t>
            </a:r>
            <a:r>
              <a:rPr lang="en-US" altLang="ko-KR" sz="1400" dirty="0">
                <a:latin typeface="+mn-ea"/>
              </a:rPr>
              <a:t>“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부분 인조 식별자</a:t>
            </a:r>
            <a:r>
              <a:rPr lang="en-US" altLang="ko-KR" sz="1400" dirty="0">
                <a:latin typeface="+mn-ea"/>
              </a:rPr>
              <a:t>”</a:t>
            </a:r>
            <a:r>
              <a:rPr lang="ko-KR" altLang="en-US" sz="1400" dirty="0">
                <a:latin typeface="+mn-ea"/>
              </a:rPr>
              <a:t>는 바람직하지 않지만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불가피하게 이를 사용할 경우</a:t>
            </a:r>
            <a:r>
              <a:rPr lang="ko-KR" altLang="en-US" sz="1400" dirty="0">
                <a:latin typeface="+mn-ea"/>
              </a:rPr>
              <a:t>도 있다</a:t>
            </a:r>
            <a:endParaRPr lang="en-US" altLang="ko-KR" sz="140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BF69A-051B-A8B8-9156-7061616BC10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b="1" dirty="0" err="1">
                <a:latin typeface="+mn-ea"/>
              </a:rPr>
              <a:t>부분인조식별자를</a:t>
            </a:r>
            <a:r>
              <a:rPr lang="ko-KR" altLang="en-US" sz="2400" b="1" dirty="0">
                <a:latin typeface="+mn-ea"/>
              </a:rPr>
              <a:t> 사용할 수 있는 경우  </a:t>
            </a:r>
            <a:r>
              <a:rPr lang="en-US" altLang="ko-KR" sz="18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800" dirty="0" err="1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부분인조식별자는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 절대 사용하지 마라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!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BDFA86-9B99-21EB-EA18-560377340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309" y="2298092"/>
            <a:ext cx="3362794" cy="147658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7299AB0-6345-97A4-6BFD-76116819B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4704" y="2221881"/>
            <a:ext cx="3324689" cy="162900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9496828-8407-22C5-FAE3-107911DE4F87}"/>
              </a:ext>
            </a:extLst>
          </p:cNvPr>
          <p:cNvSpPr txBox="1"/>
          <p:nvPr/>
        </p:nvSpPr>
        <p:spPr>
          <a:xfrm>
            <a:off x="5218831" y="2897883"/>
            <a:ext cx="17549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부분 </a:t>
            </a:r>
            <a:r>
              <a:rPr lang="ko-KR" altLang="en-US" sz="1200" b="1" u="sng">
                <a:solidFill>
                  <a:srgbClr val="FF0000"/>
                </a:solidFill>
                <a:latin typeface="+mn-ea"/>
              </a:rPr>
              <a:t>인조 식별자 사용</a:t>
            </a:r>
            <a:endParaRPr lang="ko-KR" altLang="en-US" sz="1200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6EEA0BB-DE21-74B1-B163-0F7D1FD4F264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>
            <a:off x="4757103" y="3036383"/>
            <a:ext cx="46172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3A2F874-9ED0-0E37-C5BC-0B92B94C48E1}"/>
              </a:ext>
            </a:extLst>
          </p:cNvPr>
          <p:cNvCxnSpPr>
            <a:cxnSpLocks/>
            <a:stCxn id="13" idx="3"/>
            <a:endCxn id="10" idx="1"/>
          </p:cNvCxnSpPr>
          <p:nvPr/>
        </p:nvCxnSpPr>
        <p:spPr>
          <a:xfrm flipV="1">
            <a:off x="6973740" y="3036382"/>
            <a:ext cx="470964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BB3A7216-B320-A92C-3BC6-8D1F86D0DA5D}"/>
              </a:ext>
            </a:extLst>
          </p:cNvPr>
          <p:cNvSpPr/>
          <p:nvPr/>
        </p:nvSpPr>
        <p:spPr>
          <a:xfrm>
            <a:off x="8709892" y="2495465"/>
            <a:ext cx="877454" cy="329740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E8D1FD90-181A-452B-9E48-75D88A9B2D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379" y="4651980"/>
            <a:ext cx="2381582" cy="116221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6A84A9B8-311D-49CC-B30C-F296BF4B85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2177" y="4366190"/>
            <a:ext cx="1914792" cy="1448002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43281B14-4DBC-16A3-55A1-9C71ED8028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0939" y="4280453"/>
            <a:ext cx="1829055" cy="1533739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646B95DE-56D2-E171-5D9E-4CDFAFE5C2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7492" y="4089926"/>
            <a:ext cx="2124371" cy="1724266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0245430-CED0-06B9-9793-509E72EAE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798627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0F1E2FE-FA50-29C3-EF27-0AB20453F15C}"/>
              </a:ext>
            </a:extLst>
          </p:cNvPr>
          <p:cNvSpPr txBox="1"/>
          <p:nvPr/>
        </p:nvSpPr>
        <p:spPr>
          <a:xfrm>
            <a:off x="866909" y="1496173"/>
            <a:ext cx="11325091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대리 식별자</a:t>
            </a:r>
            <a:r>
              <a:rPr lang="en-US" altLang="ko-KR" sz="1400" dirty="0">
                <a:latin typeface="+mn-ea"/>
              </a:rPr>
              <a:t>(Alternate Identifier)</a:t>
            </a:r>
            <a:r>
              <a:rPr lang="ko-KR" altLang="en-US" sz="1400" dirty="0">
                <a:latin typeface="+mn-ea"/>
              </a:rPr>
              <a:t>는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주 식별자로 선택되지 않은 후보 식별자</a:t>
            </a:r>
            <a:r>
              <a:rPr lang="ko-KR" altLang="en-US" sz="1400" dirty="0">
                <a:latin typeface="+mn-ea"/>
              </a:rPr>
              <a:t>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대체 식별자라고도 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+mn-ea"/>
              </a:rPr>
              <a:t>Primary  Identifier</a:t>
            </a:r>
            <a:r>
              <a:rPr lang="ko-KR" altLang="en-US" sz="1400" dirty="0">
                <a:latin typeface="+mn-ea"/>
              </a:rPr>
              <a:t>에 대한 의미로써 </a:t>
            </a:r>
            <a:r>
              <a:rPr lang="en-US" altLang="ko-KR" sz="1400" dirty="0">
                <a:latin typeface="+mn-ea"/>
              </a:rPr>
              <a:t>Secondary  Identifier</a:t>
            </a:r>
            <a:r>
              <a:rPr lang="ko-KR" altLang="en-US" sz="1400" dirty="0">
                <a:latin typeface="+mn-ea"/>
              </a:rPr>
              <a:t>라고도 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만약 고객번호 속성을 주 식별자로 선정했다면 사원주민등록번호</a:t>
            </a:r>
            <a:r>
              <a:rPr lang="en-US" altLang="ko-KR" sz="1400" dirty="0">
                <a:latin typeface="+mn-ea"/>
              </a:rPr>
              <a:t> • </a:t>
            </a:r>
            <a:r>
              <a:rPr lang="ko-KR" altLang="en-US" sz="1400" dirty="0">
                <a:latin typeface="+mn-ea"/>
              </a:rPr>
              <a:t>휴대전화번호 </a:t>
            </a:r>
            <a:r>
              <a:rPr lang="en-US" altLang="ko-KR" sz="1400" dirty="0">
                <a:latin typeface="+mn-ea"/>
              </a:rPr>
              <a:t>• </a:t>
            </a:r>
            <a:r>
              <a:rPr lang="ko-KR" altLang="en-US" sz="1400" dirty="0" err="1">
                <a:latin typeface="+mn-ea"/>
              </a:rPr>
              <a:t>이메일주소</a:t>
            </a:r>
            <a:r>
              <a:rPr lang="ko-KR" altLang="en-US" sz="1400" dirty="0">
                <a:latin typeface="+mn-ea"/>
              </a:rPr>
              <a:t> 속성은 대리 식별자가 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인조 식별자를 주 식별자로 선정되고 나면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모든 후보 식별자가 대리 식별자가 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대리 식별자를 선정하는 과정은 아래와 같다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후보 식별자를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선정한다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후보 식별자가 여러 개 존재할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후보 식별자 중에서 주 식별자로 선정할 후보가 있는지를 판단한다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후보 식별자 중에 주 식별자가 있다면 나머지는 대리 식별자가 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후보 식별자 중에 주 식별자가 없다면 인조 식별자를 채택한다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인조 식별자를 채택하면 모든 후보 식별자는 대리 식별자가 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대리 식별자 속성 값은 </a:t>
            </a:r>
            <a:r>
              <a:rPr lang="en-US" altLang="ko-KR" sz="1200" dirty="0">
                <a:latin typeface="+mn-ea"/>
              </a:rPr>
              <a:t>Relation</a:t>
            </a:r>
            <a:r>
              <a:rPr lang="ko-KR" altLang="en-US" sz="1200" dirty="0">
                <a:latin typeface="+mn-ea"/>
              </a:rPr>
              <a:t>에서 유일해야 하며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이를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물리적인 제약으로 관리</a:t>
            </a:r>
            <a:r>
              <a:rPr lang="ko-KR" altLang="en-US" sz="1200" dirty="0">
                <a:latin typeface="+mn-ea"/>
              </a:rPr>
              <a:t>하기 위해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유니크 인덱스를 생성</a:t>
            </a:r>
            <a:r>
              <a:rPr lang="ko-KR" altLang="en-US" sz="1200" dirty="0">
                <a:latin typeface="+mn-ea"/>
              </a:rPr>
              <a:t>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만약 인조 식별자가 사용됐다면 대리 식별자는 인스턴스가 생성되는 기준이 되기 때문에 더욱 유니크 인덱스로 관리해야 한다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후보 식별자가 </a:t>
            </a:r>
            <a:r>
              <a:rPr lang="en-US" altLang="ko-KR" sz="1200" dirty="0">
                <a:latin typeface="+mn-ea"/>
              </a:rPr>
              <a:t>Unique</a:t>
            </a:r>
            <a:r>
              <a:rPr lang="ko-KR" altLang="en-US" sz="1200" dirty="0">
                <a:latin typeface="+mn-ea"/>
              </a:rPr>
              <a:t>하게 잘 관리될수록 데이터베이스가 더 온전해 지며 사용하기 편해진다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BF69A-051B-A8B8-9156-7061616BC10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식별자 종류 </a:t>
            </a:r>
            <a:r>
              <a:rPr lang="en-US" altLang="ko-KR" sz="2400" b="1" dirty="0">
                <a:latin typeface="+mn-ea"/>
              </a:rPr>
              <a:t>- </a:t>
            </a:r>
            <a:r>
              <a:rPr lang="ko-KR" altLang="en-US" sz="2400" b="1" dirty="0">
                <a:latin typeface="+mn-ea"/>
              </a:rPr>
              <a:t>대리 식별자</a:t>
            </a:r>
            <a:endParaRPr lang="en-US" altLang="ko-KR" sz="2400" b="1" dirty="0"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B7A800C-9F2C-752D-2239-D9C76BE15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964" y="2299679"/>
            <a:ext cx="4163006" cy="112410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47AB373-F39A-90AC-CBAE-00B15EFE9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673" y="2080573"/>
            <a:ext cx="1733792" cy="1562318"/>
          </a:xfrm>
          <a:prstGeom prst="rect">
            <a:avLst/>
          </a:prstGeom>
        </p:spPr>
      </p:pic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32964B6E-4513-9618-81BA-8CDA9D63C977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 flipV="1">
            <a:off x="6818970" y="2861732"/>
            <a:ext cx="726703" cy="1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F395EBA-4C7E-4A29-1EA5-62C279A2C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95381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0F1E2FE-FA50-29C3-EF27-0AB20453F15C}"/>
              </a:ext>
            </a:extLst>
          </p:cNvPr>
          <p:cNvSpPr txBox="1"/>
          <p:nvPr/>
        </p:nvSpPr>
        <p:spPr>
          <a:xfrm>
            <a:off x="866909" y="1496173"/>
            <a:ext cx="1132509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슈퍼 식별자</a:t>
            </a:r>
            <a:r>
              <a:rPr lang="en-US" altLang="ko-KR" sz="1400" dirty="0">
                <a:latin typeface="+mn-ea"/>
              </a:rPr>
              <a:t>(Super Identifier)</a:t>
            </a:r>
            <a:r>
              <a:rPr lang="ko-KR" altLang="en-US" sz="1400" dirty="0">
                <a:latin typeface="+mn-ea"/>
              </a:rPr>
              <a:t>는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주 식별자</a:t>
            </a:r>
            <a:r>
              <a:rPr lang="ko-KR" altLang="en-US" sz="1400" dirty="0">
                <a:latin typeface="+mn-ea"/>
              </a:rPr>
              <a:t>에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다른 속성을 추가</a:t>
            </a:r>
            <a:r>
              <a:rPr lang="ko-KR" altLang="en-US" sz="1400" dirty="0">
                <a:latin typeface="+mn-ea"/>
              </a:rPr>
              <a:t>해서 만든 식별자를 의미한다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따라서 </a:t>
            </a:r>
            <a:r>
              <a:rPr lang="ko-KR" altLang="en-US" sz="1400" dirty="0" err="1">
                <a:latin typeface="+mn-ea"/>
              </a:rPr>
              <a:t>엔터티에서</a:t>
            </a:r>
            <a:r>
              <a:rPr lang="ko-KR" altLang="en-US" sz="1400" dirty="0">
                <a:latin typeface="+mn-ea"/>
              </a:rPr>
              <a:t> 슈퍼 식별자는 많이 존재할 수 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슈퍼 식별자를 사용하는 또 다른 이유는 식별자를 제대로 분석하지 못했기 때문이다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</a:t>
            </a:r>
            <a:r>
              <a:rPr lang="en-US" altLang="ko-KR" sz="1200" dirty="0">
                <a:latin typeface="+mn-ea"/>
              </a:rPr>
              <a:t>4.56] </a:t>
            </a:r>
            <a:r>
              <a:rPr lang="ko-KR" altLang="en-US" sz="1200" dirty="0">
                <a:latin typeface="+mn-ea"/>
              </a:rPr>
              <a:t>모델은 고객별로 고유한 고객</a:t>
            </a:r>
            <a:r>
              <a:rPr lang="en-US" altLang="ko-KR" sz="1200" dirty="0">
                <a:latin typeface="+mn-ea"/>
              </a:rPr>
              <a:t>ID</a:t>
            </a:r>
            <a:r>
              <a:rPr lang="ko-KR" altLang="en-US" sz="1200" dirty="0">
                <a:latin typeface="+mn-ea"/>
              </a:rPr>
              <a:t>를 관리하는 </a:t>
            </a:r>
            <a:r>
              <a:rPr lang="ko-KR" altLang="en-US" sz="1200" dirty="0" err="1">
                <a:latin typeface="+mn-ea"/>
              </a:rPr>
              <a:t>엔터티다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BF69A-051B-A8B8-9156-7061616BC10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식별자 종류 </a:t>
            </a:r>
            <a:r>
              <a:rPr lang="en-US" altLang="ko-KR" sz="2400" b="1" dirty="0">
                <a:latin typeface="+mn-ea"/>
              </a:rPr>
              <a:t>- </a:t>
            </a:r>
            <a:r>
              <a:rPr lang="ko-KR" altLang="en-US" sz="2400" b="1" dirty="0">
                <a:latin typeface="+mn-ea"/>
              </a:rPr>
              <a:t>슈퍼 식별자</a:t>
            </a:r>
            <a:endParaRPr lang="en-US" altLang="ko-KR" sz="2400" b="1" dirty="0"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AFF559C-EB1B-39E7-68F7-C309F9082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945" y="2309354"/>
            <a:ext cx="1924319" cy="100979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49DBF70-4E91-696A-87CA-07D63F3DAC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1340"/>
          <a:stretch/>
        </p:blipFill>
        <p:spPr>
          <a:xfrm>
            <a:off x="3433437" y="3101346"/>
            <a:ext cx="2591162" cy="21779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0A44F16-AD88-2702-9627-5856D861FA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1340"/>
          <a:stretch/>
        </p:blipFill>
        <p:spPr>
          <a:xfrm>
            <a:off x="6272450" y="3101346"/>
            <a:ext cx="2591162" cy="21779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DB65E5D-831E-17A4-852D-8831D25841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1059"/>
          <a:stretch/>
        </p:blipFill>
        <p:spPr>
          <a:xfrm>
            <a:off x="9111463" y="2309354"/>
            <a:ext cx="2607026" cy="98532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114BD73-F8FF-12EA-AA4E-9E5859026A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214"/>
          <a:stretch/>
        </p:blipFill>
        <p:spPr>
          <a:xfrm>
            <a:off x="3393276" y="2291178"/>
            <a:ext cx="2591162" cy="77425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96F66E8-E614-A49B-ADC4-9ACBDFE112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1802" b="39048"/>
          <a:stretch/>
        </p:blipFill>
        <p:spPr>
          <a:xfrm>
            <a:off x="6272450" y="2327826"/>
            <a:ext cx="2607026" cy="737607"/>
          </a:xfrm>
          <a:prstGeom prst="rect">
            <a:avLst/>
          </a:prstGeom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C7DCFFD-4311-C191-1CDC-70B9444CD414}"/>
              </a:ext>
            </a:extLst>
          </p:cNvPr>
          <p:cNvSpPr/>
          <p:nvPr/>
        </p:nvSpPr>
        <p:spPr>
          <a:xfrm>
            <a:off x="4840276" y="3129809"/>
            <a:ext cx="1144162" cy="164870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AAD139E-BB91-B740-9640-593C8D40D947}"/>
              </a:ext>
            </a:extLst>
          </p:cNvPr>
          <p:cNvSpPr/>
          <p:nvPr/>
        </p:nvSpPr>
        <p:spPr>
          <a:xfrm>
            <a:off x="7682506" y="3127810"/>
            <a:ext cx="1144162" cy="164870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65B1148-756A-542D-1942-2F6033763157}"/>
              </a:ext>
            </a:extLst>
          </p:cNvPr>
          <p:cNvSpPr/>
          <p:nvPr/>
        </p:nvSpPr>
        <p:spPr>
          <a:xfrm>
            <a:off x="10533254" y="3101346"/>
            <a:ext cx="1144162" cy="164870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640685A-0B91-BDAF-3888-1A8726084A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9450" y="4880542"/>
            <a:ext cx="2305372" cy="971686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1DCCFFD-97A5-AD3B-1700-5C491CF7F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51137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0F1E2FE-FA50-29C3-EF27-0AB20453F15C}"/>
              </a:ext>
            </a:extLst>
          </p:cNvPr>
          <p:cNvSpPr txBox="1"/>
          <p:nvPr/>
        </p:nvSpPr>
        <p:spPr>
          <a:xfrm>
            <a:off x="866909" y="1496173"/>
            <a:ext cx="10983913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b="1" dirty="0">
                <a:latin typeface="+mn-ea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기초 속성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관계 속성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추출 속성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시스템 속성</a:t>
            </a:r>
            <a:endParaRPr lang="en-US" altLang="ko-KR" b="1" u="sng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속성 분류법</a:t>
            </a:r>
            <a:endParaRPr lang="en-US" altLang="ko-KR" sz="1600" b="1" dirty="0">
              <a:latin typeface="+mn-ea"/>
            </a:endParaRPr>
          </a:p>
          <a:p>
            <a:pPr marL="1257300" lvl="2" indent="-342900">
              <a:buFont typeface="+mj-lt"/>
              <a:buAutoNum type="arabicParenR"/>
            </a:pP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marL="1257300" lvl="2" indent="-342900">
              <a:buFont typeface="+mj-lt"/>
              <a:buAutoNum type="arabicParenR"/>
            </a:pP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기초 속성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lvl="3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b="1" u="sng" dirty="0" err="1">
                <a:solidFill>
                  <a:srgbClr val="FF0000"/>
                </a:solidFill>
                <a:latin typeface="+mn-ea"/>
              </a:rPr>
              <a:t>엔터티의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 본질을 설명하는 속성</a:t>
            </a:r>
            <a:r>
              <a:rPr lang="ko-KR" altLang="en-US" sz="1400" dirty="0">
                <a:latin typeface="+mn-ea"/>
              </a:rPr>
              <a:t>이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기초 속성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(Basic Attribute)</a:t>
            </a:r>
            <a:r>
              <a:rPr lang="ko-KR" altLang="en-US" sz="1400" dirty="0">
                <a:latin typeface="+mn-ea"/>
              </a:rPr>
              <a:t>이다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lvl="3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이 기초 속성을 보면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정의를 알 수 있다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lvl="3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 err="1">
                <a:latin typeface="+mn-ea"/>
              </a:rPr>
              <a:t>엔터티에</a:t>
            </a:r>
            <a:r>
              <a:rPr lang="ko-KR" altLang="en-US" sz="1400" dirty="0">
                <a:latin typeface="+mn-ea"/>
              </a:rPr>
              <a:t> 반드시 존재해야 하는 업무 식별자와 후보 식별자</a:t>
            </a:r>
            <a:r>
              <a:rPr lang="en-US" altLang="ko-KR" sz="1400" dirty="0">
                <a:latin typeface="+mn-ea"/>
              </a:rPr>
              <a:t>, </a:t>
            </a:r>
          </a:p>
          <a:p>
            <a:pPr lvl="3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특성을 설명하는 속성 등이 이에 해당한다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lvl="3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 err="1">
                <a:latin typeface="+mn-ea"/>
              </a:rPr>
              <a:t>엔터티가</a:t>
            </a:r>
            <a:r>
              <a:rPr lang="ko-KR" altLang="en-US" sz="1400" dirty="0">
                <a:latin typeface="+mn-ea"/>
              </a:rPr>
              <a:t> 어느 주제 영역</a:t>
            </a:r>
            <a:r>
              <a:rPr lang="en-US" altLang="ko-KR" sz="1400" dirty="0">
                <a:latin typeface="+mn-ea"/>
              </a:rPr>
              <a:t>(ERD)</a:t>
            </a:r>
            <a:r>
              <a:rPr lang="ko-KR" altLang="en-US" sz="1400" dirty="0">
                <a:latin typeface="+mn-ea"/>
              </a:rPr>
              <a:t>에 속해야 하는지에 대한 모델 이며</a:t>
            </a:r>
            <a:r>
              <a:rPr lang="en-US" altLang="ko-KR" sz="1400" dirty="0">
                <a:latin typeface="+mn-ea"/>
              </a:rPr>
              <a:t>, </a:t>
            </a:r>
          </a:p>
          <a:p>
            <a:pPr lvl="3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모델 오너십을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정하는 기준이 기초 속성이다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lvl="3"/>
            <a:endParaRPr lang="en-US" altLang="ko-KR" sz="1400" dirty="0">
              <a:latin typeface="+mn-ea"/>
            </a:endParaRPr>
          </a:p>
          <a:p>
            <a:pPr lvl="3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기초 속성의 값은 주로 데이터베이스를 사용하는 사용자의 입력이라는 행위에 의해서 생성된다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lvl="3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기초 속성의 값을 생성하는 영역에서 모델 오너십을 가져야 한다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BF69A-051B-A8B8-9156-7061616BC10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 startAt="2"/>
            </a:pPr>
            <a:r>
              <a:rPr lang="ko-KR" altLang="en-US" sz="2400" b="1" dirty="0">
                <a:latin typeface="+mn-ea"/>
              </a:rPr>
              <a:t> 속성의 종류</a:t>
            </a:r>
            <a:endParaRPr lang="en-US" altLang="ko-KR" sz="2400" b="1" dirty="0"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11A3489-ABC3-1F63-EB83-1D7E66D16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3364" y="3170868"/>
            <a:ext cx="2553056" cy="184810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739BD5C-56FF-B287-D8C0-1EC827A996BE}"/>
              </a:ext>
            </a:extLst>
          </p:cNvPr>
          <p:cNvSpPr txBox="1"/>
          <p:nvPr/>
        </p:nvSpPr>
        <p:spPr>
          <a:xfrm>
            <a:off x="1062180" y="1993638"/>
            <a:ext cx="755267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&lt;</a:t>
            </a:r>
            <a:r>
              <a:rPr lang="ko-KR" altLang="en-US" sz="1600" b="1" dirty="0"/>
              <a:t>속성이 도출되는 순서</a:t>
            </a:r>
            <a:r>
              <a:rPr lang="en-US" altLang="ko-KR" sz="1600" b="1" dirty="0"/>
              <a:t>&gt;</a:t>
            </a:r>
            <a:r>
              <a:rPr lang="ko-KR" altLang="en-US" sz="1600" b="1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b="1" dirty="0">
                <a:solidFill>
                  <a:srgbClr val="FF0000"/>
                </a:solidFill>
              </a:rPr>
              <a:t>기초속성 </a:t>
            </a:r>
            <a:r>
              <a:rPr lang="en-US" altLang="ko-KR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</a:t>
            </a: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</a:rPr>
              <a:t>관계속성 </a:t>
            </a:r>
            <a:r>
              <a:rPr lang="en-US" altLang="ko-KR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</a:t>
            </a: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</a:rPr>
              <a:t>추출속성 </a:t>
            </a:r>
            <a:r>
              <a:rPr lang="en-US" altLang="ko-KR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</a:t>
            </a: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</a:rPr>
              <a:t>시스템속성</a:t>
            </a:r>
            <a:r>
              <a:rPr lang="ko-KR" altLang="en-US" sz="1400" dirty="0"/>
              <a:t>  순이다. 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/>
              <a:t>모델링할 때 이 순서로 속성을 추가하면 된다.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4EA7C27-BEA1-0965-C230-C6C85E92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148860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BF69A-051B-A8B8-9156-7061616BC10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 startAt="2"/>
            </a:pPr>
            <a:r>
              <a:rPr lang="ko-KR" altLang="en-US" sz="2400" b="1" dirty="0">
                <a:latin typeface="+mn-ea"/>
              </a:rPr>
              <a:t> 속성의 종류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132509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b="1" dirty="0">
                <a:latin typeface="+mn-ea"/>
              </a:rPr>
              <a:t> 기초 속성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관계 속성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추출 속성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시스템 속성</a:t>
            </a:r>
            <a:endParaRPr lang="en-US" altLang="ko-KR" b="1" u="sng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속성 분류법</a:t>
            </a:r>
            <a:endParaRPr lang="en-US" altLang="ko-KR" sz="1600" b="1" dirty="0">
              <a:latin typeface="+mn-ea"/>
            </a:endParaRPr>
          </a:p>
          <a:p>
            <a:pPr marL="1257300" lvl="2" indent="-342900">
              <a:buFont typeface="+mj-lt"/>
              <a:buAutoNum type="arabicParenR" startAt="2"/>
            </a:pP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marL="1257300" lvl="2" indent="-342900">
              <a:buFont typeface="+mj-lt"/>
              <a:buAutoNum type="arabicParenR" startAt="2"/>
            </a:pP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관계 속성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lvl="3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관계도 속성이다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관계나 관계선과 따라다니는 용어가 관계 속성이다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lvl="3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관계 속성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 (Relationship Attribute)</a:t>
            </a:r>
            <a:r>
              <a:rPr lang="ko-KR" altLang="en-US" sz="1400" dirty="0">
                <a:latin typeface="+mn-ea"/>
              </a:rPr>
              <a:t>은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타 </a:t>
            </a:r>
            <a:r>
              <a:rPr lang="ko-KR" altLang="en-US" sz="1400" b="1" u="sng" dirty="0" err="1">
                <a:solidFill>
                  <a:srgbClr val="FF0000"/>
                </a:solidFill>
                <a:latin typeface="+mn-ea"/>
              </a:rPr>
              <a:t>엔터티와의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 관계를 알기 위해 사용</a:t>
            </a:r>
            <a:r>
              <a:rPr lang="ko-KR" altLang="en-US" sz="1400" dirty="0">
                <a:latin typeface="+mn-ea"/>
              </a:rPr>
              <a:t>하는 외래식별자</a:t>
            </a:r>
            <a:r>
              <a:rPr lang="en-US" altLang="ko-KR" sz="1400" dirty="0">
                <a:latin typeface="+mn-ea"/>
              </a:rPr>
              <a:t>(Foreign Identifier)</a:t>
            </a:r>
            <a:r>
              <a:rPr lang="ko-KR" altLang="en-US" sz="1400" dirty="0">
                <a:latin typeface="+mn-ea"/>
              </a:rPr>
              <a:t>속성이다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lvl="3"/>
            <a:r>
              <a:rPr lang="en-US" altLang="ko-KR" sz="1400" dirty="0">
                <a:latin typeface="+mn-ea"/>
              </a:rPr>
              <a:t>- ERD</a:t>
            </a:r>
            <a:r>
              <a:rPr lang="ko-KR" altLang="en-US" sz="1400" dirty="0">
                <a:latin typeface="+mn-ea"/>
              </a:rPr>
              <a:t>에서 관계선이 생략될 수는 있어도 관계 속성을 생략하는 것은 치명적이다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lvl="3"/>
            <a:endParaRPr lang="en-US" altLang="ko-KR" sz="1400" dirty="0">
              <a:latin typeface="+mn-ea"/>
            </a:endParaRPr>
          </a:p>
          <a:p>
            <a:pPr lvl="3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주문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 err="1">
                <a:latin typeface="+mn-ea"/>
              </a:rPr>
              <a:t>엔터티에서는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“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고객번호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담당사원번호</a:t>
            </a:r>
            <a:r>
              <a:rPr lang="en-US" altLang="ko-KR" sz="1400" dirty="0">
                <a:latin typeface="+mn-ea"/>
              </a:rPr>
              <a:t>”</a:t>
            </a:r>
            <a:r>
              <a:rPr lang="ko-KR" altLang="en-US" sz="1400" dirty="0">
                <a:latin typeface="+mn-ea"/>
              </a:rPr>
              <a:t> 속성이 관계 속성이며</a:t>
            </a:r>
            <a:r>
              <a:rPr lang="en-US" altLang="ko-KR" sz="1400" dirty="0">
                <a:latin typeface="+mn-ea"/>
              </a:rPr>
              <a:t>,</a:t>
            </a:r>
          </a:p>
          <a:p>
            <a:pPr lvl="3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주문상품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 err="1">
                <a:latin typeface="+mn-ea"/>
              </a:rPr>
              <a:t>엔터티에서는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“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주문번호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,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상품번호</a:t>
            </a:r>
            <a:r>
              <a:rPr lang="en-US" altLang="ko-KR" sz="1400" dirty="0">
                <a:latin typeface="+mn-ea"/>
              </a:rPr>
              <a:t>”</a:t>
            </a:r>
            <a:r>
              <a:rPr lang="ko-KR" altLang="en-US" sz="1400" dirty="0">
                <a:latin typeface="+mn-ea"/>
              </a:rPr>
              <a:t> 속성이 관계 속성이다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lvl="3"/>
            <a:endParaRPr lang="en-US" altLang="ko-KR" sz="1400" dirty="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5D3DDBF-E6B2-DB67-FDDF-4EF051602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074" y="4373914"/>
            <a:ext cx="4572638" cy="1676634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8BA0CE0-0F25-6A68-2729-46A090BD0E54}"/>
              </a:ext>
            </a:extLst>
          </p:cNvPr>
          <p:cNvSpPr/>
          <p:nvPr/>
        </p:nvSpPr>
        <p:spPr>
          <a:xfrm>
            <a:off x="4929656" y="4747509"/>
            <a:ext cx="928219" cy="157866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29DF7AE-A147-76A0-E5A0-5CB017C3BD56}"/>
              </a:ext>
            </a:extLst>
          </p:cNvPr>
          <p:cNvSpPr/>
          <p:nvPr/>
        </p:nvSpPr>
        <p:spPr>
          <a:xfrm>
            <a:off x="4929656" y="5437128"/>
            <a:ext cx="1080619" cy="157866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5C951CC-2AEC-7EE9-1EA3-8408F0122EC1}"/>
              </a:ext>
            </a:extLst>
          </p:cNvPr>
          <p:cNvSpPr/>
          <p:nvPr/>
        </p:nvSpPr>
        <p:spPr>
          <a:xfrm>
            <a:off x="6310781" y="4640001"/>
            <a:ext cx="928219" cy="157866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7B5AAB0-F82F-02E6-6DE5-3E93DF76B2BA}"/>
              </a:ext>
            </a:extLst>
          </p:cNvPr>
          <p:cNvSpPr/>
          <p:nvPr/>
        </p:nvSpPr>
        <p:spPr>
          <a:xfrm>
            <a:off x="6310781" y="4801926"/>
            <a:ext cx="928219" cy="157866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50E86F-7A9A-BDAB-AA53-51E1EEA16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8900595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A2DE3FD-4D78-0D0D-3EEC-DE3FE5ABA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842" y="4085298"/>
            <a:ext cx="3877216" cy="12860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BF69A-051B-A8B8-9156-7061616BC10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 startAt="2"/>
            </a:pPr>
            <a:r>
              <a:rPr lang="ko-KR" altLang="en-US" sz="2400" b="1" dirty="0">
                <a:latin typeface="+mn-ea"/>
              </a:rPr>
              <a:t> 속성의 종류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1325091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b="1" dirty="0">
                <a:latin typeface="+mn-ea"/>
              </a:rPr>
              <a:t> 기초 속성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관계 속성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추출 속성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시스템 속성</a:t>
            </a:r>
            <a:endParaRPr lang="en-US" altLang="ko-KR" b="1" u="sng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속성 분류법</a:t>
            </a:r>
            <a:endParaRPr lang="en-US" altLang="ko-KR" sz="1600" b="1" dirty="0">
              <a:latin typeface="+mn-ea"/>
            </a:endParaRPr>
          </a:p>
          <a:p>
            <a:pPr marL="1257300" lvl="2" indent="-342900">
              <a:buFont typeface="+mj-lt"/>
              <a:buAutoNum type="arabicParenR" startAt="2"/>
            </a:pP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marL="1257300" lvl="2" indent="-342900">
              <a:buFont typeface="+mj-lt"/>
              <a:buAutoNum type="arabicParenR" startAt="3"/>
            </a:pP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추출 속성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성능 이슈로 사용한다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. 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중복속성의 이슈가 있음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(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중복인지 아닌지 알 수가 없음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.)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lvl="3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추출 속성 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(Derived Attribute)</a:t>
            </a:r>
            <a:r>
              <a:rPr lang="ko-KR" altLang="en-US" sz="1400" dirty="0">
                <a:latin typeface="+mn-ea"/>
              </a:rPr>
              <a:t>은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이미 존재하는 속성으로 재생할 수 있는 속성</a:t>
            </a:r>
            <a:r>
              <a:rPr lang="ko-KR" altLang="en-US" sz="1400" dirty="0">
                <a:latin typeface="+mn-ea"/>
              </a:rPr>
              <a:t>이다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lvl="3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이미 존재하는 속성이 원본 속성 </a:t>
            </a:r>
            <a:r>
              <a:rPr lang="en-US" altLang="ko-KR" sz="1400" dirty="0">
                <a:latin typeface="+mn-ea"/>
              </a:rPr>
              <a:t>(Raw Attribute)</a:t>
            </a:r>
            <a:r>
              <a:rPr lang="ko-KR" altLang="en-US" sz="1400" dirty="0">
                <a:latin typeface="+mn-ea"/>
              </a:rPr>
              <a:t>이다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lvl="3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원본 속성은 </a:t>
            </a:r>
            <a:r>
              <a:rPr lang="en-US" altLang="ko-KR" sz="1400" dirty="0">
                <a:latin typeface="+mn-ea"/>
              </a:rPr>
              <a:t>Derived Attribute(</a:t>
            </a:r>
            <a:r>
              <a:rPr lang="ko-KR" altLang="en-US" sz="1400" dirty="0">
                <a:latin typeface="+mn-ea"/>
              </a:rPr>
              <a:t>추출 속성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에 대한 말로 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Stored Attribute(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저장 속성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라고도 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lvl="3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추출 속성은 원본 속성에 종속돼 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이를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파생 종속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(Derivation Dependency)</a:t>
            </a:r>
            <a:r>
              <a:rPr lang="ko-KR" altLang="en-US" sz="1400" dirty="0">
                <a:latin typeface="+mn-ea"/>
              </a:rPr>
              <a:t>이라 한다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E0F73E4-BC4B-B51E-C0DB-C732FEFB0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615" y="4166272"/>
            <a:ext cx="3524742" cy="1124107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DE84AB3-9B0E-95AF-BBE2-26CFC7D08AA0}"/>
              </a:ext>
            </a:extLst>
          </p:cNvPr>
          <p:cNvSpPr/>
          <p:nvPr/>
        </p:nvSpPr>
        <p:spPr>
          <a:xfrm>
            <a:off x="8885505" y="4201360"/>
            <a:ext cx="987853" cy="846756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20388291-5030-D630-75B8-F05467F26996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>
            <a:off x="5920058" y="4728325"/>
            <a:ext cx="428557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56843C9C-C8E4-A5F6-36D5-68F76B7CD8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9404" y="5610169"/>
            <a:ext cx="4763165" cy="1114581"/>
          </a:xfrm>
          <a:prstGeom prst="rect">
            <a:avLst/>
          </a:prstGeom>
        </p:spPr>
      </p:pic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4F058310-4D0E-BB6F-8BD9-FD068D60093C}"/>
              </a:ext>
            </a:extLst>
          </p:cNvPr>
          <p:cNvCxnSpPr>
            <a:cxnSpLocks/>
            <a:stCxn id="14" idx="2"/>
            <a:endCxn id="20" idx="0"/>
          </p:cNvCxnSpPr>
          <p:nvPr/>
        </p:nvCxnSpPr>
        <p:spPr>
          <a:xfrm>
            <a:off x="8110986" y="5290379"/>
            <a:ext cx="1" cy="3197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C9A1D35-4450-31AB-67F7-80C47E2C5923}"/>
              </a:ext>
            </a:extLst>
          </p:cNvPr>
          <p:cNvSpPr/>
          <p:nvPr/>
        </p:nvSpPr>
        <p:spPr>
          <a:xfrm>
            <a:off x="8190180" y="5543360"/>
            <a:ext cx="2373040" cy="980832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59831D-F3EC-2BE9-7B98-5395D1705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127</a:t>
            </a:fld>
            <a:endParaRPr lang="ko-KR" altLang="en-US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4C35CDA-FB2F-4D3B-A385-E5E7D43406C0}"/>
              </a:ext>
            </a:extLst>
          </p:cNvPr>
          <p:cNvSpPr/>
          <p:nvPr/>
        </p:nvSpPr>
        <p:spPr>
          <a:xfrm>
            <a:off x="3366439" y="4867001"/>
            <a:ext cx="1140247" cy="181115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C66B039-80FA-4FC3-9FCC-F80712629E71}"/>
              </a:ext>
            </a:extLst>
          </p:cNvPr>
          <p:cNvSpPr/>
          <p:nvPr/>
        </p:nvSpPr>
        <p:spPr>
          <a:xfrm>
            <a:off x="4689350" y="4957558"/>
            <a:ext cx="1140247" cy="181115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C05CB3-64CD-4704-92BE-7734C94378E2}"/>
              </a:ext>
            </a:extLst>
          </p:cNvPr>
          <p:cNvSpPr txBox="1"/>
          <p:nvPr/>
        </p:nvSpPr>
        <p:spPr>
          <a:xfrm>
            <a:off x="1296955" y="5674155"/>
            <a:ext cx="406814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FF0000"/>
                </a:solidFill>
              </a:rPr>
              <a:t>주문단가 </a:t>
            </a:r>
            <a:r>
              <a:rPr lang="en-US" altLang="ko-KR" sz="1100" b="1" dirty="0">
                <a:solidFill>
                  <a:srgbClr val="FF0000"/>
                </a:solidFill>
              </a:rPr>
              <a:t>* </a:t>
            </a:r>
            <a:r>
              <a:rPr lang="ko-KR" altLang="en-US" sz="1100" b="1" dirty="0">
                <a:solidFill>
                  <a:srgbClr val="FF0000"/>
                </a:solidFill>
              </a:rPr>
              <a:t>주문수량</a:t>
            </a:r>
          </a:p>
          <a:p>
            <a:r>
              <a:rPr lang="ko-KR" altLang="en-US" sz="1100" b="1" dirty="0">
                <a:solidFill>
                  <a:srgbClr val="FF0000"/>
                </a:solidFill>
              </a:rPr>
              <a:t>  </a:t>
            </a:r>
            <a:r>
              <a:rPr lang="en-US" altLang="ko-KR" sz="1100" b="1" dirty="0">
                <a:solidFill>
                  <a:srgbClr val="FF0000"/>
                </a:solidFill>
              </a:rPr>
              <a:t>=</a:t>
            </a:r>
            <a:r>
              <a:rPr lang="ko-KR" altLang="en-US" sz="1100" b="1" dirty="0">
                <a:solidFill>
                  <a:srgbClr val="FF0000"/>
                </a:solidFill>
              </a:rPr>
              <a:t> </a:t>
            </a:r>
            <a:r>
              <a:rPr lang="ko-KR" altLang="en-US" sz="1100" b="1" dirty="0" err="1">
                <a:solidFill>
                  <a:srgbClr val="FF0000"/>
                </a:solidFill>
              </a:rPr>
              <a:t>주문총금액</a:t>
            </a:r>
            <a:r>
              <a:rPr lang="en-US" altLang="ko-KR" sz="1100" b="1" dirty="0">
                <a:solidFill>
                  <a:srgbClr val="FF0000"/>
                </a:solidFill>
              </a:rPr>
              <a:t>(</a:t>
            </a:r>
            <a:r>
              <a:rPr lang="ko-KR" altLang="en-US" sz="1100" b="1" dirty="0">
                <a:solidFill>
                  <a:srgbClr val="FF0000"/>
                </a:solidFill>
              </a:rPr>
              <a:t>추출속성</a:t>
            </a:r>
            <a:r>
              <a:rPr lang="en-US" altLang="ko-KR" sz="1100" b="1" dirty="0">
                <a:solidFill>
                  <a:srgbClr val="FF0000"/>
                </a:solidFill>
              </a:rPr>
              <a:t>)  </a:t>
            </a:r>
            <a:r>
              <a:rPr lang="en-US" altLang="ko-KR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성능 이슈로 관리해야 함</a:t>
            </a:r>
            <a:endParaRPr lang="en-US" altLang="ko-KR" sz="1100" b="1" dirty="0">
              <a:solidFill>
                <a:srgbClr val="FF0000"/>
              </a:solidFill>
            </a:endParaRPr>
          </a:p>
          <a:p>
            <a:r>
              <a:rPr lang="en-US" altLang="ko-KR" sz="1100" b="1" dirty="0">
                <a:solidFill>
                  <a:srgbClr val="FF0000"/>
                </a:solidFill>
              </a:rPr>
              <a:t>  = </a:t>
            </a:r>
            <a:r>
              <a:rPr lang="ko-KR" altLang="en-US" sz="1100" b="1" dirty="0">
                <a:solidFill>
                  <a:srgbClr val="FF0000"/>
                </a:solidFill>
              </a:rPr>
              <a:t>주문금액</a:t>
            </a:r>
            <a:r>
              <a:rPr lang="en-US" altLang="ko-KR" sz="1100" b="1" dirty="0">
                <a:solidFill>
                  <a:srgbClr val="FF0000"/>
                </a:solidFill>
              </a:rPr>
              <a:t>(</a:t>
            </a:r>
            <a:r>
              <a:rPr lang="ko-KR" altLang="en-US" sz="1100" b="1" dirty="0">
                <a:solidFill>
                  <a:srgbClr val="FF0000"/>
                </a:solidFill>
              </a:rPr>
              <a:t>추출속성</a:t>
            </a:r>
            <a:r>
              <a:rPr lang="en-US" altLang="ko-KR" sz="1100" b="1" dirty="0">
                <a:solidFill>
                  <a:srgbClr val="FF0000"/>
                </a:solidFill>
              </a:rPr>
              <a:t>)</a:t>
            </a:r>
            <a:r>
              <a:rPr lang="ko-KR" altLang="en-US" sz="1100" b="1" dirty="0">
                <a:solidFill>
                  <a:srgbClr val="FF0000"/>
                </a:solidFill>
              </a:rPr>
              <a:t>  </a:t>
            </a:r>
            <a:r>
              <a:rPr lang="en-US" altLang="ko-KR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같은 </a:t>
            </a:r>
            <a:r>
              <a:rPr lang="ko-KR" altLang="en-US" sz="11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엔터티에</a:t>
            </a:r>
            <a:r>
              <a:rPr lang="ko-KR" altLang="en-US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 있을 경우 삭제함</a:t>
            </a:r>
            <a:r>
              <a:rPr lang="en-US" altLang="ko-KR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.</a:t>
            </a:r>
            <a:endParaRPr lang="en-US" altLang="ko-KR" sz="1100" b="1" dirty="0">
              <a:solidFill>
                <a:srgbClr val="FF0000"/>
              </a:solidFill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6A61CE1-9E08-4C50-B502-E80080828ACB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3032449" y="5138673"/>
            <a:ext cx="2227025" cy="9728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2570CB42-7167-4D73-8D23-909C20A5590C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3183775" y="5048116"/>
            <a:ext cx="752788" cy="8171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0524565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BF69A-051B-A8B8-9156-7061616BC10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 startAt="2"/>
            </a:pPr>
            <a:r>
              <a:rPr lang="ko-KR" altLang="en-US" sz="2400" b="1" dirty="0">
                <a:latin typeface="+mn-ea"/>
              </a:rPr>
              <a:t> 속성의 종류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0983913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b="1" dirty="0">
                <a:latin typeface="+mn-ea"/>
              </a:rPr>
              <a:t> 기초 속성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관계 속성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추출 속성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시스템 속성</a:t>
            </a:r>
            <a:endParaRPr lang="en-US" altLang="ko-KR" b="1" u="sng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속성 분류법</a:t>
            </a:r>
            <a:endParaRPr lang="en-US" altLang="ko-KR" sz="1600" b="1" dirty="0">
              <a:latin typeface="+mn-ea"/>
            </a:endParaRPr>
          </a:p>
          <a:p>
            <a:pPr marL="1257300" lvl="2" indent="-342900">
              <a:buFont typeface="+mj-lt"/>
              <a:buAutoNum type="arabicParenR" startAt="2"/>
            </a:pP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marL="1257300" lvl="2" indent="-342900">
              <a:buFont typeface="+mj-lt"/>
              <a:buAutoNum type="arabicParenR" startAt="4"/>
            </a:pP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시스템 속성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lvl="3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시스템 속성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(System Attribute)</a:t>
            </a:r>
            <a:r>
              <a:rPr lang="ko-KR" altLang="en-US" sz="1400" dirty="0">
                <a:latin typeface="+mn-ea"/>
              </a:rPr>
              <a:t>은 데이터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인스턴스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에 대한 추적</a:t>
            </a:r>
            <a:r>
              <a:rPr lang="en-US" altLang="ko-KR" sz="1400" dirty="0">
                <a:latin typeface="+mn-ea"/>
              </a:rPr>
              <a:t>•</a:t>
            </a:r>
            <a:r>
              <a:rPr lang="ko-KR" altLang="en-US" sz="1400" dirty="0">
                <a:latin typeface="+mn-ea"/>
              </a:rPr>
              <a:t>감시</a:t>
            </a:r>
            <a:r>
              <a:rPr lang="en-US" altLang="ko-KR" sz="1400" dirty="0">
                <a:latin typeface="+mn-ea"/>
              </a:rPr>
              <a:t>(Audit Trail)</a:t>
            </a:r>
            <a:r>
              <a:rPr lang="ko-KR" altLang="en-US" sz="1400" dirty="0">
                <a:latin typeface="+mn-ea"/>
              </a:rPr>
              <a:t>를 위해 사용하는 속성이다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lvl="3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해당 인스턴스를 누가 생성하고</a:t>
            </a:r>
            <a:r>
              <a:rPr lang="en-US" altLang="ko-KR" sz="1400" dirty="0">
                <a:latin typeface="+mn-ea"/>
              </a:rPr>
              <a:t>,</a:t>
            </a:r>
            <a:r>
              <a:rPr lang="ko-KR" altLang="en-US" sz="1400" dirty="0">
                <a:latin typeface="+mn-ea"/>
              </a:rPr>
              <a:t> 언제 생성했는지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누가 언제 수정했는지를 관리하는 속성이다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lvl="3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이런 추적 데이터는 당장에는 필요 없을 수도 있지만 언젠가는 요긴하게 사용할 수 있는 데이터다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lvl="3"/>
            <a:endParaRPr lang="en-US" altLang="ko-KR" sz="1400" dirty="0">
              <a:latin typeface="+mn-ea"/>
            </a:endParaRPr>
          </a:p>
          <a:p>
            <a:pPr lvl="3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시스템 속성은 일반적으로 </a:t>
            </a:r>
            <a:r>
              <a:rPr lang="ko-KR" altLang="en-US" sz="1400" b="1" u="sng" dirty="0">
                <a:latin typeface="+mn-ea"/>
              </a:rPr>
              <a:t>전체 </a:t>
            </a:r>
            <a:r>
              <a:rPr lang="ko-KR" altLang="en-US" sz="1400" b="1" u="sng" dirty="0" err="1">
                <a:latin typeface="+mn-ea"/>
              </a:rPr>
              <a:t>엔터티에서</a:t>
            </a:r>
            <a:r>
              <a:rPr lang="ko-KR" altLang="en-US" sz="1400" b="1" u="sng" dirty="0">
                <a:latin typeface="+mn-ea"/>
              </a:rPr>
              <a:t> 모두 같은 목적</a:t>
            </a:r>
            <a:r>
              <a:rPr lang="ko-KR" altLang="en-US" sz="1400" dirty="0">
                <a:latin typeface="+mn-ea"/>
              </a:rPr>
              <a:t>으로 사용한다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lvl="3"/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모든 </a:t>
            </a:r>
            <a:r>
              <a:rPr lang="ko-KR" altLang="en-US" sz="1400" dirty="0" err="1">
                <a:latin typeface="+mn-ea"/>
              </a:rPr>
              <a:t>엔터티에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b="1" u="sng" dirty="0">
                <a:latin typeface="+mn-ea"/>
              </a:rPr>
              <a:t>4~10</a:t>
            </a:r>
            <a:r>
              <a:rPr lang="ko-KR" altLang="en-US" sz="1400" b="1" u="sng" dirty="0">
                <a:latin typeface="+mn-ea"/>
              </a:rPr>
              <a:t>개 정도의 시스템 속성이 존재</a:t>
            </a:r>
            <a:r>
              <a:rPr lang="ko-KR" altLang="en-US" sz="1400" dirty="0">
                <a:latin typeface="+mn-ea"/>
              </a:rPr>
              <a:t>하기 때문에 속성을 물리적으로 구분할 때 생성하는 속성이다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lvl="3"/>
            <a:endParaRPr lang="en-US" altLang="ko-KR" sz="1400" dirty="0">
              <a:latin typeface="+mn-ea"/>
            </a:endParaRPr>
          </a:p>
          <a:p>
            <a:pPr lvl="3"/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solidFill>
                  <a:schemeClr val="tx2"/>
                </a:solidFill>
                <a:latin typeface="+mn-ea"/>
              </a:rPr>
              <a:t>시스템 속성의 예시</a:t>
            </a:r>
            <a:endParaRPr lang="en-US" altLang="ko-KR" sz="1600" b="1" dirty="0">
              <a:solidFill>
                <a:schemeClr val="tx2"/>
              </a:solidFill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등록자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ID</a:t>
            </a: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등록일시</a:t>
            </a:r>
            <a:endParaRPr lang="en-US" altLang="ko-KR" sz="1400" b="1" dirty="0">
              <a:solidFill>
                <a:schemeClr val="accent1"/>
              </a:solidFill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등록프로그램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ID</a:t>
            </a: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등록요건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SR</a:t>
            </a: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번호</a:t>
            </a:r>
            <a:endParaRPr lang="en-US" altLang="ko-KR" sz="1400" b="1" dirty="0">
              <a:solidFill>
                <a:schemeClr val="accent1"/>
              </a:solidFill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400" b="1" dirty="0" err="1">
                <a:solidFill>
                  <a:schemeClr val="accent1"/>
                </a:solidFill>
                <a:latin typeface="+mn-ea"/>
              </a:rPr>
              <a:t>수정자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ID</a:t>
            </a: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수정일시</a:t>
            </a:r>
            <a:endParaRPr lang="en-US" altLang="ko-KR" sz="1400" b="1" dirty="0">
              <a:solidFill>
                <a:schemeClr val="accent1"/>
              </a:solidFill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수정프로그램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ID</a:t>
            </a: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수정요건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SR</a:t>
            </a: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번호 등</a:t>
            </a:r>
            <a:endParaRPr lang="en-US" altLang="ko-KR" sz="1400" b="1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40C3BB4-2E6A-F0EA-8F62-01EE870CC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52" y="4511836"/>
            <a:ext cx="4582164" cy="1657581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F6170EB-0A5D-D485-12B7-A65DD98ED72C}"/>
              </a:ext>
            </a:extLst>
          </p:cNvPr>
          <p:cNvSpPr/>
          <p:nvPr/>
        </p:nvSpPr>
        <p:spPr>
          <a:xfrm>
            <a:off x="5500152" y="5029200"/>
            <a:ext cx="738507" cy="161925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809DAC6-7FFF-418A-764A-985AE2F745C1}"/>
              </a:ext>
            </a:extLst>
          </p:cNvPr>
          <p:cNvSpPr/>
          <p:nvPr/>
        </p:nvSpPr>
        <p:spPr>
          <a:xfrm>
            <a:off x="5490627" y="5743575"/>
            <a:ext cx="738507" cy="161925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F882C72-9151-2A00-F4C0-965EC589C89D}"/>
              </a:ext>
            </a:extLst>
          </p:cNvPr>
          <p:cNvSpPr/>
          <p:nvPr/>
        </p:nvSpPr>
        <p:spPr>
          <a:xfrm>
            <a:off x="6509802" y="5724525"/>
            <a:ext cx="738507" cy="161925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7EFAB7F-8067-90AF-E842-9CF74C316056}"/>
              </a:ext>
            </a:extLst>
          </p:cNvPr>
          <p:cNvSpPr/>
          <p:nvPr/>
        </p:nvSpPr>
        <p:spPr>
          <a:xfrm>
            <a:off x="7919502" y="5486400"/>
            <a:ext cx="738507" cy="161925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81EDF53-5B33-A2B9-85E8-0F82CB260DF3}"/>
              </a:ext>
            </a:extLst>
          </p:cNvPr>
          <p:cNvSpPr/>
          <p:nvPr/>
        </p:nvSpPr>
        <p:spPr>
          <a:xfrm>
            <a:off x="9148227" y="5295900"/>
            <a:ext cx="738507" cy="161925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BD39CF-33E4-FBD0-EF47-9583F4165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560947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BF69A-051B-A8B8-9156-7061616BC10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 startAt="2"/>
            </a:pPr>
            <a:r>
              <a:rPr lang="ko-KR" altLang="en-US" sz="2400" b="1" dirty="0">
                <a:latin typeface="+mn-ea"/>
              </a:rPr>
              <a:t> 속성의 종류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098391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ko-KR" altLang="en-US" b="1" dirty="0">
                <a:latin typeface="+mn-ea"/>
              </a:rPr>
              <a:t> 추출 속성의 종류 </a:t>
            </a: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중복 속성  </a:t>
            </a:r>
            <a:r>
              <a:rPr lang="en-US" altLang="ko-KR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추출 </a:t>
            </a:r>
            <a:r>
              <a:rPr lang="en-US" altLang="ko-KR" b="1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하위 속성을 상위에 가져오는 속성</a:t>
            </a:r>
            <a:r>
              <a:rPr lang="en-US" altLang="ko-KR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ko-KR" b="1" u="sng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+mj-lt"/>
              <a:buAutoNum type="arabicPeriod" startAt="2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넓은 의미에서 중복 속성도 추출 속성에 속한다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추출 속성은 기존에 존재하는 속성을 가공해서 사용한다는 점이 다르다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중복</a:t>
            </a:r>
            <a:r>
              <a:rPr lang="en-US" altLang="ko-KR" sz="1400" b="1" dirty="0">
                <a:latin typeface="+mn-ea"/>
              </a:rPr>
              <a:t>•</a:t>
            </a:r>
            <a:r>
              <a:rPr lang="ko-KR" altLang="en-US" sz="1400" b="1" dirty="0">
                <a:latin typeface="+mn-ea"/>
              </a:rPr>
              <a:t>추출 속성을 정확하게 판별할 수 있다면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속성의 본질을 정확히 알 수 있는 것이므로 좋은 </a:t>
            </a:r>
            <a:r>
              <a:rPr lang="ko-KR" altLang="en-US" sz="1400" b="1" dirty="0" err="1">
                <a:latin typeface="+mn-ea"/>
              </a:rPr>
              <a:t>모델러가</a:t>
            </a:r>
            <a:r>
              <a:rPr lang="ko-KR" altLang="en-US" sz="1400" b="1" dirty="0">
                <a:latin typeface="+mn-ea"/>
              </a:rPr>
              <a:t> 될 자질이 있다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중복 속성을 제거하는 것이 관계형 데이터 모델링의 중요한 목적 중 하나다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중복 속성은 말 그대로 이미 존재하는 속성의 값을 중복해서 사용하는 속성이다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중복 속성</a:t>
            </a:r>
            <a:r>
              <a:rPr lang="ko-KR" altLang="en-US" sz="1400" b="1" dirty="0">
                <a:latin typeface="+mn-ea"/>
              </a:rPr>
              <a:t>은 주로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상위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부모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400" b="1" u="sng" dirty="0" err="1">
                <a:solidFill>
                  <a:srgbClr val="FF0000"/>
                </a:solidFill>
                <a:latin typeface="+mn-ea"/>
              </a:rPr>
              <a:t>엔터티에서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 하위 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자식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) </a:t>
            </a:r>
            <a:r>
              <a:rPr lang="ko-KR" altLang="en-US" sz="1400" b="1" u="sng" dirty="0" err="1">
                <a:solidFill>
                  <a:srgbClr val="FF0000"/>
                </a:solidFill>
                <a:latin typeface="+mn-ea"/>
              </a:rPr>
              <a:t>엔터티에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 복사</a:t>
            </a:r>
            <a:r>
              <a:rPr lang="ko-KR" altLang="en-US" sz="1400" b="1" dirty="0">
                <a:latin typeface="+mn-ea"/>
              </a:rPr>
              <a:t>해 놓는다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중복 속성을 사용하는 이유가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상위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부모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) </a:t>
            </a:r>
            <a:r>
              <a:rPr lang="ko-KR" altLang="en-US" sz="1400" b="1" u="sng" dirty="0" err="1">
                <a:solidFill>
                  <a:srgbClr val="FF0000"/>
                </a:solidFill>
                <a:latin typeface="+mn-ea"/>
              </a:rPr>
              <a:t>엔터티와의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 조인을 피하려는 것</a:t>
            </a:r>
            <a:r>
              <a:rPr lang="ko-KR" altLang="en-US" sz="1400" b="1" dirty="0">
                <a:latin typeface="+mn-ea"/>
              </a:rPr>
              <a:t>이기 때문이다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E3A4503-A0F9-CC08-840D-2475771EA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524" y="4330804"/>
            <a:ext cx="2514951" cy="1581371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A6B7260-2556-4946-F00D-5A273DF6DF74}"/>
              </a:ext>
            </a:extLst>
          </p:cNvPr>
          <p:cNvSpPr/>
          <p:nvPr/>
        </p:nvSpPr>
        <p:spPr>
          <a:xfrm>
            <a:off x="5081052" y="4904627"/>
            <a:ext cx="805398" cy="190500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E873C47-1D0D-6849-620C-80FADA16477E}"/>
              </a:ext>
            </a:extLst>
          </p:cNvPr>
          <p:cNvSpPr/>
          <p:nvPr/>
        </p:nvSpPr>
        <p:spPr>
          <a:xfrm>
            <a:off x="6347877" y="4857002"/>
            <a:ext cx="805398" cy="190500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B2D6C21-7B4A-926E-564C-67692EEE5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3899364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BF69A-051B-A8B8-9156-7061616BC10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 startAt="2"/>
            </a:pPr>
            <a:r>
              <a:rPr lang="ko-KR" altLang="en-US" sz="2400" b="1" dirty="0">
                <a:latin typeface="+mn-ea"/>
              </a:rPr>
              <a:t> 속성의 종류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098391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ko-KR" altLang="en-US" b="1" dirty="0">
                <a:latin typeface="+mn-ea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시점 데이터</a:t>
            </a:r>
            <a:r>
              <a:rPr lang="ko-KR" altLang="en-US" b="1" dirty="0">
                <a:latin typeface="+mn-ea"/>
              </a:rPr>
              <a:t>가 중복 속성이다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u="sng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+mj-lt"/>
              <a:buAutoNum type="arabicPeriod" startAt="3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중복 속성처럼 보이지만 주의해야 할 속성이 있다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데이터가 발생한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시점의 값을 관리하는 속성</a:t>
            </a:r>
            <a:r>
              <a:rPr lang="ko-KR" altLang="en-US" sz="1400" b="1" dirty="0">
                <a:latin typeface="+mn-ea"/>
              </a:rPr>
              <a:t>은 주의해야 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시점 데이터란 의미에는 고객 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고객명 속성 값이 변경되더라도 계좌 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고객명 속성은 변경되면 안 된다는 의미가 포함돼 있다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고객 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이력을 관리한다면 계좌 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고객명 속성은 추출 속성이다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A465A98-2E6B-E973-D91D-F4A9BC34B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477" y="3299514"/>
            <a:ext cx="2295845" cy="1114581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57DC9A2-C0F8-ECAD-1035-77A22758002C}"/>
              </a:ext>
            </a:extLst>
          </p:cNvPr>
          <p:cNvSpPr/>
          <p:nvPr/>
        </p:nvSpPr>
        <p:spPr>
          <a:xfrm>
            <a:off x="2664341" y="3682407"/>
            <a:ext cx="574159" cy="169557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3FA92D9-ACE0-D4AE-D14E-BFE2491C4112}"/>
              </a:ext>
            </a:extLst>
          </p:cNvPr>
          <p:cNvSpPr/>
          <p:nvPr/>
        </p:nvSpPr>
        <p:spPr>
          <a:xfrm>
            <a:off x="3750191" y="3810422"/>
            <a:ext cx="574159" cy="169557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C8F38C2-0A38-FD44-D73A-92CF311E4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899" y="5119602"/>
            <a:ext cx="3648584" cy="122889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43C49EA-BF60-D988-E7A1-3F637E9150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971931"/>
            <a:ext cx="4782217" cy="1695687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61AF0AC-F3D6-1F76-3261-01B3E84F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130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9B16C1-4F89-424C-8F95-90601E6772AC}"/>
              </a:ext>
            </a:extLst>
          </p:cNvPr>
          <p:cNvSpPr txBox="1"/>
          <p:nvPr/>
        </p:nvSpPr>
        <p:spPr>
          <a:xfrm>
            <a:off x="5641064" y="3757854"/>
            <a:ext cx="3834704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개설시점고객명 </a:t>
            </a:r>
            <a:r>
              <a:rPr lang="en-US" altLang="ko-KR" sz="1200" b="1" dirty="0">
                <a:solidFill>
                  <a:srgbClr val="FF0000"/>
                </a:solidFill>
                <a:sym typeface="Wingdings" panose="05000000000000000000" pitchFamily="2" charset="2"/>
              </a:rPr>
              <a:t> </a:t>
            </a:r>
            <a:r>
              <a:rPr lang="ko-KR" altLang="en-US" sz="1200" b="1" dirty="0">
                <a:solidFill>
                  <a:srgbClr val="FF0000"/>
                </a:solidFill>
              </a:rPr>
              <a:t>표준용어 사용 </a:t>
            </a:r>
            <a:r>
              <a:rPr lang="en-US" altLang="ko-KR" sz="1200" b="1" dirty="0">
                <a:solidFill>
                  <a:srgbClr val="FF0000"/>
                </a:solidFill>
              </a:rPr>
              <a:t>: </a:t>
            </a:r>
            <a:r>
              <a:rPr lang="ko-KR" altLang="en-US" sz="1200" b="1" dirty="0">
                <a:solidFill>
                  <a:srgbClr val="FF0000"/>
                </a:solidFill>
              </a:rPr>
              <a:t>삭제하면 안된다</a:t>
            </a:r>
            <a:r>
              <a:rPr lang="en-US" altLang="ko-KR" sz="1200" b="1" dirty="0">
                <a:solidFill>
                  <a:srgbClr val="FF0000"/>
                </a:solidFill>
              </a:rPr>
              <a:t>.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2FF268B6-DA1F-4CD1-ACCA-27DD243EBF04}"/>
              </a:ext>
            </a:extLst>
          </p:cNvPr>
          <p:cNvCxnSpPr>
            <a:cxnSpLocks/>
            <a:stCxn id="9" idx="1"/>
            <a:endCxn id="10" idx="3"/>
          </p:cNvCxnSpPr>
          <p:nvPr/>
        </p:nvCxnSpPr>
        <p:spPr>
          <a:xfrm flipH="1" flipV="1">
            <a:off x="4324350" y="3895201"/>
            <a:ext cx="1316714" cy="115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645D61D-AE3F-4CF4-A4D9-B0418576A701}"/>
              </a:ext>
            </a:extLst>
          </p:cNvPr>
          <p:cNvSpPr/>
          <p:nvPr/>
        </p:nvSpPr>
        <p:spPr>
          <a:xfrm>
            <a:off x="3463111" y="5506930"/>
            <a:ext cx="574159" cy="169557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FF474A4-9D40-4D3E-B880-1F1F41A96A9D}"/>
              </a:ext>
            </a:extLst>
          </p:cNvPr>
          <p:cNvSpPr/>
          <p:nvPr/>
        </p:nvSpPr>
        <p:spPr>
          <a:xfrm>
            <a:off x="4558787" y="5626103"/>
            <a:ext cx="574159" cy="169557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0C31590-F2D5-4884-B98B-0A000EC110E4}"/>
              </a:ext>
            </a:extLst>
          </p:cNvPr>
          <p:cNvSpPr/>
          <p:nvPr/>
        </p:nvSpPr>
        <p:spPr>
          <a:xfrm>
            <a:off x="2108844" y="5642236"/>
            <a:ext cx="574159" cy="169557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D97BF8-D4BC-4B51-9CF2-6667256BFEE2}"/>
              </a:ext>
            </a:extLst>
          </p:cNvPr>
          <p:cNvSpPr txBox="1"/>
          <p:nvPr/>
        </p:nvSpPr>
        <p:spPr>
          <a:xfrm>
            <a:off x="1723261" y="6493894"/>
            <a:ext cx="3648584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성능이슈로 중복속성 관리 가능 </a:t>
            </a:r>
            <a:r>
              <a:rPr lang="en-US" altLang="ko-KR" sz="1200" b="1" dirty="0">
                <a:solidFill>
                  <a:srgbClr val="FF0000"/>
                </a:solidFill>
              </a:rPr>
              <a:t>: </a:t>
            </a:r>
            <a:r>
              <a:rPr lang="ko-KR" altLang="en-US" sz="1200" b="1" dirty="0">
                <a:solidFill>
                  <a:srgbClr val="FF0000"/>
                </a:solidFill>
              </a:rPr>
              <a:t>삭제하면 안된다</a:t>
            </a:r>
            <a:r>
              <a:rPr lang="en-US" altLang="ko-KR" sz="1200" b="1" dirty="0">
                <a:solidFill>
                  <a:srgbClr val="FF0000"/>
                </a:solidFill>
              </a:rPr>
              <a:t>.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17CB090A-07B7-43E6-BF5F-E29599C78366}"/>
              </a:ext>
            </a:extLst>
          </p:cNvPr>
          <p:cNvCxnSpPr>
            <a:cxnSpLocks/>
            <a:stCxn id="21" idx="0"/>
            <a:endCxn id="20" idx="3"/>
          </p:cNvCxnSpPr>
          <p:nvPr/>
        </p:nvCxnSpPr>
        <p:spPr>
          <a:xfrm flipH="1" flipV="1">
            <a:off x="2683003" y="5727015"/>
            <a:ext cx="864550" cy="76687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C2DD495-87E3-4767-A78E-D0BD8A31AB68}"/>
              </a:ext>
            </a:extLst>
          </p:cNvPr>
          <p:cNvCxnSpPr>
            <a:cxnSpLocks/>
            <a:stCxn id="21" idx="0"/>
            <a:endCxn id="18" idx="2"/>
          </p:cNvCxnSpPr>
          <p:nvPr/>
        </p:nvCxnSpPr>
        <p:spPr>
          <a:xfrm flipV="1">
            <a:off x="3547553" y="5676487"/>
            <a:ext cx="202638" cy="8174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67A71993-A51C-45B8-AABA-636727337653}"/>
              </a:ext>
            </a:extLst>
          </p:cNvPr>
          <p:cNvCxnSpPr>
            <a:cxnSpLocks/>
            <a:stCxn id="21" idx="0"/>
            <a:endCxn id="19" idx="2"/>
          </p:cNvCxnSpPr>
          <p:nvPr/>
        </p:nvCxnSpPr>
        <p:spPr>
          <a:xfrm flipV="1">
            <a:off x="3547553" y="5795660"/>
            <a:ext cx="1298314" cy="6982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380154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BF69A-051B-A8B8-9156-7061616BC10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 startAt="2"/>
            </a:pPr>
            <a:r>
              <a:rPr lang="ko-KR" altLang="en-US" sz="2400" b="1" dirty="0">
                <a:latin typeface="+mn-ea"/>
              </a:rPr>
              <a:t> 속성의 종류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0983913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ko-KR" altLang="en-US" b="1" dirty="0">
                <a:latin typeface="+mn-ea"/>
              </a:rPr>
              <a:t> 중복 속성을 사용할 수 있는 경우</a:t>
            </a:r>
            <a:endParaRPr lang="en-US" altLang="ko-KR" b="1" u="sng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+mj-lt"/>
              <a:buAutoNum type="arabicPeriod" startAt="4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값이 변경될 가능성이 아주 낮은 속성</a:t>
            </a:r>
            <a:r>
              <a:rPr lang="ko-KR" altLang="en-US" sz="1400" b="1" dirty="0">
                <a:latin typeface="+mn-ea"/>
              </a:rPr>
              <a:t>이 있다면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하위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자식</a:t>
            </a:r>
            <a:r>
              <a:rPr lang="en-US" altLang="ko-KR" sz="1400" b="1" dirty="0">
                <a:latin typeface="+mn-ea"/>
              </a:rPr>
              <a:t>) </a:t>
            </a:r>
            <a:r>
              <a:rPr lang="ko-KR" altLang="en-US" sz="1400" b="1" dirty="0" err="1">
                <a:latin typeface="+mn-ea"/>
              </a:rPr>
              <a:t>엔터티에</a:t>
            </a:r>
            <a:r>
              <a:rPr lang="ko-KR" altLang="en-US" sz="1400" b="1" dirty="0">
                <a:latin typeface="+mn-ea"/>
              </a:rPr>
              <a:t> 중복 속성으로 사용해도 부작용이 줄어든다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상위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부모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1400" b="1" u="sng" dirty="0" err="1">
                <a:solidFill>
                  <a:srgbClr val="FF0000"/>
                </a:solidFill>
                <a:latin typeface="+mn-ea"/>
              </a:rPr>
              <a:t>엔터티의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 속성 값이 바뀌지 않으므로</a:t>
            </a:r>
            <a:r>
              <a:rPr lang="ko-KR" altLang="en-US" sz="1400" b="1" dirty="0">
                <a:latin typeface="+mn-ea"/>
              </a:rPr>
              <a:t> 하위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자식</a:t>
            </a:r>
            <a:r>
              <a:rPr lang="en-US" altLang="ko-KR" sz="1400" b="1" dirty="0">
                <a:latin typeface="+mn-ea"/>
              </a:rPr>
              <a:t>)</a:t>
            </a:r>
            <a:r>
              <a:rPr lang="ko-KR" altLang="en-US" sz="1400" b="1" dirty="0">
                <a:latin typeface="+mn-ea"/>
              </a:rPr>
              <a:t>에 사용한 중복 속성 값을 갱신하는 부작용이 없기 때문이다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데이터 정합성을 맞춰야 하는 대상이 적은 경우</a:t>
            </a:r>
            <a:r>
              <a:rPr lang="ko-KR" altLang="en-US" sz="1400" b="1" dirty="0">
                <a:latin typeface="+mn-ea"/>
              </a:rPr>
              <a:t>도 중복 속성을 사용할 때의 부작용을 최소화할 수 있다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즉 원본 속성이 존재하는 상위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부모</a:t>
            </a:r>
            <a:r>
              <a:rPr lang="en-US" altLang="ko-KR" sz="1400" b="1" dirty="0">
                <a:latin typeface="+mn-ea"/>
              </a:rPr>
              <a:t>)</a:t>
            </a:r>
            <a:r>
              <a:rPr lang="ko-KR" altLang="en-US" sz="1400" b="1" dirty="0">
                <a:latin typeface="+mn-ea"/>
              </a:rPr>
              <a:t> </a:t>
            </a:r>
            <a:r>
              <a:rPr lang="ko-KR" altLang="en-US" sz="1400" b="1" dirty="0" err="1">
                <a:latin typeface="+mn-ea"/>
              </a:rPr>
              <a:t>엔터티와</a:t>
            </a:r>
            <a:r>
              <a:rPr lang="ko-KR" altLang="en-US" sz="1400" b="1" dirty="0">
                <a:latin typeface="+mn-ea"/>
              </a:rPr>
              <a:t> 중복 속성이 존재하는 하위 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자식</a:t>
            </a:r>
            <a:r>
              <a:rPr lang="en-US" altLang="ko-KR" sz="1400" b="1" dirty="0">
                <a:latin typeface="+mn-ea"/>
              </a:rPr>
              <a:t>)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관계비가 일대일</a:t>
            </a:r>
            <a:r>
              <a:rPr lang="en-US" altLang="ko-KR" sz="1400" b="1" dirty="0">
                <a:latin typeface="+mn-ea"/>
              </a:rPr>
              <a:t>(1:1)</a:t>
            </a:r>
            <a:r>
              <a:rPr lang="ko-KR" altLang="en-US" sz="1400" b="1" dirty="0">
                <a:latin typeface="+mn-ea"/>
              </a:rPr>
              <a:t>에 가까울 수록 중복 속성을 사용할 때의 부작용이 줄어든다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또한 </a:t>
            </a:r>
            <a:r>
              <a:rPr lang="ko-KR" altLang="en-US" sz="1400" b="1" dirty="0" err="1">
                <a:latin typeface="+mn-ea"/>
              </a:rPr>
              <a:t>엔터티</a:t>
            </a:r>
            <a:r>
              <a:rPr lang="ko-KR" altLang="en-US" sz="1400" b="1" dirty="0">
                <a:latin typeface="+mn-ea"/>
              </a:rPr>
              <a:t> 간의 관계가 참조 관계</a:t>
            </a:r>
            <a:r>
              <a:rPr lang="en-US" altLang="ko-KR" sz="1400" b="1" dirty="0">
                <a:latin typeface="+mn-ea"/>
              </a:rPr>
              <a:t>(Referential Relationship)</a:t>
            </a:r>
            <a:r>
              <a:rPr lang="ko-KR" altLang="en-US" sz="1400" b="1" dirty="0">
                <a:latin typeface="+mn-ea"/>
              </a:rPr>
              <a:t>일 때 보다는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종속관계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(Dependent Relationship)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일 때가 비교적 중복 속성을 채택하기 적당</a:t>
            </a:r>
            <a:r>
              <a:rPr lang="ko-KR" altLang="en-US" sz="1400" b="1" dirty="0">
                <a:latin typeface="+mn-ea"/>
              </a:rPr>
              <a:t>하다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참조 관계일 때</a:t>
            </a:r>
            <a:r>
              <a:rPr lang="en-US" altLang="ko-KR" sz="1400" b="1" dirty="0">
                <a:latin typeface="+mn-ea"/>
              </a:rPr>
              <a:t> </a:t>
            </a:r>
            <a:r>
              <a:rPr lang="ko-KR" altLang="en-US" sz="1400" b="1" dirty="0">
                <a:latin typeface="+mn-ea"/>
              </a:rPr>
              <a:t>상위 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부모</a:t>
            </a:r>
            <a:r>
              <a:rPr lang="en-US" altLang="ko-KR" sz="1400" b="1" dirty="0">
                <a:latin typeface="+mn-ea"/>
              </a:rPr>
              <a:t>)</a:t>
            </a:r>
            <a:r>
              <a:rPr lang="ko-KR" altLang="en-US" sz="1400" b="1" dirty="0" err="1">
                <a:latin typeface="+mn-ea"/>
              </a:rPr>
              <a:t>엔터티는</a:t>
            </a:r>
            <a:r>
              <a:rPr lang="ko-KR" altLang="en-US" sz="1400" b="1" dirty="0">
                <a:latin typeface="+mn-ea"/>
              </a:rPr>
              <a:t> 주로 실체 </a:t>
            </a:r>
            <a:r>
              <a:rPr lang="ko-KR" altLang="en-US" sz="1400" b="1" dirty="0" err="1">
                <a:latin typeface="+mn-ea"/>
              </a:rPr>
              <a:t>엔터티고</a:t>
            </a:r>
            <a:r>
              <a:rPr lang="en-US" altLang="ko-KR" sz="1400" b="1" dirty="0">
                <a:latin typeface="+mn-ea"/>
              </a:rPr>
              <a:t>,</a:t>
            </a:r>
            <a:r>
              <a:rPr lang="ko-KR" altLang="en-US" sz="1400" b="1" dirty="0">
                <a:latin typeface="+mn-ea"/>
              </a:rPr>
              <a:t> 하위 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자식</a:t>
            </a:r>
            <a:r>
              <a:rPr lang="en-US" altLang="ko-KR" sz="1400" b="1" dirty="0">
                <a:latin typeface="+mn-ea"/>
              </a:rPr>
              <a:t>) </a:t>
            </a:r>
            <a:r>
              <a:rPr lang="ko-KR" altLang="en-US" sz="1400" b="1" dirty="0" err="1">
                <a:latin typeface="+mn-ea"/>
              </a:rPr>
              <a:t>엔터티는</a:t>
            </a:r>
            <a:r>
              <a:rPr lang="ko-KR" altLang="en-US" sz="1400" b="1" dirty="0">
                <a:latin typeface="+mn-ea"/>
              </a:rPr>
              <a:t> 트랜잭션 데이터를 관리하는 행위 </a:t>
            </a:r>
            <a:r>
              <a:rPr lang="ko-KR" altLang="en-US" sz="1400" b="1" dirty="0" err="1">
                <a:latin typeface="+mn-ea"/>
              </a:rPr>
              <a:t>엔터티다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따라서 인스턴스가 많은 하위 </a:t>
            </a:r>
            <a:r>
              <a:rPr lang="ko-KR" altLang="en-US" sz="1400" b="1" dirty="0" err="1">
                <a:latin typeface="+mn-ea"/>
              </a:rPr>
              <a:t>엔터티에</a:t>
            </a:r>
            <a:r>
              <a:rPr lang="ko-KR" altLang="en-US" sz="1400" b="1" dirty="0">
                <a:latin typeface="+mn-ea"/>
              </a:rPr>
              <a:t> 중복 속성을 사용하면 부작용이 더 커지게 된다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64AF875-8742-C524-9823-4114698E0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5010282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BF69A-051B-A8B8-9156-7061616BC10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 startAt="2"/>
            </a:pPr>
            <a:r>
              <a:rPr lang="ko-KR" altLang="en-US" sz="2400" b="1" dirty="0">
                <a:latin typeface="+mn-ea"/>
              </a:rPr>
              <a:t> 속성의 종류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0983913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ko-KR" altLang="en-US" b="1" dirty="0">
                <a:latin typeface="+mn-ea"/>
              </a:rPr>
              <a:t> 단일 값 속성과 다가 속성</a:t>
            </a:r>
            <a:endParaRPr lang="en-US" altLang="ko-KR" b="1" u="sng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+mj-lt"/>
              <a:buAutoNum type="arabicPeriod" startAt="5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속성의 성격을 파악할 때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그 속성이 다가 속성</a:t>
            </a:r>
            <a:r>
              <a:rPr lang="en-US" altLang="ko-KR" sz="1400" b="1" dirty="0">
                <a:latin typeface="+mn-ea"/>
              </a:rPr>
              <a:t>(Multivalued Attribute) </a:t>
            </a:r>
            <a:r>
              <a:rPr lang="ko-KR" altLang="en-US" sz="1400" b="1" dirty="0">
                <a:latin typeface="+mn-ea"/>
              </a:rPr>
              <a:t>인지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단일 값 속성</a:t>
            </a:r>
            <a:r>
              <a:rPr lang="en-US" altLang="ko-KR" sz="1400" b="1" dirty="0">
                <a:latin typeface="+mn-ea"/>
              </a:rPr>
              <a:t>(Single-Valued Attribute) </a:t>
            </a:r>
            <a:r>
              <a:rPr lang="ko-KR" altLang="en-US" sz="1400" b="1" dirty="0">
                <a:latin typeface="+mn-ea"/>
              </a:rPr>
              <a:t>인지를 구분하는 것은 의미가 있다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단일 값 속성</a:t>
            </a:r>
            <a:r>
              <a:rPr lang="ko-KR" altLang="en-US" sz="1200" b="1" dirty="0">
                <a:latin typeface="+mn-ea"/>
              </a:rPr>
              <a:t>은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한 시점에 하나의 값 만을 가지는 속성</a:t>
            </a:r>
            <a:r>
              <a:rPr lang="ko-KR" altLang="en-US" sz="1200" b="1" dirty="0">
                <a:latin typeface="+mn-ea"/>
              </a:rPr>
              <a:t>이다</a:t>
            </a:r>
            <a:r>
              <a:rPr lang="en-US" altLang="ko-KR" sz="1200" b="1" dirty="0">
                <a:latin typeface="+mn-ea"/>
              </a:rPr>
              <a:t>. </a:t>
            </a:r>
            <a:r>
              <a:rPr lang="ko-KR" altLang="en-US" sz="1200" b="1" dirty="0">
                <a:latin typeface="+mn-ea"/>
              </a:rPr>
              <a:t>이는 데이터는 원자 값이어야 한다는 원칙을 지킨 정상적인 속성이다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대부분 속성이 단일 값 속성이다</a:t>
            </a:r>
            <a:r>
              <a:rPr lang="en-US" altLang="ko-KR" sz="1200" b="1" dirty="0">
                <a:latin typeface="+mn-ea"/>
              </a:rPr>
              <a:t>. </a:t>
            </a:r>
            <a:r>
              <a:rPr lang="ko-KR" altLang="en-US" sz="1200" b="1" dirty="0">
                <a:latin typeface="+mn-ea"/>
              </a:rPr>
              <a:t>고객 </a:t>
            </a:r>
            <a:r>
              <a:rPr lang="ko-KR" altLang="en-US" sz="1200" b="1" dirty="0" err="1">
                <a:latin typeface="+mn-ea"/>
              </a:rPr>
              <a:t>엔터티의</a:t>
            </a:r>
            <a:r>
              <a:rPr lang="ko-KR" altLang="en-US" sz="1200" b="1" dirty="0">
                <a:latin typeface="+mn-ea"/>
              </a:rPr>
              <a:t> 주민등록번호 속성은 한 사람이 동시에 하나의 값 만을 가지는 단일 값 속성이다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나이 속성 또한 하나의 값 만을 가지므로 단일 값 속성이다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b="1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반면에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다가 속성</a:t>
            </a:r>
            <a:r>
              <a:rPr lang="ko-KR" altLang="en-US" sz="1200" b="1" dirty="0">
                <a:latin typeface="+mn-ea"/>
              </a:rPr>
              <a:t>은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유사한 성격의 값을 복수로 가지고 있는 속성</a:t>
            </a:r>
            <a:r>
              <a:rPr lang="ko-KR" altLang="en-US" sz="1200" b="1" dirty="0">
                <a:latin typeface="+mn-ea"/>
              </a:rPr>
              <a:t>을 의미한다</a:t>
            </a:r>
            <a:r>
              <a:rPr lang="en-US" altLang="ko-KR" sz="1200" b="1" dirty="0">
                <a:latin typeface="+mn-ea"/>
              </a:rPr>
              <a:t>. </a:t>
            </a:r>
            <a:r>
              <a:rPr lang="ko-KR" altLang="en-US" sz="1200" b="1" dirty="0">
                <a:latin typeface="+mn-ea"/>
              </a:rPr>
              <a:t>한 속성에 유사한 종류의 값이 여러 개 존재하는 속성이다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다가 속성과 종종 혼동되는 속성이 복합 속성</a:t>
            </a:r>
            <a:r>
              <a:rPr lang="en-US" altLang="ko-KR" sz="1200" b="1" dirty="0">
                <a:latin typeface="+mn-ea"/>
              </a:rPr>
              <a:t>(Composite Attribute)</a:t>
            </a:r>
            <a:r>
              <a:rPr lang="ko-KR" altLang="en-US" sz="1200" b="1" dirty="0">
                <a:latin typeface="+mn-ea"/>
              </a:rPr>
              <a:t>이다</a:t>
            </a:r>
            <a:r>
              <a:rPr lang="en-US" altLang="ko-KR" sz="1200" b="1" dirty="0">
                <a:latin typeface="+mn-ea"/>
              </a:rPr>
              <a:t>. </a:t>
            </a:r>
            <a:r>
              <a:rPr lang="ko-KR" altLang="en-US" sz="1200" b="1" dirty="0">
                <a:latin typeface="+mn-ea"/>
              </a:rPr>
              <a:t>복합 속성은 전화번호 속성과 같이 두 개 이상의 세부 속성으로 구성된 속성을 말한다</a:t>
            </a:r>
            <a:r>
              <a:rPr lang="en-US" altLang="ko-KR" sz="1200" b="1" dirty="0">
                <a:latin typeface="+mn-ea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5B813C5-9FF4-AA62-A2D0-C6A274E03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166" y="4504417"/>
            <a:ext cx="1562318" cy="114316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35F9232-3BD9-1815-277B-BF893D51F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733" y="4566339"/>
            <a:ext cx="2562583" cy="10193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E1B8FA9-7D17-5E5D-6B2C-6D52CB0A9C73}"/>
              </a:ext>
            </a:extLst>
          </p:cNvPr>
          <p:cNvSpPr txBox="1"/>
          <p:nvPr/>
        </p:nvSpPr>
        <p:spPr>
          <a:xfrm>
            <a:off x="6002086" y="4937498"/>
            <a:ext cx="13607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제</a:t>
            </a:r>
            <a:r>
              <a:rPr lang="en-US" altLang="ko-KR" sz="1200" b="1" u="sng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정규화 진행</a:t>
            </a:r>
            <a:endParaRPr lang="ko-KR" altLang="en-US" sz="1200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42FBB3C-89A1-8B75-21DB-F68E6ECE7DE3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5667484" y="5075997"/>
            <a:ext cx="33460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EE3BD39-AF69-53E7-AD0F-12A49AE1A5E8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>
            <a:off x="7362825" y="5075998"/>
            <a:ext cx="31890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8" name="그림 17">
            <a:extLst>
              <a:ext uri="{FF2B5EF4-FFF2-40B4-BE49-F238E27FC236}">
                <a16:creationId xmlns:a16="http://schemas.microsoft.com/office/drawing/2014/main" id="{5781B6FD-6B66-A8E6-26EE-41C02ADEE1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9857" y="4290075"/>
            <a:ext cx="1895740" cy="1571844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94F3ED-2119-E066-3D5D-C54B631E6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5877887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BF69A-051B-A8B8-9156-7061616BC10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 startAt="2"/>
            </a:pPr>
            <a:r>
              <a:rPr lang="ko-KR" altLang="en-US" sz="2400" b="1" dirty="0">
                <a:latin typeface="+mn-ea"/>
              </a:rPr>
              <a:t> 속성의 종류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0983913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6"/>
            </a:pPr>
            <a:r>
              <a:rPr lang="ko-KR" altLang="en-US" b="1" dirty="0">
                <a:latin typeface="+mn-ea"/>
              </a:rPr>
              <a:t> 단순 속성과 복합 속성</a:t>
            </a:r>
            <a:endParaRPr lang="en-US" altLang="ko-KR" b="1" u="sng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+mj-lt"/>
              <a:buAutoNum type="arabicPeriod" startAt="6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단순 속성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(Simple Attribute)</a:t>
            </a:r>
            <a:r>
              <a:rPr lang="ko-KR" altLang="en-US" sz="1400" dirty="0">
                <a:latin typeface="+mn-ea"/>
              </a:rPr>
              <a:t>은 일반적인 정상 속성이다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속성은 더 이상 분해될 수 없는</a:t>
            </a:r>
            <a:r>
              <a:rPr lang="en-US" altLang="ko-KR" sz="1400" dirty="0">
                <a:latin typeface="+mn-ea"/>
              </a:rPr>
              <a:t>(Uncut) </a:t>
            </a:r>
            <a:r>
              <a:rPr lang="ko-KR" altLang="en-US" sz="1400" dirty="0">
                <a:latin typeface="+mn-ea"/>
              </a:rPr>
              <a:t>원자 값으로 이뤄져야 한다는 </a:t>
            </a:r>
            <a:r>
              <a:rPr lang="en-US" altLang="ko-KR" sz="1400" dirty="0">
                <a:latin typeface="+mn-ea"/>
              </a:rPr>
              <a:t>R D B </a:t>
            </a:r>
            <a:r>
              <a:rPr lang="ko-KR" altLang="en-US" sz="1400" dirty="0">
                <a:latin typeface="+mn-ea"/>
              </a:rPr>
              <a:t>의 기본 원칙에 부합되는 속성이다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이때 원자 값은 논리적으로 의미가 있어야 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예를 들어 년 </a:t>
            </a:r>
            <a:r>
              <a:rPr lang="en-US" altLang="ko-KR" sz="1400" dirty="0">
                <a:latin typeface="+mn-ea"/>
              </a:rPr>
              <a:t>• </a:t>
            </a:r>
            <a:r>
              <a:rPr lang="ko-KR" altLang="en-US" sz="1400" dirty="0">
                <a:latin typeface="+mn-ea"/>
              </a:rPr>
              <a:t>월 </a:t>
            </a:r>
            <a:r>
              <a:rPr lang="en-US" altLang="ko-KR" sz="1400" dirty="0">
                <a:latin typeface="+mn-ea"/>
              </a:rPr>
              <a:t>• </a:t>
            </a:r>
            <a:r>
              <a:rPr lang="ko-KR" altLang="en-US" sz="1400" dirty="0">
                <a:latin typeface="+mn-ea"/>
              </a:rPr>
              <a:t>일을 나누는 것은 혹시 의미가 있을 수 있지만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시 </a:t>
            </a:r>
            <a:r>
              <a:rPr lang="en-US" altLang="ko-KR" sz="1400" dirty="0">
                <a:latin typeface="+mn-ea"/>
              </a:rPr>
              <a:t>• </a:t>
            </a:r>
            <a:r>
              <a:rPr lang="ko-KR" altLang="en-US" sz="1400" dirty="0">
                <a:latin typeface="+mn-ea"/>
              </a:rPr>
              <a:t>분</a:t>
            </a:r>
            <a:r>
              <a:rPr lang="en-US" altLang="ko-KR" sz="1400" dirty="0">
                <a:latin typeface="+mn-ea"/>
              </a:rPr>
              <a:t> • </a:t>
            </a:r>
            <a:r>
              <a:rPr lang="ko-KR" altLang="en-US" sz="1400" dirty="0">
                <a:latin typeface="+mn-ea"/>
              </a:rPr>
              <a:t>초를 나누는 것은 의미가 없다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무조건 나눈다고 단순 속성이 되는 게 아니라 의미가 있어야 단순 속성이 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단순 속성을 </a:t>
            </a:r>
            <a:r>
              <a:rPr lang="ko-KR" altLang="en-US" sz="1400" b="1" u="sng" dirty="0">
                <a:latin typeface="+mn-ea"/>
              </a:rPr>
              <a:t>원자 속성 </a:t>
            </a:r>
            <a:r>
              <a:rPr lang="en-US" altLang="ko-KR" sz="1400" b="1" u="sng" dirty="0">
                <a:latin typeface="+mn-ea"/>
              </a:rPr>
              <a:t>(Atomic Attribute)</a:t>
            </a:r>
            <a:r>
              <a:rPr lang="ko-KR" altLang="en-US" sz="1400" b="1" u="sng" dirty="0">
                <a:latin typeface="+mn-ea"/>
              </a:rPr>
              <a:t>이라고도 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복합 속성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(Composite Attribute)</a:t>
            </a:r>
            <a:r>
              <a:rPr lang="ko-KR" altLang="en-US" sz="1400" dirty="0">
                <a:latin typeface="+mn-ea"/>
              </a:rPr>
              <a:t>은 여러 의미를 가지는 속성이다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따라서 두 개 이상의 의미 있는 단순 속성으로 분해할 수 있는 속성을 말한다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b="1" u="sng" dirty="0">
                <a:latin typeface="+mn-ea"/>
              </a:rPr>
              <a:t>다가 속성</a:t>
            </a:r>
            <a:r>
              <a:rPr lang="en-US" altLang="ko-KR" sz="1400" b="1" u="sng" dirty="0">
                <a:latin typeface="+mn-ea"/>
              </a:rPr>
              <a:t>(Multivalued Attribute)</a:t>
            </a:r>
            <a:r>
              <a:rPr lang="ko-KR" altLang="en-US" sz="1400" b="1" u="sng" dirty="0">
                <a:latin typeface="+mn-ea"/>
              </a:rPr>
              <a:t>과 마찬가지로 </a:t>
            </a:r>
            <a:r>
              <a:rPr lang="en-US" altLang="ko-KR" sz="1400" b="1" u="sng" dirty="0">
                <a:latin typeface="+mn-ea"/>
              </a:rPr>
              <a:t>1</a:t>
            </a:r>
            <a:r>
              <a:rPr lang="ko-KR" altLang="en-US" sz="1400" b="1" u="sng" dirty="0">
                <a:latin typeface="+mn-ea"/>
              </a:rPr>
              <a:t>정규화와 관련된 속성</a:t>
            </a:r>
            <a:r>
              <a:rPr lang="ko-KR" altLang="en-US" sz="1400" dirty="0">
                <a:latin typeface="+mn-ea"/>
              </a:rPr>
              <a:t>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복합 속성을 판단하는 기준</a:t>
            </a:r>
            <a:r>
              <a:rPr lang="ko-KR" altLang="en-US" sz="1600" b="1" dirty="0">
                <a:latin typeface="+mn-ea"/>
              </a:rPr>
              <a:t>은 두 가지가 있다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1143000" lvl="2" indent="-228600">
              <a:buFont typeface="+mj-ea"/>
              <a:buAutoNum type="circleNumDbPlain"/>
            </a:pP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나눠서 의미가 있다</a:t>
            </a:r>
            <a:r>
              <a:rPr lang="ko-KR" altLang="en-US" sz="1400" dirty="0">
                <a:latin typeface="+mn-ea"/>
              </a:rPr>
              <a:t>가 가장 기본적인 기준이다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나눠서 의미가 없다면 이미 속성은 아니다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 기준은 물리적 성격의 기준으로 비교적 명확하게 판단할 수 있다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143000" lvl="2" indent="-228600">
              <a:buFont typeface="+mj-ea"/>
              <a:buAutoNum type="circleNumDbPlain"/>
            </a:pPr>
            <a:r>
              <a:rPr lang="ko-KR" altLang="en-US" sz="1400" dirty="0">
                <a:latin typeface="+mn-ea"/>
              </a:rPr>
              <a:t> 또 다른 기준은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업무에서 사용하느냐</a:t>
            </a:r>
            <a:r>
              <a:rPr lang="ko-KR" altLang="en-US" sz="1400" dirty="0">
                <a:latin typeface="+mn-ea"/>
              </a:rPr>
              <a:t> 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 기준 때문에 혼동되는 것이 복합 속성이다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업무에서 사용하지 않는데도 불구하고 나누게 되면 득보다 실이 크기 때문이다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예를 들어 전화번호 속성은 국번과 번호 등으로 나뉠 수 있으며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고객주소는 시 </a:t>
            </a:r>
            <a:r>
              <a:rPr lang="en-US" altLang="ko-KR" sz="1400" dirty="0">
                <a:latin typeface="+mn-ea"/>
              </a:rPr>
              <a:t>• </a:t>
            </a:r>
            <a:r>
              <a:rPr lang="ko-KR" altLang="en-US" sz="1400" dirty="0">
                <a:latin typeface="+mn-ea"/>
              </a:rPr>
              <a:t>군</a:t>
            </a:r>
            <a:r>
              <a:rPr lang="en-US" altLang="ko-KR" sz="1400" dirty="0">
                <a:latin typeface="+mn-ea"/>
              </a:rPr>
              <a:t> • </a:t>
            </a:r>
            <a:r>
              <a:rPr lang="ko-KR" altLang="en-US" sz="1400" dirty="0">
                <a:latin typeface="+mn-ea"/>
              </a:rPr>
              <a:t>구 등으로 상세하게 나뉠 수 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나눈 속성도 의미가 있기 때문에 복합 속성이다</a:t>
            </a:r>
            <a:r>
              <a:rPr lang="en-US" altLang="ko-KR" sz="1400" dirty="0">
                <a:latin typeface="+mn-ea"/>
              </a:rPr>
              <a:t>.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89D474-7158-E164-42BC-45257C3E1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4694066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BF69A-051B-A8B8-9156-7061616BC10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 startAt="2"/>
            </a:pPr>
            <a:r>
              <a:rPr lang="ko-KR" altLang="en-US" sz="2400" b="1" dirty="0">
                <a:latin typeface="+mn-ea"/>
              </a:rPr>
              <a:t> 속성의 종류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098391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7"/>
            </a:pPr>
            <a:r>
              <a:rPr lang="ko-KR" altLang="en-US" b="1" dirty="0">
                <a:latin typeface="+mn-ea"/>
              </a:rPr>
              <a:t> 필수 속성과 선택 속성</a:t>
            </a:r>
            <a:endParaRPr lang="en-US" altLang="ko-KR" b="1" dirty="0">
              <a:latin typeface="+mn-ea"/>
            </a:endParaRPr>
          </a:p>
          <a:p>
            <a:pPr marL="342900" indent="-342900">
              <a:buFont typeface="+mj-lt"/>
              <a:buAutoNum type="arabicPeriod" startAt="7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속성은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값이 반드시 필요한 필수 속성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(Required Attribute)</a:t>
            </a:r>
            <a:r>
              <a:rPr lang="ko-KR" altLang="en-US" sz="1600" b="1" dirty="0">
                <a:latin typeface="+mn-ea"/>
              </a:rPr>
              <a:t>과 값이 없을 수 있는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선택 속성 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(Optional Attribute)</a:t>
            </a:r>
            <a:r>
              <a:rPr lang="ko-KR" altLang="en-US" sz="1600" b="1" dirty="0">
                <a:latin typeface="+mn-ea"/>
              </a:rPr>
              <a:t>으로 구분할 수 있다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속성이 필수 속성인지 선택 속성인지를 구분하는 것은 속성을 이해하는 데 도움을 주기 때문에 다른 분류법과 마찬가지로 의미 있는 분석법이다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속성의 널 값 허용 여부를 분석하는 것은 속성에 대한 거의 마지막 결정이다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실무에서는 모델링 시간이 부족할 때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널 허용 여부에 대한 분석은 생략하곤 한다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하지만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속성에 대한 정밀한 분석이 모델링의 품질을 높이기 때문에 필수 속성과 선택 속성을 구분하는 것이 바람직</a:t>
            </a:r>
            <a:r>
              <a:rPr lang="ko-KR" altLang="en-US" sz="1600" b="1" dirty="0">
                <a:latin typeface="+mn-ea"/>
              </a:rPr>
              <a:t>하다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필수 속성에는 </a:t>
            </a:r>
            <a:r>
              <a:rPr lang="en-US" altLang="ko-KR" sz="1600" b="1" dirty="0">
                <a:latin typeface="+mn-ea"/>
              </a:rPr>
              <a:t>Not Null </a:t>
            </a:r>
            <a:r>
              <a:rPr lang="ko-KR" altLang="en-US" sz="1600" b="1" dirty="0">
                <a:latin typeface="+mn-ea"/>
              </a:rPr>
              <a:t>제약을 생성해야 하며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필요 시 </a:t>
            </a:r>
            <a:r>
              <a:rPr lang="en-US" altLang="ko-KR" sz="1600" b="1" dirty="0">
                <a:latin typeface="+mn-ea"/>
              </a:rPr>
              <a:t>Default </a:t>
            </a:r>
            <a:r>
              <a:rPr lang="ko-KR" altLang="en-US" sz="1600" b="1" dirty="0">
                <a:latin typeface="+mn-ea"/>
              </a:rPr>
              <a:t>제약을 생성해야 한다</a:t>
            </a:r>
            <a:r>
              <a:rPr lang="en-US" altLang="ko-KR" sz="1600" b="1" dirty="0">
                <a:latin typeface="+mn-ea"/>
              </a:rPr>
              <a:t>.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EEAA3F3-664A-522D-5A68-CB10AF2AC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483684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0983913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8"/>
            </a:pPr>
            <a:r>
              <a:rPr lang="ko-KR" altLang="en-US" b="1" dirty="0">
                <a:latin typeface="+mn-ea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배타 속성 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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코드가 추가될 때 유연한 모델을 설계할 수 있다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. Null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값을 줄일 수 있다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.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+mj-lt"/>
              <a:buAutoNum type="arabicPeriod" startAt="8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배타 속성 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(Exclusive Attribute)</a:t>
            </a:r>
            <a:r>
              <a:rPr lang="ko-KR" altLang="en-US" sz="1400" b="1" dirty="0">
                <a:latin typeface="+mn-ea"/>
              </a:rPr>
              <a:t>은 배타 관계와 유사한 개념이다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여러 속성에 저장된 값들이 상호 배타적일 때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또는 한 속성에 저장된 값이 어떤 기준에 대하여 서로 배타적일 때</a:t>
            </a:r>
            <a:r>
              <a:rPr lang="ko-KR" altLang="en-US" sz="1400" b="1" dirty="0">
                <a:latin typeface="+mn-ea"/>
              </a:rPr>
              <a:t> 이 속성을 배타 속성이라 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4.70]</a:t>
            </a:r>
            <a:r>
              <a:rPr lang="ko-KR" altLang="en-US" sz="1400" b="1" dirty="0">
                <a:latin typeface="+mn-ea"/>
              </a:rPr>
              <a:t> 모델에서 주민등록번호와 법인등록번호 속성 값은 상호 배타적이기 때문에 두 속성은 배타 속성이다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고객유형코드</a:t>
            </a:r>
            <a:r>
              <a:rPr lang="ko-KR" altLang="en-US" sz="1400" dirty="0">
                <a:latin typeface="+mn-ea"/>
              </a:rPr>
              <a:t> 속성 값이 </a:t>
            </a:r>
            <a:r>
              <a:rPr lang="ko-KR" altLang="en-US" sz="1400" b="1" dirty="0">
                <a:latin typeface="+mn-ea"/>
              </a:rPr>
              <a:t>‘개인’</a:t>
            </a:r>
            <a:r>
              <a:rPr lang="ko-KR" altLang="en-US" sz="1400" dirty="0">
                <a:latin typeface="+mn-ea"/>
              </a:rPr>
              <a:t> 이면 주민등록번호 속성에만 값이 존재하고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법인등록번호 속성에는 널 값이 존재한다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반대로 고객유형코드 속성 값이 </a:t>
            </a:r>
            <a:r>
              <a:rPr lang="ko-KR" altLang="en-US" sz="1400" b="1" dirty="0">
                <a:latin typeface="+mn-ea"/>
              </a:rPr>
              <a:t>‘법인’ </a:t>
            </a:r>
            <a:r>
              <a:rPr lang="ko-KR" altLang="en-US" sz="1400" dirty="0">
                <a:latin typeface="+mn-ea"/>
              </a:rPr>
              <a:t>이면 법인등록번호 속성에는 값이 존재하고</a:t>
            </a:r>
            <a:r>
              <a:rPr lang="en-US" altLang="ko-KR" sz="1400" dirty="0">
                <a:latin typeface="+mn-ea"/>
              </a:rPr>
              <a:t>,</a:t>
            </a:r>
            <a:r>
              <a:rPr lang="ko-KR" altLang="en-US" sz="1400" dirty="0">
                <a:latin typeface="+mn-ea"/>
              </a:rPr>
              <a:t> 주민등록번호 속성에는 널 값이 존재한다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고객유형코드 속성은 </a:t>
            </a:r>
            <a:r>
              <a:rPr lang="ko-KR" altLang="en-US" sz="1400" b="1" dirty="0">
                <a:latin typeface="+mn-ea"/>
              </a:rPr>
              <a:t>구분자역할</a:t>
            </a:r>
            <a:r>
              <a:rPr lang="ko-KR" altLang="en-US" sz="1400" dirty="0">
                <a:latin typeface="+mn-ea"/>
              </a:rPr>
              <a:t>을 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이에 대한 릴레이션은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4.71]</a:t>
            </a:r>
            <a:r>
              <a:rPr lang="ko-KR" altLang="en-US" sz="1400" dirty="0">
                <a:latin typeface="+mn-ea"/>
              </a:rPr>
              <a:t>과 같다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BF69A-051B-A8B8-9156-7061616BC10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 startAt="2"/>
            </a:pPr>
            <a:r>
              <a:rPr lang="ko-KR" altLang="en-US" sz="2400" b="1" dirty="0">
                <a:latin typeface="+mn-ea"/>
              </a:rPr>
              <a:t> 속성의 종류</a:t>
            </a:r>
            <a:endParaRPr lang="en-US" altLang="ko-KR" sz="2400" b="1" dirty="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2E41EAD-6B1A-55A5-094C-6286E50EA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459" y="2988415"/>
            <a:ext cx="1838582" cy="129558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AF51241-F010-8057-B6B1-91133655A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180" y="5069009"/>
            <a:ext cx="3686689" cy="1333686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72DDBFD-A69F-436B-48F7-C8A4704D6E3D}"/>
              </a:ext>
            </a:extLst>
          </p:cNvPr>
          <p:cNvSpPr/>
          <p:nvPr/>
        </p:nvSpPr>
        <p:spPr>
          <a:xfrm>
            <a:off x="5521841" y="5279600"/>
            <a:ext cx="574159" cy="853440"/>
          </a:xfrm>
          <a:prstGeom prst="roundRect">
            <a:avLst>
              <a:gd name="adj" fmla="val 1046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D20F44F-58B0-C290-D8E5-4A37E6E19D6E}"/>
              </a:ext>
            </a:extLst>
          </p:cNvPr>
          <p:cNvSpPr/>
          <p:nvPr/>
        </p:nvSpPr>
        <p:spPr>
          <a:xfrm>
            <a:off x="6301715" y="5619976"/>
            <a:ext cx="574159" cy="183077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BFAD2BB-3848-F11D-68E1-5A0FB0929399}"/>
              </a:ext>
            </a:extLst>
          </p:cNvPr>
          <p:cNvSpPr/>
          <p:nvPr/>
        </p:nvSpPr>
        <p:spPr>
          <a:xfrm>
            <a:off x="7185738" y="5436899"/>
            <a:ext cx="574159" cy="183077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276A36C-F060-F36B-C44D-C5D6B6EC719F}"/>
              </a:ext>
            </a:extLst>
          </p:cNvPr>
          <p:cNvSpPr/>
          <p:nvPr/>
        </p:nvSpPr>
        <p:spPr>
          <a:xfrm>
            <a:off x="7185738" y="5803053"/>
            <a:ext cx="574159" cy="183077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FF88252-13F0-BD57-DF1C-5A2062CB8079}"/>
              </a:ext>
            </a:extLst>
          </p:cNvPr>
          <p:cNvSpPr/>
          <p:nvPr/>
        </p:nvSpPr>
        <p:spPr>
          <a:xfrm>
            <a:off x="7185738" y="5986130"/>
            <a:ext cx="574159" cy="183077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3FF1D5B-8493-D22C-B1DC-9ECB0836362E}"/>
              </a:ext>
            </a:extLst>
          </p:cNvPr>
          <p:cNvSpPr/>
          <p:nvPr/>
        </p:nvSpPr>
        <p:spPr>
          <a:xfrm>
            <a:off x="4490234" y="3497041"/>
            <a:ext cx="815191" cy="184256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1F4B1B1-3428-581A-C42F-23A5F28152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6733" y="3150352"/>
            <a:ext cx="2734057" cy="1124107"/>
          </a:xfrm>
          <a:prstGeom prst="rect">
            <a:avLst/>
          </a:prstGeom>
        </p:spPr>
      </p:pic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825E15B-5142-B91D-9107-8D191CB5D034}"/>
              </a:ext>
            </a:extLst>
          </p:cNvPr>
          <p:cNvSpPr/>
          <p:nvPr/>
        </p:nvSpPr>
        <p:spPr>
          <a:xfrm>
            <a:off x="7320417" y="3820560"/>
            <a:ext cx="815191" cy="184256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F4FFC06-B082-B613-6B21-3279D1FFBDB4}"/>
              </a:ext>
            </a:extLst>
          </p:cNvPr>
          <p:cNvSpPr/>
          <p:nvPr/>
        </p:nvSpPr>
        <p:spPr>
          <a:xfrm>
            <a:off x="4478729" y="3686713"/>
            <a:ext cx="836221" cy="289528"/>
          </a:xfrm>
          <a:prstGeom prst="roundRect">
            <a:avLst>
              <a:gd name="adj" fmla="val 18306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BFE4CD02-A620-6802-AC12-48C3C6F4FECC}"/>
              </a:ext>
            </a:extLst>
          </p:cNvPr>
          <p:cNvCxnSpPr>
            <a:cxnSpLocks/>
            <a:stCxn id="21" idx="3"/>
            <a:endCxn id="20" idx="1"/>
          </p:cNvCxnSpPr>
          <p:nvPr/>
        </p:nvCxnSpPr>
        <p:spPr>
          <a:xfrm>
            <a:off x="5314950" y="3831477"/>
            <a:ext cx="2005467" cy="81211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7F03713D-6C07-E96C-495B-50F373D8DD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8054" y="4993084"/>
            <a:ext cx="2991267" cy="1409897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0E236E-7C69-0D61-4C45-B36BDC084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5206866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0983913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9"/>
            </a:pPr>
            <a:r>
              <a:rPr lang="ko-KR" altLang="en-US" b="1" dirty="0">
                <a:latin typeface="+mn-ea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코드 속성과 </a:t>
            </a:r>
            <a:r>
              <a:rPr lang="ko-KR" altLang="en-US" b="1" dirty="0" err="1">
                <a:solidFill>
                  <a:srgbClr val="FF0000"/>
                </a:solidFill>
                <a:latin typeface="+mn-ea"/>
              </a:rPr>
              <a:t>비코드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 속성</a:t>
            </a:r>
            <a:endParaRPr lang="en-US" altLang="ko-KR" b="1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+mj-lt"/>
              <a:buAutoNum type="arabicPeriod" startAt="9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속성을 코드 속성 </a:t>
            </a:r>
            <a:r>
              <a:rPr lang="en-US" altLang="ko-KR" sz="1600" dirty="0">
                <a:latin typeface="+mn-ea"/>
              </a:rPr>
              <a:t>(Code Attribute) </a:t>
            </a:r>
            <a:r>
              <a:rPr lang="ko-KR" altLang="en-US" sz="1600" dirty="0">
                <a:latin typeface="+mn-ea"/>
              </a:rPr>
              <a:t>과 </a:t>
            </a:r>
            <a:r>
              <a:rPr lang="ko-KR" altLang="en-US" sz="1600" dirty="0" err="1">
                <a:latin typeface="+mn-ea"/>
              </a:rPr>
              <a:t>비코드</a:t>
            </a:r>
            <a:r>
              <a:rPr lang="ko-KR" altLang="en-US" sz="1600" dirty="0">
                <a:latin typeface="+mn-ea"/>
              </a:rPr>
              <a:t> 속성 </a:t>
            </a:r>
            <a:r>
              <a:rPr lang="en-US" altLang="ko-KR" sz="1600" dirty="0">
                <a:latin typeface="+mn-ea"/>
              </a:rPr>
              <a:t>(Non-Code Attribute)</a:t>
            </a:r>
            <a:r>
              <a:rPr lang="ko-KR" altLang="en-US" sz="1600" dirty="0">
                <a:latin typeface="+mn-ea"/>
              </a:rPr>
              <a:t>으로 나누는 것도 중요한 분류법이다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특히 실무에서 코드 속성에 대한 혼선이 있기 때문에 코드 속성은 더욱 주의해야 있다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사전에 약속한 값인 코드 값이 사용된 속성이 </a:t>
            </a:r>
            <a:r>
              <a:rPr lang="en-US" altLang="ko-KR" sz="1600" dirty="0">
                <a:latin typeface="+mn-ea"/>
              </a:rPr>
              <a:t>“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코드 속성</a:t>
            </a:r>
            <a:r>
              <a:rPr lang="en-US" altLang="ko-KR" sz="1600" dirty="0">
                <a:latin typeface="+mn-ea"/>
              </a:rPr>
              <a:t>”</a:t>
            </a:r>
            <a:r>
              <a:rPr lang="ko-KR" altLang="en-US" sz="1600" dirty="0">
                <a:latin typeface="+mn-ea"/>
              </a:rPr>
              <a:t>이다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코드 속성에 저장된 코드 값과 이 코드 값이 의미하는 설명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코드 명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은 일반적으로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공통 코드 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엔터티에서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 관리</a:t>
            </a:r>
            <a:r>
              <a:rPr lang="ko-KR" altLang="en-US" sz="1600" dirty="0">
                <a:latin typeface="+mn-ea"/>
              </a:rPr>
              <a:t>한다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예전에는 ‘</a:t>
            </a:r>
            <a:r>
              <a:rPr lang="en-US" altLang="ko-KR" sz="1600" dirty="0">
                <a:latin typeface="+mn-ea"/>
              </a:rPr>
              <a:t>KOR’ </a:t>
            </a:r>
            <a:r>
              <a:rPr lang="ko-KR" altLang="en-US" sz="1600" dirty="0">
                <a:latin typeface="+mn-ea"/>
              </a:rPr>
              <a:t>대부분 </a:t>
            </a:r>
            <a:r>
              <a:rPr lang="ko-KR" altLang="en-US" sz="1600" b="1" u="sng" dirty="0">
                <a:latin typeface="+mn-ea"/>
              </a:rPr>
              <a:t>코드 값을 보고 의미를 짐작</a:t>
            </a:r>
            <a:r>
              <a:rPr lang="ko-KR" altLang="en-US" sz="1600" dirty="0">
                <a:latin typeface="+mn-ea"/>
              </a:rPr>
              <a:t>할 수 있도록 사용했지만</a:t>
            </a:r>
            <a:r>
              <a:rPr lang="en-US" altLang="ko-KR" sz="1600" dirty="0">
                <a:latin typeface="+mn-ea"/>
              </a:rPr>
              <a:t>,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최근에는 굳이 </a:t>
            </a:r>
            <a:r>
              <a:rPr lang="ko-KR" altLang="en-US" sz="1600" b="1" u="sng" dirty="0">
                <a:latin typeface="+mn-ea"/>
              </a:rPr>
              <a:t>코드 값을 보고 의미를 알 필요가 없기 때문</a:t>
            </a:r>
            <a:r>
              <a:rPr lang="ko-KR" altLang="en-US" sz="1600" dirty="0">
                <a:latin typeface="+mn-ea"/>
              </a:rPr>
              <a:t>에 ‘</a:t>
            </a:r>
            <a:r>
              <a:rPr lang="en-US" altLang="ko-KR" sz="1600" dirty="0">
                <a:latin typeface="+mn-ea"/>
              </a:rPr>
              <a:t>01’ </a:t>
            </a:r>
            <a:r>
              <a:rPr lang="ko-KR" altLang="en-US" sz="1600" dirty="0">
                <a:latin typeface="+mn-ea"/>
              </a:rPr>
              <a:t>과 같은 코드를 더 많이 사용한다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코드 속성이 아닌 일반 속성은 </a:t>
            </a:r>
            <a:r>
              <a:rPr lang="en-US" altLang="ko-KR" sz="1600" dirty="0">
                <a:latin typeface="+mn-ea"/>
              </a:rPr>
              <a:t>“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비코드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 속성</a:t>
            </a:r>
            <a:r>
              <a:rPr lang="en-US" altLang="ko-KR" sz="1600" dirty="0">
                <a:latin typeface="+mn-ea"/>
              </a:rPr>
              <a:t>”</a:t>
            </a:r>
            <a:r>
              <a:rPr lang="ko-KR" altLang="en-US" sz="1600" dirty="0">
                <a:latin typeface="+mn-ea"/>
              </a:rPr>
              <a:t>이라 한다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dirty="0">
                <a:latin typeface="+mn-ea"/>
              </a:rPr>
              <a:t>공통 코드에서 관리하는 값과 무관한 값이 저장된다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반면에 </a:t>
            </a:r>
            <a:r>
              <a:rPr lang="ko-KR" altLang="en-US" sz="1600" dirty="0" err="1">
                <a:latin typeface="+mn-ea"/>
              </a:rPr>
              <a:t>비코드</a:t>
            </a:r>
            <a:r>
              <a:rPr lang="ko-KR" altLang="en-US" sz="1600" dirty="0">
                <a:latin typeface="+mn-ea"/>
              </a:rPr>
              <a:t> 속성에는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실제 값이 저장된다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dirty="0">
                <a:latin typeface="+mn-ea"/>
              </a:rPr>
              <a:t>그 값을 보고 의미를 파악해야 한다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의미 파악이 안 되는 값이라면 데이터 자체가 잘못됐거나 관계 속성일 때다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dirty="0" err="1">
                <a:latin typeface="+mn-ea"/>
              </a:rPr>
              <a:t>비코드</a:t>
            </a:r>
            <a:r>
              <a:rPr lang="ko-KR" altLang="en-US" sz="1600" dirty="0">
                <a:latin typeface="+mn-ea"/>
              </a:rPr>
              <a:t> 속성에는 </a:t>
            </a:r>
            <a:r>
              <a:rPr lang="ko-KR" altLang="en-US" sz="1600" b="1" u="sng" dirty="0">
                <a:latin typeface="+mn-ea"/>
              </a:rPr>
              <a:t>공통 코드 </a:t>
            </a:r>
            <a:r>
              <a:rPr lang="ko-KR" altLang="en-US" sz="1600" b="1" u="sng" dirty="0" err="1">
                <a:latin typeface="+mn-ea"/>
              </a:rPr>
              <a:t>엔터티와는</a:t>
            </a:r>
            <a:r>
              <a:rPr lang="ko-KR" altLang="en-US" sz="1600" b="1" u="sng" dirty="0">
                <a:latin typeface="+mn-ea"/>
              </a:rPr>
              <a:t> 무관한 일반 값이 사용</a:t>
            </a:r>
            <a:r>
              <a:rPr lang="ko-KR" altLang="en-US" sz="1600" dirty="0">
                <a:latin typeface="+mn-ea"/>
              </a:rPr>
              <a:t>된다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BF69A-051B-A8B8-9156-7061616BC10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 startAt="2"/>
            </a:pPr>
            <a:r>
              <a:rPr lang="ko-KR" altLang="en-US" sz="2400" b="1" dirty="0">
                <a:latin typeface="+mn-ea"/>
              </a:rPr>
              <a:t> 속성의 종류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D0FCF4-1B00-1EFE-6614-E410C2B9B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3317193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1206903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10"/>
            </a:pPr>
            <a:r>
              <a:rPr lang="ko-KR" altLang="en-US" sz="2400" b="1" dirty="0">
                <a:latin typeface="+mn-ea"/>
              </a:rPr>
              <a:t>개별코드</a:t>
            </a:r>
            <a:r>
              <a:rPr lang="en-US" altLang="ko-KR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독립된 </a:t>
            </a:r>
            <a:r>
              <a:rPr lang="ko-KR" altLang="en-US" sz="2400" b="1" dirty="0" err="1">
                <a:solidFill>
                  <a:srgbClr val="FF0000"/>
                </a:solidFill>
                <a:latin typeface="+mn-ea"/>
              </a:rPr>
              <a:t>엔터티</a:t>
            </a:r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en-US" altLang="ko-KR" b="1" dirty="0">
                <a:latin typeface="+mn-ea"/>
              </a:rPr>
              <a:t>,</a:t>
            </a:r>
            <a:r>
              <a:rPr lang="ko-KR" altLang="en-US" b="1" dirty="0" err="1">
                <a:latin typeface="+mn-ea"/>
              </a:rPr>
              <a:t>비코드속성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(</a:t>
            </a:r>
            <a:r>
              <a:rPr lang="ko-KR" altLang="en-US" b="1" dirty="0">
                <a:latin typeface="+mn-ea"/>
              </a:rPr>
              <a:t>개별 </a:t>
            </a:r>
            <a:r>
              <a:rPr lang="ko-KR" altLang="en-US" b="1" dirty="0" err="1">
                <a:latin typeface="+mn-ea"/>
              </a:rPr>
              <a:t>엔터티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부서코드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지점코드</a:t>
            </a: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등</a:t>
            </a:r>
            <a:r>
              <a:rPr lang="en-US" altLang="ko-KR" b="1" dirty="0">
                <a:latin typeface="+mn-ea"/>
              </a:rPr>
              <a:t>)</a:t>
            </a:r>
            <a:r>
              <a:rPr lang="ko-KR" altLang="en-US" b="1" dirty="0">
                <a:latin typeface="+mn-ea"/>
              </a:rPr>
              <a:t>와 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</a:rPr>
              <a:t>식별자 코드</a:t>
            </a:r>
            <a:endParaRPr lang="en-US" altLang="ko-KR" b="1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+mj-lt"/>
              <a:buAutoNum type="arabicPeriod" startAt="10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식별자 코드</a:t>
            </a:r>
            <a:r>
              <a:rPr lang="ko-KR" altLang="en-US" sz="1400" dirty="0">
                <a:latin typeface="+mn-ea"/>
              </a:rPr>
              <a:t>는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주 식별자면서 속성 이름이 ‘</a:t>
            </a:r>
            <a:r>
              <a:rPr lang="en-US" altLang="ko-KR" sz="1400" dirty="0">
                <a:latin typeface="+mn-ea"/>
              </a:rPr>
              <a:t>〜</a:t>
            </a:r>
            <a:r>
              <a:rPr lang="ko-KR" altLang="en-US" sz="1400" dirty="0">
                <a:latin typeface="+mn-ea"/>
              </a:rPr>
              <a:t>코드 ’ 로 끝난 속성이다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주 식별자 값에 코드의 의미가 포함돼 있든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포함돼 있지 않든 상관없이 주 식별자 자체를 의미한다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대표적인 식별자 코드로는 </a:t>
            </a: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부서코드</a:t>
            </a:r>
            <a:r>
              <a:rPr lang="en-US" altLang="ko-KR" sz="1400" dirty="0">
                <a:latin typeface="+mn-ea"/>
              </a:rPr>
              <a:t>•</a:t>
            </a:r>
            <a:r>
              <a:rPr lang="ko-KR" altLang="en-US" sz="1400" dirty="0">
                <a:latin typeface="+mn-ea"/>
              </a:rPr>
              <a:t>지점코드</a:t>
            </a:r>
            <a:r>
              <a:rPr lang="en-US" altLang="ko-KR" sz="1400" dirty="0">
                <a:latin typeface="+mn-ea"/>
              </a:rPr>
              <a:t>•</a:t>
            </a:r>
            <a:r>
              <a:rPr lang="ko-KR" altLang="en-US" sz="1400" dirty="0">
                <a:latin typeface="+mn-ea"/>
              </a:rPr>
              <a:t>사업장코드</a:t>
            </a:r>
            <a:r>
              <a:rPr lang="en-US" altLang="ko-KR" sz="1400" dirty="0">
                <a:latin typeface="+mn-ea"/>
              </a:rPr>
              <a:t>•</a:t>
            </a:r>
            <a:r>
              <a:rPr lang="ko-KR" altLang="en-US" sz="1400" dirty="0">
                <a:latin typeface="+mn-ea"/>
              </a:rPr>
              <a:t>대리점코드</a:t>
            </a:r>
            <a:r>
              <a:rPr lang="en-US" altLang="ko-KR" sz="1400" dirty="0">
                <a:latin typeface="+mn-ea"/>
              </a:rPr>
              <a:t>•</a:t>
            </a:r>
            <a:r>
              <a:rPr lang="ko-KR" altLang="en-US" sz="1400" dirty="0">
                <a:latin typeface="+mn-ea"/>
              </a:rPr>
              <a:t>사원코드</a:t>
            </a:r>
            <a:r>
              <a:rPr lang="en-US" altLang="ko-KR" sz="1400" dirty="0">
                <a:latin typeface="+mn-ea"/>
              </a:rPr>
              <a:t>•</a:t>
            </a:r>
            <a:r>
              <a:rPr lang="ko-KR" altLang="en-US" sz="1400" dirty="0">
                <a:latin typeface="+mn-ea"/>
              </a:rPr>
              <a:t>상품코드</a:t>
            </a:r>
            <a:r>
              <a:rPr lang="en-US" altLang="ko-KR" sz="1400" dirty="0">
                <a:latin typeface="+mn-ea"/>
              </a:rPr>
              <a:t>•</a:t>
            </a:r>
            <a:r>
              <a:rPr lang="ko-KR" altLang="en-US" sz="1400" dirty="0">
                <a:latin typeface="+mn-ea"/>
              </a:rPr>
              <a:t>종목코드</a:t>
            </a:r>
            <a:r>
              <a:rPr lang="en-US" altLang="ko-KR" sz="1400" dirty="0">
                <a:latin typeface="+mn-ea"/>
              </a:rPr>
              <a:t>•</a:t>
            </a:r>
            <a:r>
              <a:rPr lang="ko-KR" altLang="en-US" sz="1400" dirty="0">
                <a:latin typeface="+mn-ea"/>
              </a:rPr>
              <a:t>서비스코드</a:t>
            </a:r>
            <a:r>
              <a:rPr lang="en-US" altLang="ko-KR" sz="1400" dirty="0">
                <a:latin typeface="+mn-ea"/>
              </a:rPr>
              <a:t>•</a:t>
            </a:r>
            <a:r>
              <a:rPr lang="ko-KR" altLang="en-US" sz="1400" dirty="0">
                <a:latin typeface="+mn-ea"/>
              </a:rPr>
              <a:t>화면코드 등이 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식별자 코드의 특징</a:t>
            </a: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1200150" lvl="2" indent="-285750">
              <a:buFont typeface="+mj-ea"/>
              <a:buAutoNum type="circleNumDbPlain"/>
            </a:pP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독립된 </a:t>
            </a:r>
            <a:r>
              <a:rPr lang="ko-KR" altLang="en-US" b="1" dirty="0" err="1">
                <a:solidFill>
                  <a:srgbClr val="FF0000"/>
                </a:solidFill>
                <a:latin typeface="+mn-ea"/>
              </a:rPr>
              <a:t>엔터티가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 존재한다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200150" lvl="2" indent="-28575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200150" lvl="2" indent="-28575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200150" lvl="2" indent="-28575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200150" lvl="2" indent="-285750">
              <a:buFont typeface="+mj-ea"/>
              <a:buAutoNum type="circleNumDbPlain"/>
            </a:pP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“~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코드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”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 대신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“~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번호</a:t>
            </a:r>
            <a:r>
              <a:rPr lang="en-US" altLang="ko-KR" b="1" dirty="0">
                <a:solidFill>
                  <a:srgbClr val="FF0000"/>
                </a:solidFill>
                <a:latin typeface="+mn-ea"/>
              </a:rPr>
              <a:t>”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로 사용이 가능하다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200150" lvl="2" indent="-28575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200150" lvl="2" indent="-28575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200150" lvl="2" indent="-285750">
              <a:buFont typeface="+mj-ea"/>
              <a:buAutoNum type="circleNumDbPlain"/>
            </a:pP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하나의 인스턴스가 하나의 실체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개체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를 의미한다</a:t>
            </a:r>
            <a:r>
              <a:rPr lang="en-US" altLang="ko-KR" sz="1200" dirty="0">
                <a:latin typeface="+mn-ea"/>
              </a:rPr>
              <a:t>.</a:t>
            </a:r>
            <a:endParaRPr lang="en-US" altLang="ko-KR" sz="140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BF69A-051B-A8B8-9156-7061616BC10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 startAt="2"/>
            </a:pPr>
            <a:r>
              <a:rPr lang="ko-KR" altLang="en-US" sz="2400" b="1" dirty="0">
                <a:latin typeface="+mn-ea"/>
              </a:rPr>
              <a:t> 속성의 종류</a:t>
            </a:r>
            <a:endParaRPr lang="en-US" altLang="ko-KR" sz="2400" b="1" dirty="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D30D3B4-DD5D-F61B-4D12-02C2AE485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3894" y="3420556"/>
            <a:ext cx="1629002" cy="126700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5AE95F7-0AD2-63C4-F44B-77BAE5444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981" y="4883952"/>
            <a:ext cx="3839111" cy="1066949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A3E9F8-909F-2D03-4D97-1F6AE418C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137</a:t>
            </a:fld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96063B5-448A-4E32-B111-8B489ACA74D2}"/>
              </a:ext>
            </a:extLst>
          </p:cNvPr>
          <p:cNvSpPr/>
          <p:nvPr/>
        </p:nvSpPr>
        <p:spPr>
          <a:xfrm>
            <a:off x="7373091" y="5067225"/>
            <a:ext cx="520607" cy="727082"/>
          </a:xfrm>
          <a:prstGeom prst="roundRect">
            <a:avLst>
              <a:gd name="adj" fmla="val 906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5EB6A82-8D45-460A-B366-628B9B781A09}"/>
              </a:ext>
            </a:extLst>
          </p:cNvPr>
          <p:cNvSpPr/>
          <p:nvPr/>
        </p:nvSpPr>
        <p:spPr>
          <a:xfrm>
            <a:off x="10302903" y="5067226"/>
            <a:ext cx="641905" cy="727082"/>
          </a:xfrm>
          <a:prstGeom prst="roundRect">
            <a:avLst>
              <a:gd name="adj" fmla="val 906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B660E3-5D08-46FF-B9EF-05C807B9347C}"/>
              </a:ext>
            </a:extLst>
          </p:cNvPr>
          <p:cNvSpPr txBox="1"/>
          <p:nvPr/>
        </p:nvSpPr>
        <p:spPr>
          <a:xfrm>
            <a:off x="970384" y="6139543"/>
            <a:ext cx="10776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개별코드를 메타시스템 등록 시 내부</a:t>
            </a:r>
            <a:r>
              <a:rPr lang="en-US" altLang="ko-KR" b="1" dirty="0">
                <a:solidFill>
                  <a:srgbClr val="FF0000"/>
                </a:solidFill>
              </a:rPr>
              <a:t>/</a:t>
            </a:r>
            <a:r>
              <a:rPr lang="ko-KR" altLang="en-US" b="1" dirty="0">
                <a:solidFill>
                  <a:srgbClr val="FF0000"/>
                </a:solidFill>
              </a:rPr>
              <a:t>외부 구분하고</a:t>
            </a:r>
            <a:r>
              <a:rPr lang="en-US" altLang="ko-KR" b="1" dirty="0">
                <a:solidFill>
                  <a:srgbClr val="FF0000"/>
                </a:solidFill>
              </a:rPr>
              <a:t>, </a:t>
            </a:r>
            <a:r>
              <a:rPr lang="ko-KR" altLang="en-US" b="1" dirty="0">
                <a:solidFill>
                  <a:srgbClr val="FF0000"/>
                </a:solidFill>
              </a:rPr>
              <a:t>오너십을 반드시 명기할 것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255792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0983913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11"/>
            </a:pPr>
            <a:r>
              <a:rPr lang="ko-KR" altLang="en-US" b="1" dirty="0">
                <a:latin typeface="+mn-ea"/>
              </a:rPr>
              <a:t> 식별자 코드와 </a:t>
            </a:r>
            <a:r>
              <a:rPr lang="ko-KR" altLang="en-US" sz="2800" b="1" dirty="0">
                <a:solidFill>
                  <a:srgbClr val="FF0000"/>
                </a:solidFill>
                <a:latin typeface="+mn-ea"/>
              </a:rPr>
              <a:t>일반 코드</a:t>
            </a:r>
            <a:r>
              <a:rPr lang="en-US" altLang="ko-KR" sz="28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2800" b="1" dirty="0">
                <a:solidFill>
                  <a:srgbClr val="FF0000"/>
                </a:solidFill>
                <a:latin typeface="+mn-ea"/>
              </a:rPr>
              <a:t>공통코드</a:t>
            </a:r>
            <a:r>
              <a:rPr lang="en-US" altLang="ko-KR" sz="28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b="1" dirty="0">
                <a:latin typeface="+mn-ea"/>
              </a:rPr>
              <a:t>의 관리</a:t>
            </a:r>
            <a:endParaRPr lang="en-US" altLang="ko-KR" b="1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+mj-lt"/>
              <a:buAutoNum type="arabicPeriod" startAt="11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일반 코드와 식별자 코드는 내부와 외부 데이터로 다음과 같이 구분할 수 있다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400" b="1" u="sng" dirty="0">
                <a:latin typeface="+mn-ea"/>
              </a:rPr>
              <a:t>일반 코드이면서 내부 데이터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코드 </a:t>
            </a:r>
            <a:r>
              <a:rPr lang="ko-KR" altLang="en-US" sz="1400" dirty="0" err="1">
                <a:latin typeface="+mn-ea"/>
              </a:rPr>
              <a:t>엔터티에서</a:t>
            </a:r>
            <a:r>
              <a:rPr lang="ko-KR" altLang="en-US" sz="1400" dirty="0">
                <a:latin typeface="+mn-ea"/>
              </a:rPr>
              <a:t> 통합 관리하는 것이 좋다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400" b="1" u="sng" dirty="0">
                <a:latin typeface="+mn-ea"/>
              </a:rPr>
              <a:t>일반 코드이면서 외부 데이터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내부에서 정한 코드 값이 아니기 때문에 전사 표준을 따르지 않는 값이다</a:t>
            </a:r>
            <a:endParaRPr lang="en-US" altLang="ko-KR" sz="14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endParaRPr lang="en-US" altLang="ko-KR" sz="14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endParaRPr lang="en-US" altLang="ko-KR" sz="14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endParaRPr lang="en-US" altLang="ko-KR" sz="14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endParaRPr lang="en-US" altLang="ko-KR" sz="14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endParaRPr lang="en-US" altLang="ko-KR" sz="14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endParaRPr lang="en-US" altLang="ko-KR" sz="14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endParaRPr lang="ko-KR" altLang="en-US" sz="14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400" b="1" u="sng" dirty="0">
                <a:latin typeface="+mn-ea"/>
              </a:rPr>
              <a:t>식별자 코드이면서 내부 데이터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내부에서 </a:t>
            </a:r>
            <a:r>
              <a:rPr lang="ko-KR" altLang="en-US" sz="1400" dirty="0" err="1">
                <a:latin typeface="+mn-ea"/>
              </a:rPr>
              <a:t>엔터티를</a:t>
            </a:r>
            <a:r>
              <a:rPr lang="ko-KR" altLang="en-US" sz="1400" dirty="0">
                <a:latin typeface="+mn-ea"/>
              </a:rPr>
              <a:t> 설계하고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필요한 속성을 추가해서 관리한다</a:t>
            </a:r>
            <a:r>
              <a:rPr lang="en-US" altLang="ko-KR" sz="1400" dirty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400" b="1" u="sng" dirty="0">
                <a:latin typeface="+mn-ea"/>
              </a:rPr>
              <a:t>식별자 코드이면서 외부 데이터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외부부서코드 속성에 외부 기관의 부서코드 값이 저장되고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해당 부서가 어떤 부서인지 알아야 한다</a:t>
            </a: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BF69A-051B-A8B8-9156-7061616BC10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 startAt="2"/>
            </a:pPr>
            <a:r>
              <a:rPr lang="ko-KR" altLang="en-US" sz="2400" b="1" dirty="0">
                <a:latin typeface="+mn-ea"/>
              </a:rPr>
              <a:t> 속성의 종류</a:t>
            </a:r>
            <a:endParaRPr lang="en-US" altLang="ko-KR" sz="2400" b="1" dirty="0"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8124327-B3BF-4C2C-BC23-662EE8A99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469" y="4880993"/>
            <a:ext cx="3658111" cy="149563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FA7367F-0C98-BE93-5302-C1DC244B4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026" y="3186576"/>
            <a:ext cx="2905530" cy="95263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A6133D5-548D-9726-C62B-501F99A821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140" y="3005576"/>
            <a:ext cx="2934109" cy="1133633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0FED2AE-99D3-A753-A7AD-DCA0B3D15A1E}"/>
              </a:ext>
            </a:extLst>
          </p:cNvPr>
          <p:cNvSpPr/>
          <p:nvPr/>
        </p:nvSpPr>
        <p:spPr>
          <a:xfrm>
            <a:off x="7138439" y="5114925"/>
            <a:ext cx="729211" cy="438150"/>
          </a:xfrm>
          <a:prstGeom prst="roundRect">
            <a:avLst>
              <a:gd name="adj" fmla="val 21372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EAFB8A7-A365-B059-EC04-D48FB3EEB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28073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0983913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12"/>
            </a:pPr>
            <a:r>
              <a:rPr lang="ko-KR" altLang="en-US" b="1" dirty="0">
                <a:latin typeface="+mn-ea"/>
              </a:rPr>
              <a:t> 식별자 코드와 </a:t>
            </a:r>
            <a:r>
              <a:rPr lang="ko-KR" altLang="en-US" sz="2800" b="1" dirty="0">
                <a:solidFill>
                  <a:srgbClr val="FF0000"/>
                </a:solidFill>
                <a:latin typeface="+mn-ea"/>
              </a:rPr>
              <a:t>일반 코드</a:t>
            </a:r>
            <a:r>
              <a:rPr lang="en-US" altLang="ko-KR" sz="28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2800" b="1" dirty="0">
                <a:solidFill>
                  <a:srgbClr val="FF0000"/>
                </a:solidFill>
                <a:latin typeface="+mn-ea"/>
              </a:rPr>
              <a:t>공통코드</a:t>
            </a:r>
            <a:r>
              <a:rPr lang="en-US" altLang="ko-KR" sz="2800" b="1" dirty="0">
                <a:solidFill>
                  <a:srgbClr val="FF0000"/>
                </a:solidFill>
                <a:latin typeface="+mn-ea"/>
              </a:rPr>
              <a:t>) </a:t>
            </a:r>
            <a:r>
              <a:rPr lang="ko-KR" altLang="en-US" b="1" dirty="0">
                <a:latin typeface="+mn-ea"/>
              </a:rPr>
              <a:t>의 상호 변환</a:t>
            </a:r>
            <a:endParaRPr lang="en-US" altLang="ko-KR" b="1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+mj-lt"/>
              <a:buAutoNum type="arabicPeriod" startAt="12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간혹 일반 코드가 식별자 코드가 될 때가 있다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공통 코드 </a:t>
            </a:r>
            <a:r>
              <a:rPr lang="ko-KR" altLang="en-US" sz="1600" b="1" dirty="0" err="1">
                <a:latin typeface="+mn-ea"/>
              </a:rPr>
              <a:t>엔터티에서</a:t>
            </a:r>
            <a:r>
              <a:rPr lang="ko-KR" altLang="en-US" sz="1600" b="1" dirty="0">
                <a:latin typeface="+mn-ea"/>
              </a:rPr>
              <a:t> 코드 값과 코드 명을 관리하다가 </a:t>
            </a: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별도로 관리할 속성이 생겨서 새로운 </a:t>
            </a:r>
            <a:r>
              <a:rPr lang="ko-KR" altLang="en-US" sz="1600" b="1" dirty="0" err="1">
                <a:latin typeface="+mn-ea"/>
              </a:rPr>
              <a:t>엔터티로</a:t>
            </a:r>
            <a:r>
              <a:rPr lang="ko-KR" altLang="en-US" sz="1600" b="1" dirty="0">
                <a:latin typeface="+mn-ea"/>
              </a:rPr>
              <a:t> 생성해야 할 때가 있다</a:t>
            </a:r>
            <a:r>
              <a:rPr lang="en-US" altLang="ko-KR" sz="1600" b="1" dirty="0">
                <a:latin typeface="+mn-ea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BF69A-051B-A8B8-9156-7061616BC10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 startAt="2"/>
            </a:pPr>
            <a:r>
              <a:rPr lang="ko-KR" altLang="en-US" sz="2400" b="1" dirty="0">
                <a:latin typeface="+mn-ea"/>
              </a:rPr>
              <a:t> 속성의 종류</a:t>
            </a:r>
            <a:endParaRPr lang="en-US" altLang="ko-KR" sz="2400" b="1" dirty="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F3D1ADE-CA80-0A6D-FF03-5A7F0B269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029" y="2819151"/>
            <a:ext cx="2095792" cy="114316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EF98AEF-70D3-AA2B-1E93-42FF637F0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594" y="2723888"/>
            <a:ext cx="4744112" cy="1333686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88C6A214-0277-DC56-50FA-D5E4210F8FB5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3876821" y="3390731"/>
            <a:ext cx="84677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E0A710EF-3F4A-6A24-7978-C1661446B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029" y="4013588"/>
            <a:ext cx="2486372" cy="109552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811BB6FE-385E-9152-F231-FFFF537C18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3594" y="3918239"/>
            <a:ext cx="2819794" cy="2524477"/>
          </a:xfrm>
          <a:prstGeom prst="rect">
            <a:avLst/>
          </a:prstGeom>
        </p:spPr>
      </p:pic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8F83F56-1ADE-5623-20D1-F3478457E7AA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4267401" y="4561352"/>
            <a:ext cx="45619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BEDE0B-7106-82F2-E4E9-ACE548DFF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8283438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1125066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13"/>
            </a:pPr>
            <a:r>
              <a:rPr lang="ko-KR" altLang="en-US" b="1" dirty="0">
                <a:latin typeface="+mn-ea"/>
              </a:rPr>
              <a:t> 통합 코드로 설계할지 개별 </a:t>
            </a:r>
            <a:r>
              <a:rPr lang="ko-KR" altLang="en-US" b="1" dirty="0" err="1">
                <a:latin typeface="+mn-ea"/>
              </a:rPr>
              <a:t>엔터티로</a:t>
            </a:r>
            <a:r>
              <a:rPr lang="ko-KR" altLang="en-US" b="1" dirty="0">
                <a:latin typeface="+mn-ea"/>
              </a:rPr>
              <a:t> 설계할지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+mj-lt"/>
              <a:buAutoNum type="arabicPeriod" startAt="13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코드와 </a:t>
            </a: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구분할 때 생각해야 할 것은 두 가지다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600" b="1" dirty="0">
                <a:latin typeface="+mn-ea"/>
              </a:rPr>
              <a:t>데이터 집합의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인스턴스가 개별 개체를 의미하는지</a:t>
            </a:r>
            <a:r>
              <a:rPr lang="ko-KR" altLang="en-US" sz="1600" b="1" dirty="0">
                <a:latin typeface="+mn-ea"/>
              </a:rPr>
              <a:t>를 봐야 하고</a:t>
            </a:r>
            <a:r>
              <a:rPr lang="en-US" altLang="ko-KR" sz="1600" b="1" dirty="0">
                <a:latin typeface="+mn-ea"/>
              </a:rPr>
              <a:t>, </a:t>
            </a:r>
          </a:p>
          <a:p>
            <a:pPr lvl="2"/>
            <a:r>
              <a:rPr lang="en-US" altLang="ko-KR" sz="1400" b="1" dirty="0">
                <a:latin typeface="+mn-ea"/>
              </a:rPr>
              <a:t>- </a:t>
            </a:r>
            <a:r>
              <a:rPr lang="ko-KR" altLang="en-US" sz="1400" b="1" dirty="0">
                <a:latin typeface="+mn-ea"/>
              </a:rPr>
              <a:t>하나의 인스턴스가 개별 개체를 의미하면 </a:t>
            </a:r>
            <a:r>
              <a:rPr lang="ko-KR" altLang="en-US" sz="1400" b="1" dirty="0" err="1">
                <a:latin typeface="+mn-ea"/>
              </a:rPr>
              <a:t>엔터티로</a:t>
            </a:r>
            <a:r>
              <a:rPr lang="ko-KR" altLang="en-US" sz="1400" b="1" dirty="0">
                <a:latin typeface="+mn-ea"/>
              </a:rPr>
              <a:t> 도출하는 것이 기본적인 원칙이다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lvl="2"/>
            <a:r>
              <a:rPr lang="en-US" altLang="ko-KR" sz="1400" b="1" dirty="0">
                <a:latin typeface="+mn-ea"/>
              </a:rPr>
              <a:t>- </a:t>
            </a:r>
            <a:r>
              <a:rPr lang="ko-KR" altLang="en-US" sz="1400" b="1" dirty="0">
                <a:latin typeface="+mn-ea"/>
              </a:rPr>
              <a:t>예를 들어 국가 집합에 속한 인스턴스가 대한민국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호주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영국 등이라면 각각은 개별 개체를 의미하기 때문에 기본적으로 </a:t>
            </a:r>
            <a:r>
              <a:rPr lang="ko-KR" altLang="en-US" sz="1400" b="1" dirty="0" err="1">
                <a:latin typeface="+mn-ea"/>
              </a:rPr>
              <a:t>엔터티에서</a:t>
            </a:r>
            <a:r>
              <a:rPr lang="ko-KR" altLang="en-US" sz="1400" b="1" dirty="0">
                <a:latin typeface="+mn-ea"/>
              </a:rPr>
              <a:t> 관리해야 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lvl="2"/>
            <a:r>
              <a:rPr lang="en-US" altLang="ko-KR" sz="1400" b="1" dirty="0">
                <a:latin typeface="+mn-ea"/>
              </a:rPr>
              <a:t>- </a:t>
            </a:r>
            <a:r>
              <a:rPr lang="ko-KR" altLang="en-US" sz="1400" b="1" dirty="0">
                <a:latin typeface="+mn-ea"/>
              </a:rPr>
              <a:t>만약 집합의 인스턴스가 국민은행</a:t>
            </a:r>
            <a:r>
              <a:rPr lang="en-US" altLang="ko-KR" sz="1400" b="1" dirty="0">
                <a:latin typeface="+mn-ea"/>
              </a:rPr>
              <a:t>•</a:t>
            </a:r>
            <a:r>
              <a:rPr lang="ko-KR" altLang="en-US" sz="1400" b="1" dirty="0">
                <a:latin typeface="+mn-ea"/>
              </a:rPr>
              <a:t>우리은행</a:t>
            </a:r>
            <a:r>
              <a:rPr lang="en-US" altLang="ko-KR" sz="1400" b="1" dirty="0">
                <a:latin typeface="+mn-ea"/>
              </a:rPr>
              <a:t>•</a:t>
            </a:r>
            <a:r>
              <a:rPr lang="ko-KR" altLang="en-US" sz="1400" b="1" dirty="0">
                <a:latin typeface="+mn-ea"/>
              </a:rPr>
              <a:t>하나은행 등이면 이 역시 실제로 존재하는 개별 개체라고 볼 수 없기 때문에 코드로 관리한다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lvl="2"/>
            <a:endParaRPr lang="en-US" altLang="ko-KR" sz="1400" b="1" dirty="0">
              <a:latin typeface="+mn-ea"/>
            </a:endParaRPr>
          </a:p>
          <a:p>
            <a:pPr lvl="2"/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600" b="1" dirty="0">
                <a:latin typeface="+mn-ea"/>
              </a:rPr>
              <a:t>그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인스턴스가 이름 이외의 특성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속성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이 있는지</a:t>
            </a:r>
            <a:r>
              <a:rPr lang="ko-KR" altLang="en-US" sz="1600" b="1" dirty="0">
                <a:latin typeface="+mn-ea"/>
              </a:rPr>
              <a:t>를 봐야 한다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lvl="2"/>
            <a:r>
              <a:rPr lang="en-US" altLang="ko-KR" sz="1400" b="1" dirty="0">
                <a:latin typeface="+mn-ea"/>
              </a:rPr>
              <a:t>- </a:t>
            </a:r>
            <a:r>
              <a:rPr lang="ko-KR" altLang="en-US" sz="1400" b="1" dirty="0">
                <a:latin typeface="+mn-ea"/>
              </a:rPr>
              <a:t>집합의 인스턴스가 개별 개체로 판단한 후 인스턴스에 포함될 특성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속성</a:t>
            </a:r>
            <a:r>
              <a:rPr lang="en-US" altLang="ko-KR" sz="1400" b="1" dirty="0">
                <a:latin typeface="+mn-ea"/>
              </a:rPr>
              <a:t>)</a:t>
            </a:r>
            <a:r>
              <a:rPr lang="ko-KR" altLang="en-US" sz="1400" b="1" dirty="0">
                <a:latin typeface="+mn-ea"/>
              </a:rPr>
              <a:t>이 명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名</a:t>
            </a:r>
            <a:r>
              <a:rPr lang="en-US" altLang="ko-KR" sz="1400" b="1" dirty="0">
                <a:latin typeface="+mn-ea"/>
              </a:rPr>
              <a:t>)</a:t>
            </a:r>
            <a:r>
              <a:rPr lang="ko-KR" altLang="en-US" sz="1400" b="1" dirty="0">
                <a:latin typeface="+mn-ea"/>
              </a:rPr>
              <a:t>뿐인지 그 외의 다른 것이 있는지도 판단할 필요가 있다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lvl="2"/>
            <a:r>
              <a:rPr lang="en-US" altLang="ko-KR" sz="1400" b="1" dirty="0">
                <a:latin typeface="+mn-ea"/>
              </a:rPr>
              <a:t>- </a:t>
            </a:r>
            <a:r>
              <a:rPr lang="ko-KR" altLang="en-US" sz="1400" b="1" dirty="0">
                <a:latin typeface="+mn-ea"/>
              </a:rPr>
              <a:t>인스턴스 성격상 여러 고유 특성이 존재하거나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현재는 관리하지 않더라도 향후에 관리될 속성이 생길 수 있다면 </a:t>
            </a:r>
            <a:r>
              <a:rPr lang="ko-KR" altLang="en-US" sz="1400" b="1" dirty="0" err="1">
                <a:latin typeface="+mn-ea"/>
              </a:rPr>
              <a:t>엔터티로</a:t>
            </a:r>
            <a:r>
              <a:rPr lang="ko-KR" altLang="en-US" sz="1400" b="1" dirty="0">
                <a:latin typeface="+mn-ea"/>
              </a:rPr>
              <a:t> 관리해야 한다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lvl="2"/>
            <a:r>
              <a:rPr lang="en-US" altLang="ko-KR" sz="1400" b="1" dirty="0">
                <a:latin typeface="+mn-ea"/>
              </a:rPr>
              <a:t>- </a:t>
            </a:r>
            <a:r>
              <a:rPr lang="ko-KR" altLang="en-US" sz="1400" b="1" dirty="0">
                <a:latin typeface="+mn-ea"/>
              </a:rPr>
              <a:t>따라서 개별 개체를 묶은 개념이라도 고유 속성이 필요하다면 </a:t>
            </a:r>
            <a:r>
              <a:rPr lang="ko-KR" altLang="en-US" sz="1400" b="1" dirty="0" err="1">
                <a:latin typeface="+mn-ea"/>
              </a:rPr>
              <a:t>엔터티로</a:t>
            </a:r>
            <a:r>
              <a:rPr lang="ko-KR" altLang="en-US" sz="1400" b="1" dirty="0">
                <a:latin typeface="+mn-ea"/>
              </a:rPr>
              <a:t> 설계해야 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만약 인스턴스 성격이 개별 실체를 의미하고 해당 특성이 이름 뿐이라면 코드로 관리할 수 있다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하지만 추후에 부가 속성이 생길 가능성이 조금이라도 있기 때문에 실체를 의미하면 </a:t>
            </a:r>
            <a:r>
              <a:rPr lang="ko-KR" altLang="en-US" sz="1400" b="1" dirty="0" err="1">
                <a:latin typeface="+mn-ea"/>
              </a:rPr>
              <a:t>엔터티로</a:t>
            </a:r>
            <a:r>
              <a:rPr lang="ko-KR" altLang="en-US" sz="1400" b="1" dirty="0">
                <a:latin typeface="+mn-ea"/>
              </a:rPr>
              <a:t> 설계 하는 것이 좋다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BF69A-051B-A8B8-9156-7061616BC10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 startAt="2"/>
            </a:pPr>
            <a:r>
              <a:rPr lang="ko-KR" altLang="en-US" sz="2400" b="1" dirty="0">
                <a:latin typeface="+mn-ea"/>
              </a:rPr>
              <a:t> 속성의 종류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54B1C8-07C6-95FC-C240-E96B0F2F3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7486659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1125066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식별자 코드와 일반 코드는 성격이 다르기 때문에 속성의 이름을 구분해서 정하는 것이 좋다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속성명을 구분하면 사용법이 자연스럽게 구분되기도 한다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번호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식별자 코드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  <a:sym typeface="Wingdings" panose="05000000000000000000" pitchFamily="2" charset="2"/>
              </a:rPr>
              <a:t></a:t>
            </a:r>
            <a:r>
              <a:rPr lang="ko-KR" altLang="en-US" sz="1600" b="1" dirty="0">
                <a:latin typeface="+mn-ea"/>
              </a:rPr>
              <a:t> 부서번호 </a:t>
            </a:r>
            <a:r>
              <a:rPr lang="en-US" altLang="ko-KR" sz="1600" b="1" dirty="0">
                <a:latin typeface="+mn-ea"/>
              </a:rPr>
              <a:t>• </a:t>
            </a:r>
            <a:r>
              <a:rPr lang="ko-KR" altLang="en-US" sz="1600" b="1" dirty="0">
                <a:latin typeface="+mn-ea"/>
              </a:rPr>
              <a:t>사원번호 </a:t>
            </a:r>
            <a:r>
              <a:rPr lang="en-US" altLang="ko-KR" sz="1600" b="1" dirty="0">
                <a:latin typeface="+mn-ea"/>
              </a:rPr>
              <a:t>• </a:t>
            </a:r>
            <a:r>
              <a:rPr lang="ko-KR" altLang="en-US" sz="1600" b="1" dirty="0">
                <a:latin typeface="+mn-ea"/>
              </a:rPr>
              <a:t>상품번호 </a:t>
            </a:r>
            <a:r>
              <a:rPr lang="en-US" altLang="ko-KR" sz="1600" b="1" dirty="0">
                <a:latin typeface="+mn-ea"/>
              </a:rPr>
              <a:t>• </a:t>
            </a:r>
            <a:r>
              <a:rPr lang="ko-KR" altLang="en-US" sz="1600" b="1" dirty="0">
                <a:latin typeface="+mn-ea"/>
              </a:rPr>
              <a:t>화면번호 등과 같이 </a:t>
            </a:r>
            <a:r>
              <a:rPr lang="en-US" altLang="ko-KR" sz="1600" b="1" dirty="0">
                <a:latin typeface="+mn-ea"/>
              </a:rPr>
              <a:t>“</a:t>
            </a:r>
            <a:r>
              <a:rPr lang="en-US" altLang="ko-KR" sz="1600" b="1" dirty="0" err="1">
                <a:latin typeface="+mn-ea"/>
              </a:rPr>
              <a:t>oo</a:t>
            </a:r>
            <a:r>
              <a:rPr lang="ko-KR" altLang="en-US" sz="1600" b="1" dirty="0">
                <a:latin typeface="+mn-ea"/>
              </a:rPr>
              <a:t>번호</a:t>
            </a:r>
            <a:r>
              <a:rPr lang="en-US" altLang="ko-KR" sz="1600" b="1" dirty="0">
                <a:latin typeface="+mn-ea"/>
              </a:rPr>
              <a:t>”</a:t>
            </a:r>
            <a:r>
              <a:rPr lang="ko-KR" altLang="en-US" sz="1600" b="1" dirty="0">
                <a:latin typeface="+mn-ea"/>
              </a:rPr>
              <a:t> 로 사용한다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코드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일반 코드</a:t>
            </a:r>
            <a:r>
              <a:rPr lang="ko-KR" altLang="en-US" sz="1600" b="1" dirty="0">
                <a:latin typeface="+mn-ea"/>
              </a:rPr>
              <a:t>    </a:t>
            </a:r>
            <a:r>
              <a:rPr lang="en-US" altLang="ko-KR" sz="1600" b="1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600" b="1" dirty="0">
                <a:latin typeface="+mn-ea"/>
              </a:rPr>
              <a:t>구분코드 </a:t>
            </a:r>
            <a:r>
              <a:rPr lang="en-US" altLang="ko-KR" sz="1600" b="1" dirty="0">
                <a:latin typeface="+mn-ea"/>
              </a:rPr>
              <a:t>• </a:t>
            </a:r>
            <a:r>
              <a:rPr lang="ko-KR" altLang="en-US" sz="1600" b="1" dirty="0">
                <a:latin typeface="+mn-ea"/>
              </a:rPr>
              <a:t>유형코드 </a:t>
            </a:r>
            <a:r>
              <a:rPr lang="en-US" altLang="ko-KR" sz="1600" b="1" dirty="0">
                <a:latin typeface="+mn-ea"/>
              </a:rPr>
              <a:t>• </a:t>
            </a:r>
            <a:r>
              <a:rPr lang="ko-KR" altLang="en-US" sz="1600" b="1" dirty="0">
                <a:latin typeface="+mn-ea"/>
              </a:rPr>
              <a:t>종류코드 등은 </a:t>
            </a:r>
            <a:r>
              <a:rPr lang="en-US" altLang="ko-KR" sz="1600" b="1" dirty="0">
                <a:latin typeface="+mn-ea"/>
              </a:rPr>
              <a:t>“</a:t>
            </a:r>
            <a:r>
              <a:rPr lang="en-US" altLang="ko-KR" sz="1600" b="1" dirty="0" err="1">
                <a:latin typeface="+mn-ea"/>
              </a:rPr>
              <a:t>xxoo</a:t>
            </a:r>
            <a:r>
              <a:rPr lang="ko-KR" altLang="en-US" sz="1600" b="1" dirty="0">
                <a:latin typeface="+mn-ea"/>
              </a:rPr>
              <a:t>코드</a:t>
            </a:r>
            <a:r>
              <a:rPr lang="en-US" altLang="ko-KR" sz="1600" b="1" dirty="0">
                <a:latin typeface="+mn-ea"/>
              </a:rPr>
              <a:t>”</a:t>
            </a:r>
            <a:r>
              <a:rPr lang="ko-KR" altLang="en-US" sz="1600" b="1" dirty="0">
                <a:latin typeface="+mn-ea"/>
              </a:rPr>
              <a:t>로 사용한다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구분코드 </a:t>
            </a:r>
            <a:r>
              <a:rPr lang="en-US" altLang="ko-KR" sz="1400" b="1" dirty="0">
                <a:latin typeface="+mn-ea"/>
              </a:rPr>
              <a:t>: </a:t>
            </a:r>
            <a:r>
              <a:rPr lang="ko-KR" altLang="en-US" sz="1400" b="1" dirty="0">
                <a:latin typeface="+mn-ea"/>
              </a:rPr>
              <a:t>코드 명이 더 이상 늘어나지 않고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고정적일 때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 사용</a:t>
            </a:r>
            <a:r>
              <a:rPr lang="en-US" altLang="ko-KR" sz="1400" b="1" dirty="0">
                <a:latin typeface="+mn-ea"/>
              </a:rPr>
              <a:t>.    </a:t>
            </a:r>
            <a:r>
              <a:rPr lang="ko-KR" altLang="en-US" sz="1400" b="1" dirty="0">
                <a:latin typeface="+mn-ea"/>
              </a:rPr>
              <a:t>예</a:t>
            </a:r>
            <a:r>
              <a:rPr lang="en-US" altLang="ko-KR" sz="1400" b="1" dirty="0">
                <a:latin typeface="+mn-ea"/>
              </a:rPr>
              <a:t>) </a:t>
            </a:r>
            <a:r>
              <a:rPr lang="ko-KR" altLang="en-US" sz="1400" b="1" dirty="0">
                <a:latin typeface="+mn-ea"/>
              </a:rPr>
              <a:t>남녀구분코드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종류코드 </a:t>
            </a:r>
            <a:r>
              <a:rPr lang="en-US" altLang="ko-KR" sz="1400" b="1" dirty="0">
                <a:latin typeface="+mn-ea"/>
              </a:rPr>
              <a:t>: </a:t>
            </a:r>
            <a:r>
              <a:rPr lang="ko-KR" altLang="en-US" sz="1400" b="1" dirty="0">
                <a:latin typeface="+mn-ea"/>
              </a:rPr>
              <a:t>고정적이지 않고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지속적으로 늘어날 수 있을 때</a:t>
            </a:r>
            <a:r>
              <a:rPr lang="ko-KR" altLang="en-US" sz="1400" b="1" dirty="0">
                <a:latin typeface="+mn-ea"/>
              </a:rPr>
              <a:t> 사용</a:t>
            </a:r>
            <a:r>
              <a:rPr lang="en-US" altLang="ko-KR" sz="1400" b="1" dirty="0">
                <a:latin typeface="+mn-ea"/>
              </a:rPr>
              <a:t>.  </a:t>
            </a:r>
            <a:r>
              <a:rPr lang="ko-KR" altLang="en-US" sz="1400" b="1" dirty="0">
                <a:latin typeface="+mn-ea"/>
              </a:rPr>
              <a:t>예</a:t>
            </a:r>
            <a:r>
              <a:rPr lang="en-US" altLang="ko-KR" sz="1400" b="1" dirty="0">
                <a:latin typeface="+mn-ea"/>
              </a:rPr>
              <a:t>) </a:t>
            </a:r>
            <a:r>
              <a:rPr lang="ko-KR" altLang="en-US" sz="1400" b="1" dirty="0" err="1">
                <a:latin typeface="+mn-ea"/>
              </a:rPr>
              <a:t>서비스종류코드，지불수단종류코드</a:t>
            </a:r>
            <a:endParaRPr lang="ko-KR" altLang="en-US" sz="14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유형코드 </a:t>
            </a:r>
            <a:r>
              <a:rPr lang="en-US" altLang="ko-KR" sz="1400" b="1" dirty="0">
                <a:latin typeface="+mn-ea"/>
              </a:rPr>
              <a:t>: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성질이나 특징이 유사한 것끼리 묶을 때</a:t>
            </a:r>
            <a:r>
              <a:rPr lang="ko-KR" altLang="en-US" sz="1400" b="1" dirty="0">
                <a:latin typeface="+mn-ea"/>
              </a:rPr>
              <a:t> 사용</a:t>
            </a:r>
            <a:r>
              <a:rPr lang="en-US" altLang="ko-KR" sz="1400" b="1" dirty="0">
                <a:latin typeface="+mn-ea"/>
              </a:rPr>
              <a:t>.           </a:t>
            </a:r>
            <a:r>
              <a:rPr lang="ko-KR" altLang="en-US" sz="1400" b="1" dirty="0">
                <a:latin typeface="+mn-ea"/>
              </a:rPr>
              <a:t>예</a:t>
            </a:r>
            <a:r>
              <a:rPr lang="en-US" altLang="ko-KR" sz="1400" b="1" dirty="0">
                <a:latin typeface="+mn-ea"/>
              </a:rPr>
              <a:t>) </a:t>
            </a:r>
            <a:r>
              <a:rPr lang="ko-KR" altLang="en-US" sz="1400" b="1" dirty="0" err="1">
                <a:latin typeface="+mn-ea"/>
              </a:rPr>
              <a:t>지불수단유형코드，거래유형코드</a:t>
            </a:r>
            <a:endParaRPr lang="en-US" altLang="ko-KR" sz="1400" b="1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BF69A-051B-A8B8-9156-7061616BC10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코드속성</a:t>
            </a:r>
            <a:r>
              <a:rPr lang="en-US" altLang="ko-KR" sz="2400" b="1" dirty="0">
                <a:latin typeface="+mn-ea"/>
              </a:rPr>
              <a:t>(</a:t>
            </a:r>
            <a:r>
              <a:rPr lang="ko-KR" altLang="en-US" sz="2400" b="1" dirty="0">
                <a:latin typeface="+mn-ea"/>
              </a:rPr>
              <a:t>공통코드</a:t>
            </a:r>
            <a:r>
              <a:rPr lang="en-US" altLang="ko-KR" sz="2400" b="1" dirty="0">
                <a:latin typeface="+mn-ea"/>
              </a:rPr>
              <a:t>)</a:t>
            </a:r>
            <a:r>
              <a:rPr lang="ko-KR" altLang="en-US" sz="2400" b="1" dirty="0">
                <a:latin typeface="+mn-ea"/>
              </a:rPr>
              <a:t>의 </a:t>
            </a:r>
            <a:r>
              <a:rPr lang="ko-KR" altLang="en-US" sz="2400" b="1" dirty="0" err="1">
                <a:latin typeface="+mn-ea"/>
              </a:rPr>
              <a:t>명명법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4E76B40-5B16-6598-CB34-47F2A4E49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141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3965024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112506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 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코드 인스턴스 설계 원칙</a:t>
            </a:r>
            <a:endParaRPr lang="en-US" altLang="ko-KR" b="1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+mj-lt"/>
              <a:buAutoNum type="arabicPeriod" startAt="14"/>
            </a:pPr>
            <a:endParaRPr lang="en-US" altLang="ko-KR" sz="1600" b="1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코드 인스턴스 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 err="1">
                <a:latin typeface="+mn-ea"/>
              </a:rPr>
              <a:t>코드값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코드명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가 되기 위해서는 몇 가지 조건을 만족해야 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이 조건은 넓게 보면 </a:t>
            </a:r>
            <a:r>
              <a:rPr lang="ko-KR" altLang="en-US" sz="1400" dirty="0" err="1">
                <a:latin typeface="+mn-ea"/>
              </a:rPr>
              <a:t>엔터티가</a:t>
            </a:r>
            <a:r>
              <a:rPr lang="ko-KR" altLang="en-US" sz="1400" dirty="0">
                <a:latin typeface="+mn-ea"/>
              </a:rPr>
              <a:t> 되기 위한 조건과 동일하다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코드 인스턴스도 집합이기 때문에 집합을 의미하는 </a:t>
            </a:r>
            <a:r>
              <a:rPr lang="ko-KR" altLang="en-US" sz="1400" dirty="0" err="1">
                <a:latin typeface="+mn-ea"/>
              </a:rPr>
              <a:t>엔터티와</a:t>
            </a:r>
            <a:r>
              <a:rPr lang="ko-KR" altLang="en-US" sz="1400" dirty="0">
                <a:latin typeface="+mn-ea"/>
              </a:rPr>
              <a:t> 유사하다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설계 원칙</a:t>
            </a:r>
            <a:endParaRPr lang="en-US" altLang="ko-KR" sz="1400" b="1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200" dirty="0">
                <a:latin typeface="+mn-ea"/>
              </a:rPr>
              <a:t>성격이 동일해야 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257300" lvl="2" indent="-3429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200" dirty="0">
                <a:latin typeface="+mn-ea"/>
              </a:rPr>
              <a:t>상호 배타적이어야 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257300" lvl="2" indent="-3429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200" dirty="0">
                <a:latin typeface="+mn-ea"/>
              </a:rPr>
              <a:t>전체가 합집합이어야 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257300" lvl="2" indent="-3429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200" dirty="0">
                <a:latin typeface="+mn-ea"/>
              </a:rPr>
              <a:t>상세화 수준이 유사해야 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257300" lvl="2" indent="-3429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E416408-020F-6513-819F-320EC61C1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077" y="2844217"/>
            <a:ext cx="2295845" cy="123842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575F927-D4A2-DB95-6ED7-981E44980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675" y="4174575"/>
            <a:ext cx="1867161" cy="23815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003E7B7-4122-0431-35E2-978D5807DB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8675" y="4692924"/>
            <a:ext cx="1914792" cy="22863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D902A45-8C08-8EFB-B82B-AD958BA040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6125" y="4688161"/>
            <a:ext cx="2476846" cy="238158"/>
          </a:xfrm>
          <a:prstGeom prst="rect">
            <a:avLst/>
          </a:prstGeom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B2FCB81-6526-B26F-B46B-2B60397C3FE8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6553467" y="4807240"/>
            <a:ext cx="35265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8" name="그림 17">
            <a:extLst>
              <a:ext uri="{FF2B5EF4-FFF2-40B4-BE49-F238E27FC236}">
                <a16:creationId xmlns:a16="http://schemas.microsoft.com/office/drawing/2014/main" id="{E284B47A-8921-7269-0291-D1BB96B692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8675" y="5263067"/>
            <a:ext cx="1295581" cy="24768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00A6D795-4B41-4020-7DB8-E74CE3F7F3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6125" y="5257106"/>
            <a:ext cx="1752845" cy="257211"/>
          </a:xfrm>
          <a:prstGeom prst="rect">
            <a:avLst/>
          </a:prstGeom>
        </p:spPr>
      </p:pic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9713F8EE-9048-1D6B-CBAB-0EC68CBE878A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 flipV="1">
            <a:off x="5934256" y="5385712"/>
            <a:ext cx="971869" cy="1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5" name="그림 24">
            <a:extLst>
              <a:ext uri="{FF2B5EF4-FFF2-40B4-BE49-F238E27FC236}">
                <a16:creationId xmlns:a16="http://schemas.microsoft.com/office/drawing/2014/main" id="{91D640EE-3E28-79E7-8B1D-CE0C1AB416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8675" y="5832033"/>
            <a:ext cx="1705213" cy="228632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F845BA18-F447-BF78-B52B-90AC4F5F45A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6125" y="5703427"/>
            <a:ext cx="1514686" cy="485843"/>
          </a:xfrm>
          <a:prstGeom prst="rect">
            <a:avLst/>
          </a:prstGeom>
        </p:spPr>
      </p:pic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D6D454AF-B409-CACE-4208-3CF5A8146C18}"/>
              </a:ext>
            </a:extLst>
          </p:cNvPr>
          <p:cNvCxnSpPr>
            <a:cxnSpLocks/>
            <a:stCxn id="25" idx="3"/>
            <a:endCxn id="27" idx="1"/>
          </p:cNvCxnSpPr>
          <p:nvPr/>
        </p:nvCxnSpPr>
        <p:spPr>
          <a:xfrm>
            <a:off x="6343888" y="5946349"/>
            <a:ext cx="56223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401976F-F3A8-71A9-42F1-E8F1C160CE97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코드속성</a:t>
            </a:r>
            <a:r>
              <a:rPr lang="en-US" altLang="ko-KR" sz="2400" dirty="0">
                <a:latin typeface="+mn-ea"/>
              </a:rPr>
              <a:t> (</a:t>
            </a:r>
            <a:r>
              <a:rPr lang="ko-KR" altLang="en-US" sz="2400" dirty="0">
                <a:latin typeface="+mn-ea"/>
              </a:rPr>
              <a:t>공통코드</a:t>
            </a:r>
            <a:r>
              <a:rPr lang="en-US" altLang="ko-KR" sz="2400" dirty="0">
                <a:latin typeface="+mn-ea"/>
              </a:rPr>
              <a:t>) </a:t>
            </a:r>
            <a:r>
              <a:rPr lang="ko-KR" altLang="en-US" sz="2400" b="1" dirty="0">
                <a:latin typeface="+mn-ea"/>
              </a:rPr>
              <a:t>의 </a:t>
            </a:r>
            <a:r>
              <a:rPr lang="ko-KR" altLang="en-US" sz="2400" b="1" dirty="0" err="1">
                <a:latin typeface="+mn-ea"/>
              </a:rPr>
              <a:t>명명법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0DF7D8-9442-7A18-DFB4-57D31B57F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142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7375872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1125066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 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코드를 사용하는 용도</a:t>
            </a:r>
            <a:endParaRPr lang="en-US" altLang="ko-KR" b="1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+mj-lt"/>
              <a:buAutoNum type="arabicPeriod" startAt="15"/>
            </a:pPr>
            <a:endParaRPr lang="en-US" altLang="ko-KR" sz="1600" b="1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코드는 업무나 프로그램에서 사용하려고 만든다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해당 인스턴스를 구분해서 사용하려고 코드로 관리한다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코드를 사용하는 일반적인 용도</a:t>
            </a:r>
            <a:endParaRPr lang="en-US" altLang="ko-KR" sz="14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집계 용도</a:t>
            </a:r>
            <a:endParaRPr lang="en-US" altLang="ko-KR" sz="1200" b="1" dirty="0">
              <a:solidFill>
                <a:srgbClr val="FF0000"/>
              </a:solidFill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조회 용도</a:t>
            </a:r>
            <a:endParaRPr lang="en-US" altLang="ko-KR" sz="12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6506D78-CA96-416E-A9D6-F334607A8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325" y="2806589"/>
            <a:ext cx="1619476" cy="12955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6E9AD4D-E102-224D-57F7-3C92101E6F1A}"/>
              </a:ext>
            </a:extLst>
          </p:cNvPr>
          <p:cNvSpPr txBox="1"/>
          <p:nvPr/>
        </p:nvSpPr>
        <p:spPr>
          <a:xfrm>
            <a:off x="5145839" y="3048921"/>
            <a:ext cx="664253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57300" lvl="2" indent="-342900">
              <a:buFont typeface="+mj-ea"/>
              <a:buAutoNum type="circleNumDbPlain" startAt="3"/>
            </a:pP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분기 용도</a:t>
            </a:r>
            <a:endParaRPr lang="en-US" altLang="ko-KR" sz="1200" b="1" dirty="0">
              <a:solidFill>
                <a:srgbClr val="FF0000"/>
              </a:solidFill>
              <a:latin typeface="+mn-ea"/>
            </a:endParaRPr>
          </a:p>
          <a:p>
            <a:pPr marL="1257300" lvl="2" indent="-342900">
              <a:buFont typeface="+mj-ea"/>
              <a:buAutoNum type="circleNumDbPlain" startAt="3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 startAt="3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 startAt="3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 startAt="3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 startAt="3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 startAt="3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 startAt="3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 startAt="3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 startAt="3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 startAt="3"/>
            </a:pP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서브타입 구분 용도</a:t>
            </a:r>
            <a:endParaRPr lang="en-US" altLang="ko-KR" sz="1200" b="1" dirty="0">
              <a:solidFill>
                <a:srgbClr val="FF0000"/>
              </a:solidFill>
              <a:latin typeface="+mn-ea"/>
            </a:endParaRPr>
          </a:p>
          <a:p>
            <a:pPr marL="1257300" lvl="2" indent="-342900">
              <a:buFont typeface="+mj-ea"/>
              <a:buAutoNum type="circleNumDbPlain" startAt="3"/>
            </a:pPr>
            <a:endParaRPr lang="en-US" altLang="ko-KR" sz="1200" dirty="0">
              <a:latin typeface="+mn-ea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0709498-00BA-8C9D-57EC-5CC4BAC7C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1088" y="4491456"/>
            <a:ext cx="1609950" cy="142894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8183CA2C-2D9E-6DC8-6746-382476277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5727" y="2553495"/>
            <a:ext cx="1619476" cy="126700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F4D4BBC5-2BF5-4D57-34E8-728258DB35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4727" y="4098308"/>
            <a:ext cx="1981477" cy="2067213"/>
          </a:xfrm>
          <a:prstGeom prst="rect">
            <a:avLst/>
          </a:prstGeom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4A6C9B8-3148-B081-6BD8-B55A3B0C91EC}"/>
              </a:ext>
            </a:extLst>
          </p:cNvPr>
          <p:cNvSpPr/>
          <p:nvPr/>
        </p:nvSpPr>
        <p:spPr>
          <a:xfrm>
            <a:off x="3677190" y="3473429"/>
            <a:ext cx="815191" cy="184256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6AF0B46-7E5B-8F10-6C95-003A94A235F7}"/>
              </a:ext>
            </a:extLst>
          </p:cNvPr>
          <p:cNvSpPr/>
          <p:nvPr/>
        </p:nvSpPr>
        <p:spPr>
          <a:xfrm>
            <a:off x="3685617" y="5297073"/>
            <a:ext cx="815191" cy="184256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A6E31DE-0713-4CCB-D25E-25F303B029B6}"/>
              </a:ext>
            </a:extLst>
          </p:cNvPr>
          <p:cNvSpPr/>
          <p:nvPr/>
        </p:nvSpPr>
        <p:spPr>
          <a:xfrm>
            <a:off x="8735642" y="2914987"/>
            <a:ext cx="815191" cy="184256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1513735-2D22-ADAF-B1F5-940F3BDDAF9C}"/>
              </a:ext>
            </a:extLst>
          </p:cNvPr>
          <p:cNvSpPr/>
          <p:nvPr/>
        </p:nvSpPr>
        <p:spPr>
          <a:xfrm>
            <a:off x="8249867" y="5029050"/>
            <a:ext cx="1692486" cy="833146"/>
          </a:xfrm>
          <a:prstGeom prst="roundRect">
            <a:avLst>
              <a:gd name="adj" fmla="val 1122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1BE17D-FC2C-0C47-6E55-60196245CF87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코드속성</a:t>
            </a:r>
            <a:r>
              <a:rPr lang="en-US" altLang="ko-KR" sz="2400" dirty="0">
                <a:latin typeface="+mn-ea"/>
              </a:rPr>
              <a:t> (</a:t>
            </a:r>
            <a:r>
              <a:rPr lang="ko-KR" altLang="en-US" sz="2400" dirty="0">
                <a:latin typeface="+mn-ea"/>
              </a:rPr>
              <a:t>공통코드</a:t>
            </a:r>
            <a:r>
              <a:rPr lang="en-US" altLang="ko-KR" sz="2400" dirty="0">
                <a:latin typeface="+mn-ea"/>
              </a:rPr>
              <a:t>) </a:t>
            </a:r>
            <a:r>
              <a:rPr lang="ko-KR" altLang="en-US" sz="2400" b="1" dirty="0">
                <a:latin typeface="+mn-ea"/>
              </a:rPr>
              <a:t>의 </a:t>
            </a:r>
            <a:r>
              <a:rPr lang="ko-KR" altLang="en-US" sz="2400" b="1" dirty="0" err="1">
                <a:latin typeface="+mn-ea"/>
              </a:rPr>
              <a:t>명명법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1FDE06-135C-D746-5C81-C8FAB58CA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037214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1125066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 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코드 </a:t>
            </a:r>
            <a:r>
              <a:rPr lang="ko-KR" altLang="en-US" b="1" dirty="0" err="1">
                <a:solidFill>
                  <a:srgbClr val="FF0000"/>
                </a:solidFill>
                <a:latin typeface="+mn-ea"/>
              </a:rPr>
              <a:t>엔터티와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 참조 무결성 관계</a:t>
            </a:r>
            <a:endParaRPr lang="en-US" altLang="ko-KR" b="1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+mj-lt"/>
              <a:buAutoNum type="arabicPeriod" startAt="16"/>
            </a:pPr>
            <a:endParaRPr lang="en-US" altLang="ko-KR" sz="1600" b="1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코드 인스턴스를 관리하는 코드 </a:t>
            </a:r>
            <a:r>
              <a:rPr lang="ko-KR" altLang="en-US" sz="1400" dirty="0" err="1">
                <a:latin typeface="+mn-ea"/>
              </a:rPr>
              <a:t>엔터티와</a:t>
            </a:r>
            <a:r>
              <a:rPr lang="ko-KR" altLang="en-US" sz="1400" dirty="0">
                <a:latin typeface="+mn-ea"/>
              </a:rPr>
              <a:t> 코드를 참조하는 일반 </a:t>
            </a:r>
            <a:r>
              <a:rPr lang="ko-KR" altLang="en-US" sz="1400" dirty="0" err="1">
                <a:latin typeface="+mn-ea"/>
              </a:rPr>
              <a:t>엔터티</a:t>
            </a:r>
            <a:r>
              <a:rPr lang="ko-KR" altLang="en-US" sz="1400" dirty="0">
                <a:latin typeface="+mn-ea"/>
              </a:rPr>
              <a:t> 사이에 관계선을 필요한가</a:t>
            </a:r>
            <a:r>
              <a:rPr lang="en-US" altLang="ko-KR" sz="1400" dirty="0">
                <a:latin typeface="+mn-ea"/>
              </a:rPr>
              <a:t>?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이는 코드 </a:t>
            </a:r>
            <a:r>
              <a:rPr lang="ko-KR" altLang="en-US" sz="1400" dirty="0" err="1">
                <a:latin typeface="+mn-ea"/>
              </a:rPr>
              <a:t>엔터티를</a:t>
            </a:r>
            <a:r>
              <a:rPr lang="ko-KR" altLang="en-US" sz="1400" dirty="0">
                <a:latin typeface="+mn-ea"/>
              </a:rPr>
              <a:t> 관리하는 방법에 따라서 조금씩 달라진다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하지만 참조 무결성</a:t>
            </a:r>
            <a:r>
              <a:rPr lang="en-US" altLang="ko-KR" sz="1400" dirty="0">
                <a:latin typeface="+mn-ea"/>
              </a:rPr>
              <a:t>(RI)</a:t>
            </a:r>
            <a:r>
              <a:rPr lang="ko-KR" altLang="en-US" sz="1400" dirty="0">
                <a:latin typeface="+mn-ea"/>
              </a:rPr>
              <a:t>관계가 존재하면 관계선을 표현하는 것이 원칙임을 잊어서는 안 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코드 </a:t>
            </a:r>
            <a:r>
              <a:rPr lang="ko-KR" altLang="en-US" sz="1400" dirty="0" err="1">
                <a:latin typeface="+mn-ea"/>
              </a:rPr>
              <a:t>엔터티를</a:t>
            </a:r>
            <a:r>
              <a:rPr lang="ko-KR" altLang="en-US" sz="1400" dirty="0">
                <a:latin typeface="+mn-ea"/>
              </a:rPr>
              <a:t> 관리하는 방법은 크게 네 가지가 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200" dirty="0">
                <a:latin typeface="+mn-ea"/>
              </a:rPr>
              <a:t>개별 코드 </a:t>
            </a:r>
            <a:r>
              <a:rPr lang="ko-KR" altLang="en-US" sz="1200" dirty="0" err="1">
                <a:latin typeface="+mn-ea"/>
              </a:rPr>
              <a:t>엔터티에서</a:t>
            </a:r>
            <a:r>
              <a:rPr lang="ko-KR" altLang="en-US" sz="1200" dirty="0">
                <a:latin typeface="+mn-ea"/>
              </a:rPr>
              <a:t> 관리하면서 </a:t>
            </a:r>
            <a:r>
              <a:rPr lang="ko-KR" altLang="en-US" sz="1200" b="1" u="sng" dirty="0">
                <a:latin typeface="+mn-ea"/>
              </a:rPr>
              <a:t>직접 관계 존재</a:t>
            </a:r>
            <a:endParaRPr lang="en-US" altLang="ko-KR" sz="1200" b="1" u="sng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200" b="1" u="sng" dirty="0">
                <a:latin typeface="+mn-ea"/>
              </a:rPr>
              <a:t>통합 코드 </a:t>
            </a:r>
            <a:r>
              <a:rPr lang="ko-KR" altLang="en-US" sz="1200" b="1" u="sng" dirty="0" err="1">
                <a:latin typeface="+mn-ea"/>
              </a:rPr>
              <a:t>엔터티에서</a:t>
            </a:r>
            <a:r>
              <a:rPr lang="ko-KR" altLang="en-US" sz="1200" dirty="0">
                <a:latin typeface="+mn-ea"/>
              </a:rPr>
              <a:t> 관리하면서 직접 관계 존재</a:t>
            </a:r>
            <a:endParaRPr lang="en-US" altLang="ko-KR" sz="120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D146700-CAE4-3198-E8FA-8E6109C39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328" y="3328891"/>
            <a:ext cx="2638793" cy="13813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432458-AD0C-8AB3-5E82-7732C1C8EB41}"/>
              </a:ext>
            </a:extLst>
          </p:cNvPr>
          <p:cNvSpPr txBox="1"/>
          <p:nvPr/>
        </p:nvSpPr>
        <p:spPr>
          <a:xfrm>
            <a:off x="5224280" y="2918162"/>
            <a:ext cx="662654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57300" lvl="2" indent="-342900">
              <a:buFont typeface="+mj-ea"/>
              <a:buAutoNum type="circleNumDbPlain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 startAt="3"/>
            </a:pP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통합 코드 </a:t>
            </a:r>
            <a:r>
              <a:rPr lang="ko-KR" altLang="en-US" sz="1200" b="1" u="sng" dirty="0" err="1">
                <a:solidFill>
                  <a:srgbClr val="FF0000"/>
                </a:solidFill>
                <a:latin typeface="+mn-ea"/>
              </a:rPr>
              <a:t>엔터티에서</a:t>
            </a:r>
            <a:r>
              <a:rPr lang="ko-KR" altLang="en-US" sz="1200" dirty="0">
                <a:latin typeface="+mn-ea"/>
              </a:rPr>
              <a:t> 관리하면서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간접 관계 존재</a:t>
            </a:r>
            <a:endParaRPr lang="en-US" altLang="ko-KR" sz="1200" b="1" u="sng" dirty="0">
              <a:solidFill>
                <a:srgbClr val="FF0000"/>
              </a:solidFill>
              <a:latin typeface="+mn-ea"/>
            </a:endParaRPr>
          </a:p>
          <a:p>
            <a:pPr marL="1257300" lvl="2" indent="-342900">
              <a:buFont typeface="+mj-ea"/>
              <a:buAutoNum type="circleNumDbPlain" startAt="3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 startAt="3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 startAt="3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 startAt="3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 startAt="3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 startAt="3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 startAt="3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 startAt="3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 startAt="3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ea"/>
              <a:buAutoNum type="circleNumDbPlain" startAt="3"/>
            </a:pPr>
            <a:r>
              <a:rPr lang="ko-KR" altLang="en-US" sz="1200" b="1" u="sng" dirty="0">
                <a:latin typeface="+mn-ea"/>
              </a:rPr>
              <a:t>통합 코드 </a:t>
            </a:r>
            <a:r>
              <a:rPr lang="ko-KR" altLang="en-US" sz="1200" b="1" u="sng" dirty="0" err="1">
                <a:latin typeface="+mn-ea"/>
              </a:rPr>
              <a:t>엔터티에서</a:t>
            </a:r>
            <a:r>
              <a:rPr lang="ko-KR" altLang="en-US" sz="1200" dirty="0">
                <a:latin typeface="+mn-ea"/>
              </a:rPr>
              <a:t> 관리하면서 직접 관계 존재</a:t>
            </a:r>
            <a:endParaRPr lang="en-US" altLang="ko-KR" sz="1200" dirty="0">
              <a:latin typeface="+mn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6F2AA62-0CF6-E766-7607-3766ADAEF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328" y="5163119"/>
            <a:ext cx="3381847" cy="156231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7280940-B0F6-B1B4-656A-9A37E2BD9E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217" y="3429000"/>
            <a:ext cx="2457793" cy="140037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AA76719-CF26-528A-CF53-579DCF6241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217" y="5266577"/>
            <a:ext cx="3000794" cy="1400370"/>
          </a:xfrm>
          <a:prstGeom prst="rect">
            <a:avLst/>
          </a:prstGeom>
        </p:spPr>
      </p:pic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CB20182-9370-7E6D-16C6-D10E0D8F651B}"/>
              </a:ext>
            </a:extLst>
          </p:cNvPr>
          <p:cNvSpPr/>
          <p:nvPr/>
        </p:nvSpPr>
        <p:spPr>
          <a:xfrm>
            <a:off x="4666692" y="5454060"/>
            <a:ext cx="815191" cy="184256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F98FB3A-03E9-6889-2E6A-3E4BD513A312}"/>
              </a:ext>
            </a:extLst>
          </p:cNvPr>
          <p:cNvSpPr/>
          <p:nvPr/>
        </p:nvSpPr>
        <p:spPr>
          <a:xfrm>
            <a:off x="8610042" y="5635035"/>
            <a:ext cx="815191" cy="184256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936FB6B-936D-A6C7-6ED2-7E6C6B2B0091}"/>
              </a:ext>
            </a:extLst>
          </p:cNvPr>
          <p:cNvSpPr/>
          <p:nvPr/>
        </p:nvSpPr>
        <p:spPr>
          <a:xfrm>
            <a:off x="2437842" y="5681042"/>
            <a:ext cx="1486458" cy="319708"/>
          </a:xfrm>
          <a:prstGeom prst="roundRect">
            <a:avLst>
              <a:gd name="adj" fmla="val 23186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59C1EAF-F0EF-958A-D9C8-D1EC86DC7E95}"/>
              </a:ext>
            </a:extLst>
          </p:cNvPr>
          <p:cNvSpPr/>
          <p:nvPr/>
        </p:nvSpPr>
        <p:spPr>
          <a:xfrm>
            <a:off x="2365880" y="3822004"/>
            <a:ext cx="1025020" cy="178496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809FB10-A97A-C2C3-6B43-3ED9B5DD8281}"/>
              </a:ext>
            </a:extLst>
          </p:cNvPr>
          <p:cNvSpPr/>
          <p:nvPr/>
        </p:nvSpPr>
        <p:spPr>
          <a:xfrm>
            <a:off x="8044139" y="3656798"/>
            <a:ext cx="815191" cy="184256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3B55EE-D568-7BEE-FC93-5424BD76946F}"/>
              </a:ext>
            </a:extLst>
          </p:cNvPr>
          <p:cNvSpPr txBox="1"/>
          <p:nvPr/>
        </p:nvSpPr>
        <p:spPr>
          <a:xfrm>
            <a:off x="9535012" y="6000750"/>
            <a:ext cx="23158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주 식별자를 단순화한 모델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151698-6D30-8703-E436-0F1E90CFB0D1}"/>
              </a:ext>
            </a:extLst>
          </p:cNvPr>
          <p:cNvSpPr txBox="1"/>
          <p:nvPr/>
        </p:nvSpPr>
        <p:spPr>
          <a:xfrm>
            <a:off x="9425233" y="3656798"/>
            <a:ext cx="24255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최근에 가장 많이 사용하는 모델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EB8D87E4-CF45-0B0A-5CB9-67A872F5E3F0}"/>
              </a:ext>
            </a:extLst>
          </p:cNvPr>
          <p:cNvSpPr/>
          <p:nvPr/>
        </p:nvSpPr>
        <p:spPr>
          <a:xfrm>
            <a:off x="6778481" y="3944929"/>
            <a:ext cx="815191" cy="184256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33" name="연결선: 구부러짐 32">
            <a:extLst>
              <a:ext uri="{FF2B5EF4-FFF2-40B4-BE49-F238E27FC236}">
                <a16:creationId xmlns:a16="http://schemas.microsoft.com/office/drawing/2014/main" id="{6B41E16D-6909-B382-B213-E36EAE147975}"/>
              </a:ext>
            </a:extLst>
          </p:cNvPr>
          <p:cNvCxnSpPr>
            <a:cxnSpLocks/>
            <a:stCxn id="27" idx="1"/>
            <a:endCxn id="32" idx="3"/>
          </p:cNvCxnSpPr>
          <p:nvPr/>
        </p:nvCxnSpPr>
        <p:spPr>
          <a:xfrm rot="10800000" flipV="1">
            <a:off x="7593673" y="3748925"/>
            <a:ext cx="450467" cy="28813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62B3E9B-5013-D2F8-BCD6-B77BA3ECE0DE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코드속성</a:t>
            </a:r>
            <a:r>
              <a:rPr lang="en-US" altLang="ko-KR" sz="2400" dirty="0">
                <a:latin typeface="+mn-ea"/>
              </a:rPr>
              <a:t> (</a:t>
            </a:r>
            <a:r>
              <a:rPr lang="ko-KR" altLang="en-US" sz="2400" dirty="0">
                <a:latin typeface="+mn-ea"/>
              </a:rPr>
              <a:t>공통코드</a:t>
            </a:r>
            <a:r>
              <a:rPr lang="en-US" altLang="ko-KR" sz="2400" dirty="0">
                <a:latin typeface="+mn-ea"/>
              </a:rPr>
              <a:t>) </a:t>
            </a:r>
            <a:r>
              <a:rPr lang="ko-KR" altLang="en-US" sz="2400" b="1" dirty="0">
                <a:latin typeface="+mn-ea"/>
              </a:rPr>
              <a:t>의 </a:t>
            </a:r>
            <a:r>
              <a:rPr lang="ko-KR" altLang="en-US" sz="2400" b="1" dirty="0" err="1">
                <a:latin typeface="+mn-ea"/>
              </a:rPr>
              <a:t>명명법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E3137D-7FF9-FE46-F1F4-CBAA449DC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144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0697348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1125066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 통합 코드 </a:t>
            </a:r>
            <a:r>
              <a:rPr lang="ko-KR" altLang="en-US" b="1" dirty="0" err="1">
                <a:latin typeface="+mn-ea"/>
              </a:rPr>
              <a:t>엔터티와</a:t>
            </a:r>
            <a:r>
              <a:rPr lang="ko-KR" altLang="en-US" b="1" dirty="0">
                <a:latin typeface="+mn-ea"/>
              </a:rPr>
              <a:t> 개별 코드 </a:t>
            </a:r>
            <a:r>
              <a:rPr lang="ko-KR" altLang="en-US" b="1" dirty="0" err="1">
                <a:latin typeface="+mn-ea"/>
              </a:rPr>
              <a:t>엔터티</a:t>
            </a:r>
            <a:endParaRPr lang="en-US" altLang="ko-KR" b="1" dirty="0">
              <a:latin typeface="+mn-ea"/>
            </a:endParaRPr>
          </a:p>
          <a:p>
            <a:pPr marL="342900" indent="-342900">
              <a:buFont typeface="+mj-lt"/>
              <a:buAutoNum type="arabicPeriod" startAt="17"/>
            </a:pPr>
            <a:endParaRPr lang="en-US" altLang="ko-KR" sz="1600" b="1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통합 코드 </a:t>
            </a:r>
            <a:r>
              <a:rPr lang="ko-KR" altLang="en-US" sz="1400" b="1" dirty="0" err="1">
                <a:solidFill>
                  <a:srgbClr val="FF0000"/>
                </a:solidFill>
                <a:latin typeface="+mn-ea"/>
              </a:rPr>
              <a:t>엔터티</a:t>
            </a:r>
            <a:endParaRPr lang="en-US" altLang="ko-KR" sz="1400" b="1" dirty="0">
              <a:solidFill>
                <a:srgbClr val="FF0000"/>
              </a:solidFill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400" dirty="0">
                <a:latin typeface="+mn-ea"/>
              </a:rPr>
              <a:t>한 종류의 코드를 개별 </a:t>
            </a:r>
            <a:r>
              <a:rPr lang="ko-KR" altLang="en-US" sz="1400" dirty="0" err="1">
                <a:latin typeface="+mn-ea"/>
              </a:rPr>
              <a:t>엔터티에서</a:t>
            </a:r>
            <a:r>
              <a:rPr lang="ko-KR" altLang="en-US" sz="1400" dirty="0">
                <a:latin typeface="+mn-ea"/>
              </a:rPr>
              <a:t> 관리하면 우선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저장 공간의 낭비</a:t>
            </a:r>
            <a:r>
              <a:rPr lang="ko-KR" altLang="en-US" sz="1400" dirty="0">
                <a:latin typeface="+mn-ea"/>
              </a:rPr>
              <a:t>가 심해진다</a:t>
            </a:r>
            <a:endParaRPr lang="en-US" altLang="ko-KR" sz="14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400" dirty="0">
                <a:latin typeface="+mn-ea"/>
              </a:rPr>
              <a:t>단지 저장 공간을 많이 사용하는 것이 문제가 아니라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조회 성능에도 영향을 끼친다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400" dirty="0">
                <a:latin typeface="+mn-ea"/>
              </a:rPr>
              <a:t>개별 </a:t>
            </a:r>
            <a:r>
              <a:rPr lang="ko-KR" altLang="en-US" sz="1400" dirty="0" err="1">
                <a:latin typeface="+mn-ea"/>
              </a:rPr>
              <a:t>엔터티에서</a:t>
            </a:r>
            <a:r>
              <a:rPr lang="ko-KR" altLang="en-US" sz="1400" dirty="0">
                <a:latin typeface="+mn-ea"/>
              </a:rPr>
              <a:t> 관리하는 것은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모델의 가독성</a:t>
            </a:r>
            <a:r>
              <a:rPr lang="ko-KR" altLang="en-US" sz="1400" dirty="0">
                <a:latin typeface="+mn-ea"/>
              </a:rPr>
              <a:t>도 나쁘게 만든다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400" dirty="0">
                <a:latin typeface="+mn-ea"/>
              </a:rPr>
              <a:t>코드 종류는 무수히 많을 수 있으므로 많은 </a:t>
            </a:r>
            <a:r>
              <a:rPr lang="ko-KR" altLang="en-US" sz="1400" dirty="0" err="1">
                <a:latin typeface="+mn-ea"/>
              </a:rPr>
              <a:t>엔터티가</a:t>
            </a:r>
            <a:r>
              <a:rPr lang="ko-KR" altLang="en-US" sz="1400" dirty="0">
                <a:latin typeface="+mn-ea"/>
              </a:rPr>
              <a:t> 도출돼 모델이 복잡해지면 </a:t>
            </a:r>
            <a:r>
              <a:rPr lang="ko-KR" altLang="en-US" sz="1400" b="1" u="sng" dirty="0" err="1">
                <a:solidFill>
                  <a:srgbClr val="FF0000"/>
                </a:solidFill>
                <a:latin typeface="+mn-ea"/>
              </a:rPr>
              <a:t>엔터티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 관리 차원</a:t>
            </a:r>
            <a:r>
              <a:rPr lang="ko-KR" altLang="en-US" sz="1400" dirty="0">
                <a:latin typeface="+mn-ea"/>
              </a:rPr>
              <a:t>에서도 좋지 않다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400" dirty="0">
                <a:latin typeface="+mn-ea"/>
              </a:rPr>
              <a:t>따라서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모든 종류의 코드 인스턴스</a:t>
            </a:r>
            <a:r>
              <a:rPr lang="ko-KR" altLang="en-US" sz="1400" dirty="0">
                <a:latin typeface="+mn-ea"/>
              </a:rPr>
              <a:t>는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하나의 </a:t>
            </a:r>
            <a:r>
              <a:rPr lang="ko-KR" altLang="en-US" sz="1400" b="1" u="sng" dirty="0" err="1">
                <a:solidFill>
                  <a:srgbClr val="FF0000"/>
                </a:solidFill>
                <a:latin typeface="+mn-ea"/>
              </a:rPr>
              <a:t>엔터티에서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 통합 관리하는 것</a:t>
            </a:r>
            <a:r>
              <a:rPr lang="ko-KR" altLang="en-US" sz="1400" dirty="0">
                <a:latin typeface="+mn-ea"/>
              </a:rPr>
              <a:t>이 바람직하다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개별 코드 </a:t>
            </a:r>
            <a:r>
              <a:rPr lang="ko-KR" altLang="en-US" sz="1400" b="1" dirty="0" err="1">
                <a:solidFill>
                  <a:srgbClr val="FF0000"/>
                </a:solidFill>
                <a:latin typeface="+mn-ea"/>
              </a:rPr>
              <a:t>엔터티</a:t>
            </a:r>
            <a:endParaRPr lang="en-US" altLang="ko-KR" sz="1400" b="1" dirty="0">
              <a:solidFill>
                <a:srgbClr val="FF0000"/>
              </a:solidFill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400" dirty="0" err="1">
                <a:latin typeface="+mn-ea"/>
              </a:rPr>
              <a:t>코드값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코드명 </a:t>
            </a:r>
            <a:r>
              <a:rPr lang="ko-KR" altLang="en-US" sz="1400" b="1" u="sng" dirty="0">
                <a:latin typeface="+mn-ea"/>
              </a:rPr>
              <a:t>이외의 관리할 속성</a:t>
            </a:r>
            <a:r>
              <a:rPr lang="ko-KR" altLang="en-US" sz="1400" dirty="0">
                <a:latin typeface="+mn-ea"/>
              </a:rPr>
              <a:t>이 있을 때 별도의 </a:t>
            </a:r>
            <a:r>
              <a:rPr lang="ko-KR" altLang="en-US" sz="1400" dirty="0" err="1">
                <a:latin typeface="+mn-ea"/>
              </a:rPr>
              <a:t>엔터티에서</a:t>
            </a:r>
            <a:r>
              <a:rPr lang="ko-KR" altLang="en-US" sz="1400" dirty="0">
                <a:latin typeface="+mn-ea"/>
              </a:rPr>
              <a:t> 관리하는 것이 좋다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400" dirty="0">
                <a:latin typeface="+mn-ea"/>
              </a:rPr>
              <a:t>코드 </a:t>
            </a:r>
            <a:r>
              <a:rPr lang="ko-KR" altLang="en-US" sz="1400" b="1" u="sng" dirty="0">
                <a:latin typeface="+mn-ea"/>
              </a:rPr>
              <a:t>인스턴스가 상당히 많을 때</a:t>
            </a:r>
            <a:r>
              <a:rPr lang="ko-KR" altLang="en-US" sz="1400" dirty="0">
                <a:latin typeface="+mn-ea"/>
              </a:rPr>
              <a:t>도 별도의 </a:t>
            </a:r>
            <a:r>
              <a:rPr lang="ko-KR" altLang="en-US" sz="1400" dirty="0" err="1">
                <a:latin typeface="+mn-ea"/>
              </a:rPr>
              <a:t>엔터티에서</a:t>
            </a:r>
            <a:r>
              <a:rPr lang="ko-KR" altLang="en-US" sz="1400" dirty="0">
                <a:latin typeface="+mn-ea"/>
              </a:rPr>
              <a:t> 관리하는 것이 좋다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400" dirty="0">
                <a:latin typeface="+mn-ea"/>
              </a:rPr>
              <a:t>코드 </a:t>
            </a:r>
            <a:r>
              <a:rPr lang="ko-KR" altLang="en-US" sz="1400" b="1" u="sng" dirty="0">
                <a:latin typeface="+mn-ea"/>
              </a:rPr>
              <a:t>인스턴스를 외부에서 받을 때</a:t>
            </a:r>
            <a:r>
              <a:rPr lang="ko-KR" altLang="en-US" sz="1400" dirty="0">
                <a:latin typeface="+mn-ea"/>
              </a:rPr>
              <a:t>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400" b="1" u="sng" dirty="0">
                <a:latin typeface="+mn-ea"/>
              </a:rPr>
              <a:t>코드 값이 자주 바뀌는 경우</a:t>
            </a:r>
            <a:r>
              <a:rPr lang="ko-KR" altLang="en-US" sz="1400" dirty="0">
                <a:latin typeface="+mn-ea"/>
              </a:rPr>
              <a:t>도 </a:t>
            </a:r>
            <a:r>
              <a:rPr lang="ko-KR" altLang="en-US" sz="1400" dirty="0" err="1">
                <a:latin typeface="+mn-ea"/>
              </a:rPr>
              <a:t>엔터티에서</a:t>
            </a:r>
            <a:r>
              <a:rPr lang="ko-KR" altLang="en-US" sz="1400" dirty="0">
                <a:latin typeface="+mn-ea"/>
              </a:rPr>
              <a:t> 별도로 관리하는 것이 좋다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400" b="1" u="sng" dirty="0">
                <a:latin typeface="+mn-ea"/>
              </a:rPr>
              <a:t>이력 데이터를 고려해야 할 때</a:t>
            </a:r>
            <a:r>
              <a:rPr lang="ko-KR" altLang="en-US" sz="1400" dirty="0">
                <a:latin typeface="+mn-ea"/>
              </a:rPr>
              <a:t>도 별도의 </a:t>
            </a:r>
            <a:r>
              <a:rPr lang="ko-KR" altLang="en-US" sz="1400" dirty="0" err="1">
                <a:latin typeface="+mn-ea"/>
              </a:rPr>
              <a:t>엔터티에서</a:t>
            </a:r>
            <a:r>
              <a:rPr lang="ko-KR" altLang="en-US" sz="1400" dirty="0">
                <a:latin typeface="+mn-ea"/>
              </a:rPr>
              <a:t> 관리하는 것이 바람직하다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E52A82-1034-5C8E-7D08-5D7CF721DB1E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코드속성</a:t>
            </a:r>
            <a:r>
              <a:rPr lang="en-US" altLang="ko-KR" sz="2400" dirty="0">
                <a:latin typeface="+mn-ea"/>
              </a:rPr>
              <a:t> (</a:t>
            </a:r>
            <a:r>
              <a:rPr lang="ko-KR" altLang="en-US" sz="2400" dirty="0">
                <a:latin typeface="+mn-ea"/>
              </a:rPr>
              <a:t>공통코드</a:t>
            </a:r>
            <a:r>
              <a:rPr lang="en-US" altLang="ko-KR" sz="2400" dirty="0">
                <a:latin typeface="+mn-ea"/>
              </a:rPr>
              <a:t>) </a:t>
            </a:r>
            <a:r>
              <a:rPr lang="ko-KR" altLang="en-US" sz="2400" b="1" dirty="0">
                <a:latin typeface="+mn-ea"/>
              </a:rPr>
              <a:t>의 </a:t>
            </a:r>
            <a:r>
              <a:rPr lang="ko-KR" altLang="en-US" sz="2400" b="1" dirty="0" err="1">
                <a:latin typeface="+mn-ea"/>
              </a:rPr>
              <a:t>명명법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173779-3503-F5B3-511C-E3D2EE9E2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145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2675734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11250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 일반적인 코드 모델</a:t>
            </a:r>
            <a:endParaRPr lang="en-US" altLang="ko-KR" b="1" dirty="0">
              <a:latin typeface="+mn-ea"/>
            </a:endParaRPr>
          </a:p>
          <a:p>
            <a:pPr marL="342900" indent="-342900">
              <a:buFont typeface="+mj-lt"/>
              <a:buAutoNum type="arabicPeriod" startAt="18"/>
            </a:pPr>
            <a:endParaRPr lang="en-US" altLang="ko-KR" sz="1600" b="1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코드 모델 </a:t>
            </a:r>
            <a:r>
              <a:rPr lang="en-US" altLang="ko-KR" sz="1400" b="1" dirty="0">
                <a:latin typeface="+mn-ea"/>
              </a:rPr>
              <a:t>#1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코드 </a:t>
            </a:r>
            <a:r>
              <a:rPr lang="ko-KR" altLang="en-US" sz="1400" dirty="0" err="1">
                <a:latin typeface="+mn-ea"/>
              </a:rPr>
              <a:t>엔터티는</a:t>
            </a:r>
            <a:r>
              <a:rPr lang="ko-KR" altLang="en-US" sz="1400" dirty="0">
                <a:latin typeface="+mn-ea"/>
              </a:rPr>
              <a:t> 일반적인 </a:t>
            </a:r>
            <a:r>
              <a:rPr lang="ko-KR" altLang="en-US" sz="1400" dirty="0" err="1">
                <a:latin typeface="+mn-ea"/>
              </a:rPr>
              <a:t>엔터티와</a:t>
            </a:r>
            <a:r>
              <a:rPr lang="ko-KR" altLang="en-US" sz="1400" dirty="0">
                <a:latin typeface="+mn-ea"/>
              </a:rPr>
              <a:t> 성격이 다르다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데이터의 성격을 파악해 </a:t>
            </a:r>
            <a:r>
              <a:rPr lang="ko-KR" altLang="en-US" sz="1400" dirty="0" err="1">
                <a:latin typeface="+mn-ea"/>
              </a:rPr>
              <a:t>엔터티를</a:t>
            </a:r>
            <a:r>
              <a:rPr lang="ko-KR" altLang="en-US" sz="1400" dirty="0">
                <a:latin typeface="+mn-ea"/>
              </a:rPr>
              <a:t> 도출하기 보다는 관리하기 쉬운 방법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애플리케이션에서 사용하기 편리한 방법으로 </a:t>
            </a:r>
            <a:r>
              <a:rPr lang="ko-KR" altLang="en-US" sz="1400" dirty="0" err="1">
                <a:latin typeface="+mn-ea"/>
              </a:rPr>
              <a:t>엔터티를</a:t>
            </a:r>
            <a:r>
              <a:rPr lang="ko-KR" altLang="en-US" sz="1400" dirty="0">
                <a:latin typeface="+mn-ea"/>
              </a:rPr>
              <a:t> 설계해야 한다</a:t>
            </a:r>
            <a:r>
              <a:rPr lang="en-US" altLang="ko-KR" sz="1400" dirty="0">
                <a:latin typeface="+mn-ea"/>
              </a:rPr>
              <a:t>.  </a:t>
            </a:r>
            <a:r>
              <a:rPr lang="ko-KR" altLang="en-US" sz="1400" dirty="0">
                <a:latin typeface="+mn-ea"/>
              </a:rPr>
              <a:t>따라서 모델 구조 뿐만 아니라 데이터를 어떻게 생성할 것인지도 중요하다</a:t>
            </a:r>
            <a:r>
              <a:rPr lang="en-US" altLang="ko-KR" sz="1400" dirty="0">
                <a:latin typeface="+mn-ea"/>
              </a:rPr>
              <a:t>. 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 </a:t>
            </a:r>
            <a:endParaRPr lang="en-US" altLang="ko-KR" sz="140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39F58AF-937E-39FB-B503-4593DBD88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162" y="3088336"/>
            <a:ext cx="2753109" cy="101931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8E6D783-4ED0-C92B-45C0-690470480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002" y="4519934"/>
            <a:ext cx="3953427" cy="15813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1DC44D-5B55-83F9-BBA8-F98C153C5A7A}"/>
              </a:ext>
            </a:extLst>
          </p:cNvPr>
          <p:cNvSpPr txBox="1"/>
          <p:nvPr/>
        </p:nvSpPr>
        <p:spPr>
          <a:xfrm>
            <a:off x="6290985" y="2943436"/>
            <a:ext cx="5229091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chemeClr val="tx2"/>
                </a:solidFill>
                <a:latin typeface="Consolas" panose="020B0609020204030204" pitchFamily="49" charset="0"/>
              </a:rPr>
              <a:t>1. </a:t>
            </a:r>
            <a:r>
              <a:rPr lang="ko-KR" altLang="en-US" sz="1200" b="1" dirty="0">
                <a:solidFill>
                  <a:schemeClr val="tx2"/>
                </a:solidFill>
                <a:latin typeface="Consolas" panose="020B0609020204030204" pitchFamily="49" charset="0"/>
              </a:rPr>
              <a:t>만약 화면에서 매도와 매수를 선택하는 리스트박스가 존재하면 </a:t>
            </a:r>
            <a:endParaRPr lang="en-US" altLang="ko-KR" sz="1200" b="1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ko-KR" altLang="en-US" sz="1200" b="1" dirty="0">
                <a:solidFill>
                  <a:schemeClr val="tx2"/>
                </a:solidFill>
                <a:latin typeface="Consolas" panose="020B0609020204030204" pitchFamily="49" charset="0"/>
              </a:rPr>
              <a:t>다음과 같이 사용할 수 있다. </a:t>
            </a:r>
            <a:endParaRPr lang="en-US" altLang="ko-KR" sz="1200" b="1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endParaRPr lang="ko-KR" altLang="en-US" sz="1100" dirty="0">
              <a:latin typeface="Consolas" panose="020B0609020204030204" pitchFamily="49" charset="0"/>
            </a:endParaRPr>
          </a:p>
          <a:p>
            <a:r>
              <a:rPr lang="ko-KR" altLang="en-US" sz="1100" dirty="0">
                <a:latin typeface="Consolas" panose="020B0609020204030204" pitchFamily="49" charset="0"/>
              </a:rPr>
              <a:t>SELECT 코드 </a:t>
            </a:r>
            <a:endParaRPr lang="en-US" altLang="ko-KR" sz="1100" dirty="0">
              <a:latin typeface="Consolas" panose="020B0609020204030204" pitchFamily="49" charset="0"/>
            </a:endParaRPr>
          </a:p>
          <a:p>
            <a:r>
              <a:rPr lang="en-US" altLang="ko-KR" sz="1100" dirty="0">
                <a:latin typeface="Consolas" panose="020B0609020204030204" pitchFamily="49" charset="0"/>
              </a:rPr>
              <a:t>     </a:t>
            </a:r>
            <a:r>
              <a:rPr lang="ko-KR" altLang="en-US" sz="1100" dirty="0">
                <a:latin typeface="Consolas" panose="020B0609020204030204" pitchFamily="49" charset="0"/>
              </a:rPr>
              <a:t>, 코드명 </a:t>
            </a:r>
          </a:p>
          <a:p>
            <a:r>
              <a:rPr lang="ko-KR" altLang="en-US" sz="1100" dirty="0">
                <a:latin typeface="Consolas" panose="020B0609020204030204" pitchFamily="49" charset="0"/>
              </a:rPr>
              <a:t>  FROM [코드</a:t>
            </a:r>
            <a:r>
              <a:rPr lang="en-US" altLang="ko-KR" sz="1100" dirty="0">
                <a:latin typeface="Consolas" panose="020B0609020204030204" pitchFamily="49" charset="0"/>
              </a:rPr>
              <a:t>]</a:t>
            </a:r>
            <a:endParaRPr lang="ko-KR" altLang="en-US" sz="1100" dirty="0">
              <a:latin typeface="Consolas" panose="020B0609020204030204" pitchFamily="49" charset="0"/>
            </a:endParaRPr>
          </a:p>
          <a:p>
            <a:r>
              <a:rPr lang="ko-KR" altLang="en-US" sz="1100" dirty="0">
                <a:latin typeface="Consolas" panose="020B0609020204030204" pitchFamily="49" charset="0"/>
              </a:rPr>
              <a:t> WHERE 코드유형번호 =  </a:t>
            </a:r>
            <a:r>
              <a:rPr lang="en-US" altLang="ko-KR" sz="1100" dirty="0">
                <a:latin typeface="Consolas" panose="020B0609020204030204" pitchFamily="49" charset="0"/>
              </a:rPr>
              <a:t>‘</a:t>
            </a:r>
            <a:r>
              <a:rPr lang="ko-KR" altLang="en-US" sz="1100" dirty="0">
                <a:latin typeface="Consolas" panose="020B0609020204030204" pitchFamily="49" charset="0"/>
              </a:rPr>
              <a:t>001</a:t>
            </a:r>
            <a:r>
              <a:rPr lang="en-US" altLang="ko-KR" sz="1100" dirty="0">
                <a:latin typeface="Consolas" panose="020B0609020204030204" pitchFamily="49" charset="0"/>
              </a:rPr>
              <a:t>’ </a:t>
            </a:r>
            <a:r>
              <a:rPr lang="ko-KR" altLang="en-US" sz="1100" dirty="0">
                <a:latin typeface="Consolas" panose="020B0609020204030204" pitchFamily="49" charset="0"/>
              </a:rPr>
              <a:t>/* 매수매도구분코드 </a:t>
            </a:r>
            <a:r>
              <a:rPr lang="en-US" altLang="ko-KR" sz="1100" dirty="0">
                <a:latin typeface="Consolas" panose="020B0609020204030204" pitchFamily="49" charset="0"/>
              </a:rPr>
              <a:t>*/</a:t>
            </a:r>
            <a:endParaRPr lang="ko-KR" altLang="en-US" sz="1100" dirty="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B1B80-43DE-B867-65EE-8FA5AB15B38D}"/>
              </a:ext>
            </a:extLst>
          </p:cNvPr>
          <p:cNvSpPr txBox="1"/>
          <p:nvPr/>
        </p:nvSpPr>
        <p:spPr>
          <a:xfrm>
            <a:off x="6290986" y="4477592"/>
            <a:ext cx="522909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chemeClr val="tx2"/>
                </a:solidFill>
                <a:latin typeface="Consolas" panose="020B0609020204030204" pitchFamily="49" charset="0"/>
              </a:rPr>
              <a:t>2. </a:t>
            </a:r>
            <a:r>
              <a:rPr lang="ko-KR" altLang="en-US" sz="1200" b="1" dirty="0">
                <a:solidFill>
                  <a:schemeClr val="tx2"/>
                </a:solidFill>
                <a:latin typeface="Consolas" panose="020B0609020204030204" pitchFamily="49" charset="0"/>
              </a:rPr>
              <a:t>반면에 데이터를 보여주는 목록 화면이나 </a:t>
            </a:r>
            <a:endParaRPr lang="en-US" altLang="ko-KR" sz="1200" b="1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ko-KR" altLang="en-US" sz="1200" b="1" dirty="0">
                <a:solidFill>
                  <a:schemeClr val="tx2"/>
                </a:solidFill>
                <a:latin typeface="Consolas" panose="020B0609020204030204" pitchFamily="49" charset="0"/>
              </a:rPr>
              <a:t>상세 화면에서는 아래와 같은 쿼리를 사용한다. </a:t>
            </a:r>
            <a:endParaRPr lang="en-US" altLang="ko-KR" sz="1200" b="1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endParaRPr lang="ko-KR" altLang="en-US" sz="1100" dirty="0">
              <a:latin typeface="Consolas" panose="020B0609020204030204" pitchFamily="49" charset="0"/>
            </a:endParaRPr>
          </a:p>
          <a:p>
            <a:r>
              <a:rPr lang="ko-KR" altLang="en-US" sz="1100" dirty="0">
                <a:latin typeface="Consolas" panose="020B0609020204030204" pitchFamily="49" charset="0"/>
              </a:rPr>
              <a:t>SELECT </a:t>
            </a:r>
            <a:r>
              <a:rPr lang="ko-KR" altLang="en-US" sz="1100" dirty="0" err="1">
                <a:latin typeface="Consolas" panose="020B0609020204030204" pitchFamily="49" charset="0"/>
              </a:rPr>
              <a:t>A</a:t>
            </a:r>
            <a:r>
              <a:rPr lang="ko-KR" altLang="en-US" sz="1100" dirty="0">
                <a:latin typeface="Consolas" panose="020B0609020204030204" pitchFamily="49" charset="0"/>
              </a:rPr>
              <a:t> .계 좌 번 호 </a:t>
            </a:r>
            <a:endParaRPr lang="en-US" altLang="ko-KR" sz="1100" dirty="0">
              <a:latin typeface="Consolas" panose="020B0609020204030204" pitchFamily="49" charset="0"/>
            </a:endParaRPr>
          </a:p>
          <a:p>
            <a:r>
              <a:rPr lang="en-US" altLang="ko-KR" sz="1100" dirty="0">
                <a:latin typeface="Consolas" panose="020B0609020204030204" pitchFamily="49" charset="0"/>
              </a:rPr>
              <a:t>     </a:t>
            </a:r>
            <a:r>
              <a:rPr lang="ko-KR" altLang="en-US" sz="1100" dirty="0">
                <a:latin typeface="Consolas" panose="020B0609020204030204" pitchFamily="49" charset="0"/>
              </a:rPr>
              <a:t>, </a:t>
            </a:r>
            <a:r>
              <a:rPr lang="ko-KR" altLang="en-US" sz="1100" dirty="0" err="1">
                <a:latin typeface="Consolas" panose="020B0609020204030204" pitchFamily="49" charset="0"/>
              </a:rPr>
              <a:t>B</a:t>
            </a:r>
            <a:r>
              <a:rPr lang="ko-KR" altLang="en-US" sz="1100" dirty="0">
                <a:latin typeface="Consolas" panose="020B0609020204030204" pitchFamily="49" charset="0"/>
              </a:rPr>
              <a:t>. 코드명 </a:t>
            </a:r>
          </a:p>
          <a:p>
            <a:r>
              <a:rPr lang="ko-KR" altLang="en-US" sz="1100" dirty="0">
                <a:latin typeface="Consolas" panose="020B0609020204030204" pitchFamily="49" charset="0"/>
              </a:rPr>
              <a:t>  FROM [거래내역] </a:t>
            </a:r>
            <a:r>
              <a:rPr lang="ko-KR" altLang="en-US" sz="1100" dirty="0" err="1">
                <a:latin typeface="Consolas" panose="020B0609020204030204" pitchFamily="49" charset="0"/>
              </a:rPr>
              <a:t>A</a:t>
            </a:r>
            <a:endParaRPr lang="en-US" altLang="ko-KR" sz="1100" dirty="0">
              <a:latin typeface="Consolas" panose="020B0609020204030204" pitchFamily="49" charset="0"/>
            </a:endParaRPr>
          </a:p>
          <a:p>
            <a:r>
              <a:rPr lang="en-US" altLang="ko-KR" sz="1100" dirty="0">
                <a:latin typeface="Consolas" panose="020B0609020204030204" pitchFamily="49" charset="0"/>
              </a:rPr>
              <a:t>     </a:t>
            </a:r>
            <a:r>
              <a:rPr lang="ko-KR" altLang="en-US" sz="1100" dirty="0">
                <a:latin typeface="Consolas" panose="020B0609020204030204" pitchFamily="49" charset="0"/>
              </a:rPr>
              <a:t>, [코드</a:t>
            </a:r>
            <a:r>
              <a:rPr lang="en-US" altLang="ko-KR" sz="1100" dirty="0">
                <a:latin typeface="Consolas" panose="020B0609020204030204" pitchFamily="49" charset="0"/>
              </a:rPr>
              <a:t>]</a:t>
            </a:r>
            <a:r>
              <a:rPr lang="ko-KR" altLang="en-US" sz="1100" dirty="0">
                <a:latin typeface="Consolas" panose="020B0609020204030204" pitchFamily="49" charset="0"/>
              </a:rPr>
              <a:t>     </a:t>
            </a:r>
            <a:r>
              <a:rPr lang="ko-KR" altLang="en-US" sz="1100" dirty="0" err="1">
                <a:latin typeface="Consolas" panose="020B0609020204030204" pitchFamily="49" charset="0"/>
              </a:rPr>
              <a:t>B</a:t>
            </a:r>
            <a:r>
              <a:rPr lang="ko-KR" altLang="en-US" sz="1100" dirty="0">
                <a:latin typeface="Consolas" panose="020B0609020204030204" pitchFamily="49" charset="0"/>
              </a:rPr>
              <a:t> </a:t>
            </a:r>
          </a:p>
          <a:p>
            <a:r>
              <a:rPr lang="ko-KR" altLang="en-US" sz="1100" dirty="0">
                <a:latin typeface="Consolas" panose="020B0609020204030204" pitchFamily="49" charset="0"/>
              </a:rPr>
              <a:t> WHERE </a:t>
            </a:r>
            <a:r>
              <a:rPr lang="ko-KR" altLang="en-US" sz="1100" dirty="0" err="1">
                <a:latin typeface="Consolas" panose="020B0609020204030204" pitchFamily="49" charset="0"/>
              </a:rPr>
              <a:t>A.매수매도구분코드</a:t>
            </a:r>
            <a:r>
              <a:rPr lang="ko-KR" altLang="en-US" sz="1100" dirty="0">
                <a:latin typeface="Consolas" panose="020B0609020204030204" pitchFamily="49" charset="0"/>
              </a:rPr>
              <a:t> = </a:t>
            </a:r>
            <a:r>
              <a:rPr lang="ko-KR" altLang="en-US" sz="1100" dirty="0" err="1">
                <a:latin typeface="Consolas" panose="020B0609020204030204" pitchFamily="49" charset="0"/>
              </a:rPr>
              <a:t>B.코드</a:t>
            </a:r>
            <a:endParaRPr lang="ko-KR" altLang="en-US" sz="1100" dirty="0">
              <a:latin typeface="Consolas" panose="020B0609020204030204" pitchFamily="49" charset="0"/>
            </a:endParaRPr>
          </a:p>
          <a:p>
            <a:r>
              <a:rPr lang="ko-KR" altLang="en-US" sz="1100" dirty="0">
                <a:latin typeface="Consolas" panose="020B0609020204030204" pitchFamily="49" charset="0"/>
              </a:rPr>
              <a:t>   AND </a:t>
            </a:r>
            <a:r>
              <a:rPr lang="ko-KR" altLang="en-US" sz="1100" dirty="0" err="1">
                <a:latin typeface="Consolas" panose="020B0609020204030204" pitchFamily="49" charset="0"/>
              </a:rPr>
              <a:t>B.코드유형번호</a:t>
            </a:r>
            <a:r>
              <a:rPr lang="ko-KR" altLang="en-US" sz="1100" dirty="0">
                <a:latin typeface="Consolas" panose="020B0609020204030204" pitchFamily="49" charset="0"/>
              </a:rPr>
              <a:t>     = </a:t>
            </a:r>
            <a:r>
              <a:rPr lang="en-US" altLang="ko-KR" sz="1100" dirty="0">
                <a:latin typeface="Consolas" panose="020B0609020204030204" pitchFamily="49" charset="0"/>
              </a:rPr>
              <a:t>‘</a:t>
            </a:r>
            <a:r>
              <a:rPr lang="ko-KR" altLang="en-US" sz="1100" dirty="0">
                <a:latin typeface="Consolas" panose="020B0609020204030204" pitchFamily="49" charset="0"/>
              </a:rPr>
              <a:t>001</a:t>
            </a:r>
            <a:r>
              <a:rPr lang="en-US" altLang="ko-KR" sz="1100" dirty="0">
                <a:latin typeface="Consolas" panose="020B0609020204030204" pitchFamily="49" charset="0"/>
              </a:rPr>
              <a:t>’</a:t>
            </a:r>
            <a:r>
              <a:rPr lang="ko-KR" altLang="en-US" sz="1100" dirty="0">
                <a:latin typeface="Consolas" panose="020B0609020204030204" pitchFamily="49" charset="0"/>
              </a:rPr>
              <a:t> /* 매수매도구분코드 </a:t>
            </a:r>
            <a:r>
              <a:rPr lang="en-US" altLang="ko-KR" sz="1100" dirty="0">
                <a:latin typeface="Consolas" panose="020B0609020204030204" pitchFamily="49" charset="0"/>
              </a:rPr>
              <a:t>*/</a:t>
            </a:r>
            <a:endParaRPr lang="ko-KR" altLang="en-US" sz="1100" dirty="0">
              <a:latin typeface="Consolas" panose="020B0609020204030204" pitchFamily="49" charset="0"/>
            </a:endParaRPr>
          </a:p>
          <a:p>
            <a:r>
              <a:rPr lang="ko-KR" altLang="en-US" sz="1100" dirty="0">
                <a:latin typeface="Consolas" panose="020B0609020204030204" pitchFamily="49" charset="0"/>
              </a:rPr>
              <a:t>   AND </a:t>
            </a:r>
            <a:r>
              <a:rPr lang="ko-KR" altLang="en-US" sz="1100" dirty="0" err="1">
                <a:latin typeface="Consolas" panose="020B0609020204030204" pitchFamily="49" charset="0"/>
              </a:rPr>
              <a:t>A.계좌번호</a:t>
            </a:r>
            <a:r>
              <a:rPr lang="ko-KR" altLang="en-US" sz="1100" dirty="0">
                <a:latin typeface="Consolas" panose="020B0609020204030204" pitchFamily="49" charset="0"/>
              </a:rPr>
              <a:t>         = </a:t>
            </a:r>
            <a:r>
              <a:rPr lang="en-US" altLang="ko-KR" sz="1100" dirty="0">
                <a:latin typeface="Consolas" panose="020B0609020204030204" pitchFamily="49" charset="0"/>
              </a:rPr>
              <a:t>‘</a:t>
            </a:r>
            <a:r>
              <a:rPr lang="ko-KR" altLang="en-US" sz="1100" dirty="0">
                <a:latin typeface="Consolas" panose="020B0609020204030204" pitchFamily="49" charset="0"/>
              </a:rPr>
              <a:t>123456789</a:t>
            </a:r>
            <a:r>
              <a:rPr lang="en-US" altLang="ko-KR" sz="1100" dirty="0">
                <a:latin typeface="Consolas" panose="020B0609020204030204" pitchFamily="49" charset="0"/>
              </a:rPr>
              <a:t>’</a:t>
            </a:r>
            <a:r>
              <a:rPr lang="ko-KR" altLang="en-US" sz="1100" dirty="0">
                <a:latin typeface="Consolas" panose="020B0609020204030204" pitchFamily="49" charset="0"/>
              </a:rPr>
              <a:t> 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E9C136-1375-31A6-C830-1D807D207E14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코드속성</a:t>
            </a:r>
            <a:r>
              <a:rPr lang="en-US" altLang="ko-KR" sz="2400" dirty="0">
                <a:latin typeface="+mn-ea"/>
              </a:rPr>
              <a:t> (</a:t>
            </a:r>
            <a:r>
              <a:rPr lang="ko-KR" altLang="en-US" sz="2400" dirty="0">
                <a:latin typeface="+mn-ea"/>
              </a:rPr>
              <a:t>공통코드</a:t>
            </a:r>
            <a:r>
              <a:rPr lang="en-US" altLang="ko-KR" sz="2400" dirty="0">
                <a:latin typeface="+mn-ea"/>
              </a:rPr>
              <a:t>) </a:t>
            </a:r>
            <a:r>
              <a:rPr lang="ko-KR" altLang="en-US" sz="2400" b="1" dirty="0">
                <a:latin typeface="+mn-ea"/>
              </a:rPr>
              <a:t>의 </a:t>
            </a:r>
            <a:r>
              <a:rPr lang="ko-KR" altLang="en-US" sz="2400" b="1" dirty="0" err="1">
                <a:latin typeface="+mn-ea"/>
              </a:rPr>
              <a:t>명명법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821F91-4979-D87B-536A-7B963E854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146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1576579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11250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 일반적인 코드 모델</a:t>
            </a:r>
            <a:endParaRPr lang="en-US" altLang="ko-KR" b="1" dirty="0">
              <a:latin typeface="+mn-ea"/>
            </a:endParaRPr>
          </a:p>
          <a:p>
            <a:pPr marL="342900" indent="-342900">
              <a:buFont typeface="+mj-lt"/>
              <a:buAutoNum type="arabicPeriod" startAt="18"/>
            </a:pPr>
            <a:endParaRPr lang="en-US" altLang="ko-KR" sz="1600" b="1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코드 모델 </a:t>
            </a:r>
            <a:r>
              <a:rPr lang="en-US" altLang="ko-KR" sz="1400" b="1" dirty="0">
                <a:latin typeface="+mn-ea"/>
              </a:rPr>
              <a:t>#2</a:t>
            </a:r>
            <a:endParaRPr lang="en-US" altLang="ko-KR" sz="1400" dirty="0">
              <a:latin typeface="+mn-ea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코드유형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주 식별자인 코드유형코드 속성 값에 코드 속성의 물리 명을 사용하는 것이다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주 식별자에 무의미한 번호를 사용하는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</a:t>
            </a:r>
            <a:r>
              <a:rPr lang="en-US" altLang="ko-KR" sz="1400" dirty="0">
                <a:latin typeface="+mn-ea"/>
              </a:rPr>
              <a:t>4.95] </a:t>
            </a:r>
            <a:r>
              <a:rPr lang="ko-KR" altLang="en-US" sz="1400" dirty="0">
                <a:latin typeface="+mn-ea"/>
              </a:rPr>
              <a:t>모델과 달리 유의미한 물리 명을 사용하는 것이 다르다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이에 대한 릴레이션은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4.98]</a:t>
            </a:r>
            <a:r>
              <a:rPr lang="ko-KR" altLang="en-US" sz="1400" dirty="0">
                <a:latin typeface="+mn-ea"/>
              </a:rPr>
              <a:t>과 같다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1DC44D-5B55-83F9-BBA8-F98C153C5A7A}"/>
              </a:ext>
            </a:extLst>
          </p:cNvPr>
          <p:cNvSpPr txBox="1"/>
          <p:nvPr/>
        </p:nvSpPr>
        <p:spPr>
          <a:xfrm>
            <a:off x="6290985" y="2933911"/>
            <a:ext cx="5229091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chemeClr val="tx2"/>
                </a:solidFill>
                <a:latin typeface="Consolas" panose="020B0609020204030204" pitchFamily="49" charset="0"/>
              </a:rPr>
              <a:t>1. </a:t>
            </a:r>
            <a:r>
              <a:rPr lang="ko-KR" altLang="en-US" sz="1200" b="1" dirty="0">
                <a:solidFill>
                  <a:schemeClr val="tx2"/>
                </a:solidFill>
                <a:latin typeface="Consolas" panose="020B0609020204030204" pitchFamily="49" charset="0"/>
              </a:rPr>
              <a:t>만약 화면에서 매도와 매수를 선택하는 리스트박스가 존재하면 </a:t>
            </a:r>
            <a:endParaRPr lang="en-US" altLang="ko-KR" sz="1200" b="1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ko-KR" altLang="en-US" sz="1200" b="1" dirty="0">
                <a:solidFill>
                  <a:schemeClr val="tx2"/>
                </a:solidFill>
                <a:latin typeface="Consolas" panose="020B0609020204030204" pitchFamily="49" charset="0"/>
              </a:rPr>
              <a:t>다음과 같이 사용할 수 있다. </a:t>
            </a:r>
            <a:endParaRPr lang="en-US" altLang="ko-KR" sz="1200" b="1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endParaRPr lang="ko-KR" altLang="en-US" sz="1100" dirty="0">
              <a:latin typeface="Consolas" panose="020B0609020204030204" pitchFamily="49" charset="0"/>
            </a:endParaRPr>
          </a:p>
          <a:p>
            <a:r>
              <a:rPr lang="en-US" altLang="ko-KR" sz="1100" dirty="0">
                <a:latin typeface="Consolas" panose="020B0609020204030204" pitchFamily="49" charset="0"/>
              </a:rPr>
              <a:t>SELECT </a:t>
            </a:r>
            <a:r>
              <a:rPr lang="ko-KR" altLang="en-US" sz="1100" dirty="0">
                <a:latin typeface="Consolas" panose="020B0609020204030204" pitchFamily="49" charset="0"/>
              </a:rPr>
              <a:t>코드 </a:t>
            </a:r>
            <a:endParaRPr lang="en-US" altLang="ko-KR" sz="1100" dirty="0">
              <a:latin typeface="Consolas" panose="020B0609020204030204" pitchFamily="49" charset="0"/>
            </a:endParaRPr>
          </a:p>
          <a:p>
            <a:r>
              <a:rPr lang="en-US" altLang="ko-KR" sz="1100" dirty="0">
                <a:latin typeface="Consolas" panose="020B0609020204030204" pitchFamily="49" charset="0"/>
              </a:rPr>
              <a:t>     , </a:t>
            </a:r>
            <a:r>
              <a:rPr lang="ko-KR" altLang="en-US" sz="1100" dirty="0">
                <a:latin typeface="Consolas" panose="020B0609020204030204" pitchFamily="49" charset="0"/>
              </a:rPr>
              <a:t>코드명 </a:t>
            </a:r>
          </a:p>
          <a:p>
            <a:r>
              <a:rPr lang="en-US" altLang="ko-KR" sz="1100" dirty="0">
                <a:latin typeface="Consolas" panose="020B0609020204030204" pitchFamily="49" charset="0"/>
              </a:rPr>
              <a:t>  FROM [</a:t>
            </a:r>
            <a:r>
              <a:rPr lang="ko-KR" altLang="en-US" sz="1100" dirty="0">
                <a:latin typeface="Consolas" panose="020B0609020204030204" pitchFamily="49" charset="0"/>
              </a:rPr>
              <a:t>코드</a:t>
            </a:r>
            <a:r>
              <a:rPr lang="en-US" altLang="ko-KR" sz="1100" dirty="0"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1100" dirty="0">
                <a:latin typeface="Consolas" panose="020B0609020204030204" pitchFamily="49" charset="0"/>
              </a:rPr>
              <a:t> WHERE </a:t>
            </a:r>
            <a:r>
              <a:rPr lang="ko-KR" altLang="en-US" sz="1100" dirty="0">
                <a:latin typeface="Consolas" panose="020B0609020204030204" pitchFamily="49" charset="0"/>
              </a:rPr>
              <a:t>코드유형코드 </a:t>
            </a:r>
            <a:r>
              <a:rPr lang="en-US" altLang="ko-KR" sz="1100" dirty="0">
                <a:latin typeface="Consolas" panose="020B0609020204030204" pitchFamily="49" charset="0"/>
              </a:rPr>
              <a:t>=‘BS_CD’ /* </a:t>
            </a:r>
            <a:r>
              <a:rPr lang="ko-KR" altLang="en-US" sz="1100" dirty="0">
                <a:latin typeface="Consolas" panose="020B0609020204030204" pitchFamily="49" charset="0"/>
              </a:rPr>
              <a:t>매수매도구분코드 </a:t>
            </a:r>
            <a:r>
              <a:rPr lang="en-US" altLang="ko-KR" sz="1100" dirty="0">
                <a:latin typeface="Consolas" panose="020B0609020204030204" pitchFamily="49" charset="0"/>
              </a:rPr>
              <a:t>*/</a:t>
            </a:r>
            <a:endParaRPr lang="ko-KR" altLang="en-US" sz="1100" dirty="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B1B80-43DE-B867-65EE-8FA5AB15B38D}"/>
              </a:ext>
            </a:extLst>
          </p:cNvPr>
          <p:cNvSpPr txBox="1"/>
          <p:nvPr/>
        </p:nvSpPr>
        <p:spPr>
          <a:xfrm>
            <a:off x="6290986" y="4468067"/>
            <a:ext cx="522909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chemeClr val="tx2"/>
                </a:solidFill>
                <a:latin typeface="Consolas" panose="020B0609020204030204" pitchFamily="49" charset="0"/>
              </a:rPr>
              <a:t>2. </a:t>
            </a:r>
            <a:r>
              <a:rPr lang="ko-KR" altLang="en-US" sz="1200" b="1" dirty="0">
                <a:solidFill>
                  <a:schemeClr val="tx2"/>
                </a:solidFill>
                <a:latin typeface="Consolas" panose="020B0609020204030204" pitchFamily="49" charset="0"/>
              </a:rPr>
              <a:t>반면에 데이터를 보여주는 목록 화면이나 </a:t>
            </a:r>
            <a:endParaRPr lang="en-US" altLang="ko-KR" sz="1200" b="1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ko-KR" altLang="en-US" sz="1200" b="1" dirty="0">
                <a:solidFill>
                  <a:schemeClr val="tx2"/>
                </a:solidFill>
                <a:latin typeface="Consolas" panose="020B0609020204030204" pitchFamily="49" charset="0"/>
              </a:rPr>
              <a:t>상세 화면에서는 아래와 같은 쿼리를 사용한다. </a:t>
            </a:r>
            <a:endParaRPr lang="en-US" altLang="ko-KR" sz="1200" b="1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endParaRPr lang="ko-KR" altLang="en-US" sz="1100" dirty="0">
              <a:latin typeface="Consolas" panose="020B0609020204030204" pitchFamily="49" charset="0"/>
            </a:endParaRPr>
          </a:p>
          <a:p>
            <a:r>
              <a:rPr lang="en-US" altLang="ko-KR" sz="1100" dirty="0">
                <a:latin typeface="Consolas" panose="020B0609020204030204" pitchFamily="49" charset="0"/>
              </a:rPr>
              <a:t>SELECT A.</a:t>
            </a:r>
            <a:r>
              <a:rPr lang="ko-KR" altLang="en-US" sz="1100" dirty="0">
                <a:latin typeface="Consolas" panose="020B0609020204030204" pitchFamily="49" charset="0"/>
              </a:rPr>
              <a:t>계좌번호 </a:t>
            </a:r>
            <a:endParaRPr lang="en-US" altLang="ko-KR" sz="1100" dirty="0">
              <a:latin typeface="Consolas" panose="020B0609020204030204" pitchFamily="49" charset="0"/>
            </a:endParaRPr>
          </a:p>
          <a:p>
            <a:r>
              <a:rPr lang="en-US" altLang="ko-KR" sz="1100" dirty="0">
                <a:latin typeface="Consolas" panose="020B0609020204030204" pitchFamily="49" charset="0"/>
              </a:rPr>
              <a:t>     , B.</a:t>
            </a:r>
            <a:r>
              <a:rPr lang="ko-KR" altLang="en-US" sz="1100" dirty="0">
                <a:latin typeface="Consolas" panose="020B0609020204030204" pitchFamily="49" charset="0"/>
              </a:rPr>
              <a:t>코드명 </a:t>
            </a:r>
          </a:p>
          <a:p>
            <a:r>
              <a:rPr lang="en-US" altLang="ko-KR" sz="1100" dirty="0">
                <a:latin typeface="Consolas" panose="020B0609020204030204" pitchFamily="49" charset="0"/>
              </a:rPr>
              <a:t>  FROM [</a:t>
            </a:r>
            <a:r>
              <a:rPr lang="ko-KR" altLang="en-US" sz="1100" dirty="0">
                <a:latin typeface="Consolas" panose="020B0609020204030204" pitchFamily="49" charset="0"/>
              </a:rPr>
              <a:t>거래내역</a:t>
            </a:r>
            <a:r>
              <a:rPr lang="en-US" altLang="ko-KR" sz="1100" dirty="0">
                <a:latin typeface="Consolas" panose="020B0609020204030204" pitchFamily="49" charset="0"/>
              </a:rPr>
              <a:t>] A</a:t>
            </a:r>
          </a:p>
          <a:p>
            <a:r>
              <a:rPr lang="en-US" altLang="ko-KR" sz="1100" dirty="0">
                <a:latin typeface="Consolas" panose="020B0609020204030204" pitchFamily="49" charset="0"/>
              </a:rPr>
              <a:t>     , [</a:t>
            </a:r>
            <a:r>
              <a:rPr lang="ko-KR" altLang="en-US" sz="1100" dirty="0">
                <a:latin typeface="Consolas" panose="020B0609020204030204" pitchFamily="49" charset="0"/>
              </a:rPr>
              <a:t>코드</a:t>
            </a:r>
            <a:r>
              <a:rPr lang="en-US" altLang="ko-KR" sz="1100" dirty="0">
                <a:latin typeface="Consolas" panose="020B0609020204030204" pitchFamily="49" charset="0"/>
              </a:rPr>
              <a:t>]     B </a:t>
            </a:r>
          </a:p>
          <a:p>
            <a:r>
              <a:rPr lang="en-US" altLang="ko-KR" sz="1100" dirty="0">
                <a:latin typeface="Consolas" panose="020B0609020204030204" pitchFamily="49" charset="0"/>
              </a:rPr>
              <a:t> WHERE A.</a:t>
            </a:r>
            <a:r>
              <a:rPr lang="ko-KR" altLang="en-US" sz="1100" dirty="0">
                <a:latin typeface="Consolas" panose="020B0609020204030204" pitchFamily="49" charset="0"/>
              </a:rPr>
              <a:t>매수매도구분코드 </a:t>
            </a:r>
            <a:r>
              <a:rPr lang="en-US" altLang="ko-KR" sz="1100" dirty="0">
                <a:latin typeface="Consolas" panose="020B0609020204030204" pitchFamily="49" charset="0"/>
              </a:rPr>
              <a:t>= B.</a:t>
            </a:r>
            <a:r>
              <a:rPr lang="ko-KR" altLang="en-US" sz="1100" dirty="0">
                <a:latin typeface="Consolas" panose="020B0609020204030204" pitchFamily="49" charset="0"/>
              </a:rPr>
              <a:t>코드</a:t>
            </a:r>
          </a:p>
          <a:p>
            <a:r>
              <a:rPr lang="en-US" altLang="ko-KR" sz="1100" dirty="0">
                <a:latin typeface="Consolas" panose="020B0609020204030204" pitchFamily="49" charset="0"/>
              </a:rPr>
              <a:t>   AND B.</a:t>
            </a:r>
            <a:r>
              <a:rPr lang="ko-KR" altLang="en-US" sz="1100" dirty="0">
                <a:latin typeface="Consolas" panose="020B0609020204030204" pitchFamily="49" charset="0"/>
              </a:rPr>
              <a:t>코드유형코드     </a:t>
            </a:r>
            <a:r>
              <a:rPr lang="en-US" altLang="ko-KR" sz="1100" dirty="0">
                <a:latin typeface="Consolas" panose="020B0609020204030204" pitchFamily="49" charset="0"/>
              </a:rPr>
              <a:t>= ‘BS_CD’  /* </a:t>
            </a:r>
            <a:r>
              <a:rPr lang="ko-KR" altLang="en-US" sz="1100" dirty="0">
                <a:latin typeface="Consolas" panose="020B0609020204030204" pitchFamily="49" charset="0"/>
              </a:rPr>
              <a:t>매수매도구분코드 *</a:t>
            </a:r>
            <a:r>
              <a:rPr lang="en-US" altLang="ko-KR" sz="1100" dirty="0">
                <a:latin typeface="Consolas" panose="020B0609020204030204" pitchFamily="49" charset="0"/>
              </a:rPr>
              <a:t>/ </a:t>
            </a:r>
          </a:p>
          <a:p>
            <a:r>
              <a:rPr lang="en-US" altLang="ko-KR" sz="1100" dirty="0">
                <a:latin typeface="Consolas" panose="020B0609020204030204" pitchFamily="49" charset="0"/>
              </a:rPr>
              <a:t>   AND A.</a:t>
            </a:r>
            <a:r>
              <a:rPr lang="ko-KR" altLang="en-US" sz="1100" dirty="0">
                <a:latin typeface="Consolas" panose="020B0609020204030204" pitchFamily="49" charset="0"/>
              </a:rPr>
              <a:t>계좌번호         </a:t>
            </a:r>
            <a:r>
              <a:rPr lang="en-US" altLang="ko-KR" sz="1100" dirty="0">
                <a:latin typeface="Consolas" panose="020B0609020204030204" pitchFamily="49" charset="0"/>
              </a:rPr>
              <a:t>= ‘123456789’;</a:t>
            </a:r>
            <a:endParaRPr lang="ko-KR" altLang="en-US" sz="1100" dirty="0">
              <a:latin typeface="Consolas" panose="020B0609020204030204" pitchFamily="49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A38FD14-56D5-0EF0-DB26-969BD6FCB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584" y="3078532"/>
            <a:ext cx="2772162" cy="101931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D7D127C-0F89-8704-116B-B822EBFFD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636" y="4509124"/>
            <a:ext cx="3820058" cy="15623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EA886A-359D-E812-EE2B-D343460890A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코드속성</a:t>
            </a:r>
            <a:r>
              <a:rPr lang="en-US" altLang="ko-KR" sz="2400" dirty="0">
                <a:latin typeface="+mn-ea"/>
              </a:rPr>
              <a:t> (</a:t>
            </a:r>
            <a:r>
              <a:rPr lang="ko-KR" altLang="en-US" sz="2400" dirty="0">
                <a:latin typeface="+mn-ea"/>
              </a:rPr>
              <a:t>공통코드</a:t>
            </a:r>
            <a:r>
              <a:rPr lang="en-US" altLang="ko-KR" sz="2400" dirty="0">
                <a:latin typeface="+mn-ea"/>
              </a:rPr>
              <a:t>) </a:t>
            </a:r>
            <a:r>
              <a:rPr lang="ko-KR" altLang="en-US" sz="2400" b="1" dirty="0">
                <a:latin typeface="+mn-ea"/>
              </a:rPr>
              <a:t>의 </a:t>
            </a:r>
            <a:r>
              <a:rPr lang="ko-KR" altLang="en-US" sz="2400" b="1" dirty="0" err="1">
                <a:latin typeface="+mn-ea"/>
              </a:rPr>
              <a:t>명명법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EDA0FB-C8BC-D539-0C6D-2364E97D1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147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7858731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1125066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 일반적인 코드 모델</a:t>
            </a:r>
            <a:endParaRPr lang="en-US" altLang="ko-KR" b="1" dirty="0">
              <a:latin typeface="+mn-ea"/>
            </a:endParaRPr>
          </a:p>
          <a:p>
            <a:pPr marL="342900" indent="-342900">
              <a:buFont typeface="+mj-lt"/>
              <a:buAutoNum type="arabicPeriod" startAt="18"/>
            </a:pPr>
            <a:endParaRPr lang="en-US" altLang="ko-KR" sz="1600" b="1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코드 모델 </a:t>
            </a:r>
            <a:r>
              <a:rPr lang="en-US" altLang="ko-KR" sz="1400" b="1" dirty="0">
                <a:latin typeface="+mn-ea"/>
              </a:rPr>
              <a:t>#3</a:t>
            </a:r>
            <a:endParaRPr lang="en-US" altLang="ko-KR" sz="1400" dirty="0">
              <a:latin typeface="+mn-ea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하나의 </a:t>
            </a:r>
            <a:r>
              <a:rPr lang="ko-KR" altLang="en-US" sz="1400" dirty="0" err="1">
                <a:latin typeface="+mn-ea"/>
              </a:rPr>
              <a:t>엔터티를</a:t>
            </a:r>
            <a:r>
              <a:rPr lang="ko-KR" altLang="en-US" sz="1400" dirty="0">
                <a:latin typeface="+mn-ea"/>
              </a:rPr>
              <a:t> 사용하여 재귀관계</a:t>
            </a:r>
            <a:r>
              <a:rPr lang="en-US" altLang="ko-KR" sz="1400" dirty="0">
                <a:latin typeface="+mn-ea"/>
              </a:rPr>
              <a:t>(Recursive)</a:t>
            </a:r>
            <a:r>
              <a:rPr lang="ko-KR" altLang="en-US" sz="1400" dirty="0">
                <a:latin typeface="+mn-ea"/>
              </a:rPr>
              <a:t>모델을 활용하여 상위코드와 하위코드를 함께 관리한다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39FD6CB-CAFA-C691-2300-59EFDE032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323" y="2866216"/>
            <a:ext cx="1810003" cy="98121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AFD2A23-42C7-2581-1DA2-C9C26CD4B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406" y="4258517"/>
            <a:ext cx="2219635" cy="1886213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57972EC-D330-6041-DD44-994AA3C84D5D}"/>
              </a:ext>
            </a:extLst>
          </p:cNvPr>
          <p:cNvSpPr/>
          <p:nvPr/>
        </p:nvSpPr>
        <p:spPr>
          <a:xfrm>
            <a:off x="4118480" y="4987962"/>
            <a:ext cx="386845" cy="343920"/>
          </a:xfrm>
          <a:prstGeom prst="roundRect">
            <a:avLst>
              <a:gd name="adj" fmla="val 13996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E0270C7-29CB-8B6A-EAE2-DC6D3E3EE8FB}"/>
              </a:ext>
            </a:extLst>
          </p:cNvPr>
          <p:cNvSpPr/>
          <p:nvPr/>
        </p:nvSpPr>
        <p:spPr>
          <a:xfrm>
            <a:off x="4118480" y="5348319"/>
            <a:ext cx="386845" cy="526487"/>
          </a:xfrm>
          <a:prstGeom prst="roundRect">
            <a:avLst>
              <a:gd name="adj" fmla="val 13996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연결선: 구부러짐 15">
            <a:extLst>
              <a:ext uri="{FF2B5EF4-FFF2-40B4-BE49-F238E27FC236}">
                <a16:creationId xmlns:a16="http://schemas.microsoft.com/office/drawing/2014/main" id="{D092BD26-618C-7CD2-738C-EBC9027EA3E2}"/>
              </a:ext>
            </a:extLst>
          </p:cNvPr>
          <p:cNvCxnSpPr>
            <a:cxnSpLocks/>
            <a:stCxn id="13" idx="1"/>
            <a:endCxn id="22" idx="3"/>
          </p:cNvCxnSpPr>
          <p:nvPr/>
        </p:nvCxnSpPr>
        <p:spPr>
          <a:xfrm rot="10800000">
            <a:off x="3829048" y="4702756"/>
            <a:ext cx="289432" cy="45716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연결선: 구부러짐 18">
            <a:extLst>
              <a:ext uri="{FF2B5EF4-FFF2-40B4-BE49-F238E27FC236}">
                <a16:creationId xmlns:a16="http://schemas.microsoft.com/office/drawing/2014/main" id="{288BBBB0-C9CF-399D-B364-5AC764D2246F}"/>
              </a:ext>
            </a:extLst>
          </p:cNvPr>
          <p:cNvCxnSpPr>
            <a:cxnSpLocks/>
            <a:stCxn id="15" idx="1"/>
            <a:endCxn id="24" idx="3"/>
          </p:cNvCxnSpPr>
          <p:nvPr/>
        </p:nvCxnSpPr>
        <p:spPr>
          <a:xfrm rot="10800000">
            <a:off x="3829048" y="4883731"/>
            <a:ext cx="289432" cy="72783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10B5D11-CAE2-D79A-61CE-822D35488D28}"/>
              </a:ext>
            </a:extLst>
          </p:cNvPr>
          <p:cNvSpPr/>
          <p:nvPr/>
        </p:nvSpPr>
        <p:spPr>
          <a:xfrm>
            <a:off x="3495813" y="4624993"/>
            <a:ext cx="333235" cy="155524"/>
          </a:xfrm>
          <a:prstGeom prst="roundRect">
            <a:avLst>
              <a:gd name="adj" fmla="val 13996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B7DE17E-3916-85A2-A1BC-13B25657D8DF}"/>
              </a:ext>
            </a:extLst>
          </p:cNvPr>
          <p:cNvSpPr/>
          <p:nvPr/>
        </p:nvSpPr>
        <p:spPr>
          <a:xfrm>
            <a:off x="3495813" y="4805968"/>
            <a:ext cx="333235" cy="155524"/>
          </a:xfrm>
          <a:prstGeom prst="roundRect">
            <a:avLst>
              <a:gd name="adj" fmla="val 13996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E0114C21-D4F8-74F0-51A2-8530ED851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4543" y="2575504"/>
            <a:ext cx="1705213" cy="128605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F68A01C7-4BD7-8136-0D17-B3919D7D3F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6265" y="4248992"/>
            <a:ext cx="2114845" cy="1905266"/>
          </a:xfrm>
          <a:prstGeom prst="rect">
            <a:avLst/>
          </a:prstGeom>
        </p:spPr>
      </p:pic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A23A2434-A0A8-A5C4-14DA-5C96194DDBEB}"/>
              </a:ext>
            </a:extLst>
          </p:cNvPr>
          <p:cNvSpPr/>
          <p:nvPr/>
        </p:nvSpPr>
        <p:spPr>
          <a:xfrm>
            <a:off x="7096882" y="3412619"/>
            <a:ext cx="846968" cy="157138"/>
          </a:xfrm>
          <a:prstGeom prst="roundRect">
            <a:avLst>
              <a:gd name="adj" fmla="val 13996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F67673A2-AA15-9ED0-2625-FA7C9CF73564}"/>
              </a:ext>
            </a:extLst>
          </p:cNvPr>
          <p:cNvSpPr/>
          <p:nvPr/>
        </p:nvSpPr>
        <p:spPr>
          <a:xfrm>
            <a:off x="8245171" y="4467854"/>
            <a:ext cx="546404" cy="1406951"/>
          </a:xfrm>
          <a:prstGeom prst="roundRect">
            <a:avLst>
              <a:gd name="adj" fmla="val 13996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화살표: 오른쪽 38">
            <a:extLst>
              <a:ext uri="{FF2B5EF4-FFF2-40B4-BE49-F238E27FC236}">
                <a16:creationId xmlns:a16="http://schemas.microsoft.com/office/drawing/2014/main" id="{FFB870B0-FCD7-8A05-CCC0-76DCA737A6A8}"/>
              </a:ext>
            </a:extLst>
          </p:cNvPr>
          <p:cNvSpPr/>
          <p:nvPr/>
        </p:nvSpPr>
        <p:spPr>
          <a:xfrm>
            <a:off x="5824292" y="3244104"/>
            <a:ext cx="648033" cy="2219325"/>
          </a:xfrm>
          <a:prstGeom prst="rightArrow">
            <a:avLst>
              <a:gd name="adj1" fmla="val 54292"/>
              <a:gd name="adj2" fmla="val 57404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AF78C4-0373-06B3-8FD2-B4893162EF3E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코드속성의 </a:t>
            </a:r>
            <a:r>
              <a:rPr lang="ko-KR" altLang="en-US" sz="2400" b="1" dirty="0" err="1">
                <a:latin typeface="+mn-ea"/>
              </a:rPr>
              <a:t>명명법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5A54BA-3E53-2FAF-90DB-469D808AF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148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0118358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098391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전체 코드의 부분집합을 관리</a:t>
            </a:r>
            <a:r>
              <a:rPr lang="ko-KR" altLang="en-US" b="1" dirty="0">
                <a:latin typeface="+mn-ea"/>
              </a:rPr>
              <a:t>하는 모델  </a:t>
            </a:r>
            <a:r>
              <a:rPr lang="en-US" altLang="ko-KR" b="1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문제가 있는 모델이므로 절대 쓰지 마라</a:t>
            </a:r>
            <a:r>
              <a:rPr lang="en-US" altLang="ko-KR" sz="24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!!!</a:t>
            </a:r>
            <a:endParaRPr lang="en-US" altLang="ko-KR" b="1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+mj-lt"/>
              <a:buAutoNum type="arabicPeriod" startAt="19"/>
            </a:pPr>
            <a:endParaRPr lang="en-US" altLang="ko-KR" sz="1600" b="1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코드 값과 코드 명을 관리하는 기본적인 코드 모델에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다양한 부가 기능이 첨가된 코드 모델이 최근에 간혹 사용된다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그 중에 대표적인 기능이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부분 집합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(Subset)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코드</a:t>
            </a:r>
            <a:r>
              <a:rPr lang="ko-KR" altLang="en-US" sz="1400" b="1" dirty="0">
                <a:latin typeface="+mn-ea"/>
              </a:rPr>
              <a:t>를 관리하는 모델이다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부분 집합 코드를 서브 코드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(Sub Code)</a:t>
            </a:r>
            <a:r>
              <a:rPr lang="ko-KR" altLang="en-US" sz="1400" b="1" dirty="0">
                <a:latin typeface="+mn-ea"/>
              </a:rPr>
              <a:t>라고도 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아래</a:t>
            </a:r>
            <a:r>
              <a:rPr lang="en-US" altLang="ko-KR" sz="1400" b="1" dirty="0">
                <a:latin typeface="+mn-ea"/>
              </a:rPr>
              <a:t> </a:t>
            </a:r>
            <a:r>
              <a:rPr lang="ko-KR" altLang="en-US" sz="1400" b="1" dirty="0">
                <a:latin typeface="+mn-ea"/>
              </a:rPr>
              <a:t>모델은 코드유형에 속한 전체 코드 값 집합 중에서 필요한 코드 값만 부분집합으로서 별도 관리할 수 있는 모델이다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이 모델에 대한 릴레이션은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4.105] </a:t>
            </a:r>
            <a:r>
              <a:rPr lang="ko-KR" altLang="en-US" sz="1400" b="1" dirty="0">
                <a:latin typeface="+mn-ea"/>
              </a:rPr>
              <a:t>와 같다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b="1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부분집합으로서 관리가 필요한 코드유형이 생기면 </a:t>
            </a:r>
            <a:endParaRPr lang="en-US" altLang="ko-KR" sz="1400" b="1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새로운 코드유형으로 등록하고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코드 값 전체 집합을 </a:t>
            </a:r>
            <a:endParaRPr lang="en-US" altLang="ko-KR" sz="1400" b="1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가리키는 </a:t>
            </a:r>
            <a:r>
              <a:rPr lang="ko-KR" altLang="en-US" sz="1400" b="1" u="sng" dirty="0" err="1">
                <a:solidFill>
                  <a:srgbClr val="FF0000"/>
                </a:solidFill>
                <a:latin typeface="+mn-ea"/>
              </a:rPr>
              <a:t>상위코드유형번호</a:t>
            </a:r>
            <a:r>
              <a:rPr lang="ko-KR" altLang="en-US" sz="1400" b="1" dirty="0" err="1">
                <a:latin typeface="+mn-ea"/>
              </a:rPr>
              <a:t>를</a:t>
            </a:r>
            <a:r>
              <a:rPr lang="ko-KR" altLang="en-US" sz="1400" b="1" dirty="0">
                <a:latin typeface="+mn-ea"/>
              </a:rPr>
              <a:t> 지정한다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그리고 코드 </a:t>
            </a:r>
            <a:r>
              <a:rPr lang="ko-KR" altLang="en-US" sz="1400" b="1" dirty="0" err="1">
                <a:latin typeface="+mn-ea"/>
              </a:rPr>
              <a:t>엔터티에는</a:t>
            </a:r>
            <a:r>
              <a:rPr lang="ko-KR" altLang="en-US" sz="1400" b="1" dirty="0">
                <a:latin typeface="+mn-ea"/>
              </a:rPr>
              <a:t> 해당 코드유형에 존재하는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코드 값을 등록한다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92CB624-7764-E653-4B28-B6D887BD6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619" y="2870198"/>
            <a:ext cx="3315163" cy="133368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346CA82-D348-7EB4-B1DF-80E26670B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442" y="3763613"/>
            <a:ext cx="4744112" cy="2400635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B3E1646-022A-8EFD-A5F4-93BC58909C64}"/>
              </a:ext>
            </a:extLst>
          </p:cNvPr>
          <p:cNvSpPr/>
          <p:nvPr/>
        </p:nvSpPr>
        <p:spPr>
          <a:xfrm>
            <a:off x="8490853" y="4332091"/>
            <a:ext cx="386845" cy="343920"/>
          </a:xfrm>
          <a:prstGeom prst="roundRect">
            <a:avLst>
              <a:gd name="adj" fmla="val 13996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연결선: 구부러짐 13">
            <a:extLst>
              <a:ext uri="{FF2B5EF4-FFF2-40B4-BE49-F238E27FC236}">
                <a16:creationId xmlns:a16="http://schemas.microsoft.com/office/drawing/2014/main" id="{580AA25F-EF19-27DF-B15B-B44A196F3D57}"/>
              </a:ext>
            </a:extLst>
          </p:cNvPr>
          <p:cNvCxnSpPr>
            <a:cxnSpLocks/>
            <a:stCxn id="12" idx="1"/>
            <a:endCxn id="17" idx="3"/>
          </p:cNvCxnSpPr>
          <p:nvPr/>
        </p:nvCxnSpPr>
        <p:spPr>
          <a:xfrm rot="10800000">
            <a:off x="7010399" y="4216977"/>
            <a:ext cx="1480455" cy="28707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50769AC-38C8-B99C-C040-13C471CF750E}"/>
              </a:ext>
            </a:extLst>
          </p:cNvPr>
          <p:cNvSpPr/>
          <p:nvPr/>
        </p:nvSpPr>
        <p:spPr>
          <a:xfrm>
            <a:off x="6677163" y="4139215"/>
            <a:ext cx="333235" cy="155524"/>
          </a:xfrm>
          <a:prstGeom prst="roundRect">
            <a:avLst>
              <a:gd name="adj" fmla="val 13996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5B43DA-3301-BC24-743F-647BFC7FADC0}"/>
              </a:ext>
            </a:extLst>
          </p:cNvPr>
          <p:cNvSpPr txBox="1"/>
          <p:nvPr/>
        </p:nvSpPr>
        <p:spPr>
          <a:xfrm>
            <a:off x="6472746" y="4918651"/>
            <a:ext cx="22942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관리 문제</a:t>
            </a:r>
            <a:r>
              <a:rPr lang="en-US" altLang="ko-KR" sz="2400" b="1" dirty="0">
                <a:solidFill>
                  <a:srgbClr val="FF0000"/>
                </a:solidFill>
              </a:rPr>
              <a:t>!!!</a:t>
            </a:r>
          </a:p>
          <a:p>
            <a:r>
              <a:rPr lang="ko-KR" altLang="en-US" sz="2400" b="1" dirty="0" err="1">
                <a:solidFill>
                  <a:srgbClr val="FF0000"/>
                </a:solidFill>
              </a:rPr>
              <a:t>오너십</a:t>
            </a:r>
            <a:r>
              <a:rPr lang="ko-KR" altLang="en-US" sz="2400" b="1" dirty="0">
                <a:solidFill>
                  <a:srgbClr val="FF0000"/>
                </a:solidFill>
              </a:rPr>
              <a:t> 문제</a:t>
            </a:r>
            <a:r>
              <a:rPr lang="en-US" altLang="ko-KR" sz="2400" b="1" dirty="0">
                <a:solidFill>
                  <a:srgbClr val="FF0000"/>
                </a:solidFill>
              </a:rPr>
              <a:t>!!!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FD5630-6887-47C8-CA4D-7818D62A1CAD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코드속성의 </a:t>
            </a:r>
            <a:r>
              <a:rPr lang="ko-KR" altLang="en-US" sz="2400" b="1" dirty="0" err="1">
                <a:latin typeface="+mn-ea"/>
              </a:rPr>
              <a:t>명명법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758C23-D89A-8310-97A6-75A5106FC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149</a:t>
            </a:fld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4BCB74E-AD3D-4DFC-9A74-37C92364080E}"/>
              </a:ext>
            </a:extLst>
          </p:cNvPr>
          <p:cNvSpPr/>
          <p:nvPr/>
        </p:nvSpPr>
        <p:spPr>
          <a:xfrm>
            <a:off x="9240670" y="4122779"/>
            <a:ext cx="1905750" cy="925082"/>
          </a:xfrm>
          <a:prstGeom prst="roundRect">
            <a:avLst>
              <a:gd name="adj" fmla="val 10970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24EA836-DF6B-44EC-B5B9-4FFECA286964}"/>
              </a:ext>
            </a:extLst>
          </p:cNvPr>
          <p:cNvSpPr/>
          <p:nvPr/>
        </p:nvSpPr>
        <p:spPr>
          <a:xfrm>
            <a:off x="9419341" y="5074116"/>
            <a:ext cx="1544128" cy="332911"/>
          </a:xfrm>
          <a:prstGeom prst="roundRect">
            <a:avLst>
              <a:gd name="adj" fmla="val 10970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AB4F261-ED91-47AE-A18E-E4EE9AD6822C}"/>
              </a:ext>
            </a:extLst>
          </p:cNvPr>
          <p:cNvSpPr/>
          <p:nvPr/>
        </p:nvSpPr>
        <p:spPr>
          <a:xfrm>
            <a:off x="9419341" y="5451944"/>
            <a:ext cx="1544128" cy="478601"/>
          </a:xfrm>
          <a:prstGeom prst="roundRect">
            <a:avLst>
              <a:gd name="adj" fmla="val 10970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876067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11250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전체 코드의 부분집합을 관리</a:t>
            </a:r>
            <a:r>
              <a:rPr lang="ko-KR" altLang="en-US" b="1" dirty="0">
                <a:latin typeface="+mn-ea"/>
              </a:rPr>
              <a:t>하는 모델  </a:t>
            </a:r>
            <a:r>
              <a:rPr lang="en-US" altLang="ko-KR" b="1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문제가 있는 모델이므로 절대 쓰지 마라</a:t>
            </a:r>
            <a:r>
              <a:rPr lang="en-US" altLang="ko-KR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!!!</a:t>
            </a:r>
            <a:endParaRPr lang="en-US" altLang="ko-KR" b="1" dirty="0">
              <a:latin typeface="+mn-ea"/>
            </a:endParaRPr>
          </a:p>
          <a:p>
            <a:pPr marL="342900" indent="-342900">
              <a:buFont typeface="+mj-lt"/>
              <a:buAutoNum type="arabicPeriod" startAt="19"/>
            </a:pPr>
            <a:endParaRPr lang="en-US" altLang="ko-KR" sz="1600" b="1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부분집합 코드로 사용 것의 몇가지 문제</a:t>
            </a:r>
            <a:endParaRPr lang="en-US" altLang="ko-KR" sz="1400" b="1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5B43DA-3301-BC24-743F-647BFC7FADC0}"/>
              </a:ext>
            </a:extLst>
          </p:cNvPr>
          <p:cNvSpPr txBox="1"/>
          <p:nvPr/>
        </p:nvSpPr>
        <p:spPr>
          <a:xfrm>
            <a:off x="1382751" y="2388364"/>
            <a:ext cx="10468071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FF0000"/>
                </a:solidFill>
              </a:rPr>
              <a:t>관리 문제</a:t>
            </a:r>
            <a:endParaRPr lang="en-US" altLang="ko-KR" sz="1600" b="1" dirty="0">
              <a:solidFill>
                <a:srgbClr val="FF0000"/>
              </a:solidFill>
            </a:endParaRPr>
          </a:p>
          <a:p>
            <a:pPr lvl="1"/>
            <a:r>
              <a:rPr lang="en-US" altLang="ko-KR" sz="1400" dirty="0"/>
              <a:t>- </a:t>
            </a:r>
            <a:r>
              <a:rPr lang="ko-KR" altLang="en-US" sz="1400" dirty="0"/>
              <a:t>무엇보다 관리하기가 쉽지 않다</a:t>
            </a:r>
            <a:r>
              <a:rPr lang="en-US" altLang="ko-KR" sz="1400" dirty="0"/>
              <a:t>. </a:t>
            </a:r>
            <a:r>
              <a:rPr lang="ko-KR" altLang="en-US" sz="1400" dirty="0"/>
              <a:t>메타 시스템에 </a:t>
            </a:r>
            <a:endParaRPr lang="en-US" altLang="ko-KR" sz="1400" dirty="0"/>
          </a:p>
          <a:p>
            <a:pPr lvl="1"/>
            <a:r>
              <a:rPr lang="ko-KR" altLang="en-US" sz="1400" dirty="0"/>
              <a:t>이 기능을 완전하게 구현하기도 어렵지만</a:t>
            </a:r>
            <a:r>
              <a:rPr lang="en-US" altLang="ko-KR" sz="1400" dirty="0"/>
              <a:t>, </a:t>
            </a:r>
            <a:r>
              <a:rPr lang="ko-KR" altLang="en-US" sz="1400" dirty="0"/>
              <a:t>메타 시스템의 </a:t>
            </a:r>
            <a:endParaRPr lang="en-US" altLang="ko-KR" sz="1400" dirty="0"/>
          </a:p>
          <a:p>
            <a:pPr lvl="1"/>
            <a:r>
              <a:rPr lang="ko-KR" altLang="en-US" sz="1400" dirty="0"/>
              <a:t>코드 데이터를 애플리케이션에 전달하기도 쉽지 않다</a:t>
            </a:r>
            <a:r>
              <a:rPr lang="en-US" altLang="ko-KR" sz="1400" dirty="0"/>
              <a:t>. </a:t>
            </a:r>
          </a:p>
          <a:p>
            <a:pPr lvl="1"/>
            <a:r>
              <a:rPr lang="ko-KR" altLang="en-US" sz="1400" dirty="0"/>
              <a:t>시스템에서 완전하게 구현됐다고 해도 사용하기가 쉽지 않다</a:t>
            </a:r>
            <a:r>
              <a:rPr lang="en-US" altLang="ko-KR" sz="1400" dirty="0"/>
              <a:t>.</a:t>
            </a:r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 err="1">
                <a:solidFill>
                  <a:srgbClr val="FF0000"/>
                </a:solidFill>
              </a:rPr>
              <a:t>오너십</a:t>
            </a:r>
            <a:r>
              <a:rPr lang="ko-KR" altLang="en-US" sz="1600" b="1" dirty="0">
                <a:solidFill>
                  <a:srgbClr val="FF0000"/>
                </a:solidFill>
              </a:rPr>
              <a:t> 문제</a:t>
            </a:r>
            <a:endParaRPr lang="en-US" altLang="ko-KR" sz="1600" b="1" dirty="0">
              <a:solidFill>
                <a:srgbClr val="FF0000"/>
              </a:solidFill>
            </a:endParaRPr>
          </a:p>
          <a:p>
            <a:pPr lvl="1"/>
            <a:r>
              <a:rPr lang="en-US" altLang="ko-KR" sz="1400" dirty="0"/>
              <a:t>- </a:t>
            </a:r>
            <a:r>
              <a:rPr lang="ko-KR" altLang="en-US" sz="1400" dirty="0"/>
              <a:t>또한 </a:t>
            </a:r>
            <a:r>
              <a:rPr lang="ko-KR" altLang="en-US" sz="1400" dirty="0" err="1"/>
              <a:t>오너십에</a:t>
            </a:r>
            <a:r>
              <a:rPr lang="ko-KR" altLang="en-US" sz="1400" dirty="0"/>
              <a:t> 대한 문제도 있다</a:t>
            </a:r>
            <a:r>
              <a:rPr lang="en-US" altLang="ko-KR" sz="1400" dirty="0"/>
              <a:t>. </a:t>
            </a:r>
            <a:r>
              <a:rPr lang="ko-KR" altLang="en-US" sz="1400" dirty="0"/>
              <a:t>전체 집합 코드에 대한 </a:t>
            </a:r>
            <a:endParaRPr lang="en-US" altLang="ko-KR" sz="1400" dirty="0"/>
          </a:p>
          <a:p>
            <a:pPr lvl="1"/>
            <a:r>
              <a:rPr lang="ko-KR" altLang="en-US" sz="1400" dirty="0"/>
              <a:t>오너십이 있는지</a:t>
            </a:r>
            <a:r>
              <a:rPr lang="en-US" altLang="ko-KR" sz="1400" dirty="0"/>
              <a:t>, </a:t>
            </a:r>
            <a:r>
              <a:rPr lang="ko-KR" altLang="en-US" sz="1400" dirty="0"/>
              <a:t>전체 집합 코드는 단순히 </a:t>
            </a:r>
            <a:r>
              <a:rPr lang="ko-KR" altLang="en-US" sz="1400" dirty="0" err="1"/>
              <a:t>모집합</a:t>
            </a:r>
            <a:r>
              <a:rPr lang="en-US" altLang="ko-KR" sz="1400" dirty="0"/>
              <a:t>(Pool)</a:t>
            </a:r>
            <a:r>
              <a:rPr lang="ko-KR" altLang="en-US" sz="1400" dirty="0"/>
              <a:t>의 </a:t>
            </a:r>
            <a:endParaRPr lang="en-US" altLang="ko-KR" sz="1400" dirty="0"/>
          </a:p>
          <a:p>
            <a:pPr lvl="1"/>
            <a:r>
              <a:rPr lang="ko-KR" altLang="en-US" sz="1400" dirty="0"/>
              <a:t>역할만 하는지에 따라 관리하는 방법이 달라진다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1111EC0-2002-715F-BA22-0FC359A08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7690" y="2004951"/>
            <a:ext cx="4753638" cy="3296110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3DEB0CE-DB48-B30F-6E5B-734C6FFCB139}"/>
              </a:ext>
            </a:extLst>
          </p:cNvPr>
          <p:cNvSpPr/>
          <p:nvPr/>
        </p:nvSpPr>
        <p:spPr>
          <a:xfrm>
            <a:off x="9144000" y="2562561"/>
            <a:ext cx="428625" cy="533063"/>
          </a:xfrm>
          <a:prstGeom prst="roundRect">
            <a:avLst>
              <a:gd name="adj" fmla="val 13996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연결선: 구부러짐 15">
            <a:extLst>
              <a:ext uri="{FF2B5EF4-FFF2-40B4-BE49-F238E27FC236}">
                <a16:creationId xmlns:a16="http://schemas.microsoft.com/office/drawing/2014/main" id="{DCDA7A59-9853-8FB3-8AEA-3FCD389FFB93}"/>
              </a:ext>
            </a:extLst>
          </p:cNvPr>
          <p:cNvCxnSpPr>
            <a:cxnSpLocks/>
            <a:stCxn id="15" idx="1"/>
            <a:endCxn id="18" idx="3"/>
          </p:cNvCxnSpPr>
          <p:nvPr/>
        </p:nvCxnSpPr>
        <p:spPr>
          <a:xfrm rot="10800000">
            <a:off x="7673070" y="2476023"/>
            <a:ext cx="1470930" cy="35307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9998385-BF92-FC6D-0FD0-14A652FF5930}"/>
              </a:ext>
            </a:extLst>
          </p:cNvPr>
          <p:cNvSpPr/>
          <p:nvPr/>
        </p:nvSpPr>
        <p:spPr>
          <a:xfrm>
            <a:off x="7339835" y="2398261"/>
            <a:ext cx="333235" cy="155524"/>
          </a:xfrm>
          <a:prstGeom prst="roundRect">
            <a:avLst>
              <a:gd name="adj" fmla="val 13996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ADE1DE-8FB3-25A1-E73C-2F8B88AE7511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코드속성의 </a:t>
            </a:r>
            <a:r>
              <a:rPr lang="ko-KR" altLang="en-US" sz="2400" b="1" dirty="0" err="1">
                <a:latin typeface="+mn-ea"/>
              </a:rPr>
              <a:t>명명법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94D0B9-866A-40DA-0991-CB2C87CA7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150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9473518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ACC0797-66F0-BDBC-30AC-B4A23FDEC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417" y="2562561"/>
            <a:ext cx="4763165" cy="36200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1125066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전체 코드의 부분집합을 관리</a:t>
            </a:r>
            <a:r>
              <a:rPr lang="ko-KR" altLang="en-US" b="1" dirty="0">
                <a:latin typeface="+mn-ea"/>
              </a:rPr>
              <a:t>하는 모델</a:t>
            </a:r>
            <a:endParaRPr lang="en-US" altLang="ko-KR" b="1" dirty="0">
              <a:latin typeface="+mn-ea"/>
            </a:endParaRPr>
          </a:p>
          <a:p>
            <a:pPr marL="342900" indent="-342900">
              <a:buFont typeface="+mj-lt"/>
              <a:buAutoNum type="arabicPeriod" startAt="19"/>
            </a:pPr>
            <a:endParaRPr lang="en-US" altLang="ko-KR" sz="1600" b="1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만약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4.106] </a:t>
            </a:r>
            <a:r>
              <a:rPr lang="ko-KR" altLang="en-US" sz="1400" b="1" dirty="0" err="1">
                <a:latin typeface="+mn-ea"/>
              </a:rPr>
              <a:t>릴레이션에서</a:t>
            </a:r>
            <a:r>
              <a:rPr lang="ko-KR" altLang="en-US" sz="1400" b="1" dirty="0">
                <a:latin typeface="+mn-ea"/>
              </a:rPr>
              <a:t> </a:t>
            </a:r>
            <a:r>
              <a:rPr lang="en-US" altLang="ko-KR" sz="1400" b="1" dirty="0">
                <a:latin typeface="+mn-ea"/>
              </a:rPr>
              <a:t>‘102’ </a:t>
            </a:r>
            <a:r>
              <a:rPr lang="ko-KR" altLang="en-US" sz="1400" b="1" dirty="0">
                <a:latin typeface="+mn-ea"/>
              </a:rPr>
              <a:t>코드유형에 ‘임의단체’ 코드가 필요하면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4.107]</a:t>
            </a:r>
            <a:r>
              <a:rPr lang="ko-KR" altLang="en-US" sz="1400" b="1" dirty="0">
                <a:latin typeface="+mn-ea"/>
              </a:rPr>
              <a:t> 릴레이션이 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3DEB0CE-DB48-B30F-6E5B-734C6FFCB139}"/>
              </a:ext>
            </a:extLst>
          </p:cNvPr>
          <p:cNvSpPr/>
          <p:nvPr/>
        </p:nvSpPr>
        <p:spPr>
          <a:xfrm>
            <a:off x="6625460" y="5636866"/>
            <a:ext cx="1785115" cy="163965"/>
          </a:xfrm>
          <a:prstGeom prst="roundRect">
            <a:avLst>
              <a:gd name="adj" fmla="val 13996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연결선: 구부러짐 15">
            <a:extLst>
              <a:ext uri="{FF2B5EF4-FFF2-40B4-BE49-F238E27FC236}">
                <a16:creationId xmlns:a16="http://schemas.microsoft.com/office/drawing/2014/main" id="{DCDA7A59-9853-8FB3-8AEA-3FCD389FFB93}"/>
              </a:ext>
            </a:extLst>
          </p:cNvPr>
          <p:cNvCxnSpPr>
            <a:cxnSpLocks/>
            <a:stCxn id="15" idx="3"/>
            <a:endCxn id="18" idx="3"/>
          </p:cNvCxnSpPr>
          <p:nvPr/>
        </p:nvCxnSpPr>
        <p:spPr>
          <a:xfrm flipV="1">
            <a:off x="8410575" y="3728018"/>
            <a:ext cx="12700" cy="1990831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9998385-BF92-FC6D-0FD0-14A652FF5930}"/>
              </a:ext>
            </a:extLst>
          </p:cNvPr>
          <p:cNvSpPr/>
          <p:nvPr/>
        </p:nvSpPr>
        <p:spPr>
          <a:xfrm>
            <a:off x="6625460" y="3646036"/>
            <a:ext cx="1785115" cy="163964"/>
          </a:xfrm>
          <a:prstGeom prst="roundRect">
            <a:avLst>
              <a:gd name="adj" fmla="val 13996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E2EED7-EF35-D2E3-AAEC-CCB8C29A836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코드속성의 </a:t>
            </a:r>
            <a:r>
              <a:rPr lang="ko-KR" altLang="en-US" sz="2400" b="1" dirty="0" err="1">
                <a:latin typeface="+mn-ea"/>
              </a:rPr>
              <a:t>명명법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5F31F2-E00F-9E50-08AA-9D8EE287E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151</a:t>
            </a:fld>
            <a:endParaRPr lang="ko-KR" altLang="en-US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0E924E7-CCE9-4F9F-AA68-5DA70C16D07B}"/>
              </a:ext>
            </a:extLst>
          </p:cNvPr>
          <p:cNvSpPr/>
          <p:nvPr/>
        </p:nvSpPr>
        <p:spPr>
          <a:xfrm>
            <a:off x="6469485" y="2940334"/>
            <a:ext cx="2008097" cy="1053167"/>
          </a:xfrm>
          <a:prstGeom prst="roundRect">
            <a:avLst>
              <a:gd name="adj" fmla="val 13996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D8CBE65-79BE-4E64-9946-18804C97266B}"/>
              </a:ext>
            </a:extLst>
          </p:cNvPr>
          <p:cNvSpPr/>
          <p:nvPr/>
        </p:nvSpPr>
        <p:spPr>
          <a:xfrm>
            <a:off x="6469485" y="4032112"/>
            <a:ext cx="2008097" cy="875792"/>
          </a:xfrm>
          <a:prstGeom prst="roundRect">
            <a:avLst>
              <a:gd name="adj" fmla="val 13996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61BA4BF-8B99-4FBE-831B-05796697235A}"/>
              </a:ext>
            </a:extLst>
          </p:cNvPr>
          <p:cNvSpPr/>
          <p:nvPr/>
        </p:nvSpPr>
        <p:spPr>
          <a:xfrm>
            <a:off x="6469485" y="4945079"/>
            <a:ext cx="2008097" cy="310052"/>
          </a:xfrm>
          <a:prstGeom prst="roundRect">
            <a:avLst>
              <a:gd name="adj" fmla="val 13996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EB0CA33-0038-40B8-8F58-A55D4ACACED1}"/>
              </a:ext>
            </a:extLst>
          </p:cNvPr>
          <p:cNvSpPr/>
          <p:nvPr/>
        </p:nvSpPr>
        <p:spPr>
          <a:xfrm>
            <a:off x="6463551" y="5296078"/>
            <a:ext cx="2008097" cy="680706"/>
          </a:xfrm>
          <a:prstGeom prst="roundRect">
            <a:avLst>
              <a:gd name="adj" fmla="val 13996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478575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F0C8DCE9-0793-C47C-AA96-E1C18FC73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443572"/>
            <a:ext cx="4772691" cy="1895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1125066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 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코드 값 간 관계를 관리하는 코드 모델 </a:t>
            </a:r>
            <a:r>
              <a:rPr lang="en-US" altLang="ko-KR" b="1" dirty="0">
                <a:solidFill>
                  <a:srgbClr val="FF0000"/>
                </a:solidFill>
                <a:latin typeface="+mn-ea"/>
              </a:rPr>
              <a:t>(1/2)</a:t>
            </a:r>
            <a:endParaRPr lang="en-US" altLang="ko-KR" b="1" dirty="0">
              <a:latin typeface="+mn-ea"/>
            </a:endParaRPr>
          </a:p>
          <a:p>
            <a:pPr marL="342900" indent="-342900">
              <a:buFont typeface="+mj-lt"/>
              <a:buAutoNum type="arabicPeriod" startAt="20"/>
            </a:pPr>
            <a:endParaRPr lang="en-US" altLang="ko-KR" sz="1600" b="1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코드를 전체 집합과 부분집합으로 나눠 관리하는 방법과 유사한 기능이 코드 값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코드 인스턴스</a:t>
            </a:r>
            <a:r>
              <a:rPr lang="en-US" altLang="ko-KR" sz="1400" b="1" dirty="0">
                <a:latin typeface="+mn-ea"/>
              </a:rPr>
              <a:t>) </a:t>
            </a:r>
            <a:r>
              <a:rPr lang="ko-KR" altLang="en-US" sz="1400" b="1" dirty="0">
                <a:latin typeface="+mn-ea"/>
              </a:rPr>
              <a:t>간에 존재하는 계층 체계를 관리하는 기능이다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계층 체계는 상위 계층의 코드만을 관리하는 것과 상</a:t>
            </a:r>
            <a:r>
              <a:rPr lang="en-US" altLang="ko-KR" sz="1400" b="1" dirty="0">
                <a:latin typeface="+mn-ea"/>
              </a:rPr>
              <a:t>•</a:t>
            </a:r>
            <a:r>
              <a:rPr lang="ko-KR" altLang="en-US" sz="1400" b="1" dirty="0">
                <a:latin typeface="+mn-ea"/>
              </a:rPr>
              <a:t>하위 계층 코드를 관리하는 것으로 나눌 수 있다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b="1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전자는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재귀 관계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(Recursive Relationship)</a:t>
            </a:r>
            <a:r>
              <a:rPr lang="ko-KR" altLang="en-US" sz="1400" b="1" dirty="0">
                <a:latin typeface="+mn-ea"/>
              </a:rPr>
              <a:t>가 되며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후자는 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BOM(Bill Of Materials)</a:t>
            </a:r>
            <a:r>
              <a:rPr lang="ko-KR" altLang="en-US" sz="1400" b="1" dirty="0">
                <a:latin typeface="+mn-ea"/>
              </a:rPr>
              <a:t>관계가 된다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b="1" dirty="0">
                <a:latin typeface="+mn-ea"/>
              </a:rPr>
              <a:t>BOM</a:t>
            </a:r>
            <a:r>
              <a:rPr lang="ko-KR" altLang="en-US" sz="1400" b="1" dirty="0">
                <a:latin typeface="+mn-ea"/>
              </a:rPr>
              <a:t>관계처럼 상</a:t>
            </a:r>
            <a:r>
              <a:rPr lang="en-US" altLang="ko-KR" sz="1400" b="1" dirty="0">
                <a:latin typeface="+mn-ea"/>
              </a:rPr>
              <a:t>•</a:t>
            </a:r>
            <a:r>
              <a:rPr lang="ko-KR" altLang="en-US" sz="1400" b="1" dirty="0">
                <a:latin typeface="+mn-ea"/>
              </a:rPr>
              <a:t>하위 계층을 관리하는 것은 상호 관계를 관리하는 것과 마찬가지다</a:t>
            </a:r>
            <a:r>
              <a:rPr lang="en-US" altLang="ko-KR" sz="1400" b="1" dirty="0">
                <a:latin typeface="+mn-ea"/>
              </a:rPr>
              <a:t>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3DEB0CE-DB48-B30F-6E5B-734C6FFCB139}"/>
              </a:ext>
            </a:extLst>
          </p:cNvPr>
          <p:cNvSpPr/>
          <p:nvPr/>
        </p:nvSpPr>
        <p:spPr>
          <a:xfrm>
            <a:off x="8482346" y="3845059"/>
            <a:ext cx="380998" cy="329368"/>
          </a:xfrm>
          <a:prstGeom prst="roundRect">
            <a:avLst>
              <a:gd name="adj" fmla="val 13996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연결선: 구부러짐 15">
            <a:extLst>
              <a:ext uri="{FF2B5EF4-FFF2-40B4-BE49-F238E27FC236}">
                <a16:creationId xmlns:a16="http://schemas.microsoft.com/office/drawing/2014/main" id="{DCDA7A59-9853-8FB3-8AEA-3FCD389FFB93}"/>
              </a:ext>
            </a:extLst>
          </p:cNvPr>
          <p:cNvCxnSpPr>
            <a:cxnSpLocks/>
            <a:stCxn id="18" idx="1"/>
            <a:endCxn id="15" idx="3"/>
          </p:cNvCxnSpPr>
          <p:nvPr/>
        </p:nvCxnSpPr>
        <p:spPr>
          <a:xfrm rot="10800000">
            <a:off x="8863344" y="4009743"/>
            <a:ext cx="1418552" cy="35463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9998385-BF92-FC6D-0FD0-14A652FF5930}"/>
              </a:ext>
            </a:extLst>
          </p:cNvPr>
          <p:cNvSpPr/>
          <p:nvPr/>
        </p:nvSpPr>
        <p:spPr>
          <a:xfrm>
            <a:off x="10281896" y="3655868"/>
            <a:ext cx="509834" cy="1417026"/>
          </a:xfrm>
          <a:prstGeom prst="roundRect">
            <a:avLst>
              <a:gd name="adj" fmla="val 13996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BE859F1-C8E5-422A-75CA-D732F60CF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423" y="3434328"/>
            <a:ext cx="3372321" cy="157184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14F55FF-559B-C93D-F4E5-A47622D886CC}"/>
              </a:ext>
            </a:extLst>
          </p:cNvPr>
          <p:cNvSpPr txBox="1"/>
          <p:nvPr/>
        </p:nvSpPr>
        <p:spPr>
          <a:xfrm>
            <a:off x="3047246" y="5653568"/>
            <a:ext cx="60975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재귀 관계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(Recursive Relationship)</a:t>
            </a:r>
            <a:endParaRPr lang="ko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4334CB-5AD3-BAA1-B35C-3F9DA3B5521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코드속성의 </a:t>
            </a:r>
            <a:r>
              <a:rPr lang="ko-KR" altLang="en-US" sz="2400" b="1" dirty="0" err="1">
                <a:latin typeface="+mn-ea"/>
              </a:rPr>
              <a:t>명명법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370B59-DA4E-A2E6-88F9-0ACC37977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152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4819208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id="{04CDB7D3-B4A9-5556-4F86-CE4D16431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1652" y="4224931"/>
            <a:ext cx="2946461" cy="236382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6A1AFC5-4A64-E0E5-E522-5DBD1120C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0589" y="4715673"/>
            <a:ext cx="2515811" cy="198924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C410B44-73CA-CDAF-72B0-3B5969A65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235" y="2819933"/>
            <a:ext cx="4744112" cy="1895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1125066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 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코드 값 간 관계를 관리하는 코드 모델</a:t>
            </a:r>
            <a:r>
              <a:rPr lang="en-US" altLang="ko-KR" b="1" dirty="0">
                <a:solidFill>
                  <a:srgbClr val="FF0000"/>
                </a:solidFill>
                <a:latin typeface="+mn-ea"/>
              </a:rPr>
              <a:t> (2/2)</a:t>
            </a:r>
            <a:endParaRPr lang="en-US" altLang="ko-KR" b="1" dirty="0">
              <a:latin typeface="+mn-ea"/>
            </a:endParaRPr>
          </a:p>
          <a:p>
            <a:pPr marL="342900" indent="-342900">
              <a:buFont typeface="+mj-lt"/>
              <a:buAutoNum type="arabicPeriod" startAt="20"/>
            </a:pPr>
            <a:endParaRPr lang="en-US" altLang="ko-KR" sz="1600" b="1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유사한 기능이 코드 값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코드 인스턴스</a:t>
            </a:r>
            <a:r>
              <a:rPr lang="en-US" altLang="ko-KR" sz="1400" b="1" dirty="0">
                <a:latin typeface="+mn-ea"/>
              </a:rPr>
              <a:t>) </a:t>
            </a:r>
            <a:r>
              <a:rPr lang="ko-KR" altLang="en-US" sz="1400" b="1" dirty="0">
                <a:latin typeface="+mn-ea"/>
              </a:rPr>
              <a:t>간에 존재하는 계층 체계를 관리하는 기능이다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상</a:t>
            </a:r>
            <a:r>
              <a:rPr lang="en-US" altLang="ko-KR" sz="1400" b="1" dirty="0">
                <a:latin typeface="+mn-ea"/>
              </a:rPr>
              <a:t>•</a:t>
            </a:r>
            <a:r>
              <a:rPr lang="ko-KR" altLang="en-US" sz="1400" b="1" dirty="0">
                <a:latin typeface="+mn-ea"/>
              </a:rPr>
              <a:t>하위 계층 코드를 관리하는 것으로 나눌 수 있다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BOM(Bill Of Materials)</a:t>
            </a:r>
            <a:r>
              <a:rPr lang="ko-KR" altLang="en-US" sz="1400" b="1" dirty="0">
                <a:latin typeface="+mn-ea"/>
              </a:rPr>
              <a:t>관계가 된다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b="1" dirty="0">
                <a:latin typeface="+mn-ea"/>
              </a:rPr>
              <a:t>BOM</a:t>
            </a:r>
            <a:r>
              <a:rPr lang="ko-KR" altLang="en-US" sz="1400" b="1" dirty="0">
                <a:latin typeface="+mn-ea"/>
              </a:rPr>
              <a:t>관계처럼 상</a:t>
            </a:r>
            <a:r>
              <a:rPr lang="en-US" altLang="ko-KR" sz="1400" b="1" dirty="0">
                <a:latin typeface="+mn-ea"/>
              </a:rPr>
              <a:t>•</a:t>
            </a:r>
            <a:r>
              <a:rPr lang="ko-KR" altLang="en-US" sz="1400" b="1" dirty="0">
                <a:latin typeface="+mn-ea"/>
              </a:rPr>
              <a:t>하위 계층을 관리하는 것은 상호 관계를 관리하는 것과 마찬가지다</a:t>
            </a:r>
            <a:r>
              <a:rPr lang="en-US" altLang="ko-KR" sz="1400" b="1" dirty="0">
                <a:latin typeface="+mn-ea"/>
              </a:rPr>
              <a:t>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3DEB0CE-DB48-B30F-6E5B-734C6FFCB139}"/>
              </a:ext>
            </a:extLst>
          </p:cNvPr>
          <p:cNvSpPr/>
          <p:nvPr/>
        </p:nvSpPr>
        <p:spPr>
          <a:xfrm>
            <a:off x="4448058" y="3023511"/>
            <a:ext cx="773927" cy="1417025"/>
          </a:xfrm>
          <a:prstGeom prst="roundRect">
            <a:avLst>
              <a:gd name="adj" fmla="val 3001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9998385-BF92-FC6D-0FD0-14A652FF5930}"/>
              </a:ext>
            </a:extLst>
          </p:cNvPr>
          <p:cNvSpPr/>
          <p:nvPr/>
        </p:nvSpPr>
        <p:spPr>
          <a:xfrm>
            <a:off x="5292209" y="3023511"/>
            <a:ext cx="509834" cy="1417026"/>
          </a:xfrm>
          <a:prstGeom prst="roundRect">
            <a:avLst>
              <a:gd name="adj" fmla="val 511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9A48DF27-6305-DC84-45AC-6F6FE3185A76}"/>
              </a:ext>
            </a:extLst>
          </p:cNvPr>
          <p:cNvGrpSpPr/>
          <p:nvPr/>
        </p:nvGrpSpPr>
        <p:grpSpPr>
          <a:xfrm>
            <a:off x="6117348" y="2810757"/>
            <a:ext cx="4241111" cy="3824863"/>
            <a:chOff x="6117348" y="2844624"/>
            <a:chExt cx="4241111" cy="3824863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93704752-0C05-5C92-7CC3-68551003ED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28394" r="62272" b="4306"/>
            <a:stretch/>
          </p:blipFill>
          <p:spPr>
            <a:xfrm>
              <a:off x="6121753" y="2844624"/>
              <a:ext cx="1646174" cy="2498756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49C5AEF2-23D6-7AE5-36CC-47B98B87FE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30067" r="30113" b="71607"/>
            <a:stretch/>
          </p:blipFill>
          <p:spPr>
            <a:xfrm>
              <a:off x="6117348" y="5321037"/>
              <a:ext cx="1737488" cy="1054219"/>
            </a:xfrm>
            <a:prstGeom prst="rect">
              <a:avLst/>
            </a:pr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0E82696F-5AEA-B397-2AE2-52F8E6629C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0732" t="28394" b="37620"/>
            <a:stretch/>
          </p:blipFill>
          <p:spPr>
            <a:xfrm>
              <a:off x="7772383" y="2844624"/>
              <a:ext cx="2586076" cy="1261884"/>
            </a:xfrm>
            <a:prstGeom prst="rect">
              <a:avLst/>
            </a:prstGeom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6095D239-B831-2393-B4CB-9CD8BA1023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95733" r="29283" b="-1749"/>
            <a:stretch/>
          </p:blipFill>
          <p:spPr>
            <a:xfrm>
              <a:off x="6121753" y="6446066"/>
              <a:ext cx="3085613" cy="223421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BEB9BB0-769B-ADE7-06F0-81F213FB71E5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코드속성의 </a:t>
            </a:r>
            <a:r>
              <a:rPr lang="ko-KR" altLang="en-US" sz="2400" b="1" dirty="0" err="1">
                <a:latin typeface="+mn-ea"/>
              </a:rPr>
              <a:t>명명법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46460D3-9307-6364-279E-ADE7C9309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153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9234312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1125066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출력 순서</a:t>
            </a:r>
            <a:r>
              <a:rPr lang="ko-KR" altLang="en-US" b="1" dirty="0">
                <a:latin typeface="+mn-ea"/>
              </a:rPr>
              <a:t>를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관리하는 코드 모델</a:t>
            </a:r>
            <a:endParaRPr lang="en-US" altLang="ko-KR" b="1" dirty="0">
              <a:latin typeface="+mn-ea"/>
            </a:endParaRPr>
          </a:p>
          <a:p>
            <a:pPr marL="342900" indent="-342900">
              <a:buFont typeface="+mj-lt"/>
              <a:buAutoNum type="arabicPeriod" startAt="21"/>
            </a:pPr>
            <a:endParaRPr lang="en-US" altLang="ko-KR" sz="1600" b="1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중간에 새로운 코드가 들어갈 것을 대비해 ‘ </a:t>
            </a:r>
            <a:r>
              <a:rPr lang="en-US" altLang="ko-KR" sz="1400" b="1" dirty="0">
                <a:latin typeface="+mn-ea"/>
              </a:rPr>
              <a:t>10’, </a:t>
            </a:r>
            <a:r>
              <a:rPr lang="ko-KR" altLang="en-US" sz="1400" b="1" dirty="0">
                <a:latin typeface="+mn-ea"/>
              </a:rPr>
              <a:t>‘</a:t>
            </a:r>
            <a:r>
              <a:rPr lang="en-US" altLang="ko-KR" sz="1400" b="1" dirty="0">
                <a:latin typeface="+mn-ea"/>
              </a:rPr>
              <a:t>20’, </a:t>
            </a:r>
            <a:r>
              <a:rPr lang="ko-KR" altLang="en-US" sz="1400" b="1" dirty="0">
                <a:latin typeface="+mn-ea"/>
              </a:rPr>
              <a:t>‘</a:t>
            </a:r>
            <a:r>
              <a:rPr lang="en-US" altLang="ko-KR" sz="1400" b="1" dirty="0">
                <a:latin typeface="+mn-ea"/>
              </a:rPr>
              <a:t>30’ </a:t>
            </a:r>
            <a:r>
              <a:rPr lang="ko-KR" altLang="en-US" sz="1400" b="1" dirty="0">
                <a:latin typeface="+mn-ea"/>
              </a:rPr>
              <a:t>등으로 사용하고</a:t>
            </a:r>
            <a:r>
              <a:rPr lang="en-US" altLang="ko-KR" sz="1400" b="1" dirty="0">
                <a:latin typeface="+mn-ea"/>
              </a:rPr>
              <a:t>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코드가 추가될 때는 유사한 코드 명에 따라 ‘</a:t>
            </a:r>
            <a:r>
              <a:rPr lang="en-US" altLang="ko-KR" sz="1400" b="1" dirty="0">
                <a:latin typeface="+mn-ea"/>
              </a:rPr>
              <a:t>21’ </a:t>
            </a:r>
            <a:r>
              <a:rPr lang="ko-KR" altLang="en-US" sz="1400" b="1" dirty="0">
                <a:latin typeface="+mn-ea"/>
              </a:rPr>
              <a:t>과 같이 코드 값을 사용한다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코드 값 대로 출력하지 않고 순서를 정해 출력해야 한다면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출력순서 속성을 별도로 관리</a:t>
            </a:r>
            <a:r>
              <a:rPr lang="ko-KR" altLang="en-US" sz="1400" b="1" dirty="0">
                <a:latin typeface="+mn-ea"/>
              </a:rPr>
              <a:t>해야 한다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6FE9297-0C31-2456-8C63-40E5967E1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959" y="2811902"/>
            <a:ext cx="2829320" cy="1152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B166FB5-AF86-829E-C947-528A6DE35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5959" y="4164737"/>
            <a:ext cx="2791215" cy="2038635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54A0BA2-6A0B-7244-0C7D-8EBF225B142D}"/>
              </a:ext>
            </a:extLst>
          </p:cNvPr>
          <p:cNvSpPr/>
          <p:nvPr/>
        </p:nvSpPr>
        <p:spPr>
          <a:xfrm>
            <a:off x="3859790" y="3525876"/>
            <a:ext cx="974755" cy="181127"/>
          </a:xfrm>
          <a:prstGeom prst="roundRect">
            <a:avLst>
              <a:gd name="adj" fmla="val 5849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B7983E2-3540-1980-FEE6-044DD7BB6F64}"/>
              </a:ext>
            </a:extLst>
          </p:cNvPr>
          <p:cNvSpPr/>
          <p:nvPr/>
        </p:nvSpPr>
        <p:spPr>
          <a:xfrm>
            <a:off x="3831853" y="5779536"/>
            <a:ext cx="974755" cy="181127"/>
          </a:xfrm>
          <a:prstGeom prst="roundRect">
            <a:avLst>
              <a:gd name="adj" fmla="val 5849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926EB81-6B33-0789-E7ED-2DB7932A35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248376"/>
            <a:ext cx="4744112" cy="2029108"/>
          </a:xfrm>
          <a:prstGeom prst="rect">
            <a:avLst/>
          </a:prstGeom>
        </p:spPr>
      </p:pic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C4E0955-5E8D-A24F-F9B8-7225100D065F}"/>
              </a:ext>
            </a:extLst>
          </p:cNvPr>
          <p:cNvSpPr/>
          <p:nvPr/>
        </p:nvSpPr>
        <p:spPr>
          <a:xfrm>
            <a:off x="10297032" y="3456498"/>
            <a:ext cx="429230" cy="1633902"/>
          </a:xfrm>
          <a:prstGeom prst="roundRect">
            <a:avLst>
              <a:gd name="adj" fmla="val 5849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3999E2-22F3-01F9-A3F1-7847F7F7ABD0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코드속성의 </a:t>
            </a:r>
            <a:r>
              <a:rPr lang="ko-KR" altLang="en-US" sz="2400" b="1" dirty="0" err="1">
                <a:latin typeface="+mn-ea"/>
              </a:rPr>
              <a:t>명명법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1CF12A-594D-8A8F-BAC5-216760E97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154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3371837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1125066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 코드 모델의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이력 관리</a:t>
            </a:r>
            <a:endParaRPr lang="en-US" altLang="ko-KR" b="1" dirty="0">
              <a:latin typeface="+mn-ea"/>
            </a:endParaRPr>
          </a:p>
          <a:p>
            <a:pPr marL="342900" indent="-342900">
              <a:buFont typeface="+mj-lt"/>
              <a:buAutoNum type="arabicPeriod" startAt="22"/>
            </a:pPr>
            <a:endParaRPr lang="en-US" altLang="ko-KR" sz="1600" b="1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중간에 새로운 코드가 들어갈 것을 대비해 ‘ </a:t>
            </a:r>
            <a:r>
              <a:rPr lang="en-US" altLang="ko-KR" sz="1400" b="1" dirty="0">
                <a:latin typeface="+mn-ea"/>
              </a:rPr>
              <a:t>10’, </a:t>
            </a:r>
            <a:r>
              <a:rPr lang="ko-KR" altLang="en-US" sz="1400" b="1" dirty="0">
                <a:latin typeface="+mn-ea"/>
              </a:rPr>
              <a:t>‘</a:t>
            </a:r>
            <a:r>
              <a:rPr lang="en-US" altLang="ko-KR" sz="1400" b="1" dirty="0">
                <a:latin typeface="+mn-ea"/>
              </a:rPr>
              <a:t>20’, </a:t>
            </a:r>
            <a:r>
              <a:rPr lang="ko-KR" altLang="en-US" sz="1400" b="1" dirty="0">
                <a:latin typeface="+mn-ea"/>
              </a:rPr>
              <a:t>‘</a:t>
            </a:r>
            <a:r>
              <a:rPr lang="en-US" altLang="ko-KR" sz="1400" b="1" dirty="0">
                <a:latin typeface="+mn-ea"/>
              </a:rPr>
              <a:t>30’ </a:t>
            </a:r>
            <a:r>
              <a:rPr lang="ko-KR" altLang="en-US" sz="1400" b="1" dirty="0">
                <a:latin typeface="+mn-ea"/>
              </a:rPr>
              <a:t>등으로 사용하고</a:t>
            </a:r>
            <a:r>
              <a:rPr lang="en-US" altLang="ko-KR" sz="1400" b="1" dirty="0">
                <a:latin typeface="+mn-ea"/>
              </a:rPr>
              <a:t>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코드가 추가될 때는 유사한 코드 명에 따라 ‘</a:t>
            </a:r>
            <a:r>
              <a:rPr lang="en-US" altLang="ko-KR" sz="1400" b="1" dirty="0">
                <a:latin typeface="+mn-ea"/>
              </a:rPr>
              <a:t>21’ </a:t>
            </a:r>
            <a:r>
              <a:rPr lang="ko-KR" altLang="en-US" sz="1400" b="1" dirty="0">
                <a:latin typeface="+mn-ea"/>
              </a:rPr>
              <a:t>과 같이 코드 값을 사용한다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코드 값 대로 출력하지 않고 순서를 정해 출력해야 한다면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출력순서 속성을 별도로 관리</a:t>
            </a:r>
            <a:r>
              <a:rPr lang="ko-KR" altLang="en-US" sz="1400" b="1" dirty="0">
                <a:latin typeface="+mn-ea"/>
              </a:rPr>
              <a:t>해야 한다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0C13D81-99B1-4E64-F946-E5E23F6D9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153" y="3796529"/>
            <a:ext cx="2541562" cy="90643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C89F560-C1B5-1C3D-E8EB-12606466B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916" y="3087693"/>
            <a:ext cx="2506016" cy="2657088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B02A155-52E7-F87A-179B-9031E86E5CC7}"/>
              </a:ext>
            </a:extLst>
          </p:cNvPr>
          <p:cNvSpPr/>
          <p:nvPr/>
        </p:nvSpPr>
        <p:spPr>
          <a:xfrm>
            <a:off x="5126334" y="4955530"/>
            <a:ext cx="750326" cy="181127"/>
          </a:xfrm>
          <a:prstGeom prst="roundRect">
            <a:avLst>
              <a:gd name="adj" fmla="val 5849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FB60AFB-C4FD-2809-C4E8-92DA5D6D2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5771" y="3082930"/>
            <a:ext cx="1790950" cy="109552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AFBB0804-2E35-4D87-E3A6-1A0ED309BF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7124" y="3087693"/>
            <a:ext cx="1800476" cy="108600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064CA925-F005-01EE-D684-66661EC487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5771" y="4836229"/>
            <a:ext cx="3258005" cy="1095528"/>
          </a:xfrm>
          <a:prstGeom prst="rect">
            <a:avLst/>
          </a:prstGeom>
        </p:spPr>
      </p:pic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A6689AB-8F57-9D7B-FD5E-E575EBC51D4D}"/>
              </a:ext>
            </a:extLst>
          </p:cNvPr>
          <p:cNvSpPr/>
          <p:nvPr/>
        </p:nvSpPr>
        <p:spPr>
          <a:xfrm>
            <a:off x="9415599" y="3651673"/>
            <a:ext cx="1629624" cy="144856"/>
          </a:xfrm>
          <a:prstGeom prst="roundRect">
            <a:avLst>
              <a:gd name="adj" fmla="val 1639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BCAF1690-A83B-F4B3-4CB4-35D35249E0D6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>
            <a:off x="8646721" y="3630694"/>
            <a:ext cx="69040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78E0154-AE30-8724-84F6-621E1950EB56}"/>
              </a:ext>
            </a:extLst>
          </p:cNvPr>
          <p:cNvSpPr/>
          <p:nvPr/>
        </p:nvSpPr>
        <p:spPr>
          <a:xfrm>
            <a:off x="6919141" y="5402096"/>
            <a:ext cx="3139255" cy="172277"/>
          </a:xfrm>
          <a:prstGeom prst="roundRect">
            <a:avLst>
              <a:gd name="adj" fmla="val 1639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0C966CE-16BD-ED61-C0C0-8C6AA1F2BA2B}"/>
              </a:ext>
            </a:extLst>
          </p:cNvPr>
          <p:cNvSpPr/>
          <p:nvPr/>
        </p:nvSpPr>
        <p:spPr>
          <a:xfrm>
            <a:off x="5126334" y="5362633"/>
            <a:ext cx="750326" cy="181127"/>
          </a:xfrm>
          <a:prstGeom prst="roundRect">
            <a:avLst>
              <a:gd name="adj" fmla="val 5849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F300C3-11FA-C681-1CBA-00081A074588}"/>
              </a:ext>
            </a:extLst>
          </p:cNvPr>
          <p:cNvSpPr txBox="1"/>
          <p:nvPr/>
        </p:nvSpPr>
        <p:spPr>
          <a:xfrm>
            <a:off x="9437128" y="5247065"/>
            <a:ext cx="576003" cy="12311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200" dirty="0"/>
              <a:t> </a:t>
            </a:r>
            <a:endParaRPr lang="ko-KR" altLang="en-US" sz="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B692E7-32CD-44E1-FDC9-99B803E78216}"/>
              </a:ext>
            </a:extLst>
          </p:cNvPr>
          <p:cNvSpPr txBox="1"/>
          <p:nvPr/>
        </p:nvSpPr>
        <p:spPr>
          <a:xfrm>
            <a:off x="9357644" y="5218405"/>
            <a:ext cx="7425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9999-12-31</a:t>
            </a:r>
            <a:endParaRPr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332E28-18C8-039D-A3FC-681E4736C212}"/>
              </a:ext>
            </a:extLst>
          </p:cNvPr>
          <p:cNvSpPr txBox="1"/>
          <p:nvPr/>
        </p:nvSpPr>
        <p:spPr>
          <a:xfrm>
            <a:off x="9426565" y="5598640"/>
            <a:ext cx="576003" cy="12311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200" dirty="0"/>
              <a:t> </a:t>
            </a:r>
            <a:endParaRPr lang="ko-KR" altLang="en-US" sz="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B6F0EA-01B1-C0EC-16DE-38E8EB2F60A4}"/>
              </a:ext>
            </a:extLst>
          </p:cNvPr>
          <p:cNvSpPr txBox="1"/>
          <p:nvPr/>
        </p:nvSpPr>
        <p:spPr>
          <a:xfrm>
            <a:off x="9347081" y="5560927"/>
            <a:ext cx="7425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9999-12-31</a:t>
            </a:r>
            <a:endParaRPr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DB8F58-0F0F-7512-05C8-33901003F3D4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코드속성의 </a:t>
            </a:r>
            <a:r>
              <a:rPr lang="ko-KR" altLang="en-US" sz="2400" b="1" dirty="0" err="1">
                <a:latin typeface="+mn-ea"/>
              </a:rPr>
              <a:t>명명법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F1E940-FF4D-A4EA-2254-6E60E9EB9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155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3713620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112506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속성 명 하나하나를 정확히 정하면 그만큼 모델의 품질은 높아진다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속성의 성격을 가장 잘 표현할 수 있도록 속성 명을 정하는 것은 </a:t>
            </a:r>
            <a:r>
              <a:rPr lang="ko-KR" altLang="en-US" sz="1400" b="1" dirty="0" err="1">
                <a:latin typeface="+mn-ea"/>
              </a:rPr>
              <a:t>모델러가</a:t>
            </a:r>
            <a:r>
              <a:rPr lang="ko-KR" altLang="en-US" sz="1400" b="1" dirty="0">
                <a:latin typeface="+mn-ea"/>
              </a:rPr>
              <a:t> 해야 할 커다란 역할이다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속성의 의미를 명확하게 표현하는 것이 속성 명을 명명하는 가장 중요한 원칙이다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속성 명은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단어의 조합</a:t>
            </a:r>
            <a:r>
              <a:rPr lang="ko-KR" altLang="en-US" sz="1400" b="1" dirty="0">
                <a:latin typeface="+mn-ea"/>
              </a:rPr>
              <a:t>으로 이루어진다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최근 어느 정도 규모의 시스템에는 단어</a:t>
            </a:r>
            <a:r>
              <a:rPr lang="en-US" altLang="ko-KR" sz="1400" b="1" dirty="0">
                <a:latin typeface="+mn-ea"/>
              </a:rPr>
              <a:t>•</a:t>
            </a:r>
            <a:r>
              <a:rPr lang="ko-KR" altLang="en-US" sz="1400" b="1" dirty="0">
                <a:latin typeface="+mn-ea"/>
              </a:rPr>
              <a:t>용어를 관리하는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메타 시스템</a:t>
            </a:r>
            <a:r>
              <a:rPr lang="ko-KR" altLang="en-US" sz="1400" b="1" dirty="0">
                <a:latin typeface="+mn-ea"/>
              </a:rPr>
              <a:t>이 존재한다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메타 시스템에 단어가 존재하면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그 단어들을 조합한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용어</a:t>
            </a:r>
            <a:r>
              <a:rPr lang="ko-KR" altLang="en-US" sz="1400" b="1" dirty="0">
                <a:latin typeface="+mn-ea"/>
              </a:rPr>
              <a:t>가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속성명</a:t>
            </a:r>
            <a:r>
              <a:rPr lang="ko-KR" altLang="en-US" sz="1400" b="1" dirty="0">
                <a:latin typeface="+mn-ea"/>
              </a:rPr>
              <a:t>이 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‘</a:t>
            </a:r>
            <a:r>
              <a:rPr lang="ko-KR" altLang="en-US" sz="1400" b="1" dirty="0" err="1">
                <a:latin typeface="+mn-ea"/>
              </a:rPr>
              <a:t>전화번호’라는</a:t>
            </a:r>
            <a:r>
              <a:rPr lang="ko-KR" altLang="en-US" sz="1400" b="1" dirty="0">
                <a:latin typeface="+mn-ea"/>
              </a:rPr>
              <a:t> 속성보다는 ‘자택전화번호’</a:t>
            </a:r>
            <a:r>
              <a:rPr lang="en-US" altLang="ko-KR" sz="1400" b="1" dirty="0">
                <a:latin typeface="+mn-ea"/>
              </a:rPr>
              <a:t>,  ‘</a:t>
            </a:r>
            <a:r>
              <a:rPr lang="ko-KR" altLang="en-US" sz="1400" b="1" dirty="0" err="1">
                <a:latin typeface="+mn-ea"/>
              </a:rPr>
              <a:t>휴대전화번호’가</a:t>
            </a:r>
            <a:r>
              <a:rPr lang="ko-KR" altLang="en-US" sz="1400" b="1" dirty="0">
                <a:latin typeface="+mn-ea"/>
              </a:rPr>
              <a:t> 구체적이고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이보다는 ‘</a:t>
            </a:r>
            <a:r>
              <a:rPr lang="ko-KR" altLang="en-US" sz="1400" b="1" dirty="0" err="1">
                <a:latin typeface="+mn-ea"/>
              </a:rPr>
              <a:t>고객자택전화번호</a:t>
            </a:r>
            <a:r>
              <a:rPr lang="ko-KR" altLang="en-US" sz="1400" b="1" dirty="0">
                <a:latin typeface="+mn-ea"/>
              </a:rPr>
              <a:t>’</a:t>
            </a:r>
            <a:r>
              <a:rPr lang="en-US" altLang="ko-KR" sz="1400" b="1" dirty="0">
                <a:latin typeface="+mn-ea"/>
              </a:rPr>
              <a:t>,  ‘</a:t>
            </a:r>
            <a:r>
              <a:rPr lang="ko-KR" altLang="en-US" sz="1400" b="1" dirty="0">
                <a:latin typeface="+mn-ea"/>
              </a:rPr>
              <a:t>고객휴대전화번호’ 가 더 구체적이다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실무에서는 ‘</a:t>
            </a:r>
            <a:r>
              <a:rPr lang="ko-KR" altLang="en-US" sz="1400" b="1" dirty="0" err="1">
                <a:latin typeface="+mn-ea"/>
              </a:rPr>
              <a:t>전화번호’와</a:t>
            </a:r>
            <a:r>
              <a:rPr lang="ko-KR" altLang="en-US" sz="1400" b="1" dirty="0">
                <a:latin typeface="+mn-ea"/>
              </a:rPr>
              <a:t> 같은 도메인</a:t>
            </a:r>
            <a:r>
              <a:rPr lang="en-US" altLang="ko-KR" sz="1400" b="1" dirty="0">
                <a:latin typeface="+mn-ea"/>
              </a:rPr>
              <a:t> </a:t>
            </a:r>
            <a:r>
              <a:rPr lang="ko-KR" altLang="en-US" sz="1400" b="1" dirty="0">
                <a:latin typeface="+mn-ea"/>
              </a:rPr>
              <a:t>성격의 속성 명이 많이 사용된다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구체적으로 명명해야 한다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속성 명이 구체적이지 않거나 여러 의미로 사용될 수 있을 때는 속성이 잘못 쓰일 가능성으로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결국 실제로 잘못 사용하게 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구체적으로 명명해야 하지만 속성 명이 지나치게 길면 좋지 않다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의미가 파악되는 한에서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가능한 짧아야 한다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의미가 명확하면서 함축적인 속성 명을 정하기가 쉽지는 않지만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각 속성에 대해 고민하여 최적에 근접하도록 정해야 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속성명은 지나치게 일반적인 용어는 사용하지 말아야 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예컨대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‘ 일자’ 나  ‘메모’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‘내용’ 같은 속성이다</a:t>
            </a:r>
            <a:r>
              <a:rPr lang="en-US" altLang="ko-KR" sz="1400" b="1" dirty="0">
                <a:latin typeface="+mn-ea"/>
              </a:rPr>
              <a:t>. 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‘</a:t>
            </a:r>
            <a:r>
              <a:rPr lang="ko-KR" altLang="en-US" sz="1400" b="1" dirty="0">
                <a:latin typeface="+mn-ea"/>
              </a:rPr>
              <a:t>삭제일자’ 등과 같이 구체적으로 사용해야 한다</a:t>
            </a:r>
            <a:r>
              <a:rPr lang="en-US" altLang="ko-KR" sz="1400" b="1" dirty="0">
                <a:latin typeface="+mn-ea"/>
              </a:rPr>
              <a:t>. 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‘</a:t>
            </a:r>
            <a:r>
              <a:rPr lang="ko-KR" altLang="en-US" sz="1400" b="1" dirty="0">
                <a:latin typeface="+mn-ea"/>
              </a:rPr>
              <a:t>처리일자’ </a:t>
            </a:r>
            <a:r>
              <a:rPr lang="en-US" altLang="ko-KR" sz="1400" b="1" dirty="0">
                <a:latin typeface="+mn-ea"/>
              </a:rPr>
              <a:t>,  ‘</a:t>
            </a:r>
            <a:r>
              <a:rPr lang="ko-KR" altLang="en-US" sz="1400" b="1" dirty="0">
                <a:latin typeface="+mn-ea"/>
              </a:rPr>
              <a:t>등록일자’ 등도 일반적인 속성 명이다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가입처리인지 삭제처리인지를 명확하게 의미하도록 해야 한다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조금 길어지더라도 ‘ 가입처리일자’ ，‘삭제처리일자’ 등으로 구체적으로 정의해야 사용사람이 임의대로 해석해서 사용하는 것을 막을 수 있다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b="1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BF69A-051B-A8B8-9156-7061616BC10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속성명은 어떻게 정하는가</a:t>
            </a:r>
            <a:r>
              <a:rPr lang="en-US" altLang="ko-KR" sz="2400" b="1" dirty="0">
                <a:latin typeface="+mn-ea"/>
              </a:rPr>
              <a:t>? (1/2)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D88E9E-0856-460D-D95E-A159164D8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156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9464410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1125066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3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속성명이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모호한 모델 </a:t>
            </a:r>
            <a:r>
              <a:rPr lang="en-US" altLang="ko-KR" sz="1600" b="1" dirty="0">
                <a:latin typeface="+mn-ea"/>
              </a:rPr>
              <a:t>vs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명확한 모델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속성명은 아래와 같이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“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표준화 지침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”</a:t>
            </a:r>
            <a:r>
              <a:rPr lang="ko-KR" altLang="en-US" sz="1600" b="1" dirty="0">
                <a:latin typeface="+mn-ea"/>
              </a:rPr>
              <a:t>에 따라 정하는 것이 원칙이다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b="1" strike="sngStrike" dirty="0" err="1">
                <a:latin typeface="+mn-ea"/>
              </a:rPr>
              <a:t>속성명</a:t>
            </a:r>
            <a:r>
              <a:rPr lang="ko-KR" altLang="en-US" sz="1600" b="1" strike="sngStrike" dirty="0">
                <a:latin typeface="+mn-ea"/>
              </a:rPr>
              <a:t> </a:t>
            </a:r>
            <a:r>
              <a:rPr lang="en-US" altLang="ko-KR" sz="1600" b="1" strike="sngStrike" dirty="0">
                <a:latin typeface="+mn-ea"/>
              </a:rPr>
              <a:t>= </a:t>
            </a:r>
            <a:r>
              <a:rPr lang="ko-KR" altLang="en-US" sz="1600" b="1" strike="sngStrike" dirty="0">
                <a:latin typeface="+mn-ea"/>
              </a:rPr>
              <a:t>표준용어 </a:t>
            </a:r>
            <a:r>
              <a:rPr lang="en-US" altLang="ko-KR" sz="1600" b="1" strike="sngStrike" dirty="0">
                <a:latin typeface="+mn-ea"/>
              </a:rPr>
              <a:t>= </a:t>
            </a:r>
            <a:r>
              <a:rPr lang="ko-KR" altLang="en-US" sz="1600" b="1" strike="sngStrike" dirty="0">
                <a:latin typeface="+mn-ea"/>
              </a:rPr>
              <a:t>단어 </a:t>
            </a:r>
            <a:r>
              <a:rPr lang="en-US" altLang="ko-KR" sz="1600" b="1" strike="sngStrike" dirty="0">
                <a:latin typeface="+mn-ea"/>
              </a:rPr>
              <a:t>+ </a:t>
            </a:r>
            <a:r>
              <a:rPr lang="ko-KR" altLang="en-US" sz="1600" b="1" strike="sngStrike" dirty="0">
                <a:latin typeface="+mn-ea"/>
              </a:rPr>
              <a:t>단어</a:t>
            </a:r>
            <a:endParaRPr lang="en-US" altLang="ko-KR" sz="1600" b="1" strike="sngStrike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1600" b="1" dirty="0" err="1">
                <a:solidFill>
                  <a:srgbClr val="FF0000"/>
                </a:solidFill>
                <a:latin typeface="+mn-ea"/>
              </a:rPr>
              <a:t>속성명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=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표준용어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=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단어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+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도메인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1600" b="1" dirty="0" err="1">
                <a:solidFill>
                  <a:srgbClr val="FF0000"/>
                </a:solidFill>
                <a:latin typeface="+mn-ea"/>
              </a:rPr>
              <a:t>속성명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=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표준용어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=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단어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+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단어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+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도메인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1600" b="1" dirty="0" err="1">
                <a:solidFill>
                  <a:srgbClr val="FF0000"/>
                </a:solidFill>
                <a:latin typeface="+mn-ea"/>
              </a:rPr>
              <a:t>속성명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=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표준용어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=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단어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+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단어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+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단어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+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도메인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b="1" strike="sngStrike" dirty="0" err="1">
                <a:latin typeface="+mn-ea"/>
              </a:rPr>
              <a:t>속성명</a:t>
            </a:r>
            <a:r>
              <a:rPr lang="ko-KR" altLang="en-US" sz="1600" b="1" strike="sngStrike" dirty="0">
                <a:latin typeface="+mn-ea"/>
              </a:rPr>
              <a:t> </a:t>
            </a:r>
            <a:r>
              <a:rPr lang="en-US" altLang="ko-KR" sz="1600" b="1" strike="sngStrike" dirty="0">
                <a:latin typeface="+mn-ea"/>
              </a:rPr>
              <a:t>= </a:t>
            </a:r>
            <a:r>
              <a:rPr lang="ko-KR" altLang="en-US" sz="1600" b="1" strike="sngStrike" dirty="0">
                <a:latin typeface="+mn-ea"/>
              </a:rPr>
              <a:t>표준용어 </a:t>
            </a:r>
            <a:r>
              <a:rPr lang="en-US" altLang="ko-KR" sz="1600" b="1" strike="sngStrike" dirty="0">
                <a:latin typeface="+mn-ea"/>
              </a:rPr>
              <a:t>= </a:t>
            </a:r>
            <a:r>
              <a:rPr lang="ko-KR" altLang="en-US" sz="1600" b="1" strike="sngStrike" dirty="0">
                <a:latin typeface="+mn-ea"/>
              </a:rPr>
              <a:t>도메인 </a:t>
            </a:r>
            <a:r>
              <a:rPr lang="en-US" altLang="ko-KR" sz="1600" b="1" strike="sngStrike" dirty="0">
                <a:latin typeface="+mn-ea"/>
              </a:rPr>
              <a:t>+ </a:t>
            </a:r>
            <a:r>
              <a:rPr lang="ko-KR" altLang="en-US" sz="1600" b="1" strike="sngStrike" dirty="0">
                <a:latin typeface="+mn-ea"/>
              </a:rPr>
              <a:t>도메인</a:t>
            </a:r>
            <a:endParaRPr lang="en-US" altLang="ko-KR" sz="1600" b="1" strike="sngStrike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b="1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BCAF1690-A83B-F4B3-4CB4-35D35249E0D6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3970853" y="2703567"/>
            <a:ext cx="1148972" cy="47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5E292DAE-8C09-2E88-001E-7E68A98A9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797" y="2232013"/>
            <a:ext cx="2191056" cy="95263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20230F6-C6D4-8812-9573-1FB60BE6B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825" y="2222487"/>
            <a:ext cx="2476846" cy="962159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CD412A1-48C0-1B2E-5484-02DFFA5A8909}"/>
              </a:ext>
            </a:extLst>
          </p:cNvPr>
          <p:cNvSpPr/>
          <p:nvPr/>
        </p:nvSpPr>
        <p:spPr>
          <a:xfrm>
            <a:off x="6736703" y="2652943"/>
            <a:ext cx="715132" cy="172071"/>
          </a:xfrm>
          <a:prstGeom prst="roundRect">
            <a:avLst>
              <a:gd name="adj" fmla="val 5849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EDF37F0-8000-3415-92DA-7E74E352B938}"/>
              </a:ext>
            </a:extLst>
          </p:cNvPr>
          <p:cNvSpPr/>
          <p:nvPr/>
        </p:nvSpPr>
        <p:spPr>
          <a:xfrm>
            <a:off x="3066345" y="2671049"/>
            <a:ext cx="731679" cy="153965"/>
          </a:xfrm>
          <a:prstGeom prst="roundRect">
            <a:avLst>
              <a:gd name="adj" fmla="val 5849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3F4C24-8864-2AAE-021F-EFC38FA7A556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속성명은 어떻게 정하는가</a:t>
            </a:r>
            <a:r>
              <a:rPr lang="en-US" altLang="ko-KR" sz="2400" b="1" dirty="0">
                <a:latin typeface="+mn-ea"/>
              </a:rPr>
              <a:t>? (2/2)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DBF947-BF66-402F-5C2D-89690D2A9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157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AF2D5D-066B-4781-9A41-07671F9F18D0}"/>
              </a:ext>
            </a:extLst>
          </p:cNvPr>
          <p:cNvSpPr txBox="1"/>
          <p:nvPr/>
        </p:nvSpPr>
        <p:spPr>
          <a:xfrm>
            <a:off x="8050940" y="2576976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속성도메인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28E37AB-808D-40C4-A319-5D4A5E37C2FC}"/>
              </a:ext>
            </a:extLst>
          </p:cNvPr>
          <p:cNvCxnSpPr>
            <a:cxnSpLocks/>
            <a:stCxn id="8" idx="1"/>
            <a:endCxn id="14" idx="3"/>
          </p:cNvCxnSpPr>
          <p:nvPr/>
        </p:nvCxnSpPr>
        <p:spPr>
          <a:xfrm flipH="1" flipV="1">
            <a:off x="7451835" y="2738979"/>
            <a:ext cx="599105" cy="72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642573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1125066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4"/>
            </a:pP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속성 설명</a:t>
            </a:r>
            <a:endParaRPr lang="en-US" altLang="ko-KR" b="1" dirty="0">
              <a:latin typeface="+mn-ea"/>
            </a:endParaRPr>
          </a:p>
          <a:p>
            <a:pPr marL="342900" indent="-342900">
              <a:buFont typeface="+mj-lt"/>
              <a:buAutoNum type="arabicPeriod" startAt="24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b="1" dirty="0">
                <a:latin typeface="+mn-ea"/>
              </a:rPr>
              <a:t>모델링을 하면서 가장 관리가 안 되는 부분이 속성 설명</a:t>
            </a:r>
            <a:r>
              <a:rPr lang="en-US" altLang="ko-KR" sz="1200" b="1" dirty="0">
                <a:latin typeface="+mn-ea"/>
              </a:rPr>
              <a:t>(Explanation )</a:t>
            </a:r>
            <a:r>
              <a:rPr lang="ko-KR" altLang="en-US" sz="1200" b="1" dirty="0">
                <a:latin typeface="+mn-ea"/>
              </a:rPr>
              <a:t>을 기술하는 것이다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b="1" dirty="0" err="1">
                <a:latin typeface="+mn-ea"/>
              </a:rPr>
              <a:t>엔터티</a:t>
            </a:r>
            <a:r>
              <a:rPr lang="ko-KR" altLang="en-US" sz="1200" b="1" dirty="0">
                <a:latin typeface="+mn-ea"/>
              </a:rPr>
              <a:t> 설명까지는 대부분 제대로 기술하지만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속성은 개수가 많아서 제대로 기술하기 쉽지 않다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b="1" dirty="0">
                <a:latin typeface="+mn-ea"/>
              </a:rPr>
              <a:t>특별히 설명을 적지 않아도 이미 속성 명으로 의미가 파악되는 속성도 많다</a:t>
            </a:r>
            <a:r>
              <a:rPr lang="en-US" altLang="ko-KR" sz="1200" b="1" dirty="0">
                <a:latin typeface="+mn-ea"/>
              </a:rPr>
              <a:t>. </a:t>
            </a:r>
            <a:r>
              <a:rPr lang="ko-KR" altLang="en-US" sz="1200" b="1" dirty="0">
                <a:latin typeface="+mn-ea"/>
              </a:rPr>
              <a:t>따라서 모든 속성의 설명을 반드시 기술해야 하는지는 항상 논란거리다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b="1" dirty="0">
                <a:latin typeface="+mn-ea"/>
              </a:rPr>
              <a:t>논란은 있지만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속성 설명</a:t>
            </a:r>
            <a:r>
              <a:rPr lang="ko-KR" altLang="en-US" sz="1200" b="1" dirty="0">
                <a:latin typeface="+mn-ea"/>
              </a:rPr>
              <a:t>은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기술하는 것을 원칙</a:t>
            </a:r>
            <a:r>
              <a:rPr lang="ko-KR" altLang="en-US" sz="1200" b="1" dirty="0">
                <a:latin typeface="+mn-ea"/>
              </a:rPr>
              <a:t>으로 해야 한다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b="1" dirty="0">
                <a:latin typeface="+mn-ea"/>
              </a:rPr>
              <a:t>일부 속성은 기술하지 않아도 된다고 가이드 하면 실제 설명이 필요한 많은 속성에 대한 설명도 비어 있을 것이다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b="1" dirty="0">
                <a:latin typeface="+mn-ea"/>
              </a:rPr>
              <a:t>설명 작성 시 주의 사항</a:t>
            </a:r>
            <a:endParaRPr lang="en-US" altLang="ko-KR" sz="1200" b="1" dirty="0">
              <a:latin typeface="+mn-ea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설명은 단순</a:t>
            </a:r>
            <a:r>
              <a:rPr lang="en-US" altLang="ko-KR" sz="1200" b="1" dirty="0">
                <a:latin typeface="+mn-ea"/>
              </a:rPr>
              <a:t>•</a:t>
            </a:r>
            <a:r>
              <a:rPr lang="ko-KR" altLang="en-US" sz="1200" b="1" dirty="0">
                <a:latin typeface="+mn-ea"/>
              </a:rPr>
              <a:t>명료하게 기술해야 한다</a:t>
            </a:r>
            <a:r>
              <a:rPr lang="en-US" altLang="ko-KR" sz="1200" b="1" dirty="0">
                <a:latin typeface="+mn-ea"/>
              </a:rPr>
              <a:t>. </a:t>
            </a:r>
            <a:r>
              <a:rPr lang="ko-KR" altLang="en-US" sz="1200" b="1" dirty="0">
                <a:latin typeface="+mn-ea"/>
              </a:rPr>
              <a:t>길고 장황한 설명은 의미 전달을 흐리게 할 수 있다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지나치게 일반적인 용어나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본인만이 이해할 수 있는 특수 용어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잘 모르는 </a:t>
            </a:r>
            <a:r>
              <a:rPr lang="ko-KR" altLang="en-US" sz="1200" b="1" dirty="0" err="1">
                <a:latin typeface="+mn-ea"/>
              </a:rPr>
              <a:t>축약어는</a:t>
            </a:r>
            <a:r>
              <a:rPr lang="ko-KR" altLang="en-US" sz="1200" b="1" dirty="0">
                <a:latin typeface="+mn-ea"/>
              </a:rPr>
              <a:t> 사용하지 않는 것이 좋다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그리고 속성 명을 풀어서 설명하는 것은 가능하면 피해야 한다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만약 중복 속성이라면 원본 속성이 무엇인지를 기술해야 한다</a:t>
            </a:r>
            <a:r>
              <a:rPr lang="en-US" altLang="ko-KR" sz="1200" b="1" dirty="0">
                <a:latin typeface="+mn-ea"/>
              </a:rPr>
              <a:t>. </a:t>
            </a:r>
            <a:r>
              <a:rPr lang="ko-KR" altLang="en-US" sz="1200" b="1" dirty="0">
                <a:latin typeface="+mn-ea"/>
              </a:rPr>
              <a:t>어떤 </a:t>
            </a:r>
            <a:r>
              <a:rPr lang="ko-KR" altLang="en-US" sz="1200" b="1" dirty="0" err="1">
                <a:latin typeface="+mn-ea"/>
              </a:rPr>
              <a:t>엔터티의</a:t>
            </a:r>
            <a:r>
              <a:rPr lang="ko-KR" altLang="en-US" sz="1200" b="1" dirty="0">
                <a:latin typeface="+mn-ea"/>
              </a:rPr>
              <a:t> 어떤 속성이 원본 속성인지를 설명해야 한다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추출 속성이라면 추출 대상 데이터와 추출 로직을 기술해야 한다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코드 속성일 때는 코드 인스턴스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 err="1">
                <a:latin typeface="+mn-ea"/>
              </a:rPr>
              <a:t>코드값</a:t>
            </a:r>
            <a:r>
              <a:rPr lang="en-US" altLang="ko-KR" sz="1200" b="1" dirty="0"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를 기술하는 것이 좋다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altLang="ko-KR" sz="1200" b="1" dirty="0">
              <a:latin typeface="+mn-ea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altLang="ko-KR" sz="12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b="1" dirty="0">
                <a:latin typeface="+mn-ea"/>
              </a:rPr>
              <a:t>속성 설명을 잘 기술하면 관련자 뿐만 아니라 </a:t>
            </a:r>
            <a:r>
              <a:rPr lang="ko-KR" altLang="en-US" sz="1200" b="1" dirty="0" err="1">
                <a:latin typeface="+mn-ea"/>
              </a:rPr>
              <a:t>모델러</a:t>
            </a:r>
            <a:r>
              <a:rPr lang="ko-KR" altLang="en-US" sz="1200" b="1" dirty="0">
                <a:latin typeface="+mn-ea"/>
              </a:rPr>
              <a:t> 자신에게도 도움이 된다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b="1" dirty="0" err="1">
                <a:latin typeface="+mn-ea"/>
              </a:rPr>
              <a:t>엔터티에</a:t>
            </a:r>
            <a:r>
              <a:rPr lang="ko-KR" altLang="en-US" sz="1200" b="1" dirty="0">
                <a:latin typeface="+mn-ea"/>
              </a:rPr>
              <a:t> 대해서는 대략 어떤 데이터를 관리하는지 기억할 수 있지만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속성에 대해서는 기억할 수 없다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b="1" dirty="0">
                <a:latin typeface="+mn-ea"/>
              </a:rPr>
              <a:t>무엇보다 향후에 모델을 관리할 다른 사람을 위해서 기술해야 한다</a:t>
            </a:r>
            <a:r>
              <a:rPr lang="en-US" altLang="ko-KR" sz="1200" b="1" dirty="0">
                <a:latin typeface="+mn-ea"/>
              </a:rPr>
              <a:t>.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설명이 없으면</a:t>
            </a:r>
            <a:r>
              <a:rPr lang="ko-KR" altLang="en-US" sz="1200" b="1" dirty="0">
                <a:latin typeface="+mn-ea"/>
              </a:rPr>
              <a:t> 당장은 문제가 안 되지만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언젠가는 문제가 된다</a:t>
            </a:r>
            <a:r>
              <a:rPr lang="en-US" altLang="ko-KR" sz="1200" b="1" dirty="0">
                <a:latin typeface="+mn-ea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BF69A-051B-A8B8-9156-7061616BC10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 startAt="2"/>
            </a:pPr>
            <a:r>
              <a:rPr lang="ko-KR" altLang="en-US" sz="2400" b="1" dirty="0">
                <a:latin typeface="+mn-ea"/>
              </a:rPr>
              <a:t> 속성의 종류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093ED7-2F85-E965-59BA-B68B93655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158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8677433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624468" y="1496173"/>
            <a:ext cx="1136750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표준화</a:t>
            </a:r>
            <a:r>
              <a:rPr lang="ko-KR" altLang="en-US" sz="1400" b="1" dirty="0">
                <a:latin typeface="+mn-ea"/>
              </a:rPr>
              <a:t>란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일정한 기준에 따라 통일하는 과정을 의미</a:t>
            </a:r>
            <a:r>
              <a:rPr lang="ko-KR" altLang="en-US" sz="1400" b="1" dirty="0">
                <a:latin typeface="+mn-ea"/>
              </a:rPr>
              <a:t>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속성 표준화 역시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속성의 쓰임새를 통일시키는 것이 핵심</a:t>
            </a:r>
            <a:r>
              <a:rPr lang="ko-KR" altLang="en-US" sz="1400" b="1" dirty="0">
                <a:latin typeface="+mn-ea"/>
              </a:rPr>
              <a:t>이다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즉 같은 의미의 속성에 대해서 다르게 쓰거나 다른 의미를 같게 쓰지 않도록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속성 명을 동일하게 사용하는 것</a:t>
            </a:r>
            <a:r>
              <a:rPr lang="ko-KR" altLang="en-US" sz="1400" b="1" dirty="0">
                <a:latin typeface="+mn-ea"/>
              </a:rPr>
              <a:t>이다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속성 표준화를 목적은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데이터의 품질을 높이기 위해서</a:t>
            </a:r>
            <a:r>
              <a:rPr lang="ko-KR" altLang="en-US" sz="1400" b="1" dirty="0">
                <a:latin typeface="+mn-ea"/>
              </a:rPr>
              <a:t>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속성의 일관된 사용은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데이터 오류를 줄여주기 때문에</a:t>
            </a:r>
            <a:r>
              <a:rPr lang="ko-KR" altLang="en-US" sz="1400" b="1" dirty="0">
                <a:latin typeface="+mn-ea"/>
              </a:rPr>
              <a:t> 품질이 높아진다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또한 관련자의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커뮤니케이션을 돕는다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다소 부정확하더라도 일관되도록 사용하면  커뮤니케이션을 돕는 효과를 낼 수 있다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속성 표준화는 정의가 정확한 국어사전을 만드는 것이 아니므로 사전적인 의미에 얽매일 필요는 없다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그보다 더 중요한 것은 일관되도록 사용하는 것이다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사원과 직원이라는 용어 중에서 사원을 사용하기로 정했다면</a:t>
            </a:r>
            <a:r>
              <a:rPr lang="en-US" altLang="ko-KR" sz="1400" b="1" dirty="0">
                <a:latin typeface="+mn-ea"/>
              </a:rPr>
              <a:t>,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‘사원번호’ 와 ‘직원번호’ 가 같이 사용되면 안 된다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같이 사용되지 않도록 시스템에서 제어해 주어야 한다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BF69A-051B-A8B8-9156-7061616BC10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속성 표준화 </a:t>
            </a:r>
            <a:r>
              <a:rPr lang="en-US" altLang="ko-KR" sz="2400" b="1" dirty="0">
                <a:latin typeface="+mn-ea"/>
              </a:rPr>
              <a:t>(1/5)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F3B020A-675B-AF46-4A0D-9D9C9E193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159</a:t>
            </a:fld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B135A531-6147-40DF-8D10-FEEDAD89CFD8}"/>
              </a:ext>
            </a:extLst>
          </p:cNvPr>
          <p:cNvSpPr/>
          <p:nvPr/>
        </p:nvSpPr>
        <p:spPr>
          <a:xfrm>
            <a:off x="8709407" y="3755094"/>
            <a:ext cx="1119673" cy="1119673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업무</a:t>
            </a:r>
            <a:endParaRPr lang="en-US" altLang="ko-KR" dirty="0"/>
          </a:p>
          <a:p>
            <a:pPr algn="ctr"/>
            <a:r>
              <a:rPr lang="ko-KR" altLang="en-US" dirty="0"/>
              <a:t>용어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45F438B-5885-40AE-B2BB-3471CDB75C66}"/>
              </a:ext>
            </a:extLst>
          </p:cNvPr>
          <p:cNvSpPr/>
          <p:nvPr/>
        </p:nvSpPr>
        <p:spPr>
          <a:xfrm>
            <a:off x="7273965" y="5181837"/>
            <a:ext cx="1119673" cy="1119673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화면</a:t>
            </a:r>
            <a:endParaRPr lang="en-US" altLang="ko-KR" dirty="0"/>
          </a:p>
          <a:p>
            <a:pPr algn="ctr"/>
            <a:r>
              <a:rPr lang="ko-KR" altLang="en-US" dirty="0"/>
              <a:t>용어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64CDA27-CD32-4E80-B4A3-955F0D722190}"/>
              </a:ext>
            </a:extLst>
          </p:cNvPr>
          <p:cNvSpPr/>
          <p:nvPr/>
        </p:nvSpPr>
        <p:spPr>
          <a:xfrm>
            <a:off x="10144849" y="5181837"/>
            <a:ext cx="1119673" cy="1119673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속성</a:t>
            </a:r>
            <a:endParaRPr lang="en-US" altLang="ko-KR" dirty="0"/>
          </a:p>
          <a:p>
            <a:pPr algn="ctr"/>
            <a:r>
              <a:rPr lang="ko-KR" altLang="en-US" dirty="0"/>
              <a:t>용어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9C07D83B-704B-43AF-A9B7-DC60454FB1DA}"/>
              </a:ext>
            </a:extLst>
          </p:cNvPr>
          <p:cNvCxnSpPr>
            <a:cxnSpLocks/>
            <a:stCxn id="6" idx="3"/>
            <a:endCxn id="8" idx="7"/>
          </p:cNvCxnSpPr>
          <p:nvPr/>
        </p:nvCxnSpPr>
        <p:spPr>
          <a:xfrm flipH="1">
            <a:off x="8229666" y="4710795"/>
            <a:ext cx="643713" cy="63501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00249FA0-F175-4E02-807F-9DEC02CFA3D6}"/>
              </a:ext>
            </a:extLst>
          </p:cNvPr>
          <p:cNvCxnSpPr>
            <a:cxnSpLocks/>
            <a:stCxn id="6" idx="5"/>
            <a:endCxn id="9" idx="1"/>
          </p:cNvCxnSpPr>
          <p:nvPr/>
        </p:nvCxnSpPr>
        <p:spPr>
          <a:xfrm>
            <a:off x="9665108" y="4710795"/>
            <a:ext cx="643713" cy="63501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부등호 19">
            <a:extLst>
              <a:ext uri="{FF2B5EF4-FFF2-40B4-BE49-F238E27FC236}">
                <a16:creationId xmlns:a16="http://schemas.microsoft.com/office/drawing/2014/main" id="{7AE25353-862A-4322-AD40-427F60DC241C}"/>
              </a:ext>
            </a:extLst>
          </p:cNvPr>
          <p:cNvSpPr/>
          <p:nvPr/>
        </p:nvSpPr>
        <p:spPr>
          <a:xfrm>
            <a:off x="8947387" y="5566281"/>
            <a:ext cx="643713" cy="350783"/>
          </a:xfrm>
          <a:prstGeom prst="mathNot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0895477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591015" y="1496173"/>
            <a:ext cx="11259807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2800" b="1" dirty="0">
                <a:latin typeface="+mn-ea"/>
              </a:rPr>
              <a:t> </a:t>
            </a:r>
            <a:r>
              <a:rPr lang="ko-KR" altLang="en-US" sz="2800" b="1" u="sng" dirty="0">
                <a:solidFill>
                  <a:srgbClr val="FF0000"/>
                </a:solidFill>
                <a:latin typeface="+mn-ea"/>
              </a:rPr>
              <a:t>단어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+mn-ea"/>
              </a:rPr>
              <a:t> 속성 표준화의 출발은 단어를 정의하는 것이다</a:t>
            </a:r>
            <a:r>
              <a:rPr lang="en-US" altLang="ko-KR" sz="1200" b="1" dirty="0">
                <a:latin typeface="+mn-ea"/>
              </a:rPr>
              <a:t>. </a:t>
            </a:r>
            <a:r>
              <a:rPr lang="ko-KR" altLang="en-US" sz="2800" b="1" u="sng" dirty="0">
                <a:solidFill>
                  <a:srgbClr val="FF0000"/>
                </a:solidFill>
                <a:latin typeface="+mn-ea"/>
              </a:rPr>
              <a:t>속성에서 사용된 모든 단어</a:t>
            </a:r>
            <a:r>
              <a:rPr lang="ko-KR" altLang="en-US" sz="1200" b="1" dirty="0">
                <a:latin typeface="+mn-ea"/>
              </a:rPr>
              <a:t>의 정의와 영문 약어를 정한다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+mn-ea"/>
              </a:rPr>
              <a:t> 이를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단어 사전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(Word Dictionary)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dirty="0">
                <a:latin typeface="+mn-ea"/>
              </a:rPr>
              <a:t>이라고도 한다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endParaRPr lang="en-US" altLang="ko-KR" sz="1200" b="1" dirty="0">
              <a:latin typeface="+mn-ea"/>
            </a:endParaRP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+mn-ea"/>
              </a:rPr>
              <a:t> 이렇게 정의된 단어는 속성에 사용된다</a:t>
            </a:r>
            <a:r>
              <a:rPr lang="en-US" altLang="ko-KR" sz="1200" b="1" dirty="0">
                <a:latin typeface="+mn-ea"/>
              </a:rPr>
              <a:t>. </a:t>
            </a:r>
            <a:r>
              <a:rPr lang="ko-KR" altLang="en-US" sz="1200" b="1" dirty="0">
                <a:latin typeface="+mn-ea"/>
              </a:rPr>
              <a:t>즉 속성에 사용하기 위해서 단어를 정의하는 것이다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+mn-ea"/>
              </a:rPr>
              <a:t> </a:t>
            </a:r>
            <a:r>
              <a:rPr lang="ko-KR" altLang="en-US" sz="1200" b="1" strike="sngStrike" dirty="0">
                <a:solidFill>
                  <a:srgbClr val="FF0000"/>
                </a:solidFill>
                <a:latin typeface="+mn-ea"/>
              </a:rPr>
              <a:t>업무적으로 사용</a:t>
            </a:r>
            <a:r>
              <a:rPr lang="ko-KR" altLang="en-US" sz="1200" b="1" dirty="0">
                <a:latin typeface="+mn-ea"/>
              </a:rPr>
              <a:t>하기 위해서 단어 사전을 만들 필요는 없다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+mn-ea"/>
              </a:rPr>
              <a:t> 또한 </a:t>
            </a:r>
            <a:r>
              <a:rPr lang="ko-KR" altLang="en-US" sz="1200" b="1" strike="sngStrike" dirty="0">
                <a:solidFill>
                  <a:srgbClr val="FF0000"/>
                </a:solidFill>
                <a:latin typeface="+mn-ea"/>
              </a:rPr>
              <a:t>화면에서 활용</a:t>
            </a:r>
            <a:r>
              <a:rPr lang="ko-KR" altLang="en-US" sz="1200" b="1" dirty="0">
                <a:latin typeface="+mn-ea"/>
              </a:rPr>
              <a:t>하기에도 적당치 않아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속성에서 사용한다는 것을 전제</a:t>
            </a:r>
            <a:r>
              <a:rPr lang="ko-KR" altLang="en-US" sz="1200" b="1" dirty="0">
                <a:latin typeface="+mn-ea"/>
              </a:rPr>
              <a:t>로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단어를 정의</a:t>
            </a:r>
            <a:r>
              <a:rPr lang="ko-KR" altLang="en-US" sz="1200" b="1" dirty="0">
                <a:latin typeface="+mn-ea"/>
              </a:rPr>
              <a:t>해야 한다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endParaRPr lang="en-US" altLang="ko-KR" sz="1200" b="1" dirty="0">
              <a:latin typeface="+mn-ea"/>
            </a:endParaRPr>
          </a:p>
          <a:p>
            <a:pPr marL="1257300" lvl="2" indent="-342900">
              <a:buFont typeface="Wingdings" panose="05000000000000000000" pitchFamily="2" charset="2"/>
              <a:buChar char="§"/>
            </a:pPr>
            <a:endParaRPr lang="en-US" altLang="ko-KR" sz="12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2800" b="1" dirty="0">
                <a:latin typeface="+mn-ea"/>
              </a:rPr>
              <a:t> </a:t>
            </a:r>
            <a:r>
              <a:rPr lang="ko-KR" altLang="en-US" sz="2800" b="1" u="sng" dirty="0">
                <a:solidFill>
                  <a:srgbClr val="FF0000"/>
                </a:solidFill>
                <a:latin typeface="+mn-ea"/>
              </a:rPr>
              <a:t>영문 약어</a:t>
            </a:r>
            <a:endParaRPr lang="en-US" altLang="ko-KR" sz="2800" b="1" u="sng" dirty="0">
              <a:solidFill>
                <a:srgbClr val="FF0000"/>
              </a:solidFill>
              <a:latin typeface="+mn-ea"/>
            </a:endParaRP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+mn-ea"/>
              </a:rPr>
              <a:t>단어를 정의할 때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영문 약어도 정해야</a:t>
            </a:r>
            <a:r>
              <a:rPr lang="ko-KR" altLang="en-US" sz="1200" b="1" dirty="0">
                <a:latin typeface="+mn-ea"/>
              </a:rPr>
              <a:t> 한다</a:t>
            </a:r>
            <a:r>
              <a:rPr lang="en-US" altLang="ko-KR" sz="1200" b="1" dirty="0">
                <a:latin typeface="+mn-ea"/>
              </a:rPr>
              <a:t>. </a:t>
            </a:r>
            <a:r>
              <a:rPr lang="ko-KR" altLang="en-US" sz="1200" b="1" dirty="0">
                <a:latin typeface="+mn-ea"/>
              </a:rPr>
              <a:t>영문 약어는 컬럼 명에 사용된다</a:t>
            </a:r>
            <a:r>
              <a:rPr lang="en-US" altLang="ko-KR" sz="1200" b="1" dirty="0">
                <a:latin typeface="+mn-ea"/>
              </a:rPr>
              <a:t>. </a:t>
            </a:r>
            <a:r>
              <a:rPr lang="ko-KR" altLang="en-US" sz="1200" b="1" dirty="0">
                <a:latin typeface="+mn-ea"/>
              </a:rPr>
              <a:t>영문 약어를 정할 때 주의할 점은 길게 정하지 않는 것이다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+mn-ea"/>
              </a:rPr>
              <a:t>영문 약어만 보고도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무슨 의미인지를 알 수 있도록 최대한 자세하게</a:t>
            </a:r>
            <a:r>
              <a:rPr lang="ko-KR" altLang="en-US" sz="1200" b="1" dirty="0">
                <a:latin typeface="+mn-ea"/>
              </a:rPr>
              <a:t> 정하기도 하지만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이는 컬럼 명을 길게 만든다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+mn-ea"/>
              </a:rPr>
              <a:t>단순히 컬럼 명만 길게 만드는 것이라면 문제가 없을 수 있지만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긴 컬럼 명은 데이터베이스에 생성할 수 없기도 한다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데이터베이스마다 컬럼 명의 길이가 한정</a:t>
            </a:r>
            <a:r>
              <a:rPr lang="ko-KR" altLang="en-US" sz="1200" b="1" dirty="0">
                <a:latin typeface="+mn-ea"/>
              </a:rPr>
              <a:t>돼 있으므로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주의</a:t>
            </a:r>
            <a:r>
              <a:rPr lang="ko-KR" altLang="en-US" sz="1200" b="1" dirty="0">
                <a:latin typeface="+mn-ea"/>
              </a:rPr>
              <a:t>해야 한다</a:t>
            </a:r>
            <a:r>
              <a:rPr lang="en-US" altLang="ko-KR" sz="1200" b="1" dirty="0">
                <a:latin typeface="+mn-ea"/>
              </a:rPr>
              <a:t>. </a:t>
            </a:r>
            <a:r>
              <a:rPr lang="ko-KR" altLang="en-US" sz="1200" b="1" dirty="0">
                <a:latin typeface="+mn-ea"/>
              </a:rPr>
              <a:t>영문 약어를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단순하게 사용하는 것</a:t>
            </a:r>
            <a:r>
              <a:rPr lang="ko-KR" altLang="en-US" sz="1200" b="1" dirty="0">
                <a:latin typeface="+mn-ea"/>
              </a:rPr>
              <a:t>이다</a:t>
            </a:r>
            <a:endParaRPr lang="en-US" altLang="ko-KR" sz="1200" b="1" dirty="0">
              <a:latin typeface="+mn-ea"/>
            </a:endParaRP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+mn-ea"/>
              </a:rPr>
              <a:t>‘이름’ 이란 단어의 영문 약어를 굳이 ‘</a:t>
            </a:r>
            <a:r>
              <a:rPr lang="en-US" altLang="ko-KR" sz="1200" b="1" dirty="0">
                <a:latin typeface="+mn-ea"/>
              </a:rPr>
              <a:t>NAME’ </a:t>
            </a:r>
            <a:r>
              <a:rPr lang="ko-KR" altLang="en-US" sz="1200" b="1" dirty="0">
                <a:latin typeface="+mn-ea"/>
              </a:rPr>
              <a:t>이라고 쓰기보다는 ‘</a:t>
            </a:r>
            <a:r>
              <a:rPr lang="en-US" altLang="ko-KR" sz="1200" b="1" dirty="0">
                <a:latin typeface="+mn-ea"/>
              </a:rPr>
              <a:t>NM’ </a:t>
            </a:r>
            <a:r>
              <a:rPr lang="ko-KR" altLang="en-US" sz="1200" b="1" dirty="0">
                <a:latin typeface="+mn-ea"/>
              </a:rPr>
              <a:t>추천하며</a:t>
            </a:r>
            <a:r>
              <a:rPr lang="en-US" altLang="ko-KR" sz="1200" b="1" dirty="0">
                <a:latin typeface="+mn-ea"/>
              </a:rPr>
              <a:t>, ‘</a:t>
            </a:r>
            <a:r>
              <a:rPr lang="ko-KR" altLang="en-US" sz="1200" b="1" dirty="0">
                <a:latin typeface="+mn-ea"/>
              </a:rPr>
              <a:t>대한민국’ 은 ‘</a:t>
            </a:r>
            <a:r>
              <a:rPr lang="en-US" altLang="ko-KR" sz="1200" b="1" dirty="0">
                <a:latin typeface="+mn-ea"/>
              </a:rPr>
              <a:t>KOR ’</a:t>
            </a:r>
            <a:r>
              <a:rPr lang="ko-KR" altLang="en-US" sz="1200" b="1" dirty="0">
                <a:latin typeface="+mn-ea"/>
              </a:rPr>
              <a:t>보다는 ‘</a:t>
            </a:r>
            <a:r>
              <a:rPr lang="en-US" altLang="ko-KR" sz="1200" b="1" dirty="0">
                <a:latin typeface="+mn-ea"/>
              </a:rPr>
              <a:t>KR’</a:t>
            </a:r>
            <a:r>
              <a:rPr lang="ko-KR" altLang="en-US" sz="1200" b="1" dirty="0">
                <a:latin typeface="+mn-ea"/>
              </a:rPr>
              <a:t>을 추천한다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endParaRPr lang="en-US" altLang="ko-KR" sz="1200" b="1" dirty="0">
              <a:latin typeface="+mn-ea"/>
            </a:endParaRP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속성을 구성하는 단어</a:t>
            </a:r>
            <a:r>
              <a:rPr lang="ko-KR" altLang="en-US" sz="1200" b="1" dirty="0">
                <a:latin typeface="+mn-ea"/>
              </a:rPr>
              <a:t>가 많을 때는 </a:t>
            </a:r>
            <a:r>
              <a:rPr lang="en-US" altLang="ko-KR" sz="1200" b="1" u="sng" dirty="0">
                <a:solidFill>
                  <a:srgbClr val="FF0000"/>
                </a:solidFill>
                <a:latin typeface="+mn-ea"/>
              </a:rPr>
              <a:t>5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개 정도</a:t>
            </a:r>
            <a:r>
              <a:rPr lang="ko-KR" altLang="en-US" sz="1200" b="1" dirty="0">
                <a:latin typeface="+mn-ea"/>
              </a:rPr>
              <a:t> 사용하며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단어의 영문 약어는 </a:t>
            </a:r>
            <a:r>
              <a:rPr lang="en-US" altLang="ko-KR" sz="1200" b="1" u="sng" dirty="0">
                <a:solidFill>
                  <a:srgbClr val="FF0000"/>
                </a:solidFill>
                <a:latin typeface="+mn-ea"/>
              </a:rPr>
              <a:t>2〜3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개의 알파벳</a:t>
            </a:r>
            <a:r>
              <a:rPr lang="ko-KR" altLang="en-US" sz="1200" b="1" dirty="0">
                <a:latin typeface="+mn-ea"/>
              </a:rPr>
              <a:t>으로 정하는 것이 복합어를 최소화하는 방법이다</a:t>
            </a:r>
            <a:r>
              <a:rPr lang="en-US" altLang="ko-KR" sz="1200" b="1" dirty="0">
                <a:latin typeface="+mn-ea"/>
              </a:rPr>
              <a:t>. 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+mn-ea"/>
              </a:rPr>
              <a:t>컬럼 명이 짧아지면 코딩하기에도 편리하며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가독성도 좋아지게 된다</a:t>
            </a:r>
            <a:r>
              <a:rPr lang="en-US" altLang="ko-KR" sz="1200" b="1" dirty="0">
                <a:latin typeface="+mn-ea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6378A-69DD-2521-9971-80242E7B330E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속성 표준화 </a:t>
            </a:r>
            <a:r>
              <a:rPr lang="en-US" altLang="ko-KR" sz="2400" b="1" dirty="0">
                <a:latin typeface="+mn-ea"/>
              </a:rPr>
              <a:t>(2/5)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BB5C3E-D9A2-1C3C-7B49-D6A8135C4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160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9928505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112506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 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이음동의어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400" b="1" dirty="0" err="1">
                <a:latin typeface="+mn-ea"/>
              </a:rPr>
              <a:t>이음동의어</a:t>
            </a:r>
            <a:r>
              <a:rPr lang="en-US" altLang="ko-KR" sz="1400" b="1" dirty="0">
                <a:latin typeface="+mn-ea"/>
              </a:rPr>
              <a:t>(Synonym)</a:t>
            </a:r>
            <a:r>
              <a:rPr lang="ko-KR" altLang="en-US" sz="1400" b="1" dirty="0">
                <a:latin typeface="+mn-ea"/>
              </a:rPr>
              <a:t> </a:t>
            </a:r>
            <a:r>
              <a:rPr lang="en-US" altLang="ko-KR" sz="1400" b="1" dirty="0">
                <a:latin typeface="+mn-ea"/>
              </a:rPr>
              <a:t>:</a:t>
            </a:r>
            <a:r>
              <a:rPr lang="ko-KR" altLang="en-US" sz="1400" b="1" dirty="0">
                <a:latin typeface="+mn-ea"/>
              </a:rPr>
              <a:t> 동일한 의미에 대해 여러 개의 단어를 사용할 수 있다는 것을 의미한다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+mn-ea"/>
              </a:rPr>
              <a:t>이를 사용하면 혼란스러워서 장점보다는 단점이 커진다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가급적 허용하지 않는 것이 바람직</a:t>
            </a:r>
            <a:r>
              <a:rPr lang="ko-KR" altLang="en-US" sz="1400" b="1" dirty="0">
                <a:latin typeface="+mn-ea"/>
              </a:rPr>
              <a:t>하다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+mn-ea"/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예컨대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사원</a:t>
            </a:r>
            <a:r>
              <a:rPr lang="ko-KR" altLang="en-US" sz="1400" b="1" dirty="0">
                <a:latin typeface="+mn-ea"/>
              </a:rPr>
              <a:t>과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직원</a:t>
            </a:r>
            <a:r>
              <a:rPr lang="ko-KR" altLang="en-US" sz="1400" b="1" dirty="0">
                <a:latin typeface="+mn-ea"/>
              </a:rPr>
              <a:t>이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동일한 의미</a:t>
            </a:r>
            <a:r>
              <a:rPr lang="ko-KR" altLang="en-US" sz="1400" b="1" dirty="0">
                <a:latin typeface="+mn-ea"/>
              </a:rPr>
              <a:t>이므로 둘 다 사용하지 않기 위해서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사원과 직원이 동일한 의미라면 한 단어만 사용하고</a:t>
            </a:r>
            <a:r>
              <a:rPr lang="en-US" altLang="ko-KR" sz="1400" b="1" dirty="0">
                <a:latin typeface="+mn-ea"/>
              </a:rPr>
              <a:t>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+mn-ea"/>
              </a:rPr>
              <a:t>사원만 표준어로 등록하고 직원은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유사어나 금지어로 관리</a:t>
            </a:r>
            <a:r>
              <a:rPr lang="ko-KR" altLang="en-US" sz="1400" b="1" dirty="0">
                <a:latin typeface="+mn-ea"/>
              </a:rPr>
              <a:t>해 사용하지 못하도록 해야 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sz="1400" b="1" u="sng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이음동의어가 문제</a:t>
            </a:r>
            <a:r>
              <a:rPr lang="ko-KR" altLang="en-US" sz="1400" b="1" dirty="0">
                <a:latin typeface="+mn-ea"/>
              </a:rPr>
              <a:t>가 되는 근본적인 이유는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용어의 일관된 사용을 방해한다는 것</a:t>
            </a:r>
            <a:r>
              <a:rPr lang="ko-KR" altLang="en-US" sz="1400" b="1" dirty="0">
                <a:latin typeface="+mn-ea"/>
              </a:rPr>
              <a:t>이다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+mn-ea"/>
              </a:rPr>
              <a:t>용어가 한결같이 사용되도록 통일시키는 것이 표준화의 원칙인데 </a:t>
            </a:r>
            <a:r>
              <a:rPr lang="ko-KR" altLang="en-US" sz="1400" b="1" dirty="0" err="1">
                <a:latin typeface="+mn-ea"/>
              </a:rPr>
              <a:t>이음동의어를</a:t>
            </a:r>
            <a:r>
              <a:rPr lang="ko-KR" altLang="en-US" sz="1400" b="1" dirty="0">
                <a:latin typeface="+mn-ea"/>
              </a:rPr>
              <a:t> 허용하면 원칙을 깨는 것이다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불가피하게 </a:t>
            </a:r>
            <a:r>
              <a:rPr lang="ko-KR" altLang="en-US" sz="1400" b="1" u="sng" dirty="0" err="1">
                <a:solidFill>
                  <a:srgbClr val="FF0000"/>
                </a:solidFill>
                <a:latin typeface="+mn-ea"/>
              </a:rPr>
              <a:t>이음동의어를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 사용</a:t>
            </a:r>
            <a:r>
              <a:rPr lang="ko-KR" altLang="en-US" sz="1400" b="1" dirty="0">
                <a:latin typeface="+mn-ea"/>
              </a:rPr>
              <a:t>하려면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논리적으로만 사용하는 것</a:t>
            </a:r>
            <a:r>
              <a:rPr lang="ko-KR" altLang="en-US" sz="1400" b="1" dirty="0">
                <a:latin typeface="+mn-ea"/>
              </a:rPr>
              <a:t>이 좋다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+mn-ea"/>
              </a:rPr>
              <a:t>이음동의어로 묶인 단어 중에서 시스템에서 사용할 </a:t>
            </a:r>
            <a:r>
              <a:rPr lang="ko-KR" altLang="en-US" sz="1400" b="1" dirty="0" err="1">
                <a:latin typeface="+mn-ea"/>
              </a:rPr>
              <a:t>이음동의어</a:t>
            </a:r>
            <a:r>
              <a:rPr lang="en-US" altLang="ko-KR" sz="1400" b="1" dirty="0">
                <a:latin typeface="+mn-ea"/>
              </a:rPr>
              <a:t>(Dominant Synonym)</a:t>
            </a:r>
            <a:r>
              <a:rPr lang="ko-KR" altLang="en-US" sz="1400" b="1" dirty="0">
                <a:latin typeface="+mn-ea"/>
              </a:rPr>
              <a:t>를 지정해 대표로 사용하는 것이다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+mn-ea"/>
              </a:rPr>
              <a:t>논리적으로는 여러 개의 같은 단어가 존재하지만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대표적으로 하나의 물리적인 단어만 사용하는 것</a:t>
            </a:r>
            <a:r>
              <a:rPr lang="ko-KR" altLang="en-US" sz="1400" b="1" dirty="0">
                <a:latin typeface="+mn-ea"/>
              </a:rPr>
              <a:t>이다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+mn-ea"/>
              </a:rPr>
              <a:t>유사어나 금지어로 관리하는 것보다는 이음동의어의 사용 의도를 살리는 것이며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시스템에 혼선도 주지 않을 것이다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659D92-3577-8AAB-1387-CE55C1139D17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속성 표준화 </a:t>
            </a:r>
            <a:r>
              <a:rPr lang="en-US" altLang="ko-KR" sz="2400" b="1" dirty="0">
                <a:latin typeface="+mn-ea"/>
              </a:rPr>
              <a:t>(3/5)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7F9B7C-6279-DBEA-9B37-DC977AAFB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161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8443691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112506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동음이의어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+mn-ea"/>
              </a:rPr>
              <a:t>동음이의어</a:t>
            </a:r>
            <a:r>
              <a:rPr lang="en-US" altLang="ko-KR" sz="1400" b="1" dirty="0">
                <a:latin typeface="+mn-ea"/>
              </a:rPr>
              <a:t>(Homonym)</a:t>
            </a:r>
            <a:r>
              <a:rPr lang="ko-KR" altLang="en-US" sz="1400" b="1" dirty="0">
                <a:latin typeface="+mn-ea"/>
              </a:rPr>
              <a:t> 는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동일한 단어</a:t>
            </a:r>
            <a:r>
              <a:rPr lang="ko-KR" altLang="en-US" sz="1400" b="1" dirty="0">
                <a:latin typeface="+mn-ea"/>
              </a:rPr>
              <a:t>인데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의미가 다른 것</a:t>
            </a:r>
            <a:r>
              <a:rPr lang="ko-KR" altLang="en-US" sz="1400" b="1" dirty="0">
                <a:latin typeface="+mn-ea"/>
              </a:rPr>
              <a:t>을 의미한다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+mn-ea"/>
              </a:rPr>
              <a:t>예컨대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‘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이전</a:t>
            </a:r>
            <a:r>
              <a:rPr lang="ko-KR" altLang="en-US" sz="1400" b="1" dirty="0">
                <a:latin typeface="+mn-ea"/>
              </a:rPr>
              <a:t>’ 이란 단어는 두 가지 의미로 사용될 수 있다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영어로 번역하면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Transfer</a:t>
            </a:r>
            <a:r>
              <a:rPr lang="ko-KR" altLang="en-US" sz="1400" b="1" dirty="0">
                <a:latin typeface="+mn-ea"/>
              </a:rPr>
              <a:t>와 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Before</a:t>
            </a:r>
            <a:r>
              <a:rPr lang="ko-KR" altLang="en-US" sz="1400" b="1" dirty="0">
                <a:latin typeface="+mn-ea"/>
              </a:rPr>
              <a:t>의 두가지 의미를 가질 수 있다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+mn-ea"/>
              </a:rPr>
              <a:t>이전일자 </a:t>
            </a:r>
            <a:r>
              <a:rPr lang="en-US" altLang="ko-KR" sz="1400" b="1" dirty="0">
                <a:latin typeface="+mn-ea"/>
              </a:rPr>
              <a:t>= TRN_DT  |  BF_DT </a:t>
            </a:r>
            <a:r>
              <a:rPr lang="ko-KR" altLang="en-US" sz="1400" b="1" dirty="0">
                <a:latin typeface="+mn-ea"/>
              </a:rPr>
              <a:t>로 사용이 가능하다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+mn-ea"/>
              </a:rPr>
              <a:t>이렇게 혼란을 불러일으킬 수 있는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동음이의어 역시 사용하지 않는 것</a:t>
            </a:r>
            <a:r>
              <a:rPr lang="ko-KR" altLang="en-US" sz="1400" b="1" dirty="0">
                <a:latin typeface="+mn-ea"/>
              </a:rPr>
              <a:t>이 바람직하다 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+mn-ea"/>
              </a:rPr>
              <a:t>만약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동음이의어를 허용하기 위해서는 시스템에서 기능을 지원해야 한다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+mn-ea"/>
              </a:rPr>
              <a:t>속성을 등록하면서 ‘이전’ 이란 단어를 사용할 때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두 개의 영문을 보여줘 선택할 수 있도록 해야 한다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+mn-ea"/>
              </a:rPr>
              <a:t>속성 하나씩을 등록할 때 뿐만 아니라 다수 속성을 일괄 등록할 때도 이 기능을 지원해야 한다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+mn-ea"/>
              </a:rPr>
              <a:t>하지만 기능이 구현된 것과 제대로 선택하는 것은 별개의 문제이므로 잘못된 영문은 존재할 수 있고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사용의 혼란을 야기시킬 수 있다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+mn-ea"/>
              </a:rPr>
              <a:t>동음이의어는 넓게 보면 속성 명과 컬럼 명에 대해서 발생하기도 한다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가입일자 속성</a:t>
            </a:r>
            <a:r>
              <a:rPr lang="ko-KR" altLang="en-US" sz="1400" b="1" dirty="0">
                <a:latin typeface="+mn-ea"/>
              </a:rPr>
              <a:t>에 대한 컬럼명이 ‘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REGIST_DT</a:t>
            </a:r>
            <a:r>
              <a:rPr lang="en-US" altLang="ko-KR" sz="1400" b="1" dirty="0">
                <a:latin typeface="+mn-ea"/>
              </a:rPr>
              <a:t>’ </a:t>
            </a:r>
            <a:r>
              <a:rPr lang="ko-KR" altLang="en-US" sz="1400" b="1" dirty="0">
                <a:latin typeface="+mn-ea"/>
              </a:rPr>
              <a:t>와 ‘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REG_DT</a:t>
            </a:r>
            <a:r>
              <a:rPr lang="en-US" altLang="ko-KR" sz="1400" b="1" dirty="0">
                <a:latin typeface="+mn-ea"/>
              </a:rPr>
              <a:t>’ </a:t>
            </a:r>
            <a:r>
              <a:rPr lang="ko-KR" altLang="en-US" sz="1400" b="1" dirty="0">
                <a:latin typeface="+mn-ea"/>
              </a:rPr>
              <a:t>가 존재한다면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넓은 의미의 동음이의어로 볼 수 있다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+mn-ea"/>
              </a:rPr>
              <a:t>이런 현상은 복합 단어로 인해 발생할 수 있다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BE4CB0-426E-32B5-2900-366DBED74C0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속성 표준화 </a:t>
            </a:r>
            <a:r>
              <a:rPr lang="en-US" altLang="ko-KR" sz="2400" b="1" dirty="0">
                <a:latin typeface="+mn-ea"/>
              </a:rPr>
              <a:t>(4/5)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7A2B9A-4F60-7344-E565-E568BC1F3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162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3E2ECB-470A-43EB-9BE3-1844F0483AE8}"/>
              </a:ext>
            </a:extLst>
          </p:cNvPr>
          <p:cNvSpPr txBox="1"/>
          <p:nvPr/>
        </p:nvSpPr>
        <p:spPr>
          <a:xfrm>
            <a:off x="1744824" y="5539632"/>
            <a:ext cx="63866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결론</a:t>
            </a:r>
            <a:r>
              <a:rPr lang="en-US" altLang="ko-KR" b="1" dirty="0">
                <a:solidFill>
                  <a:srgbClr val="FF0000"/>
                </a:solidFill>
              </a:rPr>
              <a:t>: </a:t>
            </a:r>
            <a:r>
              <a:rPr lang="ko-KR" altLang="en-US" b="1" dirty="0">
                <a:solidFill>
                  <a:srgbClr val="FF0000"/>
                </a:solidFill>
              </a:rPr>
              <a:t>동음이의어는 절대 허용하지 않는다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b="1" dirty="0">
                <a:solidFill>
                  <a:srgbClr val="FF0000"/>
                </a:solidFill>
              </a:rPr>
              <a:t>       </a:t>
            </a:r>
            <a:r>
              <a:rPr lang="ko-KR" altLang="en-US" b="1" dirty="0">
                <a:solidFill>
                  <a:srgbClr val="FF0000"/>
                </a:solidFill>
              </a:rPr>
              <a:t>동음이의어를 피하기 위해서 복합어를 사용할 수 있다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947232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1125066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도메인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+mn-ea"/>
              </a:rPr>
              <a:t>데이터 표준화를 수행할 때 중요한 또 다른 요소는 도메인</a:t>
            </a:r>
            <a:r>
              <a:rPr lang="en-US" altLang="ko-KR" sz="1400" b="1" dirty="0">
                <a:latin typeface="+mn-ea"/>
              </a:rPr>
              <a:t>(Domain)</a:t>
            </a:r>
            <a:r>
              <a:rPr lang="ko-KR" altLang="en-US" sz="1400" b="1" dirty="0">
                <a:latin typeface="+mn-ea"/>
              </a:rPr>
              <a:t>이다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+mn-ea"/>
              </a:rPr>
              <a:t>속성 명을 표준화 하려면 위에서 설명한 기본적인 표준화 원칙이 있어서 하며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아래와 같은 상세한 지침이 있어야 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특정한 날짜를 의미할 때는 ‘</a:t>
            </a:r>
            <a:r>
              <a:rPr lang="ko-KR" altLang="en-US" sz="1600" b="1" dirty="0" err="1">
                <a:solidFill>
                  <a:srgbClr val="FF0000"/>
                </a:solidFill>
                <a:latin typeface="+mn-ea"/>
              </a:rPr>
              <a:t>일자’를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 사용한다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.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예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)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입금일자</a:t>
            </a:r>
          </a:p>
          <a:p>
            <a:pPr marL="1257300" lvl="2" indent="-342900">
              <a:buFont typeface="+mj-ea"/>
              <a:buAutoNum type="circleNumDbPlain"/>
            </a:pP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‘</a:t>
            </a:r>
            <a:r>
              <a:rPr lang="ko-KR" altLang="en-US" sz="1600" b="1" dirty="0" err="1">
                <a:solidFill>
                  <a:srgbClr val="FF0000"/>
                </a:solidFill>
                <a:latin typeface="+mn-ea"/>
              </a:rPr>
              <a:t>시분초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’ 까지 의미할 때는 ‘</a:t>
            </a:r>
            <a:r>
              <a:rPr lang="ko-KR" altLang="en-US" sz="1600" b="1" dirty="0" err="1">
                <a:solidFill>
                  <a:srgbClr val="FF0000"/>
                </a:solidFill>
                <a:latin typeface="+mn-ea"/>
              </a:rPr>
              <a:t>일시’를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 사용한다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.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예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)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방문일시</a:t>
            </a: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년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•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월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•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일 중 일부만을 의미할 때는 ‘년’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, ‘</a:t>
            </a:r>
            <a:r>
              <a:rPr lang="ko-KR" altLang="en-US" sz="1600" b="1" dirty="0" err="1">
                <a:solidFill>
                  <a:srgbClr val="FF0000"/>
                </a:solidFill>
                <a:latin typeface="+mn-ea"/>
              </a:rPr>
              <a:t>년월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’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‘월’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,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 ‘월일’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‘일’ 등으로 사용한다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.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예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) </a:t>
            </a:r>
            <a:r>
              <a:rPr lang="ko-KR" altLang="en-US" sz="1600" b="1" dirty="0" err="1">
                <a:solidFill>
                  <a:srgbClr val="FF0000"/>
                </a:solidFill>
                <a:latin typeface="+mn-ea"/>
              </a:rPr>
              <a:t>회계년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기준년월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600" b="1" dirty="0" err="1">
                <a:solidFill>
                  <a:srgbClr val="FF0000"/>
                </a:solidFill>
                <a:latin typeface="+mn-ea"/>
              </a:rPr>
              <a:t>적용월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이체일</a:t>
            </a: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가격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•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좌수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•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단가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•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잔액 등의 관행적으로 사용하는 단어를 제외하고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금전을 의미할 때는 ‘금액’ 을 사용한다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.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예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)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계약금액</a:t>
            </a: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비율을 의미할 때는 ‘율 ’ 을 사용한다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.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예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)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이율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+mn-ea"/>
              </a:rPr>
              <a:t>몇 가지 예를 들었지만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표준화 지침에는 구체적인 원칙들이 빠짐없이 제시돼야 하고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 err="1">
                <a:latin typeface="+mn-ea"/>
              </a:rPr>
              <a:t>모델러는</a:t>
            </a:r>
            <a:r>
              <a:rPr lang="ko-KR" altLang="en-US" sz="1400" b="1" dirty="0">
                <a:latin typeface="+mn-ea"/>
              </a:rPr>
              <a:t> 정해진 원칙에 따라 속성을 표준화해야 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400" b="1" dirty="0" err="1">
                <a:latin typeface="+mn-ea"/>
              </a:rPr>
              <a:t>모델러가</a:t>
            </a:r>
            <a:r>
              <a:rPr lang="ko-KR" altLang="en-US" sz="1400" b="1" dirty="0">
                <a:latin typeface="+mn-ea"/>
              </a:rPr>
              <a:t> 여러 명일 때는 표준을 일관되게 적용하기가 쉽지 않을 수 있다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+mn-ea"/>
              </a:rPr>
              <a:t>이때는 표준화 원칙을 숙지하고 있는 담당자를 두어 속성 명이 한결같이 사용될 수 있도록 제어하는 것이 좋다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+mn-ea"/>
              </a:rPr>
              <a:t>표준화 담당자가 승인하도록 해야 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sz="1200" b="1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C7B05D-6FFF-6099-F830-373913C7442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도메인 </a:t>
            </a:r>
            <a:r>
              <a:rPr lang="en-US" altLang="ko-KR" sz="2400" b="1" dirty="0">
                <a:latin typeface="+mn-ea"/>
              </a:rPr>
              <a:t>(1/4)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8FE529-FAEC-7A30-2447-13F453A4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163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2913801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1125066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도메인은 단어와 더불어 표준화의 중요한 대상이므로 도메인을 정의하는 것은 중요하다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도메인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(Domain)</a:t>
            </a:r>
            <a:r>
              <a:rPr lang="ko-KR" altLang="en-US" sz="1600" b="1" dirty="0">
                <a:latin typeface="+mn-ea"/>
              </a:rPr>
              <a:t>은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속성에 허용된 유효한 값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원자 값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의 집합</a:t>
            </a:r>
            <a:r>
              <a:rPr lang="ko-KR" altLang="en-US" sz="1600" b="1" dirty="0">
                <a:latin typeface="+mn-ea"/>
              </a:rPr>
              <a:t>을 의미한다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 속성이 가질 수 있는 값의 집합이 도메인이다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 데이터 모델링에서 사용하는 도메인에는 두 가지 정의</a:t>
            </a:r>
            <a:endParaRPr lang="en-US" altLang="ko-KR" sz="1600" b="1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400" b="1" dirty="0">
                <a:latin typeface="+mn-ea"/>
              </a:rPr>
              <a:t>논리적 개념 </a:t>
            </a:r>
            <a:r>
              <a:rPr lang="en-US" altLang="ko-KR" sz="1400" b="1" dirty="0">
                <a:latin typeface="+mn-ea"/>
              </a:rPr>
              <a:t>: </a:t>
            </a:r>
            <a:r>
              <a:rPr lang="ko-KR" altLang="en-US" sz="1400" b="1" dirty="0">
                <a:latin typeface="+mn-ea"/>
              </a:rPr>
              <a:t>속성의 대표 속성을 의미</a:t>
            </a:r>
            <a:r>
              <a:rPr lang="en-US" altLang="ko-KR" sz="1400" b="1" dirty="0">
                <a:latin typeface="+mn-ea"/>
                <a:sym typeface="Wingdings" panose="05000000000000000000" pitchFamily="2" charset="2"/>
              </a:rPr>
              <a:t>  </a:t>
            </a:r>
            <a:r>
              <a:rPr lang="ko-KR" altLang="en-US" sz="1400" b="1" dirty="0">
                <a:latin typeface="+mn-ea"/>
                <a:sym typeface="Wingdings" panose="05000000000000000000" pitchFamily="2" charset="2"/>
              </a:rPr>
              <a:t>구분하지 않아 문제가 되는 경우가 많다</a:t>
            </a:r>
            <a:r>
              <a:rPr lang="en-US" altLang="ko-KR" sz="1400" b="1" dirty="0">
                <a:latin typeface="+mn-ea"/>
                <a:sym typeface="Wingdings" panose="05000000000000000000" pitchFamily="2" charset="2"/>
              </a:rPr>
              <a:t>.</a:t>
            </a:r>
            <a:endParaRPr lang="en-US" altLang="ko-KR" sz="1400" b="1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400" b="1" dirty="0">
                <a:latin typeface="+mn-ea"/>
              </a:rPr>
              <a:t>물리적 개념 </a:t>
            </a:r>
            <a:r>
              <a:rPr lang="en-US" altLang="ko-KR" sz="1400" b="1" dirty="0">
                <a:latin typeface="+mn-ea"/>
              </a:rPr>
              <a:t>: </a:t>
            </a:r>
            <a:r>
              <a:rPr lang="ko-KR" altLang="en-US" sz="1400" b="1" dirty="0">
                <a:latin typeface="+mn-ea"/>
              </a:rPr>
              <a:t>데이터 타입과 길이를 의미 </a:t>
            </a:r>
            <a:r>
              <a:rPr lang="en-US" altLang="ko-KR" sz="1400" b="1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400" b="1" dirty="0">
                <a:latin typeface="+mn-ea"/>
                <a:sym typeface="Wingdings" panose="05000000000000000000" pitchFamily="2" charset="2"/>
              </a:rPr>
              <a:t>실무에서 사실상 도메인이라고 부르는 것</a:t>
            </a:r>
            <a:r>
              <a:rPr lang="en-US" altLang="ko-KR" sz="1400" b="1" dirty="0">
                <a:latin typeface="+mn-ea"/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7BE04A-18AA-0B0D-C2F3-D4D95A1A28B3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도</a:t>
            </a:r>
            <a:r>
              <a:rPr lang="ko-KR" altLang="en-US" sz="2400" b="1" dirty="0">
                <a:latin typeface="+mn-ea"/>
              </a:rPr>
              <a:t>메인 </a:t>
            </a:r>
            <a:r>
              <a:rPr lang="en-US" altLang="ko-KR" sz="2400" b="1" dirty="0">
                <a:latin typeface="+mn-ea"/>
              </a:rPr>
              <a:t>(2/4)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AEDCA2-8AC1-D7A0-DA9D-E682CC710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164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6239312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1125066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논리 도메인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+mn-ea"/>
              </a:rPr>
              <a:t>논리 도메인 은 간단하게 대표 속성을 의미한다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예를 들어  ‘고객명’ 이라는 속성을 택할 때 ‘</a:t>
            </a:r>
            <a:r>
              <a:rPr lang="en-US" altLang="ko-KR" sz="1400" b="1" dirty="0">
                <a:latin typeface="+mn-ea"/>
              </a:rPr>
              <a:t>Varchar(30)’ </a:t>
            </a:r>
            <a:r>
              <a:rPr lang="ko-KR" altLang="en-US" sz="1400" b="1" dirty="0">
                <a:latin typeface="+mn-ea"/>
              </a:rPr>
              <a:t>이라는 물리 도메인을 지정한다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+mn-ea"/>
              </a:rPr>
              <a:t>그리고 의미가 유사한 ‘</a:t>
            </a:r>
            <a:r>
              <a:rPr lang="en-US" altLang="ko-KR" sz="1400" b="1" dirty="0">
                <a:latin typeface="+mn-ea"/>
              </a:rPr>
              <a:t>CRM</a:t>
            </a:r>
            <a:r>
              <a:rPr lang="ko-KR" altLang="en-US" sz="1400" b="1" dirty="0">
                <a:latin typeface="+mn-ea"/>
              </a:rPr>
              <a:t>고객명’ 이라는 속성을 등록할 때는 ‘</a:t>
            </a:r>
            <a:r>
              <a:rPr lang="en-US" altLang="ko-KR" sz="1400" b="1" dirty="0">
                <a:latin typeface="+mn-ea"/>
              </a:rPr>
              <a:t>Varchar(30)’ </a:t>
            </a:r>
            <a:r>
              <a:rPr lang="ko-KR" altLang="en-US" sz="1400" b="1" dirty="0">
                <a:latin typeface="+mn-ea"/>
              </a:rPr>
              <a:t>이라는 물리 도메인을 지정하는 것이 아니라</a:t>
            </a:r>
            <a:r>
              <a:rPr lang="en-US" altLang="ko-KR" sz="1400" b="1" dirty="0">
                <a:latin typeface="+mn-ea"/>
              </a:rPr>
              <a:t>, ‘</a:t>
            </a:r>
            <a:r>
              <a:rPr lang="ko-KR" altLang="en-US" sz="1400" b="1" dirty="0">
                <a:latin typeface="+mn-ea"/>
              </a:rPr>
              <a:t>고객명’ 이라는 속성을 지정한다</a:t>
            </a:r>
            <a:r>
              <a:rPr lang="en-US" altLang="ko-KR" sz="1400" b="1" dirty="0">
                <a:latin typeface="+mn-ea"/>
              </a:rPr>
              <a:t>.  </a:t>
            </a:r>
            <a:r>
              <a:rPr lang="ko-KR" altLang="en-US" sz="1400" b="1" dirty="0">
                <a:latin typeface="+mn-ea"/>
              </a:rPr>
              <a:t>이때 지정되는 </a:t>
            </a:r>
            <a:r>
              <a:rPr lang="ko-KR" altLang="en-US" sz="2000" b="1" u="sng" dirty="0">
                <a:solidFill>
                  <a:srgbClr val="FF0000"/>
                </a:solidFill>
                <a:latin typeface="+mn-ea"/>
              </a:rPr>
              <a:t>‘고객명’ 이 논리 도메인 역할</a:t>
            </a:r>
            <a:r>
              <a:rPr lang="ko-KR" altLang="en-US" sz="1400" b="1" dirty="0">
                <a:latin typeface="+mn-ea"/>
              </a:rPr>
              <a:t>을 한다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121CC1B-85CD-05D7-D6FF-7DD77ADF29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063774"/>
              </p:ext>
            </p:extLst>
          </p:nvPr>
        </p:nvGraphicFramePr>
        <p:xfrm>
          <a:off x="2113478" y="2911417"/>
          <a:ext cx="829800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2561">
                  <a:extLst>
                    <a:ext uri="{9D8B030D-6E8A-4147-A177-3AD203B41FA5}">
                      <a16:colId xmlns:a16="http://schemas.microsoft.com/office/drawing/2014/main" val="4249234200"/>
                    </a:ext>
                  </a:extLst>
                </a:gridCol>
                <a:gridCol w="5025446">
                  <a:extLst>
                    <a:ext uri="{9D8B030D-6E8A-4147-A177-3AD203B41FA5}">
                      <a16:colId xmlns:a16="http://schemas.microsoft.com/office/drawing/2014/main" val="1529921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식별자 속성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예시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8920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주 식별자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후보 식별자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업무 식별자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인조 식별자 등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5969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식별자 번호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주민등록번호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사업자 등록번호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법인등록번호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전화번호 등 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5444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코드 속성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1755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표준 데이터 성격의 기준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우편번호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주소 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562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외부 시스템에서 받은 번호나 코드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80972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FF1A5A3-A6E6-FD14-70E5-AEB963F4B01A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도</a:t>
            </a:r>
            <a:r>
              <a:rPr lang="ko-KR" altLang="en-US" sz="2400" b="1" dirty="0">
                <a:latin typeface="+mn-ea"/>
              </a:rPr>
              <a:t>메인 </a:t>
            </a:r>
            <a:r>
              <a:rPr lang="en-US" altLang="ko-KR" sz="2400" b="1" dirty="0">
                <a:latin typeface="+mn-ea"/>
              </a:rPr>
              <a:t>(3/4)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A5C258-3CEB-CE82-791D-857D1849F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165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3136280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C510-28C8-EFA2-87A7-B6F82A7C502E}"/>
              </a:ext>
            </a:extLst>
          </p:cNvPr>
          <p:cNvSpPr txBox="1"/>
          <p:nvPr/>
        </p:nvSpPr>
        <p:spPr>
          <a:xfrm>
            <a:off x="866909" y="1496173"/>
            <a:ext cx="11125066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물리 도메인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+mn-ea"/>
              </a:rPr>
              <a:t>물리 도메인을 구성하는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주요 요소</a:t>
            </a:r>
            <a:r>
              <a:rPr lang="ko-KR" altLang="en-US" sz="1400" b="1" dirty="0">
                <a:latin typeface="+mn-ea"/>
              </a:rPr>
              <a:t>는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데이터 타입</a:t>
            </a:r>
            <a:r>
              <a:rPr lang="ko-KR" altLang="en-US" sz="1400" b="1" dirty="0">
                <a:latin typeface="+mn-ea"/>
              </a:rPr>
              <a:t>과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길이</a:t>
            </a:r>
            <a:r>
              <a:rPr lang="ko-KR" altLang="en-US" sz="1400" b="1" dirty="0">
                <a:latin typeface="+mn-ea"/>
              </a:rPr>
              <a:t>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+mn-ea"/>
              </a:rPr>
              <a:t>좀 더 확장하면 허용 값의 범위와 기본 값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값의 포맷 등을 포함한다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+mn-ea"/>
              </a:rPr>
              <a:t>예컨대</a:t>
            </a:r>
            <a:r>
              <a:rPr lang="en-US" altLang="ko-KR" sz="1400" b="1" dirty="0">
                <a:latin typeface="+mn-ea"/>
              </a:rPr>
              <a:t>,</a:t>
            </a:r>
            <a:r>
              <a:rPr lang="ko-KR" altLang="en-US" sz="1400" b="1" dirty="0">
                <a:latin typeface="+mn-ea"/>
              </a:rPr>
              <a:t> ‘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일자</a:t>
            </a:r>
            <a:r>
              <a:rPr lang="ko-KR" altLang="en-US" sz="1400" b="1" dirty="0">
                <a:latin typeface="+mn-ea"/>
              </a:rPr>
              <a:t>’ 라는 도메인은 아래와 같이 여러 가지 요소를 포함한다</a:t>
            </a:r>
            <a:r>
              <a:rPr lang="en-US" altLang="ko-KR" sz="1400" b="1" dirty="0">
                <a:latin typeface="+mn-ea"/>
              </a:rPr>
              <a:t>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962-E74E-47FE-1F66-45B9D6EC130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CA03B-F3C6-B036-340D-41129898719A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121CC1B-85CD-05D7-D6FF-7DD77ADF29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931931"/>
              </p:ext>
            </p:extLst>
          </p:nvPr>
        </p:nvGraphicFramePr>
        <p:xfrm>
          <a:off x="2113478" y="2911415"/>
          <a:ext cx="830176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3712">
                  <a:extLst>
                    <a:ext uri="{9D8B030D-6E8A-4147-A177-3AD203B41FA5}">
                      <a16:colId xmlns:a16="http://schemas.microsoft.com/office/drawing/2014/main" val="4249234200"/>
                    </a:ext>
                  </a:extLst>
                </a:gridCol>
                <a:gridCol w="5018049">
                  <a:extLst>
                    <a:ext uri="{9D8B030D-6E8A-4147-A177-3AD203B41FA5}">
                      <a16:colId xmlns:a16="http://schemas.microsoft.com/office/drawing/2014/main" val="1529921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속성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주요 요소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8920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ea"/>
                          <a:sym typeface="Wingdings" panose="05000000000000000000" pitchFamily="2" charset="2"/>
                        </a:rPr>
                        <a:t>도메인 이름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latin typeface="+mn-ea"/>
                          <a:sym typeface="Wingdings" panose="05000000000000000000" pitchFamily="2" charset="2"/>
                        </a:rPr>
                        <a:t>일자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5969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ea"/>
                          <a:sym typeface="Wingdings" panose="05000000000000000000" pitchFamily="2" charset="2"/>
                        </a:rPr>
                        <a:t>도메인의 데이터 타입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latin typeface="+mn-ea"/>
                          <a:sym typeface="Wingdings" panose="05000000000000000000" pitchFamily="2" charset="2"/>
                        </a:rPr>
                        <a:t>date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5444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ea"/>
                          <a:sym typeface="Wingdings" panose="05000000000000000000" pitchFamily="2" charset="2"/>
                        </a:rPr>
                        <a:t>도메인의 데이터 </a:t>
                      </a:r>
                      <a:r>
                        <a:rPr lang="ko-KR" altLang="en-US" sz="1200" b="1" dirty="0" err="1">
                          <a:latin typeface="+mn-ea"/>
                          <a:sym typeface="Wingdings" panose="05000000000000000000" pitchFamily="2" charset="2"/>
                        </a:rPr>
                        <a:t>포멧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err="1">
                          <a:latin typeface="+mn-ea"/>
                          <a:sym typeface="Wingdings" panose="05000000000000000000" pitchFamily="2" charset="2"/>
                        </a:rPr>
                        <a:t>yyyy</a:t>
                      </a:r>
                      <a:r>
                        <a:rPr lang="en-US" altLang="ko-KR" sz="1200" b="1" dirty="0">
                          <a:latin typeface="+mn-ea"/>
                          <a:sym typeface="Wingdings" panose="05000000000000000000" pitchFamily="2" charset="2"/>
                        </a:rPr>
                        <a:t>-mm-dd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1755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ea"/>
                          <a:sym typeface="Wingdings" panose="05000000000000000000" pitchFamily="2" charset="2"/>
                        </a:rPr>
                        <a:t>허용 범위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latin typeface="+mn-ea"/>
                          <a:sym typeface="Wingdings" panose="05000000000000000000" pitchFamily="2" charset="2"/>
                        </a:rPr>
                        <a:t>1900</a:t>
                      </a:r>
                      <a:r>
                        <a:rPr lang="ko-KR" altLang="en-US" sz="1200" b="1" dirty="0">
                          <a:latin typeface="+mn-ea"/>
                          <a:sym typeface="Wingdings" panose="05000000000000000000" pitchFamily="2" charset="2"/>
                        </a:rPr>
                        <a:t>년 </a:t>
                      </a:r>
                      <a:r>
                        <a:rPr lang="en-US" altLang="ko-KR" sz="1200" b="1" dirty="0">
                          <a:latin typeface="+mn-ea"/>
                          <a:sym typeface="Wingdings" panose="05000000000000000000" pitchFamily="2" charset="2"/>
                        </a:rPr>
                        <a:t>01</a:t>
                      </a:r>
                      <a:r>
                        <a:rPr lang="ko-KR" altLang="en-US" sz="1200" b="1" dirty="0">
                          <a:latin typeface="+mn-ea"/>
                          <a:sym typeface="Wingdings" panose="05000000000000000000" pitchFamily="2" charset="2"/>
                        </a:rPr>
                        <a:t>월 </a:t>
                      </a:r>
                      <a:r>
                        <a:rPr lang="en-US" altLang="ko-KR" sz="1200" b="1" dirty="0">
                          <a:latin typeface="+mn-ea"/>
                          <a:sym typeface="Wingdings" panose="05000000000000000000" pitchFamily="2" charset="2"/>
                        </a:rPr>
                        <a:t>01</a:t>
                      </a:r>
                      <a:r>
                        <a:rPr lang="ko-KR" altLang="en-US" sz="1200" b="1" dirty="0">
                          <a:latin typeface="+mn-ea"/>
                          <a:sym typeface="Wingdings" panose="05000000000000000000" pitchFamily="2" charset="2"/>
                        </a:rPr>
                        <a:t>일부터 </a:t>
                      </a:r>
                      <a:r>
                        <a:rPr lang="en-US" altLang="ko-KR" sz="1200" b="1" dirty="0">
                          <a:latin typeface="+mn-ea"/>
                          <a:sym typeface="Wingdings" panose="05000000000000000000" pitchFamily="2" charset="2"/>
                        </a:rPr>
                        <a:t>9999</a:t>
                      </a:r>
                      <a:r>
                        <a:rPr lang="ko-KR" altLang="en-US" sz="1200" b="1" dirty="0">
                          <a:latin typeface="+mn-ea"/>
                          <a:sym typeface="Wingdings" panose="05000000000000000000" pitchFamily="2" charset="2"/>
                        </a:rPr>
                        <a:t>년 </a:t>
                      </a:r>
                      <a:r>
                        <a:rPr lang="en-US" altLang="ko-KR" sz="1200" b="1" dirty="0">
                          <a:latin typeface="+mn-ea"/>
                          <a:sym typeface="Wingdings" panose="05000000000000000000" pitchFamily="2" charset="2"/>
                        </a:rPr>
                        <a:t>12</a:t>
                      </a:r>
                      <a:r>
                        <a:rPr lang="ko-KR" altLang="en-US" sz="1200" b="1" dirty="0">
                          <a:latin typeface="+mn-ea"/>
                          <a:sym typeface="Wingdings" panose="05000000000000000000" pitchFamily="2" charset="2"/>
                        </a:rPr>
                        <a:t>월 </a:t>
                      </a:r>
                      <a:r>
                        <a:rPr lang="en-US" altLang="ko-KR" sz="1200" b="1" dirty="0">
                          <a:latin typeface="+mn-ea"/>
                          <a:sym typeface="Wingdings" panose="05000000000000000000" pitchFamily="2" charset="2"/>
                        </a:rPr>
                        <a:t>31</a:t>
                      </a:r>
                      <a:r>
                        <a:rPr lang="ko-KR" altLang="en-US" sz="1200" b="1" dirty="0">
                          <a:latin typeface="+mn-ea"/>
                          <a:sym typeface="Wingdings" panose="05000000000000000000" pitchFamily="2" charset="2"/>
                        </a:rPr>
                        <a:t>일까지의 날짜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562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ea"/>
                          <a:sym typeface="Wingdings" panose="05000000000000000000" pitchFamily="2" charset="2"/>
                        </a:rPr>
                        <a:t>기본 값 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latin typeface="+mn-ea"/>
                          <a:sym typeface="Wingdings" panose="05000000000000000000" pitchFamily="2" charset="2"/>
                        </a:rPr>
                        <a:t>9999</a:t>
                      </a:r>
                      <a:r>
                        <a:rPr lang="ko-KR" altLang="en-US" sz="1200" b="1" dirty="0">
                          <a:latin typeface="+mn-ea"/>
                          <a:sym typeface="Wingdings" panose="05000000000000000000" pitchFamily="2" charset="2"/>
                        </a:rPr>
                        <a:t>년 </a:t>
                      </a:r>
                      <a:r>
                        <a:rPr lang="en-US" altLang="ko-KR" sz="1200" b="1" dirty="0">
                          <a:latin typeface="+mn-ea"/>
                          <a:sym typeface="Wingdings" panose="05000000000000000000" pitchFamily="2" charset="2"/>
                        </a:rPr>
                        <a:t>12</a:t>
                      </a:r>
                      <a:r>
                        <a:rPr lang="ko-KR" altLang="en-US" sz="1200" b="1" dirty="0">
                          <a:latin typeface="+mn-ea"/>
                          <a:sym typeface="Wingdings" panose="05000000000000000000" pitchFamily="2" charset="2"/>
                        </a:rPr>
                        <a:t>월 </a:t>
                      </a:r>
                      <a:r>
                        <a:rPr lang="en-US" altLang="ko-KR" sz="1200" b="1" dirty="0">
                          <a:latin typeface="+mn-ea"/>
                          <a:sym typeface="Wingdings" panose="05000000000000000000" pitchFamily="2" charset="2"/>
                        </a:rPr>
                        <a:t>31</a:t>
                      </a:r>
                      <a:r>
                        <a:rPr lang="ko-KR" altLang="en-US" sz="1200" b="1" dirty="0">
                          <a:latin typeface="+mn-ea"/>
                          <a:sym typeface="Wingdings" panose="05000000000000000000" pitchFamily="2" charset="2"/>
                        </a:rPr>
                        <a:t>일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80972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0E7D144-8790-7336-350A-07E3D79C85C5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도</a:t>
            </a:r>
            <a:r>
              <a:rPr lang="ko-KR" altLang="en-US" sz="2400" b="1" dirty="0">
                <a:latin typeface="+mn-ea"/>
              </a:rPr>
              <a:t>메인 </a:t>
            </a:r>
            <a:r>
              <a:rPr lang="en-US" altLang="ko-KR" sz="2400" b="1" dirty="0">
                <a:latin typeface="+mn-ea"/>
              </a:rPr>
              <a:t>(4/4)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4EC8BF7-9D72-A3BF-4550-61A7320CF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166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2843501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0B967B6-BE5F-A84A-8870-3BA50DF78EEF}"/>
              </a:ext>
            </a:extLst>
          </p:cNvPr>
          <p:cNvSpPr txBox="1"/>
          <p:nvPr/>
        </p:nvSpPr>
        <p:spPr>
          <a:xfrm>
            <a:off x="866909" y="1496173"/>
            <a:ext cx="11125066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7"/>
            </a:pPr>
            <a:r>
              <a:rPr lang="ko-KR" altLang="en-US" b="1" dirty="0">
                <a:latin typeface="+mn-ea"/>
              </a:rPr>
              <a:t> 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데이터 타입</a:t>
            </a:r>
            <a:r>
              <a:rPr lang="ko-KR" altLang="en-US" b="1" dirty="0">
                <a:latin typeface="+mn-ea"/>
              </a:rPr>
              <a:t> 선정 원칙과 절차</a:t>
            </a:r>
            <a:endParaRPr lang="en-US" altLang="ko-KR" b="1" dirty="0">
              <a:latin typeface="+mn-ea"/>
            </a:endParaRPr>
          </a:p>
          <a:p>
            <a:pPr marL="342900" indent="-342900">
              <a:buFont typeface="+mj-lt"/>
              <a:buAutoNum type="arabicPeriod" startAt="27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적절치 않은 데이터 타입을 선택하면 </a:t>
            </a:r>
            <a:r>
              <a:rPr lang="ko-KR" altLang="en-US" sz="1400" b="1" u="sng" dirty="0">
                <a:latin typeface="+mn-ea"/>
              </a:rPr>
              <a:t>데이터의 무결성이 손상될 수</a:t>
            </a:r>
            <a:r>
              <a:rPr lang="ko-KR" altLang="en-US" sz="1400" b="1" dirty="0">
                <a:latin typeface="+mn-ea"/>
              </a:rPr>
              <a:t> 있으며</a:t>
            </a:r>
            <a:r>
              <a:rPr lang="en-US" altLang="ko-KR" sz="1400" b="1" dirty="0">
                <a:latin typeface="+mn-ea"/>
              </a:rPr>
              <a:t>,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데이터 저장 </a:t>
            </a:r>
            <a:r>
              <a:rPr lang="ko-KR" altLang="en-US" sz="1400" b="1" u="sng" dirty="0">
                <a:latin typeface="+mn-ea"/>
              </a:rPr>
              <a:t>공간을 많이 차지하고 성능이 저하</a:t>
            </a:r>
            <a:r>
              <a:rPr lang="ko-KR" altLang="en-US" sz="1400" b="1" dirty="0">
                <a:latin typeface="+mn-ea"/>
              </a:rPr>
              <a:t>될 수 있다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데이터 타입을 결정하는 데 있어 가장 중요한 원칙은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속성에 저장될 데이터의 성격에 맞는 타입을 결정하는 것</a:t>
            </a:r>
            <a:r>
              <a:rPr lang="ko-KR" altLang="en-US" sz="1400" b="1" dirty="0">
                <a:latin typeface="+mn-ea"/>
              </a:rPr>
              <a:t>이다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그러기 위해서는 속성에 저장될 데이터가 어떤 종류의 데이터인지를 명확하게 알아야 한다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데이터의 성격을 명확하게 파악하고 규정하는 것</a:t>
            </a:r>
            <a:r>
              <a:rPr lang="ko-KR" altLang="en-US" sz="1400" b="1" dirty="0">
                <a:latin typeface="+mn-ea"/>
              </a:rPr>
              <a:t>은 </a:t>
            </a:r>
            <a:r>
              <a:rPr lang="ko-KR" altLang="en-US" b="1" u="sng" dirty="0" err="1">
                <a:solidFill>
                  <a:srgbClr val="FF0000"/>
                </a:solidFill>
                <a:latin typeface="+mn-ea"/>
              </a:rPr>
              <a:t>모델러의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 중요한 역할</a:t>
            </a:r>
            <a:r>
              <a:rPr lang="ko-KR" altLang="en-US" sz="1400" b="1" dirty="0">
                <a:latin typeface="+mn-ea"/>
              </a:rPr>
              <a:t>이다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속성 데이터가 날짜면 </a:t>
            </a:r>
            <a:r>
              <a:rPr lang="en-US" altLang="ko-KR" sz="1400" b="1" dirty="0">
                <a:latin typeface="+mn-ea"/>
              </a:rPr>
              <a:t>Date </a:t>
            </a:r>
            <a:r>
              <a:rPr lang="ko-KR" altLang="en-US" sz="1400" b="1" dirty="0">
                <a:latin typeface="+mn-ea"/>
              </a:rPr>
              <a:t>타입을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숫자면 </a:t>
            </a:r>
            <a:r>
              <a:rPr lang="en-US" altLang="ko-KR" sz="1400" b="1" dirty="0">
                <a:latin typeface="+mn-ea"/>
              </a:rPr>
              <a:t>Number </a:t>
            </a:r>
            <a:r>
              <a:rPr lang="ko-KR" altLang="en-US" sz="1400" b="1" dirty="0">
                <a:latin typeface="+mn-ea"/>
              </a:rPr>
              <a:t>타입을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문자면 </a:t>
            </a:r>
            <a:r>
              <a:rPr lang="en-US" altLang="ko-KR" sz="1400" b="1" dirty="0">
                <a:latin typeface="+mn-ea"/>
              </a:rPr>
              <a:t>Varchar </a:t>
            </a:r>
            <a:r>
              <a:rPr lang="ko-KR" altLang="en-US" sz="1400" b="1" dirty="0">
                <a:latin typeface="+mn-ea"/>
              </a:rPr>
              <a:t>타입을 사용하는 것이 기본 원칙이다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속성에 저장될 데이터가 숫자임에도 </a:t>
            </a:r>
            <a:r>
              <a:rPr lang="en-US" altLang="ko-KR" sz="1400" b="1" dirty="0">
                <a:latin typeface="+mn-ea"/>
              </a:rPr>
              <a:t>Varchar </a:t>
            </a:r>
            <a:r>
              <a:rPr lang="ko-KR" altLang="en-US" sz="1400" b="1" dirty="0">
                <a:latin typeface="+mn-ea"/>
              </a:rPr>
              <a:t>타입으로 사용하거나</a:t>
            </a:r>
            <a:r>
              <a:rPr lang="en-US" altLang="ko-KR" sz="1400" b="1" dirty="0">
                <a:latin typeface="+mn-ea"/>
              </a:rPr>
              <a:t>,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저장될 데이터가 날짜임에도 </a:t>
            </a:r>
            <a:r>
              <a:rPr lang="en-US" altLang="ko-KR" sz="1400" b="1" dirty="0">
                <a:latin typeface="+mn-ea"/>
              </a:rPr>
              <a:t>Varchar </a:t>
            </a:r>
            <a:r>
              <a:rPr lang="ko-KR" altLang="en-US" sz="1400" b="1" dirty="0">
                <a:latin typeface="+mn-ea"/>
              </a:rPr>
              <a:t>타입을 사용하면 데이터 무결성이 깨질 수 있으며</a:t>
            </a:r>
            <a:r>
              <a:rPr lang="en-US" altLang="ko-KR" sz="1400" b="1" dirty="0">
                <a:latin typeface="+mn-ea"/>
              </a:rPr>
              <a:t>,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계산하기가 어려울 수 있으며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저장 공간이 늘어날 수 있으며，결국 성능에 영향을 미칠 수도 있다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문자 타입인지 숫자 타입인지를 결정하는 것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만약 데이터 성격은 숫자지만 종류가 한정돼 있다면 문자 타입으로 정하는 것</a:t>
            </a:r>
            <a:r>
              <a:rPr lang="en-US" altLang="ko-KR" sz="1400" b="1" dirty="0">
                <a:latin typeface="+mn-ea"/>
              </a:rPr>
              <a:t>. (</a:t>
            </a:r>
            <a:r>
              <a:rPr lang="ko-KR" altLang="en-US" sz="1400" b="1" dirty="0">
                <a:latin typeface="+mn-ea"/>
              </a:rPr>
              <a:t>‘</a:t>
            </a:r>
            <a:r>
              <a:rPr lang="en-US" altLang="ko-KR" sz="1400" b="1" dirty="0">
                <a:latin typeface="+mn-ea"/>
              </a:rPr>
              <a:t>01’:1</a:t>
            </a:r>
            <a:r>
              <a:rPr lang="ko-KR" altLang="en-US" sz="1400" b="1" dirty="0">
                <a:latin typeface="+mn-ea"/>
              </a:rPr>
              <a:t>등급</a:t>
            </a:r>
            <a:r>
              <a:rPr lang="en-US" altLang="ko-KR" sz="1400" b="1" dirty="0">
                <a:latin typeface="+mn-ea"/>
              </a:rPr>
              <a:t>, ‘02’:2</a:t>
            </a:r>
            <a:r>
              <a:rPr lang="ko-KR" altLang="en-US" sz="1400" b="1" dirty="0">
                <a:latin typeface="+mn-ea"/>
              </a:rPr>
              <a:t>등급</a:t>
            </a:r>
            <a:r>
              <a:rPr lang="en-US" altLang="ko-KR" sz="1400" b="1" dirty="0">
                <a:latin typeface="+mn-ea"/>
              </a:rPr>
              <a:t>)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등으로 코드로 변환해서 사용하는 것이 효율적</a:t>
            </a:r>
            <a:r>
              <a:rPr lang="en-US" altLang="ko-KR" sz="1400" b="1" dirty="0">
                <a:latin typeface="+mn-ea"/>
              </a:rPr>
              <a:t>)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문자 타입으로 결정했다면 고정 길이인지 가변 길이인지를 판단해야 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고정 길이라고 분석했더라도 실제로  조회에서 커다란 문제를 일으키는 </a:t>
            </a:r>
            <a:r>
              <a:rPr lang="en-US" altLang="ko-KR" sz="1400" b="1" dirty="0">
                <a:latin typeface="+mn-ea"/>
              </a:rPr>
              <a:t>Char</a:t>
            </a:r>
            <a:r>
              <a:rPr lang="ko-KR" altLang="en-US" sz="1400" b="1" dirty="0">
                <a:latin typeface="+mn-ea"/>
              </a:rPr>
              <a:t>타입의 특성 때문에 사용하는 예는 드물다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100" b="1" dirty="0">
                <a:latin typeface="+mn-ea"/>
              </a:rPr>
              <a:t>고정 자릿수보다 적은 문자일 때는 예를 들어 </a:t>
            </a:r>
            <a:r>
              <a:rPr lang="en-US" altLang="ko-KR" sz="1200" b="1" u="sng" dirty="0">
                <a:solidFill>
                  <a:srgbClr val="FF0000"/>
                </a:solidFill>
                <a:latin typeface="+mn-ea"/>
              </a:rPr>
              <a:t>Char(5)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일 때 공란</a:t>
            </a:r>
            <a:r>
              <a:rPr lang="en-US" altLang="ko-KR" sz="1200" b="1" u="sng" dirty="0">
                <a:solidFill>
                  <a:srgbClr val="FF0000"/>
                </a:solidFill>
                <a:latin typeface="+mn-ea"/>
              </a:rPr>
              <a:t>(‘</a:t>
            </a:r>
            <a:r>
              <a:rPr lang="en-US" altLang="ko-KR" sz="1200" b="1" u="sng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lang="en-US" altLang="ko-KR" sz="1200" b="1" u="sng" dirty="0">
                <a:solidFill>
                  <a:srgbClr val="FF0000"/>
                </a:solidFill>
                <a:latin typeface="+mn-ea"/>
              </a:rPr>
              <a:t>  ’)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으로 저장</a:t>
            </a:r>
            <a:r>
              <a:rPr lang="ko-KR" altLang="en-US" sz="1100" b="1" dirty="0">
                <a:latin typeface="+mn-ea"/>
              </a:rPr>
              <a:t>하기 때문에 조회할 때 이를 포함하여 </a:t>
            </a:r>
            <a:r>
              <a:rPr lang="en-US" altLang="ko-KR" sz="1100" b="1" dirty="0">
                <a:latin typeface="+mn-ea"/>
              </a:rPr>
              <a:t>2</a:t>
            </a:r>
            <a:r>
              <a:rPr lang="ko-KR" altLang="en-US" sz="1100" b="1" dirty="0">
                <a:latin typeface="+mn-ea"/>
              </a:rPr>
              <a:t>회 해야 한다</a:t>
            </a:r>
            <a:r>
              <a:rPr lang="en-US" altLang="ko-KR" sz="11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978DB6-E59A-585D-1BC7-42D64849606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7BAC6A-05A2-7016-E42E-103CE9D79130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1E8342-7F29-3B8E-7DDA-F81251A6BF2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 startAt="2"/>
            </a:pPr>
            <a:r>
              <a:rPr lang="ko-KR" altLang="en-US" sz="2400" b="1" dirty="0">
                <a:latin typeface="+mn-ea"/>
              </a:rPr>
              <a:t> 속성의 종류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85FE486-981D-9480-993C-022C23AE4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167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396969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0B967B6-BE5F-A84A-8870-3BA50DF78EEF}"/>
              </a:ext>
            </a:extLst>
          </p:cNvPr>
          <p:cNvSpPr txBox="1"/>
          <p:nvPr/>
        </p:nvSpPr>
        <p:spPr>
          <a:xfrm>
            <a:off x="866909" y="1496173"/>
            <a:ext cx="11125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7"/>
            </a:pPr>
            <a:r>
              <a:rPr lang="ko-KR" altLang="en-US" b="1" dirty="0">
                <a:latin typeface="+mn-ea"/>
              </a:rPr>
              <a:t> 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데이터 타입</a:t>
            </a:r>
            <a:r>
              <a:rPr lang="ko-KR" altLang="en-US" b="1" dirty="0">
                <a:latin typeface="+mn-ea"/>
              </a:rPr>
              <a:t> 선정 원칙과 절차</a:t>
            </a:r>
            <a:endParaRPr lang="en-US" altLang="ko-KR" b="1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978DB6-E59A-585D-1BC7-42D64849606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7BAC6A-05A2-7016-E42E-103CE9D79130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1E8342-7F29-3B8E-7DDA-F81251A6BF2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 startAt="2"/>
            </a:pPr>
            <a:r>
              <a:rPr lang="ko-KR" altLang="en-US" sz="2400" b="1" dirty="0">
                <a:latin typeface="+mn-ea"/>
              </a:rPr>
              <a:t> 속성의 종류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3A03F61-35A4-FF6F-B371-DF2926C9809A}"/>
              </a:ext>
            </a:extLst>
          </p:cNvPr>
          <p:cNvSpPr/>
          <p:nvPr/>
        </p:nvSpPr>
        <p:spPr>
          <a:xfrm>
            <a:off x="1672050" y="2272524"/>
            <a:ext cx="2795452" cy="459562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데이터 성격이 숫자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7114494-D444-FF10-CBAA-5F5247E2EF94}"/>
              </a:ext>
            </a:extLst>
          </p:cNvPr>
          <p:cNvSpPr/>
          <p:nvPr/>
        </p:nvSpPr>
        <p:spPr>
          <a:xfrm>
            <a:off x="1672050" y="3321809"/>
            <a:ext cx="2795452" cy="459562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데이터 </a:t>
            </a:r>
            <a:r>
              <a:rPr lang="ko-KR" altLang="en-US" sz="1400" b="1"/>
              <a:t>성격이 문자</a:t>
            </a:r>
            <a:endParaRPr lang="ko-KR" altLang="en-US" sz="1400" b="1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C59BD5C-6DA6-AB48-DA07-63DC2B39B44E}"/>
              </a:ext>
            </a:extLst>
          </p:cNvPr>
          <p:cNvSpPr/>
          <p:nvPr/>
        </p:nvSpPr>
        <p:spPr>
          <a:xfrm>
            <a:off x="1672050" y="4371094"/>
            <a:ext cx="2795452" cy="459562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데이터 성격이 날짜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B7B15E2-4B7F-46CE-0923-29E2C7BCBA7E}"/>
              </a:ext>
            </a:extLst>
          </p:cNvPr>
          <p:cNvSpPr/>
          <p:nvPr/>
        </p:nvSpPr>
        <p:spPr>
          <a:xfrm>
            <a:off x="1672050" y="5420379"/>
            <a:ext cx="2795452" cy="459562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데이터 성격이 파일이나 이미지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CF22344-E110-8752-DC55-23758FEEBE5E}"/>
              </a:ext>
            </a:extLst>
          </p:cNvPr>
          <p:cNvSpPr/>
          <p:nvPr/>
        </p:nvSpPr>
        <p:spPr>
          <a:xfrm>
            <a:off x="5086051" y="1997327"/>
            <a:ext cx="1009956" cy="10099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E6DC28D-36F2-63A4-18FA-2225B94A7085}"/>
              </a:ext>
            </a:extLst>
          </p:cNvPr>
          <p:cNvSpPr/>
          <p:nvPr/>
        </p:nvSpPr>
        <p:spPr>
          <a:xfrm>
            <a:off x="5086050" y="3046612"/>
            <a:ext cx="1009956" cy="10099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D6416E6-242E-29F1-D305-09CE8463F9A2}"/>
              </a:ext>
            </a:extLst>
          </p:cNvPr>
          <p:cNvSpPr/>
          <p:nvPr/>
        </p:nvSpPr>
        <p:spPr>
          <a:xfrm>
            <a:off x="5086050" y="4095897"/>
            <a:ext cx="1009956" cy="10099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50BDEF4-93D6-3AF2-2DB9-4DE00F15838A}"/>
              </a:ext>
            </a:extLst>
          </p:cNvPr>
          <p:cNvSpPr/>
          <p:nvPr/>
        </p:nvSpPr>
        <p:spPr>
          <a:xfrm>
            <a:off x="5086050" y="5145182"/>
            <a:ext cx="1009956" cy="10099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 dirty="0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0AD8712-75FB-68F3-46F3-5DDF1C577955}"/>
              </a:ext>
            </a:extLst>
          </p:cNvPr>
          <p:cNvCxnSpPr>
            <a:cxnSpLocks/>
            <a:stCxn id="12" idx="6"/>
            <a:endCxn id="20" idx="1"/>
          </p:cNvCxnSpPr>
          <p:nvPr/>
        </p:nvCxnSpPr>
        <p:spPr>
          <a:xfrm flipV="1">
            <a:off x="6096007" y="2498115"/>
            <a:ext cx="509926" cy="419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5C0D75F-1F13-758B-171D-4B20535B6956}"/>
              </a:ext>
            </a:extLst>
          </p:cNvPr>
          <p:cNvSpPr txBox="1"/>
          <p:nvPr/>
        </p:nvSpPr>
        <p:spPr>
          <a:xfrm>
            <a:off x="6605933" y="2082277"/>
            <a:ext cx="30524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소수점이 필요 없는 숫자라면 </a:t>
            </a:r>
            <a:r>
              <a:rPr lang="en-US" altLang="ko-KR" sz="1200" b="1" dirty="0"/>
              <a:t>Number(n)</a:t>
            </a:r>
            <a:endParaRPr lang="ko-KR" alt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8F40DB-0710-5ECA-CF9C-494641C7078B}"/>
              </a:ext>
            </a:extLst>
          </p:cNvPr>
          <p:cNvSpPr txBox="1"/>
          <p:nvPr/>
        </p:nvSpPr>
        <p:spPr>
          <a:xfrm>
            <a:off x="6605933" y="2359615"/>
            <a:ext cx="3235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소수점이 필요 없는 숫자라면 </a:t>
            </a:r>
            <a:r>
              <a:rPr lang="en-US" altLang="ko-KR" sz="1200" b="1" dirty="0"/>
              <a:t>Number(</a:t>
            </a:r>
            <a:r>
              <a:rPr lang="en-US" altLang="ko-KR" sz="1200" b="1" dirty="0" err="1"/>
              <a:t>n,m</a:t>
            </a:r>
            <a:r>
              <a:rPr lang="en-US" altLang="ko-KR" sz="1200" b="1" dirty="0"/>
              <a:t>)</a:t>
            </a:r>
            <a:endParaRPr lang="ko-KR" altLang="en-US" sz="12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A05A57-39B3-DEA2-3482-8C3A3F9340A9}"/>
              </a:ext>
            </a:extLst>
          </p:cNvPr>
          <p:cNvSpPr txBox="1"/>
          <p:nvPr/>
        </p:nvSpPr>
        <p:spPr>
          <a:xfrm>
            <a:off x="6605933" y="2636952"/>
            <a:ext cx="46006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데이터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종류가 고정되어 있어 코드화를 할 수 있다면 </a:t>
            </a:r>
            <a:r>
              <a:rPr lang="en-US" altLang="ko-KR" sz="1200" b="1" dirty="0"/>
              <a:t>Varchar(n)</a:t>
            </a:r>
            <a:endParaRPr lang="ko-KR" altLang="en-US" sz="1200" b="1" dirty="0"/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1B76AF24-B58B-E022-1796-0791CECEBAC6}"/>
              </a:ext>
            </a:extLst>
          </p:cNvPr>
          <p:cNvCxnSpPr>
            <a:cxnSpLocks/>
            <a:stCxn id="19" idx="1"/>
            <a:endCxn id="21" idx="1"/>
          </p:cNvCxnSpPr>
          <p:nvPr/>
        </p:nvCxnSpPr>
        <p:spPr>
          <a:xfrm rot="10800000" flipV="1">
            <a:off x="6605933" y="2220776"/>
            <a:ext cx="12700" cy="554675"/>
          </a:xfrm>
          <a:prstGeom prst="bentConnector3">
            <a:avLst>
              <a:gd name="adj1" fmla="val 180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5EE0562A-4C52-238F-0458-E8961A70DE3F}"/>
              </a:ext>
            </a:extLst>
          </p:cNvPr>
          <p:cNvCxnSpPr>
            <a:cxnSpLocks/>
            <a:stCxn id="13" idx="6"/>
            <a:endCxn id="28" idx="1"/>
          </p:cNvCxnSpPr>
          <p:nvPr/>
        </p:nvCxnSpPr>
        <p:spPr>
          <a:xfrm flipV="1">
            <a:off x="6096006" y="3550924"/>
            <a:ext cx="492509" cy="66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89F1167-CF8A-2DFE-EDE5-64569280B86C}"/>
              </a:ext>
            </a:extLst>
          </p:cNvPr>
          <p:cNvSpPr txBox="1"/>
          <p:nvPr/>
        </p:nvSpPr>
        <p:spPr>
          <a:xfrm>
            <a:off x="6588515" y="3135086"/>
            <a:ext cx="27892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데이터가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텍스트 형식이면 </a:t>
            </a:r>
            <a:r>
              <a:rPr lang="en-US" altLang="ko-KR" sz="1200" b="1" dirty="0"/>
              <a:t>Varchar(n)</a:t>
            </a:r>
            <a:endParaRPr lang="ko-KR" altLang="en-US" sz="12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EBEDC4-3EC7-A269-9018-F579394CA282}"/>
              </a:ext>
            </a:extLst>
          </p:cNvPr>
          <p:cNvSpPr txBox="1"/>
          <p:nvPr/>
        </p:nvSpPr>
        <p:spPr>
          <a:xfrm>
            <a:off x="6588515" y="3412424"/>
            <a:ext cx="4607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텍스트 길이가 고정이면 </a:t>
            </a:r>
            <a:r>
              <a:rPr lang="en-US" altLang="ko-KR" sz="1200" b="1" dirty="0"/>
              <a:t>Char(n)</a:t>
            </a:r>
            <a:r>
              <a:rPr lang="ko-KR" altLang="en-US" sz="1200" b="1" dirty="0"/>
              <a:t>가 원칙이지만</a:t>
            </a:r>
            <a:r>
              <a:rPr lang="en-US" altLang="ko-KR" sz="1200" b="1" dirty="0"/>
              <a:t>, Varchar(n) </a:t>
            </a:r>
            <a:r>
              <a:rPr lang="ko-KR" altLang="en-US" sz="1200" b="1" dirty="0"/>
              <a:t>권고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05E20E-EB5E-ED35-AF83-FC5021DDD0CD}"/>
              </a:ext>
            </a:extLst>
          </p:cNvPr>
          <p:cNvSpPr txBox="1"/>
          <p:nvPr/>
        </p:nvSpPr>
        <p:spPr>
          <a:xfrm>
            <a:off x="6588515" y="3689761"/>
            <a:ext cx="28793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대량의 텍스트를 저장해야 한다면 </a:t>
            </a:r>
            <a:r>
              <a:rPr lang="en-US" altLang="ko-KR" sz="1200" b="1" dirty="0" err="1"/>
              <a:t>Clob</a:t>
            </a:r>
            <a:endParaRPr lang="ko-KR" altLang="en-US" sz="1200" b="1" dirty="0"/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870CAABE-9956-D564-FF73-4CBD44DE6C3E}"/>
              </a:ext>
            </a:extLst>
          </p:cNvPr>
          <p:cNvCxnSpPr>
            <a:cxnSpLocks/>
            <a:stCxn id="27" idx="1"/>
            <a:endCxn id="29" idx="1"/>
          </p:cNvCxnSpPr>
          <p:nvPr/>
        </p:nvCxnSpPr>
        <p:spPr>
          <a:xfrm rot="10800000" flipV="1">
            <a:off x="6588515" y="3273585"/>
            <a:ext cx="12700" cy="554675"/>
          </a:xfrm>
          <a:prstGeom prst="bentConnector3">
            <a:avLst>
              <a:gd name="adj1" fmla="val 180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DF16D9CD-025E-F19C-ED0D-AD7E1FFFF365}"/>
              </a:ext>
            </a:extLst>
          </p:cNvPr>
          <p:cNvCxnSpPr>
            <a:cxnSpLocks/>
            <a:stCxn id="14" idx="6"/>
            <a:endCxn id="33" idx="1"/>
          </p:cNvCxnSpPr>
          <p:nvPr/>
        </p:nvCxnSpPr>
        <p:spPr>
          <a:xfrm flipV="1">
            <a:off x="6096006" y="4596971"/>
            <a:ext cx="492508" cy="390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989045C-47FC-68F4-4CC3-0F1262E04BA9}"/>
              </a:ext>
            </a:extLst>
          </p:cNvPr>
          <p:cNvSpPr txBox="1"/>
          <p:nvPr/>
        </p:nvSpPr>
        <p:spPr>
          <a:xfrm>
            <a:off x="6588514" y="4181133"/>
            <a:ext cx="43075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년</a:t>
            </a:r>
            <a:r>
              <a:rPr lang="en-US" altLang="ko-KR" sz="1200" b="1" dirty="0">
                <a:latin typeface="+mn-ea"/>
              </a:rPr>
              <a:t>•</a:t>
            </a:r>
            <a:r>
              <a:rPr lang="ko-KR" altLang="en-US" sz="1200" b="1" dirty="0"/>
              <a:t>월</a:t>
            </a:r>
            <a:r>
              <a:rPr lang="en-US" altLang="ko-KR" sz="1200" b="1" dirty="0">
                <a:latin typeface="+mn-ea"/>
              </a:rPr>
              <a:t>•</a:t>
            </a:r>
            <a:r>
              <a:rPr lang="ko-KR" altLang="en-US" sz="1200" b="1" dirty="0"/>
              <a:t>일 까지만 필요하면 시</a:t>
            </a:r>
            <a:r>
              <a:rPr lang="en-US" altLang="ko-KR" sz="1200" b="1" dirty="0">
                <a:latin typeface="+mn-ea"/>
              </a:rPr>
              <a:t>•</a:t>
            </a:r>
            <a:r>
              <a:rPr lang="ko-KR" altLang="en-US" sz="1200" b="1" dirty="0"/>
              <a:t>분</a:t>
            </a:r>
            <a:r>
              <a:rPr lang="en-US" altLang="ko-KR" sz="1200" b="1" dirty="0">
                <a:latin typeface="+mn-ea"/>
              </a:rPr>
              <a:t>•</a:t>
            </a:r>
            <a:r>
              <a:rPr lang="ko-KR" altLang="en-US" sz="1200" b="1" dirty="0"/>
              <a:t>초 데이터는 제거하고 사용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29DC34-7B3F-CC2A-566C-AC578218F5E6}"/>
              </a:ext>
            </a:extLst>
          </p:cNvPr>
          <p:cNvSpPr txBox="1"/>
          <p:nvPr/>
        </p:nvSpPr>
        <p:spPr>
          <a:xfrm>
            <a:off x="6588514" y="4458471"/>
            <a:ext cx="21310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시</a:t>
            </a:r>
            <a:r>
              <a:rPr lang="en-US" altLang="ko-KR" sz="1200" b="1" dirty="0">
                <a:latin typeface="+mn-ea"/>
              </a:rPr>
              <a:t>•</a:t>
            </a:r>
            <a:r>
              <a:rPr lang="ko-KR" altLang="en-US" sz="1200" b="1" dirty="0"/>
              <a:t>분</a:t>
            </a:r>
            <a:r>
              <a:rPr lang="en-US" altLang="ko-KR" sz="1200" b="1" dirty="0">
                <a:latin typeface="+mn-ea"/>
              </a:rPr>
              <a:t>•</a:t>
            </a:r>
            <a:r>
              <a:rPr lang="ko-KR" altLang="en-US" sz="1200" b="1" dirty="0"/>
              <a:t>초까지 필요하면 </a:t>
            </a:r>
            <a:r>
              <a:rPr lang="en-US" altLang="ko-KR" sz="1200" b="1" dirty="0"/>
              <a:t>Date</a:t>
            </a:r>
            <a:endParaRPr lang="ko-KR" altLang="en-US" sz="12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F42B88-8F5E-4083-68DF-E26D7106E8AD}"/>
              </a:ext>
            </a:extLst>
          </p:cNvPr>
          <p:cNvSpPr txBox="1"/>
          <p:nvPr/>
        </p:nvSpPr>
        <p:spPr>
          <a:xfrm>
            <a:off x="6588514" y="4735808"/>
            <a:ext cx="29065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초 이하까지 필요하면 </a:t>
            </a:r>
            <a:r>
              <a:rPr lang="en-US" altLang="ko-KR" sz="1200" b="1" dirty="0"/>
              <a:t>Timestamp </a:t>
            </a:r>
            <a:r>
              <a:rPr lang="ko-KR" altLang="en-US" sz="1200" b="1" dirty="0"/>
              <a:t>이용</a:t>
            </a:r>
          </a:p>
        </p:txBody>
      </p: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1779B8E6-F1ED-A6C7-04A3-D57E2E218047}"/>
              </a:ext>
            </a:extLst>
          </p:cNvPr>
          <p:cNvCxnSpPr>
            <a:cxnSpLocks/>
            <a:stCxn id="32" idx="1"/>
            <a:endCxn id="34" idx="1"/>
          </p:cNvCxnSpPr>
          <p:nvPr/>
        </p:nvCxnSpPr>
        <p:spPr>
          <a:xfrm rot="10800000" flipV="1">
            <a:off x="6588514" y="4319632"/>
            <a:ext cx="12700" cy="554675"/>
          </a:xfrm>
          <a:prstGeom prst="bentConnector3">
            <a:avLst>
              <a:gd name="adj1" fmla="val 180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C9B34802-D273-53BD-3F8C-C4AAF1AE9E09}"/>
              </a:ext>
            </a:extLst>
          </p:cNvPr>
          <p:cNvSpPr/>
          <p:nvPr/>
        </p:nvSpPr>
        <p:spPr>
          <a:xfrm>
            <a:off x="4632966" y="2411654"/>
            <a:ext cx="313509" cy="277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화살표: 오른쪽 38">
            <a:extLst>
              <a:ext uri="{FF2B5EF4-FFF2-40B4-BE49-F238E27FC236}">
                <a16:creationId xmlns:a16="http://schemas.microsoft.com/office/drawing/2014/main" id="{AD6D8A62-5B1E-DF25-18D9-78993891D9DE}"/>
              </a:ext>
            </a:extLst>
          </p:cNvPr>
          <p:cNvSpPr/>
          <p:nvPr/>
        </p:nvSpPr>
        <p:spPr>
          <a:xfrm>
            <a:off x="4639496" y="3409811"/>
            <a:ext cx="313509" cy="277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AF3C80BB-E3FD-8417-0D34-BB03DF3D2313}"/>
              </a:ext>
            </a:extLst>
          </p:cNvPr>
          <p:cNvSpPr/>
          <p:nvPr/>
        </p:nvSpPr>
        <p:spPr>
          <a:xfrm>
            <a:off x="4632965" y="4458302"/>
            <a:ext cx="313509" cy="277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8EBED4F8-1842-0C0D-4D12-76A622E28A89}"/>
              </a:ext>
            </a:extLst>
          </p:cNvPr>
          <p:cNvSpPr/>
          <p:nvPr/>
        </p:nvSpPr>
        <p:spPr>
          <a:xfrm>
            <a:off x="4639616" y="5506793"/>
            <a:ext cx="313509" cy="277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20AC33-8925-046F-00C2-E4406AF25639}"/>
              </a:ext>
            </a:extLst>
          </p:cNvPr>
          <p:cNvSpPr txBox="1"/>
          <p:nvPr/>
        </p:nvSpPr>
        <p:spPr>
          <a:xfrm>
            <a:off x="5079890" y="2374544"/>
            <a:ext cx="1009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FFFF00"/>
                </a:solidFill>
              </a:rPr>
              <a:t>NUMBER</a:t>
            </a:r>
            <a:endParaRPr lang="ko-KR" altLang="en-US" sz="1200" b="1" dirty="0">
              <a:solidFill>
                <a:srgbClr val="FFFF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A5A247-241E-4D6D-C04E-CFB7E30B5C12}"/>
              </a:ext>
            </a:extLst>
          </p:cNvPr>
          <p:cNvSpPr txBox="1"/>
          <p:nvPr/>
        </p:nvSpPr>
        <p:spPr>
          <a:xfrm>
            <a:off x="5079890" y="3419924"/>
            <a:ext cx="1009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FFFF00"/>
                </a:solidFill>
              </a:rPr>
              <a:t>VARCHAR</a:t>
            </a:r>
            <a:endParaRPr lang="ko-KR" altLang="en-US" sz="1200" b="1" dirty="0">
              <a:solidFill>
                <a:srgbClr val="FFFF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25FE986-2C3E-D5C4-A305-C8D949F830B9}"/>
              </a:ext>
            </a:extLst>
          </p:cNvPr>
          <p:cNvSpPr txBox="1"/>
          <p:nvPr/>
        </p:nvSpPr>
        <p:spPr>
          <a:xfrm>
            <a:off x="5079890" y="4465304"/>
            <a:ext cx="1009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FFFF00"/>
                </a:solidFill>
              </a:rPr>
              <a:t>DATE</a:t>
            </a:r>
            <a:endParaRPr lang="ko-KR" altLang="en-US" sz="1200" b="1" dirty="0">
              <a:solidFill>
                <a:srgbClr val="FFFF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8F283DF-6B93-1A6A-1908-80059C21E0E9}"/>
              </a:ext>
            </a:extLst>
          </p:cNvPr>
          <p:cNvSpPr txBox="1"/>
          <p:nvPr/>
        </p:nvSpPr>
        <p:spPr>
          <a:xfrm>
            <a:off x="5079890" y="5511351"/>
            <a:ext cx="1009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FFFF00"/>
                </a:solidFill>
              </a:rPr>
              <a:t>BLOB</a:t>
            </a:r>
            <a:endParaRPr lang="ko-KR" altLang="en-US" sz="1200" b="1" dirty="0">
              <a:solidFill>
                <a:srgbClr val="FFFF00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3A32C0C-30A6-AE83-D84E-3EFF1400B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168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3803299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0B967B6-BE5F-A84A-8870-3BA50DF78EEF}"/>
              </a:ext>
            </a:extLst>
          </p:cNvPr>
          <p:cNvSpPr txBox="1"/>
          <p:nvPr/>
        </p:nvSpPr>
        <p:spPr>
          <a:xfrm>
            <a:off x="866909" y="1496173"/>
            <a:ext cx="11125066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8"/>
            </a:pPr>
            <a:r>
              <a:rPr lang="ko-KR" altLang="en-US" b="1" dirty="0">
                <a:latin typeface="+mn-ea"/>
              </a:rPr>
              <a:t> 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널</a:t>
            </a:r>
            <a:r>
              <a:rPr lang="en-US" altLang="ko-KR" b="1" u="sng" dirty="0">
                <a:solidFill>
                  <a:srgbClr val="FF0000"/>
                </a:solidFill>
                <a:latin typeface="+mn-ea"/>
              </a:rPr>
              <a:t>(NULL)</a:t>
            </a:r>
            <a:r>
              <a:rPr lang="ko-KR" altLang="en-US" b="1" dirty="0">
                <a:latin typeface="+mn-ea"/>
              </a:rPr>
              <a:t> 이야기</a:t>
            </a:r>
            <a:endParaRPr lang="en-US" altLang="ko-KR" b="1" dirty="0">
              <a:latin typeface="+mn-ea"/>
            </a:endParaRPr>
          </a:p>
          <a:p>
            <a:pPr marL="342900" indent="-342900">
              <a:buFont typeface="+mj-lt"/>
              <a:buAutoNum type="arabicPeriod" startAt="28"/>
            </a:pPr>
            <a:endParaRPr lang="en-US" altLang="ko-KR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널은 속성의 값을 알 수 없을 때 사용하는 데이터 값이다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데이터가 입력되는 시점을 기준으로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값을 알 수 없을 때 널을 사용한다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널을 허용한 속성은 선택</a:t>
            </a:r>
            <a:r>
              <a:rPr lang="en-US" altLang="ko-KR" sz="1600" b="1" dirty="0">
                <a:latin typeface="+mn-ea"/>
              </a:rPr>
              <a:t>(Optional) </a:t>
            </a:r>
            <a:r>
              <a:rPr lang="ko-KR" altLang="en-US" sz="1600" b="1" dirty="0">
                <a:latin typeface="+mn-ea"/>
              </a:rPr>
              <a:t>속성이다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속성에 입력할 값을 모르는 경우는 다양할 것이다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입력할 당시에 값을 모를 수도 있고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저장할 필요가 없을 수도 있으며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저장한 게 누락됐을 수도 있다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만약 나중에 값을 알게 되거나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저장해서 관리할 필요가 있게 되면 널 속성에 값이 채워질 것이다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즉 모른다는 의미에서 사용된 널 값이지만</a:t>
            </a:r>
            <a:r>
              <a:rPr lang="en-US" altLang="ko-KR" sz="1600" b="1" dirty="0">
                <a:latin typeface="+mn-ea"/>
              </a:rPr>
              <a:t>,</a:t>
            </a:r>
            <a:r>
              <a:rPr lang="ko-KR" altLang="en-US" sz="1600" b="1" dirty="0">
                <a:latin typeface="+mn-ea"/>
              </a:rPr>
              <a:t> 언젠가 알게 될 수도 있다는 것이다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널이 존재하는 속성이 많을 때는 원천 </a:t>
            </a:r>
            <a:r>
              <a:rPr lang="ko-KR" altLang="en-US" sz="1600" b="1" dirty="0" err="1">
                <a:latin typeface="+mn-ea"/>
              </a:rPr>
              <a:t>엔터티에서</a:t>
            </a:r>
            <a:r>
              <a:rPr lang="ko-KR" altLang="en-US" sz="1600" b="1" dirty="0">
                <a:latin typeface="+mn-ea"/>
              </a:rPr>
              <a:t> 분리해서 별도의 </a:t>
            </a:r>
            <a:r>
              <a:rPr lang="ko-KR" altLang="en-US" sz="1600" b="1" dirty="0" err="1">
                <a:latin typeface="+mn-ea"/>
              </a:rPr>
              <a:t>엔터티에서</a:t>
            </a:r>
            <a:r>
              <a:rPr lang="ko-KR" altLang="en-US" sz="1600" b="1" dirty="0">
                <a:latin typeface="+mn-ea"/>
              </a:rPr>
              <a:t> 관리하는 것도 고려해야 한다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특히 ‘</a:t>
            </a:r>
            <a:r>
              <a:rPr lang="ko-KR" altLang="en-US" sz="1600" b="1" dirty="0" err="1">
                <a:latin typeface="+mn-ea"/>
              </a:rPr>
              <a:t>해당없음</a:t>
            </a:r>
            <a:r>
              <a:rPr lang="ko-KR" altLang="en-US" sz="1600" b="1" dirty="0">
                <a:latin typeface="+mn-ea"/>
              </a:rPr>
              <a:t>’ 에 해당하는 속성은 분리하는 것이 좋다</a:t>
            </a:r>
            <a:r>
              <a:rPr lang="en-US" altLang="ko-KR" sz="1600" b="1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978DB6-E59A-585D-1BC7-42D64849606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7BAC6A-05A2-7016-E42E-103CE9D79130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1E8342-7F29-3B8E-7DDA-F81251A6BF2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 startAt="2"/>
            </a:pPr>
            <a:r>
              <a:rPr lang="ko-KR" altLang="en-US" sz="2400" b="1" dirty="0">
                <a:latin typeface="+mn-ea"/>
              </a:rPr>
              <a:t> 속성의 종류</a:t>
            </a:r>
            <a:endParaRPr lang="en-US" altLang="ko-KR" sz="2400" b="1" dirty="0"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E3E4EB0-69B0-B49A-D1C9-2EE2EFAD0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682" y="5492596"/>
            <a:ext cx="3162741" cy="76210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5B16FF4-1B22-9B74-6CE9-9963E67C0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933" y="4778121"/>
            <a:ext cx="3400900" cy="1476581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48F0F74-74CC-8C62-B2A2-C7FA479C5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169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D1ED73-175A-4B58-832B-C7D974288C22}"/>
              </a:ext>
            </a:extLst>
          </p:cNvPr>
          <p:cNvSpPr txBox="1"/>
          <p:nvPr/>
        </p:nvSpPr>
        <p:spPr>
          <a:xfrm>
            <a:off x="3340359" y="1234281"/>
            <a:ext cx="2755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b="1" dirty="0">
                <a:solidFill>
                  <a:srgbClr val="FF0000"/>
                </a:solidFill>
              </a:rPr>
              <a:t>알 수 없음</a:t>
            </a:r>
            <a:endParaRPr lang="en-US" altLang="ko-KR" b="1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b="1" dirty="0">
                <a:solidFill>
                  <a:srgbClr val="FF0000"/>
                </a:solidFill>
              </a:rPr>
              <a:t>해당 없음 </a:t>
            </a:r>
            <a:r>
              <a:rPr lang="en-US" altLang="ko-KR" b="1" dirty="0">
                <a:solidFill>
                  <a:srgbClr val="FF0000"/>
                </a:solidFill>
              </a:rPr>
              <a:t>(N/A)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765011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0B967B6-BE5F-A84A-8870-3BA50DF78EEF}"/>
              </a:ext>
            </a:extLst>
          </p:cNvPr>
          <p:cNvSpPr txBox="1"/>
          <p:nvPr/>
        </p:nvSpPr>
        <p:spPr>
          <a:xfrm>
            <a:off x="866909" y="1496173"/>
            <a:ext cx="11125066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9"/>
            </a:pPr>
            <a:r>
              <a:rPr lang="ko-KR" altLang="en-US" b="1" dirty="0">
                <a:latin typeface="+mn-ea"/>
              </a:rPr>
              <a:t> 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널</a:t>
            </a:r>
            <a:r>
              <a:rPr lang="en-US" altLang="ko-KR" b="1" u="sng" dirty="0">
                <a:solidFill>
                  <a:srgbClr val="FF0000"/>
                </a:solidFill>
                <a:latin typeface="+mn-ea"/>
              </a:rPr>
              <a:t>(NULL)</a:t>
            </a:r>
            <a:r>
              <a:rPr lang="ko-KR" altLang="en-US" b="1" dirty="0">
                <a:latin typeface="+mn-ea"/>
              </a:rPr>
              <a:t>과 </a:t>
            </a:r>
            <a:r>
              <a:rPr lang="en-US" altLang="ko-KR" b="1" dirty="0">
                <a:latin typeface="+mn-ea"/>
              </a:rPr>
              <a:t>DBMS</a:t>
            </a:r>
            <a:r>
              <a:rPr lang="ko-KR" altLang="en-US" b="1" dirty="0">
                <a:latin typeface="+mn-ea"/>
              </a:rPr>
              <a:t>와 인덱스</a:t>
            </a:r>
            <a:endParaRPr lang="en-US" altLang="ko-KR" b="1" dirty="0">
              <a:latin typeface="+mn-ea"/>
            </a:endParaRPr>
          </a:p>
          <a:p>
            <a:pPr marL="342900" indent="-342900">
              <a:buFont typeface="+mj-lt"/>
              <a:buAutoNum type="arabicPeriod" startAt="29"/>
            </a:pPr>
            <a:endParaRPr lang="en-US" altLang="ko-KR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속성의 널은 값을 모를 때와 값이 없을 때로 세밀하게 설계할 필요가 있다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하지만 </a:t>
            </a:r>
            <a:r>
              <a:rPr lang="en-US" altLang="ko-KR" sz="1600" b="1" dirty="0">
                <a:latin typeface="+mn-ea"/>
              </a:rPr>
              <a:t>DBMS</a:t>
            </a:r>
            <a:r>
              <a:rPr lang="ko-KR" altLang="en-US" sz="1600" b="1" dirty="0">
                <a:latin typeface="+mn-ea"/>
              </a:rPr>
              <a:t>에서는 가능하면 널 값을 사용하지 않는 것이 좋다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널 값도 하나의 고유한 값이어서 </a:t>
            </a:r>
            <a:r>
              <a:rPr lang="ko-KR" altLang="en-US" sz="1600" b="1" dirty="0" err="1">
                <a:latin typeface="+mn-ea"/>
              </a:rPr>
              <a:t>퀴리에서</a:t>
            </a:r>
            <a:r>
              <a:rPr lang="ko-KR" altLang="en-US" sz="1600" b="1" dirty="0">
                <a:latin typeface="+mn-ea"/>
              </a:rPr>
              <a:t> 뜻하지 않게 사용될 수 있다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특히 연산할 때는 주의해야 한다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또한 널 값은 보통 인덱스에 포함되지 않는다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널 값을 허용한 속성을 조회할 때는 이 점을 주의해야 한다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널 값에 대한 조회가 많고 널 값이 저장된 인스턴스가 적다면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해당 속성에 대해서는 인덱스 스캔을 하도록 유도해야 한다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따라서 속성에 널 값을 허용하지 않고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널 값을 대신하는 기본 값을 사용해야 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그래야 기본 값을 사용해 인덱스 스캔을 사용할 수 있다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반면에 널 값이 저장된 인스턴스가 많다면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테이블 풀 스캔을 유도하기 위해 실제 널 값을 사용하는 것이 유리하다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소속부서번호 속성에 참조 무결성 제약을 생성했다고 널 값을 사용하지 못하는 것은 아니다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오히려 널을 허용하지 않고 기본 값을 사용하면 문제가 생긴다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예를 들어 상위 </a:t>
            </a:r>
            <a:r>
              <a:rPr lang="ko-KR" altLang="en-US" sz="1400" b="1" dirty="0" err="1">
                <a:latin typeface="+mn-ea"/>
              </a:rPr>
              <a:t>엔터티에</a:t>
            </a:r>
            <a:r>
              <a:rPr lang="ko-KR" altLang="en-US" sz="1400" b="1" dirty="0">
                <a:latin typeface="+mn-ea"/>
              </a:rPr>
              <a:t> 존재하지 않는 </a:t>
            </a:r>
            <a:r>
              <a:rPr lang="en-US" altLang="ko-KR" sz="1400" b="1" dirty="0">
                <a:latin typeface="+mn-ea"/>
              </a:rPr>
              <a:t>"(Blank)</a:t>
            </a:r>
            <a:r>
              <a:rPr lang="ko-KR" altLang="en-US" sz="1400" b="1" dirty="0">
                <a:latin typeface="+mn-ea"/>
              </a:rPr>
              <a:t>나 ‘ </a:t>
            </a:r>
            <a:r>
              <a:rPr lang="en-US" altLang="ko-KR" sz="1400" b="1" dirty="0">
                <a:latin typeface="+mn-ea"/>
              </a:rPr>
              <a:t>〜 ’ </a:t>
            </a:r>
            <a:r>
              <a:rPr lang="ko-KR" altLang="en-US" sz="1400" b="1" dirty="0">
                <a:latin typeface="+mn-ea"/>
              </a:rPr>
              <a:t>와 같은 기본 값을 사용할 수가 없다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따라서 참조 무결성 제약을 사용한 관계 속성이 업무적으로 널이 가능하면 널을 허용해야 한다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978DB6-E59A-585D-1BC7-42D64849606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7BAC6A-05A2-7016-E42E-103CE9D79130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1E8342-7F29-3B8E-7DDA-F81251A6BF2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 startAt="2"/>
            </a:pPr>
            <a:r>
              <a:rPr lang="ko-KR" altLang="en-US" sz="2400" b="1" dirty="0">
                <a:latin typeface="+mn-ea"/>
              </a:rPr>
              <a:t> 속성의 종류</a:t>
            </a:r>
            <a:endParaRPr lang="en-US" altLang="ko-KR" sz="2400" b="1" dirty="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1A21D92-B472-A4C8-3F1D-48F96568E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235" y="4329643"/>
            <a:ext cx="2543530" cy="981212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5ABAE5C-29C1-3162-D509-DF01E4C09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170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2791392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0B967B6-BE5F-A84A-8870-3BA50DF78EEF}"/>
              </a:ext>
            </a:extLst>
          </p:cNvPr>
          <p:cNvSpPr txBox="1"/>
          <p:nvPr/>
        </p:nvSpPr>
        <p:spPr>
          <a:xfrm>
            <a:off x="866909" y="1496173"/>
            <a:ext cx="11125066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0"/>
            </a:pPr>
            <a:r>
              <a:rPr lang="ko-KR" altLang="en-US" b="1" dirty="0">
                <a:latin typeface="+mn-ea"/>
              </a:rPr>
              <a:t> 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널</a:t>
            </a:r>
            <a:r>
              <a:rPr lang="en-US" altLang="ko-KR" b="1" u="sng" dirty="0">
                <a:solidFill>
                  <a:srgbClr val="FF0000"/>
                </a:solidFill>
                <a:latin typeface="+mn-ea"/>
              </a:rPr>
              <a:t>(NULL)</a:t>
            </a:r>
            <a:r>
              <a:rPr lang="ko-KR" altLang="en-US" b="1" dirty="0">
                <a:latin typeface="+mn-ea"/>
              </a:rPr>
              <a:t> 특징과 사용법</a:t>
            </a:r>
            <a:endParaRPr lang="en-US" altLang="ko-KR" b="1" dirty="0">
              <a:latin typeface="+mn-ea"/>
            </a:endParaRPr>
          </a:p>
          <a:p>
            <a:pPr marL="342900" indent="-342900">
              <a:buFont typeface="+mj-lt"/>
              <a:buAutoNum type="arabicPeriod" startAt="30"/>
            </a:pPr>
            <a:endParaRPr lang="en-US" altLang="ko-KR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속성의 특성에 맞도록 널 허용 여부를 결정해야 하지만 대체로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널 값을 허용하면 좋지 않은 속성</a:t>
            </a:r>
            <a:r>
              <a:rPr lang="ko-KR" altLang="en-US" sz="1400" b="1" dirty="0">
                <a:latin typeface="+mn-ea"/>
              </a:rPr>
              <a:t>이 있다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400" b="1" dirty="0">
                <a:latin typeface="+mn-ea"/>
              </a:rPr>
              <a:t>코드 속성은 </a:t>
            </a:r>
            <a:r>
              <a:rPr lang="en-US" altLang="ko-KR" sz="1400" b="1" dirty="0">
                <a:latin typeface="+mn-ea"/>
              </a:rPr>
              <a:t>Not Null</a:t>
            </a:r>
            <a:r>
              <a:rPr lang="ko-KR" altLang="en-US" sz="1400" b="1" dirty="0">
                <a:latin typeface="+mn-ea"/>
              </a:rPr>
              <a:t>로 지정하는 것이 좋다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400" b="1" dirty="0">
                <a:latin typeface="+mn-ea"/>
              </a:rPr>
              <a:t>집계의 대상이 되는 속성은 널 값을 사용하지 않는 것이 바람직하다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400" b="1" dirty="0">
                <a:latin typeface="+mn-ea"/>
              </a:rPr>
              <a:t>외래 식별자 속성은 널 값 허용 여부가 업무 요건에 따라 결정된다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만약 널 허용일 때는 기본 값을 사용하지 않아야 한다</a:t>
            </a:r>
            <a:endParaRPr lang="en-US" altLang="ko-KR" sz="1400" b="1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400" b="1" dirty="0">
                <a:latin typeface="+mn-ea"/>
              </a:rPr>
              <a:t>금액을 저장하는 속성도 널 값 사용을 주의해야 한다</a:t>
            </a:r>
            <a:r>
              <a:rPr lang="en-US" altLang="ko-KR" sz="1400" b="1" dirty="0">
                <a:latin typeface="+mn-ea"/>
              </a:rPr>
              <a:t>. Not Null</a:t>
            </a:r>
            <a:r>
              <a:rPr lang="ko-KR" altLang="en-US" sz="1400" b="1" dirty="0">
                <a:latin typeface="+mn-ea"/>
              </a:rPr>
              <a:t>로 설정하고 모르는 값은 ‘</a:t>
            </a:r>
            <a:r>
              <a:rPr lang="en-US" altLang="ko-KR" sz="1400" b="1" dirty="0">
                <a:latin typeface="+mn-ea"/>
              </a:rPr>
              <a:t>0.001’ </a:t>
            </a:r>
            <a:r>
              <a:rPr lang="ko-KR" altLang="en-US" sz="1400" b="1" dirty="0">
                <a:latin typeface="+mn-ea"/>
              </a:rPr>
              <a:t>정도로 구분</a:t>
            </a:r>
            <a:endParaRPr lang="en-US" altLang="ko-KR" sz="1400" b="1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요컨대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 err="1">
                <a:latin typeface="+mn-ea"/>
              </a:rPr>
              <a:t>엔터티에</a:t>
            </a:r>
            <a:r>
              <a:rPr lang="ko-KR" altLang="en-US" sz="1400" b="1" dirty="0">
                <a:latin typeface="+mn-ea"/>
              </a:rPr>
              <a:t> 널 값을 가지는 속성은 가능한 없는 것이 좋다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널이 발생하는 속성은 일대일</a:t>
            </a:r>
            <a:r>
              <a:rPr lang="en-US" altLang="ko-KR" sz="1400" b="1" dirty="0">
                <a:latin typeface="+mn-ea"/>
              </a:rPr>
              <a:t>(1:1) </a:t>
            </a:r>
            <a:r>
              <a:rPr lang="ko-KR" altLang="en-US" sz="1400" b="1" dirty="0" err="1">
                <a:latin typeface="+mn-ea"/>
              </a:rPr>
              <a:t>엔터티로</a:t>
            </a:r>
            <a:r>
              <a:rPr lang="ko-KR" altLang="en-US" sz="1400" b="1" dirty="0">
                <a:latin typeface="+mn-ea"/>
              </a:rPr>
              <a:t> 분리하는 것이 좋다 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인스턴스의 종류별로 속성 집단이 널 값을 가지거나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특히 해당 없음을 의미하는</a:t>
            </a:r>
            <a:r>
              <a:rPr lang="en-US" altLang="ko-KR" sz="1400" b="1" dirty="0">
                <a:latin typeface="+mn-ea"/>
              </a:rPr>
              <a:t> </a:t>
            </a:r>
            <a:r>
              <a:rPr lang="ko-KR" altLang="en-US" sz="1400" b="1" dirty="0">
                <a:latin typeface="+mn-ea"/>
              </a:rPr>
              <a:t>값을 가진다면 </a:t>
            </a: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서브타입을 도출해 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또는 일대일 </a:t>
            </a:r>
            <a:r>
              <a:rPr lang="ko-KR" altLang="en-US" sz="1400" b="1" dirty="0" err="1">
                <a:latin typeface="+mn-ea"/>
              </a:rPr>
              <a:t>엔터티로</a:t>
            </a:r>
            <a:r>
              <a:rPr lang="ko-KR" altLang="en-US" sz="1400" b="1" dirty="0">
                <a:latin typeface="+mn-ea"/>
              </a:rPr>
              <a:t> 분리해</a:t>
            </a:r>
            <a:r>
              <a:rPr lang="en-US" altLang="ko-KR" sz="1400" b="1" dirty="0">
                <a:latin typeface="+mn-ea"/>
              </a:rPr>
              <a:t>) </a:t>
            </a:r>
            <a:r>
              <a:rPr lang="ko-KR" altLang="en-US" sz="1400" b="1" dirty="0">
                <a:latin typeface="+mn-ea"/>
              </a:rPr>
              <a:t>널 값이 생기지 않게 하는 것이 바람직하다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그리고 널 속성은 대체로 </a:t>
            </a:r>
            <a:r>
              <a:rPr lang="ko-KR" altLang="en-US" sz="1400" b="1" dirty="0" err="1">
                <a:latin typeface="+mn-ea"/>
              </a:rPr>
              <a:t>엔터티</a:t>
            </a:r>
            <a:r>
              <a:rPr lang="ko-KR" altLang="en-US" sz="1400" b="1" dirty="0">
                <a:latin typeface="+mn-ea"/>
              </a:rPr>
              <a:t> 하단에 위치시키는 것이 좋다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978DB6-E59A-585D-1BC7-42D64849606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7BAC6A-05A2-7016-E42E-103CE9D79130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1E8342-7F29-3B8E-7DDA-F81251A6BF2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 startAt="2"/>
            </a:pPr>
            <a:r>
              <a:rPr lang="ko-KR" altLang="en-US" sz="2400" b="1" dirty="0">
                <a:latin typeface="+mn-ea"/>
              </a:rPr>
              <a:t> 속성의 종류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48C702B-B8DC-5471-753C-A5C01BB8C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171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3251526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0B967B6-BE5F-A84A-8870-3BA50DF78EEF}"/>
              </a:ext>
            </a:extLst>
          </p:cNvPr>
          <p:cNvSpPr txBox="1"/>
          <p:nvPr/>
        </p:nvSpPr>
        <p:spPr>
          <a:xfrm>
            <a:off x="866909" y="1496173"/>
            <a:ext cx="111250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0"/>
            </a:pP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널</a:t>
            </a:r>
            <a:r>
              <a:rPr lang="en-US" altLang="ko-KR" b="1" u="sng" dirty="0">
                <a:solidFill>
                  <a:srgbClr val="FF0000"/>
                </a:solidFill>
                <a:latin typeface="+mn-ea"/>
              </a:rPr>
              <a:t>(NULL)</a:t>
            </a:r>
            <a:r>
              <a:rPr lang="ko-KR" altLang="en-US" b="1" dirty="0">
                <a:latin typeface="+mn-ea"/>
              </a:rPr>
              <a:t> 특징과 사용법</a:t>
            </a:r>
            <a:endParaRPr lang="en-US" altLang="ko-KR" b="1" dirty="0">
              <a:latin typeface="+mn-ea"/>
            </a:endParaRPr>
          </a:p>
          <a:p>
            <a:pPr marL="342900" indent="-342900">
              <a:buFont typeface="+mj-lt"/>
              <a:buAutoNum type="arabicPeriod" startAt="30"/>
            </a:pPr>
            <a:endParaRPr lang="en-US" altLang="ko-KR" b="1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978DB6-E59A-585D-1BC7-42D64849606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7BAC6A-05A2-7016-E42E-103CE9D79130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1E8342-7F29-3B8E-7DDA-F81251A6BF2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 startAt="2"/>
            </a:pPr>
            <a:r>
              <a:rPr lang="ko-KR" altLang="en-US" sz="2400" b="1" dirty="0">
                <a:latin typeface="+mn-ea"/>
              </a:rPr>
              <a:t> 속성의 종류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7AADD41-8BA4-2AC6-B37F-52EAD9448802}"/>
              </a:ext>
            </a:extLst>
          </p:cNvPr>
          <p:cNvSpPr/>
          <p:nvPr/>
        </p:nvSpPr>
        <p:spPr>
          <a:xfrm>
            <a:off x="4021587" y="1986437"/>
            <a:ext cx="7108233" cy="10475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100" dirty="0"/>
              <a:t>현행 데이터 그대로 마이그레이션 가능</a:t>
            </a:r>
            <a:endParaRPr lang="en-US" altLang="ko-KR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100" dirty="0"/>
              <a:t>Null </a:t>
            </a:r>
            <a:r>
              <a:rPr lang="ko-KR" altLang="en-US" sz="1100" dirty="0"/>
              <a:t>값이 인덱스에 포함 안됨</a:t>
            </a:r>
            <a:r>
              <a:rPr lang="en-US" altLang="ko-KR" sz="1100" dirty="0"/>
              <a:t>(Not Null</a:t>
            </a:r>
            <a:r>
              <a:rPr lang="ko-KR" altLang="en-US" sz="1100" dirty="0"/>
              <a:t>이면 기본 값이 인덱스에 포함</a:t>
            </a:r>
            <a:r>
              <a:rPr lang="en-US" altLang="ko-KR" sz="11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100" dirty="0"/>
              <a:t>분포도가 낮은 속성은 테이블 풀 스캔이 되도록 함</a:t>
            </a:r>
            <a:endParaRPr lang="en-US" altLang="ko-KR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100" dirty="0"/>
              <a:t>Not Null </a:t>
            </a:r>
            <a:r>
              <a:rPr lang="ko-KR" altLang="en-US" sz="1100" dirty="0"/>
              <a:t>제약이 없으므로 성능에 약간 유리함</a:t>
            </a:r>
            <a:endParaRPr lang="en-US" altLang="ko-KR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100" dirty="0"/>
              <a:t>운영 중 추가 속성이 발생해도 기본 값에 대한 처리 방안은 고려하지 않아도 됨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353BEF2-A616-42E3-5029-A4691E406E63}"/>
              </a:ext>
            </a:extLst>
          </p:cNvPr>
          <p:cNvSpPr/>
          <p:nvPr/>
        </p:nvSpPr>
        <p:spPr>
          <a:xfrm>
            <a:off x="4021586" y="3034000"/>
            <a:ext cx="7108233" cy="104756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7030A0"/>
                </a:solidFill>
              </a:rPr>
              <a:t>속성의 상세 업무 요건 파악으로 모델링 시간이 증가</a:t>
            </a:r>
            <a:endParaRPr lang="en-US" altLang="ko-KR" sz="1100" dirty="0">
              <a:solidFill>
                <a:srgbClr val="7030A0"/>
              </a:solidFill>
            </a:endParaRPr>
          </a:p>
          <a:p>
            <a:r>
              <a:rPr lang="en-US" altLang="ko-KR" sz="1100" dirty="0">
                <a:solidFill>
                  <a:srgbClr val="7030A0"/>
                </a:solidFill>
              </a:rPr>
              <a:t>       (Null / Not Null </a:t>
            </a:r>
            <a:r>
              <a:rPr lang="ko-KR" altLang="en-US" sz="1100" dirty="0">
                <a:solidFill>
                  <a:srgbClr val="7030A0"/>
                </a:solidFill>
              </a:rPr>
              <a:t>속성 정의</a:t>
            </a:r>
            <a:r>
              <a:rPr lang="en-US" altLang="ko-KR" sz="1100" dirty="0">
                <a:solidFill>
                  <a:srgbClr val="7030A0"/>
                </a:solidFill>
              </a:rPr>
              <a:t>, Default </a:t>
            </a:r>
            <a:r>
              <a:rPr lang="ko-KR" altLang="en-US" sz="1100" dirty="0">
                <a:solidFill>
                  <a:srgbClr val="7030A0"/>
                </a:solidFill>
              </a:rPr>
              <a:t>값 정의 등 고려 사항 가장 많음</a:t>
            </a:r>
            <a:r>
              <a:rPr lang="en-US" altLang="ko-KR" sz="1100" dirty="0">
                <a:solidFill>
                  <a:srgbClr val="7030A0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7030A0"/>
                </a:solidFill>
              </a:rPr>
              <a:t>속성의 </a:t>
            </a:r>
            <a:r>
              <a:rPr lang="en-US" altLang="ko-KR" sz="1100" dirty="0">
                <a:solidFill>
                  <a:srgbClr val="7030A0"/>
                </a:solidFill>
              </a:rPr>
              <a:t>Null </a:t>
            </a:r>
            <a:r>
              <a:rPr lang="ko-KR" altLang="en-US" sz="1100" dirty="0">
                <a:solidFill>
                  <a:srgbClr val="7030A0"/>
                </a:solidFill>
              </a:rPr>
              <a:t>처리 프로그래밍 혼선 발생</a:t>
            </a:r>
            <a:endParaRPr lang="en-US" altLang="ko-KR" sz="1100" dirty="0">
              <a:solidFill>
                <a:srgbClr val="7030A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rgbClr val="7030A0"/>
                </a:solidFill>
              </a:rPr>
              <a:t>NVL </a:t>
            </a:r>
            <a:r>
              <a:rPr lang="ko-KR" altLang="en-US" sz="1100" dirty="0">
                <a:solidFill>
                  <a:srgbClr val="7030A0"/>
                </a:solidFill>
              </a:rPr>
              <a:t>구문 사용으로 성능 문제 발생</a:t>
            </a:r>
            <a:endParaRPr lang="en-US" altLang="ko-KR" sz="1100" dirty="0">
              <a:solidFill>
                <a:srgbClr val="7030A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7030A0"/>
                </a:solidFill>
              </a:rPr>
              <a:t>연산 </a:t>
            </a:r>
            <a:r>
              <a:rPr lang="en-US" altLang="ko-KR" sz="1100" dirty="0">
                <a:solidFill>
                  <a:srgbClr val="7030A0"/>
                </a:solidFill>
                <a:latin typeface="+mn-ea"/>
              </a:rPr>
              <a:t>• </a:t>
            </a:r>
            <a:r>
              <a:rPr lang="ko-KR" altLang="en-US" sz="1100" dirty="0">
                <a:solidFill>
                  <a:srgbClr val="7030A0"/>
                </a:solidFill>
              </a:rPr>
              <a:t>집계 요건이 있을 때 원치 않는 결과 나올 가능성 존재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8FA08C-1080-7A63-8DC0-0F4EFCF74577}"/>
              </a:ext>
            </a:extLst>
          </p:cNvPr>
          <p:cNvSpPr/>
          <p:nvPr/>
        </p:nvSpPr>
        <p:spPr>
          <a:xfrm>
            <a:off x="4021586" y="4081564"/>
            <a:ext cx="7108233" cy="1047567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100" dirty="0"/>
              <a:t>일관된 모델을 유지할 수 있으며 모델링 시간이 단축됨</a:t>
            </a:r>
            <a:endParaRPr lang="en-US" altLang="ko-KR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100" dirty="0"/>
              <a:t>Null </a:t>
            </a:r>
            <a:r>
              <a:rPr lang="ko-KR" altLang="en-US" sz="1100" dirty="0"/>
              <a:t>값이 없으므로 </a:t>
            </a:r>
            <a:r>
              <a:rPr lang="en-US" altLang="ko-KR" sz="1100" dirty="0"/>
              <a:t>Null </a:t>
            </a:r>
            <a:r>
              <a:rPr lang="ko-KR" altLang="en-US" sz="1100" dirty="0"/>
              <a:t>처리 프로그래밍이 수월</a:t>
            </a:r>
            <a:r>
              <a:rPr lang="en-US" altLang="ko-KR" sz="1100" dirty="0"/>
              <a:t>(Where </a:t>
            </a:r>
            <a:r>
              <a:rPr lang="en-US" altLang="ko-KR" sz="1100" dirty="0" err="1"/>
              <a:t>cust</a:t>
            </a:r>
            <a:r>
              <a:rPr lang="en-US" altLang="ko-KR" sz="1100" dirty="0"/>
              <a:t> is null, and </a:t>
            </a:r>
            <a:r>
              <a:rPr lang="en-US" altLang="ko-KR" sz="1100" dirty="0" err="1"/>
              <a:t>nvl</a:t>
            </a:r>
            <a:r>
              <a:rPr lang="en-US" altLang="ko-KR" sz="1100" dirty="0"/>
              <a:t>(cust,0)=‘123’ </a:t>
            </a:r>
            <a:r>
              <a:rPr lang="ko-KR" altLang="en-US" sz="1100" dirty="0"/>
              <a:t>등이 필요 없음</a:t>
            </a:r>
            <a:r>
              <a:rPr lang="en-US" altLang="ko-KR" sz="11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100" dirty="0"/>
              <a:t>NVL </a:t>
            </a:r>
            <a:r>
              <a:rPr lang="ko-KR" altLang="en-US" sz="1100" dirty="0"/>
              <a:t>처리로 인덱스를 사용 못 하게 되는 문제나 </a:t>
            </a:r>
            <a:r>
              <a:rPr lang="en-US" altLang="ko-KR" sz="1100" dirty="0"/>
              <a:t>CPU</a:t>
            </a:r>
            <a:r>
              <a:rPr lang="ko-KR" altLang="en-US" sz="1100" dirty="0"/>
              <a:t>를 많이 사용하는 문제 없음</a:t>
            </a:r>
            <a:endParaRPr lang="en-US" altLang="ko-KR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100" dirty="0"/>
              <a:t>기본 값 사용으로 인덱스 효용성 증대 </a:t>
            </a:r>
            <a:r>
              <a:rPr lang="en-US" altLang="ko-KR" sz="1100" dirty="0"/>
              <a:t>(</a:t>
            </a:r>
            <a:r>
              <a:rPr lang="ko-KR" altLang="en-US" sz="1100" dirty="0"/>
              <a:t>인덱스 랜덤 액세스가 필요할 때 사용 가능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D880256-0509-14FA-0E39-2ACA66295530}"/>
              </a:ext>
            </a:extLst>
          </p:cNvPr>
          <p:cNvSpPr/>
          <p:nvPr/>
        </p:nvSpPr>
        <p:spPr>
          <a:xfrm>
            <a:off x="4021586" y="5129126"/>
            <a:ext cx="7108233" cy="1047567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7030A0"/>
                </a:solidFill>
              </a:rPr>
              <a:t>업무요건에 최적화되지 않은 일관된 모델</a:t>
            </a:r>
            <a:endParaRPr lang="en-US" altLang="ko-KR" sz="1100" dirty="0">
              <a:solidFill>
                <a:srgbClr val="7030A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7030A0"/>
                </a:solidFill>
              </a:rPr>
              <a:t>현행 데이터가 </a:t>
            </a:r>
            <a:r>
              <a:rPr lang="en-US" altLang="ko-KR" sz="1100" dirty="0">
                <a:solidFill>
                  <a:srgbClr val="7030A0"/>
                </a:solidFill>
              </a:rPr>
              <a:t>Null </a:t>
            </a:r>
            <a:r>
              <a:rPr lang="ko-KR" altLang="en-US" sz="1100" dirty="0">
                <a:solidFill>
                  <a:srgbClr val="7030A0"/>
                </a:solidFill>
              </a:rPr>
              <a:t>허용하면</a:t>
            </a:r>
            <a:r>
              <a:rPr lang="en-US" altLang="ko-KR" sz="1100" dirty="0">
                <a:solidFill>
                  <a:srgbClr val="7030A0"/>
                </a:solidFill>
              </a:rPr>
              <a:t>, Default </a:t>
            </a:r>
            <a:r>
              <a:rPr lang="ko-KR" altLang="en-US" sz="1100" dirty="0">
                <a:solidFill>
                  <a:srgbClr val="7030A0"/>
                </a:solidFill>
              </a:rPr>
              <a:t>값 사용으로 마이그레이션 혼성 및 이행 시간 증대</a:t>
            </a:r>
            <a:endParaRPr lang="en-US" altLang="ko-KR" sz="1100" dirty="0">
              <a:solidFill>
                <a:srgbClr val="7030A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7030A0"/>
                </a:solidFill>
              </a:rPr>
              <a:t>운영 중 추가 속성이 발생할 때 기본 값을 고려해야 하며</a:t>
            </a:r>
            <a:r>
              <a:rPr lang="en-US" altLang="ko-KR" sz="1100" dirty="0">
                <a:solidFill>
                  <a:srgbClr val="7030A0"/>
                </a:solidFill>
              </a:rPr>
              <a:t>, </a:t>
            </a:r>
            <a:r>
              <a:rPr lang="ko-KR" altLang="en-US" sz="1100" dirty="0">
                <a:solidFill>
                  <a:srgbClr val="7030A0"/>
                </a:solidFill>
              </a:rPr>
              <a:t>이로 인해 운영 부하</a:t>
            </a:r>
            <a:r>
              <a:rPr lang="en-US" altLang="ko-KR" sz="1100" dirty="0">
                <a:solidFill>
                  <a:srgbClr val="7030A0"/>
                </a:solidFill>
                <a:latin typeface="+mn-ea"/>
              </a:rPr>
              <a:t> • </a:t>
            </a:r>
            <a:r>
              <a:rPr lang="ko-KR" altLang="en-US" sz="1100" dirty="0">
                <a:solidFill>
                  <a:srgbClr val="7030A0"/>
                </a:solidFill>
              </a:rPr>
              <a:t>부담 발생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F0D61B-05E4-8BF7-3815-C8710CD2D63F}"/>
              </a:ext>
            </a:extLst>
          </p:cNvPr>
          <p:cNvSpPr/>
          <p:nvPr/>
        </p:nvSpPr>
        <p:spPr>
          <a:xfrm>
            <a:off x="2885245" y="1986432"/>
            <a:ext cx="1136341" cy="10475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장점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46F4A05-E6C0-8E27-1831-F710072FF095}"/>
              </a:ext>
            </a:extLst>
          </p:cNvPr>
          <p:cNvSpPr/>
          <p:nvPr/>
        </p:nvSpPr>
        <p:spPr>
          <a:xfrm>
            <a:off x="2885244" y="3033995"/>
            <a:ext cx="1136341" cy="104756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7030A0"/>
                </a:solidFill>
              </a:rPr>
              <a:t>단점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C690105-4723-88EC-EA9C-3356453B01F2}"/>
              </a:ext>
            </a:extLst>
          </p:cNvPr>
          <p:cNvSpPr/>
          <p:nvPr/>
        </p:nvSpPr>
        <p:spPr>
          <a:xfrm>
            <a:off x="2885244" y="4081559"/>
            <a:ext cx="1136341" cy="1047567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장점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645240A-871E-C175-38F7-0CF91871A3E4}"/>
              </a:ext>
            </a:extLst>
          </p:cNvPr>
          <p:cNvSpPr/>
          <p:nvPr/>
        </p:nvSpPr>
        <p:spPr>
          <a:xfrm>
            <a:off x="2885244" y="5129121"/>
            <a:ext cx="1136341" cy="1047567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7030A0"/>
                </a:solidFill>
              </a:rPr>
              <a:t>단점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06D92B4-335D-9E4B-DD68-869BDC67650B}"/>
              </a:ext>
            </a:extLst>
          </p:cNvPr>
          <p:cNvSpPr/>
          <p:nvPr/>
        </p:nvSpPr>
        <p:spPr>
          <a:xfrm>
            <a:off x="946810" y="1986431"/>
            <a:ext cx="1938433" cy="209512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Null</a:t>
            </a:r>
            <a:r>
              <a:rPr lang="ko-KR" altLang="en-US" sz="1400" dirty="0"/>
              <a:t> 허용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8FBC5EB-A824-6611-8001-FD81E6269DC5}"/>
              </a:ext>
            </a:extLst>
          </p:cNvPr>
          <p:cNvSpPr/>
          <p:nvPr/>
        </p:nvSpPr>
        <p:spPr>
          <a:xfrm>
            <a:off x="946808" y="4081552"/>
            <a:ext cx="1938433" cy="2095121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Not Null</a:t>
            </a:r>
            <a:endParaRPr lang="ko-KR" altLang="en-US" sz="14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5598D85-FA3B-F30D-E9DC-4EE941629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172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2339495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0B967B6-BE5F-A84A-8870-3BA50DF78EEF}"/>
              </a:ext>
            </a:extLst>
          </p:cNvPr>
          <p:cNvSpPr txBox="1"/>
          <p:nvPr/>
        </p:nvSpPr>
        <p:spPr>
          <a:xfrm>
            <a:off x="866909" y="1496173"/>
            <a:ext cx="11125066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속성 존재 여부 검증</a:t>
            </a:r>
            <a:endParaRPr lang="en-US" altLang="ko-KR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</a:rPr>
              <a:t>모델에 표현되지 않은 속성이 있는지</a:t>
            </a:r>
            <a:r>
              <a:rPr lang="en-US" altLang="ko-KR" sz="1600" b="1" dirty="0">
                <a:latin typeface="+mn-ea"/>
              </a:rPr>
              <a:t>?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</a:rPr>
              <a:t>모델에 표현된 불필요한 속성이 있는지</a:t>
            </a:r>
            <a:r>
              <a:rPr lang="en-US" altLang="ko-KR" sz="1600" b="1" dirty="0">
                <a:latin typeface="+mn-ea"/>
              </a:rPr>
              <a:t>?</a:t>
            </a:r>
          </a:p>
          <a:p>
            <a:pPr marL="1257300" lvl="2" indent="-342900">
              <a:buFont typeface="+mj-ea"/>
              <a:buAutoNum type="circleNumDbPlain"/>
            </a:pPr>
            <a:endParaRPr lang="en-US" altLang="ko-KR" sz="1600" b="1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600" b="1" dirty="0">
                <a:latin typeface="+mn-ea"/>
              </a:rPr>
              <a:t>애플리케이션 화면에서 사용한 항목과 모델 속성과의 매트릭스를 만들어 비교하는 것  </a:t>
            </a:r>
            <a:r>
              <a:rPr lang="en-US" altLang="ko-KR" sz="20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</a:rPr>
              <a:t>개발자 영역</a:t>
            </a:r>
            <a:r>
              <a:rPr lang="en-US" altLang="ko-KR" sz="20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marL="1714500" lvl="3" indent="-342900">
              <a:buFont typeface="+mj-lt"/>
              <a:buAutoNum type="circleNumDbPlain"/>
            </a:pPr>
            <a:r>
              <a:rPr lang="ko-KR" altLang="en-US" sz="1400" dirty="0">
                <a:latin typeface="+mn-ea"/>
              </a:rPr>
              <a:t>화면에는 있는데 속성이 없는 경우</a:t>
            </a:r>
          </a:p>
          <a:p>
            <a:pPr marL="1714500" lvl="3" indent="-342900">
              <a:buFont typeface="+mj-lt"/>
              <a:buAutoNum type="circleNumDbPlain"/>
            </a:pPr>
            <a:r>
              <a:rPr lang="ko-KR" altLang="en-US" sz="1400" dirty="0">
                <a:latin typeface="+mn-ea"/>
              </a:rPr>
              <a:t>속성만 존재하고 화면에는 없는 경우</a:t>
            </a:r>
          </a:p>
          <a:p>
            <a:pPr marL="1714500" lvl="3" indent="-342900">
              <a:buFont typeface="+mj-lt"/>
              <a:buAutoNum type="circleNumDbPlain"/>
            </a:pPr>
            <a:r>
              <a:rPr lang="ko-KR" altLang="en-US" sz="1400" dirty="0">
                <a:latin typeface="+mn-ea"/>
              </a:rPr>
              <a:t>속성에도 없고 화면에도 없는 경우</a:t>
            </a:r>
            <a:endParaRPr lang="en-US" altLang="ko-KR" sz="1400" dirty="0">
              <a:latin typeface="+mn-ea"/>
            </a:endParaRPr>
          </a:p>
          <a:p>
            <a:pPr marL="1714500" lvl="3" indent="-342900">
              <a:buFont typeface="+mj-lt"/>
              <a:buAutoNum type="circleNumDbPlain"/>
            </a:pPr>
            <a:endParaRPr lang="en-US" altLang="ko-KR" sz="1600" b="1" dirty="0">
              <a:latin typeface="+mn-ea"/>
            </a:endParaRPr>
          </a:p>
          <a:p>
            <a:pPr marL="1714500" lvl="3" indent="-342900">
              <a:buFont typeface="+mj-lt"/>
              <a:buAutoNum type="circleNumDbPlain"/>
            </a:pPr>
            <a:endParaRPr lang="en-US" altLang="ko-KR" sz="1600" b="1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r>
              <a:rPr lang="en-US" altLang="ko-KR" sz="1600" b="1" dirty="0">
                <a:latin typeface="+mn-ea"/>
              </a:rPr>
              <a:t>AS-IS</a:t>
            </a:r>
            <a:r>
              <a:rPr lang="ko-KR" altLang="en-US" sz="1600" b="1" dirty="0">
                <a:latin typeface="+mn-ea"/>
              </a:rPr>
              <a:t>속성과 모델 속성</a:t>
            </a:r>
            <a:r>
              <a:rPr lang="en-US" altLang="ko-KR" sz="1600" b="1" dirty="0">
                <a:latin typeface="+mn-ea"/>
              </a:rPr>
              <a:t>(TOBE </a:t>
            </a:r>
            <a:r>
              <a:rPr lang="ko-KR" altLang="en-US" sz="1600" b="1" dirty="0">
                <a:latin typeface="+mn-ea"/>
              </a:rPr>
              <a:t>속성</a:t>
            </a:r>
            <a:r>
              <a:rPr lang="en-US" altLang="ko-KR" sz="1600" b="1" dirty="0">
                <a:latin typeface="+mn-ea"/>
              </a:rPr>
              <a:t>)</a:t>
            </a:r>
            <a:r>
              <a:rPr lang="ko-KR" altLang="en-US" sz="1600" b="1" dirty="0">
                <a:latin typeface="+mn-ea"/>
              </a:rPr>
              <a:t>과의 매트릭스를 만들어 비교하는 것   </a:t>
            </a:r>
            <a:r>
              <a:rPr lang="en-US" altLang="ko-KR" sz="20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2000" b="1" dirty="0" err="1">
                <a:solidFill>
                  <a:srgbClr val="FF0000"/>
                </a:solidFill>
                <a:latin typeface="+mn-ea"/>
              </a:rPr>
              <a:t>모델러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</a:rPr>
              <a:t> 영역</a:t>
            </a:r>
            <a:r>
              <a:rPr lang="en-US" altLang="ko-KR" sz="20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marL="1714500" lvl="3" indent="-342900">
              <a:buFont typeface="+mj-lt"/>
              <a:buAutoNum type="circleNumDbPlain"/>
            </a:pPr>
            <a:r>
              <a:rPr lang="en-US" altLang="ko-KR" sz="1400" dirty="0">
                <a:latin typeface="+mn-ea"/>
              </a:rPr>
              <a:t>AS-IS </a:t>
            </a:r>
            <a:r>
              <a:rPr lang="ko-KR" altLang="en-US" sz="1400" dirty="0">
                <a:latin typeface="+mn-ea"/>
              </a:rPr>
              <a:t>속성이 </a:t>
            </a:r>
            <a:r>
              <a:rPr lang="en-US" altLang="ko-KR" sz="1400" dirty="0">
                <a:latin typeface="+mn-ea"/>
              </a:rPr>
              <a:t>TO-BE</a:t>
            </a:r>
            <a:r>
              <a:rPr lang="ko-KR" altLang="en-US" sz="1400" dirty="0">
                <a:latin typeface="+mn-ea"/>
              </a:rPr>
              <a:t>모델에 없는 경우</a:t>
            </a:r>
          </a:p>
          <a:p>
            <a:pPr marL="1714500" lvl="3" indent="-342900">
              <a:buFont typeface="+mj-lt"/>
              <a:buAutoNum type="circleNumDbPlain"/>
            </a:pPr>
            <a:r>
              <a:rPr lang="en-US" altLang="ko-KR" sz="1400" dirty="0">
                <a:latin typeface="+mn-ea"/>
              </a:rPr>
              <a:t>TO-BE</a:t>
            </a:r>
            <a:r>
              <a:rPr lang="ko-KR" altLang="en-US" sz="1400" dirty="0">
                <a:latin typeface="+mn-ea"/>
              </a:rPr>
              <a:t>모델에 있는 속성이 </a:t>
            </a:r>
            <a:r>
              <a:rPr lang="en-US" altLang="ko-KR" sz="1400" dirty="0">
                <a:latin typeface="+mn-ea"/>
              </a:rPr>
              <a:t>AS-IS </a:t>
            </a:r>
            <a:r>
              <a:rPr lang="ko-KR" altLang="en-US" sz="1400" dirty="0">
                <a:latin typeface="+mn-ea"/>
              </a:rPr>
              <a:t>모델에 없는 경우</a:t>
            </a:r>
            <a:endParaRPr lang="en-US" altLang="ko-KR" sz="14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endParaRPr lang="en-US" altLang="ko-KR" sz="1400" b="1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978DB6-E59A-585D-1BC7-42D64849606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7BAC6A-05A2-7016-E42E-103CE9D79130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404317-2E28-04A2-7182-2C0B65F0CDC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속성 검증   </a:t>
            </a:r>
            <a:r>
              <a:rPr lang="en-US" altLang="ko-KR" sz="2400" b="1" dirty="0">
                <a:latin typeface="+mn-ea"/>
                <a:sym typeface="Wingdings" panose="05000000000000000000" pitchFamily="2" charset="2"/>
              </a:rPr>
              <a:t> </a:t>
            </a:r>
            <a:r>
              <a:rPr lang="en-US" altLang="ko-KR" sz="24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“</a:t>
            </a:r>
            <a:r>
              <a:rPr lang="ko-KR" altLang="en-US" sz="2400" b="1" u="sng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대부분의 모델검증이 속성검증이다</a:t>
            </a:r>
            <a:r>
              <a:rPr lang="en-US" altLang="ko-KR" sz="2400" b="1" u="sng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!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＂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B6948C2-18E8-A48B-9789-DE490A2EE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173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1A1510-E4AA-49A7-A22F-2275EB51C145}"/>
              </a:ext>
            </a:extLst>
          </p:cNvPr>
          <p:cNvSpPr txBox="1"/>
          <p:nvPr/>
        </p:nvSpPr>
        <p:spPr>
          <a:xfrm>
            <a:off x="2099387" y="5132844"/>
            <a:ext cx="6117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/>
              <a:t>모델러가</a:t>
            </a:r>
            <a:r>
              <a:rPr lang="ko-KR" altLang="en-US" b="1" dirty="0"/>
              <a:t> 반드시 </a:t>
            </a:r>
            <a:r>
              <a:rPr lang="ko-KR" altLang="en-US" b="1" dirty="0" err="1"/>
              <a:t>매핑정의서</a:t>
            </a:r>
            <a:r>
              <a:rPr lang="ko-KR" altLang="en-US" b="1" dirty="0"/>
              <a:t> 작성 후 모델 검증해야 한다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  <p:cxnSp>
        <p:nvCxnSpPr>
          <p:cNvPr id="9" name="연결선: 구부러짐 8">
            <a:extLst>
              <a:ext uri="{FF2B5EF4-FFF2-40B4-BE49-F238E27FC236}">
                <a16:creationId xmlns:a16="http://schemas.microsoft.com/office/drawing/2014/main" id="{091C9393-B70C-40C7-92BB-00BE9856771C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8216767" y="4292082"/>
            <a:ext cx="945894" cy="1025428"/>
          </a:xfrm>
          <a:prstGeom prst="curved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6793495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0B967B6-BE5F-A84A-8870-3BA50DF78EEF}"/>
              </a:ext>
            </a:extLst>
          </p:cNvPr>
          <p:cNvSpPr txBox="1"/>
          <p:nvPr/>
        </p:nvSpPr>
        <p:spPr>
          <a:xfrm>
            <a:off x="345233" y="1496173"/>
            <a:ext cx="11646742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식별자 검증</a:t>
            </a: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주요 </a:t>
            </a:r>
            <a:r>
              <a:rPr lang="ko-KR" altLang="en-US" sz="1300" b="1" dirty="0" err="1">
                <a:latin typeface="+mn-ea"/>
              </a:rPr>
              <a:t>엔터티에</a:t>
            </a:r>
            <a:r>
              <a:rPr lang="ko-KR" altLang="en-US" sz="1300" b="1" dirty="0">
                <a:latin typeface="+mn-ea"/>
              </a:rPr>
              <a:t> 대해서는 주 식별자를 하나씩 검토한다</a:t>
            </a:r>
            <a:r>
              <a:rPr lang="en-US" altLang="ko-KR" sz="13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300" b="1" dirty="0" err="1">
                <a:latin typeface="+mn-ea"/>
              </a:rPr>
              <a:t>엔터티</a:t>
            </a:r>
            <a:r>
              <a:rPr lang="ko-KR" altLang="en-US" sz="1300" b="1" dirty="0">
                <a:latin typeface="+mn-ea"/>
              </a:rPr>
              <a:t> 명과 </a:t>
            </a:r>
            <a:r>
              <a:rPr lang="ko-KR" altLang="en-US" sz="1300" b="1" dirty="0" err="1">
                <a:latin typeface="+mn-ea"/>
              </a:rPr>
              <a:t>엔터티</a:t>
            </a:r>
            <a:r>
              <a:rPr lang="ko-KR" altLang="en-US" sz="1300" b="1" dirty="0">
                <a:latin typeface="+mn-ea"/>
              </a:rPr>
              <a:t> 정의</a:t>
            </a:r>
            <a:r>
              <a:rPr lang="en-US" altLang="ko-KR" sz="1300" b="1" dirty="0">
                <a:latin typeface="+mn-ea"/>
              </a:rPr>
              <a:t>, </a:t>
            </a:r>
            <a:r>
              <a:rPr lang="ko-KR" altLang="en-US" sz="1300" b="1" dirty="0">
                <a:latin typeface="+mn-ea"/>
              </a:rPr>
              <a:t>주 식별자를 엑셀로 뽑아서 서로 어울리는지를 검토해본다</a:t>
            </a:r>
            <a:r>
              <a:rPr lang="en-US" altLang="ko-KR" sz="13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조금이라도 이상한 것이 있으면 </a:t>
            </a:r>
            <a:r>
              <a:rPr lang="ko-KR" altLang="en-US" sz="1300" b="1" dirty="0" err="1">
                <a:latin typeface="+mn-ea"/>
              </a:rPr>
              <a:t>엔터티</a:t>
            </a:r>
            <a:r>
              <a:rPr lang="ko-KR" altLang="en-US" sz="1300" b="1" dirty="0">
                <a:latin typeface="+mn-ea"/>
              </a:rPr>
              <a:t> 명과 주 식별자를 상세하게 검토한다</a:t>
            </a:r>
            <a:r>
              <a:rPr lang="en-US" altLang="ko-KR" sz="13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그리고 주 식별자가 </a:t>
            </a:r>
            <a:r>
              <a:rPr lang="ko-KR" altLang="en-US" sz="1300" b="1" dirty="0" err="1">
                <a:latin typeface="+mn-ea"/>
              </a:rPr>
              <a:t>엔터티의</a:t>
            </a:r>
            <a:r>
              <a:rPr lang="ko-KR" altLang="en-US" sz="1300" b="1" dirty="0">
                <a:latin typeface="+mn-ea"/>
              </a:rPr>
              <a:t> 인스턴스를 유일하게 식별하는지를 검토한다</a:t>
            </a:r>
            <a:r>
              <a:rPr lang="en-US" altLang="ko-KR" sz="13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인스턴스의 유일성이 보장되지 않는다면 주 식별자에 속성을 추가하든지</a:t>
            </a:r>
            <a:r>
              <a:rPr lang="en-US" altLang="ko-KR" sz="1300" b="1" dirty="0">
                <a:latin typeface="+mn-ea"/>
              </a:rPr>
              <a:t>, </a:t>
            </a:r>
            <a:r>
              <a:rPr lang="ko-KR" altLang="en-US" sz="1300" b="1" dirty="0">
                <a:latin typeface="+mn-ea"/>
              </a:rPr>
              <a:t>인조 식별자를 채택해야 한다</a:t>
            </a:r>
            <a:r>
              <a:rPr lang="en-US" altLang="ko-KR" sz="13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이는 주 식별자에 대해서만 사례 데이터를 작성해 봄으로써 검토할 수 있다</a:t>
            </a:r>
            <a:r>
              <a:rPr lang="en-US" altLang="ko-KR" sz="13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주요 </a:t>
            </a:r>
            <a:r>
              <a:rPr lang="ko-KR" altLang="en-US" sz="1300" b="1" dirty="0" err="1">
                <a:latin typeface="+mn-ea"/>
              </a:rPr>
              <a:t>엔터티의</a:t>
            </a:r>
            <a:r>
              <a:rPr lang="ko-KR" altLang="en-US" sz="1300" b="1" dirty="0">
                <a:latin typeface="+mn-ea"/>
              </a:rPr>
              <a:t> 주요 속성</a:t>
            </a:r>
            <a:r>
              <a:rPr lang="en-US" altLang="ko-KR" sz="1300" b="1" dirty="0">
                <a:latin typeface="+mn-ea"/>
              </a:rPr>
              <a:t>(</a:t>
            </a:r>
            <a:r>
              <a:rPr lang="ko-KR" altLang="en-US" sz="1300" b="1" dirty="0">
                <a:latin typeface="+mn-ea"/>
              </a:rPr>
              <a:t>식별자</a:t>
            </a:r>
            <a:r>
              <a:rPr lang="en-US" altLang="ko-KR" sz="1300" b="1" dirty="0">
                <a:latin typeface="+mn-ea"/>
              </a:rPr>
              <a:t>, </a:t>
            </a:r>
            <a:r>
              <a:rPr lang="ko-KR" altLang="en-US" sz="1300" b="1" dirty="0">
                <a:latin typeface="+mn-ea"/>
              </a:rPr>
              <a:t>기초 속성</a:t>
            </a:r>
            <a:r>
              <a:rPr lang="en-US" altLang="ko-KR" sz="1300" b="1" dirty="0">
                <a:latin typeface="+mn-ea"/>
              </a:rPr>
              <a:t>, </a:t>
            </a:r>
            <a:r>
              <a:rPr lang="ko-KR" altLang="en-US" sz="1300" b="1" dirty="0">
                <a:latin typeface="+mn-ea"/>
              </a:rPr>
              <a:t>관계 속성</a:t>
            </a:r>
            <a:r>
              <a:rPr lang="en-US" altLang="ko-KR" sz="1300" b="1" dirty="0">
                <a:latin typeface="+mn-ea"/>
              </a:rPr>
              <a:t>)</a:t>
            </a:r>
            <a:r>
              <a:rPr lang="ko-KR" altLang="en-US" sz="1300" b="1" dirty="0">
                <a:latin typeface="+mn-ea"/>
              </a:rPr>
              <a:t>만으로 작성하는 것이 좋다</a:t>
            </a:r>
            <a:r>
              <a:rPr lang="en-US" altLang="ko-KR" sz="13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주 식별자 속성 값에 체계가 존재하는지도 검토해야 한다</a:t>
            </a:r>
            <a:r>
              <a:rPr lang="en-US" altLang="ko-KR" sz="1300" b="1" dirty="0">
                <a:latin typeface="+mn-ea"/>
              </a:rPr>
              <a:t>. </a:t>
            </a:r>
            <a:r>
              <a:rPr lang="ko-KR" altLang="en-US" sz="1300" b="1" dirty="0">
                <a:latin typeface="+mn-ea"/>
              </a:rPr>
              <a:t>체계가 존재하는 주 식별자는 복합 속성과 마찬가지여서 바람직하지 않다</a:t>
            </a:r>
            <a:r>
              <a:rPr lang="en-US" altLang="ko-KR" sz="13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체계에 포함된 의미가 속성으로도 중복 존재해야 하는</a:t>
            </a:r>
            <a:r>
              <a:rPr lang="en-US" altLang="ko-KR" sz="1300" b="1" dirty="0">
                <a:latin typeface="+mn-ea"/>
              </a:rPr>
              <a:t>, </a:t>
            </a:r>
            <a:r>
              <a:rPr lang="ko-KR" altLang="en-US" sz="1300" b="1" dirty="0">
                <a:latin typeface="+mn-ea"/>
              </a:rPr>
              <a:t>속성에 종속된 체계는 더욱 지양해야 한다</a:t>
            </a:r>
            <a:r>
              <a:rPr lang="en-US" altLang="ko-KR" sz="13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실체 </a:t>
            </a:r>
            <a:r>
              <a:rPr lang="ko-KR" altLang="en-US" sz="1300" b="1" dirty="0" err="1">
                <a:latin typeface="+mn-ea"/>
              </a:rPr>
              <a:t>엔터티와</a:t>
            </a:r>
            <a:r>
              <a:rPr lang="en-US" altLang="ko-KR" sz="1300" b="1" dirty="0">
                <a:latin typeface="+mn-ea"/>
              </a:rPr>
              <a:t> </a:t>
            </a:r>
            <a:r>
              <a:rPr lang="ko-KR" altLang="en-US" sz="1300" b="1" dirty="0">
                <a:latin typeface="+mn-ea"/>
              </a:rPr>
              <a:t>주요 행위</a:t>
            </a:r>
            <a:r>
              <a:rPr lang="en-US" altLang="ko-KR" sz="1300" b="1" dirty="0">
                <a:latin typeface="+mn-ea"/>
              </a:rPr>
              <a:t>•</a:t>
            </a:r>
            <a:r>
              <a:rPr lang="ko-KR" altLang="en-US" sz="1300" b="1" dirty="0">
                <a:latin typeface="+mn-ea"/>
              </a:rPr>
              <a:t>기준 </a:t>
            </a:r>
            <a:r>
              <a:rPr lang="ko-KR" altLang="en-US" sz="1300" b="1" dirty="0" err="1">
                <a:latin typeface="+mn-ea"/>
              </a:rPr>
              <a:t>엔터티는</a:t>
            </a:r>
            <a:r>
              <a:rPr lang="ko-KR" altLang="en-US" sz="1300" b="1" dirty="0">
                <a:latin typeface="+mn-ea"/>
              </a:rPr>
              <a:t> 하위 </a:t>
            </a:r>
            <a:r>
              <a:rPr lang="ko-KR" altLang="en-US" sz="1300" b="1" dirty="0" err="1">
                <a:latin typeface="+mn-ea"/>
              </a:rPr>
              <a:t>엔터티를</a:t>
            </a:r>
            <a:r>
              <a:rPr lang="ko-KR" altLang="en-US" sz="1300" b="1" dirty="0">
                <a:latin typeface="+mn-ea"/>
              </a:rPr>
              <a:t> 고려하여 주 식별자가 복잡하지 않은지를 다시 한 번 검토한다</a:t>
            </a:r>
            <a:r>
              <a:rPr lang="en-US" altLang="ko-KR" sz="13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하위</a:t>
            </a:r>
            <a:r>
              <a:rPr lang="en-US" altLang="ko-KR" sz="1300" b="1" dirty="0">
                <a:latin typeface="+mn-ea"/>
              </a:rPr>
              <a:t>(</a:t>
            </a:r>
            <a:r>
              <a:rPr lang="ko-KR" altLang="en-US" sz="1300" b="1" dirty="0">
                <a:latin typeface="+mn-ea"/>
              </a:rPr>
              <a:t>자식</a:t>
            </a:r>
            <a:r>
              <a:rPr lang="en-US" altLang="ko-KR" sz="1300" b="1" dirty="0">
                <a:latin typeface="+mn-ea"/>
              </a:rPr>
              <a:t>) </a:t>
            </a:r>
            <a:r>
              <a:rPr lang="ko-KR" altLang="en-US" sz="1300" b="1" dirty="0" err="1">
                <a:latin typeface="+mn-ea"/>
              </a:rPr>
              <a:t>엔터티가</a:t>
            </a:r>
            <a:r>
              <a:rPr lang="ko-KR" altLang="en-US" sz="1300" b="1" dirty="0">
                <a:latin typeface="+mn-ea"/>
              </a:rPr>
              <a:t> 많은 주요 </a:t>
            </a:r>
            <a:r>
              <a:rPr lang="ko-KR" altLang="en-US" sz="1300" b="1" dirty="0" err="1">
                <a:latin typeface="+mn-ea"/>
              </a:rPr>
              <a:t>엔터티의</a:t>
            </a:r>
            <a:r>
              <a:rPr lang="ko-KR" altLang="en-US" sz="1300" b="1" dirty="0">
                <a:latin typeface="+mn-ea"/>
              </a:rPr>
              <a:t> 주 식별자가 단순하지 않다면 인조 식별자의 채택을 검토해야 한다</a:t>
            </a:r>
            <a:r>
              <a:rPr lang="en-US" altLang="ko-KR" sz="13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반대로 하위 </a:t>
            </a:r>
            <a:r>
              <a:rPr lang="ko-KR" altLang="en-US" sz="1300" b="1" dirty="0" err="1">
                <a:latin typeface="+mn-ea"/>
              </a:rPr>
              <a:t>엔터티가</a:t>
            </a:r>
            <a:r>
              <a:rPr lang="ko-KR" altLang="en-US" sz="1300" b="1" dirty="0">
                <a:latin typeface="+mn-ea"/>
              </a:rPr>
              <a:t> 거의 없는 </a:t>
            </a:r>
            <a:r>
              <a:rPr lang="ko-KR" altLang="en-US" sz="1300" b="1" dirty="0" err="1">
                <a:latin typeface="+mn-ea"/>
              </a:rPr>
              <a:t>엔터티인데</a:t>
            </a:r>
            <a:r>
              <a:rPr lang="ko-KR" altLang="en-US" sz="1300" b="1" dirty="0">
                <a:latin typeface="+mn-ea"/>
              </a:rPr>
              <a:t> 인조 식별자를 채택했는지도 검토한다</a:t>
            </a:r>
            <a:r>
              <a:rPr lang="en-US" altLang="ko-KR" sz="13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인조 식별자는 남발되는 경향이 있어서 주의해서 검토해야 한다</a:t>
            </a:r>
            <a:r>
              <a:rPr lang="en-US" altLang="ko-KR" sz="1300" b="1" dirty="0">
                <a:latin typeface="+mn-ea"/>
              </a:rPr>
              <a:t>. </a:t>
            </a:r>
            <a:r>
              <a:rPr lang="ko-KR" altLang="en-US" sz="1300" b="1" dirty="0">
                <a:latin typeface="+mn-ea"/>
              </a:rPr>
              <a:t>인조 식별자를 사용했다면 업무 식별자를 표시했는지를 검토한다</a:t>
            </a:r>
            <a:r>
              <a:rPr lang="en-US" altLang="ko-KR" sz="13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업무 식별자는 속성 설명 에라도 기술해야 한다</a:t>
            </a:r>
            <a:r>
              <a:rPr lang="en-US" altLang="ko-KR" sz="13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단지 인스턴스의 유일성을 보장할 목적으로 순번</a:t>
            </a:r>
            <a:r>
              <a:rPr lang="en-US" altLang="ko-KR" sz="1300" b="1" dirty="0">
                <a:latin typeface="+mn-ea"/>
              </a:rPr>
              <a:t>'</a:t>
            </a:r>
            <a:r>
              <a:rPr lang="ko-KR" altLang="en-US" sz="1300" b="1" dirty="0">
                <a:latin typeface="+mn-ea"/>
              </a:rPr>
              <a:t>과 같은 부분 인조 식별자가 사용된 </a:t>
            </a:r>
            <a:r>
              <a:rPr lang="ko-KR" altLang="en-US" sz="1300" b="1" dirty="0" err="1">
                <a:latin typeface="+mn-ea"/>
              </a:rPr>
              <a:t>엔터티는</a:t>
            </a:r>
            <a:r>
              <a:rPr lang="ko-KR" altLang="en-US" sz="1300" b="1" dirty="0">
                <a:latin typeface="+mn-ea"/>
              </a:rPr>
              <a:t> 다시 검토해야 한다</a:t>
            </a:r>
            <a:r>
              <a:rPr lang="en-US" altLang="ko-KR" sz="13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3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주 식별자에 사용하면 적절치 않은 속성이 있다</a:t>
            </a:r>
            <a:r>
              <a:rPr lang="en-US" altLang="ko-KR" sz="1300" b="1" dirty="0">
                <a:latin typeface="+mn-ea"/>
              </a:rPr>
              <a:t>. </a:t>
            </a:r>
            <a:r>
              <a:rPr lang="ko-KR" altLang="en-US" sz="1300" b="1" dirty="0">
                <a:latin typeface="+mn-ea"/>
              </a:rPr>
              <a:t>명이나 내용</a:t>
            </a:r>
            <a:r>
              <a:rPr lang="en-US" altLang="ko-KR" sz="1300" b="1" dirty="0">
                <a:latin typeface="+mn-ea"/>
              </a:rPr>
              <a:t>, </a:t>
            </a:r>
            <a:r>
              <a:rPr lang="ko-KR" altLang="en-US" sz="1300" b="1" dirty="0">
                <a:latin typeface="+mn-ea"/>
              </a:rPr>
              <a:t>숫자</a:t>
            </a:r>
            <a:r>
              <a:rPr lang="en-US" altLang="ko-KR" sz="1300" b="1" dirty="0">
                <a:latin typeface="+mn-ea"/>
              </a:rPr>
              <a:t>, </a:t>
            </a:r>
            <a:r>
              <a:rPr lang="ko-KR" altLang="en-US" sz="1300" b="1" dirty="0">
                <a:latin typeface="+mn-ea"/>
              </a:rPr>
              <a:t>금액 등이 도메인인 속성이 주 식별자에 포함됐는지를 검토한다</a:t>
            </a:r>
            <a:r>
              <a:rPr lang="en-US" altLang="ko-KR" sz="13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3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주 식 별 자 가 동 일 한 </a:t>
            </a:r>
            <a:r>
              <a:rPr lang="ko-KR" altLang="en-US" sz="1300" b="1" dirty="0" err="1">
                <a:latin typeface="+mn-ea"/>
              </a:rPr>
              <a:t>엔터티가</a:t>
            </a:r>
            <a:r>
              <a:rPr lang="ko-KR" altLang="en-US" sz="1300" b="1" dirty="0">
                <a:latin typeface="+mn-ea"/>
              </a:rPr>
              <a:t> 존재하지 않는지를 검토해야 한다</a:t>
            </a:r>
            <a:r>
              <a:rPr lang="en-US" altLang="ko-KR" sz="1300" b="1" dirty="0">
                <a:latin typeface="+mn-ea"/>
              </a:rPr>
              <a:t>. </a:t>
            </a:r>
            <a:r>
              <a:rPr lang="ko-KR" altLang="en-US" sz="1300" b="1" dirty="0">
                <a:latin typeface="+mn-ea"/>
              </a:rPr>
              <a:t>원칙적으로 주 식별자가 같은 </a:t>
            </a:r>
            <a:r>
              <a:rPr lang="ko-KR" altLang="en-US" sz="1300" b="1" dirty="0" err="1">
                <a:latin typeface="+mn-ea"/>
              </a:rPr>
              <a:t>엔터티가</a:t>
            </a:r>
            <a:r>
              <a:rPr lang="ko-KR" altLang="en-US" sz="1300" b="1" dirty="0">
                <a:latin typeface="+mn-ea"/>
              </a:rPr>
              <a:t> 존재하면 안된다</a:t>
            </a:r>
            <a:r>
              <a:rPr lang="en-US" altLang="ko-KR" sz="13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원래 하나의 </a:t>
            </a:r>
            <a:r>
              <a:rPr lang="ko-KR" altLang="en-US" sz="1300" b="1" dirty="0" err="1">
                <a:latin typeface="+mn-ea"/>
              </a:rPr>
              <a:t>엔터티였던</a:t>
            </a:r>
            <a:r>
              <a:rPr lang="ko-KR" altLang="en-US" sz="1300" b="1" dirty="0">
                <a:latin typeface="+mn-ea"/>
              </a:rPr>
              <a:t> 일대 일 </a:t>
            </a:r>
            <a:r>
              <a:rPr lang="en-US" altLang="ko-KR" sz="1300" b="1" dirty="0">
                <a:latin typeface="+mn-ea"/>
              </a:rPr>
              <a:t>(1:1) </a:t>
            </a:r>
            <a:r>
              <a:rPr lang="ko-KR" altLang="en-US" sz="1300" b="1" dirty="0">
                <a:latin typeface="+mn-ea"/>
              </a:rPr>
              <a:t>관계나 슈퍼타입</a:t>
            </a:r>
            <a:r>
              <a:rPr lang="en-US" altLang="ko-KR" sz="1300" b="1" dirty="0">
                <a:latin typeface="+mn-ea"/>
              </a:rPr>
              <a:t> • </a:t>
            </a:r>
            <a:r>
              <a:rPr lang="ko-KR" altLang="en-US" sz="1300" b="1" dirty="0">
                <a:latin typeface="+mn-ea"/>
              </a:rPr>
              <a:t>서브타입 관계를 제외하고 주 식별자가 동일한 </a:t>
            </a:r>
            <a:r>
              <a:rPr lang="ko-KR" altLang="en-US" sz="1300" b="1" dirty="0" err="1">
                <a:latin typeface="+mn-ea"/>
              </a:rPr>
              <a:t>엔터티가</a:t>
            </a:r>
            <a:r>
              <a:rPr lang="ko-KR" altLang="en-US" sz="1300" b="1" dirty="0">
                <a:latin typeface="+mn-ea"/>
              </a:rPr>
              <a:t> 있다면</a:t>
            </a:r>
            <a:r>
              <a:rPr lang="en-US" altLang="ko-KR" sz="1300" b="1" dirty="0">
                <a:latin typeface="+mn-ea"/>
              </a:rPr>
              <a:t>,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주 식별자가 제대로 설계됐는지를 검증해야 한다</a:t>
            </a:r>
            <a:r>
              <a:rPr lang="en-US" altLang="ko-KR" sz="1300" b="1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978DB6-E59A-585D-1BC7-42D64849606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7BAC6A-05A2-7016-E42E-103CE9D79130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D933C0-CDD8-60D5-5D10-770CFBCF0241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속성 검증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81E71A5-E9D8-D4A5-B93A-FDDC75383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174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4250396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0B967B6-BE5F-A84A-8870-3BA50DF78EEF}"/>
              </a:ext>
            </a:extLst>
          </p:cNvPr>
          <p:cNvSpPr txBox="1"/>
          <p:nvPr/>
        </p:nvSpPr>
        <p:spPr>
          <a:xfrm>
            <a:off x="345232" y="1496173"/>
            <a:ext cx="11653481" cy="4447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일반속성 검증</a:t>
            </a: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500" b="1" dirty="0">
                <a:latin typeface="+mn-ea"/>
              </a:rPr>
              <a:t>대표적으로 검토해야 할 것은 속성이 단어의 조합으로 구성됐는지 여부다</a:t>
            </a:r>
            <a:r>
              <a:rPr lang="en-US" altLang="ko-KR" sz="15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500" b="1" dirty="0">
                <a:latin typeface="+mn-ea"/>
              </a:rPr>
              <a:t>최근에는 대부분 메타 시스템을 사용하기 때문에 이는 쉽게 검토할 수 있다</a:t>
            </a:r>
            <a:r>
              <a:rPr lang="en-US" altLang="ko-KR" sz="15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500" b="1" dirty="0">
                <a:latin typeface="+mn-ea"/>
              </a:rPr>
              <a:t>메타 시스템을 사용한다면 </a:t>
            </a:r>
            <a:r>
              <a:rPr lang="en-US" altLang="ko-KR" sz="1500" b="1" dirty="0">
                <a:latin typeface="+mn-ea"/>
              </a:rPr>
              <a:t>, </a:t>
            </a:r>
            <a:r>
              <a:rPr lang="ko-KR" altLang="en-US" sz="1500" b="1" dirty="0">
                <a:latin typeface="+mn-ea"/>
              </a:rPr>
              <a:t>단어 사전에 존재하는 단어를 사용해서 속성 명을 정하는 것은 반드시 해야 할 사항이다</a:t>
            </a:r>
            <a:r>
              <a:rPr lang="en-US" altLang="ko-KR" sz="15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500" b="1" dirty="0">
                <a:latin typeface="+mn-ea"/>
              </a:rPr>
              <a:t>메타 시스템에서는 도메인을 관리하는데</a:t>
            </a:r>
            <a:r>
              <a:rPr lang="en-US" altLang="ko-KR" sz="1500" b="1" dirty="0">
                <a:latin typeface="+mn-ea"/>
              </a:rPr>
              <a:t>, </a:t>
            </a:r>
            <a:r>
              <a:rPr lang="ko-KR" altLang="en-US" sz="1500" b="1" dirty="0">
                <a:latin typeface="+mn-ea"/>
              </a:rPr>
              <a:t>속성 명이 도메인으로 끝나도록 원칙을 정했을 때 속성 명이 도메인과 일치해선 안 된다</a:t>
            </a:r>
            <a:r>
              <a:rPr lang="en-US" altLang="ko-KR" sz="15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500" b="1" dirty="0">
                <a:latin typeface="+mn-ea"/>
              </a:rPr>
              <a:t>예를 들어 도메인인 ‘일자’ 라는 속성 명을 사용하면 안 된다</a:t>
            </a:r>
            <a:r>
              <a:rPr lang="en-US" altLang="ko-KR" sz="1500" b="1" dirty="0">
                <a:latin typeface="+mn-ea"/>
              </a:rPr>
              <a:t>. </a:t>
            </a:r>
            <a:r>
              <a:rPr lang="ko-KR" altLang="en-US" sz="1500" b="1" dirty="0">
                <a:latin typeface="+mn-ea"/>
              </a:rPr>
              <a:t>속성 명을 상세하게 정해야 한다</a:t>
            </a:r>
            <a:r>
              <a:rPr lang="en-US" altLang="ko-KR" sz="15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500" b="1" dirty="0">
                <a:latin typeface="+mn-ea"/>
              </a:rPr>
              <a:t>도메인과 일치하는 속성 명은 쉽게 검토할 수 있다</a:t>
            </a:r>
            <a:r>
              <a:rPr lang="en-US" altLang="ko-KR" sz="1500" b="1" dirty="0">
                <a:latin typeface="+mn-ea"/>
              </a:rPr>
              <a:t>. </a:t>
            </a:r>
            <a:r>
              <a:rPr lang="ko-KR" altLang="en-US" sz="1500" b="1" dirty="0">
                <a:latin typeface="+mn-ea"/>
              </a:rPr>
              <a:t>하지만 속성 중에는 그 자체로 도메인 역할을 하는 속성이 있다</a:t>
            </a:r>
            <a:r>
              <a:rPr lang="en-US" altLang="ko-KR" sz="15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500" b="1" dirty="0">
                <a:latin typeface="+mn-ea"/>
              </a:rPr>
              <a:t>이를 논리 도메인이라고 하여 물리 도메인과 구분하는데</a:t>
            </a:r>
            <a:r>
              <a:rPr lang="en-US" altLang="ko-KR" sz="1500" b="1" dirty="0">
                <a:latin typeface="+mn-ea"/>
              </a:rPr>
              <a:t>, </a:t>
            </a:r>
            <a:r>
              <a:rPr lang="ko-KR" altLang="en-US" sz="1500" b="1" dirty="0">
                <a:latin typeface="+mn-ea"/>
              </a:rPr>
              <a:t>예를 들면 사원번호 속성이 이에 해당한다</a:t>
            </a:r>
            <a:r>
              <a:rPr lang="en-US" altLang="ko-KR" sz="15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500" b="1" dirty="0">
                <a:latin typeface="+mn-ea"/>
              </a:rPr>
              <a:t>승인 사원을 관리하는 속성 명은 ‘승인사원번호’ 가 되며</a:t>
            </a:r>
            <a:r>
              <a:rPr lang="en-US" altLang="ko-KR" sz="1500" b="1" dirty="0">
                <a:latin typeface="+mn-ea"/>
              </a:rPr>
              <a:t>, </a:t>
            </a:r>
            <a:r>
              <a:rPr lang="ko-KR" altLang="en-US" sz="1500" b="1" dirty="0">
                <a:latin typeface="+mn-ea"/>
              </a:rPr>
              <a:t>이 속성의 도메인은 사원번호가 돼야 한다</a:t>
            </a:r>
            <a:r>
              <a:rPr lang="en-US" altLang="ko-KR" sz="15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500" b="1" dirty="0">
                <a:latin typeface="+mn-ea"/>
              </a:rPr>
              <a:t>이때 사원번호 속성의 도메인이 </a:t>
            </a:r>
            <a:r>
              <a:rPr lang="en-US" altLang="ko-KR" sz="1500" b="1" dirty="0">
                <a:latin typeface="+mn-ea"/>
              </a:rPr>
              <a:t>Varchar(5)</a:t>
            </a:r>
            <a:r>
              <a:rPr lang="ko-KR" altLang="en-US" sz="1500" b="1" dirty="0">
                <a:latin typeface="+mn-ea"/>
              </a:rPr>
              <a:t>라면</a:t>
            </a:r>
            <a:r>
              <a:rPr lang="en-US" altLang="ko-KR" sz="1500" b="1" dirty="0">
                <a:latin typeface="+mn-ea"/>
              </a:rPr>
              <a:t>, </a:t>
            </a:r>
            <a:r>
              <a:rPr lang="ko-KR" altLang="en-US" sz="1500" b="1" dirty="0">
                <a:latin typeface="+mn-ea"/>
              </a:rPr>
              <a:t>승인사원번호 속성의 도메인은 ‘사원번호’ 가 돼서 두 속성은 연동된다</a:t>
            </a:r>
            <a:r>
              <a:rPr lang="en-US" altLang="ko-KR" sz="15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500" b="1" dirty="0">
                <a:latin typeface="+mn-ea"/>
              </a:rPr>
              <a:t>승인사원 번호 속성의 도메인을 </a:t>
            </a:r>
            <a:r>
              <a:rPr lang="en-US" altLang="ko-KR" sz="1500" b="1" dirty="0">
                <a:latin typeface="+mn-ea"/>
              </a:rPr>
              <a:t>Varchar(5)</a:t>
            </a:r>
            <a:r>
              <a:rPr lang="ko-KR" altLang="en-US" sz="1500" b="1" dirty="0">
                <a:latin typeface="+mn-ea"/>
              </a:rPr>
              <a:t>로 사용하면 두 속성은 연동되지 않는 것이며</a:t>
            </a:r>
            <a:r>
              <a:rPr lang="en-US" altLang="ko-KR" sz="1500" b="1" dirty="0">
                <a:latin typeface="+mn-ea"/>
              </a:rPr>
              <a:t>, </a:t>
            </a:r>
            <a:r>
              <a:rPr lang="ko-KR" altLang="en-US" sz="1500" b="1" dirty="0">
                <a:latin typeface="+mn-ea"/>
              </a:rPr>
              <a:t>이는 도메인을 잘못 설정한 것이다</a:t>
            </a:r>
            <a:r>
              <a:rPr lang="en-US" altLang="ko-KR" sz="15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500" b="1" dirty="0">
                <a:latin typeface="+mn-ea"/>
              </a:rPr>
              <a:t>이처럼 논리 도메인이 사용돼야 할 속성에 물리 도메인이 사용되지 않았는지를 검토해야 한다</a:t>
            </a:r>
            <a:r>
              <a:rPr lang="en-US" altLang="ko-KR" sz="15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500" b="1" dirty="0">
                <a:latin typeface="+mn-ea"/>
              </a:rPr>
              <a:t>이에 해당하는 대표적인 속성은 코드’ 가 있으며</a:t>
            </a:r>
            <a:r>
              <a:rPr lang="en-US" altLang="ko-KR" sz="1500" b="1" dirty="0">
                <a:latin typeface="+mn-ea"/>
              </a:rPr>
              <a:t>, </a:t>
            </a:r>
            <a:r>
              <a:rPr lang="ko-KR" altLang="en-US" sz="1500" b="1" dirty="0">
                <a:latin typeface="+mn-ea"/>
              </a:rPr>
              <a:t>계좌번호’ ，‘ </a:t>
            </a:r>
            <a:r>
              <a:rPr lang="en-US" altLang="ko-KR" sz="1500" b="1" dirty="0">
                <a:latin typeface="+mn-ea"/>
              </a:rPr>
              <a:t>〜</a:t>
            </a:r>
            <a:r>
              <a:rPr lang="ko-KR" altLang="en-US" sz="1500" b="1" dirty="0">
                <a:latin typeface="+mn-ea"/>
              </a:rPr>
              <a:t>상품번호’</a:t>
            </a:r>
            <a:r>
              <a:rPr lang="en-US" altLang="ko-KR" sz="1500" b="1" dirty="0">
                <a:latin typeface="+mn-ea"/>
              </a:rPr>
              <a:t>,</a:t>
            </a:r>
            <a:r>
              <a:rPr lang="ko-KR" altLang="en-US" sz="1500" b="1" dirty="0">
                <a:latin typeface="+mn-ea"/>
              </a:rPr>
              <a:t> ‘</a:t>
            </a:r>
            <a:r>
              <a:rPr lang="en-US" altLang="ko-KR" sz="1500" b="1" dirty="0">
                <a:latin typeface="+mn-ea"/>
              </a:rPr>
              <a:t>〜</a:t>
            </a:r>
            <a:r>
              <a:rPr lang="ko-KR" altLang="en-US" sz="1500" b="1" dirty="0">
                <a:latin typeface="+mn-ea"/>
              </a:rPr>
              <a:t>부서번호’ 등도 논리 도메인을 사용하는 성격의 속성이다</a:t>
            </a:r>
            <a:r>
              <a:rPr lang="en-US" altLang="ko-KR" sz="15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500" b="1" dirty="0">
                <a:latin typeface="+mn-ea"/>
              </a:rPr>
              <a:t>이를 속성 도메인이라고도 한다</a:t>
            </a:r>
            <a:r>
              <a:rPr lang="en-US" altLang="ko-KR" sz="1500" b="1" dirty="0">
                <a:latin typeface="+mn-ea"/>
              </a:rPr>
              <a:t>. </a:t>
            </a:r>
            <a:r>
              <a:rPr lang="ko-KR" altLang="en-US" sz="1500" b="1" dirty="0">
                <a:latin typeface="+mn-ea"/>
              </a:rPr>
              <a:t>속성 도메인</a:t>
            </a:r>
            <a:r>
              <a:rPr lang="en-US" altLang="ko-KR" sz="1500" b="1" dirty="0">
                <a:latin typeface="+mn-ea"/>
              </a:rPr>
              <a:t>(</a:t>
            </a:r>
            <a:r>
              <a:rPr lang="ko-KR" altLang="en-US" sz="1500" b="1" dirty="0">
                <a:latin typeface="+mn-ea"/>
              </a:rPr>
              <a:t>논리 도메인</a:t>
            </a:r>
            <a:r>
              <a:rPr lang="en-US" altLang="ko-KR" sz="1500" b="1" dirty="0">
                <a:latin typeface="+mn-ea"/>
              </a:rPr>
              <a:t>)</a:t>
            </a:r>
            <a:r>
              <a:rPr lang="ko-KR" altLang="en-US" sz="1500" b="1" dirty="0">
                <a:latin typeface="+mn-ea"/>
              </a:rPr>
              <a:t>을 지정해야 할 속성에 타입 도메인</a:t>
            </a:r>
            <a:r>
              <a:rPr lang="en-US" altLang="ko-KR" sz="1500" b="1" dirty="0">
                <a:latin typeface="+mn-ea"/>
              </a:rPr>
              <a:t>(</a:t>
            </a:r>
            <a:r>
              <a:rPr lang="ko-KR" altLang="en-US" sz="1500" b="1" dirty="0">
                <a:latin typeface="+mn-ea"/>
              </a:rPr>
              <a:t>물리 도메인</a:t>
            </a:r>
            <a:r>
              <a:rPr lang="en-US" altLang="ko-KR" sz="1500" b="1" dirty="0">
                <a:latin typeface="+mn-ea"/>
              </a:rPr>
              <a:t>)</a:t>
            </a:r>
            <a:r>
              <a:rPr lang="ko-KR" altLang="en-US" sz="1500" b="1" dirty="0">
                <a:latin typeface="+mn-ea"/>
              </a:rPr>
              <a:t>을 지정하지 않았는지를 검토해야 한다</a:t>
            </a:r>
            <a:r>
              <a:rPr lang="en-US" altLang="ko-KR" sz="1500" b="1" dirty="0">
                <a:latin typeface="+mn-ea"/>
              </a:rPr>
              <a:t>. </a:t>
            </a:r>
          </a:p>
          <a:p>
            <a:pPr marL="2171700" lvl="4" indent="-342900">
              <a:buFont typeface="+mj-lt"/>
              <a:buAutoNum type="alphaLcPeriod"/>
            </a:pPr>
            <a:endParaRPr lang="en-US" altLang="ko-KR" sz="1500" dirty="0">
              <a:latin typeface="+mn-ea"/>
            </a:endParaRPr>
          </a:p>
          <a:p>
            <a:pPr marL="2171700" lvl="4" indent="-342900">
              <a:buFont typeface="+mj-lt"/>
              <a:buAutoNum type="alphaLcPeriod"/>
            </a:pPr>
            <a:endParaRPr lang="en-US" altLang="ko-KR" sz="12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978DB6-E59A-585D-1BC7-42D64849606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7BAC6A-05A2-7016-E42E-103CE9D79130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4D9B79-D2F9-09CD-D1AF-B51D19D29377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속성 검증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7F665E0-2969-67DC-0E26-2C46A1CBE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175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5150348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0B967B6-BE5F-A84A-8870-3BA50DF78EEF}"/>
              </a:ext>
            </a:extLst>
          </p:cNvPr>
          <p:cNvSpPr txBox="1"/>
          <p:nvPr/>
        </p:nvSpPr>
        <p:spPr>
          <a:xfrm>
            <a:off x="326571" y="1496173"/>
            <a:ext cx="11524251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모델 구조 검증</a:t>
            </a: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모델에서 속성을 검증할 때 검토하기 쉬운 것 중의 하나가 속성 명 끝에 숫자가 포함된 속성이다</a:t>
            </a:r>
            <a:r>
              <a:rPr lang="en-US" altLang="ko-KR" sz="13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예를 들어  ‘전화번호</a:t>
            </a:r>
            <a:r>
              <a:rPr lang="en-US" altLang="ko-KR" sz="1300" b="1" dirty="0">
                <a:latin typeface="+mn-ea"/>
              </a:rPr>
              <a:t>2’ , ‘</a:t>
            </a:r>
            <a:r>
              <a:rPr lang="ko-KR" altLang="en-US" sz="1300" b="1" dirty="0">
                <a:latin typeface="+mn-ea"/>
              </a:rPr>
              <a:t>전화번호</a:t>
            </a:r>
            <a:r>
              <a:rPr lang="en-US" altLang="ko-KR" sz="1300" b="1" dirty="0">
                <a:latin typeface="+mn-ea"/>
              </a:rPr>
              <a:t>3’ </a:t>
            </a:r>
            <a:r>
              <a:rPr lang="ko-KR" altLang="en-US" sz="1300" b="1" dirty="0">
                <a:latin typeface="+mn-ea"/>
              </a:rPr>
              <a:t>과 같이 사용한 속성이다</a:t>
            </a:r>
            <a:r>
              <a:rPr lang="en-US" altLang="ko-KR" sz="1300" b="1" dirty="0">
                <a:latin typeface="+mn-ea"/>
              </a:rPr>
              <a:t>. </a:t>
            </a:r>
            <a:r>
              <a:rPr lang="ko-KR" altLang="en-US" sz="1300" b="1" dirty="0">
                <a:latin typeface="+mn-ea"/>
              </a:rPr>
              <a:t>이처럼 사용하는 것을 허용하지 않는 메타 시스템도 있지만</a:t>
            </a:r>
            <a:r>
              <a:rPr lang="en-US" altLang="ko-KR" sz="1300" b="1" dirty="0">
                <a:latin typeface="+mn-ea"/>
              </a:rPr>
              <a:t>, </a:t>
            </a:r>
            <a:r>
              <a:rPr lang="ko-KR" altLang="en-US" sz="1300" b="1" dirty="0">
                <a:latin typeface="+mn-ea"/>
              </a:rPr>
              <a:t>허용한다고 하더라도 바람직하지 않기 때문에 사용을 지양해야 한다</a:t>
            </a:r>
            <a:r>
              <a:rPr lang="en-US" altLang="ko-KR" sz="13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이 경우는 속성 명을 더 구체적으로 정하든지</a:t>
            </a:r>
            <a:r>
              <a:rPr lang="en-US" altLang="ko-KR" sz="1300" b="1" dirty="0">
                <a:latin typeface="+mn-ea"/>
              </a:rPr>
              <a:t>, </a:t>
            </a:r>
            <a:r>
              <a:rPr lang="ko-KR" altLang="en-US" sz="1300" b="1" dirty="0" err="1">
                <a:latin typeface="+mn-ea"/>
              </a:rPr>
              <a:t>엔터티를</a:t>
            </a:r>
            <a:r>
              <a:rPr lang="ko-KR" altLang="en-US" sz="1300" b="1" dirty="0">
                <a:latin typeface="+mn-ea"/>
              </a:rPr>
              <a:t> 분리해서 정규화를 해야 한다</a:t>
            </a:r>
            <a:r>
              <a:rPr lang="en-US" altLang="ko-KR" sz="13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3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또한 반복되는 속성이 있는지도 검토해야 한다</a:t>
            </a:r>
            <a:r>
              <a:rPr lang="en-US" altLang="ko-KR" sz="1300" b="1" dirty="0">
                <a:latin typeface="+mn-ea"/>
              </a:rPr>
              <a:t>. </a:t>
            </a:r>
            <a:r>
              <a:rPr lang="ko-KR" altLang="en-US" sz="1300" b="1" dirty="0">
                <a:latin typeface="+mn-ea"/>
              </a:rPr>
              <a:t>반복되는 속성은 정규화의 대상이다</a:t>
            </a:r>
            <a:r>
              <a:rPr lang="en-US" altLang="ko-KR" sz="13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반복 횟수가 불변일 때는 비정규화를 고려할 수 있지만</a:t>
            </a:r>
            <a:r>
              <a:rPr lang="en-US" altLang="ko-KR" sz="1300" b="1" dirty="0">
                <a:latin typeface="+mn-ea"/>
              </a:rPr>
              <a:t>, </a:t>
            </a:r>
            <a:r>
              <a:rPr lang="ko-KR" altLang="en-US" sz="1300" b="1" dirty="0">
                <a:latin typeface="+mn-ea"/>
              </a:rPr>
              <a:t>기본적으로 정규화를 하도록 검토해야 한다</a:t>
            </a:r>
            <a:r>
              <a:rPr lang="en-US" altLang="ko-KR" sz="13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3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중복 속성과 추출 속성도 마찬가지인데</a:t>
            </a:r>
            <a:r>
              <a:rPr lang="en-US" altLang="ko-KR" sz="1300" b="1" dirty="0">
                <a:latin typeface="+mn-ea"/>
              </a:rPr>
              <a:t>, </a:t>
            </a:r>
            <a:r>
              <a:rPr lang="ko-KR" altLang="en-US" sz="1300" b="1" dirty="0">
                <a:latin typeface="+mn-ea"/>
              </a:rPr>
              <a:t>특히 중복 속성은 최대한 사용을 배제해야 할 속성이다</a:t>
            </a:r>
            <a:r>
              <a:rPr lang="en-US" altLang="ko-KR" sz="13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중복</a:t>
            </a:r>
            <a:r>
              <a:rPr lang="en-US" altLang="ko-KR" sz="1300" b="1" dirty="0">
                <a:latin typeface="+mn-ea"/>
              </a:rPr>
              <a:t>•</a:t>
            </a:r>
            <a:r>
              <a:rPr lang="ko-KR" altLang="en-US" sz="1300" b="1" dirty="0">
                <a:latin typeface="+mn-ea"/>
              </a:rPr>
              <a:t>추출 속성은 모델링 과정에서 반드시 식별해야 한다</a:t>
            </a:r>
            <a:r>
              <a:rPr lang="en-US" altLang="ko-KR" sz="1300" b="1" dirty="0">
                <a:latin typeface="+mn-ea"/>
              </a:rPr>
              <a:t>. </a:t>
            </a:r>
            <a:r>
              <a:rPr lang="ko-KR" altLang="en-US" sz="1300" b="1" dirty="0">
                <a:latin typeface="+mn-ea"/>
              </a:rPr>
              <a:t>속성 정의에 원본 속성이 무엇인지를 기술해야 한다</a:t>
            </a:r>
            <a:r>
              <a:rPr lang="en-US" altLang="ko-KR" sz="13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추출 속성은 원천 데이터를 어떻게 추출했는지 까지 기술해야 한다</a:t>
            </a:r>
            <a:r>
              <a:rPr lang="en-US" altLang="ko-KR" sz="1300" b="1" dirty="0">
                <a:latin typeface="+mn-ea"/>
              </a:rPr>
              <a:t>. </a:t>
            </a:r>
            <a:r>
              <a:rPr lang="ko-KR" altLang="en-US" sz="1300" b="1" dirty="0">
                <a:latin typeface="+mn-ea"/>
              </a:rPr>
              <a:t>일부 추출 속성은 성능 문제를 해결하는 데 도움이 되기도 하지만</a:t>
            </a:r>
            <a:r>
              <a:rPr lang="en-US" altLang="ko-KR" sz="1300" b="1" dirty="0">
                <a:latin typeface="+mn-ea"/>
              </a:rPr>
              <a:t>, </a:t>
            </a:r>
            <a:r>
              <a:rPr lang="ko-KR" altLang="en-US" sz="1300" b="1" dirty="0">
                <a:latin typeface="+mn-ea"/>
              </a:rPr>
              <a:t>중복</a:t>
            </a:r>
            <a:r>
              <a:rPr lang="en-US" altLang="ko-KR" sz="1300" b="1" dirty="0">
                <a:latin typeface="+mn-ea"/>
              </a:rPr>
              <a:t>•</a:t>
            </a:r>
            <a:r>
              <a:rPr lang="ko-KR" altLang="en-US" sz="1300" b="1" dirty="0">
                <a:latin typeface="+mn-ea"/>
              </a:rPr>
              <a:t>추출 속성을 과도하게 사용하고 있지 않은 지 검토해야 한다</a:t>
            </a:r>
            <a:r>
              <a:rPr lang="en-US" altLang="ko-KR" sz="13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3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코드 속성일 경우 코드 인스턴스</a:t>
            </a:r>
            <a:r>
              <a:rPr lang="en-US" altLang="ko-KR" sz="1300" b="1" dirty="0">
                <a:latin typeface="+mn-ea"/>
              </a:rPr>
              <a:t>(</a:t>
            </a:r>
            <a:r>
              <a:rPr lang="ko-KR" altLang="en-US" sz="1300" b="1" dirty="0" err="1">
                <a:latin typeface="+mn-ea"/>
              </a:rPr>
              <a:t>코드값</a:t>
            </a:r>
            <a:r>
              <a:rPr lang="en-US" altLang="ko-KR" sz="1300" b="1" dirty="0">
                <a:latin typeface="+mn-ea"/>
              </a:rPr>
              <a:t>, </a:t>
            </a:r>
            <a:r>
              <a:rPr lang="ko-KR" altLang="en-US" sz="1300" b="1" dirty="0">
                <a:latin typeface="+mn-ea"/>
              </a:rPr>
              <a:t>코드명</a:t>
            </a:r>
            <a:r>
              <a:rPr lang="en-US" altLang="ko-KR" sz="1300" b="1" dirty="0">
                <a:latin typeface="+mn-ea"/>
              </a:rPr>
              <a:t>) </a:t>
            </a:r>
            <a:r>
              <a:rPr lang="ko-KR" altLang="en-US" sz="1300" b="1" dirty="0">
                <a:latin typeface="+mn-ea"/>
              </a:rPr>
              <a:t>가 존재해야 한다</a:t>
            </a:r>
            <a:r>
              <a:rPr lang="en-US" altLang="ko-KR" sz="1300" b="1" dirty="0">
                <a:latin typeface="+mn-ea"/>
              </a:rPr>
              <a:t>. </a:t>
            </a:r>
            <a:r>
              <a:rPr lang="ko-KR" altLang="en-US" sz="1300" b="1" dirty="0">
                <a:latin typeface="+mn-ea"/>
              </a:rPr>
              <a:t>코드 인스턴스는 </a:t>
            </a:r>
            <a:r>
              <a:rPr lang="ko-KR" altLang="en-US" sz="1300" b="1" dirty="0" err="1">
                <a:latin typeface="+mn-ea"/>
              </a:rPr>
              <a:t>모델러가</a:t>
            </a:r>
            <a:r>
              <a:rPr lang="ko-KR" altLang="en-US" sz="1300" b="1" dirty="0">
                <a:latin typeface="+mn-ea"/>
              </a:rPr>
              <a:t> 검증할 내용이 아닐 수 있지만</a:t>
            </a:r>
            <a:r>
              <a:rPr lang="en-US" altLang="ko-KR" sz="1300" b="1" dirty="0">
                <a:latin typeface="+mn-ea"/>
              </a:rPr>
              <a:t>, </a:t>
            </a:r>
            <a:r>
              <a:rPr lang="ko-KR" altLang="en-US" sz="1300" b="1" dirty="0">
                <a:latin typeface="+mn-ea"/>
              </a:rPr>
              <a:t>메타 시스템에 코드 인스턴스가 존재하는지를 확인하는 것으로 코드 속성의 코드 값</a:t>
            </a:r>
            <a:r>
              <a:rPr lang="en-US" altLang="ko-KR" sz="1300" b="1" dirty="0">
                <a:latin typeface="+mn-ea"/>
              </a:rPr>
              <a:t>, </a:t>
            </a:r>
            <a:r>
              <a:rPr lang="ko-KR" altLang="en-US" sz="1300" b="1" dirty="0">
                <a:latin typeface="+mn-ea"/>
              </a:rPr>
              <a:t>코드 명 존재 여부는 검토할 수 있다</a:t>
            </a:r>
            <a:r>
              <a:rPr lang="en-US" altLang="ko-KR" sz="13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더 나아가 </a:t>
            </a:r>
            <a:r>
              <a:rPr lang="ko-KR" altLang="en-US" sz="1300" b="1" dirty="0" err="1">
                <a:latin typeface="+mn-ea"/>
              </a:rPr>
              <a:t>코드값</a:t>
            </a:r>
            <a:r>
              <a:rPr lang="en-US" altLang="ko-KR" sz="1300" b="1" dirty="0">
                <a:latin typeface="+mn-ea"/>
              </a:rPr>
              <a:t>, </a:t>
            </a:r>
            <a:r>
              <a:rPr lang="ko-KR" altLang="en-US" sz="1300" b="1" dirty="0">
                <a:latin typeface="+mn-ea"/>
              </a:rPr>
              <a:t>코드명이 유사한데 코드 속성 명이 다른 속성이 존재하지 않는지를 검토하고</a:t>
            </a:r>
            <a:r>
              <a:rPr lang="en-US" altLang="ko-KR" sz="1300" b="1" dirty="0">
                <a:latin typeface="+mn-ea"/>
              </a:rPr>
              <a:t>, </a:t>
            </a:r>
            <a:r>
              <a:rPr lang="ko-KR" altLang="en-US" sz="1300" b="1" dirty="0">
                <a:latin typeface="+mn-ea"/>
              </a:rPr>
              <a:t>서로 통합될 수 없는지를 검토하면 좋다</a:t>
            </a:r>
            <a:r>
              <a:rPr lang="en-US" altLang="ko-KR" sz="1300" b="1" dirty="0">
                <a:latin typeface="+mn-ea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대표적인 코드 인스턴스는 속성 정의에 기술하는 것이 좋다</a:t>
            </a:r>
            <a:r>
              <a:rPr lang="en-US" altLang="ko-KR" sz="1300" b="1" dirty="0">
                <a:latin typeface="+mn-ea"/>
              </a:rPr>
              <a:t>. </a:t>
            </a:r>
            <a:r>
              <a:rPr lang="ko-KR" altLang="en-US" sz="1300" b="1" dirty="0">
                <a:latin typeface="+mn-ea"/>
              </a:rPr>
              <a:t>가능하면 메타 시스템에서 관리하는 코드 인스턴스를 </a:t>
            </a:r>
            <a:r>
              <a:rPr lang="en-US" altLang="ko-KR" sz="1300" b="1" dirty="0">
                <a:latin typeface="+mn-ea"/>
              </a:rPr>
              <a:t>CASE</a:t>
            </a:r>
            <a:r>
              <a:rPr lang="ko-KR" altLang="en-US" sz="1300" b="1" dirty="0">
                <a:latin typeface="+mn-ea"/>
              </a:rPr>
              <a:t>툴에 자동으로 관리하는 것이 좋다</a:t>
            </a:r>
            <a:r>
              <a:rPr lang="en-US" altLang="ko-KR" sz="1300" b="1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3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+mn-ea"/>
              </a:rPr>
              <a:t>서브타입 모델일 경우에는 </a:t>
            </a:r>
            <a:r>
              <a:rPr lang="ko-KR" altLang="en-US" sz="1300" b="1" dirty="0" err="1">
                <a:latin typeface="+mn-ea"/>
              </a:rPr>
              <a:t>슈터타입과</a:t>
            </a:r>
            <a:r>
              <a:rPr lang="ko-KR" altLang="en-US" sz="1300" b="1" dirty="0">
                <a:latin typeface="+mn-ea"/>
              </a:rPr>
              <a:t> 서브타입의 속성이 제 위치에 존재하는지를 검토할 수 있다</a:t>
            </a:r>
            <a:r>
              <a:rPr lang="en-US" altLang="ko-KR" sz="1300" b="1" dirty="0">
                <a:latin typeface="+mn-ea"/>
              </a:rPr>
              <a:t>. </a:t>
            </a:r>
            <a:r>
              <a:rPr lang="ko-KR" altLang="en-US" sz="1300" b="1" dirty="0">
                <a:latin typeface="+mn-ea"/>
              </a:rPr>
              <a:t>서브타입의 공통 속성이 서브타입에 존재하는지</a:t>
            </a:r>
            <a:r>
              <a:rPr lang="en-US" altLang="ko-KR" sz="1300" b="1" dirty="0">
                <a:latin typeface="+mn-ea"/>
              </a:rPr>
              <a:t>, </a:t>
            </a:r>
            <a:r>
              <a:rPr lang="ko-KR" altLang="en-US" sz="1300" b="1" dirty="0">
                <a:latin typeface="+mn-ea"/>
              </a:rPr>
              <a:t>서브타입의 고유 속성이 슈퍼타입에 존재하는지를 검토한다</a:t>
            </a:r>
            <a:r>
              <a:rPr lang="en-US" altLang="ko-KR" sz="1300" b="1" dirty="0">
                <a:latin typeface="+mn-ea"/>
              </a:rPr>
              <a:t>. </a:t>
            </a:r>
            <a:r>
              <a:rPr lang="ko-KR" altLang="en-US" sz="1300" b="1" dirty="0">
                <a:latin typeface="+mn-ea"/>
              </a:rPr>
              <a:t>전략적으로 사용할 때가 존재하지만</a:t>
            </a:r>
            <a:r>
              <a:rPr lang="en-US" altLang="ko-KR" sz="1300" b="1" dirty="0">
                <a:latin typeface="+mn-ea"/>
              </a:rPr>
              <a:t>, </a:t>
            </a:r>
            <a:r>
              <a:rPr lang="ko-KR" altLang="en-US" sz="1300" b="1" dirty="0">
                <a:latin typeface="+mn-ea"/>
              </a:rPr>
              <a:t>원칙적으로 공통 속성은 슈퍼타입에 개별 속성은 서브타입에 존재해야 한다</a:t>
            </a:r>
            <a:r>
              <a:rPr lang="en-US" altLang="ko-KR" sz="1300" b="1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978DB6-E59A-585D-1BC7-42D64849606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속성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7BAC6A-05A2-7016-E42E-103CE9D79130}"/>
              </a:ext>
            </a:extLst>
          </p:cNvPr>
          <p:cNvSpPr txBox="1"/>
          <p:nvPr/>
        </p:nvSpPr>
        <p:spPr>
          <a:xfrm>
            <a:off x="7128927" y="253481"/>
            <a:ext cx="472189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8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속성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(Attributes)</a:t>
            </a:r>
            <a:endParaRPr lang="ko-KR" altLang="en-US" sz="2000" dirty="0">
              <a:solidFill>
                <a:schemeClr val="tx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1E8342-7F29-3B8E-7DDA-F81251A6BF2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속성 검증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BF7F4C5-C6D5-FFE7-91D0-2413AA9B6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176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2846049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083FB0-71F5-2B6D-A6D7-C51A22848C9C}"/>
              </a:ext>
            </a:extLst>
          </p:cNvPr>
          <p:cNvSpPr txBox="1"/>
          <p:nvPr/>
        </p:nvSpPr>
        <p:spPr>
          <a:xfrm>
            <a:off x="3048918" y="2464890"/>
            <a:ext cx="609783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6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관계</a:t>
            </a:r>
            <a:endParaRPr lang="en-US" altLang="ko-KR" sz="6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en-US" altLang="ko-KR" sz="7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endParaRPr lang="ko-KR" altLang="en-US" sz="7200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C60E78-593F-1B7C-316F-D3EEA57C3AD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</p:spTree>
    <p:extLst>
      <p:ext uri="{BB962C8B-B14F-4D97-AF65-F5344CB8AC3E}">
        <p14:creationId xmlns:p14="http://schemas.microsoft.com/office/powerpoint/2010/main" val="3705385555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0B967B6-BE5F-A84A-8870-3BA50DF78EEF}"/>
              </a:ext>
            </a:extLst>
          </p:cNvPr>
          <p:cNvSpPr txBox="1"/>
          <p:nvPr/>
        </p:nvSpPr>
        <p:spPr>
          <a:xfrm>
            <a:off x="866909" y="1496173"/>
            <a:ext cx="11125066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b="1" dirty="0">
                <a:latin typeface="+mn-ea"/>
              </a:rPr>
              <a:t>  관계형 데이터베이스의 핵심 원리</a:t>
            </a:r>
            <a:endParaRPr lang="en-US" altLang="ko-KR" b="1" dirty="0">
              <a:latin typeface="+mn-ea"/>
            </a:endParaRPr>
          </a:p>
          <a:p>
            <a:pPr lvl="4"/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2000" b="1" dirty="0">
                <a:solidFill>
                  <a:srgbClr val="FF0000"/>
                </a:solidFill>
                <a:latin typeface="+mn-ea"/>
              </a:rPr>
              <a:t>데이터를 중복하지 않고 한 군데서만 관리하고</a:t>
            </a:r>
            <a:r>
              <a:rPr lang="en-US" altLang="ko-KR" sz="2000" b="1" dirty="0">
                <a:solidFill>
                  <a:srgbClr val="FF0000"/>
                </a:solidFill>
                <a:latin typeface="+mn-ea"/>
              </a:rPr>
              <a:t>(Normalization), 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</a:rPr>
              <a:t>필요할 때 </a:t>
            </a:r>
            <a:r>
              <a:rPr lang="ko-KR" altLang="en-US" sz="2400" b="1" u="sng" dirty="0">
                <a:solidFill>
                  <a:srgbClr val="FF0000"/>
                </a:solidFill>
                <a:latin typeface="+mn-ea"/>
              </a:rPr>
              <a:t>연결</a:t>
            </a:r>
            <a:r>
              <a:rPr lang="en-US" altLang="ko-KR" sz="2400" b="1" u="sng" dirty="0">
                <a:solidFill>
                  <a:srgbClr val="FF0000"/>
                </a:solidFill>
                <a:latin typeface="+mn-ea"/>
              </a:rPr>
              <a:t>(Join)</a:t>
            </a:r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</a:rPr>
              <a:t>해서 보는 것이다</a:t>
            </a:r>
            <a:r>
              <a:rPr lang="en-US" altLang="ko-KR" sz="2000" b="1" dirty="0">
                <a:solidFill>
                  <a:srgbClr val="FF0000"/>
                </a:solidFill>
                <a:latin typeface="+mn-ea"/>
              </a:rPr>
              <a:t>.</a:t>
            </a:r>
            <a:r>
              <a:rPr lang="en-US" altLang="ko-KR" sz="1600" dirty="0">
                <a:latin typeface="+mn-ea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조인하면 되기 때문에 릴레이션을 분해할 수 있을 때까지 분해한다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릴레이션을 분해한 후 연결해서 사용하기 위해 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관계</a:t>
            </a:r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(Relationship)</a:t>
            </a:r>
            <a:r>
              <a:rPr lang="ko-KR" altLang="en-US" sz="1600" dirty="0">
                <a:latin typeface="+mn-ea"/>
              </a:rPr>
              <a:t>가 필요한 것이다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관계와 연관해서 기억할 두 단어가 있다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dirty="0">
                <a:latin typeface="+mn-ea"/>
              </a:rPr>
              <a:t>관계 속성과 참조 무결성이다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관계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(Relationship)</a:t>
            </a:r>
            <a:r>
              <a:rPr lang="ko-KR" altLang="en-US" sz="1600" dirty="0">
                <a:latin typeface="+mn-ea"/>
              </a:rPr>
              <a:t>는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물리적으로 </a:t>
            </a:r>
            <a:r>
              <a:rPr lang="ko-KR" altLang="en-US" sz="2800" b="1" u="sng" dirty="0">
                <a:solidFill>
                  <a:srgbClr val="FF0000"/>
                </a:solidFill>
                <a:latin typeface="+mn-ea"/>
              </a:rPr>
              <a:t>관계 속성</a:t>
            </a:r>
            <a:r>
              <a:rPr lang="ko-KR" altLang="en-US" sz="1600" dirty="0">
                <a:latin typeface="+mn-ea"/>
              </a:rPr>
              <a:t>과 </a:t>
            </a:r>
            <a:r>
              <a:rPr lang="ko-KR" altLang="en-US" sz="2800" b="1" u="sng" dirty="0">
                <a:solidFill>
                  <a:srgbClr val="FF0000"/>
                </a:solidFill>
                <a:latin typeface="+mn-ea"/>
              </a:rPr>
              <a:t>참조 무결성 제약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이 두 가지를 생성한다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필자는 관계가 속성의 일종이라는 것을 알고 관계를 재인식하게 됐다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또한 관계를 참조 무결성 관점에서 파악하면서 관계의 개념이 더욱 명확 해졌다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관계에 대한 기준이 생긴 것이다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관계 속성은 </a:t>
            </a:r>
            <a:r>
              <a:rPr lang="ko-KR" altLang="en-US" sz="1600" dirty="0" err="1">
                <a:latin typeface="+mn-ea"/>
              </a:rPr>
              <a:t>엔터티에</a:t>
            </a:r>
            <a:r>
              <a:rPr lang="ko-KR" altLang="en-US" sz="1600" dirty="0">
                <a:latin typeface="+mn-ea"/>
              </a:rPr>
              <a:t> 생성되고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참조 무결성 제약은 </a:t>
            </a:r>
            <a:r>
              <a:rPr lang="en-US" altLang="ko-KR" sz="1600" dirty="0">
                <a:latin typeface="+mn-ea"/>
              </a:rPr>
              <a:t>DB</a:t>
            </a:r>
            <a:r>
              <a:rPr lang="ko-KR" altLang="en-US" sz="1600" dirty="0">
                <a:latin typeface="+mn-ea"/>
              </a:rPr>
              <a:t>에 생성된다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관계와 속성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참조 무결성과 조인은 서로 연관돼 있다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관계를 개념적으로 생각하지 않고 실제 존재하는 것으로 인식하는 것이 중요하다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관계선의 실상은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속성이라는 사실</a:t>
            </a:r>
            <a:r>
              <a:rPr lang="ko-KR" altLang="en-US" sz="1600" dirty="0">
                <a:latin typeface="+mn-ea"/>
              </a:rPr>
              <a:t>과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관계선은 참조 무결성 제약으로 생성해서 실체화 하는 것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978DB6-E59A-585D-1BC7-42D648496063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1E8342-7F29-3B8E-7DDA-F81251A6BF2F}"/>
              </a:ext>
            </a:extLst>
          </p:cNvPr>
          <p:cNvSpPr txBox="1"/>
          <p:nvPr/>
        </p:nvSpPr>
        <p:spPr>
          <a:xfrm>
            <a:off x="506555" y="992702"/>
            <a:ext cx="106398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 </a:t>
            </a:r>
            <a:r>
              <a:rPr lang="en-US" altLang="ko-K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“</a:t>
            </a:r>
            <a:r>
              <a:rPr lang="ko-KR" alt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관계선은 속성이다</a:t>
            </a:r>
            <a:r>
              <a:rPr lang="en-US" altLang="ko-K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!”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5227C9-D2BA-938B-6BBC-5BF41B5C5F7A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C000F91-8737-AE34-FB25-5DDCAA811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178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4732593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1125066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ko-KR" altLang="en-US" b="1" dirty="0">
                <a:latin typeface="+mn-ea"/>
              </a:rPr>
              <a:t> 관계선이 의미하는 것</a:t>
            </a:r>
            <a:endParaRPr lang="en-US" altLang="ko-KR" b="1" dirty="0">
              <a:latin typeface="+mn-ea"/>
            </a:endParaRPr>
          </a:p>
          <a:p>
            <a:pPr lvl="4"/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업무 규칙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관계선의 가장 중요한 의미는 </a:t>
            </a:r>
            <a:r>
              <a:rPr lang="ko-KR" altLang="en-US" sz="1400" b="1" u="sng" dirty="0">
                <a:solidFill>
                  <a:srgbClr val="FF0000"/>
                </a:solidFill>
              </a:rPr>
              <a:t>관계선을 보고</a:t>
            </a:r>
            <a:r>
              <a:rPr lang="ko-KR" altLang="en-US" sz="1400" dirty="0"/>
              <a:t> </a:t>
            </a:r>
            <a:r>
              <a:rPr lang="ko-KR" altLang="en-US" sz="1400" b="1" u="sng" dirty="0">
                <a:solidFill>
                  <a:srgbClr val="FF0000"/>
                </a:solidFill>
              </a:rPr>
              <a:t>업무 규칙</a:t>
            </a:r>
            <a:r>
              <a:rPr lang="en-US" altLang="ko-KR" sz="1400" b="1" u="sng" dirty="0">
                <a:solidFill>
                  <a:srgbClr val="FF0000"/>
                </a:solidFill>
              </a:rPr>
              <a:t>(Business Rule)</a:t>
            </a:r>
            <a:r>
              <a:rPr lang="ko-KR" altLang="en-US" sz="1400" b="1" u="sng" dirty="0">
                <a:solidFill>
                  <a:srgbClr val="FF0000"/>
                </a:solidFill>
              </a:rPr>
              <a:t>을 알 수 있다는 것</a:t>
            </a:r>
            <a:r>
              <a:rPr lang="ko-KR" altLang="en-US" sz="1400" dirty="0"/>
              <a:t>이다</a:t>
            </a:r>
            <a:r>
              <a:rPr lang="en-US" altLang="ko-KR" sz="1400" dirty="0"/>
              <a:t>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관계를 정확히 표현했다면 관계선은 어떤 방식으로 든 두 </a:t>
            </a:r>
            <a:r>
              <a:rPr lang="ko-KR" altLang="en-US" sz="1400" dirty="0" err="1"/>
              <a:t>엔터티</a:t>
            </a:r>
            <a:r>
              <a:rPr lang="ko-KR" altLang="en-US" sz="1400" dirty="0"/>
              <a:t> 간의 업무 규칙을 보여준다</a:t>
            </a:r>
            <a:r>
              <a:rPr lang="en-US" altLang="ko-KR" sz="1400" dirty="0"/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그 업무 규칙은 기본적으로 종속 관계인지</a:t>
            </a:r>
            <a:r>
              <a:rPr lang="en-US" altLang="ko-KR" sz="1400" dirty="0"/>
              <a:t>, </a:t>
            </a:r>
            <a:r>
              <a:rPr lang="ko-KR" altLang="en-US" sz="1400" dirty="0"/>
              <a:t>참조 관계인지를 구분할 수 있다</a:t>
            </a:r>
            <a:r>
              <a:rPr lang="en-US" altLang="ko-KR" sz="1400" dirty="0"/>
              <a:t>. </a:t>
            </a: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업무프로세스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업무 프로세스에 의해 발생하는 데이터면 관계선이 </a:t>
            </a:r>
            <a:r>
              <a:rPr lang="ko-KR" altLang="en-US" sz="1400" b="1" u="sng" dirty="0">
                <a:solidFill>
                  <a:srgbClr val="FF0000"/>
                </a:solidFill>
              </a:rPr>
              <a:t>업무의 흐름을 의미</a:t>
            </a:r>
            <a:r>
              <a:rPr lang="ko-KR" altLang="en-US" sz="1400" dirty="0"/>
              <a:t>하기도 한다</a:t>
            </a:r>
            <a:r>
              <a:rPr lang="en-US" altLang="ko-KR" sz="1400" dirty="0"/>
              <a:t>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물론 업무의 흐름과 정반대의 관계선이 존재할 수도 있지만</a:t>
            </a:r>
            <a:r>
              <a:rPr lang="en-US" altLang="ko-KR" sz="1400" dirty="0"/>
              <a:t>, </a:t>
            </a:r>
            <a:r>
              <a:rPr lang="ko-KR" altLang="en-US" sz="1400" dirty="0"/>
              <a:t>일반적으로는 업무의 흐름과 관계선의 표현은 일치한다</a:t>
            </a:r>
            <a:r>
              <a:rPr lang="en-US" altLang="ko-KR" sz="1400" dirty="0"/>
              <a:t>.</a:t>
            </a: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600" dirty="0">
                <a:latin typeface="+mn-ea"/>
              </a:rPr>
              <a:t> 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조인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관계선은 당연히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데이터를 조회할 때 조인하는 경로를 의미</a:t>
            </a:r>
            <a:r>
              <a:rPr lang="ko-KR" altLang="en-US" sz="1400" dirty="0">
                <a:latin typeface="+mn-ea"/>
              </a:rPr>
              <a:t>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상위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부모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주 식별자와 하위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자식</a:t>
            </a:r>
            <a:r>
              <a:rPr lang="en-US" altLang="ko-KR" sz="1400" dirty="0">
                <a:latin typeface="+mn-ea"/>
              </a:rPr>
              <a:t>)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관계 속성을 연결해 주는 것이 관계선이다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관계선으로 연결된 상위 </a:t>
            </a:r>
            <a:r>
              <a:rPr lang="ko-KR" altLang="en-US" sz="1400" dirty="0" err="1">
                <a:latin typeface="+mn-ea"/>
              </a:rPr>
              <a:t>엔터티와</a:t>
            </a:r>
            <a:r>
              <a:rPr lang="ko-KR" altLang="en-US" sz="1400" dirty="0">
                <a:latin typeface="+mn-ea"/>
              </a:rPr>
              <a:t> 조인해야 원하는 결과를 가져올 수 있다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관계가 존재하는 하위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자식</a:t>
            </a:r>
            <a:r>
              <a:rPr lang="en-US" altLang="ko-KR" sz="1400" dirty="0">
                <a:latin typeface="+mn-ea"/>
              </a:rPr>
              <a:t>)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속성에 저장된 값은 상위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부모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주 식별자에 존재해야 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값으로 연결되지 않는다면 관계선을 표현하지 않아야 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입력 순서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또한 관계선은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데이터를 입력할 때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입력 순서를 의미</a:t>
            </a:r>
            <a:r>
              <a:rPr lang="ko-KR" altLang="en-US" sz="1400" dirty="0">
                <a:latin typeface="+mn-ea"/>
              </a:rPr>
              <a:t>하기도 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반드시 그렇지는 않지만</a:t>
            </a:r>
            <a:r>
              <a:rPr lang="en-US" altLang="ko-KR" sz="1400" dirty="0">
                <a:latin typeface="+mn-ea"/>
              </a:rPr>
              <a:t>,</a:t>
            </a:r>
            <a:r>
              <a:rPr lang="ko-KR" altLang="en-US" sz="1400" dirty="0">
                <a:latin typeface="+mn-ea"/>
              </a:rPr>
              <a:t> 일반적으로 데이터는 상위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부모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 err="1">
                <a:latin typeface="+mn-ea"/>
              </a:rPr>
              <a:t>엔터티부터</a:t>
            </a:r>
            <a:r>
              <a:rPr lang="ko-KR" altLang="en-US" sz="1400" dirty="0">
                <a:latin typeface="+mn-ea"/>
              </a:rPr>
              <a:t> 생성되고 하위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자식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 err="1">
                <a:latin typeface="+mn-ea"/>
              </a:rPr>
              <a:t>엔터티에</a:t>
            </a:r>
            <a:r>
              <a:rPr lang="ko-KR" altLang="en-US" sz="1400" dirty="0">
                <a:latin typeface="+mn-ea"/>
              </a:rPr>
              <a:t> 생성된다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만약 그렇지 않다면 데이터 성격에 따르기 보다는 인위적인 예외일 수 있다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이때는 제대로 된 관계선인지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어쩔 수 없이 발생했는지를 반드시 검토해야 한다</a:t>
            </a:r>
            <a:r>
              <a:rPr lang="en-US" altLang="ko-KR" sz="1400" dirty="0">
                <a:latin typeface="+mn-ea"/>
              </a:rPr>
              <a:t>.</a:t>
            </a:r>
            <a:endParaRPr lang="en-US" altLang="ko-KR" sz="16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8CD94AD-8A04-13E3-8129-1C2CC5961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179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993457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112506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ko-KR" altLang="en-US" b="1" dirty="0">
                <a:latin typeface="+mn-ea"/>
              </a:rPr>
              <a:t> 관계를 설계할 때 고려할 사항</a:t>
            </a:r>
            <a:endParaRPr lang="en-US" altLang="ko-KR" b="1" u="sng" dirty="0">
              <a:solidFill>
                <a:srgbClr val="FF0000"/>
              </a:solidFill>
              <a:latin typeface="+mn-ea"/>
            </a:endParaRPr>
          </a:p>
          <a:p>
            <a:pPr lvl="4"/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속성으로 관리하려는 관계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당연한 얘기지만 관계선을 표현할 때 최우선으로 고려해야 할 것이 </a:t>
            </a:r>
            <a:r>
              <a:rPr lang="ko-KR" altLang="en-US" sz="1400" b="1" u="sng" dirty="0"/>
              <a:t>관리하고자 하는 관계인지</a:t>
            </a:r>
            <a:r>
              <a:rPr lang="ko-KR" altLang="en-US" sz="1400" dirty="0"/>
              <a:t>를 따져야 한다</a:t>
            </a:r>
            <a:r>
              <a:rPr lang="en-US" altLang="ko-KR" sz="1400" dirty="0"/>
              <a:t>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b="1" u="sng" dirty="0"/>
              <a:t>업무 관점에서 필요한 관계인지</a:t>
            </a:r>
            <a:r>
              <a:rPr lang="ko-KR" altLang="en-US" sz="1400" dirty="0"/>
              <a:t>는 </a:t>
            </a:r>
            <a:r>
              <a:rPr lang="ko-KR" altLang="en-US" sz="1400" dirty="0" err="1"/>
              <a:t>모델러가</a:t>
            </a:r>
            <a:r>
              <a:rPr lang="ko-KR" altLang="en-US" sz="1400" dirty="0"/>
              <a:t> 분석해서 판단해야 한다</a:t>
            </a:r>
            <a:r>
              <a:rPr lang="en-US" altLang="ko-KR" sz="1400" dirty="0"/>
              <a:t>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관리할 필요가 있는지를 따질 때 추출 관계는 제외해야 한다</a:t>
            </a:r>
            <a:r>
              <a:rPr lang="en-US" altLang="ko-KR" sz="1400" dirty="0"/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관계선으로 표현된 속성이 없어도 업무를 하는데 지장이 없다면 그 관계선과 관계 속성은 과감하게 삭제한다</a:t>
            </a:r>
            <a:r>
              <a:rPr lang="en-US" altLang="ko-KR" sz="1400" dirty="0"/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참조 무결성 관계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참조 무결성을 간단하게 설명하면 외래 식별자 속성의 값은 상위</a:t>
            </a:r>
            <a:r>
              <a:rPr lang="en-US" altLang="ko-KR" sz="1400" dirty="0"/>
              <a:t>(</a:t>
            </a:r>
            <a:r>
              <a:rPr lang="ko-KR" altLang="en-US" sz="1400" dirty="0"/>
              <a:t>부모</a:t>
            </a:r>
            <a:r>
              <a:rPr lang="en-US" altLang="ko-KR" sz="1400" dirty="0"/>
              <a:t>)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엔터티의</a:t>
            </a:r>
            <a:r>
              <a:rPr lang="ko-KR" altLang="en-US" sz="1400" dirty="0"/>
              <a:t> 주 식별자 값과 </a:t>
            </a:r>
            <a:r>
              <a:rPr lang="ko-KR" altLang="en-US" sz="1400" dirty="0">
                <a:latin typeface="+mn-ea"/>
              </a:rPr>
              <a:t>일치하거나 널 값이어야 한다는 것이다</a:t>
            </a:r>
            <a:r>
              <a:rPr lang="en-US" altLang="ko-KR" sz="1400" dirty="0">
                <a:latin typeface="+mn-ea"/>
              </a:rPr>
              <a:t>. 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참조 무결성 관계가 아니라면 관계선을 표현하지 않아야 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600" dirty="0">
                <a:latin typeface="+mn-ea"/>
              </a:rPr>
              <a:t> 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바로 상위의 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차 관계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관계를 설계할 때 주의할 세 번째는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관계는 상위 </a:t>
            </a:r>
            <a:r>
              <a:rPr lang="en-US" altLang="ko-KR" sz="1400" dirty="0">
                <a:latin typeface="+mn-ea"/>
              </a:rPr>
              <a:t>1</a:t>
            </a:r>
            <a:r>
              <a:rPr lang="ko-KR" altLang="en-US" sz="1400" dirty="0">
                <a:latin typeface="+mn-ea"/>
              </a:rPr>
              <a:t>차</a:t>
            </a:r>
            <a:r>
              <a:rPr lang="en-US" altLang="ko-KR" sz="1400" dirty="0">
                <a:latin typeface="+mn-ea"/>
              </a:rPr>
              <a:t>(1</a:t>
            </a:r>
            <a:r>
              <a:rPr lang="ko-KR" altLang="en-US" sz="1400" dirty="0">
                <a:latin typeface="+mn-ea"/>
              </a:rPr>
              <a:t>촌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 관계여야 한다는 것이다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b="1" u="sng" dirty="0">
                <a:latin typeface="+mn-ea"/>
              </a:rPr>
              <a:t>바로 상위</a:t>
            </a:r>
            <a:r>
              <a:rPr lang="en-US" altLang="ko-KR" sz="1400" b="1" u="sng" dirty="0">
                <a:latin typeface="+mn-ea"/>
              </a:rPr>
              <a:t>(</a:t>
            </a:r>
            <a:r>
              <a:rPr lang="ko-KR" altLang="en-US" sz="1400" b="1" u="sng" dirty="0">
                <a:latin typeface="+mn-ea"/>
              </a:rPr>
              <a:t>부모</a:t>
            </a:r>
            <a:r>
              <a:rPr lang="en-US" altLang="ko-KR" sz="1400" b="1" u="sng" dirty="0">
                <a:latin typeface="+mn-ea"/>
              </a:rPr>
              <a:t>)</a:t>
            </a:r>
            <a:r>
              <a:rPr lang="ko-KR" altLang="en-US" sz="1400" b="1" u="sng" dirty="0">
                <a:latin typeface="+mn-ea"/>
              </a:rPr>
              <a:t> </a:t>
            </a:r>
            <a:r>
              <a:rPr lang="ko-KR" altLang="en-US" sz="1400" b="1" u="sng" dirty="0" err="1">
                <a:latin typeface="+mn-ea"/>
              </a:rPr>
              <a:t>엔터티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하나와의 관계만을 관계선으로 표현해야</a:t>
            </a:r>
            <a:r>
              <a:rPr lang="ko-KR" altLang="en-US" sz="1400" dirty="0">
                <a:latin typeface="+mn-ea"/>
              </a:rPr>
              <a:t> 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관계를 분석할 때 제대로 못 하는 것이 상위 </a:t>
            </a:r>
            <a:r>
              <a:rPr lang="en-US" altLang="ko-KR" sz="1400" dirty="0">
                <a:latin typeface="+mn-ea"/>
              </a:rPr>
              <a:t>1</a:t>
            </a:r>
            <a:r>
              <a:rPr lang="ko-KR" altLang="en-US" sz="1400" dirty="0">
                <a:latin typeface="+mn-ea"/>
              </a:rPr>
              <a:t>차</a:t>
            </a:r>
            <a:r>
              <a:rPr lang="en-US" altLang="ko-KR" sz="1400" dirty="0">
                <a:latin typeface="+mn-ea"/>
              </a:rPr>
              <a:t>(1</a:t>
            </a:r>
            <a:r>
              <a:rPr lang="ko-KR" altLang="en-US" sz="1400" dirty="0">
                <a:latin typeface="+mn-ea"/>
              </a:rPr>
              <a:t>촌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 관계인 바로 위의 부모 </a:t>
            </a:r>
            <a:r>
              <a:rPr lang="ko-KR" altLang="en-US" sz="1400" dirty="0" err="1">
                <a:latin typeface="+mn-ea"/>
              </a:rPr>
              <a:t>엔터티를</a:t>
            </a:r>
            <a:r>
              <a:rPr lang="ko-KR" altLang="en-US" sz="1400" dirty="0">
                <a:latin typeface="+mn-ea"/>
              </a:rPr>
              <a:t> 찾는 것이다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바로 위만 정확하면 나머지는 모두 정확해 진다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때에 따라서는 성능 문제를 해결하기 위해서 바로 위의 관계 이외에도 더 상위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부모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 err="1">
                <a:latin typeface="+mn-ea"/>
              </a:rPr>
              <a:t>엔터티와</a:t>
            </a:r>
            <a:r>
              <a:rPr lang="ko-KR" altLang="en-US" sz="1400" dirty="0">
                <a:latin typeface="+mn-ea"/>
              </a:rPr>
              <a:t> 관계를 관리할 필요도 있다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이를 추출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중복</a:t>
            </a:r>
            <a:r>
              <a:rPr lang="en-US" altLang="ko-KR" sz="1400" dirty="0">
                <a:latin typeface="+mn-ea"/>
              </a:rPr>
              <a:t>) </a:t>
            </a:r>
            <a:r>
              <a:rPr lang="ko-KR" altLang="en-US" sz="1400" dirty="0">
                <a:latin typeface="+mn-ea"/>
              </a:rPr>
              <a:t>관계라고 한다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 </a:t>
            </a:r>
            <a:r>
              <a:rPr lang="ko-KR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관계 설계의 핵심 </a:t>
            </a:r>
            <a:r>
              <a:rPr lang="en-US" altLang="ko-K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3</a:t>
            </a:r>
            <a:r>
              <a:rPr lang="ko-KR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요소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91B9F8E-B5D5-3867-7395-E2F8EBE79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180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5635281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1125066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ko-KR" altLang="en-US" b="1" dirty="0">
                <a:latin typeface="+mn-ea"/>
              </a:rPr>
              <a:t> 참조 무결성</a:t>
            </a:r>
            <a:endParaRPr lang="en-US" altLang="ko-KR" b="1" u="sng" dirty="0">
              <a:latin typeface="+mn-ea"/>
            </a:endParaRPr>
          </a:p>
          <a:p>
            <a:pPr lvl="4"/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참조 무결성</a:t>
            </a:r>
            <a:r>
              <a:rPr lang="ko-KR" altLang="en-US" sz="1600" b="1" dirty="0">
                <a:latin typeface="+mn-ea"/>
              </a:rPr>
              <a:t>은 참조하는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데이터 간에 결점이 없는 것</a:t>
            </a:r>
            <a:r>
              <a:rPr lang="ko-KR" altLang="en-US" sz="1600" b="1" dirty="0">
                <a:latin typeface="+mn-ea"/>
              </a:rPr>
              <a:t>을 의미한다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참조 무결성이 존재할 때만 관계선을 표현해야 한다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참조한다는 것은 관계선으로 연결된 것을 의미한다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+mn-ea"/>
              </a:rPr>
              <a:t>“</a:t>
            </a:r>
            <a:r>
              <a:rPr lang="ko-KR" altLang="en-US" sz="2000" b="1" dirty="0">
                <a:latin typeface="+mn-ea"/>
              </a:rPr>
              <a:t>하위</a:t>
            </a:r>
            <a:r>
              <a:rPr lang="en-US" altLang="ko-KR" sz="2000" b="1" dirty="0">
                <a:latin typeface="+mn-ea"/>
              </a:rPr>
              <a:t>(</a:t>
            </a:r>
            <a:r>
              <a:rPr lang="ko-KR" altLang="en-US" sz="2000" b="1" dirty="0">
                <a:latin typeface="+mn-ea"/>
              </a:rPr>
              <a:t>자식</a:t>
            </a:r>
            <a:r>
              <a:rPr lang="en-US" altLang="ko-KR" sz="2000" b="1" dirty="0">
                <a:latin typeface="+mn-ea"/>
              </a:rPr>
              <a:t>)</a:t>
            </a:r>
            <a:r>
              <a:rPr lang="ko-KR" altLang="en-US" sz="2000" b="1" dirty="0" err="1">
                <a:latin typeface="+mn-ea"/>
              </a:rPr>
              <a:t>엔터티의</a:t>
            </a:r>
            <a:r>
              <a:rPr lang="ko-KR" altLang="en-US" sz="2000" b="1" dirty="0">
                <a:latin typeface="+mn-ea"/>
              </a:rPr>
              <a:t> </a:t>
            </a:r>
            <a:r>
              <a:rPr lang="ko-KR" altLang="en-US" sz="2000" b="1" u="sng" dirty="0">
                <a:solidFill>
                  <a:srgbClr val="FF0000"/>
                </a:solidFill>
                <a:latin typeface="+mn-ea"/>
              </a:rPr>
              <a:t>외래 식별자 속성</a:t>
            </a:r>
            <a:r>
              <a:rPr lang="en-US" altLang="ko-KR" sz="2000" b="1" dirty="0">
                <a:latin typeface="+mn-ea"/>
              </a:rPr>
              <a:t>(</a:t>
            </a:r>
            <a:r>
              <a:rPr lang="ko-KR" altLang="en-US" sz="2000" b="1" dirty="0">
                <a:latin typeface="+mn-ea"/>
              </a:rPr>
              <a:t>관계 속성</a:t>
            </a:r>
            <a:r>
              <a:rPr lang="en-US" altLang="ko-KR" sz="2000" b="1" dirty="0">
                <a:latin typeface="+mn-ea"/>
              </a:rPr>
              <a:t>)</a:t>
            </a:r>
            <a:r>
              <a:rPr lang="ko-KR" altLang="en-US" sz="2000" b="1" dirty="0">
                <a:latin typeface="+mn-ea"/>
              </a:rPr>
              <a:t>에 존재하는 값이 상위</a:t>
            </a:r>
            <a:r>
              <a:rPr lang="en-US" altLang="ko-KR" sz="2000" b="1" dirty="0">
                <a:latin typeface="+mn-ea"/>
              </a:rPr>
              <a:t>(</a:t>
            </a:r>
            <a:r>
              <a:rPr lang="ko-KR" altLang="en-US" sz="2000" b="1" dirty="0">
                <a:latin typeface="+mn-ea"/>
              </a:rPr>
              <a:t>부모</a:t>
            </a:r>
            <a:r>
              <a:rPr lang="en-US" altLang="ko-KR" sz="2000" b="1" dirty="0">
                <a:latin typeface="+mn-ea"/>
              </a:rPr>
              <a:t>)</a:t>
            </a:r>
            <a:r>
              <a:rPr lang="ko-KR" altLang="en-US" sz="2000" b="1" dirty="0" err="1">
                <a:latin typeface="+mn-ea"/>
              </a:rPr>
              <a:t>엔터티의</a:t>
            </a:r>
            <a:r>
              <a:rPr lang="ko-KR" altLang="en-US" sz="2000" b="1" dirty="0">
                <a:latin typeface="+mn-ea"/>
              </a:rPr>
              <a:t> </a:t>
            </a:r>
            <a:r>
              <a:rPr lang="ko-KR" altLang="en-US" sz="2000" b="1" u="sng" dirty="0">
                <a:solidFill>
                  <a:srgbClr val="FF0000"/>
                </a:solidFill>
                <a:latin typeface="+mn-ea"/>
              </a:rPr>
              <a:t>주 식별자 값과 일치</a:t>
            </a:r>
            <a:r>
              <a:rPr lang="ko-KR" altLang="en-US" sz="2000" b="1" dirty="0">
                <a:latin typeface="+mn-ea"/>
              </a:rPr>
              <a:t>하거나 </a:t>
            </a:r>
            <a:r>
              <a:rPr lang="ko-KR" altLang="en-US" sz="2000" b="1" u="sng" dirty="0">
                <a:solidFill>
                  <a:srgbClr val="FF0000"/>
                </a:solidFill>
                <a:latin typeface="+mn-ea"/>
              </a:rPr>
              <a:t>널</a:t>
            </a:r>
            <a:r>
              <a:rPr lang="en-US" altLang="ko-KR" sz="2000" b="1" u="sng" dirty="0">
                <a:solidFill>
                  <a:srgbClr val="FF0000"/>
                </a:solidFill>
                <a:latin typeface="+mn-ea"/>
              </a:rPr>
              <a:t>(NULL)</a:t>
            </a:r>
            <a:r>
              <a:rPr lang="ko-KR" altLang="en-US" sz="2000" b="1" dirty="0">
                <a:latin typeface="+mn-ea"/>
              </a:rPr>
              <a:t>이면 </a:t>
            </a:r>
            <a:r>
              <a:rPr lang="ko-KR" altLang="en-US" sz="2000" b="1" u="sng" dirty="0">
                <a:solidFill>
                  <a:srgbClr val="FF0000"/>
                </a:solidFill>
                <a:latin typeface="+mn-ea"/>
              </a:rPr>
              <a:t>참조 무결성 관계</a:t>
            </a:r>
            <a:r>
              <a:rPr lang="ko-KR" altLang="en-US" sz="2000" b="1" dirty="0">
                <a:latin typeface="+mn-ea"/>
              </a:rPr>
              <a:t>라고 한다</a:t>
            </a:r>
            <a:r>
              <a:rPr lang="en-US" altLang="ko-KR" sz="2000" b="1" dirty="0">
                <a:latin typeface="+mn-ea"/>
              </a:rPr>
              <a:t>.”</a:t>
            </a:r>
            <a:r>
              <a:rPr lang="en-US" altLang="ko-KR" sz="2400" b="1" dirty="0">
                <a:latin typeface="+mn-ea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따라서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참조 무결성은 </a:t>
            </a:r>
            <a:r>
              <a:rPr lang="ko-KR" altLang="en-US" sz="1600" b="1" u="sng" dirty="0">
                <a:latin typeface="+mn-ea"/>
              </a:rPr>
              <a:t>널</a:t>
            </a:r>
            <a:r>
              <a:rPr lang="en-US" altLang="ko-KR" sz="1600" b="1" u="sng" dirty="0">
                <a:latin typeface="+mn-ea"/>
              </a:rPr>
              <a:t>(NULL)</a:t>
            </a:r>
            <a:r>
              <a:rPr lang="ko-KR" altLang="en-US" sz="1600" b="1" u="sng" dirty="0">
                <a:latin typeface="+mn-ea"/>
              </a:rPr>
              <a:t> 값을 정상으로 간주</a:t>
            </a:r>
            <a:r>
              <a:rPr lang="ko-KR" altLang="en-US" sz="1600" b="1" dirty="0">
                <a:latin typeface="+mn-ea"/>
              </a:rPr>
              <a:t>한다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실무에서 실제로 </a:t>
            </a:r>
            <a:r>
              <a:rPr lang="ko-KR" altLang="en-US" sz="1600" b="1" u="sng" dirty="0">
                <a:latin typeface="+mn-ea"/>
              </a:rPr>
              <a:t>성능이 떨어진다는 이유로</a:t>
            </a:r>
            <a:r>
              <a:rPr lang="en-US" altLang="ko-KR" sz="1600" b="1" dirty="0">
                <a:latin typeface="+mn-ea"/>
              </a:rPr>
              <a:t>,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b="1" u="sng" dirty="0">
                <a:latin typeface="+mn-ea"/>
              </a:rPr>
              <a:t>참조 무결성 제약을 생성하는 경우는 드물다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두 </a:t>
            </a:r>
            <a:r>
              <a:rPr lang="ko-KR" altLang="en-US" sz="1600" dirty="0" err="1">
                <a:latin typeface="+mn-ea"/>
              </a:rPr>
              <a:t>엔터티</a:t>
            </a:r>
            <a:r>
              <a:rPr lang="ko-KR" altLang="en-US" sz="1600" dirty="0">
                <a:latin typeface="+mn-ea"/>
              </a:rPr>
              <a:t> 사이에 참조 무결성 제약을 생성하면 없는 것에 비해 </a:t>
            </a:r>
            <a:r>
              <a:rPr lang="en-US" altLang="ko-KR" sz="1600" b="1" u="sng" dirty="0">
                <a:latin typeface="+mn-ea"/>
              </a:rPr>
              <a:t>10~</a:t>
            </a:r>
            <a:r>
              <a:rPr lang="en-US" altLang="ko-KR" b="1" u="sng" dirty="0">
                <a:solidFill>
                  <a:srgbClr val="FF0000"/>
                </a:solidFill>
                <a:latin typeface="+mn-ea"/>
              </a:rPr>
              <a:t>15%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정도 성능이 저하</a:t>
            </a:r>
            <a:r>
              <a:rPr lang="ko-KR" altLang="en-US" sz="1600" dirty="0">
                <a:latin typeface="+mn-ea"/>
              </a:rPr>
              <a:t>된다고 알려졌다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성능이 떨어지는 이유는 데이터가 입력</a:t>
            </a:r>
            <a:r>
              <a:rPr lang="en-US" altLang="ko-KR" sz="1600" dirty="0">
                <a:latin typeface="+mn-ea"/>
              </a:rPr>
              <a:t>•</a:t>
            </a:r>
            <a:r>
              <a:rPr lang="ko-KR" altLang="en-US" sz="1600" dirty="0">
                <a:latin typeface="+mn-ea"/>
              </a:rPr>
              <a:t>수정</a:t>
            </a:r>
            <a:r>
              <a:rPr lang="en-US" altLang="ko-KR" sz="1600" dirty="0">
                <a:latin typeface="+mn-ea"/>
              </a:rPr>
              <a:t>•</a:t>
            </a:r>
            <a:r>
              <a:rPr lang="ko-KR" altLang="en-US" sz="1600" dirty="0">
                <a:latin typeface="+mn-ea"/>
              </a:rPr>
              <a:t>삭제될 때 </a:t>
            </a:r>
            <a:r>
              <a:rPr lang="en-US" altLang="ko-KR" sz="1600" b="1" u="sng" dirty="0">
                <a:latin typeface="+mn-ea"/>
              </a:rPr>
              <a:t>DBMS </a:t>
            </a:r>
            <a:r>
              <a:rPr lang="ko-KR" altLang="en-US" sz="1600" b="1" u="sng" dirty="0">
                <a:latin typeface="+mn-ea"/>
              </a:rPr>
              <a:t>차원에서 데이터 무결성을 지키기 위한 처리</a:t>
            </a:r>
            <a:r>
              <a:rPr lang="ko-KR" altLang="en-US" sz="1600" dirty="0">
                <a:latin typeface="+mn-ea"/>
              </a:rPr>
              <a:t>를 하기 때문이다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C0A35D1-41C1-1690-A82D-A4057ACE3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576" y="3429000"/>
            <a:ext cx="3924848" cy="1581371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937E95B-0E98-7607-689A-6689688ABAD7}"/>
              </a:ext>
            </a:extLst>
          </p:cNvPr>
          <p:cNvSpPr/>
          <p:nvPr/>
        </p:nvSpPr>
        <p:spPr>
          <a:xfrm>
            <a:off x="7045446" y="4508133"/>
            <a:ext cx="1012978" cy="236653"/>
          </a:xfrm>
          <a:prstGeom prst="roundRect">
            <a:avLst>
              <a:gd name="adj" fmla="val 5849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6A0185D-3595-1327-960A-26985C1B7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181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5E9563-2BA4-482D-BAD5-49D791775974}"/>
              </a:ext>
            </a:extLst>
          </p:cNvPr>
          <p:cNvSpPr txBox="1"/>
          <p:nvPr/>
        </p:nvSpPr>
        <p:spPr>
          <a:xfrm>
            <a:off x="2679177" y="1377980"/>
            <a:ext cx="3351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</a:rPr>
              <a:t>(</a:t>
            </a:r>
            <a:r>
              <a:rPr lang="en-US" altLang="ko-KR" sz="2400" b="1" u="sng" dirty="0">
                <a:solidFill>
                  <a:srgbClr val="FF0000"/>
                </a:solidFill>
              </a:rPr>
              <a:t>R</a:t>
            </a:r>
            <a:r>
              <a:rPr lang="en-US" altLang="ko-KR" sz="2400" b="1" dirty="0">
                <a:solidFill>
                  <a:srgbClr val="FF0000"/>
                </a:solidFill>
              </a:rPr>
              <a:t>eferential</a:t>
            </a:r>
            <a:r>
              <a:rPr lang="ko-KR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ko-KR" sz="2400" b="1" u="sng" dirty="0">
                <a:solidFill>
                  <a:srgbClr val="FF0000"/>
                </a:solidFill>
              </a:rPr>
              <a:t>I</a:t>
            </a:r>
            <a:r>
              <a:rPr lang="en-US" altLang="ko-KR" sz="2400" b="1" dirty="0">
                <a:solidFill>
                  <a:srgbClr val="FF0000"/>
                </a:solidFill>
              </a:rPr>
              <a:t>ntegrity)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359637-5E09-477A-B70A-02860184D879}"/>
              </a:ext>
            </a:extLst>
          </p:cNvPr>
          <p:cNvSpPr txBox="1"/>
          <p:nvPr/>
        </p:nvSpPr>
        <p:spPr>
          <a:xfrm>
            <a:off x="8517373" y="4218562"/>
            <a:ext cx="3493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</a:rPr>
              <a:t>(</a:t>
            </a:r>
            <a:r>
              <a:rPr lang="ko-KR" altLang="en-US" sz="2400" b="1" dirty="0">
                <a:solidFill>
                  <a:srgbClr val="FF0000"/>
                </a:solidFill>
              </a:rPr>
              <a:t>두 </a:t>
            </a:r>
            <a:r>
              <a:rPr lang="ko-KR" altLang="en-US" sz="2400" b="1" dirty="0" err="1">
                <a:solidFill>
                  <a:srgbClr val="FF0000"/>
                </a:solidFill>
              </a:rPr>
              <a:t>엔터티는</a:t>
            </a:r>
            <a:r>
              <a:rPr lang="ko-KR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ko-KR" sz="2400" b="1" u="sng" dirty="0">
                <a:solidFill>
                  <a:srgbClr val="FF0000"/>
                </a:solidFill>
              </a:rPr>
              <a:t>RI</a:t>
            </a:r>
            <a:r>
              <a:rPr lang="ko-KR" altLang="en-US" sz="2400" b="1" dirty="0">
                <a:solidFill>
                  <a:srgbClr val="FF0000"/>
                </a:solidFill>
              </a:rPr>
              <a:t>가 없다</a:t>
            </a:r>
            <a:r>
              <a:rPr lang="en-US" altLang="ko-KR" sz="2400" b="1" dirty="0">
                <a:solidFill>
                  <a:srgbClr val="FF0000"/>
                </a:solidFill>
              </a:rPr>
              <a:t>)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53FE527-F6E8-403D-9989-016CD05240C8}"/>
              </a:ext>
            </a:extLst>
          </p:cNvPr>
          <p:cNvSpPr/>
          <p:nvPr/>
        </p:nvSpPr>
        <p:spPr>
          <a:xfrm>
            <a:off x="7045446" y="4153245"/>
            <a:ext cx="1012978" cy="236653"/>
          </a:xfrm>
          <a:prstGeom prst="roundRect">
            <a:avLst>
              <a:gd name="adj" fmla="val 5849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463BF4C6-B7D5-4A09-B465-A717FB5081BE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 flipV="1">
            <a:off x="8058424" y="4449395"/>
            <a:ext cx="458949" cy="177065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E6C2AB44-A6C3-4FE9-8284-5D316FA80295}"/>
              </a:ext>
            </a:extLst>
          </p:cNvPr>
          <p:cNvCxnSpPr>
            <a:cxnSpLocks/>
            <a:stCxn id="12" idx="3"/>
            <a:endCxn id="11" idx="1"/>
          </p:cNvCxnSpPr>
          <p:nvPr/>
        </p:nvCxnSpPr>
        <p:spPr>
          <a:xfrm>
            <a:off x="8058424" y="4271572"/>
            <a:ext cx="458949" cy="177823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69340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1125066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ko-KR" altLang="en-US" b="1" dirty="0">
                <a:latin typeface="+mn-ea"/>
              </a:rPr>
              <a:t>기준 </a:t>
            </a:r>
            <a:r>
              <a:rPr lang="ko-KR" altLang="en-US" b="1" dirty="0" err="1">
                <a:latin typeface="+mn-ea"/>
              </a:rPr>
              <a:t>엔터티의</a:t>
            </a:r>
            <a:r>
              <a:rPr lang="ko-KR" altLang="en-US" b="1" dirty="0">
                <a:latin typeface="+mn-ea"/>
              </a:rPr>
              <a:t> 참조 무결성</a:t>
            </a:r>
            <a:endParaRPr lang="en-US" altLang="ko-KR" b="1" u="sng" dirty="0">
              <a:latin typeface="+mn-ea"/>
            </a:endParaRPr>
          </a:p>
          <a:p>
            <a:pPr lvl="4"/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기준 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엔터티에는</a:t>
            </a:r>
            <a:r>
              <a:rPr lang="ko-KR" altLang="en-US" sz="1600" dirty="0">
                <a:latin typeface="+mn-ea"/>
              </a:rPr>
              <a:t> 업무에서 참조하는 일자나 금액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율 등의 데이터를 관리하는 </a:t>
            </a:r>
            <a:r>
              <a:rPr lang="ko-KR" altLang="en-US" sz="1600" dirty="0" err="1">
                <a:latin typeface="+mn-ea"/>
              </a:rPr>
              <a:t>엔터티가</a:t>
            </a:r>
            <a:r>
              <a:rPr lang="ko-KR" altLang="en-US" sz="1600" dirty="0">
                <a:latin typeface="+mn-ea"/>
              </a:rPr>
              <a:t> 포함된다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이에 해당하는 대표적인 </a:t>
            </a:r>
            <a:r>
              <a:rPr lang="ko-KR" altLang="en-US" sz="1600" dirty="0" err="1">
                <a:latin typeface="+mn-ea"/>
              </a:rPr>
              <a:t>엔터티에는</a:t>
            </a:r>
            <a:r>
              <a:rPr lang="ko-KR" altLang="en-US" sz="1600" dirty="0">
                <a:latin typeface="+mn-ea"/>
              </a:rPr>
              <a:t> 환율이나 우편번호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이자율 등이 있다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두 </a:t>
            </a:r>
            <a:r>
              <a:rPr lang="ko-KR" altLang="en-US" sz="1600" dirty="0" err="1">
                <a:latin typeface="+mn-ea"/>
              </a:rPr>
              <a:t>엔터티</a:t>
            </a:r>
            <a:r>
              <a:rPr lang="ko-KR" altLang="en-US" sz="1600" dirty="0">
                <a:latin typeface="+mn-ea"/>
              </a:rPr>
              <a:t> 간에 </a:t>
            </a:r>
            <a:r>
              <a:rPr lang="ko-KR" altLang="en-US" sz="1600" b="1" u="sng" dirty="0">
                <a:latin typeface="+mn-ea"/>
              </a:rPr>
              <a:t>관계선을 표현할지</a:t>
            </a:r>
            <a:r>
              <a:rPr lang="ko-KR" altLang="en-US" sz="1600" dirty="0">
                <a:latin typeface="+mn-ea"/>
              </a:rPr>
              <a:t>는 실제 </a:t>
            </a:r>
            <a:r>
              <a:rPr lang="ko-KR" altLang="en-US" sz="1600" b="1" u="sng" dirty="0">
                <a:latin typeface="+mn-ea"/>
              </a:rPr>
              <a:t>참조 무결성 제약이 존재하는 지</a:t>
            </a:r>
            <a:r>
              <a:rPr lang="ko-KR" altLang="en-US" sz="1600" dirty="0">
                <a:latin typeface="+mn-ea"/>
              </a:rPr>
              <a:t>로 따져야 한다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기준 </a:t>
            </a:r>
            <a:r>
              <a:rPr lang="ko-KR" altLang="en-US" sz="1600" dirty="0" err="1">
                <a:latin typeface="+mn-ea"/>
              </a:rPr>
              <a:t>엔터티의</a:t>
            </a:r>
            <a:r>
              <a:rPr lang="ko-KR" altLang="en-US" sz="1600" dirty="0">
                <a:latin typeface="+mn-ea"/>
              </a:rPr>
              <a:t> 데이터가 바뀌면 그 기준 데이터를 참조해 사용했던 데이터를 전부 바꿀 것인지</a:t>
            </a:r>
            <a:r>
              <a:rPr lang="en-US" altLang="ko-KR" sz="1600" dirty="0">
                <a:latin typeface="+mn-ea"/>
              </a:rPr>
              <a:t>,</a:t>
            </a:r>
            <a:r>
              <a:rPr lang="ko-KR" altLang="en-US" sz="1600" dirty="0">
                <a:latin typeface="+mn-ea"/>
              </a:rPr>
              <a:t> 아니면 선택할 당시의 시점 데이터이므로 바꾸지 말아야 하는지를 숙고해야 한다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대부분의 기준 데이터는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조회해서 참조</a:t>
            </a:r>
            <a:r>
              <a:rPr lang="ko-KR" altLang="en-US" sz="1600" dirty="0">
                <a:latin typeface="+mn-ea"/>
              </a:rPr>
              <a:t>하는 것이므로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참조 무결성 관계가 존재하지 않는 것이 일반적</a:t>
            </a:r>
            <a:r>
              <a:rPr lang="ko-KR" altLang="en-US" sz="1600" dirty="0">
                <a:latin typeface="+mn-ea"/>
              </a:rPr>
              <a:t>이지만</a:t>
            </a:r>
            <a:r>
              <a:rPr lang="en-US" altLang="ko-KR" sz="1600" dirty="0">
                <a:latin typeface="+mn-ea"/>
              </a:rPr>
              <a:t>,</a:t>
            </a:r>
            <a:r>
              <a:rPr lang="ko-KR" altLang="en-US" sz="1600" dirty="0">
                <a:latin typeface="+mn-ea"/>
              </a:rPr>
              <a:t> 판단은 업무 요건에 따라 달라진다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A6DC6CF-E91C-2014-5CC1-473F00E65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081" y="3885327"/>
            <a:ext cx="1143160" cy="12574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2006761-7E9E-CB99-024E-990DA5404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983" y="3869799"/>
            <a:ext cx="2610214" cy="129558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5FDEA7B-9C69-A8A8-73A4-12C0EF961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8927" y="3892377"/>
            <a:ext cx="2734057" cy="1257475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8F070EC-4485-E8CE-6D8F-60AC1E04BAE3}"/>
              </a:ext>
            </a:extLst>
          </p:cNvPr>
          <p:cNvSpPr/>
          <p:nvPr/>
        </p:nvSpPr>
        <p:spPr>
          <a:xfrm>
            <a:off x="8659757" y="4391498"/>
            <a:ext cx="1082553" cy="361117"/>
          </a:xfrm>
          <a:prstGeom prst="roundRect">
            <a:avLst>
              <a:gd name="adj" fmla="val 5849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5628F77-7E65-494F-44BB-5CF78CD6F2D3}"/>
              </a:ext>
            </a:extLst>
          </p:cNvPr>
          <p:cNvCxnSpPr>
            <a:cxnSpLocks/>
          </p:cNvCxnSpPr>
          <p:nvPr/>
        </p:nvCxnSpPr>
        <p:spPr>
          <a:xfrm>
            <a:off x="5933484" y="4521115"/>
            <a:ext cx="4334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더하기 기호 18">
            <a:extLst>
              <a:ext uri="{FF2B5EF4-FFF2-40B4-BE49-F238E27FC236}">
                <a16:creationId xmlns:a16="http://schemas.microsoft.com/office/drawing/2014/main" id="{5FEAF7EC-A93E-6E36-0800-7C617647F466}"/>
              </a:ext>
            </a:extLst>
          </p:cNvPr>
          <p:cNvSpPr/>
          <p:nvPr/>
        </p:nvSpPr>
        <p:spPr>
          <a:xfrm>
            <a:off x="2847927" y="4300792"/>
            <a:ext cx="361245" cy="361117"/>
          </a:xfrm>
          <a:prstGeom prst="mathPlus">
            <a:avLst>
              <a:gd name="adj1" fmla="val 11016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E592735-6008-6B65-698C-FFC884A9FDC6}"/>
              </a:ext>
            </a:extLst>
          </p:cNvPr>
          <p:cNvSpPr/>
          <p:nvPr/>
        </p:nvSpPr>
        <p:spPr>
          <a:xfrm>
            <a:off x="4282945" y="4401933"/>
            <a:ext cx="605141" cy="339394"/>
          </a:xfrm>
          <a:prstGeom prst="roundRect">
            <a:avLst>
              <a:gd name="adj" fmla="val 5849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E36901-635F-A3C4-5FD5-FDA030225FD8}"/>
              </a:ext>
            </a:extLst>
          </p:cNvPr>
          <p:cNvSpPr txBox="1"/>
          <p:nvPr/>
        </p:nvSpPr>
        <p:spPr>
          <a:xfrm>
            <a:off x="996393" y="5187957"/>
            <a:ext cx="50962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u="sng" dirty="0">
                <a:solidFill>
                  <a:srgbClr val="FF0000"/>
                </a:solidFill>
              </a:rPr>
              <a:t>참조 관계가 없으므로</a:t>
            </a:r>
            <a:r>
              <a:rPr lang="en-US" altLang="ko-KR" sz="1200" dirty="0"/>
              <a:t> </a:t>
            </a:r>
            <a:r>
              <a:rPr lang="ko-KR" altLang="en-US" sz="1200" dirty="0"/>
              <a:t>우편주소가 바뀌어도</a:t>
            </a:r>
            <a:r>
              <a:rPr lang="en-US" altLang="ko-KR" sz="1200" dirty="0"/>
              <a:t>, </a:t>
            </a:r>
            <a:r>
              <a:rPr lang="ko-KR" altLang="en-US" sz="1200" dirty="0"/>
              <a:t>고객주소는 바뀌지 않는다</a:t>
            </a:r>
            <a:r>
              <a:rPr lang="en-US" altLang="ko-KR" sz="1200" dirty="0"/>
              <a:t>.</a:t>
            </a:r>
          </a:p>
          <a:p>
            <a:r>
              <a:rPr lang="en-US" altLang="ko-KR" sz="1200" b="1" dirty="0">
                <a:solidFill>
                  <a:srgbClr val="FF0000"/>
                </a:solidFill>
              </a:rPr>
              <a:t>(</a:t>
            </a:r>
            <a:r>
              <a:rPr lang="ko-KR" altLang="en-US" sz="1200" b="1" dirty="0">
                <a:solidFill>
                  <a:srgbClr val="FF0000"/>
                </a:solidFill>
              </a:rPr>
              <a:t>일반적인 요건</a:t>
            </a:r>
            <a:r>
              <a:rPr lang="en-US" altLang="ko-KR" sz="1200" b="1" dirty="0">
                <a:solidFill>
                  <a:srgbClr val="FF0000"/>
                </a:solidFill>
              </a:rPr>
              <a:t>)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3795C7-9BEA-2350-054D-50003B6F5CA9}"/>
              </a:ext>
            </a:extLst>
          </p:cNvPr>
          <p:cNvSpPr txBox="1"/>
          <p:nvPr/>
        </p:nvSpPr>
        <p:spPr>
          <a:xfrm>
            <a:off x="6592710" y="5187957"/>
            <a:ext cx="4854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u="sng" dirty="0">
                <a:solidFill>
                  <a:srgbClr val="FF0000"/>
                </a:solidFill>
              </a:rPr>
              <a:t>참조 관계가 존재</a:t>
            </a:r>
            <a:r>
              <a:rPr lang="ko-KR" altLang="en-US" sz="1200" dirty="0"/>
              <a:t>하면</a:t>
            </a:r>
            <a:r>
              <a:rPr lang="en-US" altLang="ko-KR" sz="1200" dirty="0"/>
              <a:t> </a:t>
            </a:r>
            <a:r>
              <a:rPr lang="ko-KR" altLang="en-US" sz="1200" dirty="0"/>
              <a:t>우편주소가 바뀌면</a:t>
            </a:r>
            <a:r>
              <a:rPr lang="en-US" altLang="ko-KR" sz="1200" dirty="0"/>
              <a:t>, </a:t>
            </a:r>
            <a:r>
              <a:rPr lang="ko-KR" altLang="en-US" sz="1200" dirty="0"/>
              <a:t>고객주소도 함께 바뀐다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6DB347-DD78-9F84-6299-3B41BAE233D5}"/>
              </a:ext>
            </a:extLst>
          </p:cNvPr>
          <p:cNvSpPr txBox="1"/>
          <p:nvPr/>
        </p:nvSpPr>
        <p:spPr>
          <a:xfrm>
            <a:off x="1095023" y="5792895"/>
            <a:ext cx="1075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1200" dirty="0"/>
              <a:t> </a:t>
            </a:r>
            <a:r>
              <a:rPr lang="ko-KR" altLang="en-US" sz="1400" b="1" u="sng" dirty="0">
                <a:solidFill>
                  <a:srgbClr val="FF0000"/>
                </a:solidFill>
              </a:rPr>
              <a:t>기준 </a:t>
            </a:r>
            <a:r>
              <a:rPr lang="ko-KR" altLang="en-US" sz="1400" b="1" u="sng" dirty="0" err="1">
                <a:solidFill>
                  <a:srgbClr val="FF0000"/>
                </a:solidFill>
              </a:rPr>
              <a:t>엔터티의</a:t>
            </a:r>
            <a:r>
              <a:rPr lang="ko-KR" altLang="en-US" sz="1200" dirty="0"/>
              <a:t> 데이터가 바뀌면 </a:t>
            </a:r>
            <a:r>
              <a:rPr lang="ko-KR" altLang="en-US" sz="1400" b="1" u="sng" dirty="0">
                <a:solidFill>
                  <a:srgbClr val="FF0000"/>
                </a:solidFill>
              </a:rPr>
              <a:t>참조하는 데이터</a:t>
            </a:r>
            <a:r>
              <a:rPr lang="ko-KR" altLang="en-US" sz="1200" dirty="0"/>
              <a:t>를 </a:t>
            </a:r>
            <a:r>
              <a:rPr lang="ko-KR" altLang="en-US" sz="1400" b="1" u="sng" dirty="0">
                <a:solidFill>
                  <a:srgbClr val="FF0000"/>
                </a:solidFill>
              </a:rPr>
              <a:t>전부 바꿀 것인지</a:t>
            </a:r>
            <a:r>
              <a:rPr lang="en-US" altLang="ko-KR" sz="1400" b="1" u="sng" dirty="0">
                <a:solidFill>
                  <a:srgbClr val="FF0000"/>
                </a:solidFill>
              </a:rPr>
              <a:t>,</a:t>
            </a:r>
            <a:r>
              <a:rPr lang="ko-KR" altLang="en-US" sz="1400" b="1" u="sng" dirty="0">
                <a:solidFill>
                  <a:srgbClr val="FF0000"/>
                </a:solidFill>
              </a:rPr>
              <a:t> 바꾸지 말아야 하는지</a:t>
            </a:r>
            <a:r>
              <a:rPr lang="ko-KR" altLang="en-US" sz="1200" dirty="0"/>
              <a:t>를 숙고해야 한다. </a:t>
            </a:r>
            <a:endParaRPr lang="en-US" altLang="ko-KR" sz="1200" dirty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1200" dirty="0"/>
              <a:t> 대부분의 기준 데이터는 조회해서 참조하는 것이므로 참조 무결성 관계가 존재하지 않는 것이 일반적이지만</a:t>
            </a:r>
            <a:r>
              <a:rPr lang="en-US" altLang="ko-KR" sz="1200" dirty="0"/>
              <a:t>, </a:t>
            </a:r>
            <a:r>
              <a:rPr lang="ko-KR" altLang="en-US" sz="1200" dirty="0"/>
              <a:t>이 판단은 </a:t>
            </a:r>
            <a:r>
              <a:rPr lang="ko-KR" altLang="en-US" sz="1400" b="1" u="sng" dirty="0">
                <a:solidFill>
                  <a:srgbClr val="FF0000"/>
                </a:solidFill>
              </a:rPr>
              <a:t>업무 요건에 따라 달라진다</a:t>
            </a:r>
            <a:r>
              <a:rPr lang="ko-KR" altLang="en-US" sz="1200" dirty="0"/>
              <a:t>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F86BDB9-CAA4-C712-1A88-C6254966E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182</a:t>
            </a:fld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415A71-F198-4D5E-8DE5-FF4078AA388E}"/>
              </a:ext>
            </a:extLst>
          </p:cNvPr>
          <p:cNvSpPr txBox="1"/>
          <p:nvPr/>
        </p:nvSpPr>
        <p:spPr>
          <a:xfrm>
            <a:off x="4022785" y="1386178"/>
            <a:ext cx="3351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</a:rPr>
              <a:t>(</a:t>
            </a:r>
            <a:r>
              <a:rPr lang="en-US" altLang="ko-KR" sz="2400" b="1" u="sng" dirty="0">
                <a:solidFill>
                  <a:srgbClr val="FF0000"/>
                </a:solidFill>
              </a:rPr>
              <a:t>R</a:t>
            </a:r>
            <a:r>
              <a:rPr lang="en-US" altLang="ko-KR" sz="2400" b="1" dirty="0">
                <a:solidFill>
                  <a:srgbClr val="FF0000"/>
                </a:solidFill>
              </a:rPr>
              <a:t>eferential</a:t>
            </a:r>
            <a:r>
              <a:rPr lang="ko-KR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ko-KR" sz="2400" b="1" u="sng" dirty="0">
                <a:solidFill>
                  <a:srgbClr val="FF0000"/>
                </a:solidFill>
              </a:rPr>
              <a:t>I</a:t>
            </a:r>
            <a:r>
              <a:rPr lang="en-US" altLang="ko-KR" sz="2400" b="1" dirty="0">
                <a:solidFill>
                  <a:srgbClr val="FF0000"/>
                </a:solidFill>
              </a:rPr>
              <a:t>ntegrity)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B078BA9-35D4-42FE-8387-40F3369909E5}"/>
              </a:ext>
            </a:extLst>
          </p:cNvPr>
          <p:cNvSpPr/>
          <p:nvPr/>
        </p:nvSpPr>
        <p:spPr>
          <a:xfrm>
            <a:off x="1510197" y="4110990"/>
            <a:ext cx="939493" cy="329571"/>
          </a:xfrm>
          <a:prstGeom prst="roundRect">
            <a:avLst>
              <a:gd name="adj" fmla="val 5849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8B20485-257A-4246-A476-B344E0BCB916}"/>
              </a:ext>
            </a:extLst>
          </p:cNvPr>
          <p:cNvSpPr/>
          <p:nvPr/>
        </p:nvSpPr>
        <p:spPr>
          <a:xfrm>
            <a:off x="8188149" y="4269740"/>
            <a:ext cx="360265" cy="270037"/>
          </a:xfrm>
          <a:prstGeom prst="roundRect">
            <a:avLst>
              <a:gd name="adj" fmla="val 5849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9FFE36-EBDF-4DDB-8C10-78BDF8275E9C}"/>
              </a:ext>
            </a:extLst>
          </p:cNvPr>
          <p:cNvSpPr txBox="1"/>
          <p:nvPr/>
        </p:nvSpPr>
        <p:spPr>
          <a:xfrm>
            <a:off x="7528616" y="923156"/>
            <a:ext cx="427392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1400" b="1" dirty="0"/>
              <a:t>기준데이터가 바뀌면 참조 데이터가 바뀌는지</a:t>
            </a:r>
            <a:r>
              <a:rPr lang="en-US" altLang="ko-KR" sz="1400" b="1" dirty="0"/>
              <a:t>?</a:t>
            </a:r>
            <a:br>
              <a:rPr lang="en-US" altLang="ko-KR" sz="1400" b="1" dirty="0"/>
            </a:br>
            <a:r>
              <a:rPr lang="ko-KR" altLang="en-US" sz="1400" b="1" dirty="0" err="1"/>
              <a:t>관계선</a:t>
            </a:r>
            <a:r>
              <a:rPr lang="ko-KR" altLang="en-US" sz="1400" b="1" dirty="0"/>
              <a:t> 필수</a:t>
            </a:r>
            <a:r>
              <a:rPr lang="en-US" altLang="ko-KR" sz="1400" b="1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400" b="1" dirty="0"/>
              <a:t>기준데이터를 보고 화면에서 직접 입력하는지</a:t>
            </a:r>
            <a:r>
              <a:rPr lang="en-US" altLang="ko-KR" sz="1400" b="1" dirty="0"/>
              <a:t>?</a:t>
            </a:r>
          </a:p>
          <a:p>
            <a:r>
              <a:rPr lang="en-US" altLang="ko-KR" sz="1400" b="1" dirty="0"/>
              <a:t>      </a:t>
            </a:r>
            <a:r>
              <a:rPr lang="ko-KR" altLang="en-US" sz="1400" b="1" dirty="0" err="1"/>
              <a:t>관계선</a:t>
            </a:r>
            <a:r>
              <a:rPr lang="ko-KR" altLang="en-US" sz="1400" b="1" dirty="0"/>
              <a:t> 필요 없음</a:t>
            </a:r>
            <a:r>
              <a:rPr lang="en-US" altLang="ko-KR" sz="1400" b="1" dirty="0"/>
              <a:t>.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990952264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112506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b="1" dirty="0">
                <a:latin typeface="+mn-ea"/>
              </a:rPr>
              <a:t>종속</a:t>
            </a:r>
            <a:r>
              <a:rPr lang="en-US" altLang="ko-KR" b="1" dirty="0">
                <a:latin typeface="+mn-ea"/>
              </a:rPr>
              <a:t>•</a:t>
            </a:r>
            <a:r>
              <a:rPr lang="ko-KR" altLang="en-US" b="1" dirty="0">
                <a:latin typeface="+mn-ea"/>
              </a:rPr>
              <a:t>참조 관계 </a:t>
            </a:r>
            <a:r>
              <a:rPr lang="en-US" altLang="ko-KR" b="1" dirty="0">
                <a:latin typeface="+mn-ea"/>
              </a:rPr>
              <a:t>vs</a:t>
            </a:r>
            <a:r>
              <a:rPr lang="ko-KR" altLang="en-US" b="1" dirty="0">
                <a:latin typeface="+mn-ea"/>
              </a:rPr>
              <a:t> 식별</a:t>
            </a:r>
            <a:r>
              <a:rPr lang="en-US" altLang="ko-KR" b="1" dirty="0">
                <a:latin typeface="+mn-ea"/>
              </a:rPr>
              <a:t>•</a:t>
            </a:r>
            <a:r>
              <a:rPr lang="ko-KR" altLang="en-US" b="1" dirty="0" err="1">
                <a:latin typeface="+mn-ea"/>
              </a:rPr>
              <a:t>비식별</a:t>
            </a:r>
            <a:r>
              <a:rPr lang="ko-KR" altLang="en-US" b="1" dirty="0">
                <a:latin typeface="+mn-ea"/>
              </a:rPr>
              <a:t> 관계</a:t>
            </a: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종속</a:t>
            </a:r>
            <a:r>
              <a:rPr lang="en-US" altLang="ko-KR" sz="1400" dirty="0">
                <a:latin typeface="+mn-ea"/>
              </a:rPr>
              <a:t>•</a:t>
            </a:r>
            <a:r>
              <a:rPr lang="ko-KR" altLang="en-US" sz="1400" dirty="0">
                <a:latin typeface="+mn-ea"/>
              </a:rPr>
              <a:t>참조 관계는 두 </a:t>
            </a:r>
            <a:r>
              <a:rPr lang="ko-KR" altLang="en-US" sz="1400" dirty="0" err="1">
                <a:latin typeface="+mn-ea"/>
              </a:rPr>
              <a:t>엔터티</a:t>
            </a:r>
            <a:r>
              <a:rPr lang="ko-KR" altLang="en-US" sz="1400" dirty="0">
                <a:latin typeface="+mn-ea"/>
              </a:rPr>
              <a:t> 사이의 성격을 파악하는 논리적인 개념이며</a:t>
            </a:r>
            <a:r>
              <a:rPr lang="en-US" altLang="ko-KR" sz="1400" dirty="0">
                <a:latin typeface="+mn-ea"/>
              </a:rPr>
              <a:t>,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식별</a:t>
            </a:r>
            <a:r>
              <a:rPr lang="en-US" altLang="ko-KR" sz="1400" dirty="0">
                <a:latin typeface="+mn-ea"/>
              </a:rPr>
              <a:t>•</a:t>
            </a:r>
            <a:r>
              <a:rPr lang="ko-KR" altLang="en-US" sz="1400" dirty="0" err="1">
                <a:latin typeface="+mn-ea"/>
              </a:rPr>
              <a:t>비식별</a:t>
            </a:r>
            <a:r>
              <a:rPr lang="ko-KR" altLang="en-US" sz="1400" dirty="0">
                <a:latin typeface="+mn-ea"/>
              </a:rPr>
              <a:t> 관계는 </a:t>
            </a:r>
            <a:r>
              <a:rPr lang="en-US" altLang="ko-KR" sz="1400" dirty="0">
                <a:latin typeface="+mn-ea"/>
              </a:rPr>
              <a:t>CASE </a:t>
            </a:r>
            <a:r>
              <a:rPr lang="ko-KR" altLang="en-US" sz="1400" dirty="0">
                <a:latin typeface="+mn-ea"/>
              </a:rPr>
              <a:t>툴의 물리적인 표기 방법일 뿐이다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관계 이야기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07C33E-FFE1-577F-97BF-850A725CA2BD}"/>
              </a:ext>
            </a:extLst>
          </p:cNvPr>
          <p:cNvSpPr/>
          <p:nvPr/>
        </p:nvSpPr>
        <p:spPr>
          <a:xfrm>
            <a:off x="4030133" y="3056471"/>
            <a:ext cx="3358990" cy="1565529"/>
          </a:xfrm>
          <a:prstGeom prst="rect">
            <a:avLst/>
          </a:prstGeom>
          <a:noFill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B07439-75B4-CDA1-9F3D-D69168204E55}"/>
              </a:ext>
            </a:extLst>
          </p:cNvPr>
          <p:cNvSpPr/>
          <p:nvPr/>
        </p:nvSpPr>
        <p:spPr>
          <a:xfrm>
            <a:off x="4030133" y="4618054"/>
            <a:ext cx="3358990" cy="1565529"/>
          </a:xfrm>
          <a:prstGeom prst="rect">
            <a:avLst/>
          </a:prstGeom>
          <a:noFill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3D2F350-D8E2-DE85-F830-E12527898D33}"/>
              </a:ext>
            </a:extLst>
          </p:cNvPr>
          <p:cNvSpPr/>
          <p:nvPr/>
        </p:nvSpPr>
        <p:spPr>
          <a:xfrm>
            <a:off x="7392316" y="3056076"/>
            <a:ext cx="3358990" cy="1565529"/>
          </a:xfrm>
          <a:prstGeom prst="rect">
            <a:avLst/>
          </a:prstGeom>
          <a:noFill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853DC4-CB14-82F8-DDFB-19D2792DC4C3}"/>
              </a:ext>
            </a:extLst>
          </p:cNvPr>
          <p:cNvSpPr/>
          <p:nvPr/>
        </p:nvSpPr>
        <p:spPr>
          <a:xfrm>
            <a:off x="7392316" y="4617659"/>
            <a:ext cx="3358990" cy="1565529"/>
          </a:xfrm>
          <a:prstGeom prst="rect">
            <a:avLst/>
          </a:prstGeom>
          <a:noFill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8B81024-8421-0803-38B6-EE949059B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200" y="3327435"/>
            <a:ext cx="2638793" cy="124794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A76F34AC-7F3D-123F-F601-00434FEE8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5201" y="4680282"/>
            <a:ext cx="2810267" cy="1409897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02981220-39F9-350A-E21C-1714B9BDF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199" y="4823177"/>
            <a:ext cx="2638793" cy="1267002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2378CA25-D959-2CB6-137B-62A43A87B001}"/>
              </a:ext>
            </a:extLst>
          </p:cNvPr>
          <p:cNvSpPr/>
          <p:nvPr/>
        </p:nvSpPr>
        <p:spPr>
          <a:xfrm>
            <a:off x="4030133" y="2698044"/>
            <a:ext cx="3358990" cy="36314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accent6">
                    <a:lumMod val="50000"/>
                  </a:schemeClr>
                </a:solidFill>
              </a:rPr>
              <a:t>종속 관계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0C67E48-8DAD-94E8-FE7A-45F56B4417AD}"/>
              </a:ext>
            </a:extLst>
          </p:cNvPr>
          <p:cNvSpPr/>
          <p:nvPr/>
        </p:nvSpPr>
        <p:spPr>
          <a:xfrm>
            <a:off x="7392316" y="2698044"/>
            <a:ext cx="3358990" cy="36314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accent6">
                    <a:lumMod val="50000"/>
                  </a:schemeClr>
                </a:solidFill>
              </a:rPr>
              <a:t>참조 관계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D26A842-981F-2FFD-C818-180B996F0B5B}"/>
              </a:ext>
            </a:extLst>
          </p:cNvPr>
          <p:cNvSpPr/>
          <p:nvPr/>
        </p:nvSpPr>
        <p:spPr>
          <a:xfrm>
            <a:off x="2710734" y="3056076"/>
            <a:ext cx="1321303" cy="15655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accent2">
                    <a:lumMod val="50000"/>
                  </a:schemeClr>
                </a:solidFill>
              </a:rPr>
              <a:t>식별 관계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3CA4F62-CF73-0DC7-8A20-9C0ABACF1022}"/>
              </a:ext>
            </a:extLst>
          </p:cNvPr>
          <p:cNvSpPr/>
          <p:nvPr/>
        </p:nvSpPr>
        <p:spPr>
          <a:xfrm>
            <a:off x="2710734" y="4621604"/>
            <a:ext cx="1321303" cy="15655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b="1" dirty="0" err="1">
                <a:solidFill>
                  <a:schemeClr val="accent2">
                    <a:lumMod val="50000"/>
                  </a:schemeClr>
                </a:solidFill>
              </a:rPr>
              <a:t>비식별</a:t>
            </a:r>
            <a:r>
              <a:rPr lang="ko-KR" altLang="en-US" sz="1600" b="1" dirty="0">
                <a:solidFill>
                  <a:schemeClr val="accent2">
                    <a:lumMod val="50000"/>
                  </a:schemeClr>
                </a:solidFill>
              </a:rPr>
              <a:t> 관계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CA20CF5-8E83-5954-D197-4E4B0414A23E}"/>
              </a:ext>
            </a:extLst>
          </p:cNvPr>
          <p:cNvSpPr/>
          <p:nvPr/>
        </p:nvSpPr>
        <p:spPr>
          <a:xfrm>
            <a:off x="4030133" y="2337244"/>
            <a:ext cx="6721174" cy="36314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accent6">
                    <a:lumMod val="50000"/>
                  </a:schemeClr>
                </a:solidFill>
              </a:rPr>
              <a:t>성격을 파악하는 논리적 개념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B07E767-CA58-DF28-F2B9-8293D96999CF}"/>
              </a:ext>
            </a:extLst>
          </p:cNvPr>
          <p:cNvSpPr/>
          <p:nvPr/>
        </p:nvSpPr>
        <p:spPr>
          <a:xfrm>
            <a:off x="1059258" y="3056078"/>
            <a:ext cx="1661369" cy="3127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accent2">
                    <a:lumMod val="50000"/>
                  </a:schemeClr>
                </a:solidFill>
              </a:rPr>
              <a:t>CASE Tool</a:t>
            </a:r>
          </a:p>
          <a:p>
            <a:pPr algn="ctr"/>
            <a:r>
              <a:rPr lang="ko-KR" altLang="en-US" sz="1400" b="1" dirty="0">
                <a:solidFill>
                  <a:schemeClr val="accent2">
                    <a:lumMod val="50000"/>
                  </a:schemeClr>
                </a:solidFill>
              </a:rPr>
              <a:t>물리적 표기 방법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660140C-EC64-AD52-C45C-39C38CBA81C2}"/>
              </a:ext>
            </a:extLst>
          </p:cNvPr>
          <p:cNvSpPr/>
          <p:nvPr/>
        </p:nvSpPr>
        <p:spPr>
          <a:xfrm>
            <a:off x="1059258" y="2337244"/>
            <a:ext cx="2970874" cy="71843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A52C3EEE-0F67-23B4-71A0-C5B57CBAF8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9224" y="3117856"/>
            <a:ext cx="2810267" cy="1457528"/>
          </a:xfrm>
          <a:prstGeom prst="rect">
            <a:avLst/>
          </a:prstGeom>
        </p:spPr>
      </p:pic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D2D3B979-86CF-2CB4-92C2-333137F93317}"/>
              </a:ext>
            </a:extLst>
          </p:cNvPr>
          <p:cNvSpPr/>
          <p:nvPr/>
        </p:nvSpPr>
        <p:spPr>
          <a:xfrm>
            <a:off x="8624704" y="3405587"/>
            <a:ext cx="433535" cy="172987"/>
          </a:xfrm>
          <a:prstGeom prst="roundRect">
            <a:avLst>
              <a:gd name="adj" fmla="val 23363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A34CE870-EA08-B3EC-53E8-84F48E8E1715}"/>
              </a:ext>
            </a:extLst>
          </p:cNvPr>
          <p:cNvSpPr/>
          <p:nvPr/>
        </p:nvSpPr>
        <p:spPr>
          <a:xfrm>
            <a:off x="8624703" y="4959081"/>
            <a:ext cx="433535" cy="172987"/>
          </a:xfrm>
          <a:prstGeom prst="roundRect">
            <a:avLst>
              <a:gd name="adj" fmla="val 23363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974E356-D041-A70B-2AFC-75A618466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183</a:t>
            </a:fld>
            <a:endParaRPr lang="ko-KR" altLang="en-US" dirty="0"/>
          </a:p>
        </p:txBody>
      </p:sp>
      <p:sp>
        <p:nvSpPr>
          <p:cNvPr id="24" name="곱하기 기호 23">
            <a:extLst>
              <a:ext uri="{FF2B5EF4-FFF2-40B4-BE49-F238E27FC236}">
                <a16:creationId xmlns:a16="http://schemas.microsoft.com/office/drawing/2014/main" id="{341CD37B-3725-4688-910B-FD6200097C53}"/>
              </a:ext>
            </a:extLst>
          </p:cNvPr>
          <p:cNvSpPr/>
          <p:nvPr/>
        </p:nvSpPr>
        <p:spPr>
          <a:xfrm>
            <a:off x="8185492" y="3055680"/>
            <a:ext cx="1619938" cy="1567081"/>
          </a:xfrm>
          <a:prstGeom prst="mathMultiply">
            <a:avLst>
              <a:gd name="adj1" fmla="val 13122"/>
            </a:avLst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rgbClr val="C00000"/>
                </a:solidFill>
              </a:rPr>
              <a:t>최악</a:t>
            </a:r>
          </a:p>
        </p:txBody>
      </p:sp>
      <p:sp>
        <p:nvSpPr>
          <p:cNvPr id="3" name="순서도: 연결자 2">
            <a:extLst>
              <a:ext uri="{FF2B5EF4-FFF2-40B4-BE49-F238E27FC236}">
                <a16:creationId xmlns:a16="http://schemas.microsoft.com/office/drawing/2014/main" id="{53DC0EE8-A735-4DA4-94E1-A79590B68AF2}"/>
              </a:ext>
            </a:extLst>
          </p:cNvPr>
          <p:cNvSpPr/>
          <p:nvPr/>
        </p:nvSpPr>
        <p:spPr>
          <a:xfrm>
            <a:off x="5137168" y="3457813"/>
            <a:ext cx="821246" cy="773231"/>
          </a:xfrm>
          <a:prstGeom prst="flowChartConnector">
            <a:avLst/>
          </a:prstGeom>
          <a:solidFill>
            <a:schemeClr val="accent1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rgbClr val="C00000"/>
              </a:solidFill>
            </a:endParaRPr>
          </a:p>
        </p:txBody>
      </p:sp>
      <p:sp>
        <p:nvSpPr>
          <p:cNvPr id="37" name="순서도: 연결자 36">
            <a:extLst>
              <a:ext uri="{FF2B5EF4-FFF2-40B4-BE49-F238E27FC236}">
                <a16:creationId xmlns:a16="http://schemas.microsoft.com/office/drawing/2014/main" id="{3A874A6B-3D80-4973-8695-310A2A2FB8F0}"/>
              </a:ext>
            </a:extLst>
          </p:cNvPr>
          <p:cNvSpPr/>
          <p:nvPr/>
        </p:nvSpPr>
        <p:spPr>
          <a:xfrm>
            <a:off x="8430847" y="4887038"/>
            <a:ext cx="821246" cy="773231"/>
          </a:xfrm>
          <a:prstGeom prst="flowChartConnector">
            <a:avLst/>
          </a:prstGeom>
          <a:solidFill>
            <a:schemeClr val="accent1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rgbClr val="C00000"/>
              </a:solidFill>
            </a:endParaRPr>
          </a:p>
        </p:txBody>
      </p:sp>
      <p:sp>
        <p:nvSpPr>
          <p:cNvPr id="5" name="이등변 삼각형 4">
            <a:extLst>
              <a:ext uri="{FF2B5EF4-FFF2-40B4-BE49-F238E27FC236}">
                <a16:creationId xmlns:a16="http://schemas.microsoft.com/office/drawing/2014/main" id="{444BC983-DFD3-46A9-A165-4FAE1F225931}"/>
              </a:ext>
            </a:extLst>
          </p:cNvPr>
          <p:cNvSpPr/>
          <p:nvPr/>
        </p:nvSpPr>
        <p:spPr>
          <a:xfrm>
            <a:off x="5156787" y="4862142"/>
            <a:ext cx="858984" cy="683338"/>
          </a:xfrm>
          <a:prstGeom prst="triangle">
            <a:avLst/>
          </a:prstGeom>
          <a:solidFill>
            <a:srgbClr val="FFC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8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725598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2BC224-4BEC-404A-B0A8-D711A4C33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0247"/>
          </a:xfrm>
        </p:spPr>
        <p:txBody>
          <a:bodyPr/>
          <a:lstStyle/>
          <a:p>
            <a:r>
              <a:rPr lang="ko-KR" altLang="en-US" dirty="0"/>
              <a:t>종속관계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7EE16A-5D51-448C-93D7-62A21FD69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184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3000645-9AF8-4F63-817B-0D121F030B0C}"/>
              </a:ext>
            </a:extLst>
          </p:cNvPr>
          <p:cNvSpPr/>
          <p:nvPr/>
        </p:nvSpPr>
        <p:spPr>
          <a:xfrm>
            <a:off x="594046" y="3756249"/>
            <a:ext cx="1810139" cy="6111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/>
              <a:t>관계 종속성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3EB8C49-96F7-4C6E-8F92-6A2320BFF7F9}"/>
              </a:ext>
            </a:extLst>
          </p:cNvPr>
          <p:cNvSpPr/>
          <p:nvPr/>
        </p:nvSpPr>
        <p:spPr>
          <a:xfrm>
            <a:off x="3107094" y="2432635"/>
            <a:ext cx="1810139" cy="6111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/>
              <a:t>종속 관계</a:t>
            </a:r>
            <a:endParaRPr lang="ko-KR" altLang="en-US" sz="14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EFF97C7-42DC-497F-877F-CD75FF811146}"/>
              </a:ext>
            </a:extLst>
          </p:cNvPr>
          <p:cNvSpPr/>
          <p:nvPr/>
        </p:nvSpPr>
        <p:spPr>
          <a:xfrm>
            <a:off x="3107093" y="4984559"/>
            <a:ext cx="1810139" cy="6111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참조 관계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725431F-084D-4B2B-ACA1-B9512223DF8E}"/>
              </a:ext>
            </a:extLst>
          </p:cNvPr>
          <p:cNvSpPr/>
          <p:nvPr/>
        </p:nvSpPr>
        <p:spPr>
          <a:xfrm>
            <a:off x="5551715" y="1998380"/>
            <a:ext cx="1810139" cy="6111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rgbClr val="FFC000"/>
                </a:solidFill>
              </a:rPr>
              <a:t>존재 종속 관계</a:t>
            </a:r>
            <a:endParaRPr lang="ko-KR" altLang="en-US" sz="1400" b="1" dirty="0">
              <a:solidFill>
                <a:srgbClr val="FFC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81E8E4C-ADF0-4E7C-AF91-2F1DF28DFBA4}"/>
              </a:ext>
            </a:extLst>
          </p:cNvPr>
          <p:cNvSpPr/>
          <p:nvPr/>
        </p:nvSpPr>
        <p:spPr>
          <a:xfrm>
            <a:off x="5551715" y="2870792"/>
            <a:ext cx="1810139" cy="6111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rgbClr val="FFC000"/>
                </a:solidFill>
              </a:rPr>
              <a:t>업무 종속 관계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2D77A0C-32A6-427C-9BD9-D700113FA148}"/>
              </a:ext>
            </a:extLst>
          </p:cNvPr>
          <p:cNvSpPr/>
          <p:nvPr/>
        </p:nvSpPr>
        <p:spPr>
          <a:xfrm>
            <a:off x="8431766" y="2434586"/>
            <a:ext cx="3153747" cy="6111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rgbClr val="FFC000"/>
                </a:solidFill>
              </a:rPr>
              <a:t>식별 업무 종속 관계</a:t>
            </a:r>
            <a:endParaRPr lang="ko-KR" altLang="en-US" sz="1400" b="1" dirty="0">
              <a:solidFill>
                <a:srgbClr val="FFC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F55656-10F0-4ABB-8694-FB4375FCAA6B}"/>
              </a:ext>
            </a:extLst>
          </p:cNvPr>
          <p:cNvSpPr/>
          <p:nvPr/>
        </p:nvSpPr>
        <p:spPr>
          <a:xfrm>
            <a:off x="8431766" y="3305047"/>
            <a:ext cx="3153747" cy="6111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>
                <a:solidFill>
                  <a:schemeClr val="bg1">
                    <a:lumMod val="75000"/>
                  </a:schemeClr>
                </a:solidFill>
              </a:rPr>
              <a:t>비식별</a:t>
            </a:r>
            <a:r>
              <a:rPr lang="ko-KR" altLang="en-US" sz="1400" b="1" dirty="0">
                <a:solidFill>
                  <a:schemeClr val="bg1">
                    <a:lumMod val="75000"/>
                  </a:schemeClr>
                </a:solidFill>
              </a:rPr>
              <a:t> 업무 종속 관계</a:t>
            </a: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CCB9D7DA-4D5C-4C99-AC72-06B323C1A0E9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2404185" y="2738213"/>
            <a:ext cx="702909" cy="132361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1FDC08A4-442A-4AE2-87AC-2B42DE418ED5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2404185" y="4061827"/>
            <a:ext cx="702908" cy="122831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74FE15A7-32EF-48A7-A384-A2FFBC704433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4917233" y="2738213"/>
            <a:ext cx="634482" cy="43815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0347295F-9550-4621-8809-CA7DDEC0BBF7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4917233" y="2303958"/>
            <a:ext cx="634482" cy="43425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361A3AE2-5901-4ACE-8CC9-12DE57EE2E95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7361854" y="2740164"/>
            <a:ext cx="1069912" cy="43620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75ACE4C2-407F-4194-BC21-E804E6FB69C6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7361854" y="3176370"/>
            <a:ext cx="1069912" cy="43425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그림 33">
            <a:extLst>
              <a:ext uri="{FF2B5EF4-FFF2-40B4-BE49-F238E27FC236}">
                <a16:creationId xmlns:a16="http://schemas.microsoft.com/office/drawing/2014/main" id="{8CC566FC-8190-4523-A3F2-09CC45174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605" y="3552960"/>
            <a:ext cx="2324424" cy="952633"/>
          </a:xfrm>
          <a:prstGeom prst="rect">
            <a:avLst/>
          </a:prstGeom>
        </p:spPr>
      </p:pic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7640B1E0-020B-4602-80AC-8C700520AB91}"/>
              </a:ext>
            </a:extLst>
          </p:cNvPr>
          <p:cNvSpPr/>
          <p:nvPr/>
        </p:nvSpPr>
        <p:spPr>
          <a:xfrm>
            <a:off x="6639502" y="3740257"/>
            <a:ext cx="845487" cy="386745"/>
          </a:xfrm>
          <a:prstGeom prst="roundRect">
            <a:avLst>
              <a:gd name="adj" fmla="val 5849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BF692A4E-FDB5-4066-986F-EC75E0BA4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593" y="1001502"/>
            <a:ext cx="2276793" cy="933580"/>
          </a:xfrm>
          <a:prstGeom prst="rect">
            <a:avLst/>
          </a:prstGeom>
        </p:spPr>
      </p:pic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FA4F8823-EC55-4BF8-899F-FEBD00F38CB0}"/>
              </a:ext>
            </a:extLst>
          </p:cNvPr>
          <p:cNvSpPr/>
          <p:nvPr/>
        </p:nvSpPr>
        <p:spPr>
          <a:xfrm>
            <a:off x="6587669" y="1204394"/>
            <a:ext cx="842211" cy="174909"/>
          </a:xfrm>
          <a:prstGeom prst="roundRect">
            <a:avLst>
              <a:gd name="adj" fmla="val 5849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C6F2CE5-2A46-40DC-90AF-702EC75D6702}"/>
              </a:ext>
            </a:extLst>
          </p:cNvPr>
          <p:cNvSpPr/>
          <p:nvPr/>
        </p:nvSpPr>
        <p:spPr>
          <a:xfrm>
            <a:off x="8431766" y="4569597"/>
            <a:ext cx="3153747" cy="6111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bg1">
                    <a:lumMod val="75000"/>
                  </a:schemeClr>
                </a:solidFill>
              </a:rPr>
              <a:t>식별 업무 종속 관계</a:t>
            </a:r>
            <a:endParaRPr lang="ko-KR" altLang="en-US" sz="1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5880472-6D99-4EE1-BDCC-C8EB87E45EFD}"/>
              </a:ext>
            </a:extLst>
          </p:cNvPr>
          <p:cNvSpPr/>
          <p:nvPr/>
        </p:nvSpPr>
        <p:spPr>
          <a:xfrm>
            <a:off x="8431766" y="5440058"/>
            <a:ext cx="3153747" cy="6111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>
                <a:solidFill>
                  <a:srgbClr val="FFC000"/>
                </a:solidFill>
              </a:rPr>
              <a:t>비식별</a:t>
            </a:r>
            <a:r>
              <a:rPr lang="ko-KR" altLang="en-US" sz="1400" b="1" dirty="0">
                <a:solidFill>
                  <a:srgbClr val="FFC000"/>
                </a:solidFill>
              </a:rPr>
              <a:t> 업무 종속 관계</a:t>
            </a:r>
          </a:p>
        </p:txBody>
      </p: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9E23B0C2-F819-4554-B719-52D8C8AA90EA}"/>
              </a:ext>
            </a:extLst>
          </p:cNvPr>
          <p:cNvCxnSpPr>
            <a:cxnSpLocks/>
            <a:stCxn id="7" idx="3"/>
            <a:endCxn id="42" idx="1"/>
          </p:cNvCxnSpPr>
          <p:nvPr/>
        </p:nvCxnSpPr>
        <p:spPr>
          <a:xfrm flipV="1">
            <a:off x="4917232" y="4875175"/>
            <a:ext cx="3514534" cy="41496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9E4B2223-08C6-4556-A0E1-AE6AB18AE8B5}"/>
              </a:ext>
            </a:extLst>
          </p:cNvPr>
          <p:cNvCxnSpPr>
            <a:cxnSpLocks/>
            <a:stCxn id="7" idx="3"/>
            <a:endCxn id="43" idx="1"/>
          </p:cNvCxnSpPr>
          <p:nvPr/>
        </p:nvCxnSpPr>
        <p:spPr>
          <a:xfrm>
            <a:off x="4917232" y="5290137"/>
            <a:ext cx="3514534" cy="45549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383242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112506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b="1" dirty="0">
                <a:latin typeface="+mn-ea"/>
              </a:rPr>
              <a:t>종속관계와 참조 관계</a:t>
            </a:r>
            <a:endParaRPr lang="en-US" altLang="ko-KR" b="1" u="sng" dirty="0">
              <a:latin typeface="+mn-ea"/>
            </a:endParaRPr>
          </a:p>
          <a:p>
            <a:pPr lvl="4"/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종속 관계는 부모 </a:t>
            </a:r>
            <a:r>
              <a:rPr lang="ko-KR" altLang="en-US" sz="1600" dirty="0" err="1">
                <a:latin typeface="+mn-ea"/>
              </a:rPr>
              <a:t>엔터티와</a:t>
            </a:r>
            <a:r>
              <a:rPr lang="ko-KR" altLang="en-US" sz="1600" dirty="0">
                <a:latin typeface="+mn-ea"/>
              </a:rPr>
              <a:t> 자식 </a:t>
            </a:r>
            <a:r>
              <a:rPr lang="ko-KR" altLang="en-US" sz="1600" dirty="0" err="1">
                <a:latin typeface="+mn-ea"/>
              </a:rPr>
              <a:t>엔터티</a:t>
            </a:r>
            <a:r>
              <a:rPr lang="ko-KR" altLang="en-US" sz="1600" dirty="0">
                <a:latin typeface="+mn-ea"/>
              </a:rPr>
              <a:t> 간의 관계로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이 관계에서는 부모 </a:t>
            </a:r>
            <a:r>
              <a:rPr lang="ko-KR" altLang="en-US" sz="1600" dirty="0" err="1">
                <a:latin typeface="+mn-ea"/>
              </a:rPr>
              <a:t>엔터티가</a:t>
            </a:r>
            <a:r>
              <a:rPr lang="ko-KR" altLang="en-US" sz="1600" dirty="0">
                <a:latin typeface="+mn-ea"/>
              </a:rPr>
              <a:t> 없으면 자식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 err="1">
                <a:latin typeface="+mn-ea"/>
              </a:rPr>
              <a:t>엔터티가</a:t>
            </a:r>
            <a:r>
              <a:rPr lang="ko-KR" altLang="en-US" sz="1600" dirty="0">
                <a:latin typeface="+mn-ea"/>
              </a:rPr>
              <a:t> 존재할 수 없다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즉 자식 </a:t>
            </a:r>
            <a:r>
              <a:rPr lang="ko-KR" altLang="en-US" sz="1600" dirty="0" err="1">
                <a:latin typeface="+mn-ea"/>
              </a:rPr>
              <a:t>엔터티는</a:t>
            </a:r>
            <a:r>
              <a:rPr lang="ko-KR" altLang="en-US" sz="1600" dirty="0">
                <a:latin typeface="+mn-ea"/>
              </a:rPr>
              <a:t> 부모 </a:t>
            </a:r>
            <a:r>
              <a:rPr lang="ko-KR" altLang="en-US" sz="1600" dirty="0" err="1">
                <a:latin typeface="+mn-ea"/>
              </a:rPr>
              <a:t>엔터티에</a:t>
            </a:r>
            <a:r>
              <a:rPr lang="ko-KR" altLang="en-US" sz="1600" dirty="0">
                <a:latin typeface="+mn-ea"/>
              </a:rPr>
              <a:t> 존재 종속</a:t>
            </a:r>
            <a:r>
              <a:rPr lang="en-US" altLang="ko-KR" sz="1600" dirty="0">
                <a:latin typeface="+mn-ea"/>
              </a:rPr>
              <a:t>(Existence Dependency) </a:t>
            </a:r>
            <a:r>
              <a:rPr lang="ko-KR" altLang="en-US" sz="1600" dirty="0">
                <a:latin typeface="+mn-ea"/>
              </a:rPr>
              <a:t>되므로 홀로 존재할 수 없다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          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본질적 종속 관계</a:t>
            </a:r>
            <a:r>
              <a:rPr lang="ko-KR" altLang="en-US" sz="1600" dirty="0">
                <a:latin typeface="+mn-ea"/>
              </a:rPr>
              <a:t>                </a:t>
            </a:r>
            <a:r>
              <a:rPr lang="en-US" altLang="ko-KR" sz="1600" dirty="0">
                <a:latin typeface="+mn-ea"/>
              </a:rPr>
              <a:t>vs           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업무적 종속 관계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E36901-635F-A3C4-5FD5-FDA030225FD8}"/>
              </a:ext>
            </a:extLst>
          </p:cNvPr>
          <p:cNvSpPr txBox="1"/>
          <p:nvPr/>
        </p:nvSpPr>
        <p:spPr>
          <a:xfrm>
            <a:off x="1479438" y="4739709"/>
            <a:ext cx="41056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상품가격 </a:t>
            </a:r>
            <a:r>
              <a:rPr lang="ko-KR" altLang="en-US" sz="1200" dirty="0" err="1"/>
              <a:t>엔터티는</a:t>
            </a:r>
            <a:r>
              <a:rPr lang="ko-KR" altLang="en-US" sz="1200" dirty="0"/>
              <a:t> 상품 </a:t>
            </a:r>
            <a:r>
              <a:rPr lang="ko-KR" altLang="en-US" sz="1200" dirty="0" err="1"/>
              <a:t>엔터티가</a:t>
            </a:r>
            <a:r>
              <a:rPr lang="ko-KR" altLang="en-US" sz="1200" dirty="0"/>
              <a:t> 없으면 존재할 수 없음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3795C7-9BEA-2350-054D-50003B6F5CA9}"/>
              </a:ext>
            </a:extLst>
          </p:cNvPr>
          <p:cNvSpPr txBox="1"/>
          <p:nvPr/>
        </p:nvSpPr>
        <p:spPr>
          <a:xfrm>
            <a:off x="6265331" y="4739709"/>
            <a:ext cx="4854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리그가 없어도 팀은 존재할 수 있지만</a:t>
            </a:r>
            <a:r>
              <a:rPr lang="en-US" altLang="ko-KR" sz="1200" dirty="0"/>
              <a:t>,</a:t>
            </a:r>
          </a:p>
          <a:p>
            <a:r>
              <a:rPr lang="ko-KR" altLang="en-US" sz="1200" dirty="0"/>
              <a:t>팀은 리그에 종속된다는 업무요건이 있을 수 있는 모델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6DB347-DD78-9F84-6299-3B41BAE233D5}"/>
              </a:ext>
            </a:extLst>
          </p:cNvPr>
          <p:cNvSpPr txBox="1"/>
          <p:nvPr/>
        </p:nvSpPr>
        <p:spPr>
          <a:xfrm>
            <a:off x="1095023" y="5792895"/>
            <a:ext cx="1075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1200" dirty="0"/>
              <a:t> </a:t>
            </a:r>
            <a:r>
              <a:rPr lang="ko-KR" altLang="en-US" sz="1400" b="1" u="sng" dirty="0">
                <a:solidFill>
                  <a:srgbClr val="FF0000"/>
                </a:solidFill>
              </a:rPr>
              <a:t>기준 </a:t>
            </a:r>
            <a:r>
              <a:rPr lang="ko-KR" altLang="en-US" sz="1400" b="1" u="sng" dirty="0" err="1">
                <a:solidFill>
                  <a:srgbClr val="FF0000"/>
                </a:solidFill>
              </a:rPr>
              <a:t>엔터티의</a:t>
            </a:r>
            <a:r>
              <a:rPr lang="ko-KR" altLang="en-US" sz="1200" dirty="0"/>
              <a:t> 데이터가 바뀌면 </a:t>
            </a:r>
            <a:r>
              <a:rPr lang="ko-KR" altLang="en-US" sz="1400" b="1" u="sng" dirty="0">
                <a:solidFill>
                  <a:srgbClr val="FF0000"/>
                </a:solidFill>
              </a:rPr>
              <a:t>참조하는 데이터</a:t>
            </a:r>
            <a:r>
              <a:rPr lang="ko-KR" altLang="en-US" sz="1200" dirty="0"/>
              <a:t>를 </a:t>
            </a:r>
            <a:r>
              <a:rPr lang="ko-KR" altLang="en-US" sz="1400" b="1" u="sng" dirty="0">
                <a:solidFill>
                  <a:srgbClr val="FF0000"/>
                </a:solidFill>
              </a:rPr>
              <a:t>전부 바꿀 것인지</a:t>
            </a:r>
            <a:r>
              <a:rPr lang="en-US" altLang="ko-KR" sz="1400" b="1" u="sng" dirty="0">
                <a:solidFill>
                  <a:srgbClr val="FF0000"/>
                </a:solidFill>
              </a:rPr>
              <a:t>,</a:t>
            </a:r>
            <a:r>
              <a:rPr lang="ko-KR" altLang="en-US" sz="1400" b="1" u="sng" dirty="0">
                <a:solidFill>
                  <a:srgbClr val="FF0000"/>
                </a:solidFill>
              </a:rPr>
              <a:t> 바꾸지 말아야 하는지</a:t>
            </a:r>
            <a:r>
              <a:rPr lang="ko-KR" altLang="en-US" sz="1200" dirty="0"/>
              <a:t>를 숙고해야 한다. </a:t>
            </a:r>
            <a:endParaRPr lang="en-US" altLang="ko-KR" sz="1200" dirty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1200" dirty="0"/>
              <a:t> 대부분의 기준 데이터는 조회해서 참조하는 것이므로 참조 무결성 관계가 존재하지 않는 것이 일반적이지만</a:t>
            </a:r>
            <a:r>
              <a:rPr lang="en-US" altLang="ko-KR" sz="1200" dirty="0"/>
              <a:t>, </a:t>
            </a:r>
            <a:r>
              <a:rPr lang="ko-KR" altLang="en-US" sz="1200" dirty="0"/>
              <a:t>이 판단은 </a:t>
            </a:r>
            <a:r>
              <a:rPr lang="ko-KR" altLang="en-US" sz="1400" b="1" u="sng" dirty="0">
                <a:solidFill>
                  <a:srgbClr val="FF0000"/>
                </a:solidFill>
              </a:rPr>
              <a:t>업무 요건에 따라 달라진다</a:t>
            </a:r>
            <a:r>
              <a:rPr lang="ko-KR" altLang="en-US" sz="1200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4FC496B-3207-D554-E65D-7760005C6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334" y="3441081"/>
            <a:ext cx="2276793" cy="93358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B8A38B8-43E8-A3E6-9E00-FA7F042C8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331" y="3431555"/>
            <a:ext cx="2324424" cy="952633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D705DAC-3B7A-0247-BDF1-71CD5BAB5E6E}"/>
              </a:ext>
            </a:extLst>
          </p:cNvPr>
          <p:cNvSpPr/>
          <p:nvPr/>
        </p:nvSpPr>
        <p:spPr>
          <a:xfrm>
            <a:off x="3543748" y="3653304"/>
            <a:ext cx="842211" cy="174909"/>
          </a:xfrm>
          <a:prstGeom prst="roundRect">
            <a:avLst>
              <a:gd name="adj" fmla="val 5849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A051A40-B027-A84B-95BF-85E1169BA082}"/>
              </a:ext>
            </a:extLst>
          </p:cNvPr>
          <p:cNvSpPr/>
          <p:nvPr/>
        </p:nvSpPr>
        <p:spPr>
          <a:xfrm>
            <a:off x="7591228" y="3618852"/>
            <a:ext cx="845487" cy="386745"/>
          </a:xfrm>
          <a:prstGeom prst="roundRect">
            <a:avLst>
              <a:gd name="adj" fmla="val 5849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A41D3B-AB0A-BA2B-B353-FD9A18B0A3BA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관계 이야기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114232-E796-74BD-7567-72EBA87A2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185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2953236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1125066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b="1" dirty="0">
                <a:latin typeface="+mn-ea"/>
              </a:rPr>
              <a:t>종속관계와 참조 관계</a:t>
            </a:r>
            <a:endParaRPr lang="en-US" altLang="ko-KR" b="1" u="sng" dirty="0">
              <a:latin typeface="+mn-ea"/>
            </a:endParaRPr>
          </a:p>
          <a:p>
            <a:pPr lvl="4"/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인조식별자를 사용한 종속 관계와 종속 관계가 아닌 모델</a:t>
            </a: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ko-KR" altLang="en-US" sz="16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E36901-635F-A3C4-5FD5-FDA030225FD8}"/>
              </a:ext>
            </a:extLst>
          </p:cNvPr>
          <p:cNvSpPr txBox="1"/>
          <p:nvPr/>
        </p:nvSpPr>
        <p:spPr>
          <a:xfrm>
            <a:off x="2420401" y="3752686"/>
            <a:ext cx="1524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필수 속성으로 표현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3795C7-9BEA-2350-054D-50003B6F5CA9}"/>
              </a:ext>
            </a:extLst>
          </p:cNvPr>
          <p:cNvSpPr txBox="1"/>
          <p:nvPr/>
        </p:nvSpPr>
        <p:spPr>
          <a:xfrm>
            <a:off x="8194423" y="3162196"/>
            <a:ext cx="39260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1200" b="1" dirty="0">
                <a:solidFill>
                  <a:srgbClr val="FF0000"/>
                </a:solidFill>
              </a:rPr>
              <a:t>리그가 없는 팀이 존재한다는 요건을 반영하려면</a:t>
            </a:r>
            <a:r>
              <a:rPr lang="en-US" altLang="ko-KR" sz="1200" b="1" dirty="0">
                <a:solidFill>
                  <a:srgbClr val="FF0000"/>
                </a:solidFill>
              </a:rPr>
              <a:t>,</a:t>
            </a:r>
          </a:p>
          <a:p>
            <a:r>
              <a:rPr lang="ko-KR" altLang="en-US" sz="1600" b="1" u="sng" dirty="0">
                <a:solidFill>
                  <a:srgbClr val="FF0000"/>
                </a:solidFill>
              </a:rPr>
              <a:t>선택 속성</a:t>
            </a:r>
            <a:r>
              <a:rPr lang="ko-KR" altLang="en-US" sz="1200" b="1" dirty="0">
                <a:solidFill>
                  <a:srgbClr val="FF0000"/>
                </a:solidFill>
              </a:rPr>
              <a:t>으로 표현해야 한다</a:t>
            </a:r>
            <a:r>
              <a:rPr lang="en-US" altLang="ko-KR" sz="1200" b="1" dirty="0">
                <a:solidFill>
                  <a:srgbClr val="FF0000"/>
                </a:solidFill>
              </a:rPr>
              <a:t>.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25E7676-EE35-B292-8E08-BAF2570FC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718" y="2711843"/>
            <a:ext cx="3105583" cy="97168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A9C1840-33B1-4ABF-C553-53ACED635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894" y="2721370"/>
            <a:ext cx="2362530" cy="962159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BA90404-B3C7-F588-5765-C3148EDA9E65}"/>
              </a:ext>
            </a:extLst>
          </p:cNvPr>
          <p:cNvSpPr/>
          <p:nvPr/>
        </p:nvSpPr>
        <p:spPr>
          <a:xfrm>
            <a:off x="7172383" y="3240340"/>
            <a:ext cx="901932" cy="182266"/>
          </a:xfrm>
          <a:prstGeom prst="roundRect">
            <a:avLst>
              <a:gd name="adj" fmla="val 23363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51EDAE9-8DD6-F47A-0025-18356BDD467C}"/>
              </a:ext>
            </a:extLst>
          </p:cNvPr>
          <p:cNvSpPr/>
          <p:nvPr/>
        </p:nvSpPr>
        <p:spPr>
          <a:xfrm>
            <a:off x="3494211" y="3240340"/>
            <a:ext cx="901932" cy="182266"/>
          </a:xfrm>
          <a:prstGeom prst="roundRect">
            <a:avLst>
              <a:gd name="adj" fmla="val 23363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AF1E199-4334-0BEE-112C-D9E656E08D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0984" y="4614691"/>
            <a:ext cx="2248214" cy="94310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774D0739-CAEC-BB57-1E58-0AFFE03FB1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3887" y="4581349"/>
            <a:ext cx="2743583" cy="1009791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05AF9C1D-9A30-8E22-9588-8151D65AB9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2159" y="4600401"/>
            <a:ext cx="2724530" cy="9716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D05F84-26E1-3344-A640-DD2EBF3F7050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관계 이야기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1742507-4996-90A3-141E-ACEE71F7E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186</a:t>
            </a:fld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696D24-3F95-4603-99BD-018D7A3E1BE9}"/>
              </a:ext>
            </a:extLst>
          </p:cNvPr>
          <p:cNvSpPr txBox="1"/>
          <p:nvPr/>
        </p:nvSpPr>
        <p:spPr>
          <a:xfrm>
            <a:off x="1811711" y="2471715"/>
            <a:ext cx="36616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1200" b="1" dirty="0">
                <a:solidFill>
                  <a:srgbClr val="FF0000"/>
                </a:solidFill>
              </a:rPr>
              <a:t>업무요건 </a:t>
            </a:r>
            <a:r>
              <a:rPr lang="en-US" altLang="ko-KR" sz="1200" b="1" dirty="0">
                <a:solidFill>
                  <a:srgbClr val="FF0000"/>
                </a:solidFill>
              </a:rPr>
              <a:t>: </a:t>
            </a:r>
            <a:r>
              <a:rPr lang="ko-KR" altLang="en-US" sz="1200" b="1" dirty="0">
                <a:solidFill>
                  <a:srgbClr val="FF0000"/>
                </a:solidFill>
              </a:rPr>
              <a:t>리그가 없는 팀은 존재할 수 없다</a:t>
            </a:r>
            <a:r>
              <a:rPr lang="en-US" altLang="ko-KR" sz="1200" b="1" dirty="0">
                <a:solidFill>
                  <a:srgbClr val="FF0000"/>
                </a:solidFill>
              </a:rPr>
              <a:t>.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29B64A-F158-48E3-8EF3-74DBDA6AE3A2}"/>
              </a:ext>
            </a:extLst>
          </p:cNvPr>
          <p:cNvSpPr txBox="1"/>
          <p:nvPr/>
        </p:nvSpPr>
        <p:spPr>
          <a:xfrm>
            <a:off x="1527484" y="5615336"/>
            <a:ext cx="30700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부서와 사원은 별개의 </a:t>
            </a:r>
            <a:r>
              <a:rPr lang="ko-KR" altLang="en-US" sz="1200" b="1" dirty="0" err="1">
                <a:solidFill>
                  <a:srgbClr val="FF0000"/>
                </a:solidFill>
              </a:rPr>
              <a:t>엔터티이다</a:t>
            </a:r>
            <a:r>
              <a:rPr lang="en-US" altLang="ko-KR" sz="1200" b="1" dirty="0">
                <a:solidFill>
                  <a:srgbClr val="FF0000"/>
                </a:solidFill>
              </a:rPr>
              <a:t>.</a:t>
            </a:r>
          </a:p>
          <a:p>
            <a:r>
              <a:rPr lang="ko-KR" altLang="en-US" sz="1200" b="1" dirty="0">
                <a:solidFill>
                  <a:srgbClr val="FF0000"/>
                </a:solidFill>
              </a:rPr>
              <a:t>관계만 존재할 뿐이다</a:t>
            </a:r>
            <a:r>
              <a:rPr lang="en-US" altLang="ko-KR" sz="1200" b="1" dirty="0">
                <a:solidFill>
                  <a:srgbClr val="FF0000"/>
                </a:solidFill>
              </a:rPr>
              <a:t>.</a:t>
            </a:r>
          </a:p>
          <a:p>
            <a:r>
              <a:rPr lang="ko-KR" altLang="en-US" sz="1200" b="1" dirty="0" err="1">
                <a:solidFill>
                  <a:srgbClr val="FF0000"/>
                </a:solidFill>
              </a:rPr>
              <a:t>부모엔터티</a:t>
            </a:r>
            <a:r>
              <a:rPr lang="ko-KR" altLang="en-US" sz="1200" b="1" dirty="0">
                <a:solidFill>
                  <a:srgbClr val="FF0000"/>
                </a:solidFill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r>
              <a:rPr lang="ko-KR" altLang="en-US" sz="1200" b="1" dirty="0" err="1">
                <a:solidFill>
                  <a:srgbClr val="FF0000"/>
                </a:solidFill>
              </a:rPr>
              <a:t>자식엔터티</a:t>
            </a:r>
            <a:r>
              <a:rPr lang="ko-KR" altLang="en-US" sz="1200" b="1" dirty="0">
                <a:solidFill>
                  <a:srgbClr val="FF0000"/>
                </a:solidFill>
              </a:rPr>
              <a:t> 관계가 아니라</a:t>
            </a:r>
            <a:r>
              <a:rPr lang="en-US" altLang="ko-KR" sz="1200" b="1" dirty="0">
                <a:solidFill>
                  <a:srgbClr val="FF0000"/>
                </a:solidFill>
              </a:rPr>
              <a:t>.</a:t>
            </a:r>
          </a:p>
          <a:p>
            <a:r>
              <a:rPr lang="ko-KR" altLang="en-US" sz="1200" b="1" dirty="0" err="1">
                <a:solidFill>
                  <a:srgbClr val="FF0000"/>
                </a:solidFill>
              </a:rPr>
              <a:t>상위엔터티</a:t>
            </a:r>
            <a:r>
              <a:rPr lang="ko-KR" altLang="en-US" sz="1200" b="1" dirty="0">
                <a:solidFill>
                  <a:srgbClr val="FF0000"/>
                </a:solidFill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r>
              <a:rPr lang="ko-KR" altLang="en-US" sz="1200" b="1" dirty="0">
                <a:solidFill>
                  <a:srgbClr val="FF0000"/>
                </a:solidFill>
                <a:sym typeface="Wingdings" panose="05000000000000000000" pitchFamily="2" charset="2"/>
              </a:rPr>
              <a:t>하위 </a:t>
            </a:r>
            <a:r>
              <a:rPr lang="ko-KR" altLang="en-US" sz="12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엔터티로</a:t>
            </a:r>
            <a:r>
              <a:rPr lang="ko-KR" altLang="en-US" sz="1200" b="1" dirty="0">
                <a:solidFill>
                  <a:srgbClr val="FF0000"/>
                </a:solidFill>
                <a:sym typeface="Wingdings" panose="05000000000000000000" pitchFamily="2" charset="2"/>
              </a:rPr>
              <a:t> 구분한다</a:t>
            </a:r>
            <a:r>
              <a:rPr lang="en-US" altLang="ko-KR" sz="1200" b="1" dirty="0">
                <a:solidFill>
                  <a:srgbClr val="FF0000"/>
                </a:solidFill>
                <a:sym typeface="Wingdings" panose="05000000000000000000" pitchFamily="2" charset="2"/>
              </a:rPr>
              <a:t>.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8412534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1125066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b="1" dirty="0">
                <a:latin typeface="+mn-ea"/>
              </a:rPr>
              <a:t>식별 관계와 비식별관계</a:t>
            </a:r>
            <a:endParaRPr lang="en-US" altLang="ko-KR" b="1" u="sng" dirty="0">
              <a:latin typeface="+mn-ea"/>
            </a:endParaRPr>
          </a:p>
          <a:p>
            <a:pPr lvl="4"/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주 식별자를 하위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자식</a:t>
            </a:r>
            <a:r>
              <a:rPr lang="en-US" altLang="ko-KR" sz="1600" dirty="0">
                <a:latin typeface="+mn-ea"/>
              </a:rPr>
              <a:t>) </a:t>
            </a:r>
            <a:r>
              <a:rPr lang="ko-KR" altLang="en-US" sz="1600" dirty="0" err="1">
                <a:latin typeface="+mn-ea"/>
              </a:rPr>
              <a:t>엔터티에</a:t>
            </a:r>
            <a:r>
              <a:rPr lang="ko-KR" altLang="en-US" sz="1600" dirty="0">
                <a:latin typeface="+mn-ea"/>
              </a:rPr>
              <a:t> 어떻게 상속하는가에 따라 </a:t>
            </a: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식별 관계</a:t>
            </a:r>
            <a:r>
              <a:rPr lang="en-US" altLang="ko-KR" sz="1600" dirty="0">
                <a:latin typeface="+mn-ea"/>
              </a:rPr>
              <a:t>(Identifying Relationship)</a:t>
            </a:r>
            <a:r>
              <a:rPr lang="ko-KR" altLang="en-US" sz="1600" dirty="0">
                <a:latin typeface="+mn-ea"/>
              </a:rPr>
              <a:t>와 </a:t>
            </a:r>
            <a:r>
              <a:rPr lang="ko-KR" altLang="en-US" sz="1600" dirty="0" err="1">
                <a:latin typeface="+mn-ea"/>
              </a:rPr>
              <a:t>비식별</a:t>
            </a:r>
            <a:r>
              <a:rPr lang="ko-KR" altLang="en-US" sz="1600" dirty="0">
                <a:latin typeface="+mn-ea"/>
              </a:rPr>
              <a:t> 관계</a:t>
            </a:r>
            <a:r>
              <a:rPr lang="en-US" altLang="ko-KR" sz="1600" dirty="0">
                <a:latin typeface="+mn-ea"/>
              </a:rPr>
              <a:t>(Non-Identifying Relationship)</a:t>
            </a:r>
            <a:r>
              <a:rPr lang="ko-KR" altLang="en-US" sz="1600" dirty="0">
                <a:latin typeface="+mn-ea"/>
              </a:rPr>
              <a:t>로 나눌 수 있다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이를 관계 타입</a:t>
            </a:r>
            <a:r>
              <a:rPr lang="en-US" altLang="ko-KR" sz="1600" dirty="0">
                <a:latin typeface="+mn-ea"/>
              </a:rPr>
              <a:t>(Relationship Type)</a:t>
            </a:r>
            <a:r>
              <a:rPr lang="ko-KR" altLang="en-US" sz="1600" dirty="0">
                <a:latin typeface="+mn-ea"/>
              </a:rPr>
              <a:t>이라고 한다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종속</a:t>
            </a:r>
            <a:r>
              <a:rPr lang="en-US" altLang="ko-KR" sz="1600" dirty="0">
                <a:latin typeface="+mn-ea"/>
              </a:rPr>
              <a:t>•</a:t>
            </a:r>
            <a:r>
              <a:rPr lang="ko-KR" altLang="en-US" sz="1600" dirty="0">
                <a:latin typeface="+mn-ea"/>
              </a:rPr>
              <a:t>참조 관계는 식별</a:t>
            </a:r>
            <a:r>
              <a:rPr lang="en-US" altLang="ko-KR" sz="1600" dirty="0">
                <a:latin typeface="+mn-ea"/>
              </a:rPr>
              <a:t>•</a:t>
            </a:r>
            <a:r>
              <a:rPr lang="ko-KR" altLang="en-US" sz="1600" dirty="0" err="1">
                <a:latin typeface="+mn-ea"/>
              </a:rPr>
              <a:t>비식별</a:t>
            </a:r>
            <a:r>
              <a:rPr lang="ko-KR" altLang="en-US" sz="1600" dirty="0">
                <a:latin typeface="+mn-ea"/>
              </a:rPr>
              <a:t> 관계를 선택하는 기준이 된다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아래의 두 </a:t>
            </a:r>
            <a:r>
              <a:rPr lang="ko-KR" altLang="en-US" sz="1600" dirty="0" err="1">
                <a:latin typeface="+mn-ea"/>
              </a:rPr>
              <a:t>엔터티가</a:t>
            </a:r>
            <a:r>
              <a:rPr lang="ko-KR" altLang="en-US" sz="1600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종속 관계</a:t>
            </a:r>
            <a:r>
              <a:rPr lang="ko-KR" altLang="en-US" sz="1600" dirty="0">
                <a:latin typeface="+mn-ea"/>
              </a:rPr>
              <a:t>일 때는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식별 관계</a:t>
            </a:r>
            <a:r>
              <a:rPr lang="ko-KR" altLang="en-US" sz="1600" dirty="0">
                <a:latin typeface="+mn-ea"/>
              </a:rPr>
              <a:t>를 사용하는 것이 기본 원칙이다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단</a:t>
            </a:r>
            <a:r>
              <a:rPr lang="en-US" altLang="ko-KR" sz="1600" dirty="0">
                <a:latin typeface="+mn-ea"/>
              </a:rPr>
              <a:t>,</a:t>
            </a:r>
            <a:r>
              <a:rPr lang="ko-KR" altLang="en-US" sz="1600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0070C0"/>
                </a:solidFill>
                <a:latin typeface="+mn-ea"/>
              </a:rPr>
              <a:t>참조 관계</a:t>
            </a:r>
            <a:r>
              <a:rPr lang="ko-KR" altLang="en-US" sz="1600" dirty="0">
                <a:latin typeface="+mn-ea"/>
              </a:rPr>
              <a:t>일 때는 </a:t>
            </a:r>
            <a:r>
              <a:rPr lang="ko-KR" altLang="en-US" sz="1600" b="1" u="sng" dirty="0" err="1">
                <a:solidFill>
                  <a:srgbClr val="0070C0"/>
                </a:solidFill>
                <a:latin typeface="+mn-ea"/>
              </a:rPr>
              <a:t>비식별</a:t>
            </a:r>
            <a:r>
              <a:rPr lang="ko-KR" altLang="en-US" sz="1600" b="1" u="sng" dirty="0">
                <a:solidFill>
                  <a:srgbClr val="0070C0"/>
                </a:solidFill>
                <a:latin typeface="+mn-ea"/>
              </a:rPr>
              <a:t> 관계</a:t>
            </a:r>
            <a:r>
              <a:rPr lang="ko-KR" altLang="en-US" sz="1600" dirty="0">
                <a:latin typeface="+mn-ea"/>
              </a:rPr>
              <a:t>를 사용해야 한다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A843770-BD2B-9BCD-AD39-E62794580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189" y="4483209"/>
            <a:ext cx="2343477" cy="96215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ADBC016-6E84-A946-3571-BC9D79AD8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865" y="4483209"/>
            <a:ext cx="2333951" cy="962159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C15A159-03CD-ECDF-C1D5-BF2C1DC8BF0D}"/>
              </a:ext>
            </a:extLst>
          </p:cNvPr>
          <p:cNvSpPr/>
          <p:nvPr/>
        </p:nvSpPr>
        <p:spPr>
          <a:xfrm>
            <a:off x="7738831" y="4691710"/>
            <a:ext cx="901932" cy="182266"/>
          </a:xfrm>
          <a:prstGeom prst="roundRect">
            <a:avLst>
              <a:gd name="adj" fmla="val 23363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35AB19D-8F87-ABB2-4A71-E646188074B0}"/>
              </a:ext>
            </a:extLst>
          </p:cNvPr>
          <p:cNvSpPr/>
          <p:nvPr/>
        </p:nvSpPr>
        <p:spPr>
          <a:xfrm>
            <a:off x="3121677" y="4691710"/>
            <a:ext cx="901932" cy="343135"/>
          </a:xfrm>
          <a:prstGeom prst="roundRect">
            <a:avLst>
              <a:gd name="adj" fmla="val 23363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08E1AC-59FF-1DDD-B8BC-0CDC7B0D2E8C}"/>
              </a:ext>
            </a:extLst>
          </p:cNvPr>
          <p:cNvSpPr txBox="1"/>
          <p:nvPr/>
        </p:nvSpPr>
        <p:spPr>
          <a:xfrm>
            <a:off x="1351056" y="5576036"/>
            <a:ext cx="435402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b="1" dirty="0"/>
              <a:t>식별관계는 업무 요건을 명확하게 표현하고 관리한다</a:t>
            </a:r>
            <a:endParaRPr lang="en-US" altLang="ko-KR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b="1" dirty="0"/>
              <a:t>리그번호 속성이 주 식별자에 속하기 때문에 널이면 안 된다</a:t>
            </a:r>
            <a:r>
              <a:rPr lang="en-US" altLang="ko-KR" sz="1100" b="1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b="1" dirty="0" err="1"/>
              <a:t>리그별</a:t>
            </a:r>
            <a:r>
              <a:rPr lang="ko-KR" altLang="en-US" sz="1100" b="1" dirty="0"/>
              <a:t> 팀 조회 쿼리 </a:t>
            </a:r>
            <a:r>
              <a:rPr lang="en-US" altLang="ko-KR" sz="1100" b="1" dirty="0"/>
              <a:t>: </a:t>
            </a:r>
            <a:r>
              <a:rPr lang="ko-KR" altLang="en-US" sz="1100" b="1" dirty="0"/>
              <a:t>주 식별자를 인덱스로 사용할 수 있다</a:t>
            </a:r>
            <a:r>
              <a:rPr lang="en-US" altLang="ko-KR" sz="1100" b="1" dirty="0"/>
              <a:t>. </a:t>
            </a:r>
            <a:endParaRPr lang="ko-KR" altLang="en-US" sz="11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6A867A-3AA7-7233-76DB-138CDC3A7F2D}"/>
              </a:ext>
            </a:extLst>
          </p:cNvPr>
          <p:cNvSpPr txBox="1"/>
          <p:nvPr/>
        </p:nvSpPr>
        <p:spPr>
          <a:xfrm>
            <a:off x="6158083" y="5576035"/>
            <a:ext cx="569273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b="1" dirty="0"/>
              <a:t>리그가 존재해야 팀이 존재할 수 있는지를 알 수 없다</a:t>
            </a:r>
            <a:endParaRPr lang="en-US" altLang="ko-KR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b="1" dirty="0"/>
              <a:t>제약이 약하기 때문에 데이터가 제대로 관리되지 않을 가능성이 높다</a:t>
            </a:r>
            <a:r>
              <a:rPr lang="en-US" altLang="ko-KR" sz="1100" b="1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b="1" dirty="0" err="1"/>
              <a:t>리그별</a:t>
            </a:r>
            <a:r>
              <a:rPr lang="ko-KR" altLang="en-US" sz="1100" b="1" dirty="0"/>
              <a:t> 팀 조회 쿼리 </a:t>
            </a:r>
            <a:r>
              <a:rPr lang="en-US" altLang="ko-KR" sz="1100" b="1" dirty="0"/>
              <a:t>: </a:t>
            </a:r>
            <a:r>
              <a:rPr lang="ko-KR" altLang="en-US" sz="1100" b="1" dirty="0"/>
              <a:t>별도의 인덱스를 생성해야 한다</a:t>
            </a:r>
            <a:r>
              <a:rPr lang="en-US" altLang="ko-KR" sz="1100" b="1" dirty="0"/>
              <a:t>. </a:t>
            </a:r>
            <a:endParaRPr lang="ko-KR" altLang="en-US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11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8C90E4-BC43-1645-3E10-0919D4AA4C52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관계 이야기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4E3BDB-EC75-78DC-0D29-783417CBC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187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5506715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112506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b="1" dirty="0">
                <a:latin typeface="+mn-ea"/>
              </a:rPr>
              <a:t>식별 관계와 </a:t>
            </a:r>
            <a:r>
              <a:rPr lang="ko-KR" altLang="en-US" b="1" dirty="0" err="1">
                <a:latin typeface="+mn-ea"/>
              </a:rPr>
              <a:t>비식별</a:t>
            </a:r>
            <a:r>
              <a:rPr lang="ko-KR" altLang="en-US" b="1" dirty="0">
                <a:latin typeface="+mn-ea"/>
              </a:rPr>
              <a:t> 관계를 채택하는 예외 경우</a:t>
            </a: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 err="1">
                <a:latin typeface="+mn-ea"/>
              </a:rPr>
              <a:t>엔터티</a:t>
            </a:r>
            <a:r>
              <a:rPr lang="ko-KR" altLang="en-US" sz="1400" dirty="0">
                <a:latin typeface="+mn-ea"/>
              </a:rPr>
              <a:t> 간의 관계가 종속 관계라면 식별 관계를 사용해야 하고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참조 관계라면 </a:t>
            </a:r>
            <a:r>
              <a:rPr lang="ko-KR" altLang="en-US" sz="1400" dirty="0" err="1">
                <a:latin typeface="+mn-ea"/>
              </a:rPr>
              <a:t>비식별</a:t>
            </a:r>
            <a:r>
              <a:rPr lang="ko-KR" altLang="en-US" sz="1400" dirty="0">
                <a:latin typeface="+mn-ea"/>
              </a:rPr>
              <a:t> 관계를 사용하는 것이 기본 원칙이다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하지만 이에 대한 외가 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400" b="1" dirty="0">
                <a:latin typeface="+mn-ea"/>
              </a:rPr>
              <a:t>성능 고려</a:t>
            </a:r>
            <a:endParaRPr lang="en-US" altLang="ko-KR" sz="1400" b="1" dirty="0">
              <a:latin typeface="+mn-ea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식별 관계를 전략적으로 선택해야 하는 경우는 성능 이슈가 있을 때다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비식별자로 상속해서 단절된 연결을 식별자로 상속해서 연결시키는 것이 핵심이다</a:t>
            </a:r>
            <a:r>
              <a:rPr lang="en-US" altLang="ko-KR" sz="1400" dirty="0">
                <a:latin typeface="+mn-ea"/>
              </a:rPr>
              <a:t>. B</a:t>
            </a:r>
            <a:r>
              <a:rPr lang="ko-KR" altLang="en-US" sz="1400" dirty="0" err="1">
                <a:latin typeface="+mn-ea"/>
              </a:rPr>
              <a:t>엔터티는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A</a:t>
            </a:r>
            <a:r>
              <a:rPr lang="ko-KR" altLang="en-US" sz="1400" dirty="0" err="1">
                <a:latin typeface="+mn-ea"/>
              </a:rPr>
              <a:t>엔터티에</a:t>
            </a:r>
            <a:r>
              <a:rPr lang="ko-KR" altLang="en-US" sz="1400" dirty="0">
                <a:latin typeface="+mn-ea"/>
              </a:rPr>
              <a:t> 종속 관계이고</a:t>
            </a:r>
            <a:r>
              <a:rPr lang="en-US" altLang="ko-KR" sz="1400" dirty="0">
                <a:latin typeface="+mn-ea"/>
              </a:rPr>
              <a:t>, D</a:t>
            </a:r>
            <a:r>
              <a:rPr lang="ko-KR" altLang="en-US" sz="1400" dirty="0" err="1">
                <a:latin typeface="+mn-ea"/>
              </a:rPr>
              <a:t>엔터티는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C</a:t>
            </a:r>
            <a:r>
              <a:rPr lang="ko-KR" altLang="en-US" sz="1400" dirty="0" err="1">
                <a:latin typeface="+mn-ea"/>
              </a:rPr>
              <a:t>엔터티에</a:t>
            </a:r>
            <a:r>
              <a:rPr lang="ko-KR" altLang="en-US" sz="1400" dirty="0">
                <a:latin typeface="+mn-ea"/>
              </a:rPr>
              <a:t> 종속관계이다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다만 이 모델에서 데이터 정합성은 반드시 지켜져야 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257300" lvl="2" indent="-342900">
              <a:buFont typeface="+mj-ea"/>
              <a:buAutoNum type="circleNumDbPlain"/>
            </a:pPr>
            <a:endParaRPr lang="en-US" altLang="ko-KR" sz="14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7B4539F-FC59-A7A8-7595-2A9DEBFE6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369" y="3475372"/>
            <a:ext cx="1428949" cy="281979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B024083-3A05-0D6B-BB00-A41626ACD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414" y="3751636"/>
            <a:ext cx="1933845" cy="2543530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26C1E662-0E04-1FBB-A34D-CCB9B01798A1}"/>
              </a:ext>
            </a:extLst>
          </p:cNvPr>
          <p:cNvCxnSpPr>
            <a:cxnSpLocks/>
          </p:cNvCxnSpPr>
          <p:nvPr/>
        </p:nvCxnSpPr>
        <p:spPr>
          <a:xfrm>
            <a:off x="4759439" y="4814628"/>
            <a:ext cx="4334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922299C-6809-8985-8810-43E6C24F3962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관계 이야기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7AF2DD-4819-F16E-BFE0-41B1DAFC3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188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976200-B86A-4CD0-A924-11C0DF7BD08A}"/>
              </a:ext>
            </a:extLst>
          </p:cNvPr>
          <p:cNvSpPr txBox="1"/>
          <p:nvPr/>
        </p:nvSpPr>
        <p:spPr>
          <a:xfrm>
            <a:off x="8168372" y="4417303"/>
            <a:ext cx="19479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중복관계선 </a:t>
            </a:r>
            <a:r>
              <a:rPr lang="en-US" altLang="ko-KR" sz="1400" dirty="0"/>
              <a:t>: 3</a:t>
            </a:r>
            <a:r>
              <a:rPr lang="ko-KR" altLang="en-US" sz="1400" dirty="0"/>
              <a:t>차 관계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FA6679D-859A-49CA-8F19-EFF52BD4D437}"/>
              </a:ext>
            </a:extLst>
          </p:cNvPr>
          <p:cNvSpPr/>
          <p:nvPr/>
        </p:nvSpPr>
        <p:spPr>
          <a:xfrm>
            <a:off x="7116907" y="3909527"/>
            <a:ext cx="542263" cy="1314729"/>
          </a:xfrm>
          <a:prstGeom prst="ellipse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2C502DB5-1CED-4E4F-839F-790EF300B380}"/>
              </a:ext>
            </a:extLst>
          </p:cNvPr>
          <p:cNvCxnSpPr>
            <a:cxnSpLocks/>
            <a:stCxn id="5" idx="1"/>
            <a:endCxn id="8" idx="6"/>
          </p:cNvCxnSpPr>
          <p:nvPr/>
        </p:nvCxnSpPr>
        <p:spPr>
          <a:xfrm flipH="1" flipV="1">
            <a:off x="7659170" y="4566892"/>
            <a:ext cx="509202" cy="43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184DDF5-4919-47CE-B828-52934DC4B1E9}"/>
              </a:ext>
            </a:extLst>
          </p:cNvPr>
          <p:cNvSpPr txBox="1"/>
          <p:nvPr/>
        </p:nvSpPr>
        <p:spPr>
          <a:xfrm>
            <a:off x="342562" y="5006571"/>
            <a:ext cx="24032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하위 </a:t>
            </a:r>
            <a:r>
              <a:rPr lang="ko-KR" altLang="en-US" sz="1200" b="1" dirty="0" err="1"/>
              <a:t>엔터티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레벨이 많아질수록</a:t>
            </a:r>
            <a:endParaRPr lang="en-US" altLang="ko-KR" sz="1200" b="1" dirty="0"/>
          </a:p>
          <a:p>
            <a:r>
              <a:rPr lang="en-US" altLang="ko-KR" sz="1200" b="1" dirty="0"/>
              <a:t>C</a:t>
            </a:r>
            <a:r>
              <a:rPr lang="ko-KR" altLang="en-US" sz="1200" b="1" dirty="0" err="1"/>
              <a:t>엔터티는</a:t>
            </a:r>
            <a:r>
              <a:rPr lang="ko-KR" altLang="en-US" sz="1200" b="1" dirty="0"/>
              <a:t> 비식별상속 받는다</a:t>
            </a:r>
            <a:r>
              <a:rPr lang="en-US" altLang="ko-KR" sz="1200" b="1" dirty="0"/>
              <a:t>.</a:t>
            </a:r>
            <a:r>
              <a:rPr lang="ko-KR" altLang="en-US" sz="1200" b="1" dirty="0"/>
              <a:t> 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644FF42-7F83-44E8-874B-5BBD908BCD66}"/>
              </a:ext>
            </a:extLst>
          </p:cNvPr>
          <p:cNvCxnSpPr>
            <a:cxnSpLocks/>
            <a:stCxn id="19" idx="3"/>
            <a:endCxn id="23" idx="1"/>
          </p:cNvCxnSpPr>
          <p:nvPr/>
        </p:nvCxnSpPr>
        <p:spPr>
          <a:xfrm>
            <a:off x="2745784" y="5237404"/>
            <a:ext cx="45655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2798A5B-D497-4DED-8D46-ABD39AEE9295}"/>
              </a:ext>
            </a:extLst>
          </p:cNvPr>
          <p:cNvSpPr/>
          <p:nvPr/>
        </p:nvSpPr>
        <p:spPr>
          <a:xfrm>
            <a:off x="3202339" y="5090167"/>
            <a:ext cx="643656" cy="294473"/>
          </a:xfrm>
          <a:prstGeom prst="roundRect">
            <a:avLst>
              <a:gd name="adj" fmla="val 23363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2980805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1125066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b="1" dirty="0">
                <a:latin typeface="+mn-ea"/>
              </a:rPr>
              <a:t>식별 관계와 </a:t>
            </a:r>
            <a:r>
              <a:rPr lang="ko-KR" altLang="en-US" b="1" dirty="0" err="1">
                <a:latin typeface="+mn-ea"/>
              </a:rPr>
              <a:t>비식별</a:t>
            </a:r>
            <a:r>
              <a:rPr lang="ko-KR" altLang="en-US" b="1" dirty="0">
                <a:latin typeface="+mn-ea"/>
              </a:rPr>
              <a:t> 관계를 채택하는 예외 경우</a:t>
            </a: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 err="1">
                <a:latin typeface="+mn-ea"/>
              </a:rPr>
              <a:t>엔터티</a:t>
            </a:r>
            <a:r>
              <a:rPr lang="ko-KR" altLang="en-US" sz="1400" dirty="0">
                <a:latin typeface="+mn-ea"/>
              </a:rPr>
              <a:t> 간의 관계가 종속 관계라면 식별 관계를 사용해야 하고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참조 관계라면 </a:t>
            </a:r>
            <a:r>
              <a:rPr lang="ko-KR" altLang="en-US" sz="1400" dirty="0" err="1">
                <a:latin typeface="+mn-ea"/>
              </a:rPr>
              <a:t>비식별</a:t>
            </a:r>
            <a:r>
              <a:rPr lang="ko-KR" altLang="en-US" sz="1400" dirty="0">
                <a:latin typeface="+mn-ea"/>
              </a:rPr>
              <a:t> 관계를 사용하는 것이 기본 원칙이다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하지만 이에 대한 외가 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400" b="1" dirty="0">
                <a:latin typeface="+mn-ea"/>
              </a:rPr>
              <a:t>모델 구조 고려</a:t>
            </a:r>
            <a:endParaRPr lang="en-US" altLang="ko-KR" sz="1400" b="1" dirty="0">
              <a:latin typeface="+mn-ea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속성으로 상속하는 전략이 필요한 때도 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이는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모델을 단순하게 만들 때</a:t>
            </a:r>
            <a:r>
              <a:rPr lang="ko-KR" altLang="en-US" sz="1400" dirty="0">
                <a:latin typeface="+mn-ea"/>
              </a:rPr>
              <a:t> 주로 사용한다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종속 관계가 존재하더라도 때에 따라 식별자 상속을 단절시키는 전략을 사용해야 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이때는 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</a:t>
            </a:r>
            <a:r>
              <a:rPr lang="en-US" altLang="ko-KR" sz="1400" dirty="0">
                <a:latin typeface="+mn-ea"/>
              </a:rPr>
              <a:t>5.22] </a:t>
            </a:r>
            <a:r>
              <a:rPr lang="ko-KR" altLang="en-US" sz="1400" dirty="0">
                <a:latin typeface="+mn-ea"/>
              </a:rPr>
              <a:t>모델과 같이 </a:t>
            </a:r>
            <a:r>
              <a:rPr lang="en-US" altLang="ko-KR" sz="1400" dirty="0">
                <a:latin typeface="+mn-ea"/>
              </a:rPr>
              <a:t>C</a:t>
            </a:r>
            <a:r>
              <a:rPr lang="ko-KR" altLang="en-US" sz="1400" dirty="0" err="1">
                <a:latin typeface="+mn-ea"/>
              </a:rPr>
              <a:t>엔터티에</a:t>
            </a:r>
            <a:r>
              <a:rPr lang="ko-KR" altLang="en-US" sz="1400" dirty="0">
                <a:latin typeface="+mn-ea"/>
              </a:rPr>
              <a:t> 인조 식별자를 사용해 식별자 상속을 단절시킬 수 있다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업무 식별자를 대체해서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인조 식별자</a:t>
            </a:r>
            <a:r>
              <a:rPr lang="ko-KR" altLang="en-US" sz="1400" dirty="0">
                <a:latin typeface="+mn-ea"/>
              </a:rPr>
              <a:t>를 사용해야 할 때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중의 하나가 주 식별자가 복잡해지는 것을 방지할 때다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26C1E662-0E04-1FBB-A34D-CCB9B01798A1}"/>
              </a:ext>
            </a:extLst>
          </p:cNvPr>
          <p:cNvCxnSpPr>
            <a:cxnSpLocks/>
          </p:cNvCxnSpPr>
          <p:nvPr/>
        </p:nvCxnSpPr>
        <p:spPr>
          <a:xfrm>
            <a:off x="6391469" y="5003548"/>
            <a:ext cx="48952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6ED16532-C50C-73F8-D140-2470784A1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647" y="4289074"/>
            <a:ext cx="4486901" cy="14289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587366B-354A-9C2A-6140-F0BE93DB7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098" y="4455784"/>
            <a:ext cx="4020111" cy="10955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395F8BA-935A-B076-FA53-1F9B925F3CD0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관계 이야기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894305-C949-78C8-84EC-1764125BC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189</a:t>
            </a:fld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25AB1D-FA67-4513-99BE-7380C4746907}"/>
              </a:ext>
            </a:extLst>
          </p:cNvPr>
          <p:cNvSpPr txBox="1"/>
          <p:nvPr/>
        </p:nvSpPr>
        <p:spPr>
          <a:xfrm>
            <a:off x="3160406" y="5988984"/>
            <a:ext cx="6496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u="sng" dirty="0">
                <a:solidFill>
                  <a:srgbClr val="FF0000"/>
                </a:solidFill>
              </a:rPr>
              <a:t>“</a:t>
            </a:r>
            <a:r>
              <a:rPr lang="ko-KR" altLang="en-US" sz="1200" b="1" u="sng" dirty="0">
                <a:solidFill>
                  <a:srgbClr val="FF0000"/>
                </a:solidFill>
              </a:rPr>
              <a:t>종속관계</a:t>
            </a:r>
            <a:r>
              <a:rPr lang="en-US" altLang="ko-KR" sz="1200" b="1" u="sng" dirty="0">
                <a:solidFill>
                  <a:srgbClr val="FF0000"/>
                </a:solidFill>
              </a:rPr>
              <a:t>”</a:t>
            </a:r>
            <a:r>
              <a:rPr lang="ko-KR" altLang="en-US" sz="1200" b="1" u="sng" dirty="0">
                <a:solidFill>
                  <a:srgbClr val="FF0000"/>
                </a:solidFill>
              </a:rPr>
              <a:t>라도</a:t>
            </a:r>
            <a:r>
              <a:rPr lang="en-US" altLang="ko-KR" sz="1200" b="1" dirty="0">
                <a:solidFill>
                  <a:srgbClr val="FF0000"/>
                </a:solidFill>
              </a:rPr>
              <a:t>, </a:t>
            </a:r>
            <a:r>
              <a:rPr lang="ko-KR" altLang="en-US" sz="1200" b="1" dirty="0">
                <a:solidFill>
                  <a:srgbClr val="FF0000"/>
                </a:solidFill>
              </a:rPr>
              <a:t>하위 </a:t>
            </a:r>
            <a:r>
              <a:rPr lang="ko-KR" altLang="en-US" sz="1200" b="1" dirty="0" err="1">
                <a:solidFill>
                  <a:srgbClr val="FF0000"/>
                </a:solidFill>
              </a:rPr>
              <a:t>엔터티에서</a:t>
            </a:r>
            <a:r>
              <a:rPr lang="ko-KR" altLang="en-US" sz="1200" b="1" dirty="0">
                <a:solidFill>
                  <a:srgbClr val="FF0000"/>
                </a:solidFill>
              </a:rPr>
              <a:t> 자주 많이 사용된다면</a:t>
            </a:r>
            <a:r>
              <a:rPr lang="en-US" altLang="ko-KR" sz="1200" b="1" dirty="0">
                <a:solidFill>
                  <a:srgbClr val="FF0000"/>
                </a:solidFill>
              </a:rPr>
              <a:t>, “</a:t>
            </a:r>
            <a:r>
              <a:rPr lang="ko-KR" altLang="en-US" sz="1200" b="1" u="sng" dirty="0" err="1">
                <a:solidFill>
                  <a:srgbClr val="FF0000"/>
                </a:solidFill>
              </a:rPr>
              <a:t>비식별</a:t>
            </a:r>
            <a:r>
              <a:rPr lang="ko-KR" altLang="en-US" sz="1200" b="1" u="sng" dirty="0">
                <a:solidFill>
                  <a:srgbClr val="FF0000"/>
                </a:solidFill>
              </a:rPr>
              <a:t> 상속</a:t>
            </a:r>
            <a:r>
              <a:rPr lang="en-US" altLang="ko-KR" sz="1200" b="1" u="sng" dirty="0">
                <a:solidFill>
                  <a:srgbClr val="FF0000"/>
                </a:solidFill>
              </a:rPr>
              <a:t>”</a:t>
            </a:r>
            <a:r>
              <a:rPr lang="ko-KR" altLang="en-US" sz="1200" b="1" u="sng" dirty="0">
                <a:solidFill>
                  <a:srgbClr val="FF0000"/>
                </a:solidFill>
              </a:rPr>
              <a:t> 받아서 설계</a:t>
            </a:r>
            <a:r>
              <a:rPr lang="ko-KR" altLang="en-US" sz="1200" b="1" dirty="0">
                <a:solidFill>
                  <a:srgbClr val="FF0000"/>
                </a:solidFill>
              </a:rPr>
              <a:t>한다</a:t>
            </a:r>
            <a:r>
              <a:rPr lang="en-US" altLang="ko-KR" sz="1200" b="1" dirty="0">
                <a:solidFill>
                  <a:srgbClr val="FF0000"/>
                </a:solidFill>
              </a:rPr>
              <a:t>.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22F94016-8D77-4941-8789-5991D761BA85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3345102" y="4879910"/>
            <a:ext cx="256514" cy="11205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1597671-336B-46BC-91B2-DA9A77BBB93C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7733955" y="5104740"/>
            <a:ext cx="1004240" cy="8824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1CAA74B-92EF-49D3-907A-FED43CFC7D96}"/>
              </a:ext>
            </a:extLst>
          </p:cNvPr>
          <p:cNvSpPr/>
          <p:nvPr/>
        </p:nvSpPr>
        <p:spPr>
          <a:xfrm>
            <a:off x="2911306" y="4649866"/>
            <a:ext cx="867591" cy="230044"/>
          </a:xfrm>
          <a:prstGeom prst="roundRect">
            <a:avLst>
              <a:gd name="adj" fmla="val 23363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458CAAD-5BBB-4FDA-8B28-FC82CE603AF4}"/>
              </a:ext>
            </a:extLst>
          </p:cNvPr>
          <p:cNvSpPr/>
          <p:nvPr/>
        </p:nvSpPr>
        <p:spPr>
          <a:xfrm>
            <a:off x="8304399" y="4874696"/>
            <a:ext cx="867591" cy="230044"/>
          </a:xfrm>
          <a:prstGeom prst="roundRect">
            <a:avLst>
              <a:gd name="adj" fmla="val 23363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4637250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1125066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b="1" dirty="0">
                <a:latin typeface="+mn-ea"/>
              </a:rPr>
              <a:t> 관계 속성 </a:t>
            </a:r>
            <a:r>
              <a:rPr lang="en-US" altLang="ko-KR" b="1" dirty="0">
                <a:latin typeface="+mn-ea"/>
              </a:rPr>
              <a:t>vs</a:t>
            </a:r>
            <a:r>
              <a:rPr lang="ko-KR" altLang="en-US" b="1" dirty="0">
                <a:latin typeface="+mn-ea"/>
              </a:rPr>
              <a:t> </a:t>
            </a:r>
            <a:r>
              <a:rPr lang="ko-KR" altLang="en-US" sz="2400" b="1" u="sng" dirty="0">
                <a:solidFill>
                  <a:srgbClr val="FF0000"/>
                </a:solidFill>
                <a:latin typeface="+mn-ea"/>
              </a:rPr>
              <a:t>관계 </a:t>
            </a:r>
            <a:r>
              <a:rPr lang="ko-KR" altLang="en-US" sz="2400" b="1" u="sng" dirty="0" err="1">
                <a:solidFill>
                  <a:srgbClr val="FF0000"/>
                </a:solidFill>
                <a:latin typeface="+mn-ea"/>
              </a:rPr>
              <a:t>엔터티</a:t>
            </a:r>
            <a:endParaRPr lang="en-US" altLang="ko-KR" sz="1200" b="1" u="sng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관계는 다른 </a:t>
            </a:r>
            <a:r>
              <a:rPr lang="ko-KR" altLang="en-US" sz="1200" dirty="0" err="1">
                <a:latin typeface="+mn-ea"/>
              </a:rPr>
              <a:t>엔터티와의</a:t>
            </a:r>
            <a:r>
              <a:rPr lang="ko-KR" altLang="en-US" sz="1200" dirty="0">
                <a:latin typeface="+mn-ea"/>
              </a:rPr>
              <a:t> 연관성을 알 수 있는 속성이다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결국 속성이 존재해야 관계가 성립되는 것이다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다음은 고객이 계약자</a:t>
            </a:r>
            <a:r>
              <a:rPr lang="en-US" altLang="ko-KR" sz="1200" dirty="0">
                <a:latin typeface="+mn-ea"/>
              </a:rPr>
              <a:t>•</a:t>
            </a:r>
            <a:r>
              <a:rPr lang="ko-KR" altLang="en-US" sz="1200" dirty="0">
                <a:latin typeface="+mn-ea"/>
              </a:rPr>
              <a:t>피보험자</a:t>
            </a:r>
            <a:r>
              <a:rPr lang="en-US" altLang="ko-KR" sz="1200" dirty="0">
                <a:latin typeface="+mn-ea"/>
              </a:rPr>
              <a:t>•</a:t>
            </a:r>
            <a:r>
              <a:rPr lang="ko-KR" altLang="en-US" sz="1200" dirty="0">
                <a:latin typeface="+mn-ea"/>
              </a:rPr>
              <a:t>연대보증인 등으로 세 명일 때의 모델이다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b="1" u="sng" dirty="0">
                <a:latin typeface="+mn-ea"/>
              </a:rPr>
              <a:t>관계</a:t>
            </a:r>
            <a:r>
              <a:rPr lang="ko-KR" altLang="en-US" sz="1200" dirty="0">
                <a:latin typeface="+mn-ea"/>
              </a:rPr>
              <a:t>를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속성으로 관리하는 일반적인 모델</a:t>
            </a:r>
            <a:r>
              <a:rPr lang="ko-KR" altLang="en-US" sz="1200" dirty="0">
                <a:latin typeface="+mn-ea"/>
              </a:rPr>
              <a:t>이다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세 개의 관계 속성이 있으므로 관계선을 세 개 표현해야 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또한 </a:t>
            </a:r>
            <a:r>
              <a:rPr lang="ko-KR" altLang="en-US" sz="1200" b="1" u="sng" dirty="0">
                <a:latin typeface="+mn-ea"/>
              </a:rPr>
              <a:t>관계선이 여러 개</a:t>
            </a:r>
            <a:r>
              <a:rPr lang="ko-KR" altLang="en-US" sz="1200" dirty="0">
                <a:latin typeface="+mn-ea"/>
              </a:rPr>
              <a:t>이기 때문에 관계 명에 수식어를 사용해야 한다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만약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5.27]</a:t>
            </a:r>
            <a:r>
              <a:rPr lang="ko-KR" altLang="en-US" sz="1200" dirty="0">
                <a:latin typeface="+mn-ea"/>
              </a:rPr>
              <a:t>모델에서 계약자는 한 명이지만 피보험자는 </a:t>
            </a:r>
            <a:r>
              <a:rPr lang="en-US" altLang="ko-KR" sz="1200" dirty="0">
                <a:latin typeface="+mn-ea"/>
              </a:rPr>
              <a:t>2</a:t>
            </a:r>
            <a:r>
              <a:rPr lang="ko-KR" altLang="en-US" sz="1200" dirty="0">
                <a:latin typeface="+mn-ea"/>
              </a:rPr>
              <a:t>명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연대보증인은 </a:t>
            </a:r>
            <a:r>
              <a:rPr lang="en-US" altLang="ko-KR" sz="1200" dirty="0">
                <a:latin typeface="+mn-ea"/>
              </a:rPr>
              <a:t>3</a:t>
            </a:r>
            <a:r>
              <a:rPr lang="ko-KR" altLang="en-US" sz="1200" dirty="0">
                <a:latin typeface="+mn-ea"/>
              </a:rPr>
              <a:t>명까지 가능하다면 모델은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5.28]</a:t>
            </a:r>
            <a:r>
              <a:rPr lang="ko-KR" altLang="en-US" sz="1200" dirty="0">
                <a:latin typeface="+mn-ea"/>
              </a:rPr>
              <a:t>과 같이 달라질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두 </a:t>
            </a:r>
            <a:r>
              <a:rPr lang="ko-KR" altLang="en-US" sz="1200" dirty="0" err="1">
                <a:latin typeface="+mn-ea"/>
              </a:rPr>
              <a:t>엔터티</a:t>
            </a:r>
            <a:r>
              <a:rPr lang="ko-KR" altLang="en-US" sz="1200" dirty="0">
                <a:latin typeface="+mn-ea"/>
              </a:rPr>
              <a:t> 간의 연관 관계가 한정적일 때는 관계 속성으로 관리할 수 있지만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바람직하지만</a:t>
            </a:r>
            <a:r>
              <a:rPr lang="en-US" altLang="ko-KR" sz="1200" dirty="0">
                <a:latin typeface="+mn-ea"/>
              </a:rPr>
              <a:t>)</a:t>
            </a:r>
            <a:r>
              <a:rPr lang="ko-KR" altLang="en-US" sz="1200" dirty="0">
                <a:latin typeface="+mn-ea"/>
              </a:rPr>
              <a:t>，연관 관계가 많아지거나 많아질 가능성이 있다면 관계 속성으로 관리할 수 없고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바람직하지 않고</a:t>
            </a:r>
            <a:r>
              <a:rPr lang="en-US" altLang="ko-KR" sz="1200" dirty="0">
                <a:latin typeface="+mn-ea"/>
              </a:rPr>
              <a:t>) </a:t>
            </a:r>
            <a:r>
              <a:rPr lang="ko-KR" altLang="en-US" sz="1200" dirty="0" err="1">
                <a:latin typeface="+mn-ea"/>
              </a:rPr>
              <a:t>엔터티로</a:t>
            </a:r>
            <a:r>
              <a:rPr lang="ko-KR" altLang="en-US" sz="1200" dirty="0">
                <a:latin typeface="+mn-ea"/>
              </a:rPr>
              <a:t> 관리해야 한다</a:t>
            </a:r>
            <a:r>
              <a:rPr lang="en-US" altLang="ko-KR" sz="1200" dirty="0">
                <a:latin typeface="+mn-ea"/>
              </a:rPr>
              <a:t>. 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5.28]</a:t>
            </a:r>
            <a:r>
              <a:rPr lang="ko-KR" altLang="en-US" sz="1200" dirty="0">
                <a:latin typeface="+mn-ea"/>
              </a:rPr>
              <a:t>의 관계 속성 모델을 관계 </a:t>
            </a:r>
            <a:r>
              <a:rPr lang="ko-KR" altLang="en-US" sz="1200" dirty="0" err="1">
                <a:latin typeface="+mn-ea"/>
              </a:rPr>
              <a:t>엔터티로</a:t>
            </a:r>
            <a:r>
              <a:rPr lang="ko-KR" altLang="en-US" sz="1200" dirty="0">
                <a:latin typeface="+mn-ea"/>
              </a:rPr>
              <a:t> 설계한 모델이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</a:t>
            </a:r>
            <a:r>
              <a:rPr lang="en-US" altLang="ko-KR" sz="1200" dirty="0">
                <a:latin typeface="+mn-ea"/>
              </a:rPr>
              <a:t>5.29]</a:t>
            </a:r>
            <a:r>
              <a:rPr lang="ko-KR" altLang="en-US" sz="1200" dirty="0">
                <a:latin typeface="+mn-ea"/>
              </a:rPr>
              <a:t>이다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관계 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엔터티는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5.29] </a:t>
            </a:r>
            <a:r>
              <a:rPr lang="ko-KR" altLang="en-US" sz="1200" dirty="0">
                <a:latin typeface="+mn-ea"/>
              </a:rPr>
              <a:t>모델과 같이 두 </a:t>
            </a:r>
            <a:r>
              <a:rPr lang="ko-KR" altLang="en-US" sz="1200" dirty="0" err="1">
                <a:latin typeface="+mn-ea"/>
              </a:rPr>
              <a:t>엔터티</a:t>
            </a:r>
            <a:r>
              <a:rPr lang="ko-KR" altLang="en-US" sz="1200" dirty="0">
                <a:latin typeface="+mn-ea"/>
              </a:rPr>
              <a:t> 사이의 여러 관계 속성을 관리하는 경우가 일반적이지만</a:t>
            </a:r>
            <a:r>
              <a:rPr lang="en-US" altLang="ko-KR" sz="1200" dirty="0">
                <a:latin typeface="+mn-ea"/>
              </a:rPr>
              <a:t>,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b="1" u="sng" dirty="0">
                <a:latin typeface="+mn-ea"/>
              </a:rPr>
              <a:t>세 개 이상의 </a:t>
            </a:r>
            <a:r>
              <a:rPr lang="ko-KR" altLang="en-US" sz="1200" b="1" u="sng" dirty="0" err="1">
                <a:latin typeface="+mn-ea"/>
              </a:rPr>
              <a:t>엔터티</a:t>
            </a:r>
            <a:r>
              <a:rPr lang="ko-KR" altLang="en-US" sz="1200" b="1" u="sng" dirty="0">
                <a:latin typeface="+mn-ea"/>
              </a:rPr>
              <a:t> 사이</a:t>
            </a:r>
            <a:r>
              <a:rPr lang="ko-KR" altLang="en-US" sz="1200" dirty="0">
                <a:latin typeface="+mn-ea"/>
              </a:rPr>
              <a:t>에서 발생하는 관계를 관리하는 경우도 있다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이를 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3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개체 관계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(Ternary Relationship)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라고 한다</a:t>
            </a:r>
            <a:endParaRPr lang="en-US" altLang="ko-KR" sz="12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관계 이야기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C7E6DAE-E84E-D1DF-EE6D-ACB0C90CD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21" y="2931069"/>
            <a:ext cx="3172268" cy="120031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FE6463B-B0DA-878C-9606-1684E5AE2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027" y="2388069"/>
            <a:ext cx="3705742" cy="174331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CC7219D-803A-D80D-2F8E-E53237FE04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6448" y="2330911"/>
            <a:ext cx="3934374" cy="1800476"/>
          </a:xfrm>
          <a:prstGeom prst="rect">
            <a:avLst/>
          </a:prstGeom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8BCE76B-F366-8BBC-8CC9-34DBFF5E5F6F}"/>
              </a:ext>
            </a:extLst>
          </p:cNvPr>
          <p:cNvCxnSpPr>
            <a:cxnSpLocks/>
          </p:cNvCxnSpPr>
          <p:nvPr/>
        </p:nvCxnSpPr>
        <p:spPr>
          <a:xfrm>
            <a:off x="3617142" y="3425218"/>
            <a:ext cx="28683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DD2BA453-CCB7-892D-9BDB-5B4080626261}"/>
              </a:ext>
            </a:extLst>
          </p:cNvPr>
          <p:cNvCxnSpPr>
            <a:cxnSpLocks/>
          </p:cNvCxnSpPr>
          <p:nvPr/>
        </p:nvCxnSpPr>
        <p:spPr>
          <a:xfrm>
            <a:off x="7609716" y="3432008"/>
            <a:ext cx="28683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051F0F2-E1F4-4A37-C9D2-C46B16B2343C}"/>
              </a:ext>
            </a:extLst>
          </p:cNvPr>
          <p:cNvSpPr/>
          <p:nvPr/>
        </p:nvSpPr>
        <p:spPr>
          <a:xfrm>
            <a:off x="9181322" y="3153747"/>
            <a:ext cx="1250302" cy="690466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연결선: 구부러짐 18">
            <a:extLst>
              <a:ext uri="{FF2B5EF4-FFF2-40B4-BE49-F238E27FC236}">
                <a16:creationId xmlns:a16="http://schemas.microsoft.com/office/drawing/2014/main" id="{8D133497-B15E-FB58-01C2-24C52381BED1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3125755" y="3844213"/>
            <a:ext cx="6680718" cy="186612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E117297-73A9-5878-AE04-FF32C625FF8B}"/>
              </a:ext>
            </a:extLst>
          </p:cNvPr>
          <p:cNvSpPr/>
          <p:nvPr/>
        </p:nvSpPr>
        <p:spPr>
          <a:xfrm>
            <a:off x="5029287" y="2424281"/>
            <a:ext cx="746824" cy="1351000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11F4C87-649F-0CC3-9BC9-359D33254D3E}"/>
              </a:ext>
            </a:extLst>
          </p:cNvPr>
          <p:cNvSpPr/>
          <p:nvPr/>
        </p:nvSpPr>
        <p:spPr>
          <a:xfrm>
            <a:off x="1311047" y="3055758"/>
            <a:ext cx="644502" cy="665215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연결선: 구부러짐 25">
            <a:extLst>
              <a:ext uri="{FF2B5EF4-FFF2-40B4-BE49-F238E27FC236}">
                <a16:creationId xmlns:a16="http://schemas.microsoft.com/office/drawing/2014/main" id="{DEA03B99-7067-4F1B-4867-8A52ACE81577}"/>
              </a:ext>
            </a:extLst>
          </p:cNvPr>
          <p:cNvCxnSpPr>
            <a:cxnSpLocks/>
            <a:stCxn id="25" idx="0"/>
            <a:endCxn id="24" idx="0"/>
          </p:cNvCxnSpPr>
          <p:nvPr/>
        </p:nvCxnSpPr>
        <p:spPr>
          <a:xfrm rot="5400000" flipH="1" flipV="1">
            <a:off x="3202260" y="855320"/>
            <a:ext cx="631477" cy="3769401"/>
          </a:xfrm>
          <a:prstGeom prst="curvedConnector3">
            <a:avLst>
              <a:gd name="adj1" fmla="val 136201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815F49D5-EA22-9563-FDC9-D274EADBB741}"/>
              </a:ext>
            </a:extLst>
          </p:cNvPr>
          <p:cNvCxnSpPr>
            <a:cxnSpLocks/>
            <a:stCxn id="24" idx="0"/>
            <a:endCxn id="18" idx="0"/>
          </p:cNvCxnSpPr>
          <p:nvPr/>
        </p:nvCxnSpPr>
        <p:spPr>
          <a:xfrm rot="16200000" flipH="1">
            <a:off x="7239853" y="587127"/>
            <a:ext cx="729466" cy="4403774"/>
          </a:xfrm>
          <a:prstGeom prst="curvedConnector3">
            <a:avLst>
              <a:gd name="adj1" fmla="val -31338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5055C4E-AD68-1638-DBC3-5C8DE712F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190</a:t>
            </a:fld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3BA270-3557-45FF-AE44-32CF3EA0E3E7}"/>
              </a:ext>
            </a:extLst>
          </p:cNvPr>
          <p:cNvSpPr txBox="1"/>
          <p:nvPr/>
        </p:nvSpPr>
        <p:spPr>
          <a:xfrm>
            <a:off x="6708716" y="1129462"/>
            <a:ext cx="51491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/>
              <a:t>속성이 고정이라면 </a:t>
            </a:r>
            <a:r>
              <a:rPr lang="en-US" altLang="ko-KR" sz="1600" b="1" dirty="0"/>
              <a:t>1</a:t>
            </a:r>
            <a:r>
              <a:rPr lang="ko-KR" altLang="en-US" sz="1600" b="1" dirty="0"/>
              <a:t>정규화 위배로 사용해도 되지만</a:t>
            </a:r>
            <a:r>
              <a:rPr lang="en-US" altLang="ko-KR" sz="1600" b="1" dirty="0"/>
              <a:t>,</a:t>
            </a:r>
          </a:p>
          <a:p>
            <a:r>
              <a:rPr lang="ko-KR" altLang="en-US" sz="1600" b="1" dirty="0"/>
              <a:t>늘어날 가능성이 있다면</a:t>
            </a:r>
            <a:r>
              <a:rPr lang="en-US" altLang="ko-KR" sz="1600" b="1" dirty="0"/>
              <a:t>, </a:t>
            </a:r>
            <a:r>
              <a:rPr lang="ko-KR" altLang="en-US" sz="1600" b="1" dirty="0" err="1">
                <a:solidFill>
                  <a:srgbClr val="FF0000"/>
                </a:solidFill>
              </a:rPr>
              <a:t>관계엔터티</a:t>
            </a:r>
            <a:r>
              <a:rPr lang="ko-KR" altLang="en-US" sz="1600" b="1" dirty="0" err="1"/>
              <a:t>로</a:t>
            </a:r>
            <a:r>
              <a:rPr lang="ko-KR" altLang="en-US" sz="1600" b="1" dirty="0"/>
              <a:t> 분리해야 한다</a:t>
            </a:r>
            <a:r>
              <a:rPr lang="en-US" altLang="ko-KR" sz="1600" b="1" dirty="0"/>
              <a:t>.</a:t>
            </a:r>
            <a:endParaRPr lang="ko-KR" altLang="en-US" sz="1600" b="1" dirty="0"/>
          </a:p>
        </p:txBody>
      </p:sp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D6BE4385-5D58-4625-AB7A-31087CB7EE6A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 rot="16200000" flipH="1">
            <a:off x="8825131" y="2172405"/>
            <a:ext cx="1439510" cy="52317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832105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1125066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관계 </a:t>
            </a:r>
            <a:r>
              <a:rPr lang="ko-KR" altLang="en-US" b="1" dirty="0" err="1">
                <a:latin typeface="+mn-ea"/>
              </a:rPr>
              <a:t>엔터티의</a:t>
            </a:r>
            <a:r>
              <a:rPr lang="ko-KR" altLang="en-US" b="1" dirty="0">
                <a:latin typeface="+mn-ea"/>
              </a:rPr>
              <a:t> 특징 </a:t>
            </a:r>
            <a:r>
              <a:rPr lang="en-US" altLang="ko-KR" b="1" dirty="0">
                <a:latin typeface="+mn-ea"/>
              </a:rPr>
              <a:t>(1/6)</a:t>
            </a:r>
            <a:endParaRPr lang="en-US" altLang="ko-KR" sz="1200" b="1" u="sng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유연함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b="1" u="sng" dirty="0">
                <a:latin typeface="+mn-ea"/>
              </a:rPr>
              <a:t>관계 </a:t>
            </a:r>
            <a:r>
              <a:rPr lang="ko-KR" altLang="en-US" sz="1400" b="1" u="sng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최대 장점은 </a:t>
            </a:r>
            <a:r>
              <a:rPr lang="ko-KR" altLang="en-US" sz="1400" b="1" u="sng" dirty="0">
                <a:latin typeface="+mn-ea"/>
              </a:rPr>
              <a:t>유연하다는 것</a:t>
            </a:r>
            <a:r>
              <a:rPr lang="ko-KR" altLang="en-US" sz="1400" dirty="0">
                <a:latin typeface="+mn-ea"/>
              </a:rPr>
              <a:t>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다수의 관계 속성을 사용하는 방법의 최대 단점은 유연하지 않다는 것이다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부가속성관리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n-ea"/>
              </a:rPr>
              <a:t>“</a:t>
            </a:r>
            <a:r>
              <a:rPr lang="ko-KR" altLang="en-US" sz="1400" dirty="0">
                <a:latin typeface="+mn-ea"/>
              </a:rPr>
              <a:t>신용정보 활용에 대한 동의여부</a:t>
            </a:r>
            <a:r>
              <a:rPr lang="en-US" altLang="ko-KR" sz="1400" dirty="0">
                <a:latin typeface="+mn-ea"/>
              </a:rPr>
              <a:t>”</a:t>
            </a:r>
            <a:r>
              <a:rPr lang="ko-KR" altLang="en-US" sz="1400" dirty="0">
                <a:latin typeface="+mn-ea"/>
              </a:rPr>
              <a:t>를 만약 </a:t>
            </a:r>
            <a:r>
              <a:rPr lang="ko-KR" altLang="en-US" sz="1400" b="1" u="sng" dirty="0">
                <a:latin typeface="+mn-ea"/>
              </a:rPr>
              <a:t>관계 속성</a:t>
            </a:r>
            <a:r>
              <a:rPr lang="ko-KR" altLang="en-US" sz="1400" dirty="0">
                <a:latin typeface="+mn-ea"/>
              </a:rPr>
              <a:t>을 사용하여 관리하면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5.31] </a:t>
            </a:r>
            <a:r>
              <a:rPr lang="ko-KR" altLang="en-US" sz="1400" dirty="0">
                <a:latin typeface="+mn-ea"/>
              </a:rPr>
              <a:t>모델이 될 것이다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b="1" u="sng" dirty="0">
                <a:latin typeface="+mn-ea"/>
              </a:rPr>
              <a:t>관계 </a:t>
            </a:r>
            <a:r>
              <a:rPr lang="ko-KR" altLang="en-US" sz="1400" b="1" u="sng" dirty="0" err="1">
                <a:latin typeface="+mn-ea"/>
              </a:rPr>
              <a:t>엔터티를</a:t>
            </a:r>
            <a:r>
              <a:rPr lang="ko-KR" altLang="en-US" sz="1400" dirty="0">
                <a:latin typeface="+mn-ea"/>
              </a:rPr>
              <a:t> 활용하면 다른 </a:t>
            </a:r>
            <a:r>
              <a:rPr lang="ko-KR" altLang="en-US" sz="1400" b="1" u="sng" dirty="0">
                <a:latin typeface="+mn-ea"/>
              </a:rPr>
              <a:t>속성</a:t>
            </a:r>
            <a:r>
              <a:rPr lang="en-US" altLang="ko-KR" sz="1400" b="1" u="sng" dirty="0">
                <a:latin typeface="+mn-ea"/>
              </a:rPr>
              <a:t>(</a:t>
            </a:r>
            <a:r>
              <a:rPr lang="ko-KR" altLang="en-US" sz="1400" b="1" u="sng" dirty="0">
                <a:latin typeface="+mn-ea"/>
              </a:rPr>
              <a:t>부가 데이터</a:t>
            </a:r>
            <a:r>
              <a:rPr lang="en-US" altLang="ko-KR" sz="1400" b="1" u="sng" dirty="0">
                <a:latin typeface="+mn-ea"/>
              </a:rPr>
              <a:t>)</a:t>
            </a:r>
            <a:r>
              <a:rPr lang="ko-KR" altLang="en-US" sz="1400" b="1" u="sng" dirty="0">
                <a:latin typeface="+mn-ea"/>
              </a:rPr>
              <a:t>을 관리하기 수월</a:t>
            </a:r>
            <a:r>
              <a:rPr lang="ko-KR" altLang="en-US" sz="1400" dirty="0">
                <a:latin typeface="+mn-ea"/>
              </a:rPr>
              <a:t>해 진다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</a:t>
            </a:r>
            <a:r>
              <a:rPr lang="en-US" altLang="ko-KR" sz="1400" dirty="0">
                <a:latin typeface="+mn-ea"/>
              </a:rPr>
              <a:t>5.30]</a:t>
            </a:r>
            <a:r>
              <a:rPr lang="ko-KR" altLang="en-US" sz="1400" dirty="0">
                <a:latin typeface="+mn-ea"/>
              </a:rPr>
              <a:t> 모델과 같이 관계 </a:t>
            </a:r>
            <a:r>
              <a:rPr lang="ko-KR" altLang="en-US" sz="1400" dirty="0" err="1">
                <a:latin typeface="+mn-ea"/>
              </a:rPr>
              <a:t>엔터티도</a:t>
            </a:r>
            <a:r>
              <a:rPr lang="ko-KR" altLang="en-US" sz="1400" dirty="0">
                <a:latin typeface="+mn-ea"/>
              </a:rPr>
              <a:t> 고유의 속성을 가지게 될 때가 있다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관계 이야기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3B01DA2-0D3A-76B3-354F-A1409FC29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367" y="4152302"/>
            <a:ext cx="4020111" cy="1914792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A0261B0-74A2-CB2B-7BAF-1F17E322AEED}"/>
              </a:ext>
            </a:extLst>
          </p:cNvPr>
          <p:cNvSpPr/>
          <p:nvPr/>
        </p:nvSpPr>
        <p:spPr>
          <a:xfrm>
            <a:off x="3114395" y="4879817"/>
            <a:ext cx="1285591" cy="162963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0CBE207-41CB-C3EC-1FA5-01EE72694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8927" y="4023696"/>
            <a:ext cx="4067743" cy="2172003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52A44B8-44AC-D0F9-D96A-A6F340D2533A}"/>
              </a:ext>
            </a:extLst>
          </p:cNvPr>
          <p:cNvCxnSpPr>
            <a:cxnSpLocks/>
          </p:cNvCxnSpPr>
          <p:nvPr/>
        </p:nvCxnSpPr>
        <p:spPr>
          <a:xfrm flipH="1">
            <a:off x="6264999" y="5025418"/>
            <a:ext cx="37599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EB58238-8B0E-877A-75C9-EFE37238D264}"/>
              </a:ext>
            </a:extLst>
          </p:cNvPr>
          <p:cNvSpPr/>
          <p:nvPr/>
        </p:nvSpPr>
        <p:spPr>
          <a:xfrm>
            <a:off x="9162107" y="5459240"/>
            <a:ext cx="1887811" cy="470780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F5874014-D442-022B-F58A-7FF4C0DFC9CB}"/>
              </a:ext>
            </a:extLst>
          </p:cNvPr>
          <p:cNvCxnSpPr>
            <a:cxnSpLocks/>
            <a:stCxn id="20" idx="1"/>
            <a:endCxn id="5" idx="2"/>
          </p:cNvCxnSpPr>
          <p:nvPr/>
        </p:nvCxnSpPr>
        <p:spPr>
          <a:xfrm rot="10800000">
            <a:off x="3757191" y="5042780"/>
            <a:ext cx="5404916" cy="65185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8E4DFBA-B050-FE79-226E-578BEC8E6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191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6128255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A48131D-F03C-6838-ED7B-60B9A7E87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108" y="3156111"/>
            <a:ext cx="3896269" cy="27531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11250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11"/>
            </a:pP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관계 </a:t>
            </a:r>
            <a:r>
              <a:rPr lang="ko-KR" altLang="en-US" b="1" dirty="0" err="1">
                <a:latin typeface="+mn-ea"/>
              </a:rPr>
              <a:t>엔터티의</a:t>
            </a:r>
            <a:r>
              <a:rPr lang="ko-KR" altLang="en-US" b="1" dirty="0">
                <a:latin typeface="+mn-ea"/>
              </a:rPr>
              <a:t> 특징 </a:t>
            </a:r>
            <a:r>
              <a:rPr lang="en-US" altLang="ko-KR" b="1" dirty="0">
                <a:latin typeface="+mn-ea"/>
              </a:rPr>
              <a:t>(2/6)</a:t>
            </a:r>
            <a:endParaRPr lang="en-US" altLang="ko-KR" sz="1200" b="1" u="sng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하위 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엔터티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 관리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빈번하게 발생하진 않지만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관계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하위 </a:t>
            </a:r>
            <a:r>
              <a:rPr lang="ko-KR" altLang="en-US" sz="1400" b="1" u="sng" dirty="0" err="1">
                <a:solidFill>
                  <a:srgbClr val="FF0000"/>
                </a:solidFill>
                <a:latin typeface="+mn-ea"/>
              </a:rPr>
              <a:t>엔터티가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 생길 수 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만약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5.32]</a:t>
            </a:r>
            <a:r>
              <a:rPr lang="ko-KR" altLang="en-US" sz="1400" dirty="0">
                <a:latin typeface="+mn-ea"/>
              </a:rPr>
              <a:t>와 같이 보험과 연관된 피보험자의 법정대리인을 관리해야 한다면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관계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하위 </a:t>
            </a:r>
            <a:r>
              <a:rPr lang="ko-KR" altLang="en-US" sz="1400" dirty="0" err="1">
                <a:latin typeface="+mn-ea"/>
              </a:rPr>
              <a:t>엔터티가</a:t>
            </a:r>
            <a:r>
              <a:rPr lang="ko-KR" altLang="en-US" sz="1400" dirty="0">
                <a:latin typeface="+mn-ea"/>
              </a:rPr>
              <a:t> 생긴다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이와 같은 모델을 </a:t>
            </a:r>
            <a:r>
              <a:rPr lang="ko-KR" altLang="en-US" sz="1400" b="1" u="sng" dirty="0">
                <a:solidFill>
                  <a:srgbClr val="7030A0"/>
                </a:solidFill>
                <a:latin typeface="+mn-ea"/>
              </a:rPr>
              <a:t>관계 속성</a:t>
            </a:r>
            <a:r>
              <a:rPr lang="ko-KR" altLang="en-US" sz="1400" dirty="0">
                <a:latin typeface="+mn-ea"/>
              </a:rPr>
              <a:t>으로 관리하려면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5.33] </a:t>
            </a:r>
            <a:r>
              <a:rPr lang="ko-KR" altLang="en-US" sz="1400" dirty="0">
                <a:latin typeface="+mn-ea"/>
              </a:rPr>
              <a:t>정도의 모델이 될 것이다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관계 이야기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A0261B0-74A2-CB2B-7BAF-1F17E322AEED}"/>
              </a:ext>
            </a:extLst>
          </p:cNvPr>
          <p:cNvSpPr/>
          <p:nvPr/>
        </p:nvSpPr>
        <p:spPr>
          <a:xfrm>
            <a:off x="2740210" y="4780653"/>
            <a:ext cx="1466661" cy="932507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F5874014-D442-022B-F58A-7FF4C0DFC9CB}"/>
              </a:ext>
            </a:extLst>
          </p:cNvPr>
          <p:cNvCxnSpPr>
            <a:cxnSpLocks/>
            <a:stCxn id="15" idx="3"/>
            <a:endCxn id="5" idx="3"/>
          </p:cNvCxnSpPr>
          <p:nvPr/>
        </p:nvCxnSpPr>
        <p:spPr>
          <a:xfrm>
            <a:off x="4062018" y="4269499"/>
            <a:ext cx="144853" cy="977408"/>
          </a:xfrm>
          <a:prstGeom prst="curvedConnector3">
            <a:avLst>
              <a:gd name="adj1" fmla="val 257815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9C217A7-9229-C179-9932-F96BF3FBFE8A}"/>
              </a:ext>
            </a:extLst>
          </p:cNvPr>
          <p:cNvSpPr/>
          <p:nvPr/>
        </p:nvSpPr>
        <p:spPr>
          <a:xfrm>
            <a:off x="3410168" y="4126975"/>
            <a:ext cx="651850" cy="285047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8E30F26-0E00-E5E9-02FA-3E31DE0EA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775" y="3194216"/>
            <a:ext cx="3762900" cy="2715004"/>
          </a:xfrm>
          <a:prstGeom prst="rect">
            <a:avLst/>
          </a:prstGeom>
        </p:spPr>
      </p:pic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56F77BE-73DA-65E1-2987-6E953B834356}"/>
              </a:ext>
            </a:extLst>
          </p:cNvPr>
          <p:cNvCxnSpPr>
            <a:cxnSpLocks/>
          </p:cNvCxnSpPr>
          <p:nvPr/>
        </p:nvCxnSpPr>
        <p:spPr>
          <a:xfrm flipH="1">
            <a:off x="5898950" y="4342673"/>
            <a:ext cx="37599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C50643B-3940-7F6C-494D-5AD311C1A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192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7077686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112506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11"/>
            </a:pP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관계 </a:t>
            </a:r>
            <a:r>
              <a:rPr lang="ko-KR" altLang="en-US" b="1" dirty="0" err="1">
                <a:latin typeface="+mn-ea"/>
              </a:rPr>
              <a:t>엔터티의</a:t>
            </a:r>
            <a:r>
              <a:rPr lang="ko-KR" altLang="en-US" b="1" dirty="0">
                <a:latin typeface="+mn-ea"/>
              </a:rPr>
              <a:t> 특징 </a:t>
            </a:r>
            <a:r>
              <a:rPr lang="en-US" altLang="ko-KR" b="1" dirty="0">
                <a:latin typeface="+mn-ea"/>
              </a:rPr>
              <a:t>(3/6)</a:t>
            </a:r>
            <a:endParaRPr lang="en-US" altLang="ko-KR" sz="1200" b="1" u="sng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중복 관계 관리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>
                <a:latin typeface="+mn-ea"/>
              </a:rPr>
              <a:t>비정규형</a:t>
            </a:r>
            <a:r>
              <a:rPr lang="en-US" altLang="ko-KR" sz="1600" b="1" dirty="0">
                <a:latin typeface="+mn-ea"/>
              </a:rPr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5.34]</a:t>
            </a:r>
            <a:r>
              <a:rPr lang="ko-KR" altLang="en-US" sz="1400" dirty="0">
                <a:latin typeface="+mn-ea"/>
              </a:rPr>
              <a:t>와 같은 관계 </a:t>
            </a:r>
            <a:r>
              <a:rPr lang="ko-KR" altLang="en-US" sz="1400" dirty="0" err="1">
                <a:latin typeface="+mn-ea"/>
              </a:rPr>
              <a:t>엔터티</a:t>
            </a:r>
            <a:r>
              <a:rPr lang="ko-KR" altLang="en-US" sz="1400" dirty="0">
                <a:latin typeface="+mn-ea"/>
              </a:rPr>
              <a:t> 모델의 단점은 성능이다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요건에 따라 성능이 떨어질 수 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만약 성능 문제가 있다면 비정규형을 고려해야 한다</a:t>
            </a:r>
            <a:r>
              <a:rPr lang="en-US" altLang="ko-KR" sz="1400" dirty="0">
                <a:latin typeface="+mn-ea"/>
              </a:rPr>
              <a:t>. 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5.28] </a:t>
            </a:r>
            <a:r>
              <a:rPr lang="ko-KR" altLang="en-US" sz="1400" dirty="0">
                <a:latin typeface="+mn-ea"/>
              </a:rPr>
              <a:t>모델처럼 관계 속성을 나열해서 사용하는 것도 비정규형 이지만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그 모델을 한 번 사용하면 되돌아오기 어렵다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업무가 복잡할수록 모델이 누더기가 될 가능성이 높기 때문에 관계 속성을 사용하는 방법은 지양해야 한다</a:t>
            </a:r>
            <a:r>
              <a:rPr lang="en-US" altLang="ko-KR" sz="1400" dirty="0">
                <a:latin typeface="+mn-ea"/>
              </a:rPr>
              <a:t>. 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5.34] </a:t>
            </a:r>
            <a:r>
              <a:rPr lang="ko-KR" altLang="en-US" sz="1400" dirty="0">
                <a:latin typeface="+mn-ea"/>
              </a:rPr>
              <a:t>관계 </a:t>
            </a:r>
            <a:r>
              <a:rPr lang="ko-KR" altLang="en-US" sz="1400" dirty="0" err="1">
                <a:latin typeface="+mn-ea"/>
              </a:rPr>
              <a:t>엔터티에서</a:t>
            </a:r>
            <a:r>
              <a:rPr lang="ko-KR" altLang="en-US" sz="1400" dirty="0">
                <a:latin typeface="+mn-ea"/>
              </a:rPr>
              <a:t> 몇 가지 </a:t>
            </a:r>
            <a:r>
              <a:rPr lang="ko-KR" altLang="en-US" sz="1400" b="1" u="sng" dirty="0">
                <a:latin typeface="+mn-ea"/>
              </a:rPr>
              <a:t>비정규형을 고려</a:t>
            </a:r>
            <a:r>
              <a:rPr lang="ko-KR" altLang="en-US" sz="1400" dirty="0">
                <a:latin typeface="+mn-ea"/>
              </a:rPr>
              <a:t>할 수 있다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가장 흔한 방법은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5.35] </a:t>
            </a:r>
            <a:r>
              <a:rPr lang="ko-KR" altLang="en-US" sz="1400" dirty="0">
                <a:latin typeface="+mn-ea"/>
              </a:rPr>
              <a:t>모델과 같이 보험계약 </a:t>
            </a:r>
            <a:r>
              <a:rPr lang="ko-KR" altLang="en-US" sz="1400" dirty="0" err="1">
                <a:latin typeface="+mn-ea"/>
              </a:rPr>
              <a:t>엔터티에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중복 관계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계약자 고객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를 채택 것</a:t>
            </a:r>
            <a:r>
              <a:rPr lang="ko-KR" altLang="en-US" sz="1400" dirty="0">
                <a:latin typeface="+mn-ea"/>
              </a:rPr>
              <a:t>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5.35]</a:t>
            </a:r>
            <a:r>
              <a:rPr lang="ko-KR" altLang="en-US" sz="1400" dirty="0">
                <a:latin typeface="+mn-ea"/>
              </a:rPr>
              <a:t>와 같은 모델은 계약자를 </a:t>
            </a:r>
            <a:r>
              <a:rPr lang="ko-KR" altLang="en-US" sz="1400" b="1" u="sng" dirty="0">
                <a:latin typeface="+mn-ea"/>
              </a:rPr>
              <a:t>대량으로 조회하는 요건에 최적화된 모델</a:t>
            </a:r>
            <a:r>
              <a:rPr lang="ko-KR" altLang="en-US" sz="1400" dirty="0">
                <a:latin typeface="+mn-ea"/>
              </a:rPr>
              <a:t>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관계 이야기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56F77BE-73DA-65E1-2987-6E953B834356}"/>
              </a:ext>
            </a:extLst>
          </p:cNvPr>
          <p:cNvCxnSpPr>
            <a:cxnSpLocks/>
          </p:cNvCxnSpPr>
          <p:nvPr/>
        </p:nvCxnSpPr>
        <p:spPr>
          <a:xfrm>
            <a:off x="5958414" y="5257067"/>
            <a:ext cx="37582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535B0368-AA36-E86B-7EFA-A72727053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249" y="4436791"/>
            <a:ext cx="3924848" cy="181000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FB2B28A-1F11-E565-C7E9-B6E1939B6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975" y="3560369"/>
            <a:ext cx="3181794" cy="2686425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1C9F09C-9E46-8D6B-7BBE-E2A88FC1CA9D}"/>
              </a:ext>
            </a:extLst>
          </p:cNvPr>
          <p:cNvSpPr/>
          <p:nvPr/>
        </p:nvSpPr>
        <p:spPr>
          <a:xfrm>
            <a:off x="8371467" y="3662230"/>
            <a:ext cx="651850" cy="285047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DABD28A-9D27-C403-842E-81F707BE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193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3004620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1125066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11"/>
            </a:pP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관계 </a:t>
            </a:r>
            <a:r>
              <a:rPr lang="ko-KR" altLang="en-US" b="1" dirty="0" err="1">
                <a:latin typeface="+mn-ea"/>
              </a:rPr>
              <a:t>엔터티의</a:t>
            </a:r>
            <a:r>
              <a:rPr lang="ko-KR" altLang="en-US" b="1" dirty="0">
                <a:latin typeface="+mn-ea"/>
              </a:rPr>
              <a:t> 특징 </a:t>
            </a:r>
            <a:r>
              <a:rPr lang="en-US" altLang="ko-KR" b="1" dirty="0">
                <a:latin typeface="+mn-ea"/>
              </a:rPr>
              <a:t>(4/6)</a:t>
            </a:r>
            <a:endParaRPr lang="en-US" altLang="ko-KR" sz="1200" b="1" u="sng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중복 속성 관리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>
                <a:latin typeface="+mn-ea"/>
              </a:rPr>
              <a:t>비정규형</a:t>
            </a:r>
            <a:r>
              <a:rPr lang="en-US" altLang="ko-KR" sz="1600" b="1" dirty="0">
                <a:latin typeface="+mn-ea"/>
              </a:rPr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관계 </a:t>
            </a:r>
            <a:r>
              <a:rPr lang="ko-KR" altLang="en-US" sz="1400" dirty="0" err="1">
                <a:latin typeface="+mn-ea"/>
              </a:rPr>
              <a:t>엔터티에</a:t>
            </a:r>
            <a:r>
              <a:rPr lang="ko-KR" altLang="en-US" sz="1400" dirty="0">
                <a:latin typeface="+mn-ea"/>
              </a:rPr>
              <a:t> 중복 속성을 관리하는 것도 비정규화의 하나다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만약 계약 당사자의 이름이 항상 같이 조회된다면</a:t>
            </a:r>
            <a:r>
              <a:rPr lang="en-US" altLang="ko-KR" sz="1400" dirty="0">
                <a:latin typeface="+mn-ea"/>
              </a:rPr>
              <a:t>, 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5.36] </a:t>
            </a:r>
            <a:r>
              <a:rPr lang="ko-KR" altLang="en-US" sz="1400" dirty="0">
                <a:latin typeface="+mn-ea"/>
              </a:rPr>
              <a:t>모델과 같이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고객명 속성을 중복으로 관리</a:t>
            </a:r>
            <a:r>
              <a:rPr lang="ko-KR" altLang="en-US" sz="1400" dirty="0">
                <a:latin typeface="+mn-ea"/>
              </a:rPr>
              <a:t>할 수 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만약 고객이력 </a:t>
            </a:r>
            <a:r>
              <a:rPr lang="ko-KR" altLang="en-US" sz="1400" dirty="0" err="1">
                <a:latin typeface="+mn-ea"/>
              </a:rPr>
              <a:t>엔터티가</a:t>
            </a:r>
            <a:r>
              <a:rPr lang="ko-KR" altLang="en-US" sz="1400" dirty="0">
                <a:latin typeface="+mn-ea"/>
              </a:rPr>
              <a:t> 존재해서 고객명이 이력 관리되면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보험계약당사자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고객명은  당사자로서 체결할 당시의 고객명을 관리하는 요건으로 확대될 수도 있다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5.36] </a:t>
            </a:r>
            <a:r>
              <a:rPr lang="ko-KR" altLang="en-US" sz="1400" dirty="0">
                <a:latin typeface="+mn-ea"/>
              </a:rPr>
              <a:t>모델을 관계 속성으로 관리한다면 대략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5.37]</a:t>
            </a:r>
            <a:r>
              <a:rPr lang="ko-KR" altLang="en-US" sz="1400" dirty="0">
                <a:latin typeface="+mn-ea"/>
              </a:rPr>
              <a:t>과 같은 모델이 된다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관계 이야기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56F77BE-73DA-65E1-2987-6E953B834356}"/>
              </a:ext>
            </a:extLst>
          </p:cNvPr>
          <p:cNvCxnSpPr>
            <a:cxnSpLocks/>
          </p:cNvCxnSpPr>
          <p:nvPr/>
        </p:nvCxnSpPr>
        <p:spPr>
          <a:xfrm flipH="1">
            <a:off x="5831668" y="4988456"/>
            <a:ext cx="51481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26B484BA-0842-9538-3A3C-03CD99CEF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575" y="4176839"/>
            <a:ext cx="4029637" cy="191479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D2ACC7F-5FAE-7397-95DC-7C3C31BF4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4927" y="3614785"/>
            <a:ext cx="3801005" cy="2476846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1FE009A-8300-F4F9-34D9-091F8F96F709}"/>
              </a:ext>
            </a:extLst>
          </p:cNvPr>
          <p:cNvSpPr/>
          <p:nvPr/>
        </p:nvSpPr>
        <p:spPr>
          <a:xfrm>
            <a:off x="1834865" y="4988456"/>
            <a:ext cx="609571" cy="217287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D41DBA7-63B5-1B67-985E-298C3C522BDE}"/>
              </a:ext>
            </a:extLst>
          </p:cNvPr>
          <p:cNvSpPr/>
          <p:nvPr/>
        </p:nvSpPr>
        <p:spPr>
          <a:xfrm>
            <a:off x="2968769" y="4870759"/>
            <a:ext cx="609571" cy="217287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7BA55FD-5A8D-6C04-01EA-6B72950F3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194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609862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F347434-50E6-4740-A573-E239FCFCD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472" y="3587724"/>
            <a:ext cx="3858163" cy="18862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11250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11"/>
            </a:pP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관계 </a:t>
            </a:r>
            <a:r>
              <a:rPr lang="ko-KR" altLang="en-US" b="1" dirty="0" err="1">
                <a:latin typeface="+mn-ea"/>
              </a:rPr>
              <a:t>엔터티의</a:t>
            </a:r>
            <a:r>
              <a:rPr lang="ko-KR" altLang="en-US" b="1" dirty="0">
                <a:latin typeface="+mn-ea"/>
              </a:rPr>
              <a:t> 특징 </a:t>
            </a:r>
            <a:r>
              <a:rPr lang="en-US" altLang="ko-KR" b="1" dirty="0">
                <a:latin typeface="+mn-ea"/>
              </a:rPr>
              <a:t>(5/6)</a:t>
            </a:r>
            <a:endParaRPr lang="en-US" altLang="ko-KR" sz="1200" b="1" u="sng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자체 이력 관리</a:t>
            </a:r>
            <a:r>
              <a:rPr lang="ko-KR" altLang="en-US" sz="1600" b="1" dirty="0">
                <a:latin typeface="+mn-ea"/>
              </a:rPr>
              <a:t> </a:t>
            </a:r>
            <a:endParaRPr lang="en-US" altLang="ko-KR" sz="1600" b="1" dirty="0">
              <a:latin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관계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장점 중의 하나는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5.38] </a:t>
            </a:r>
            <a:r>
              <a:rPr lang="ko-KR" altLang="en-US" sz="1400" dirty="0">
                <a:latin typeface="+mn-ea"/>
              </a:rPr>
              <a:t>모델과 같이 자체적으로 이력 관리할 수 있는 구조라는 것이다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대개 관계 </a:t>
            </a:r>
            <a:r>
              <a:rPr lang="ko-KR" altLang="en-US" sz="1400" dirty="0" err="1">
                <a:latin typeface="+mn-ea"/>
              </a:rPr>
              <a:t>엔터티는</a:t>
            </a:r>
            <a:r>
              <a:rPr lang="ko-KR" altLang="en-US" sz="1400" dirty="0">
                <a:latin typeface="+mn-ea"/>
              </a:rPr>
              <a:t> 보험계약당사자이력 </a:t>
            </a:r>
            <a:r>
              <a:rPr lang="ko-KR" altLang="en-US" sz="1400" dirty="0" err="1">
                <a:latin typeface="+mn-ea"/>
              </a:rPr>
              <a:t>엔터티를</a:t>
            </a:r>
            <a:r>
              <a:rPr lang="ko-KR" altLang="en-US" sz="1400" dirty="0">
                <a:latin typeface="+mn-ea"/>
              </a:rPr>
              <a:t> 만들어 별도로 이력 관리하는 게 바람직하지만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요건에 따라 이력 데이터를 함께 관리하는 게 바람직할 수 있다</a:t>
            </a:r>
            <a:r>
              <a:rPr lang="en-US" altLang="ko-KR" sz="1400" dirty="0">
                <a:latin typeface="+mn-ea"/>
              </a:rPr>
              <a:t>. 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5.38] </a:t>
            </a:r>
            <a:r>
              <a:rPr lang="ko-KR" altLang="en-US" sz="1400" dirty="0">
                <a:latin typeface="+mn-ea"/>
              </a:rPr>
              <a:t>모델을 관계 속성 방법으로 설계하면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5.39] </a:t>
            </a:r>
            <a:r>
              <a:rPr lang="ko-KR" altLang="en-US" sz="1400" dirty="0">
                <a:latin typeface="+mn-ea"/>
              </a:rPr>
              <a:t>모델이 된다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관계 이야기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56F77BE-73DA-65E1-2987-6E953B834356}"/>
              </a:ext>
            </a:extLst>
          </p:cNvPr>
          <p:cNvCxnSpPr>
            <a:cxnSpLocks/>
          </p:cNvCxnSpPr>
          <p:nvPr/>
        </p:nvCxnSpPr>
        <p:spPr>
          <a:xfrm flipH="1">
            <a:off x="5826487" y="4493919"/>
            <a:ext cx="51481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1FE009A-8300-F4F9-34D9-091F8F96F709}"/>
              </a:ext>
            </a:extLst>
          </p:cNvPr>
          <p:cNvSpPr/>
          <p:nvPr/>
        </p:nvSpPr>
        <p:spPr>
          <a:xfrm>
            <a:off x="2663982" y="4294742"/>
            <a:ext cx="767281" cy="199180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4DD4DD7-AA35-24D9-D0A3-6D2AAFCAD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075" y="3706802"/>
            <a:ext cx="4715533" cy="1648055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0FA7E2-EA23-BF33-82EE-0E7E17838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195</a:t>
            </a:fld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215D770-B0F8-4CBF-9501-3C085F1C2219}"/>
              </a:ext>
            </a:extLst>
          </p:cNvPr>
          <p:cNvSpPr/>
          <p:nvPr/>
        </p:nvSpPr>
        <p:spPr>
          <a:xfrm>
            <a:off x="3677895" y="5284643"/>
            <a:ext cx="614187" cy="198625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273EB1C-E14D-4A06-B1F5-3166ADC1BB3C}"/>
              </a:ext>
            </a:extLst>
          </p:cNvPr>
          <p:cNvSpPr/>
          <p:nvPr/>
        </p:nvSpPr>
        <p:spPr>
          <a:xfrm>
            <a:off x="8294142" y="5157337"/>
            <a:ext cx="457973" cy="206851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2936D85-03BF-42CF-A81C-674E2E073C58}"/>
              </a:ext>
            </a:extLst>
          </p:cNvPr>
          <p:cNvCxnSpPr>
            <a:cxnSpLocks/>
            <a:stCxn id="13" idx="1"/>
            <a:endCxn id="12" idx="3"/>
          </p:cNvCxnSpPr>
          <p:nvPr/>
        </p:nvCxnSpPr>
        <p:spPr>
          <a:xfrm flipH="1">
            <a:off x="4292082" y="5260763"/>
            <a:ext cx="4002060" cy="12319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F81D11E-68AF-419E-8DF5-51C1110B0246}"/>
              </a:ext>
            </a:extLst>
          </p:cNvPr>
          <p:cNvSpPr txBox="1"/>
          <p:nvPr/>
        </p:nvSpPr>
        <p:spPr>
          <a:xfrm>
            <a:off x="3677895" y="5723688"/>
            <a:ext cx="4092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rgbClr val="FF0000"/>
                </a:solidFill>
              </a:rPr>
              <a:t>관계엔터티는</a:t>
            </a:r>
            <a:r>
              <a:rPr lang="ko-KR" altLang="en-US" b="1" dirty="0">
                <a:solidFill>
                  <a:srgbClr val="FF0000"/>
                </a:solidFill>
              </a:rPr>
              <a:t> </a:t>
            </a:r>
            <a:r>
              <a:rPr lang="ko-KR" altLang="en-US" b="1" dirty="0" err="1">
                <a:solidFill>
                  <a:srgbClr val="FF0000"/>
                </a:solidFill>
              </a:rPr>
              <a:t>교체엔터티와</a:t>
            </a:r>
            <a:r>
              <a:rPr lang="ko-KR" altLang="en-US" b="1" dirty="0">
                <a:solidFill>
                  <a:srgbClr val="FF0000"/>
                </a:solidFill>
              </a:rPr>
              <a:t> 유사하다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7589350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1125066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11"/>
            </a:pP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관계 </a:t>
            </a:r>
            <a:r>
              <a:rPr lang="ko-KR" altLang="en-US" b="1" dirty="0" err="1">
                <a:latin typeface="+mn-ea"/>
              </a:rPr>
              <a:t>엔터티의</a:t>
            </a:r>
            <a:r>
              <a:rPr lang="ko-KR" altLang="en-US" b="1" dirty="0">
                <a:latin typeface="+mn-ea"/>
              </a:rPr>
              <a:t> 특징 </a:t>
            </a:r>
            <a:r>
              <a:rPr lang="en-US" altLang="ko-KR" b="1" dirty="0">
                <a:latin typeface="+mn-ea"/>
              </a:rPr>
              <a:t>(6/6)</a:t>
            </a:r>
            <a:endParaRPr lang="en-US" altLang="ko-KR" sz="1200" b="1" u="sng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정리</a:t>
            </a:r>
            <a:r>
              <a:rPr lang="ko-KR" altLang="en-US" sz="1600" b="1" dirty="0">
                <a:latin typeface="+mn-ea"/>
              </a:rPr>
              <a:t> </a:t>
            </a:r>
            <a:endParaRPr lang="en-US" altLang="ko-KR" sz="1600" b="1" dirty="0">
              <a:latin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이처럼 </a:t>
            </a:r>
            <a:r>
              <a:rPr lang="ko-KR" altLang="en-US" sz="1400" b="1" u="sng" dirty="0">
                <a:latin typeface="+mn-ea"/>
              </a:rPr>
              <a:t>관계 </a:t>
            </a:r>
            <a:r>
              <a:rPr lang="ko-KR" altLang="en-US" sz="1400" b="1" u="sng" dirty="0" err="1">
                <a:latin typeface="+mn-ea"/>
              </a:rPr>
              <a:t>엔터티는</a:t>
            </a:r>
            <a:r>
              <a:rPr lang="ko-KR" altLang="en-US" sz="1400" b="1" u="sng" dirty="0">
                <a:latin typeface="+mn-ea"/>
              </a:rPr>
              <a:t> 다양한 장점</a:t>
            </a:r>
            <a:r>
              <a:rPr lang="ko-KR" altLang="en-US" sz="1400" dirty="0">
                <a:latin typeface="+mn-ea"/>
              </a:rPr>
              <a:t>이 있다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이에 반해 관계 속성은 단점이 많다</a:t>
            </a:r>
            <a:r>
              <a:rPr lang="en-US" altLang="ko-KR" sz="1400" dirty="0">
                <a:latin typeface="+mn-ea"/>
              </a:rPr>
              <a:t>. 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5.27]</a:t>
            </a:r>
            <a:r>
              <a:rPr lang="ko-KR" altLang="en-US" sz="1400" dirty="0">
                <a:latin typeface="+mn-ea"/>
              </a:rPr>
              <a:t> 모델과 같이 다수 속성으로 관계를 관리하면 인덱스가 늘어난다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계약자가 ‘홍길동’ 인 조회나 피보험자가 ‘홍길동’ 인 조회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연대 보증인이  ‘홍길동’ 인 조회를 개별로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하면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5.27]</a:t>
            </a:r>
            <a:r>
              <a:rPr lang="ko-KR" altLang="en-US" sz="1400" dirty="0">
                <a:latin typeface="+mn-ea"/>
              </a:rPr>
              <a:t> 모델에서는 여러 쿼리가 필요하거나 하나의 쿼리로 처리하더라도 복잡해 진다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하지만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5.29] </a:t>
            </a:r>
            <a:r>
              <a:rPr lang="ko-KR" altLang="en-US" sz="1400" dirty="0">
                <a:latin typeface="+mn-ea"/>
              </a:rPr>
              <a:t>처럼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관계 </a:t>
            </a:r>
            <a:r>
              <a:rPr lang="ko-KR" altLang="en-US" sz="1400" b="1" u="sng" dirty="0" err="1">
                <a:solidFill>
                  <a:srgbClr val="FF0000"/>
                </a:solidFill>
                <a:latin typeface="+mn-ea"/>
              </a:rPr>
              <a:t>엔터티를</a:t>
            </a:r>
            <a:r>
              <a:rPr lang="ko-KR" altLang="en-US" sz="1400" dirty="0">
                <a:latin typeface="+mn-ea"/>
              </a:rPr>
              <a:t> 사용한 모델에서는 다음과 같이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간단해 진다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관계 이야기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56F77BE-73DA-65E1-2987-6E953B834356}"/>
              </a:ext>
            </a:extLst>
          </p:cNvPr>
          <p:cNvCxnSpPr>
            <a:cxnSpLocks/>
          </p:cNvCxnSpPr>
          <p:nvPr/>
        </p:nvCxnSpPr>
        <p:spPr>
          <a:xfrm>
            <a:off x="5790557" y="4499810"/>
            <a:ext cx="81971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856BADD0-FFFD-53A7-509C-DDB2743C2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270" y="3654148"/>
            <a:ext cx="1941451" cy="169132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222141A-8977-BD56-9957-96F1EB5D5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631" y="4173825"/>
            <a:ext cx="1417378" cy="6431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1DCF8DB-224C-B8CC-2E1F-21422CB3A1E2}"/>
              </a:ext>
            </a:extLst>
          </p:cNvPr>
          <p:cNvSpPr txBox="1"/>
          <p:nvPr/>
        </p:nvSpPr>
        <p:spPr>
          <a:xfrm>
            <a:off x="3422205" y="5403396"/>
            <a:ext cx="24841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</a:rPr>
              <a:t>[</a:t>
            </a:r>
            <a:r>
              <a:rPr lang="ko-KR" altLang="en-US" sz="1200" b="1" dirty="0">
                <a:latin typeface="+mn-ea"/>
              </a:rPr>
              <a:t>그림 </a:t>
            </a:r>
            <a:r>
              <a:rPr lang="en-US" altLang="ko-KR" sz="1200" b="1" dirty="0">
                <a:latin typeface="+mn-ea"/>
              </a:rPr>
              <a:t>5.27]</a:t>
            </a:r>
            <a:r>
              <a:rPr lang="ko-KR" altLang="en-US" sz="1200" b="1" dirty="0">
                <a:latin typeface="+mn-ea"/>
              </a:rPr>
              <a:t>  관계 속성 관련 쿼리</a:t>
            </a:r>
            <a:endParaRPr lang="ko-KR" altLang="en-US" sz="12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D57E70-19E8-795A-C476-15DB09BD8EFD}"/>
              </a:ext>
            </a:extLst>
          </p:cNvPr>
          <p:cNvSpPr txBox="1"/>
          <p:nvPr/>
        </p:nvSpPr>
        <p:spPr>
          <a:xfrm>
            <a:off x="6610269" y="5401885"/>
            <a:ext cx="3076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</a:rPr>
              <a:t>[</a:t>
            </a:r>
            <a:r>
              <a:rPr lang="ko-KR" altLang="en-US" sz="1200" b="1" dirty="0">
                <a:latin typeface="+mn-ea"/>
              </a:rPr>
              <a:t>그림 </a:t>
            </a:r>
            <a:r>
              <a:rPr lang="en-US" altLang="ko-KR" sz="1200" b="1" dirty="0">
                <a:latin typeface="+mn-ea"/>
              </a:rPr>
              <a:t>5.29] </a:t>
            </a:r>
            <a:r>
              <a:rPr lang="ko-KR" altLang="en-US" sz="1200" b="1" dirty="0">
                <a:latin typeface="+mn-ea"/>
              </a:rPr>
              <a:t>관계 </a:t>
            </a:r>
            <a:r>
              <a:rPr lang="ko-KR" altLang="en-US" sz="1200" b="1" dirty="0" err="1">
                <a:latin typeface="+mn-ea"/>
              </a:rPr>
              <a:t>엔터티</a:t>
            </a:r>
            <a:r>
              <a:rPr lang="ko-KR" altLang="en-US" sz="1200" b="1" dirty="0">
                <a:latin typeface="+mn-ea"/>
              </a:rPr>
              <a:t> 관련 쿼리</a:t>
            </a:r>
            <a:endParaRPr lang="ko-KR" altLang="en-US" sz="1200" b="1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13267FC-A33F-B13E-CD42-44EF1B4AC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196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2466790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1125066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관계 </a:t>
            </a:r>
            <a:r>
              <a:rPr lang="ko-KR" altLang="en-US" b="1" dirty="0" err="1">
                <a:latin typeface="+mn-ea"/>
              </a:rPr>
              <a:t>엔터티</a:t>
            </a:r>
            <a:r>
              <a:rPr lang="ko-KR" altLang="en-US" b="1" dirty="0">
                <a:latin typeface="+mn-ea"/>
              </a:rPr>
              <a:t> 선택 기준 </a:t>
            </a:r>
            <a:r>
              <a:rPr lang="en-US" altLang="ko-KR" b="1" dirty="0">
                <a:latin typeface="+mn-ea"/>
              </a:rPr>
              <a:t>(1/2)</a:t>
            </a:r>
            <a:endParaRPr lang="en-US" altLang="ko-KR" sz="1200" b="1" u="sng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관계가 늘어날 가능성</a:t>
            </a:r>
            <a:r>
              <a:rPr lang="ko-KR" altLang="en-US" sz="1600" b="1" dirty="0">
                <a:latin typeface="+mn-ea"/>
              </a:rPr>
              <a:t> </a:t>
            </a:r>
            <a:endParaRPr lang="en-US" altLang="ko-KR" sz="1600" b="1" dirty="0">
              <a:latin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가장 기본적인 판단 기준은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관계 속성의 개수와 관계 속성이 늘어날 가능성</a:t>
            </a:r>
            <a:r>
              <a:rPr lang="ko-KR" altLang="en-US" sz="1400" dirty="0">
                <a:latin typeface="+mn-ea"/>
              </a:rPr>
              <a:t>을 염두에 두는 것이다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두 </a:t>
            </a:r>
            <a:r>
              <a:rPr lang="ko-KR" altLang="en-US" sz="1400" dirty="0" err="1">
                <a:latin typeface="+mn-ea"/>
              </a:rPr>
              <a:t>엔터티</a:t>
            </a:r>
            <a:r>
              <a:rPr lang="ko-KR" altLang="en-US" sz="1400" dirty="0">
                <a:latin typeface="+mn-ea"/>
              </a:rPr>
              <a:t> 간의 관계가 </a:t>
            </a:r>
            <a:r>
              <a:rPr lang="ko-KR" altLang="en-US" sz="1400" b="1" u="sng" dirty="0">
                <a:latin typeface="+mn-ea"/>
              </a:rPr>
              <a:t>지속적으로 늘어날 가능성</a:t>
            </a:r>
            <a:r>
              <a:rPr lang="ko-KR" altLang="en-US" sz="1400" dirty="0">
                <a:latin typeface="+mn-ea"/>
              </a:rPr>
              <a:t>이 있다면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b="1" u="sng" dirty="0">
                <a:latin typeface="+mn-ea"/>
              </a:rPr>
              <a:t>확장을 감안</a:t>
            </a:r>
            <a:r>
              <a:rPr lang="ko-KR" altLang="en-US" sz="1400" dirty="0">
                <a:latin typeface="+mn-ea"/>
              </a:rPr>
              <a:t>해서 </a:t>
            </a:r>
            <a:r>
              <a:rPr lang="ko-KR" altLang="en-US" sz="1400" b="1" u="sng" dirty="0">
                <a:latin typeface="+mn-ea"/>
              </a:rPr>
              <a:t>관계 </a:t>
            </a:r>
            <a:r>
              <a:rPr lang="ko-KR" altLang="en-US" sz="1400" b="1" u="sng" dirty="0" err="1">
                <a:latin typeface="+mn-ea"/>
              </a:rPr>
              <a:t>엔터티로</a:t>
            </a:r>
            <a:r>
              <a:rPr lang="ko-KR" altLang="en-US" sz="1400" b="1" u="sng" dirty="0">
                <a:latin typeface="+mn-ea"/>
              </a:rPr>
              <a:t> 설계</a:t>
            </a:r>
            <a:r>
              <a:rPr lang="ko-KR" altLang="en-US" sz="1400" dirty="0">
                <a:latin typeface="+mn-ea"/>
              </a:rPr>
              <a:t>하는 것이 효율적이다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관계 이야기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56F77BE-73DA-65E1-2987-6E953B834356}"/>
              </a:ext>
            </a:extLst>
          </p:cNvPr>
          <p:cNvCxnSpPr>
            <a:cxnSpLocks/>
          </p:cNvCxnSpPr>
          <p:nvPr/>
        </p:nvCxnSpPr>
        <p:spPr>
          <a:xfrm>
            <a:off x="5794522" y="4140816"/>
            <a:ext cx="60295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71122241-C8E5-3930-497B-E398B0276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190" y="3286354"/>
            <a:ext cx="3705742" cy="174331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A3AC3DA-7C26-AC5C-0979-AD940D7CC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067" y="3162511"/>
            <a:ext cx="3934374" cy="1867161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32F51C9-77B6-B8AB-F599-8257B8754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197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5428467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1125066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관계 </a:t>
            </a:r>
            <a:r>
              <a:rPr lang="ko-KR" altLang="en-US" b="1" dirty="0" err="1">
                <a:latin typeface="+mn-ea"/>
              </a:rPr>
              <a:t>엔터티</a:t>
            </a:r>
            <a:r>
              <a:rPr lang="ko-KR" altLang="en-US" b="1" dirty="0">
                <a:latin typeface="+mn-ea"/>
              </a:rPr>
              <a:t> 선택 기준 </a:t>
            </a:r>
            <a:r>
              <a:rPr lang="en-US" altLang="ko-KR" b="1" dirty="0">
                <a:latin typeface="+mn-ea"/>
              </a:rPr>
              <a:t>(2/2)</a:t>
            </a:r>
            <a:endParaRPr lang="en-US" altLang="ko-KR" sz="1200" b="1" u="sng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조회요건</a:t>
            </a:r>
            <a:r>
              <a:rPr lang="ko-KR" altLang="en-US" sz="1600" b="1" dirty="0">
                <a:latin typeface="+mn-ea"/>
              </a:rPr>
              <a:t> </a:t>
            </a:r>
            <a:endParaRPr lang="en-US" altLang="ko-KR" sz="1600" b="1" dirty="0">
              <a:latin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또 다른 기준은 조회 요건이다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+mn-ea"/>
              </a:rPr>
              <a:t>엔터티가</a:t>
            </a:r>
            <a:r>
              <a:rPr lang="ko-KR" altLang="en-US" sz="1400" dirty="0">
                <a:latin typeface="+mn-ea"/>
              </a:rPr>
              <a:t> 화면에 종속되는 것은 바람직하지 않지만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중요한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화면이 어떻게 구성됐는지</a:t>
            </a:r>
            <a:r>
              <a:rPr lang="ko-KR" altLang="en-US" sz="1400" dirty="0">
                <a:latin typeface="+mn-ea"/>
              </a:rPr>
              <a:t>에 따라 선택이 달라질 수 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물론 이 역시도 성능을 고려하는 것이다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성능 문제가 없다면 어떤 경우에도 관계 </a:t>
            </a:r>
            <a:r>
              <a:rPr lang="ko-KR" altLang="en-US" sz="1400" dirty="0" err="1">
                <a:latin typeface="+mn-ea"/>
              </a:rPr>
              <a:t>엔터티를</a:t>
            </a:r>
            <a:r>
              <a:rPr lang="ko-KR" altLang="en-US" sz="1400" dirty="0">
                <a:latin typeface="+mn-ea"/>
              </a:rPr>
              <a:t> 사용해야 한다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관계 이야기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984EA38-58C1-8D10-8419-262D5C8CA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996" y="3038835"/>
            <a:ext cx="4706007" cy="2953162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76641B2-6AB3-83C9-76C6-60D2EC8D1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198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6380481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1125066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관계선의 구성요소 </a:t>
            </a:r>
            <a:r>
              <a:rPr lang="en-US" altLang="ko-KR" b="1" dirty="0">
                <a:latin typeface="+mn-ea"/>
              </a:rPr>
              <a:t>(1/2)</a:t>
            </a:r>
            <a:endParaRPr lang="en-US" altLang="ko-KR" sz="1200" b="1" u="sng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관계선은 </a:t>
            </a:r>
            <a:r>
              <a:rPr lang="ko-KR" altLang="en-US" sz="1600" b="1" dirty="0" err="1">
                <a:latin typeface="+mn-ea"/>
              </a:rPr>
              <a:t>관계비</a:t>
            </a:r>
            <a:r>
              <a:rPr lang="en-US" altLang="ko-KR" sz="1600" b="1" dirty="0">
                <a:latin typeface="+mn-ea"/>
              </a:rPr>
              <a:t>(Cardinality)</a:t>
            </a:r>
            <a:r>
              <a:rPr lang="ko-KR" altLang="en-US" sz="1600" b="1" dirty="0">
                <a:latin typeface="+mn-ea"/>
              </a:rPr>
              <a:t>와 관계 존재성</a:t>
            </a:r>
            <a:r>
              <a:rPr lang="en-US" altLang="ko-KR" sz="1600" b="1" dirty="0">
                <a:latin typeface="+mn-ea"/>
              </a:rPr>
              <a:t>(Optionality), </a:t>
            </a:r>
            <a:r>
              <a:rPr lang="ko-KR" altLang="en-US" sz="1600" b="1" dirty="0">
                <a:latin typeface="+mn-ea"/>
              </a:rPr>
              <a:t>그리고 관계 타입</a:t>
            </a:r>
            <a:r>
              <a:rPr lang="en-US" altLang="ko-KR" sz="1600" b="1" dirty="0">
                <a:latin typeface="+mn-ea"/>
              </a:rPr>
              <a:t>(Relationship Type)</a:t>
            </a:r>
            <a:r>
              <a:rPr lang="ko-KR" altLang="en-US" sz="1600" b="1" dirty="0">
                <a:latin typeface="+mn-ea"/>
              </a:rPr>
              <a:t>과 관계 </a:t>
            </a:r>
            <a:r>
              <a:rPr lang="ko-KR" altLang="en-US" sz="1600" b="1" dirty="0" err="1">
                <a:latin typeface="+mn-ea"/>
              </a:rPr>
              <a:t>참여수</a:t>
            </a:r>
            <a:r>
              <a:rPr lang="en-US" altLang="ko-KR" sz="1600" b="1" dirty="0">
                <a:latin typeface="+mn-ea"/>
              </a:rPr>
              <a:t>(Relationship Degree), </a:t>
            </a:r>
            <a:r>
              <a:rPr lang="ko-KR" altLang="en-US" sz="1600" b="1" dirty="0">
                <a:latin typeface="+mn-ea"/>
              </a:rPr>
              <a:t>관계 명</a:t>
            </a:r>
            <a:r>
              <a:rPr lang="en-US" altLang="ko-KR" sz="1600" b="1" dirty="0">
                <a:latin typeface="+mn-ea"/>
              </a:rPr>
              <a:t>(Relationship Name)</a:t>
            </a:r>
            <a:r>
              <a:rPr lang="ko-KR" altLang="en-US" sz="1600" b="1" dirty="0">
                <a:latin typeface="+mn-ea"/>
              </a:rPr>
              <a:t>으로 구성돼 있다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5.43]</a:t>
            </a:r>
            <a:r>
              <a:rPr lang="ko-KR" altLang="en-US" sz="1600" b="1" dirty="0">
                <a:latin typeface="+mn-ea"/>
              </a:rPr>
              <a:t>은 관계선과 관련된 요소를 나타낸다</a:t>
            </a:r>
            <a:r>
              <a:rPr lang="en-US" altLang="ko-KR" sz="1600" b="1" dirty="0">
                <a:latin typeface="+mn-ea"/>
              </a:rPr>
              <a:t>.</a:t>
            </a:r>
            <a:endParaRPr lang="en-US" altLang="ko-KR" sz="14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관계비와 관계 존재성의 표기법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00126A8-80C5-94B4-1BAD-07F97E5A69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875"/>
          <a:stretch/>
        </p:blipFill>
        <p:spPr>
          <a:xfrm>
            <a:off x="3995444" y="6141927"/>
            <a:ext cx="4201111" cy="171248"/>
          </a:xfrm>
          <a:prstGeom prst="rect">
            <a:avLst/>
          </a:prstGeom>
        </p:spPr>
      </p:pic>
      <p:grpSp>
        <p:nvGrpSpPr>
          <p:cNvPr id="65" name="그룹 64">
            <a:extLst>
              <a:ext uri="{FF2B5EF4-FFF2-40B4-BE49-F238E27FC236}">
                <a16:creationId xmlns:a16="http://schemas.microsoft.com/office/drawing/2014/main" id="{5D687D38-47F6-6444-EC65-71DF377EF6FE}"/>
              </a:ext>
            </a:extLst>
          </p:cNvPr>
          <p:cNvGrpSpPr/>
          <p:nvPr/>
        </p:nvGrpSpPr>
        <p:grpSpPr>
          <a:xfrm>
            <a:off x="2211047" y="2850390"/>
            <a:ext cx="8657143" cy="3237732"/>
            <a:chOff x="2211047" y="2850390"/>
            <a:chExt cx="8657143" cy="323773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EE0691C-8341-E0B7-346C-54B6D8F3C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11047" y="3561513"/>
              <a:ext cx="8657143" cy="1371429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D1B255C-B3B7-E542-6124-68980150BA5B}"/>
                </a:ext>
              </a:extLst>
            </p:cNvPr>
            <p:cNvSpPr txBox="1"/>
            <p:nvPr/>
          </p:nvSpPr>
          <p:spPr>
            <a:xfrm>
              <a:off x="5399553" y="2850390"/>
              <a:ext cx="185792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atin typeface="+mn-ea"/>
                </a:rPr>
                <a:t>1. </a:t>
              </a:r>
              <a:r>
                <a:rPr lang="ko-KR" altLang="en-US" sz="1200" b="1" dirty="0">
                  <a:latin typeface="+mn-ea"/>
                </a:rPr>
                <a:t>관계 비</a:t>
              </a:r>
              <a:r>
                <a:rPr lang="en-US" altLang="ko-KR" sz="1200" b="1" dirty="0">
                  <a:latin typeface="+mn-ea"/>
                </a:rPr>
                <a:t>(Cardinality)</a:t>
              </a:r>
              <a:endParaRPr lang="ko-KR" altLang="en-US" sz="12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454CAA6-8708-3ED1-8CE6-02A517BB215E}"/>
                </a:ext>
              </a:extLst>
            </p:cNvPr>
            <p:cNvSpPr txBox="1"/>
            <p:nvPr/>
          </p:nvSpPr>
          <p:spPr>
            <a:xfrm>
              <a:off x="5386810" y="3228905"/>
              <a:ext cx="214050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atin typeface="+mn-ea"/>
                </a:rPr>
                <a:t>2. </a:t>
              </a:r>
              <a:r>
                <a:rPr lang="ko-KR" altLang="en-US" sz="1200" b="1" dirty="0">
                  <a:latin typeface="+mn-ea"/>
                </a:rPr>
                <a:t>관계 존재성</a:t>
              </a:r>
              <a:r>
                <a:rPr lang="en-US" altLang="ko-KR" sz="1200" b="1" dirty="0">
                  <a:latin typeface="+mn-ea"/>
                </a:rPr>
                <a:t>(Optionality)</a:t>
              </a:r>
              <a:endParaRPr lang="ko-KR" altLang="en-US" sz="12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79E9650-F8D1-E3AB-EEE1-BD52EE5BFC9B}"/>
                </a:ext>
              </a:extLst>
            </p:cNvPr>
            <p:cNvSpPr txBox="1"/>
            <p:nvPr/>
          </p:nvSpPr>
          <p:spPr>
            <a:xfrm>
              <a:off x="3888958" y="5049691"/>
              <a:ext cx="243792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atin typeface="+mn-ea"/>
                </a:rPr>
                <a:t>3. </a:t>
              </a:r>
              <a:r>
                <a:rPr lang="ko-KR" altLang="en-US" sz="1200" b="1" dirty="0">
                  <a:latin typeface="+mn-ea"/>
                </a:rPr>
                <a:t>관계 타입</a:t>
              </a:r>
              <a:r>
                <a:rPr lang="en-US" altLang="ko-KR" sz="1200" b="1" dirty="0">
                  <a:latin typeface="+mn-ea"/>
                </a:rPr>
                <a:t>(Relationship Type)</a:t>
              </a:r>
              <a:endParaRPr lang="ko-KR" altLang="en-US" sz="12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3C3BBD-B46C-656E-E528-CCAD3B210CCB}"/>
                </a:ext>
              </a:extLst>
            </p:cNvPr>
            <p:cNvSpPr txBox="1"/>
            <p:nvPr/>
          </p:nvSpPr>
          <p:spPr>
            <a:xfrm>
              <a:off x="4795569" y="5802911"/>
              <a:ext cx="2892855" cy="2852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atin typeface="+mn-ea"/>
                </a:rPr>
                <a:t>4. </a:t>
              </a:r>
              <a:r>
                <a:rPr lang="ko-KR" altLang="en-US" sz="1200" b="1" dirty="0">
                  <a:latin typeface="+mn-ea"/>
                </a:rPr>
                <a:t>관계 참여 수</a:t>
              </a:r>
              <a:r>
                <a:rPr lang="en-US" altLang="ko-KR" sz="1200" b="1" dirty="0">
                  <a:latin typeface="+mn-ea"/>
                </a:rPr>
                <a:t>(Relationship Degree)</a:t>
              </a:r>
              <a:endParaRPr lang="ko-KR" altLang="en-US" sz="12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5691FE8-230D-7E45-EA89-31C6444F933E}"/>
                </a:ext>
              </a:extLst>
            </p:cNvPr>
            <p:cNvSpPr txBox="1"/>
            <p:nvPr/>
          </p:nvSpPr>
          <p:spPr>
            <a:xfrm>
              <a:off x="4795570" y="5342829"/>
              <a:ext cx="243792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atin typeface="+mn-ea"/>
                </a:rPr>
                <a:t>5. </a:t>
              </a:r>
              <a:r>
                <a:rPr lang="ko-KR" altLang="en-US" sz="1200" b="1" dirty="0">
                  <a:latin typeface="+mn-ea"/>
                </a:rPr>
                <a:t>관계 명</a:t>
              </a:r>
              <a:r>
                <a:rPr lang="en-US" altLang="ko-KR" sz="1200" b="1" dirty="0">
                  <a:latin typeface="+mn-ea"/>
                </a:rPr>
                <a:t>(Relationship Name)</a:t>
              </a:r>
              <a:endParaRPr lang="ko-KR" altLang="en-US" sz="1200" dirty="0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B20526EE-3CCD-2EF7-591D-621B1C538389}"/>
                </a:ext>
              </a:extLst>
            </p:cNvPr>
            <p:cNvSpPr/>
            <p:nvPr/>
          </p:nvSpPr>
          <p:spPr>
            <a:xfrm>
              <a:off x="7883056" y="4432279"/>
              <a:ext cx="283168" cy="28316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BC1543E9-CE47-26BB-6BA9-5669942F970A}"/>
                </a:ext>
              </a:extLst>
            </p:cNvPr>
            <p:cNvSpPr/>
            <p:nvPr/>
          </p:nvSpPr>
          <p:spPr>
            <a:xfrm>
              <a:off x="4795569" y="4441332"/>
              <a:ext cx="283168" cy="28316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2" name="연결선: 꺾임 21">
              <a:extLst>
                <a:ext uri="{FF2B5EF4-FFF2-40B4-BE49-F238E27FC236}">
                  <a16:creationId xmlns:a16="http://schemas.microsoft.com/office/drawing/2014/main" id="{3416D9C5-4379-EE41-0B3B-94EDC1C245C0}"/>
                </a:ext>
              </a:extLst>
            </p:cNvPr>
            <p:cNvCxnSpPr>
              <a:cxnSpLocks/>
              <a:stCxn id="11" idx="1"/>
              <a:endCxn id="20" idx="0"/>
            </p:cNvCxnSpPr>
            <p:nvPr/>
          </p:nvCxnSpPr>
          <p:spPr>
            <a:xfrm rot="10800000" flipV="1">
              <a:off x="4937153" y="2988890"/>
              <a:ext cx="462400" cy="1452442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연결선: 꺾임 23">
              <a:extLst>
                <a:ext uri="{FF2B5EF4-FFF2-40B4-BE49-F238E27FC236}">
                  <a16:creationId xmlns:a16="http://schemas.microsoft.com/office/drawing/2014/main" id="{6488D0DB-BFB1-B67F-A670-B15AC7695797}"/>
                </a:ext>
              </a:extLst>
            </p:cNvPr>
            <p:cNvCxnSpPr>
              <a:cxnSpLocks/>
              <a:stCxn id="11" idx="3"/>
              <a:endCxn id="18" idx="0"/>
            </p:cNvCxnSpPr>
            <p:nvPr/>
          </p:nvCxnSpPr>
          <p:spPr>
            <a:xfrm>
              <a:off x="7257478" y="2988890"/>
              <a:ext cx="767162" cy="1443389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2CE786C9-1116-E5B1-13E4-BE5835FC869F}"/>
                </a:ext>
              </a:extLst>
            </p:cNvPr>
            <p:cNvSpPr/>
            <p:nvPr/>
          </p:nvSpPr>
          <p:spPr>
            <a:xfrm>
              <a:off x="5142115" y="4441332"/>
              <a:ext cx="283168" cy="283168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4527C2CD-56C1-68A9-CC8C-91F6B3B28680}"/>
                </a:ext>
              </a:extLst>
            </p:cNvPr>
            <p:cNvSpPr/>
            <p:nvPr/>
          </p:nvSpPr>
          <p:spPr>
            <a:xfrm>
              <a:off x="6741040" y="4431482"/>
              <a:ext cx="283168" cy="283168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0" name="연결선: 꺾임 29">
              <a:extLst>
                <a:ext uri="{FF2B5EF4-FFF2-40B4-BE49-F238E27FC236}">
                  <a16:creationId xmlns:a16="http://schemas.microsoft.com/office/drawing/2014/main" id="{8442E7A2-5D1E-24C3-6CE9-5FFE94CD0BA5}"/>
                </a:ext>
              </a:extLst>
            </p:cNvPr>
            <p:cNvCxnSpPr>
              <a:cxnSpLocks/>
              <a:stCxn id="12" idx="1"/>
              <a:endCxn id="28" idx="0"/>
            </p:cNvCxnSpPr>
            <p:nvPr/>
          </p:nvCxnSpPr>
          <p:spPr>
            <a:xfrm rot="10800000" flipV="1">
              <a:off x="5283700" y="3367404"/>
              <a:ext cx="103111" cy="1073927"/>
            </a:xfrm>
            <a:prstGeom prst="bentConnector2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연결선: 꺾임 32">
              <a:extLst>
                <a:ext uri="{FF2B5EF4-FFF2-40B4-BE49-F238E27FC236}">
                  <a16:creationId xmlns:a16="http://schemas.microsoft.com/office/drawing/2014/main" id="{0B5620A6-B15B-FB9D-1F05-2AE3BB383398}"/>
                </a:ext>
              </a:extLst>
            </p:cNvPr>
            <p:cNvCxnSpPr>
              <a:cxnSpLocks/>
              <a:stCxn id="12" idx="3"/>
              <a:endCxn id="29" idx="0"/>
            </p:cNvCxnSpPr>
            <p:nvPr/>
          </p:nvCxnSpPr>
          <p:spPr>
            <a:xfrm flipH="1">
              <a:off x="6882624" y="3367405"/>
              <a:ext cx="644692" cy="1064077"/>
            </a:xfrm>
            <a:prstGeom prst="bentConnector4">
              <a:avLst>
                <a:gd name="adj1" fmla="val -35459"/>
                <a:gd name="adj2" fmla="val 56508"/>
              </a:avLst>
            </a:prstGeom>
            <a:ln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D7D6B88F-C739-DF33-BE01-592FDB1B8611}"/>
                </a:ext>
              </a:extLst>
            </p:cNvPr>
            <p:cNvSpPr/>
            <p:nvPr/>
          </p:nvSpPr>
          <p:spPr>
            <a:xfrm>
              <a:off x="7024209" y="4596767"/>
              <a:ext cx="1006216" cy="282370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9" name="연결선: 꺾임 38">
              <a:extLst>
                <a:ext uri="{FF2B5EF4-FFF2-40B4-BE49-F238E27FC236}">
                  <a16:creationId xmlns:a16="http://schemas.microsoft.com/office/drawing/2014/main" id="{9C474987-7213-AF82-4348-1C2FA35BDA96}"/>
                </a:ext>
              </a:extLst>
            </p:cNvPr>
            <p:cNvCxnSpPr>
              <a:cxnSpLocks/>
              <a:stCxn id="16" idx="3"/>
              <a:endCxn id="38" idx="2"/>
            </p:cNvCxnSpPr>
            <p:nvPr/>
          </p:nvCxnSpPr>
          <p:spPr>
            <a:xfrm flipV="1">
              <a:off x="7233496" y="4879137"/>
              <a:ext cx="293821" cy="602192"/>
            </a:xfrm>
            <a:prstGeom prst="bentConnector2">
              <a:avLst/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6A12C56F-72F4-272A-5B73-18A6D898F2BF}"/>
                </a:ext>
              </a:extLst>
            </p:cNvPr>
            <p:cNvSpPr/>
            <p:nvPr/>
          </p:nvSpPr>
          <p:spPr>
            <a:xfrm>
              <a:off x="2211047" y="3561513"/>
              <a:ext cx="2789484" cy="1371429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0F155886-C351-75EA-AC63-ED930D161FEB}"/>
                </a:ext>
              </a:extLst>
            </p:cNvPr>
            <p:cNvSpPr/>
            <p:nvPr/>
          </p:nvSpPr>
          <p:spPr>
            <a:xfrm>
              <a:off x="7980880" y="3561513"/>
              <a:ext cx="2887309" cy="1371429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연결선: 꺾임 47">
              <a:extLst>
                <a:ext uri="{FF2B5EF4-FFF2-40B4-BE49-F238E27FC236}">
                  <a16:creationId xmlns:a16="http://schemas.microsoft.com/office/drawing/2014/main" id="{DD3BC06D-6430-0955-3C00-3C48C28E38BD}"/>
                </a:ext>
              </a:extLst>
            </p:cNvPr>
            <p:cNvCxnSpPr>
              <a:cxnSpLocks/>
              <a:stCxn id="15" idx="1"/>
              <a:endCxn id="46" idx="2"/>
            </p:cNvCxnSpPr>
            <p:nvPr/>
          </p:nvCxnSpPr>
          <p:spPr>
            <a:xfrm rot="10800000">
              <a:off x="3605789" y="4932943"/>
              <a:ext cx="1189780" cy="1012575"/>
            </a:xfrm>
            <a:prstGeom prst="bentConnector2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연결선: 꺾임 50">
              <a:extLst>
                <a:ext uri="{FF2B5EF4-FFF2-40B4-BE49-F238E27FC236}">
                  <a16:creationId xmlns:a16="http://schemas.microsoft.com/office/drawing/2014/main" id="{A0709BBC-6725-A2BA-76DA-F34EFE539197}"/>
                </a:ext>
              </a:extLst>
            </p:cNvPr>
            <p:cNvCxnSpPr>
              <a:cxnSpLocks/>
              <a:stCxn id="15" idx="3"/>
              <a:endCxn id="47" idx="2"/>
            </p:cNvCxnSpPr>
            <p:nvPr/>
          </p:nvCxnSpPr>
          <p:spPr>
            <a:xfrm flipV="1">
              <a:off x="7688424" y="4932942"/>
              <a:ext cx="1736111" cy="1012575"/>
            </a:xfrm>
            <a:prstGeom prst="bentConnector2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214CECDA-6D98-105A-BC78-15E1DF72752C}"/>
                </a:ext>
              </a:extLst>
            </p:cNvPr>
            <p:cNvSpPr/>
            <p:nvPr/>
          </p:nvSpPr>
          <p:spPr>
            <a:xfrm>
              <a:off x="6326884" y="4441332"/>
              <a:ext cx="283168" cy="283168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2" name="연결선: 꺾임 61">
              <a:extLst>
                <a:ext uri="{FF2B5EF4-FFF2-40B4-BE49-F238E27FC236}">
                  <a16:creationId xmlns:a16="http://schemas.microsoft.com/office/drawing/2014/main" id="{3486F102-40E0-90F8-6D18-85F5EC409D76}"/>
                </a:ext>
              </a:extLst>
            </p:cNvPr>
            <p:cNvCxnSpPr>
              <a:cxnSpLocks/>
              <a:stCxn id="14" idx="3"/>
              <a:endCxn id="61" idx="4"/>
            </p:cNvCxnSpPr>
            <p:nvPr/>
          </p:nvCxnSpPr>
          <p:spPr>
            <a:xfrm flipV="1">
              <a:off x="6326884" y="4724500"/>
              <a:ext cx="141584" cy="463691"/>
            </a:xfrm>
            <a:prstGeom prst="bentConnector2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CAD8645-0F95-2397-B4CB-DA25EF038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199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7230106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1125066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관계선의 구성요소 </a:t>
            </a:r>
            <a:r>
              <a:rPr lang="en-US" altLang="ko-KR" b="1" dirty="0">
                <a:latin typeface="+mn-ea"/>
              </a:rPr>
              <a:t>(2/2)</a:t>
            </a:r>
            <a:endParaRPr lang="en-US" altLang="ko-KR" sz="1200" b="1" u="sng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 err="1">
                <a:latin typeface="+mn-ea"/>
              </a:rPr>
              <a:t>관계비</a:t>
            </a:r>
            <a:r>
              <a:rPr lang="en-US" altLang="ko-KR" sz="1600" b="1" dirty="0">
                <a:latin typeface="+mn-ea"/>
              </a:rPr>
              <a:t>(Cardinality)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하나의 인스턴스와 관계 있는 상대 인스턴스의 개수를 의미한다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관계비는 보통 새 발</a:t>
            </a:r>
            <a:r>
              <a:rPr lang="en-US" altLang="ko-KR" sz="1400" dirty="0">
                <a:latin typeface="+mn-ea"/>
              </a:rPr>
              <a:t>(Craw’s Foot)</a:t>
            </a:r>
            <a:r>
              <a:rPr lang="ko-KR" altLang="en-US" sz="1400" dirty="0">
                <a:latin typeface="+mn-ea"/>
              </a:rPr>
              <a:t>로 표시한다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관계 존재성</a:t>
            </a:r>
            <a:r>
              <a:rPr lang="en-US" altLang="ko-KR" sz="1600" b="1" dirty="0">
                <a:latin typeface="+mn-ea"/>
              </a:rPr>
              <a:t>(Optionality)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하나의 인스턴스와 관계 있는 상대 인스턴스의 존재 여부를 의미한다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상대 인스턴스가 반드시 존재해야 하는지</a:t>
            </a:r>
            <a:r>
              <a:rPr lang="en-US" altLang="ko-KR" sz="1400" dirty="0">
                <a:latin typeface="+mn-ea"/>
              </a:rPr>
              <a:t>(Mandatory), </a:t>
            </a:r>
            <a:r>
              <a:rPr lang="ko-KR" altLang="en-US" sz="1400" dirty="0">
                <a:latin typeface="+mn-ea"/>
              </a:rPr>
              <a:t>존재하지 않아도 되는지</a:t>
            </a:r>
            <a:r>
              <a:rPr lang="en-US" altLang="ko-KR" sz="1400" dirty="0">
                <a:latin typeface="+mn-ea"/>
              </a:rPr>
              <a:t>(Optional)</a:t>
            </a:r>
            <a:r>
              <a:rPr lang="ko-KR" altLang="en-US" sz="1400" dirty="0">
                <a:latin typeface="+mn-ea"/>
              </a:rPr>
              <a:t>를 의미한다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관계 타입</a:t>
            </a:r>
            <a:r>
              <a:rPr lang="en-US" altLang="ko-KR" sz="1600" b="1" dirty="0">
                <a:latin typeface="+mn-ea"/>
              </a:rPr>
              <a:t>(Relationship Type)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관계를 상속할 때 식별 관계로 상속하는지 </a:t>
            </a:r>
            <a:r>
              <a:rPr lang="ko-KR" altLang="en-US" sz="1400" dirty="0" err="1">
                <a:latin typeface="+mn-ea"/>
              </a:rPr>
              <a:t>비식별</a:t>
            </a:r>
            <a:r>
              <a:rPr lang="ko-KR" altLang="en-US" sz="1400" dirty="0">
                <a:latin typeface="+mn-ea"/>
              </a:rPr>
              <a:t> 관계로 상속하는지를 관계 타입</a:t>
            </a:r>
            <a:r>
              <a:rPr lang="en-US" altLang="ko-KR" sz="1400" dirty="0">
                <a:latin typeface="+mn-ea"/>
              </a:rPr>
              <a:t>(Relationship Type) </a:t>
            </a:r>
            <a:r>
              <a:rPr lang="ko-KR" altLang="en-US" sz="1400" dirty="0">
                <a:latin typeface="+mn-ea"/>
              </a:rPr>
              <a:t>이라고 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관계 참여 수</a:t>
            </a:r>
            <a:r>
              <a:rPr lang="en-US" altLang="ko-KR" sz="1600" b="1" dirty="0">
                <a:latin typeface="+mn-ea"/>
              </a:rPr>
              <a:t>(Relationship Degree)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관계선과 연관된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개수를 의미한다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다수의 관계 참여 수는 두 개의 </a:t>
            </a:r>
            <a:r>
              <a:rPr lang="ko-KR" altLang="en-US" sz="1400" dirty="0" err="1">
                <a:latin typeface="+mn-ea"/>
              </a:rPr>
              <a:t>엔터티며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간혹 세 개의 </a:t>
            </a:r>
            <a:r>
              <a:rPr lang="ko-KR" altLang="en-US" sz="1400" dirty="0" err="1">
                <a:latin typeface="+mn-ea"/>
              </a:rPr>
              <a:t>엔터티도</a:t>
            </a:r>
            <a:r>
              <a:rPr lang="ko-KR" altLang="en-US" sz="1400" dirty="0">
                <a:latin typeface="+mn-ea"/>
              </a:rPr>
              <a:t> 발생한다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관계 명</a:t>
            </a:r>
            <a:r>
              <a:rPr lang="en-US" altLang="ko-KR" sz="1600" b="1" dirty="0">
                <a:latin typeface="+mn-ea"/>
              </a:rPr>
              <a:t>(Relationship Name)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모델의 가독성을 높이기 위해 붙인다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따라서 직관적으로 알 수 있는 대부분 관계에는 관계 명을 사용하지 않는다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C32ED1-B0C0-4C81-181F-7C0431910B24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관계비와 관계 존재성의 표기법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57E5A53-6990-6C67-9921-086D0F963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200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1840957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1125066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관계 구성 요소 </a:t>
            </a:r>
            <a:r>
              <a:rPr lang="en-US" altLang="ko-KR" b="1" dirty="0">
                <a:latin typeface="+mn-ea"/>
              </a:rPr>
              <a:t>– I. </a:t>
            </a:r>
            <a:r>
              <a:rPr lang="ko-KR" altLang="en-US" b="1" dirty="0">
                <a:latin typeface="+mn-ea"/>
              </a:rPr>
              <a:t>관계 비</a:t>
            </a:r>
            <a:r>
              <a:rPr lang="en-US" altLang="ko-KR" b="1" dirty="0">
                <a:latin typeface="+mn-ea"/>
              </a:rPr>
              <a:t>(Cardinality) (1/2)</a:t>
            </a:r>
            <a:endParaRPr lang="en-US" altLang="ko-KR" sz="1200" b="1" u="sng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 err="1">
                <a:latin typeface="+mn-ea"/>
              </a:rPr>
              <a:t>관계비</a:t>
            </a:r>
            <a:r>
              <a:rPr lang="en-US" altLang="ko-KR" sz="1600" b="1" dirty="0">
                <a:latin typeface="+mn-ea"/>
              </a:rPr>
              <a:t>(Cardinality)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+mn-ea"/>
              </a:rPr>
              <a:t>관계비</a:t>
            </a:r>
            <a:r>
              <a:rPr lang="en-US" altLang="ko-KR" sz="1400" dirty="0">
                <a:latin typeface="+mn-ea"/>
              </a:rPr>
              <a:t>(Cardinality)</a:t>
            </a:r>
            <a:r>
              <a:rPr lang="ko-KR" altLang="en-US" sz="1400" dirty="0">
                <a:latin typeface="+mn-ea"/>
              </a:rPr>
              <a:t>는 관계 구성 요소 중에서도 가장 기조가 되는 요소로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관계를 언급할 때 빼 놓을 수 없는 요소다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그만큼 모든 </a:t>
            </a:r>
            <a:r>
              <a:rPr lang="ko-KR" altLang="en-US" sz="1400" dirty="0" err="1">
                <a:latin typeface="+mn-ea"/>
              </a:rPr>
              <a:t>모델러가</a:t>
            </a:r>
            <a:r>
              <a:rPr lang="ko-KR" altLang="en-US" sz="1400" dirty="0">
                <a:latin typeface="+mn-ea"/>
              </a:rPr>
              <a:t> 잘 알고 있는 부분이다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상위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부모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한 개의 인스턴스가 하위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자식</a:t>
            </a:r>
            <a:r>
              <a:rPr lang="en-US" altLang="ko-KR" sz="1400" dirty="0">
                <a:latin typeface="+mn-ea"/>
              </a:rPr>
              <a:t>)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몇 개의 인스턴스와 연관이 있는지를 의미하는 용어다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이는 일종의 제약으로 </a:t>
            </a:r>
            <a:r>
              <a:rPr lang="en-US" altLang="ko-KR" sz="1400" dirty="0">
                <a:latin typeface="+mn-ea"/>
              </a:rPr>
              <a:t>Participation(</a:t>
            </a:r>
            <a:r>
              <a:rPr lang="ko-KR" altLang="en-US" sz="1400" dirty="0" err="1">
                <a:latin typeface="+mn-ea"/>
              </a:rPr>
              <a:t>참여비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이라고도 표현한다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관계를 분석할 때 소위 ‘</a:t>
            </a:r>
            <a:r>
              <a:rPr lang="ko-KR" altLang="en-US" sz="1400" dirty="0" err="1">
                <a:latin typeface="+mn-ea"/>
              </a:rPr>
              <a:t>몇대몇</a:t>
            </a:r>
            <a:r>
              <a:rPr lang="ko-KR" altLang="en-US" sz="1400" dirty="0">
                <a:latin typeface="+mn-ea"/>
              </a:rPr>
              <a:t>’ 이라고 하는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관계선을 표현할 때 가장 기본적인 요소가 관계비다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관계비의 종류에는 일대일</a:t>
            </a:r>
            <a:r>
              <a:rPr lang="en-US" altLang="ko-KR" sz="1400" dirty="0">
                <a:latin typeface="+mn-ea"/>
              </a:rPr>
              <a:t>(1:1)</a:t>
            </a:r>
            <a:r>
              <a:rPr lang="ko-KR" altLang="en-US" sz="1400" dirty="0">
                <a:latin typeface="+mn-ea"/>
              </a:rPr>
              <a:t>，일대다</a:t>
            </a:r>
            <a:r>
              <a:rPr lang="en-US" altLang="ko-KR" sz="1400" dirty="0">
                <a:latin typeface="+mn-ea"/>
              </a:rPr>
              <a:t>(1:M)</a:t>
            </a:r>
            <a:r>
              <a:rPr lang="ko-KR" altLang="en-US" sz="1400" dirty="0">
                <a:latin typeface="+mn-ea"/>
              </a:rPr>
              <a:t>，다대다</a:t>
            </a:r>
            <a:r>
              <a:rPr lang="en-US" altLang="ko-KR" sz="1400" dirty="0">
                <a:latin typeface="+mn-ea"/>
              </a:rPr>
              <a:t>(M:M)</a:t>
            </a:r>
            <a:r>
              <a:rPr lang="ko-KR" altLang="en-US" sz="1400" dirty="0">
                <a:latin typeface="+mn-ea"/>
              </a:rPr>
              <a:t>가 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보통 일대일</a:t>
            </a:r>
            <a:r>
              <a:rPr lang="en-US" altLang="ko-KR" sz="1400" dirty="0">
                <a:latin typeface="+mn-ea"/>
              </a:rPr>
              <a:t>(1:1) </a:t>
            </a:r>
            <a:r>
              <a:rPr lang="ko-KR" altLang="en-US" sz="1400" dirty="0">
                <a:latin typeface="+mn-ea"/>
              </a:rPr>
              <a:t>관계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일대다</a:t>
            </a:r>
            <a:r>
              <a:rPr lang="en-US" altLang="ko-KR" sz="1400" dirty="0">
                <a:latin typeface="+mn-ea"/>
              </a:rPr>
              <a:t>(1:M) </a:t>
            </a:r>
            <a:r>
              <a:rPr lang="ko-KR" altLang="en-US" sz="1400" dirty="0">
                <a:latin typeface="+mn-ea"/>
              </a:rPr>
              <a:t>관계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다대다</a:t>
            </a:r>
            <a:r>
              <a:rPr lang="en-US" altLang="ko-KR" sz="1400" dirty="0">
                <a:latin typeface="+mn-ea"/>
              </a:rPr>
              <a:t>(M:M) </a:t>
            </a:r>
            <a:r>
              <a:rPr lang="ko-KR" altLang="en-US" sz="1400" dirty="0">
                <a:latin typeface="+mn-ea"/>
              </a:rPr>
              <a:t>관계라고 부른다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ko-KR" altLang="en-US" sz="1400" b="1" dirty="0">
                <a:latin typeface="+mn-ea"/>
              </a:rPr>
              <a:t>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일대일 관계</a:t>
            </a:r>
            <a:endParaRPr lang="en-US" altLang="ko-KR" sz="1400" b="1" u="sng" dirty="0">
              <a:solidFill>
                <a:srgbClr val="FF0000"/>
              </a:solidFill>
              <a:latin typeface="+mn-ea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일대일</a:t>
            </a:r>
            <a:r>
              <a:rPr lang="en-US" altLang="ko-KR" sz="1400" dirty="0">
                <a:latin typeface="+mn-ea"/>
              </a:rPr>
              <a:t>(1:1) </a:t>
            </a:r>
            <a:r>
              <a:rPr lang="ko-KR" altLang="en-US" sz="1400" dirty="0">
                <a:latin typeface="+mn-ea"/>
              </a:rPr>
              <a:t>관계는 상위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부모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하나의 인스턴스에 </a:t>
            </a:r>
            <a:endParaRPr lang="en-US" altLang="ko-KR" sz="1400" dirty="0">
              <a:latin typeface="+mn-ea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하위 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자식</a:t>
            </a:r>
            <a:r>
              <a:rPr lang="en-US" altLang="ko-KR" sz="1400" dirty="0">
                <a:latin typeface="+mn-ea"/>
              </a:rPr>
              <a:t>)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인스턴스가 최대 하나만 연관된다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5.44]</a:t>
            </a:r>
            <a:r>
              <a:rPr lang="ko-KR" altLang="en-US" sz="1400" dirty="0">
                <a:latin typeface="+mn-ea"/>
              </a:rPr>
              <a:t>의 부서와 부서장은 일대일</a:t>
            </a:r>
            <a:r>
              <a:rPr lang="en-US" altLang="ko-KR" sz="1400" dirty="0">
                <a:latin typeface="+mn-ea"/>
              </a:rPr>
              <a:t>(1:1) </a:t>
            </a:r>
            <a:r>
              <a:rPr lang="ko-KR" altLang="en-US" sz="1400" dirty="0">
                <a:latin typeface="+mn-ea"/>
              </a:rPr>
              <a:t>관계를 나타낸다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부서장 집합과 부서 집합의 요소가 서로 하나씩만 연결돼 있다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부서에는 부서장이 한 명이며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한 사람이 여러 부서의 부서장을</a:t>
            </a:r>
            <a:endParaRPr lang="en-US" altLang="ko-KR" sz="1400" dirty="0">
              <a:latin typeface="+mn-ea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할 수 없다는 업무 요건이 있는 것이다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업무에 의한 일대일 관계 외에도 성능이나 모델 관리 측면에서 </a:t>
            </a:r>
            <a:endParaRPr lang="en-US" altLang="ko-KR" sz="1400" dirty="0">
              <a:latin typeface="+mn-ea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일대일 관계가 나타날 수 있다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4FD6E8C-519E-BB69-8EE5-17C081408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2641" y="3979655"/>
            <a:ext cx="2038635" cy="20100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FE8F220-5AB5-86FF-4038-DE11E6CBDC51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관계비와 관계 존재성의 표기법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AE0F6C-AF24-BA48-41B2-75B6EB11E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201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4800687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1125066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관계 구성 요소 </a:t>
            </a:r>
            <a:r>
              <a:rPr lang="en-US" altLang="ko-KR" b="1" dirty="0">
                <a:latin typeface="+mn-ea"/>
              </a:rPr>
              <a:t>– I. </a:t>
            </a:r>
            <a:r>
              <a:rPr lang="ko-KR" altLang="en-US" b="1" dirty="0">
                <a:latin typeface="+mn-ea"/>
              </a:rPr>
              <a:t>관계 비</a:t>
            </a:r>
            <a:r>
              <a:rPr lang="en-US" altLang="ko-KR" b="1" dirty="0">
                <a:latin typeface="+mn-ea"/>
              </a:rPr>
              <a:t>(Cardinality) (2/2)</a:t>
            </a:r>
            <a:endParaRPr lang="en-US" altLang="ko-KR" sz="1200" b="1" u="sng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 err="1">
                <a:latin typeface="+mn-ea"/>
              </a:rPr>
              <a:t>관계비</a:t>
            </a:r>
            <a:r>
              <a:rPr lang="en-US" altLang="ko-KR" sz="1600" b="1" dirty="0">
                <a:latin typeface="+mn-ea"/>
              </a:rPr>
              <a:t>(Cardinality)</a:t>
            </a:r>
          </a:p>
          <a:p>
            <a:pPr marL="1200150" lvl="2" indent="-285750">
              <a:buFont typeface="Wingdings" panose="05000000000000000000" pitchFamily="2" charset="2"/>
              <a:buChar char="ü"/>
            </a:pPr>
            <a:endParaRPr lang="en-US" altLang="ko-KR" sz="1400" b="1" dirty="0">
              <a:latin typeface="+mn-ea"/>
            </a:endParaRP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ko-KR" altLang="en-US" sz="1400" b="1" dirty="0">
                <a:latin typeface="+mn-ea"/>
              </a:rPr>
              <a:t>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일대다 관계</a:t>
            </a:r>
            <a:endParaRPr lang="en-US" altLang="ko-KR" sz="1400" b="1" u="sng" dirty="0">
              <a:solidFill>
                <a:srgbClr val="FF0000"/>
              </a:solidFill>
              <a:latin typeface="+mn-ea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일대다</a:t>
            </a:r>
            <a:r>
              <a:rPr lang="en-US" altLang="ko-KR" sz="1200" dirty="0">
                <a:latin typeface="+mn-ea"/>
              </a:rPr>
              <a:t>(1:M)</a:t>
            </a:r>
            <a:r>
              <a:rPr lang="ko-KR" altLang="en-US" sz="1200" dirty="0">
                <a:latin typeface="+mn-ea"/>
              </a:rPr>
              <a:t>는 대부분 관계에서 발생하는 관계비다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즉 상위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부모</a:t>
            </a:r>
            <a:r>
              <a:rPr lang="en-US" altLang="ko-KR" sz="1200" dirty="0">
                <a:latin typeface="+mn-ea"/>
              </a:rPr>
              <a:t>)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엔터티의</a:t>
            </a:r>
            <a:r>
              <a:rPr lang="ko-KR" altLang="en-US" sz="1200" dirty="0">
                <a:latin typeface="+mn-ea"/>
              </a:rPr>
              <a:t> 인스턴스 하나와 연관된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하위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자식</a:t>
            </a:r>
            <a:r>
              <a:rPr lang="en-US" altLang="ko-KR" sz="1200" dirty="0">
                <a:latin typeface="+mn-ea"/>
              </a:rPr>
              <a:t>) </a:t>
            </a:r>
            <a:r>
              <a:rPr lang="ko-KR" altLang="en-US" sz="1200" dirty="0" err="1">
                <a:latin typeface="+mn-ea"/>
              </a:rPr>
              <a:t>엔터티의</a:t>
            </a:r>
            <a:r>
              <a:rPr lang="ko-KR" altLang="en-US" sz="1200" dirty="0">
                <a:latin typeface="+mn-ea"/>
              </a:rPr>
              <a:t> 인스턴스가 최소한 하나다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5.45] </a:t>
            </a:r>
            <a:r>
              <a:rPr lang="ko-KR" altLang="en-US" sz="1200" dirty="0">
                <a:latin typeface="+mn-ea"/>
              </a:rPr>
              <a:t>부서 집합과 사원 집합은 일대다</a:t>
            </a:r>
            <a:r>
              <a:rPr lang="en-US" altLang="ko-KR" sz="1200" dirty="0">
                <a:latin typeface="+mn-ea"/>
              </a:rPr>
              <a:t>(1:M)</a:t>
            </a:r>
            <a:r>
              <a:rPr lang="ko-KR" altLang="en-US" sz="1200" dirty="0">
                <a:latin typeface="+mn-ea"/>
              </a:rPr>
              <a:t>로 연결돼 있다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21D1297-4011-0B02-27D2-E8C94B50E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801" y="1857634"/>
            <a:ext cx="2010056" cy="198147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5B2CA30-7122-89AB-86CC-25F552567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943" y="3939669"/>
            <a:ext cx="2057687" cy="19910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EE2B709-A7B7-A4CB-41E4-2A11979EAF68}"/>
              </a:ext>
            </a:extLst>
          </p:cNvPr>
          <p:cNvSpPr txBox="1"/>
          <p:nvPr/>
        </p:nvSpPr>
        <p:spPr>
          <a:xfrm>
            <a:off x="5024674" y="4042618"/>
            <a:ext cx="6826148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b="1" u="sng" dirty="0">
                <a:latin typeface="+mn-ea"/>
              </a:rPr>
              <a:t>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다대다 관계</a:t>
            </a:r>
            <a:endParaRPr lang="en-US" altLang="ko-KR" sz="1400" b="1" u="sng" dirty="0">
              <a:solidFill>
                <a:srgbClr val="FF0000"/>
              </a:solidFill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5.46]</a:t>
            </a:r>
            <a:r>
              <a:rPr lang="ko-KR" altLang="en-US" sz="1200" dirty="0">
                <a:latin typeface="+mn-ea"/>
              </a:rPr>
              <a:t>은 다대다</a:t>
            </a:r>
            <a:r>
              <a:rPr lang="en-US" altLang="ko-KR" sz="1200" dirty="0">
                <a:latin typeface="+mn-ea"/>
              </a:rPr>
              <a:t>(M:M) </a:t>
            </a:r>
            <a:r>
              <a:rPr lang="ko-KR" altLang="en-US" sz="1200" dirty="0">
                <a:latin typeface="+mn-ea"/>
              </a:rPr>
              <a:t>관계로 학생은 여러 강좌를 수강할 수 있으며，한 강좌에는 여러 학생이 수강할 수 있다는 업무 요건이 있다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이런 다대다</a:t>
            </a:r>
            <a:r>
              <a:rPr lang="en-US" altLang="ko-KR" sz="1200" dirty="0">
                <a:latin typeface="+mn-ea"/>
              </a:rPr>
              <a:t>(M:M) </a:t>
            </a:r>
            <a:r>
              <a:rPr lang="ko-KR" altLang="en-US" sz="1200" dirty="0">
                <a:latin typeface="+mn-ea"/>
              </a:rPr>
              <a:t>관계는 </a:t>
            </a:r>
            <a:r>
              <a:rPr lang="ko-KR" altLang="en-US" sz="1200" b="1" u="sng" dirty="0">
                <a:latin typeface="+mn-ea"/>
              </a:rPr>
              <a:t>논리적으로</a:t>
            </a:r>
            <a:r>
              <a:rPr lang="en-US" altLang="ko-KR" sz="1200" b="1" u="sng" dirty="0">
                <a:latin typeface="+mn-ea"/>
              </a:rPr>
              <a:t>(</a:t>
            </a:r>
            <a:r>
              <a:rPr lang="ko-KR" altLang="en-US" sz="1200" b="1" u="sng" dirty="0">
                <a:latin typeface="+mn-ea"/>
              </a:rPr>
              <a:t>업무적으로</a:t>
            </a:r>
            <a:r>
              <a:rPr lang="en-US" altLang="ko-KR" sz="1200" b="1" u="sng" dirty="0">
                <a:latin typeface="+mn-ea"/>
              </a:rPr>
              <a:t>)</a:t>
            </a:r>
            <a:r>
              <a:rPr lang="ko-KR" altLang="en-US" sz="1200" b="1" u="sng" dirty="0">
                <a:latin typeface="+mn-ea"/>
              </a:rPr>
              <a:t> 많이 발생</a:t>
            </a:r>
            <a:r>
              <a:rPr lang="ko-KR" altLang="en-US" sz="1200" dirty="0">
                <a:latin typeface="+mn-ea"/>
              </a:rPr>
              <a:t>한다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모델링할 때 개념 모델링 단계나 논리 모델링 초기 단계에서 많이 발생한다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하지만 다대다</a:t>
            </a:r>
            <a:r>
              <a:rPr lang="en-US" altLang="ko-KR" sz="1200" dirty="0">
                <a:latin typeface="+mn-ea"/>
              </a:rPr>
              <a:t>(M:M) </a:t>
            </a:r>
            <a:r>
              <a:rPr lang="ko-KR" altLang="en-US" sz="1200" dirty="0">
                <a:latin typeface="+mn-ea"/>
              </a:rPr>
              <a:t>관계는 최종 물리 모델에서는 구현될 수 없다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200" b="1" u="sng" dirty="0">
                <a:latin typeface="+mn-ea"/>
              </a:rPr>
              <a:t>최종 물리 모델에는 일대일</a:t>
            </a:r>
            <a:r>
              <a:rPr lang="en-US" altLang="ko-KR" sz="1200" b="1" u="sng" dirty="0">
                <a:latin typeface="+mn-ea"/>
              </a:rPr>
              <a:t>(1:1)</a:t>
            </a:r>
            <a:r>
              <a:rPr lang="ko-KR" altLang="en-US" sz="1200" b="1" u="sng" dirty="0">
                <a:latin typeface="+mn-ea"/>
              </a:rPr>
              <a:t>과 일대다</a:t>
            </a:r>
            <a:r>
              <a:rPr lang="en-US" altLang="ko-KR" sz="1200" b="1" u="sng" dirty="0">
                <a:latin typeface="+mn-ea"/>
              </a:rPr>
              <a:t>(1:M) </a:t>
            </a:r>
            <a:r>
              <a:rPr lang="ko-KR" altLang="en-US" sz="1200" b="1" u="sng" dirty="0">
                <a:latin typeface="+mn-ea"/>
              </a:rPr>
              <a:t>관계만 존재한다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이때는 </a:t>
            </a:r>
            <a:r>
              <a:rPr lang="ko-KR" altLang="en-US" sz="1400" b="1" u="sng" dirty="0">
                <a:latin typeface="+mn-ea"/>
              </a:rPr>
              <a:t>다대다</a:t>
            </a:r>
            <a:r>
              <a:rPr lang="en-US" altLang="ko-KR" sz="1400" b="1" u="sng" dirty="0">
                <a:latin typeface="+mn-ea"/>
              </a:rPr>
              <a:t>(M:M)</a:t>
            </a:r>
            <a:r>
              <a:rPr lang="en-US" altLang="ko-KR" sz="1200" b="1" u="sng" dirty="0">
                <a:latin typeface="+mn-ea"/>
              </a:rPr>
              <a:t> </a:t>
            </a:r>
            <a:r>
              <a:rPr lang="ko-KR" altLang="en-US" sz="1200" b="1" u="sng" dirty="0">
                <a:latin typeface="+mn-ea"/>
              </a:rPr>
              <a:t>관계가 없어질 때까지</a:t>
            </a:r>
            <a:r>
              <a:rPr lang="ko-KR" altLang="en-US" sz="1200" dirty="0">
                <a:latin typeface="+mn-ea"/>
              </a:rPr>
              <a:t> 계속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교차 </a:t>
            </a:r>
            <a:r>
              <a:rPr lang="ko-KR" altLang="en-US" sz="1400" b="1" u="sng" dirty="0" err="1">
                <a:solidFill>
                  <a:srgbClr val="FF0000"/>
                </a:solidFill>
                <a:latin typeface="+mn-ea"/>
              </a:rPr>
              <a:t>엔터티를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 생성</a:t>
            </a:r>
            <a:r>
              <a:rPr lang="ko-KR" altLang="en-US" sz="1200" dirty="0">
                <a:latin typeface="+mn-ea"/>
              </a:rPr>
              <a:t>해야 한다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016D5D-04CC-63FE-264F-225B5F7266A4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관계비와 관계 존재성의 표기법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39E17B6-12E9-3E9B-6557-DC69424F8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202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4622132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112506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 err="1">
                <a:latin typeface="+mn-ea"/>
              </a:rPr>
              <a:t>관계비</a:t>
            </a:r>
            <a:r>
              <a:rPr lang="ko-KR" altLang="en-US" b="1" dirty="0">
                <a:latin typeface="+mn-ea"/>
              </a:rPr>
              <a:t> 분석방법 </a:t>
            </a:r>
            <a:r>
              <a:rPr lang="en-US" altLang="ko-KR" b="1" dirty="0">
                <a:latin typeface="+mn-ea"/>
              </a:rPr>
              <a:t>(1/2)</a:t>
            </a:r>
            <a:endParaRPr lang="en-US" altLang="ko-KR" sz="1200" b="1" u="sng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 err="1">
                <a:latin typeface="+mn-ea"/>
              </a:rPr>
              <a:t>관계비</a:t>
            </a:r>
            <a:r>
              <a:rPr lang="ko-KR" altLang="en-US" sz="1600" b="1" dirty="0">
                <a:latin typeface="+mn-ea"/>
              </a:rPr>
              <a:t> 분석의 핵심은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상대 인스턴스 개수가 하나인지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하나 이상인지를 파악하는 것</a:t>
            </a:r>
            <a:r>
              <a:rPr lang="ko-KR" altLang="en-US" sz="1600" b="1" dirty="0">
                <a:latin typeface="+mn-ea"/>
              </a:rPr>
              <a:t>이다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이것이 관계를 분석하는 첫 단계이기도 한다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만약 상대 </a:t>
            </a:r>
            <a:r>
              <a:rPr lang="ko-KR" altLang="en-US" sz="1600" b="1" dirty="0" err="1">
                <a:latin typeface="+mn-ea"/>
              </a:rPr>
              <a:t>엔터티의</a:t>
            </a:r>
            <a:r>
              <a:rPr lang="ko-KR" altLang="en-US" sz="1600" b="1" dirty="0">
                <a:latin typeface="+mn-ea"/>
              </a:rPr>
              <a:t> 인스턴스 개수가 최대한 하나라면 일대일</a:t>
            </a:r>
            <a:r>
              <a:rPr lang="en-US" altLang="ko-KR" sz="1600" b="1" dirty="0">
                <a:latin typeface="+mn-ea"/>
              </a:rPr>
              <a:t>0:1) </a:t>
            </a:r>
            <a:r>
              <a:rPr lang="ko-KR" altLang="en-US" sz="1600" b="1" dirty="0">
                <a:latin typeface="+mn-ea"/>
              </a:rPr>
              <a:t>관계가 된다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반면에 최소한 하나라면 일대다</a:t>
            </a:r>
            <a:r>
              <a:rPr lang="en-US" altLang="ko-KR" sz="1600" b="1" dirty="0">
                <a:latin typeface="+mn-ea"/>
              </a:rPr>
              <a:t>(1:M) </a:t>
            </a:r>
            <a:r>
              <a:rPr lang="ko-KR" altLang="en-US" sz="1600" b="1" dirty="0">
                <a:latin typeface="+mn-ea"/>
              </a:rPr>
              <a:t>관계가 된다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u="sng" dirty="0">
                <a:latin typeface="+mn-ea"/>
              </a:rPr>
              <a:t>관계비를 분석</a:t>
            </a:r>
            <a:r>
              <a:rPr lang="ko-KR" altLang="en-US" sz="1400" dirty="0">
                <a:latin typeface="+mn-ea"/>
              </a:rPr>
              <a:t>할 때 </a:t>
            </a:r>
            <a:r>
              <a:rPr lang="ko-KR" altLang="en-US" sz="1400" b="1" u="sng" dirty="0">
                <a:latin typeface="+mn-ea"/>
              </a:rPr>
              <a:t>주의할 점은 두 가지</a:t>
            </a:r>
            <a:r>
              <a:rPr lang="ko-KR" altLang="en-US" sz="1400" dirty="0">
                <a:latin typeface="+mn-ea"/>
              </a:rPr>
              <a:t>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우선 관계비는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특정 시점을 기준으로 하지 않는다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예를 들어 데이터가 입력되는 시점을 기준으로 관계비를 판단하지 않는다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관계비는 발생할 수 있는 가능성을 의미</a:t>
            </a:r>
            <a:r>
              <a:rPr lang="ko-KR" altLang="en-US" sz="1200" dirty="0">
                <a:latin typeface="+mn-ea"/>
              </a:rPr>
              <a:t>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언젠가 생길 가능성이 있는 관계를 의미하기 때문에 특정 시점과는 무관하다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언젠가는 발생할 수 있다는 것에 주의해야 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하지만 언젠가 발생한다는 것은 이력을 의미하지 않는다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이력 데이터가 아닌 원천 데이터만을 대상으로 언젠가 발생할 성이 </a:t>
            </a:r>
            <a:r>
              <a:rPr lang="ko-KR" altLang="en-US" sz="1200" dirty="0" err="1">
                <a:latin typeface="+mn-ea"/>
              </a:rPr>
              <a:t>있느냐로</a:t>
            </a:r>
            <a:r>
              <a:rPr lang="ko-KR" altLang="en-US" sz="1200" dirty="0">
                <a:latin typeface="+mn-ea"/>
              </a:rPr>
              <a:t> 판단한다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결국 관계비에 이력 데이터가 포함될 수 있지만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모델을 설계할 때는 이력 데이터와 원천 데이터를 구분해야 한다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A110EB2-3745-9AF9-1E5A-BACD76795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38" y="4700478"/>
            <a:ext cx="4220164" cy="9621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08E7E17-C39C-A82D-48AB-972D20849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5215" y="4690951"/>
            <a:ext cx="4210638" cy="9716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8AF27D6-D975-E2E2-1636-ECF0D724430D}"/>
              </a:ext>
            </a:extLst>
          </p:cNvPr>
          <p:cNvSpPr txBox="1"/>
          <p:nvPr/>
        </p:nvSpPr>
        <p:spPr>
          <a:xfrm>
            <a:off x="1150552" y="5938596"/>
            <a:ext cx="31037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부서관리사원은 무조건 </a:t>
            </a:r>
            <a:r>
              <a:rPr lang="en-US" altLang="ko-KR" sz="1200" b="1" dirty="0"/>
              <a:t>1</a:t>
            </a:r>
            <a:r>
              <a:rPr lang="ko-KR" altLang="en-US" sz="1200" b="1" dirty="0"/>
              <a:t>명일 경우의 모델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8D49E4-A1AA-D437-CD4C-14617EF1CF70}"/>
              </a:ext>
            </a:extLst>
          </p:cNvPr>
          <p:cNvSpPr txBox="1"/>
          <p:nvPr/>
        </p:nvSpPr>
        <p:spPr>
          <a:xfrm>
            <a:off x="5035215" y="5938596"/>
            <a:ext cx="67477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부서관리사원은 무조건 </a:t>
            </a:r>
            <a:r>
              <a:rPr lang="en-US" altLang="ko-KR" sz="1200" b="1" dirty="0"/>
              <a:t>1</a:t>
            </a:r>
            <a:r>
              <a:rPr lang="ko-KR" altLang="en-US" sz="1200" b="1" dirty="0"/>
              <a:t>명 이상일 경우의 모델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4E71C59-1CAA-F019-8901-A9C551F703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551" y="4109845"/>
            <a:ext cx="2486372" cy="15527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40AB57-3019-F0D9-CC5D-B4E5DBA8B22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관계비와 관계 존재성의 표기법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7E61FA-B8E5-2ECA-CCE1-246BC84BB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203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4319204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112506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 err="1">
                <a:latin typeface="+mn-ea"/>
              </a:rPr>
              <a:t>관계비</a:t>
            </a:r>
            <a:r>
              <a:rPr lang="ko-KR" altLang="en-US" b="1" dirty="0">
                <a:latin typeface="+mn-ea"/>
              </a:rPr>
              <a:t> 분석방법 </a:t>
            </a:r>
            <a:r>
              <a:rPr lang="en-US" altLang="ko-KR" b="1" dirty="0">
                <a:latin typeface="+mn-ea"/>
              </a:rPr>
              <a:t>(2/2)</a:t>
            </a:r>
            <a:endParaRPr lang="en-US" altLang="ko-KR" sz="1200" b="1" u="sng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관계비를 분석할 때 </a:t>
            </a:r>
            <a:r>
              <a:rPr lang="ko-KR" altLang="en-US" sz="1400" b="1" u="sng" dirty="0">
                <a:latin typeface="+mn-ea"/>
              </a:rPr>
              <a:t>두 번째로 주의할 점</a:t>
            </a:r>
            <a:r>
              <a:rPr lang="ko-KR" altLang="en-US" sz="1400" dirty="0">
                <a:latin typeface="+mn-ea"/>
              </a:rPr>
              <a:t>은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이력 데이터는 포함하지 않는다</a:t>
            </a:r>
            <a:r>
              <a:rPr lang="en-US" altLang="ko-KR" b="1" u="sng" dirty="0">
                <a:solidFill>
                  <a:srgbClr val="FF0000"/>
                </a:solidFill>
                <a:latin typeface="+mn-ea"/>
              </a:rPr>
              <a:t>.</a:t>
            </a: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5.49] </a:t>
            </a:r>
            <a:r>
              <a:rPr lang="ko-KR" altLang="en-US" sz="1400" dirty="0" err="1">
                <a:latin typeface="+mn-ea"/>
              </a:rPr>
              <a:t>릴레이션에서</a:t>
            </a:r>
            <a:r>
              <a:rPr lang="ko-KR" altLang="en-US" sz="1400" dirty="0">
                <a:latin typeface="+mn-ea"/>
              </a:rPr>
              <a:t>  ‘총무부’ 의 관리사원이  ‘홍길동’ 이지만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이는 언제든지 바뀔 수 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거의 모든 요건은 변경되며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이에 따라 데이터도 변경된다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이렇게  ‘총무부’ 의 관리사원이  ‘홍길동’ 에서 ‘</a:t>
            </a:r>
            <a:r>
              <a:rPr lang="ko-KR" altLang="en-US" sz="1400" dirty="0" err="1">
                <a:latin typeface="+mn-ea"/>
              </a:rPr>
              <a:t>김길동’으로</a:t>
            </a:r>
            <a:r>
              <a:rPr lang="ko-KR" altLang="en-US" sz="1400" dirty="0">
                <a:latin typeface="+mn-ea"/>
              </a:rPr>
              <a:t> 바뀌는 것과 ‘</a:t>
            </a:r>
            <a:r>
              <a:rPr lang="ko-KR" altLang="en-US" sz="1400" dirty="0" err="1">
                <a:latin typeface="+mn-ea"/>
              </a:rPr>
              <a:t>총무부’의</a:t>
            </a:r>
            <a:r>
              <a:rPr lang="ko-KR" altLang="en-US" sz="1400" dirty="0">
                <a:latin typeface="+mn-ea"/>
              </a:rPr>
              <a:t> 관리사원이 두 명인 것은 다른 것이다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즉  ‘</a:t>
            </a:r>
            <a:r>
              <a:rPr lang="ko-KR" altLang="en-US" sz="1400" dirty="0" err="1">
                <a:latin typeface="+mn-ea"/>
              </a:rPr>
              <a:t>총무부’의</a:t>
            </a:r>
            <a:r>
              <a:rPr lang="ko-KR" altLang="en-US" sz="1400" dirty="0">
                <a:latin typeface="+mn-ea"/>
              </a:rPr>
              <a:t> 관리사원이 바뀐 것이지 두 명인 것은 아니다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만약 ‘</a:t>
            </a:r>
            <a:r>
              <a:rPr lang="ko-KR" altLang="en-US" sz="1400" dirty="0" err="1">
                <a:latin typeface="+mn-ea"/>
              </a:rPr>
              <a:t>총무부’의</a:t>
            </a:r>
            <a:r>
              <a:rPr lang="ko-KR" altLang="en-US" sz="1400" dirty="0">
                <a:latin typeface="+mn-ea"/>
              </a:rPr>
              <a:t> 관리사원이 바뀔 수 있다는 이유로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 .50]</a:t>
            </a:r>
            <a:r>
              <a:rPr lang="ko-KR" altLang="en-US" sz="1400" dirty="0">
                <a:latin typeface="+mn-ea"/>
              </a:rPr>
              <a:t>과 같이 사원 </a:t>
            </a:r>
            <a:r>
              <a:rPr lang="ko-KR" altLang="en-US" sz="1400" dirty="0" err="1">
                <a:latin typeface="+mn-ea"/>
              </a:rPr>
              <a:t>엔터티와</a:t>
            </a:r>
            <a:r>
              <a:rPr lang="ko-KR" altLang="en-US" sz="1400" dirty="0">
                <a:latin typeface="+mn-ea"/>
              </a:rPr>
              <a:t> 부서관리사원 </a:t>
            </a:r>
            <a:r>
              <a:rPr lang="ko-KR" altLang="en-US" sz="1400" dirty="0" err="1">
                <a:latin typeface="+mn-ea"/>
              </a:rPr>
              <a:t>엔터티를</a:t>
            </a:r>
            <a:r>
              <a:rPr lang="ko-KR" altLang="en-US" sz="1400" dirty="0">
                <a:latin typeface="+mn-ea"/>
              </a:rPr>
              <a:t> 일대다</a:t>
            </a:r>
            <a:r>
              <a:rPr lang="en-US" altLang="ko-KR" sz="1400" dirty="0">
                <a:latin typeface="+mn-ea"/>
              </a:rPr>
              <a:t>(1:M) </a:t>
            </a:r>
            <a:r>
              <a:rPr lang="ko-KR" altLang="en-US" sz="1400" dirty="0">
                <a:latin typeface="+mn-ea"/>
              </a:rPr>
              <a:t>관계비로 설계하면 안 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이력 데이터가 포함되면 관계비는 단계가 하나씩 올라간다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즉 원천 데이터에 의한 관계비가 일대일</a:t>
            </a:r>
            <a:r>
              <a:rPr lang="en-US" altLang="ko-KR" sz="1400" dirty="0">
                <a:latin typeface="+mn-ea"/>
              </a:rPr>
              <a:t>(1:1)</a:t>
            </a:r>
            <a:r>
              <a:rPr lang="ko-KR" altLang="en-US" sz="1400" dirty="0">
                <a:latin typeface="+mn-ea"/>
              </a:rPr>
              <a:t>이면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이력 데이터가 포함됐을 때는 일대다</a:t>
            </a:r>
            <a:r>
              <a:rPr lang="en-US" altLang="ko-KR" sz="1400" dirty="0">
                <a:latin typeface="+mn-ea"/>
              </a:rPr>
              <a:t>(1:M) </a:t>
            </a:r>
            <a:r>
              <a:rPr lang="ko-KR" altLang="en-US" sz="1400" dirty="0">
                <a:latin typeface="+mn-ea"/>
              </a:rPr>
              <a:t>가 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일대다</a:t>
            </a:r>
            <a:r>
              <a:rPr lang="en-US" altLang="ko-KR" sz="1400" dirty="0">
                <a:latin typeface="+mn-ea"/>
              </a:rPr>
              <a:t>(1:M) </a:t>
            </a:r>
            <a:r>
              <a:rPr lang="ko-KR" altLang="en-US" sz="1400" dirty="0">
                <a:latin typeface="+mn-ea"/>
              </a:rPr>
              <a:t>일 때는 다대다</a:t>
            </a:r>
            <a:r>
              <a:rPr lang="en-US" altLang="ko-KR" sz="1400" dirty="0">
                <a:latin typeface="+mn-ea"/>
              </a:rPr>
              <a:t>(M:M)</a:t>
            </a:r>
            <a:r>
              <a:rPr lang="ko-KR" altLang="en-US" sz="1400" dirty="0">
                <a:latin typeface="+mn-ea"/>
              </a:rPr>
              <a:t>가 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관계비를 설계할 때는 이력 데이터가 </a:t>
            </a:r>
            <a:r>
              <a:rPr lang="ko-KR" altLang="en-US" sz="1400" dirty="0" err="1">
                <a:latin typeface="+mn-ea"/>
              </a:rPr>
              <a:t>관계비</a:t>
            </a:r>
            <a:r>
              <a:rPr lang="ko-KR" altLang="en-US" sz="1400" dirty="0">
                <a:latin typeface="+mn-ea"/>
              </a:rPr>
              <a:t> 제약에 영향을 미친다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65D0B50-6511-B08F-86AA-5FB61C075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375" y="4026849"/>
            <a:ext cx="4201111" cy="971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316149A-A490-6024-95E1-EA61827B5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515" y="3445743"/>
            <a:ext cx="2476846" cy="15527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3E8D52-E20A-7892-BED8-8B6E18E04878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관계비와 관계 존재성의 표기법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F0E820F-0B4F-5925-7A79-40A3DC8F1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204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0127962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1125066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관계 구성 요소 </a:t>
            </a:r>
            <a:r>
              <a:rPr lang="en-US" altLang="ko-KR" b="1" dirty="0">
                <a:latin typeface="+mn-ea"/>
              </a:rPr>
              <a:t>– II. </a:t>
            </a:r>
            <a:r>
              <a:rPr lang="ko-KR" altLang="en-US" b="1" dirty="0">
                <a:latin typeface="+mn-ea"/>
              </a:rPr>
              <a:t>관계 존재성</a:t>
            </a:r>
            <a:r>
              <a:rPr lang="en-US" altLang="ko-KR" sz="1400" dirty="0">
                <a:latin typeface="+mn-ea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관계 존재성</a:t>
            </a:r>
            <a:r>
              <a:rPr lang="en-US" altLang="ko-KR" b="1" u="sng" dirty="0">
                <a:solidFill>
                  <a:srgbClr val="FF0000"/>
                </a:solidFill>
                <a:latin typeface="+mn-ea"/>
              </a:rPr>
              <a:t>(Optionality)</a:t>
            </a:r>
            <a:r>
              <a:rPr lang="ko-KR" altLang="en-US" sz="1400" dirty="0">
                <a:latin typeface="+mn-ea"/>
              </a:rPr>
              <a:t>은 관계선에서의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양쪽 ‘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0’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표시에 해당하며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관계비와 함께 사용돼 새 발</a:t>
            </a:r>
            <a:r>
              <a:rPr lang="en-US" altLang="ko-KR" sz="1400" dirty="0">
                <a:latin typeface="+mn-ea"/>
              </a:rPr>
              <a:t>(Crow’s Foot) </a:t>
            </a:r>
            <a:r>
              <a:rPr lang="ko-KR" altLang="en-US" sz="1400" dirty="0">
                <a:latin typeface="+mn-ea"/>
              </a:rPr>
              <a:t>표시로 표현된다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하나의 인스턴스와 관계 있는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상대 인스턴스의 존재 여부를 의미</a:t>
            </a:r>
            <a:r>
              <a:rPr lang="ko-KR" altLang="en-US" sz="1400" dirty="0">
                <a:latin typeface="+mn-ea"/>
              </a:rPr>
              <a:t>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즉 하위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자식</a:t>
            </a:r>
            <a:r>
              <a:rPr lang="en-US" altLang="ko-KR" sz="1400" dirty="0">
                <a:latin typeface="+mn-ea"/>
              </a:rPr>
              <a:t>)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인스턴스와 연관되는 상위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부모</a:t>
            </a:r>
            <a:r>
              <a:rPr lang="en-US" altLang="ko-KR" sz="1400" dirty="0">
                <a:latin typeface="+mn-ea"/>
              </a:rPr>
              <a:t>)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인스턴스가 반드시 존재해야 하는지</a:t>
            </a:r>
            <a:r>
              <a:rPr lang="en-US" altLang="ko-KR" sz="1400" dirty="0">
                <a:latin typeface="+mn-ea"/>
              </a:rPr>
              <a:t>(Mandatory), </a:t>
            </a:r>
            <a:r>
              <a:rPr lang="ko-KR" altLang="en-US" sz="1400" dirty="0">
                <a:latin typeface="+mn-ea"/>
              </a:rPr>
              <a:t>존재하지 않아도 되는지</a:t>
            </a:r>
            <a:r>
              <a:rPr lang="en-US" altLang="ko-KR" sz="1400" dirty="0">
                <a:latin typeface="+mn-ea"/>
              </a:rPr>
              <a:t>(Optional) </a:t>
            </a:r>
            <a:r>
              <a:rPr lang="ko-KR" altLang="en-US" sz="1400" dirty="0">
                <a:latin typeface="+mn-ea"/>
              </a:rPr>
              <a:t>를 의미한다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FCBA8E6-925C-DEA5-CB00-F50068587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653" y="3209730"/>
            <a:ext cx="1910979" cy="180814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874069A-B908-A52F-5042-C89CA80F5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6888" y="5234215"/>
            <a:ext cx="2857899" cy="1162212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3D92E44-89A1-8144-6742-94E9C24AA7FD}"/>
              </a:ext>
            </a:extLst>
          </p:cNvPr>
          <p:cNvSpPr/>
          <p:nvPr/>
        </p:nvSpPr>
        <p:spPr>
          <a:xfrm>
            <a:off x="4224581" y="4622226"/>
            <a:ext cx="462495" cy="217287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46F332-4068-5952-B388-13FA98F892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775" y="3786213"/>
            <a:ext cx="3848637" cy="261021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1552C6D-E23B-7520-A1A4-8A08E4B7246E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관계비와 관계 존재성의 표기법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2455FF-44B4-B383-A756-A217BE1E1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205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6234434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112506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상위 </a:t>
            </a:r>
            <a:r>
              <a:rPr lang="ko-KR" altLang="en-US" b="1" dirty="0" err="1">
                <a:latin typeface="+mn-ea"/>
              </a:rPr>
              <a:t>엔터티의</a:t>
            </a:r>
            <a:r>
              <a:rPr lang="ko-KR" altLang="en-US" b="1" dirty="0">
                <a:latin typeface="+mn-ea"/>
              </a:rPr>
              <a:t> 관계 존재성</a:t>
            </a:r>
            <a:r>
              <a:rPr lang="en-US" altLang="ko-KR" sz="1400" dirty="0">
                <a:latin typeface="+mn-ea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상위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부모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관계 존재성이 선택일 때는 업무 규칙이 관계선에 제대로 반영된 것인지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 err="1">
                <a:latin typeface="+mn-ea"/>
              </a:rPr>
              <a:t>엔터티가</a:t>
            </a:r>
            <a:r>
              <a:rPr lang="ko-KR" altLang="en-US" sz="1400" dirty="0">
                <a:latin typeface="+mn-ea"/>
              </a:rPr>
              <a:t> 제대로 도출된 것인지 다시 한 번 살펴야 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상위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관계 존재성이 필수여야 두 </a:t>
            </a:r>
            <a:r>
              <a:rPr lang="ko-KR" altLang="en-US" sz="1400" dirty="0" err="1">
                <a:latin typeface="+mn-ea"/>
              </a:rPr>
              <a:t>엔터티</a:t>
            </a:r>
            <a:r>
              <a:rPr lang="ko-KR" altLang="en-US" sz="1400" dirty="0">
                <a:latin typeface="+mn-ea"/>
              </a:rPr>
              <a:t> 사이에 업무 규칙이 존재하는 것이다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E73B7A3-F426-5173-093C-323D8D96F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835" y="3606097"/>
            <a:ext cx="4324954" cy="269595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90F702F-2F94-0410-8AA4-CCAEA8225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13" y="2845355"/>
            <a:ext cx="2572109" cy="156231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7BD93DF-1031-F925-594C-55083CCF77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5307" y="4025255"/>
            <a:ext cx="2810267" cy="227679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FF0E2279-3A00-F549-6903-0B352F85CD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7415" y="2569091"/>
            <a:ext cx="3057952" cy="1838582"/>
          </a:xfrm>
          <a:prstGeom prst="rect">
            <a:avLst/>
          </a:prstGeom>
        </p:spPr>
      </p:pic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6C2EE084-6428-F2ED-F33E-1C446CB12349}"/>
              </a:ext>
            </a:extLst>
          </p:cNvPr>
          <p:cNvCxnSpPr>
            <a:cxnSpLocks/>
            <a:endCxn id="13" idx="1"/>
          </p:cNvCxnSpPr>
          <p:nvPr/>
        </p:nvCxnSpPr>
        <p:spPr>
          <a:xfrm rot="16200000" flipH="1">
            <a:off x="1863939" y="4404177"/>
            <a:ext cx="563788" cy="536004"/>
          </a:xfrm>
          <a:prstGeom prst="bent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B5197E8B-1BA6-32B0-D98F-814C4072D00E}"/>
              </a:ext>
            </a:extLst>
          </p:cNvPr>
          <p:cNvCxnSpPr>
            <a:cxnSpLocks/>
            <a:stCxn id="20" idx="2"/>
            <a:endCxn id="19" idx="1"/>
          </p:cNvCxnSpPr>
          <p:nvPr/>
        </p:nvCxnSpPr>
        <p:spPr>
          <a:xfrm rot="16200000" flipH="1">
            <a:off x="8032860" y="4541204"/>
            <a:ext cx="755979" cy="488916"/>
          </a:xfrm>
          <a:prstGeom prst="bent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504132E-07CC-1E78-A88C-46E430C882DE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관계비와 관계 존재성의 표기법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72B5AC2-50C2-630C-E1A3-E2F9A8CE7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206</a:t>
            </a:fld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B4C5956-D233-4B1C-A2B3-7C1C8B6B5AB8}"/>
              </a:ext>
            </a:extLst>
          </p:cNvPr>
          <p:cNvSpPr/>
          <p:nvPr/>
        </p:nvSpPr>
        <p:spPr>
          <a:xfrm>
            <a:off x="3042574" y="5666674"/>
            <a:ext cx="462495" cy="150650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1F135D9-982A-4F49-85BF-A19AE16D84D4}"/>
              </a:ext>
            </a:extLst>
          </p:cNvPr>
          <p:cNvSpPr/>
          <p:nvPr/>
        </p:nvSpPr>
        <p:spPr>
          <a:xfrm>
            <a:off x="4063129" y="4534575"/>
            <a:ext cx="1012724" cy="140062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E0D6F66D-CE63-4137-B0ED-9B0EEA341680}"/>
              </a:ext>
            </a:extLst>
          </p:cNvPr>
          <p:cNvCxnSpPr>
            <a:cxnSpLocks/>
            <a:stCxn id="22" idx="4"/>
            <a:endCxn id="15" idx="1"/>
          </p:cNvCxnSpPr>
          <p:nvPr/>
        </p:nvCxnSpPr>
        <p:spPr>
          <a:xfrm rot="16200000" flipH="1">
            <a:off x="2448674" y="2990151"/>
            <a:ext cx="1153546" cy="2075363"/>
          </a:xfrm>
          <a:prstGeom prst="bent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BFF44BAD-2BA6-4B2A-8E40-89C108F8357C}"/>
              </a:ext>
            </a:extLst>
          </p:cNvPr>
          <p:cNvCxnSpPr>
            <a:cxnSpLocks/>
            <a:stCxn id="11" idx="4"/>
            <a:endCxn id="14" idx="1"/>
          </p:cNvCxnSpPr>
          <p:nvPr/>
        </p:nvCxnSpPr>
        <p:spPr>
          <a:xfrm rot="16200000" flipH="1">
            <a:off x="1231448" y="3930872"/>
            <a:ext cx="2287179" cy="1335073"/>
          </a:xfrm>
          <a:prstGeom prst="bent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6981E5DC-63A4-4F2D-8005-B32DDCBAC4B0}"/>
              </a:ext>
            </a:extLst>
          </p:cNvPr>
          <p:cNvSpPr/>
          <p:nvPr/>
        </p:nvSpPr>
        <p:spPr>
          <a:xfrm>
            <a:off x="1597565" y="3243977"/>
            <a:ext cx="219871" cy="2108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D326C011-E846-46B1-A0AF-54A7FC84DD25}"/>
              </a:ext>
            </a:extLst>
          </p:cNvPr>
          <p:cNvSpPr/>
          <p:nvPr/>
        </p:nvSpPr>
        <p:spPr>
          <a:xfrm>
            <a:off x="1877830" y="3240217"/>
            <a:ext cx="219871" cy="2108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90154C-F9F3-4F4B-A5D7-DFB6CF3E4008}"/>
              </a:ext>
            </a:extLst>
          </p:cNvPr>
          <p:cNvSpPr txBox="1"/>
          <p:nvPr/>
        </p:nvSpPr>
        <p:spPr>
          <a:xfrm>
            <a:off x="347135" y="5760246"/>
            <a:ext cx="19175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b="1" dirty="0">
                <a:solidFill>
                  <a:srgbClr val="FF0000"/>
                </a:solidFill>
              </a:rPr>
              <a:t>상위에 값을 등록시켜서 </a:t>
            </a:r>
            <a:endParaRPr lang="en-US" altLang="ko-KR" sz="1100" b="1" dirty="0">
              <a:solidFill>
                <a:srgbClr val="FF0000"/>
              </a:solidFill>
            </a:endParaRPr>
          </a:p>
          <a:p>
            <a:r>
              <a:rPr lang="en-US" altLang="ko-KR" sz="1100" b="1" dirty="0">
                <a:solidFill>
                  <a:srgbClr val="FF0000"/>
                </a:solidFill>
              </a:rPr>
              <a:t>   “O”</a:t>
            </a:r>
            <a:r>
              <a:rPr lang="ko-KR" altLang="en-US" sz="1100" b="1" dirty="0">
                <a:solidFill>
                  <a:srgbClr val="FF0000"/>
                </a:solidFill>
              </a:rPr>
              <a:t>를 해결해야 한다</a:t>
            </a:r>
            <a:r>
              <a:rPr lang="en-US" altLang="ko-KR" sz="1100" b="1" dirty="0">
                <a:solidFill>
                  <a:srgbClr val="FF0000"/>
                </a:solidFill>
              </a:rPr>
              <a:t>.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AED275-EF07-45EC-8FB5-BF7064CEA156}"/>
              </a:ext>
            </a:extLst>
          </p:cNvPr>
          <p:cNvSpPr txBox="1"/>
          <p:nvPr/>
        </p:nvSpPr>
        <p:spPr>
          <a:xfrm>
            <a:off x="347135" y="6240159"/>
            <a:ext cx="315823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b="1" dirty="0">
                <a:solidFill>
                  <a:srgbClr val="FF0000"/>
                </a:solidFill>
              </a:rPr>
              <a:t>또는 </a:t>
            </a:r>
            <a:r>
              <a:rPr lang="ko-KR" altLang="en-US" sz="1100" b="1" dirty="0" err="1">
                <a:solidFill>
                  <a:srgbClr val="FF0000"/>
                </a:solidFill>
              </a:rPr>
              <a:t>없는값이</a:t>
            </a:r>
            <a:r>
              <a:rPr lang="ko-KR" altLang="en-US" sz="1100" b="1" dirty="0">
                <a:solidFill>
                  <a:srgbClr val="FF0000"/>
                </a:solidFill>
              </a:rPr>
              <a:t> 상당히 많을 경우에는 </a:t>
            </a:r>
            <a:endParaRPr lang="en-US" altLang="ko-KR" sz="1100" b="1" dirty="0">
              <a:solidFill>
                <a:srgbClr val="FF0000"/>
              </a:solidFill>
            </a:endParaRPr>
          </a:p>
          <a:p>
            <a:r>
              <a:rPr lang="en-US" altLang="ko-KR" sz="1100" b="1" dirty="0">
                <a:solidFill>
                  <a:srgbClr val="FF0000"/>
                </a:solidFill>
              </a:rPr>
              <a:t>   </a:t>
            </a:r>
            <a:r>
              <a:rPr lang="ko-KR" altLang="en-US" sz="1100" b="1" dirty="0">
                <a:solidFill>
                  <a:srgbClr val="FF0000"/>
                </a:solidFill>
              </a:rPr>
              <a:t>배타관계 </a:t>
            </a:r>
            <a:r>
              <a:rPr lang="ko-KR" altLang="en-US" sz="1100" b="1" dirty="0" err="1">
                <a:solidFill>
                  <a:srgbClr val="FF0000"/>
                </a:solidFill>
              </a:rPr>
              <a:t>엔터티를</a:t>
            </a:r>
            <a:r>
              <a:rPr lang="ko-KR" altLang="en-US" sz="1100" b="1" dirty="0">
                <a:solidFill>
                  <a:srgbClr val="FF0000"/>
                </a:solidFill>
              </a:rPr>
              <a:t> 만들어 값을 생성해 준다</a:t>
            </a:r>
            <a:r>
              <a:rPr lang="en-US" altLang="ko-KR" sz="1100" b="1" dirty="0">
                <a:solidFill>
                  <a:srgbClr val="FF0000"/>
                </a:solidFill>
              </a:rPr>
              <a:t>.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4387002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1125066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관계비와 관계 존재성의 표기법</a:t>
            </a:r>
            <a:r>
              <a:rPr lang="en-US" altLang="ko-KR" sz="1400" dirty="0">
                <a:latin typeface="+mn-ea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이상으로 관계를 구성하는 기본 요소인 관계비와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   관계 존재성을 살펴 보았다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관계비와 관계 존재성은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   관계선을 표현하는 데 필요한 필수 개념이다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이 그림에서 상대 </a:t>
            </a:r>
            <a:r>
              <a:rPr lang="ko-KR" altLang="en-US" sz="1400" dirty="0" err="1">
                <a:latin typeface="+mn-ea"/>
              </a:rPr>
              <a:t>엔터티</a:t>
            </a:r>
            <a:r>
              <a:rPr lang="ko-KR" altLang="en-US" sz="1400" dirty="0">
                <a:latin typeface="+mn-ea"/>
              </a:rPr>
              <a:t> 와 연관되는 릴레이션의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   수를 최대값 과 최소값으로 표기했으며</a:t>
            </a:r>
            <a:r>
              <a:rPr lang="en-US" altLang="ko-KR" sz="1400" dirty="0">
                <a:latin typeface="+mn-ea"/>
              </a:rPr>
              <a:t>,</a:t>
            </a:r>
            <a:r>
              <a:rPr lang="ko-KR" altLang="en-US" sz="1400" dirty="0">
                <a:latin typeface="+mn-ea"/>
              </a:rPr>
              <a:t> 다대다</a:t>
            </a:r>
            <a:r>
              <a:rPr lang="en-US" altLang="ko-KR" sz="1400" dirty="0">
                <a:latin typeface="+mn-ea"/>
              </a:rPr>
              <a:t>(M:M)  </a:t>
            </a:r>
          </a:p>
          <a:p>
            <a:pPr lvl="1"/>
            <a:r>
              <a:rPr lang="ko-KR" altLang="en-US" sz="1400" dirty="0">
                <a:latin typeface="+mn-ea"/>
              </a:rPr>
              <a:t>   관계는 결국 일대다</a:t>
            </a:r>
            <a:r>
              <a:rPr lang="en-US" altLang="ko-KR" sz="1400" dirty="0">
                <a:latin typeface="+mn-ea"/>
              </a:rPr>
              <a:t>(1:M) </a:t>
            </a:r>
            <a:r>
              <a:rPr lang="ko-KR" altLang="en-US" sz="1400" dirty="0">
                <a:latin typeface="+mn-ea"/>
              </a:rPr>
              <a:t>관계로 변환돼야 하므로  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   그림에서 제외했다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상위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관계비는 ‘</a:t>
            </a:r>
            <a:r>
              <a:rPr lang="en-US" altLang="ko-KR" sz="1400" dirty="0">
                <a:latin typeface="+mn-ea"/>
              </a:rPr>
              <a:t>0’ </a:t>
            </a:r>
            <a:r>
              <a:rPr lang="ko-KR" altLang="en-US" sz="1400" dirty="0">
                <a:latin typeface="+mn-ea"/>
              </a:rPr>
              <a:t>과 ‘</a:t>
            </a:r>
            <a:r>
              <a:rPr lang="en-US" altLang="ko-KR" sz="1400" dirty="0">
                <a:latin typeface="+mn-ea"/>
              </a:rPr>
              <a:t>1’ </a:t>
            </a:r>
            <a:r>
              <a:rPr lang="ko-KR" altLang="en-US" sz="1400" dirty="0">
                <a:latin typeface="+mn-ea"/>
              </a:rPr>
              <a:t>만이 존재하고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   하위 </a:t>
            </a:r>
            <a:r>
              <a:rPr lang="ko-KR" altLang="en-US" sz="1400" dirty="0" err="1">
                <a:latin typeface="+mn-ea"/>
              </a:rPr>
              <a:t>엔터티는</a:t>
            </a:r>
            <a:r>
              <a:rPr lang="ko-KR" altLang="en-US" sz="1400" dirty="0">
                <a:latin typeface="+mn-ea"/>
              </a:rPr>
              <a:t> ‘</a:t>
            </a:r>
            <a:r>
              <a:rPr lang="en-US" altLang="ko-KR" sz="1400" dirty="0">
                <a:latin typeface="+mn-ea"/>
              </a:rPr>
              <a:t>0’ </a:t>
            </a:r>
            <a:r>
              <a:rPr lang="ko-KR" altLang="en-US" sz="1400" dirty="0">
                <a:latin typeface="+mn-ea"/>
              </a:rPr>
              <a:t>이거나 </a:t>
            </a:r>
            <a:r>
              <a:rPr lang="en-US" altLang="ko-KR" sz="1400" dirty="0">
                <a:latin typeface="+mn-ea"/>
              </a:rPr>
              <a:t>T </a:t>
            </a:r>
            <a:r>
              <a:rPr lang="ko-KR" altLang="en-US" sz="1400" dirty="0">
                <a:latin typeface="+mn-ea"/>
              </a:rPr>
              <a:t>이거나 </a:t>
            </a:r>
            <a:r>
              <a:rPr lang="en-US" altLang="ko-KR" sz="1400" dirty="0">
                <a:latin typeface="+mn-ea"/>
              </a:rPr>
              <a:t>T </a:t>
            </a:r>
            <a:r>
              <a:rPr lang="ko-KR" altLang="en-US" sz="1400" dirty="0">
                <a:latin typeface="+mn-ea"/>
              </a:rPr>
              <a:t>이상</a:t>
            </a:r>
            <a:r>
              <a:rPr lang="en-US" altLang="ko-KR" sz="1400" dirty="0">
                <a:latin typeface="+mn-ea"/>
              </a:rPr>
              <a:t>(Many)</a:t>
            </a:r>
            <a:r>
              <a:rPr lang="ko-KR" altLang="en-US" sz="1400" dirty="0">
                <a:latin typeface="+mn-ea"/>
              </a:rPr>
              <a:t>이다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lvl="1"/>
            <a:r>
              <a:rPr lang="ko-KR" altLang="en-US" sz="1400" dirty="0">
                <a:latin typeface="+mn-ea"/>
              </a:rPr>
              <a:t>   최소 관계비가 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‘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T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’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이면 관계 존재성은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필수</a:t>
            </a:r>
            <a:r>
              <a:rPr lang="ko-KR" altLang="en-US" sz="1400" dirty="0">
                <a:latin typeface="+mn-ea"/>
              </a:rPr>
              <a:t>이고</a:t>
            </a:r>
            <a:r>
              <a:rPr lang="en-US" altLang="ko-KR" sz="1400" dirty="0">
                <a:latin typeface="+mn-ea"/>
              </a:rPr>
              <a:t>, </a:t>
            </a:r>
          </a:p>
          <a:p>
            <a:pPr lvl="1"/>
            <a:r>
              <a:rPr lang="ko-KR" altLang="en-US" sz="1400" dirty="0">
                <a:latin typeface="+mn-ea"/>
              </a:rPr>
              <a:t>   최소 관계비가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‘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0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’ </a:t>
            </a:r>
            <a:r>
              <a:rPr lang="ko-KR" altLang="en-US" sz="1400" dirty="0">
                <a:latin typeface="+mn-ea"/>
              </a:rPr>
              <a:t>이면 관계 존재성은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선택</a:t>
            </a:r>
            <a:r>
              <a:rPr lang="ko-KR" altLang="en-US" sz="1400" dirty="0">
                <a:latin typeface="+mn-ea"/>
              </a:rPr>
              <a:t>이다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lvl="1"/>
            <a:r>
              <a:rPr lang="ko-KR" altLang="en-US" sz="1400" dirty="0">
                <a:latin typeface="+mn-ea"/>
              </a:rPr>
              <a:t>   최소 관계비와 관계 존재성은 결국 같은 개념이다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10179C7-A0A0-9C75-9824-466321731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747" y="1495578"/>
            <a:ext cx="5849166" cy="43059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F4AF01-4050-775B-8A28-3E1496755CF3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관계비와 관계 존재성의 표기법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AB1C6EA-B0D6-69CE-B081-A9010BC9D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207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1403435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1125066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관계비와 관계 존재성의 표기법</a:t>
            </a:r>
            <a:r>
              <a:rPr lang="en-US" altLang="ko-KR" sz="1400" dirty="0">
                <a:latin typeface="+mn-ea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5.59]</a:t>
            </a:r>
            <a:r>
              <a:rPr lang="ko-KR" altLang="en-US" sz="1200" dirty="0">
                <a:latin typeface="+mn-ea"/>
              </a:rPr>
              <a:t>에 해당하는 예제 모델은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</a:t>
            </a:r>
            <a:r>
              <a:rPr lang="en-US" altLang="ko-KR" sz="1200" dirty="0">
                <a:latin typeface="+mn-ea"/>
              </a:rPr>
              <a:t>5.60]</a:t>
            </a:r>
            <a:r>
              <a:rPr lang="ko-KR" altLang="en-US" sz="1200" dirty="0">
                <a:latin typeface="+mn-ea"/>
              </a:rPr>
              <a:t>과 같다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예제 </a:t>
            </a:r>
            <a:r>
              <a:rPr lang="en-US" altLang="ko-KR" sz="1200" dirty="0">
                <a:latin typeface="+mn-ea"/>
              </a:rPr>
              <a:t>1] </a:t>
            </a:r>
            <a:r>
              <a:rPr lang="ko-KR" altLang="en-US" sz="1200" dirty="0">
                <a:latin typeface="+mn-ea"/>
              </a:rPr>
              <a:t>관계선은 부서에는 최대한 한 명의 사원이 소속돼 있다는 </a:t>
            </a: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것을 의미한다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업무 요건으로는 자주 발생하지 않는 관계다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5.61] </a:t>
            </a:r>
            <a:r>
              <a:rPr lang="ko-KR" altLang="en-US" sz="1200" dirty="0">
                <a:latin typeface="+mn-ea"/>
              </a:rPr>
              <a:t>모델이 업무 요건에 의한 일대일</a:t>
            </a:r>
            <a:r>
              <a:rPr lang="en-US" altLang="ko-KR" sz="1200" dirty="0">
                <a:latin typeface="+mn-ea"/>
              </a:rPr>
              <a:t>(1:1) </a:t>
            </a:r>
            <a:r>
              <a:rPr lang="ko-KR" altLang="en-US" sz="1200" dirty="0">
                <a:latin typeface="+mn-ea"/>
              </a:rPr>
              <a:t>관계의 모델이다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컴퓨터에 사용되는 부품인 보드를 개별적으로 관리하는 업무가 </a:t>
            </a: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있을 때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해당 보드가 어떤 컴퓨터에 조립됐는지를 관리하는 </a:t>
            </a: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모델이다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한 개의 보드는 한 개의 컴퓨터에 쓰일 수 있다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또한 </a:t>
            </a: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아직 조립이 안 된 보드는 해당하는 컴퓨터가 존재하지 않을 </a:t>
            </a: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수도 있다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당연히 하나의 보드가 여러 개의 컴퓨터에 동시에 </a:t>
            </a: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사용될 수는 없다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물론 보드를 교체한 데이터를 관리한다면</a:t>
            </a:r>
            <a:r>
              <a:rPr lang="en-US" altLang="ko-KR" sz="1200" dirty="0">
                <a:latin typeface="+mn-ea"/>
              </a:rPr>
              <a:t>,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하나의 보드가 여러 컴퓨터에 사용될 수도 있다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이는 이력 </a:t>
            </a: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데이터로서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변경된 이력 데이터까지 관리하면 일대다</a:t>
            </a:r>
            <a:r>
              <a:rPr lang="en-US" altLang="ko-KR" sz="1200" dirty="0">
                <a:latin typeface="+mn-ea"/>
              </a:rPr>
              <a:t>(1:M) </a:t>
            </a:r>
            <a:r>
              <a:rPr lang="ko-KR" altLang="en-US" sz="1200" dirty="0">
                <a:latin typeface="+mn-ea"/>
              </a:rPr>
              <a:t>관계가 된다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6A724C9-6E14-2AD8-E43A-23E330125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067" y="1984105"/>
            <a:ext cx="3410281" cy="326019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26F9D83-698E-2AC6-B7CF-A0D12193F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550" y="2894850"/>
            <a:ext cx="3038899" cy="11622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314986F-33A4-2E5E-1E47-DCD2D6C5A57E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관계비와 관계 존재성의 표기법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B9FBE8-F8B4-1382-276D-30AF724C9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208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2216427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1125066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관계비와 관계 존재성의 표기법</a:t>
            </a:r>
            <a:r>
              <a:rPr lang="en-US" altLang="ko-KR" sz="1400" dirty="0">
                <a:latin typeface="+mn-ea"/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예제</a:t>
            </a:r>
            <a:r>
              <a:rPr lang="en-US" altLang="ko-KR" sz="1200" dirty="0">
                <a:latin typeface="+mn-ea"/>
              </a:rPr>
              <a:t>2 ] </a:t>
            </a:r>
            <a:r>
              <a:rPr lang="ko-KR" altLang="en-US" sz="1200" dirty="0">
                <a:latin typeface="+mn-ea"/>
              </a:rPr>
              <a:t>와 같은 일대일 필수 관계는 하나의 트랜잭션</a:t>
            </a:r>
            <a:r>
              <a:rPr lang="en-US" altLang="ko-KR" sz="1200" dirty="0">
                <a:latin typeface="+mn-ea"/>
              </a:rPr>
              <a:t>(One Transaction)</a:t>
            </a:r>
            <a:r>
              <a:rPr lang="ko-KR" altLang="en-US" sz="1200" dirty="0">
                <a:latin typeface="+mn-ea"/>
              </a:rPr>
              <a:t>을 의미하지 않는다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반드시 두 </a:t>
            </a:r>
            <a:r>
              <a:rPr lang="ko-KR" altLang="en-US" sz="1200" dirty="0" err="1">
                <a:latin typeface="+mn-ea"/>
              </a:rPr>
              <a:t>엔터티에</a:t>
            </a:r>
            <a:r>
              <a:rPr lang="ko-KR" altLang="en-US" sz="1200" dirty="0">
                <a:latin typeface="+mn-ea"/>
              </a:rPr>
              <a:t> 동시에 데이터가 생겨야 하는 것은 아니며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언젠가는 꼭 생겨야 하는 </a:t>
            </a: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것을 의미한다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반면에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예제 </a:t>
            </a:r>
            <a:r>
              <a:rPr lang="en-US" altLang="ko-KR" sz="1200" dirty="0">
                <a:latin typeface="+mn-ea"/>
              </a:rPr>
              <a:t>1]</a:t>
            </a:r>
            <a:r>
              <a:rPr lang="ko-KR" altLang="en-US" sz="1200" dirty="0">
                <a:latin typeface="+mn-ea"/>
              </a:rPr>
              <a:t>은 하위 </a:t>
            </a:r>
            <a:r>
              <a:rPr lang="ko-KR" altLang="en-US" sz="1200" dirty="0" err="1">
                <a:latin typeface="+mn-ea"/>
              </a:rPr>
              <a:t>엔터티에</a:t>
            </a:r>
            <a:r>
              <a:rPr lang="ko-KR" altLang="en-US" sz="1200" dirty="0">
                <a:latin typeface="+mn-ea"/>
              </a:rPr>
              <a:t> 데이터가 끝까지 생기지 않을 수 있다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예제</a:t>
            </a:r>
            <a:r>
              <a:rPr lang="en-US" altLang="ko-KR" sz="1200" dirty="0">
                <a:latin typeface="+mn-ea"/>
              </a:rPr>
              <a:t>3]</a:t>
            </a:r>
            <a:r>
              <a:rPr lang="ko-KR" altLang="en-US" sz="1200" dirty="0">
                <a:latin typeface="+mn-ea"/>
              </a:rPr>
              <a:t>은 가장 일반적인 관계선이다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부서에 소속된 사원은 없거나 한 명이거나 여러 </a:t>
            </a: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명일 수 있다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그리고 사원은 반드시 하나의 부서에 소속돼야 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소속된 부서가 </a:t>
            </a: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없을 수는 있지만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널일 수 있지만</a:t>
            </a:r>
            <a:r>
              <a:rPr lang="en-US" altLang="ko-KR" sz="1200" dirty="0">
                <a:latin typeface="+mn-ea"/>
              </a:rPr>
              <a:t>)</a:t>
            </a:r>
            <a:r>
              <a:rPr lang="ko-KR" altLang="en-US" sz="1200" dirty="0">
                <a:latin typeface="+mn-ea"/>
              </a:rPr>
              <a:t>， 부서에 존재하지 않는 임의의 부서에 속할 수는 없다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이 관계선이 가장 많은 이유는 업무적으로 발생하는 일대일</a:t>
            </a:r>
            <a:r>
              <a:rPr lang="en-US" altLang="ko-KR" sz="1200" dirty="0">
                <a:latin typeface="+mn-ea"/>
              </a:rPr>
              <a:t>(1:1) </a:t>
            </a:r>
            <a:r>
              <a:rPr lang="ko-KR" altLang="en-US" sz="1200" dirty="0">
                <a:latin typeface="+mn-ea"/>
              </a:rPr>
              <a:t>관계는 드물고</a:t>
            </a:r>
            <a:r>
              <a:rPr lang="en-US" altLang="ko-KR" sz="1200" dirty="0">
                <a:latin typeface="+mn-ea"/>
              </a:rPr>
              <a:t>,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상위 </a:t>
            </a:r>
            <a:r>
              <a:rPr lang="ko-KR" altLang="en-US" sz="1200" dirty="0" err="1">
                <a:latin typeface="+mn-ea"/>
              </a:rPr>
              <a:t>엔터티의</a:t>
            </a:r>
            <a:r>
              <a:rPr lang="ko-KR" altLang="en-US" sz="1200" dirty="0">
                <a:latin typeface="+mn-ea"/>
              </a:rPr>
              <a:t> 관계 존재성이 선택인 관계가 드물기 때문이다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또한 하위 </a:t>
            </a:r>
            <a:r>
              <a:rPr lang="ko-KR" altLang="en-US" sz="1200" dirty="0" err="1">
                <a:latin typeface="+mn-ea"/>
              </a:rPr>
              <a:t>엔터티의</a:t>
            </a:r>
            <a:r>
              <a:rPr lang="ko-KR" altLang="en-US" sz="1200" dirty="0">
                <a:latin typeface="+mn-ea"/>
              </a:rPr>
              <a:t> 관계 </a:t>
            </a: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존재성은 선택인 관계가 많다</a:t>
            </a:r>
            <a:r>
              <a:rPr lang="en-US" altLang="ko-KR" sz="1200" dirty="0">
                <a:latin typeface="+mn-ea"/>
              </a:rPr>
              <a:t>. [</a:t>
            </a:r>
            <a:r>
              <a:rPr lang="ko-KR" altLang="en-US" sz="1200" dirty="0">
                <a:latin typeface="+mn-ea"/>
              </a:rPr>
              <a:t>예제</a:t>
            </a:r>
            <a:r>
              <a:rPr lang="en-US" altLang="ko-KR" sz="1200" dirty="0">
                <a:latin typeface="+mn-ea"/>
              </a:rPr>
              <a:t>3] </a:t>
            </a:r>
            <a:r>
              <a:rPr lang="ko-KR" altLang="en-US" sz="1200" dirty="0">
                <a:latin typeface="+mn-ea"/>
              </a:rPr>
              <a:t>모델에서 부서에는 사원이 최소한 한 명이라도 </a:t>
            </a: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소속돼 있어야 한다는 업무 규칙이 있다면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예제</a:t>
            </a:r>
            <a:r>
              <a:rPr lang="en-US" altLang="ko-KR" sz="1200" dirty="0">
                <a:latin typeface="+mn-ea"/>
              </a:rPr>
              <a:t>4]</a:t>
            </a:r>
            <a:r>
              <a:rPr lang="ko-KR" altLang="en-US" sz="1200" dirty="0">
                <a:latin typeface="+mn-ea"/>
              </a:rPr>
              <a:t>와 같은 관계선이 필요하다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5.62] </a:t>
            </a:r>
            <a:r>
              <a:rPr lang="ko-KR" altLang="en-US" sz="1200" dirty="0">
                <a:latin typeface="+mn-ea"/>
              </a:rPr>
              <a:t>모델이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예제</a:t>
            </a:r>
            <a:r>
              <a:rPr lang="en-US" altLang="ko-KR" sz="1200" dirty="0">
                <a:latin typeface="+mn-ea"/>
              </a:rPr>
              <a:t>4 ]</a:t>
            </a:r>
            <a:r>
              <a:rPr lang="ko-KR" altLang="en-US" sz="1200" dirty="0">
                <a:latin typeface="+mn-ea"/>
              </a:rPr>
              <a:t>의 대표적인 모델이다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고객은 여러 개의 상 품 을 한꺼번에 주문할 수 있으며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한 개만 주문할 수도 있다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최소한 한 개 상품이 주문에 포함돼야 주문이라 할 수 있는 것이다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그리고 누가 </a:t>
            </a: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주문했고 배송할 주소가 어디인지 등의 주문 데이터가 존재하지 않을 수는 없기 때문에</a:t>
            </a:r>
            <a:r>
              <a:rPr lang="en-US" altLang="ko-KR" sz="1200" dirty="0">
                <a:latin typeface="+mn-ea"/>
              </a:rPr>
              <a:t>,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상위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부모</a:t>
            </a:r>
            <a:r>
              <a:rPr lang="en-US" altLang="ko-KR" sz="1200" dirty="0">
                <a:latin typeface="+mn-ea"/>
              </a:rPr>
              <a:t>) </a:t>
            </a:r>
            <a:r>
              <a:rPr lang="ko-KR" altLang="en-US" sz="1200" dirty="0" err="1">
                <a:latin typeface="+mn-ea"/>
              </a:rPr>
              <a:t>엔터티</a:t>
            </a:r>
            <a:r>
              <a:rPr lang="ko-KR" altLang="en-US" sz="1200" dirty="0">
                <a:latin typeface="+mn-ea"/>
              </a:rPr>
              <a:t> 쪽의 관계 존재성도 필수이며 하위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자식</a:t>
            </a:r>
            <a:r>
              <a:rPr lang="en-US" altLang="ko-KR" sz="1200" dirty="0">
                <a:latin typeface="+mn-ea"/>
              </a:rPr>
              <a:t>) </a:t>
            </a:r>
            <a:r>
              <a:rPr lang="ko-KR" altLang="en-US" sz="1200" dirty="0" err="1">
                <a:latin typeface="+mn-ea"/>
              </a:rPr>
              <a:t>엔터티</a:t>
            </a:r>
            <a:r>
              <a:rPr lang="ko-KR" altLang="en-US" sz="1200" dirty="0">
                <a:latin typeface="+mn-ea"/>
              </a:rPr>
              <a:t> 쪽의 관계 존재성도 필수다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예제</a:t>
            </a:r>
            <a:r>
              <a:rPr lang="en-US" altLang="ko-KR" sz="1200" dirty="0">
                <a:latin typeface="+mn-ea"/>
              </a:rPr>
              <a:t>5]•[</a:t>
            </a:r>
            <a:r>
              <a:rPr lang="ko-KR" altLang="en-US" sz="1200" dirty="0">
                <a:latin typeface="+mn-ea"/>
              </a:rPr>
              <a:t>예제</a:t>
            </a:r>
            <a:r>
              <a:rPr lang="en-US" altLang="ko-KR" sz="1200" dirty="0">
                <a:latin typeface="+mn-ea"/>
              </a:rPr>
              <a:t>6]•[</a:t>
            </a:r>
            <a:r>
              <a:rPr lang="ko-KR" altLang="en-US" sz="1200" dirty="0">
                <a:latin typeface="+mn-ea"/>
              </a:rPr>
              <a:t>예제</a:t>
            </a:r>
            <a:r>
              <a:rPr lang="en-US" altLang="ko-KR" sz="1200" dirty="0">
                <a:latin typeface="+mn-ea"/>
              </a:rPr>
              <a:t>7]•[</a:t>
            </a:r>
            <a:r>
              <a:rPr lang="ko-KR" altLang="en-US" sz="1200" dirty="0">
                <a:latin typeface="+mn-ea"/>
              </a:rPr>
              <a:t>예제</a:t>
            </a:r>
            <a:r>
              <a:rPr lang="en-US" altLang="ko-KR" sz="1200" dirty="0">
                <a:latin typeface="+mn-ea"/>
              </a:rPr>
              <a:t>8]</a:t>
            </a:r>
            <a:r>
              <a:rPr lang="ko-KR" altLang="en-US" sz="1200" dirty="0">
                <a:latin typeface="+mn-ea"/>
              </a:rPr>
              <a:t>은 상위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부모</a:t>
            </a:r>
            <a:r>
              <a:rPr lang="en-US" altLang="ko-KR" sz="1200" dirty="0">
                <a:latin typeface="+mn-ea"/>
              </a:rPr>
              <a:t>) </a:t>
            </a:r>
            <a:r>
              <a:rPr lang="ko-KR" altLang="en-US" sz="1200" dirty="0" err="1">
                <a:latin typeface="+mn-ea"/>
              </a:rPr>
              <a:t>엔터티의</a:t>
            </a:r>
            <a:r>
              <a:rPr lang="ko-KR" altLang="en-US" sz="1200" dirty="0">
                <a:latin typeface="+mn-ea"/>
              </a:rPr>
              <a:t> 관계 존재성이 선택인 모델이다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이는 하위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자식</a:t>
            </a:r>
            <a:r>
              <a:rPr lang="en-US" altLang="ko-KR" sz="1200" dirty="0">
                <a:latin typeface="+mn-ea"/>
              </a:rPr>
              <a:t>) </a:t>
            </a:r>
            <a:r>
              <a:rPr lang="ko-KR" altLang="en-US" sz="1200" dirty="0" err="1">
                <a:latin typeface="+mn-ea"/>
              </a:rPr>
              <a:t>엔터티에</a:t>
            </a:r>
            <a:r>
              <a:rPr lang="ko-KR" altLang="en-US" sz="1200" dirty="0">
                <a:latin typeface="+mn-ea"/>
              </a:rPr>
              <a:t> 존재하는 데이터가 상위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부모</a:t>
            </a:r>
            <a:r>
              <a:rPr lang="en-US" altLang="ko-KR" sz="1200" dirty="0">
                <a:latin typeface="+mn-ea"/>
              </a:rPr>
              <a:t>)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엔터티에</a:t>
            </a:r>
            <a:r>
              <a:rPr lang="ko-KR" altLang="en-US" sz="1200" dirty="0">
                <a:latin typeface="+mn-ea"/>
              </a:rPr>
              <a:t> 존재하지 않을 수도 </a:t>
            </a: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있다는 업무 규칙을 표현한 관계선이다 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실무에서 매우 드물게 발생하는 관계선이다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6A724C9-6E14-2AD8-E43A-23E330125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406" y="1223534"/>
            <a:ext cx="3410281" cy="326019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018ED3E-8AE7-B2BD-711C-2A37F7BC5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5912" y="4796042"/>
            <a:ext cx="2991267" cy="13813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705616-75DF-3DE3-0A8F-0EAAECB37CC8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관계비와 관계 존재성의 표기법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8F57EC-A84E-280F-579A-32B856056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209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2614321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098195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관계비와 관계 존재성의 표기법</a:t>
            </a:r>
            <a:r>
              <a:rPr lang="en-US" altLang="ko-KR" sz="1400" dirty="0">
                <a:latin typeface="+mn-ea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예제</a:t>
            </a:r>
            <a:r>
              <a:rPr lang="en-US" altLang="ko-KR" sz="1200" dirty="0">
                <a:latin typeface="+mn-ea"/>
              </a:rPr>
              <a:t>7]</a:t>
            </a:r>
            <a:r>
              <a:rPr lang="ko-KR" altLang="en-US" sz="1200" dirty="0">
                <a:latin typeface="+mn-ea"/>
              </a:rPr>
              <a:t>인데</a:t>
            </a:r>
            <a:r>
              <a:rPr lang="en-US" altLang="ko-KR" sz="1200" dirty="0">
                <a:latin typeface="+mn-ea"/>
              </a:rPr>
              <a:t>, 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5.63] </a:t>
            </a:r>
            <a:r>
              <a:rPr lang="ko-KR" altLang="en-US" sz="1200" dirty="0">
                <a:latin typeface="+mn-ea"/>
              </a:rPr>
              <a:t>모델이 대표적인 모델이다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6A724C9-6E14-2AD8-E43A-23E330125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97" y="2466419"/>
            <a:ext cx="3410281" cy="326019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A35F89B-0B90-5EDB-F52A-D46936426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662" y="2396636"/>
            <a:ext cx="2476846" cy="962159"/>
          </a:xfrm>
          <a:prstGeom prst="rect">
            <a:avLst/>
          </a:prstGeom>
        </p:spPr>
      </p:pic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F23B8B30-D59B-F87E-1660-6776973F6DD1}"/>
              </a:ext>
            </a:extLst>
          </p:cNvPr>
          <p:cNvCxnSpPr>
            <a:cxnSpLocks/>
            <a:stCxn id="14" idx="3"/>
            <a:endCxn id="5" idx="1"/>
          </p:cNvCxnSpPr>
          <p:nvPr/>
        </p:nvCxnSpPr>
        <p:spPr>
          <a:xfrm flipV="1">
            <a:off x="4645025" y="2877716"/>
            <a:ext cx="488637" cy="1509441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FF99778-6A20-665E-B9E3-625B43506A0C}"/>
              </a:ext>
            </a:extLst>
          </p:cNvPr>
          <p:cNvSpPr/>
          <p:nvPr/>
        </p:nvSpPr>
        <p:spPr>
          <a:xfrm>
            <a:off x="3060213" y="4007227"/>
            <a:ext cx="1584812" cy="759860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3028A58-097F-091B-75BE-0FAF1CCB8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246" y="2093211"/>
            <a:ext cx="3343742" cy="1571844"/>
          </a:xfrm>
          <a:prstGeom prst="rect">
            <a:avLst/>
          </a:prstGeom>
        </p:spPr>
      </p:pic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46D9F627-6205-50D4-1E11-6463674810BB}"/>
              </a:ext>
            </a:extLst>
          </p:cNvPr>
          <p:cNvCxnSpPr>
            <a:cxnSpLocks/>
            <a:stCxn id="5" idx="3"/>
            <a:endCxn id="18" idx="1"/>
          </p:cNvCxnSpPr>
          <p:nvPr/>
        </p:nvCxnSpPr>
        <p:spPr>
          <a:xfrm>
            <a:off x="7610508" y="2877716"/>
            <a:ext cx="666738" cy="1417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265AA01E-9025-5453-786B-4688827C0C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2421" y="4010772"/>
            <a:ext cx="3429479" cy="1581371"/>
          </a:xfrm>
          <a:prstGeom prst="rect">
            <a:avLst/>
          </a:prstGeom>
        </p:spPr>
      </p:pic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4F5416E4-0262-5EBB-B52B-BA8AB13CF7A2}"/>
              </a:ext>
            </a:extLst>
          </p:cNvPr>
          <p:cNvSpPr/>
          <p:nvPr/>
        </p:nvSpPr>
        <p:spPr>
          <a:xfrm>
            <a:off x="10445552" y="3125172"/>
            <a:ext cx="1181634" cy="260517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A67D5E3E-B5F5-0909-9E30-34EE05A94997}"/>
              </a:ext>
            </a:extLst>
          </p:cNvPr>
          <p:cNvSpPr/>
          <p:nvPr/>
        </p:nvSpPr>
        <p:spPr>
          <a:xfrm>
            <a:off x="8262314" y="5075200"/>
            <a:ext cx="1262636" cy="260517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6191D2F4-300F-CBD3-B9BB-7F46219FCB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4697" y="4071860"/>
            <a:ext cx="2543530" cy="1457528"/>
          </a:xfrm>
          <a:prstGeom prst="rect">
            <a:avLst/>
          </a:prstGeom>
        </p:spPr>
      </p:pic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13518637-FAB9-B43E-4C9A-054EF566C613}"/>
              </a:ext>
            </a:extLst>
          </p:cNvPr>
          <p:cNvCxnSpPr>
            <a:cxnSpLocks/>
            <a:stCxn id="18" idx="2"/>
            <a:endCxn id="26" idx="0"/>
          </p:cNvCxnSpPr>
          <p:nvPr/>
        </p:nvCxnSpPr>
        <p:spPr>
          <a:xfrm rot="5400000">
            <a:off x="9775281" y="3836935"/>
            <a:ext cx="345717" cy="1956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F7AC2BD6-8701-17ED-9185-4524C7DCFE08}"/>
              </a:ext>
            </a:extLst>
          </p:cNvPr>
          <p:cNvCxnSpPr>
            <a:cxnSpLocks/>
            <a:stCxn id="26" idx="1"/>
            <a:endCxn id="47" idx="3"/>
          </p:cNvCxnSpPr>
          <p:nvPr/>
        </p:nvCxnSpPr>
        <p:spPr>
          <a:xfrm rot="10800000">
            <a:off x="7668227" y="4800624"/>
            <a:ext cx="564194" cy="834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964C29E-AE28-FA39-C163-8F86454F8FBA}"/>
              </a:ext>
            </a:extLst>
          </p:cNvPr>
          <p:cNvSpPr txBox="1"/>
          <p:nvPr/>
        </p:nvSpPr>
        <p:spPr>
          <a:xfrm>
            <a:off x="5097274" y="5599344"/>
            <a:ext cx="31082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만약 추가되는 인스턴스의 개수가 많다면</a:t>
            </a:r>
            <a:r>
              <a:rPr lang="en-US" altLang="ko-KR" sz="1000" dirty="0"/>
              <a:t>,</a:t>
            </a:r>
          </a:p>
          <a:p>
            <a:r>
              <a:rPr lang="ko-KR" altLang="en-US" sz="1000" dirty="0"/>
              <a:t>즉 소수의 예외 경우가 아니라 특정 집합이 필요한 </a:t>
            </a:r>
          </a:p>
          <a:p>
            <a:r>
              <a:rPr lang="ko-KR" altLang="en-US" sz="1000" dirty="0"/>
              <a:t>정도라면 [그림 5.66] 모델과 같이 별도의 </a:t>
            </a:r>
            <a:r>
              <a:rPr lang="ko-KR" altLang="en-US" sz="1000" dirty="0" err="1"/>
              <a:t>엔터티를</a:t>
            </a:r>
            <a:endParaRPr lang="en-US" altLang="ko-KR" sz="1000" dirty="0"/>
          </a:p>
          <a:p>
            <a:r>
              <a:rPr lang="ko-KR" altLang="en-US" sz="1000" dirty="0"/>
              <a:t>추가하고 배타 관계를 사용할 수 있다.</a:t>
            </a:r>
          </a:p>
        </p:txBody>
      </p:sp>
      <p:cxnSp>
        <p:nvCxnSpPr>
          <p:cNvPr id="58" name="연결선: 구부러짐 57">
            <a:extLst>
              <a:ext uri="{FF2B5EF4-FFF2-40B4-BE49-F238E27FC236}">
                <a16:creationId xmlns:a16="http://schemas.microsoft.com/office/drawing/2014/main" id="{89EBA829-030A-74DA-59F4-D0B48016BFC3}"/>
              </a:ext>
            </a:extLst>
          </p:cNvPr>
          <p:cNvCxnSpPr>
            <a:cxnSpLocks/>
            <a:stCxn id="28" idx="2"/>
            <a:endCxn id="31" idx="3"/>
          </p:cNvCxnSpPr>
          <p:nvPr/>
        </p:nvCxnSpPr>
        <p:spPr>
          <a:xfrm rot="5400000">
            <a:off x="9370775" y="3539865"/>
            <a:ext cx="1819770" cy="151141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6561C63-84AD-DFB8-E040-8D5E78D249C0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관계비와 관계 존재성의 표기법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FB5421-C4B1-2B7F-4B1A-0582CBE33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1932872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0981956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관계 존재성과 관계 속성의 널 제약</a:t>
            </a:r>
            <a:r>
              <a:rPr lang="en-US" altLang="ko-KR" sz="1400" dirty="0">
                <a:latin typeface="+mn-ea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관계 존재성과 관계 속성의 널 제약을 같은 것으로 혼동하는 경우가 많다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이는 관계 존재성의 개념을 정확히 이해하기 못해서 생긴 결과이기도 하지만 일부 </a:t>
            </a:r>
            <a:r>
              <a:rPr lang="en-US" altLang="ko-KR" sz="1200" dirty="0">
                <a:latin typeface="+mn-ea"/>
              </a:rPr>
              <a:t>C A S E  </a:t>
            </a:r>
            <a:r>
              <a:rPr lang="ko-KR" altLang="en-US" sz="1200" dirty="0">
                <a:latin typeface="+mn-ea"/>
              </a:rPr>
              <a:t>툴의 기능이 부적절해서 생긴 결과이기도 한다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관계 존재성과 관계 속성의 널 제약은 전혀 다른 것이다</a:t>
            </a:r>
            <a:r>
              <a:rPr lang="en-US" altLang="ko-KR" sz="1200" dirty="0">
                <a:latin typeface="+mn-ea"/>
              </a:rPr>
              <a:t>. 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5.67]</a:t>
            </a:r>
            <a:r>
              <a:rPr lang="ko-KR" altLang="en-US" sz="1200" dirty="0">
                <a:latin typeface="+mn-ea"/>
              </a:rPr>
              <a:t>모델은 관계선의 관계 존재성이 모두 선택이고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관계 속성의 널 제약이 설정된 모델이다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EA8B35C-7FA7-DF4A-BC3D-80DB933BC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413" y="3081179"/>
            <a:ext cx="2591162" cy="9621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2E07210-33BD-8829-0CF1-DBDB8EB44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809" y="2718736"/>
            <a:ext cx="3410426" cy="171473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D6AEAC6A-B584-B402-B36A-054EF87BFD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045" y="4933078"/>
            <a:ext cx="2543530" cy="1009791"/>
          </a:xfrm>
          <a:prstGeom prst="rect">
            <a:avLst/>
          </a:prstGeom>
        </p:spPr>
      </p:pic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7328E1C-7142-C720-4C6B-29DD348EF858}"/>
              </a:ext>
            </a:extLst>
          </p:cNvPr>
          <p:cNvSpPr/>
          <p:nvPr/>
        </p:nvSpPr>
        <p:spPr>
          <a:xfrm>
            <a:off x="2717406" y="3612603"/>
            <a:ext cx="931226" cy="187623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EF4BE8A-A8DA-8F30-F4B1-A3C61FF4525D}"/>
              </a:ext>
            </a:extLst>
          </p:cNvPr>
          <p:cNvSpPr/>
          <p:nvPr/>
        </p:nvSpPr>
        <p:spPr>
          <a:xfrm>
            <a:off x="2732257" y="5483451"/>
            <a:ext cx="931226" cy="187623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10315C34-B7EC-FADC-6BFF-B12A70F1DC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1809" y="4642907"/>
            <a:ext cx="3400900" cy="1600423"/>
          </a:xfrm>
          <a:prstGeom prst="rect">
            <a:avLst/>
          </a:prstGeom>
        </p:spPr>
      </p:pic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94638F49-7040-179F-D849-C0ED4A920B91}"/>
              </a:ext>
            </a:extLst>
          </p:cNvPr>
          <p:cNvCxnSpPr>
            <a:cxnSpLocks/>
          </p:cNvCxnSpPr>
          <p:nvPr/>
        </p:nvCxnSpPr>
        <p:spPr>
          <a:xfrm>
            <a:off x="3874737" y="3562258"/>
            <a:ext cx="46132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AF161975-525D-F4C3-A901-A6320DE11A9D}"/>
              </a:ext>
            </a:extLst>
          </p:cNvPr>
          <p:cNvCxnSpPr>
            <a:cxnSpLocks/>
          </p:cNvCxnSpPr>
          <p:nvPr/>
        </p:nvCxnSpPr>
        <p:spPr>
          <a:xfrm>
            <a:off x="3874737" y="5437973"/>
            <a:ext cx="46132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76" name="그림 75">
            <a:extLst>
              <a:ext uri="{FF2B5EF4-FFF2-40B4-BE49-F238E27FC236}">
                <a16:creationId xmlns:a16="http://schemas.microsoft.com/office/drawing/2014/main" id="{B588ECFE-0E6F-4EFA-6755-D716B9C3C1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0817" y="3076415"/>
            <a:ext cx="2505425" cy="971686"/>
          </a:xfrm>
          <a:prstGeom prst="rect">
            <a:avLst/>
          </a:prstGeom>
        </p:spPr>
      </p:pic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2950C773-9168-4899-75B1-248A78C081A6}"/>
              </a:ext>
            </a:extLst>
          </p:cNvPr>
          <p:cNvSpPr/>
          <p:nvPr/>
        </p:nvSpPr>
        <p:spPr>
          <a:xfrm>
            <a:off x="10202941" y="3625016"/>
            <a:ext cx="931226" cy="187623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54F14C24-43D6-F678-81E7-A274DC7B3E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0817" y="4928315"/>
            <a:ext cx="2572109" cy="1019317"/>
          </a:xfrm>
          <a:prstGeom prst="rect">
            <a:avLst/>
          </a:prstGeom>
        </p:spPr>
      </p:pic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19B63ADE-BA52-031B-B417-820F52FC983C}"/>
              </a:ext>
            </a:extLst>
          </p:cNvPr>
          <p:cNvSpPr/>
          <p:nvPr/>
        </p:nvSpPr>
        <p:spPr>
          <a:xfrm>
            <a:off x="10222229" y="5492416"/>
            <a:ext cx="931226" cy="187623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B065E191-0F6A-BE1F-2A4D-58F54C976B02}"/>
              </a:ext>
            </a:extLst>
          </p:cNvPr>
          <p:cNvCxnSpPr>
            <a:cxnSpLocks/>
          </p:cNvCxnSpPr>
          <p:nvPr/>
        </p:nvCxnSpPr>
        <p:spPr>
          <a:xfrm>
            <a:off x="8057246" y="3562258"/>
            <a:ext cx="46132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712203A0-E0BA-7B43-7610-FDC4EFCDD8A8}"/>
              </a:ext>
            </a:extLst>
          </p:cNvPr>
          <p:cNvCxnSpPr>
            <a:cxnSpLocks/>
          </p:cNvCxnSpPr>
          <p:nvPr/>
        </p:nvCxnSpPr>
        <p:spPr>
          <a:xfrm>
            <a:off x="8057246" y="5437973"/>
            <a:ext cx="46132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75CDABD4-DE04-6F6B-C129-513071B0C459}"/>
              </a:ext>
            </a:extLst>
          </p:cNvPr>
          <p:cNvSpPr/>
          <p:nvPr/>
        </p:nvSpPr>
        <p:spPr>
          <a:xfrm>
            <a:off x="6778421" y="3823130"/>
            <a:ext cx="1126358" cy="381317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627AE3EF-6333-8AAF-97CC-BD49CFBAB5FE}"/>
              </a:ext>
            </a:extLst>
          </p:cNvPr>
          <p:cNvSpPr/>
          <p:nvPr/>
        </p:nvSpPr>
        <p:spPr>
          <a:xfrm>
            <a:off x="6769456" y="5742790"/>
            <a:ext cx="1126358" cy="191845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4F5483-983E-ED9B-89EB-DC850E35512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관계비와 관계 존재성의 표기법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6F70881-4615-3EFC-B193-BCB9218BB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6869456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0981956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관계 구성 요소 </a:t>
            </a: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관계 참여 수</a:t>
            </a:r>
            <a:r>
              <a:rPr lang="en-US" altLang="ko-KR" sz="1400" dirty="0">
                <a:latin typeface="+mn-ea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관계 참여 수</a:t>
            </a:r>
            <a:r>
              <a:rPr lang="en-US" altLang="ko-KR" sz="1200" dirty="0">
                <a:latin typeface="+mn-ea"/>
              </a:rPr>
              <a:t>(Relationship Degree)</a:t>
            </a:r>
            <a:r>
              <a:rPr lang="ko-KR" altLang="en-US" sz="1200" dirty="0">
                <a:latin typeface="+mn-ea"/>
              </a:rPr>
              <a:t>는 관계와 연관된 </a:t>
            </a:r>
            <a:r>
              <a:rPr lang="ko-KR" altLang="en-US" sz="1200" dirty="0" err="1">
                <a:latin typeface="+mn-ea"/>
              </a:rPr>
              <a:t>엔터티의</a:t>
            </a:r>
            <a:r>
              <a:rPr lang="ko-KR" altLang="en-US" sz="1200" dirty="0">
                <a:latin typeface="+mn-ea"/>
              </a:rPr>
              <a:t> 개수를 의미한다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하나의 관계에 포함된 </a:t>
            </a:r>
            <a:r>
              <a:rPr lang="ko-KR" altLang="en-US" sz="1200" dirty="0" err="1">
                <a:latin typeface="+mn-ea"/>
              </a:rPr>
              <a:t>엔터티의</a:t>
            </a:r>
            <a:r>
              <a:rPr lang="ko-KR" altLang="en-US" sz="1200" dirty="0">
                <a:latin typeface="+mn-ea"/>
              </a:rPr>
              <a:t> 개수를 관계 참여 수라고 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관계 참여 수는 크게 세 가지로 구분할 수 있다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가장 흔한 참여 수 </a:t>
            </a:r>
            <a:r>
              <a:rPr lang="en-US" altLang="ko-KR" sz="1200" dirty="0">
                <a:latin typeface="+mn-ea"/>
              </a:rPr>
              <a:t>2</a:t>
            </a:r>
            <a:r>
              <a:rPr lang="ko-KR" altLang="en-US" sz="1200" dirty="0">
                <a:latin typeface="+mn-ea"/>
              </a:rPr>
              <a:t>이며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이는 두 개의 </a:t>
            </a:r>
            <a:r>
              <a:rPr lang="ko-KR" altLang="en-US" sz="1200" dirty="0" err="1">
                <a:latin typeface="+mn-ea"/>
              </a:rPr>
              <a:t>엔터티</a:t>
            </a:r>
            <a:r>
              <a:rPr lang="ko-KR" altLang="en-US" sz="1200" dirty="0">
                <a:latin typeface="+mn-ea"/>
              </a:rPr>
              <a:t> 간의 관계를 의미한다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이를 </a:t>
            </a:r>
            <a:r>
              <a:rPr lang="en-US" altLang="ko-KR" sz="1200" dirty="0">
                <a:latin typeface="+mn-ea"/>
              </a:rPr>
              <a:t>2 </a:t>
            </a:r>
            <a:r>
              <a:rPr lang="ko-KR" altLang="en-US" sz="1200" dirty="0">
                <a:latin typeface="+mn-ea"/>
              </a:rPr>
              <a:t>개체 관계</a:t>
            </a:r>
            <a:r>
              <a:rPr lang="en-US" altLang="ko-KR" sz="1200" dirty="0">
                <a:latin typeface="+mn-ea"/>
              </a:rPr>
              <a:t>(Binary Relationship)</a:t>
            </a:r>
            <a:r>
              <a:rPr lang="ko-KR" altLang="en-US" sz="1200" dirty="0">
                <a:latin typeface="+mn-ea"/>
              </a:rPr>
              <a:t>라고 하며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실제 비즈니스에서 발생하는 대부분의 업무 규칙이 이에 해당한다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관계 참여수가 </a:t>
            </a:r>
            <a:r>
              <a:rPr lang="en-US" altLang="ko-KR" sz="1200" dirty="0">
                <a:latin typeface="+mn-ea"/>
              </a:rPr>
              <a:t>1</a:t>
            </a:r>
            <a:r>
              <a:rPr lang="ko-KR" altLang="en-US" sz="1200" dirty="0">
                <a:latin typeface="+mn-ea"/>
              </a:rPr>
              <a:t>인 관계도 간혹 존재한다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하나의 </a:t>
            </a:r>
            <a:r>
              <a:rPr lang="ko-KR" altLang="en-US" sz="1200" dirty="0" err="1">
                <a:latin typeface="+mn-ea"/>
              </a:rPr>
              <a:t>엔터티에서</a:t>
            </a:r>
            <a:r>
              <a:rPr lang="ko-KR" altLang="en-US" sz="1200" dirty="0">
                <a:latin typeface="+mn-ea"/>
              </a:rPr>
              <a:t> 발생하는 관계를 재귀 관계</a:t>
            </a:r>
            <a:r>
              <a:rPr lang="en-US" altLang="ko-KR" sz="1200" dirty="0">
                <a:latin typeface="+mn-ea"/>
              </a:rPr>
              <a:t>(Recursive Relationship) </a:t>
            </a:r>
            <a:r>
              <a:rPr lang="ko-KR" altLang="en-US" sz="1200" dirty="0">
                <a:latin typeface="+mn-ea"/>
              </a:rPr>
              <a:t>또는 </a:t>
            </a: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200" dirty="0">
                <a:latin typeface="+mn-ea"/>
              </a:rPr>
              <a:t>1</a:t>
            </a:r>
            <a:r>
              <a:rPr lang="ko-KR" altLang="en-US" sz="1200" dirty="0">
                <a:latin typeface="+mn-ea"/>
              </a:rPr>
              <a:t>개체 관계</a:t>
            </a:r>
            <a:r>
              <a:rPr lang="en-US" altLang="ko-KR" sz="1200" dirty="0">
                <a:latin typeface="+mn-ea"/>
              </a:rPr>
              <a:t>(Unary Relationship)</a:t>
            </a:r>
            <a:r>
              <a:rPr lang="ko-KR" altLang="en-US" sz="1200" dirty="0">
                <a:latin typeface="+mn-ea"/>
              </a:rPr>
              <a:t>라고 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거의 모든 </a:t>
            </a:r>
            <a:r>
              <a:rPr lang="en-US" altLang="ko-KR" sz="1200" dirty="0">
                <a:latin typeface="+mn-ea"/>
              </a:rPr>
              <a:t>CASE</a:t>
            </a:r>
            <a:r>
              <a:rPr lang="ko-KR" altLang="en-US" sz="1200" dirty="0">
                <a:latin typeface="+mn-ea"/>
              </a:rPr>
              <a:t>툴에서는 위의 두 관계를 관계선으로 표현할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한 과목에는 여러 교수가 지정될 수 있고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학생은 여러 과목을 </a:t>
            </a: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수강 신청할 수 있으며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학생은 여러 교수의 강의를 들을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03F1B52-DBEE-FC3A-8EEA-D0E62C8C7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041" y="4536885"/>
            <a:ext cx="2200582" cy="17147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CD5110-4710-A3E8-4333-91E848660233}"/>
              </a:ext>
            </a:extLst>
          </p:cNvPr>
          <p:cNvSpPr txBox="1"/>
          <p:nvPr/>
        </p:nvSpPr>
        <p:spPr>
          <a:xfrm>
            <a:off x="6275294" y="3222838"/>
            <a:ext cx="55735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다대다</a:t>
            </a:r>
            <a:r>
              <a:rPr lang="en-US" altLang="ko-KR" sz="1200" dirty="0">
                <a:latin typeface="+mn-ea"/>
              </a:rPr>
              <a:t>(M:M) </a:t>
            </a:r>
            <a:r>
              <a:rPr lang="ko-KR" altLang="en-US" sz="1200" dirty="0">
                <a:latin typeface="+mn-ea"/>
              </a:rPr>
              <a:t>관계와 마찬가지로 </a:t>
            </a:r>
            <a:r>
              <a:rPr lang="en-US" altLang="ko-KR" sz="1200" dirty="0">
                <a:latin typeface="+mn-ea"/>
              </a:rPr>
              <a:t>3</a:t>
            </a:r>
            <a:r>
              <a:rPr lang="ko-KR" altLang="en-US" sz="1200" dirty="0">
                <a:latin typeface="+mn-ea"/>
              </a:rPr>
              <a:t>개체 관계도 관계를 표현하려면 결국 새로운 </a:t>
            </a:r>
            <a:r>
              <a:rPr lang="ko-KR" altLang="en-US" sz="1200" dirty="0" err="1">
                <a:latin typeface="+mn-ea"/>
              </a:rPr>
              <a:t>엔터티가</a:t>
            </a:r>
            <a:r>
              <a:rPr lang="ko-KR" altLang="en-US" sz="1200" dirty="0">
                <a:latin typeface="+mn-ea"/>
              </a:rPr>
              <a:t> 필요하다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두 </a:t>
            </a:r>
            <a:r>
              <a:rPr lang="ko-KR" altLang="en-US" sz="1200" dirty="0" err="1">
                <a:latin typeface="+mn-ea"/>
              </a:rPr>
              <a:t>엔터티</a:t>
            </a:r>
            <a:r>
              <a:rPr lang="ko-KR" altLang="en-US" sz="1200" dirty="0">
                <a:latin typeface="+mn-ea"/>
              </a:rPr>
              <a:t> 사이의 다대다</a:t>
            </a:r>
            <a:r>
              <a:rPr lang="en-US" altLang="ko-KR" sz="1200" dirty="0">
                <a:latin typeface="+mn-ea"/>
              </a:rPr>
              <a:t>(M:M) </a:t>
            </a:r>
            <a:r>
              <a:rPr lang="ko-KR" altLang="en-US" sz="1200" dirty="0">
                <a:latin typeface="+mn-ea"/>
              </a:rPr>
              <a:t>관계를 해소하면 새로운 </a:t>
            </a:r>
            <a:r>
              <a:rPr lang="ko-KR" altLang="en-US" sz="1200" dirty="0" err="1">
                <a:latin typeface="+mn-ea"/>
              </a:rPr>
              <a:t>엔터티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교차 </a:t>
            </a:r>
            <a:r>
              <a:rPr lang="ko-KR" altLang="en-US" sz="1200" dirty="0" err="1">
                <a:latin typeface="+mn-ea"/>
              </a:rPr>
              <a:t>엔터티</a:t>
            </a:r>
            <a:r>
              <a:rPr lang="en-US" altLang="ko-KR" sz="1200" dirty="0">
                <a:latin typeface="+mn-ea"/>
              </a:rPr>
              <a:t>)</a:t>
            </a:r>
            <a:r>
              <a:rPr lang="ko-KR" altLang="en-US" sz="1200" dirty="0">
                <a:latin typeface="+mn-ea"/>
              </a:rPr>
              <a:t>가 생기듯이 </a:t>
            </a:r>
            <a:r>
              <a:rPr lang="en-US" altLang="ko-KR" sz="1200" dirty="0">
                <a:latin typeface="+mn-ea"/>
              </a:rPr>
              <a:t>3</a:t>
            </a:r>
            <a:r>
              <a:rPr lang="ko-KR" altLang="en-US" sz="1200" dirty="0">
                <a:latin typeface="+mn-ea"/>
              </a:rPr>
              <a:t>개체 관계도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5.74] </a:t>
            </a:r>
            <a:r>
              <a:rPr lang="ko-KR" altLang="en-US" sz="1200" dirty="0">
                <a:latin typeface="+mn-ea"/>
              </a:rPr>
              <a:t>수강신청 </a:t>
            </a:r>
            <a:r>
              <a:rPr lang="ko-KR" altLang="en-US" sz="1200" dirty="0" err="1">
                <a:latin typeface="+mn-ea"/>
              </a:rPr>
              <a:t>엔터티와</a:t>
            </a:r>
            <a:r>
              <a:rPr lang="ko-KR" altLang="en-US" sz="1200" dirty="0">
                <a:latin typeface="+mn-ea"/>
              </a:rPr>
              <a:t> 같이 새로운 </a:t>
            </a:r>
            <a:r>
              <a:rPr lang="ko-KR" altLang="en-US" sz="1200" dirty="0" err="1">
                <a:latin typeface="+mn-ea"/>
              </a:rPr>
              <a:t>엔터티가</a:t>
            </a:r>
            <a:r>
              <a:rPr lang="ko-KR" altLang="en-US" sz="1200" dirty="0">
                <a:latin typeface="+mn-ea"/>
              </a:rPr>
              <a:t> 생긴다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이를 관계 </a:t>
            </a:r>
            <a:r>
              <a:rPr lang="ko-KR" altLang="en-US" sz="1200" dirty="0" err="1">
                <a:latin typeface="+mn-ea"/>
              </a:rPr>
              <a:t>엔터티라고도</a:t>
            </a:r>
            <a:r>
              <a:rPr lang="ko-KR" altLang="en-US" sz="1200" dirty="0">
                <a:latin typeface="+mn-ea"/>
              </a:rPr>
              <a:t> 한다</a:t>
            </a:r>
            <a:r>
              <a:rPr lang="en-US" altLang="ko-KR" sz="1200" dirty="0">
                <a:latin typeface="+mn-ea"/>
              </a:rPr>
              <a:t>.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 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BC86EEA-3774-D7BA-D1E2-A81FCBB39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294" y="4308253"/>
            <a:ext cx="3372321" cy="19433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152D5A7-1E8F-9045-2F04-DCF4E3EEEF8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관계비와 관계 존재성의 표기법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9D2895-C2AA-A523-C061-01EB562AF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9600291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0981956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관계 참여 수와 주 식별자</a:t>
            </a: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대부분의 관계인  </a:t>
            </a:r>
            <a:r>
              <a:rPr lang="en-US" altLang="ko-KR" sz="1200" dirty="0">
                <a:latin typeface="+mn-ea"/>
              </a:rPr>
              <a:t>2 </a:t>
            </a:r>
            <a:r>
              <a:rPr lang="ko-KR" altLang="en-US" sz="1200" dirty="0">
                <a:latin typeface="+mn-ea"/>
              </a:rPr>
              <a:t>개체 관계와 재귀 관계인  </a:t>
            </a:r>
            <a:r>
              <a:rPr lang="en-US" altLang="ko-KR" sz="1200" dirty="0">
                <a:latin typeface="+mn-ea"/>
              </a:rPr>
              <a:t>1 </a:t>
            </a:r>
            <a:r>
              <a:rPr lang="ko-KR" altLang="en-US" sz="1200" dirty="0">
                <a:latin typeface="+mn-ea"/>
              </a:rPr>
              <a:t>개체 관계는 주 식별자와 직접적인 관계가 없다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즉 </a:t>
            </a:r>
            <a:r>
              <a:rPr lang="ko-KR" altLang="en-US" sz="1200" dirty="0" err="1">
                <a:latin typeface="+mn-ea"/>
              </a:rPr>
              <a:t>엔터티</a:t>
            </a:r>
            <a:r>
              <a:rPr lang="ko-KR" altLang="en-US" sz="1200" dirty="0">
                <a:latin typeface="+mn-ea"/>
              </a:rPr>
              <a:t> 자체 성격에 의해 주 식별자가 결정된다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하지만 </a:t>
            </a:r>
            <a:r>
              <a:rPr lang="en-US" altLang="ko-KR" sz="1200" dirty="0">
                <a:latin typeface="+mn-ea"/>
              </a:rPr>
              <a:t>3 </a:t>
            </a:r>
            <a:r>
              <a:rPr lang="ko-KR" altLang="en-US" sz="1200" dirty="0">
                <a:latin typeface="+mn-ea"/>
              </a:rPr>
              <a:t>개체 관계는 일종의 교차 </a:t>
            </a:r>
            <a:r>
              <a:rPr lang="ko-KR" altLang="en-US" sz="1200" dirty="0" err="1">
                <a:latin typeface="+mn-ea"/>
              </a:rPr>
              <a:t>엔터티이기</a:t>
            </a:r>
            <a:r>
              <a:rPr lang="ko-KR" altLang="en-US" sz="1200" dirty="0">
                <a:latin typeface="+mn-ea"/>
              </a:rPr>
              <a:t> 때문에 관계가 주 식별자와 직접 연관된다</a:t>
            </a:r>
            <a:r>
              <a:rPr lang="en-US" altLang="ko-KR" sz="1200" dirty="0">
                <a:latin typeface="+mn-ea"/>
              </a:rPr>
              <a:t>.  3 </a:t>
            </a:r>
            <a:r>
              <a:rPr lang="ko-KR" altLang="en-US" sz="1200" dirty="0">
                <a:latin typeface="+mn-ea"/>
              </a:rPr>
              <a:t>개체 이상이 관여한 관계는 주 식별자를 도출하기가 쉽지 않다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200" dirty="0">
                <a:latin typeface="+mn-ea"/>
              </a:rPr>
              <a:t>3 </a:t>
            </a:r>
            <a:r>
              <a:rPr lang="ko-KR" altLang="en-US" sz="1200" dirty="0">
                <a:latin typeface="+mn-ea"/>
              </a:rPr>
              <a:t>개체 관계 </a:t>
            </a:r>
            <a:r>
              <a:rPr lang="ko-KR" altLang="en-US" sz="1200" dirty="0" err="1">
                <a:latin typeface="+mn-ea"/>
              </a:rPr>
              <a:t>엔터티의</a:t>
            </a:r>
            <a:r>
              <a:rPr lang="ko-KR" altLang="en-US" sz="1200" dirty="0">
                <a:latin typeface="+mn-ea"/>
              </a:rPr>
              <a:t> 주 식별자가 반드시 세 개의 속성으로 구성되는 것은 아니다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이는 교차 </a:t>
            </a:r>
            <a:r>
              <a:rPr lang="ko-KR" altLang="en-US" sz="1200" dirty="0" err="1">
                <a:latin typeface="+mn-ea"/>
              </a:rPr>
              <a:t>엔터티도</a:t>
            </a:r>
            <a:r>
              <a:rPr lang="ko-KR" altLang="en-US" sz="1200" dirty="0">
                <a:latin typeface="+mn-ea"/>
              </a:rPr>
              <a:t> 마찬가지다</a:t>
            </a:r>
            <a:r>
              <a:rPr lang="en-US" altLang="ko-KR" sz="1200" dirty="0">
                <a:latin typeface="+mn-ea"/>
              </a:rPr>
              <a:t>.  </a:t>
            </a:r>
            <a:r>
              <a:rPr lang="ko-KR" altLang="en-US" sz="1200" dirty="0">
                <a:latin typeface="+mn-ea"/>
              </a:rPr>
              <a:t>인스턴스를 유일하게 식별할 수 있도록 주 식별자를 도출해야 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이를 알기 위한 방법은 함수 종속을 찾는 것이다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함수 종속은 관계비와 연관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200" dirty="0">
                <a:latin typeface="+mn-ea"/>
              </a:rPr>
              <a:t>3 </a:t>
            </a:r>
            <a:r>
              <a:rPr lang="ko-KR" altLang="en-US" sz="1200" dirty="0">
                <a:latin typeface="+mn-ea"/>
              </a:rPr>
              <a:t>개체 관계가 발생하는 </a:t>
            </a:r>
            <a:r>
              <a:rPr lang="ko-KR" altLang="en-US" sz="1200" dirty="0" err="1">
                <a:latin typeface="+mn-ea"/>
              </a:rPr>
              <a:t>엔터티는</a:t>
            </a:r>
            <a:r>
              <a:rPr lang="ko-KR" altLang="en-US" sz="1200" dirty="0">
                <a:latin typeface="+mn-ea"/>
              </a:rPr>
              <a:t> 관계가 복잡하므로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5.75]</a:t>
            </a:r>
            <a:r>
              <a:rPr lang="ko-KR" altLang="en-US" sz="1200" dirty="0">
                <a:latin typeface="+mn-ea"/>
              </a:rPr>
              <a:t>와 같은 사례 릴레이션을 만들어 보는 것이 좋다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D18CD2D-565F-A905-3252-7A707DF5D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092" y="3699835"/>
            <a:ext cx="2295845" cy="149563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D469482-995E-6791-0B89-F7A2FFBBD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287" y="3880836"/>
            <a:ext cx="2267266" cy="131463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412D475-09CA-A93E-F1F8-01ECD7D4D5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231" y="3528360"/>
            <a:ext cx="2124371" cy="166710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82787DAA-FCCD-5C0C-B424-F91A818582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8281" y="3405377"/>
            <a:ext cx="3058796" cy="17900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C978CD-AEA1-750D-1E2B-299FE58397FB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관계비와 관계 존재성의 표기법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BEEA2E-1F67-8DF6-1B01-FA0C1D743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213</a:t>
            </a:fld>
            <a:endParaRPr lang="ko-KR" altLang="en-US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6D96A5D-A22F-4A00-98BB-A264ACB203BE}"/>
              </a:ext>
            </a:extLst>
          </p:cNvPr>
          <p:cNvSpPr/>
          <p:nvPr/>
        </p:nvSpPr>
        <p:spPr>
          <a:xfrm>
            <a:off x="1092416" y="3908829"/>
            <a:ext cx="931226" cy="187623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81E8A8F-554C-4834-9BD3-9607B239568B}"/>
              </a:ext>
            </a:extLst>
          </p:cNvPr>
          <p:cNvSpPr/>
          <p:nvPr/>
        </p:nvSpPr>
        <p:spPr>
          <a:xfrm>
            <a:off x="1103755" y="4285167"/>
            <a:ext cx="931226" cy="187623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FD2DAFF-6E9E-4CD8-BE76-0D47A671ECF6}"/>
              </a:ext>
            </a:extLst>
          </p:cNvPr>
          <p:cNvSpPr/>
          <p:nvPr/>
        </p:nvSpPr>
        <p:spPr>
          <a:xfrm>
            <a:off x="2221676" y="3907639"/>
            <a:ext cx="260267" cy="565151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7191F0-5ED3-4D40-84C2-16F9375768D6}"/>
              </a:ext>
            </a:extLst>
          </p:cNvPr>
          <p:cNvSpPr txBox="1"/>
          <p:nvPr/>
        </p:nvSpPr>
        <p:spPr>
          <a:xfrm>
            <a:off x="1782843" y="5310816"/>
            <a:ext cx="62701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accent1"/>
                </a:solidFill>
              </a:rPr>
              <a:t>하나를 기준으로 여러 개면 </a:t>
            </a:r>
            <a:r>
              <a:rPr lang="en-US" altLang="ko-KR" sz="1200" b="1" dirty="0">
                <a:solidFill>
                  <a:schemeClr val="accent1"/>
                </a:solidFill>
              </a:rPr>
              <a:t>m</a:t>
            </a:r>
            <a:r>
              <a:rPr lang="ko-KR" altLang="en-US" sz="1200" b="1" dirty="0">
                <a:solidFill>
                  <a:schemeClr val="accent1"/>
                </a:solidFill>
              </a:rPr>
              <a:t>으로 설계</a:t>
            </a:r>
            <a:r>
              <a:rPr lang="en-US" altLang="ko-KR" sz="1200" b="1" dirty="0">
                <a:solidFill>
                  <a:schemeClr val="accent1"/>
                </a:solidFill>
              </a:rPr>
              <a:t>,</a:t>
            </a:r>
            <a:r>
              <a:rPr lang="ko-KR" altLang="en-US" sz="1200" b="1" dirty="0">
                <a:solidFill>
                  <a:schemeClr val="accent1"/>
                </a:solidFill>
              </a:rPr>
              <a:t> 두 개를 기준으로 여러 개면 </a:t>
            </a:r>
            <a:r>
              <a:rPr lang="en-US" altLang="ko-KR" sz="1200" b="1" dirty="0">
                <a:solidFill>
                  <a:schemeClr val="accent1"/>
                </a:solidFill>
              </a:rPr>
              <a:t>m</a:t>
            </a:r>
            <a:r>
              <a:rPr lang="ko-KR" altLang="en-US" sz="1200" b="1" dirty="0">
                <a:solidFill>
                  <a:schemeClr val="accent1"/>
                </a:solidFill>
              </a:rPr>
              <a:t>으로 설계</a:t>
            </a:r>
            <a:endParaRPr lang="en-US" altLang="ko-KR" sz="1200" b="1" dirty="0">
              <a:solidFill>
                <a:schemeClr val="accent1"/>
              </a:solidFill>
            </a:endParaRPr>
          </a:p>
          <a:p>
            <a:r>
              <a:rPr lang="ko-KR" altLang="en-US" sz="1200" b="1" dirty="0">
                <a:solidFill>
                  <a:schemeClr val="accent1"/>
                </a:solidFill>
              </a:rPr>
              <a:t>   </a:t>
            </a:r>
            <a:r>
              <a:rPr lang="en-US" altLang="ko-KR" sz="1200" b="1" dirty="0">
                <a:solidFill>
                  <a:schemeClr val="accent1"/>
                </a:solidFill>
                <a:sym typeface="Wingdings" panose="05000000000000000000" pitchFamily="2" charset="2"/>
              </a:rPr>
              <a:t> </a:t>
            </a:r>
            <a:r>
              <a:rPr lang="ko-KR" altLang="en-US" sz="1200" b="1" dirty="0">
                <a:solidFill>
                  <a:schemeClr val="accent1"/>
                </a:solidFill>
              </a:rPr>
              <a:t>학생과 교수로 보면 과목이 </a:t>
            </a:r>
            <a:r>
              <a:rPr lang="en-US" altLang="ko-KR" sz="1200" b="1" dirty="0">
                <a:solidFill>
                  <a:schemeClr val="accent1"/>
                </a:solidFill>
              </a:rPr>
              <a:t>M</a:t>
            </a:r>
          </a:p>
          <a:p>
            <a:r>
              <a:rPr lang="en-US" altLang="ko-KR" sz="1200" b="1" dirty="0">
                <a:solidFill>
                  <a:schemeClr val="accent1"/>
                </a:solidFill>
              </a:rPr>
              <a:t>FD(</a:t>
            </a:r>
            <a:r>
              <a:rPr lang="ko-KR" altLang="en-US" sz="1200" b="1" dirty="0">
                <a:solidFill>
                  <a:schemeClr val="accent1"/>
                </a:solidFill>
              </a:rPr>
              <a:t>학생</a:t>
            </a:r>
            <a:r>
              <a:rPr lang="en-US" altLang="ko-KR" sz="1200" b="1" dirty="0">
                <a:solidFill>
                  <a:schemeClr val="accent1"/>
                </a:solidFill>
              </a:rPr>
              <a:t>) </a:t>
            </a:r>
            <a:r>
              <a:rPr lang="en-US" altLang="ko-KR" sz="1200" b="1" dirty="0">
                <a:solidFill>
                  <a:schemeClr val="accent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200" b="1" dirty="0">
                <a:solidFill>
                  <a:schemeClr val="accent1"/>
                </a:solidFill>
              </a:rPr>
              <a:t>교수</a:t>
            </a:r>
            <a:r>
              <a:rPr lang="en-US" altLang="ko-KR" sz="1200" b="1" dirty="0">
                <a:solidFill>
                  <a:schemeClr val="accent1"/>
                </a:solidFill>
              </a:rPr>
              <a:t>, </a:t>
            </a:r>
            <a:r>
              <a:rPr lang="ko-KR" altLang="en-US" sz="1200" b="1" dirty="0">
                <a:solidFill>
                  <a:schemeClr val="accent1"/>
                </a:solidFill>
              </a:rPr>
              <a:t>과목</a:t>
            </a:r>
            <a:r>
              <a:rPr lang="en-US" altLang="ko-KR" sz="1200" b="1" dirty="0">
                <a:solidFill>
                  <a:schemeClr val="accent1"/>
                </a:solidFill>
              </a:rPr>
              <a:t>, </a:t>
            </a:r>
            <a:r>
              <a:rPr lang="ko-KR" altLang="en-US" sz="1200" b="1" dirty="0">
                <a:solidFill>
                  <a:schemeClr val="accent1"/>
                </a:solidFill>
                <a:sym typeface="Wingdings" panose="05000000000000000000" pitchFamily="2" charset="2"/>
              </a:rPr>
              <a:t>신청일자</a:t>
            </a:r>
            <a:endParaRPr lang="en-US" altLang="ko-KR" sz="1200" b="1" dirty="0">
              <a:solidFill>
                <a:schemeClr val="accent1"/>
              </a:solidFill>
              <a:sym typeface="Wingdings" panose="05000000000000000000" pitchFamily="2" charset="2"/>
            </a:endParaRPr>
          </a:p>
          <a:p>
            <a:r>
              <a:rPr lang="en-US" altLang="ko-KR" sz="1200" b="1" dirty="0">
                <a:solidFill>
                  <a:schemeClr val="accent1"/>
                </a:solidFill>
              </a:rPr>
              <a:t>FD(</a:t>
            </a:r>
            <a:r>
              <a:rPr lang="ko-KR" altLang="en-US" sz="1200" b="1" dirty="0">
                <a:solidFill>
                  <a:schemeClr val="accent1"/>
                </a:solidFill>
              </a:rPr>
              <a:t>학생</a:t>
            </a:r>
            <a:r>
              <a:rPr lang="en-US" altLang="ko-KR" sz="1200" b="1" dirty="0">
                <a:solidFill>
                  <a:schemeClr val="accent1"/>
                </a:solidFill>
              </a:rPr>
              <a:t>,</a:t>
            </a:r>
            <a:r>
              <a:rPr lang="ko-KR" altLang="en-US" sz="1200" b="1" dirty="0">
                <a:solidFill>
                  <a:schemeClr val="accent1"/>
                </a:solidFill>
              </a:rPr>
              <a:t>교수</a:t>
            </a:r>
            <a:r>
              <a:rPr lang="en-US" altLang="ko-KR" sz="1200" b="1" dirty="0">
                <a:solidFill>
                  <a:schemeClr val="accent1"/>
                </a:solidFill>
              </a:rPr>
              <a:t>) </a:t>
            </a:r>
            <a:r>
              <a:rPr lang="en-US" altLang="ko-KR" sz="1200" b="1" dirty="0">
                <a:solidFill>
                  <a:schemeClr val="accent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200" b="1" dirty="0">
                <a:solidFill>
                  <a:schemeClr val="accent1"/>
                </a:solidFill>
              </a:rPr>
              <a:t>과목</a:t>
            </a:r>
            <a:r>
              <a:rPr lang="en-US" altLang="ko-KR" sz="1200" b="1" dirty="0">
                <a:solidFill>
                  <a:schemeClr val="accent1"/>
                </a:solidFill>
              </a:rPr>
              <a:t>,</a:t>
            </a:r>
            <a:r>
              <a:rPr lang="ko-KR" altLang="en-US" sz="1200" b="1" dirty="0">
                <a:solidFill>
                  <a:schemeClr val="accent1"/>
                </a:solidFill>
              </a:rPr>
              <a:t> </a:t>
            </a:r>
            <a:r>
              <a:rPr lang="ko-KR" altLang="en-US" sz="1200" b="1" dirty="0">
                <a:solidFill>
                  <a:schemeClr val="accent1"/>
                </a:solidFill>
                <a:sym typeface="Wingdings" panose="05000000000000000000" pitchFamily="2" charset="2"/>
              </a:rPr>
              <a:t>신청일자</a:t>
            </a:r>
            <a:endParaRPr lang="en-US" altLang="ko-KR" sz="1200" b="1" dirty="0">
              <a:solidFill>
                <a:schemeClr val="accent1"/>
              </a:solidFill>
              <a:sym typeface="Wingdings" panose="05000000000000000000" pitchFamily="2" charset="2"/>
            </a:endParaRPr>
          </a:p>
          <a:p>
            <a:r>
              <a:rPr lang="en-US" altLang="ko-KR" sz="1200" b="1" dirty="0">
                <a:solidFill>
                  <a:schemeClr val="accent1"/>
                </a:solidFill>
              </a:rPr>
              <a:t>FD(</a:t>
            </a:r>
            <a:r>
              <a:rPr lang="ko-KR" altLang="en-US" sz="1200" b="1" dirty="0">
                <a:solidFill>
                  <a:schemeClr val="accent1"/>
                </a:solidFill>
              </a:rPr>
              <a:t>학생</a:t>
            </a:r>
            <a:r>
              <a:rPr lang="en-US" altLang="ko-KR" sz="1200" b="1" dirty="0">
                <a:solidFill>
                  <a:schemeClr val="accent1"/>
                </a:solidFill>
              </a:rPr>
              <a:t>,</a:t>
            </a:r>
            <a:r>
              <a:rPr lang="ko-KR" altLang="en-US" sz="1200" b="1" dirty="0">
                <a:solidFill>
                  <a:schemeClr val="accent1"/>
                </a:solidFill>
              </a:rPr>
              <a:t>과목</a:t>
            </a:r>
            <a:r>
              <a:rPr lang="en-US" altLang="ko-KR" sz="1200" b="1" dirty="0">
                <a:solidFill>
                  <a:schemeClr val="accent1"/>
                </a:solidFill>
              </a:rPr>
              <a:t>) </a:t>
            </a:r>
            <a:r>
              <a:rPr lang="en-US" altLang="ko-KR" sz="1200" b="1" dirty="0">
                <a:solidFill>
                  <a:schemeClr val="accent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200" b="1" dirty="0">
                <a:solidFill>
                  <a:schemeClr val="accent1"/>
                </a:solidFill>
              </a:rPr>
              <a:t>교수</a:t>
            </a:r>
            <a:r>
              <a:rPr lang="en-US" altLang="ko-KR" sz="1200" b="1" dirty="0">
                <a:solidFill>
                  <a:schemeClr val="accent1"/>
                </a:solidFill>
              </a:rPr>
              <a:t>, </a:t>
            </a:r>
            <a:r>
              <a:rPr lang="ko-KR" altLang="en-US" sz="1200" b="1" dirty="0">
                <a:solidFill>
                  <a:schemeClr val="accent1"/>
                </a:solidFill>
                <a:sym typeface="Wingdings" panose="05000000000000000000" pitchFamily="2" charset="2"/>
              </a:rPr>
              <a:t>신청일자</a:t>
            </a:r>
            <a:endParaRPr lang="en-US" altLang="ko-KR" sz="1200" b="1" dirty="0">
              <a:solidFill>
                <a:schemeClr val="accent1"/>
              </a:solidFill>
              <a:sym typeface="Wingdings" panose="05000000000000000000" pitchFamily="2" charset="2"/>
            </a:endParaRPr>
          </a:p>
          <a:p>
            <a:r>
              <a:rPr lang="en-US" altLang="ko-KR" sz="1200" b="1" dirty="0">
                <a:solidFill>
                  <a:schemeClr val="accent1"/>
                </a:solidFill>
              </a:rPr>
              <a:t>FD(</a:t>
            </a:r>
            <a:r>
              <a:rPr lang="ko-KR" altLang="en-US" sz="1200" b="1" dirty="0">
                <a:solidFill>
                  <a:schemeClr val="accent1"/>
                </a:solidFill>
              </a:rPr>
              <a:t>학생</a:t>
            </a:r>
            <a:r>
              <a:rPr lang="en-US" altLang="ko-KR" sz="1200" b="1" dirty="0">
                <a:solidFill>
                  <a:schemeClr val="accent1"/>
                </a:solidFill>
              </a:rPr>
              <a:t>,</a:t>
            </a:r>
            <a:r>
              <a:rPr lang="ko-KR" altLang="en-US" sz="1200" b="1" dirty="0">
                <a:solidFill>
                  <a:schemeClr val="accent1"/>
                </a:solidFill>
              </a:rPr>
              <a:t>교수</a:t>
            </a:r>
            <a:r>
              <a:rPr lang="en-US" altLang="ko-KR" sz="1200" b="1" dirty="0">
                <a:solidFill>
                  <a:schemeClr val="accent1"/>
                </a:solidFill>
              </a:rPr>
              <a:t>,</a:t>
            </a:r>
            <a:r>
              <a:rPr lang="ko-KR" altLang="en-US" sz="1200" b="1" dirty="0">
                <a:solidFill>
                  <a:schemeClr val="accent1"/>
                </a:solidFill>
              </a:rPr>
              <a:t>과목</a:t>
            </a:r>
            <a:r>
              <a:rPr lang="en-US" altLang="ko-KR" sz="1200" b="1" dirty="0">
                <a:solidFill>
                  <a:schemeClr val="accent1"/>
                </a:solidFill>
              </a:rPr>
              <a:t>) </a:t>
            </a:r>
            <a:r>
              <a:rPr lang="en-US" altLang="ko-KR" sz="1200" b="1" dirty="0">
                <a:solidFill>
                  <a:schemeClr val="accent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200" b="1" dirty="0">
                <a:solidFill>
                  <a:schemeClr val="accent1"/>
                </a:solidFill>
                <a:sym typeface="Wingdings" panose="05000000000000000000" pitchFamily="2" charset="2"/>
              </a:rPr>
              <a:t>신청일자  </a:t>
            </a:r>
            <a:r>
              <a:rPr lang="en-US" altLang="ko-KR" sz="1200" b="1" dirty="0">
                <a:solidFill>
                  <a:schemeClr val="accent1"/>
                </a:solidFill>
                <a:sym typeface="Wingdings" panose="05000000000000000000" pitchFamily="2" charset="2"/>
              </a:rPr>
              <a:t>(</a:t>
            </a:r>
            <a:r>
              <a:rPr lang="ko-KR" altLang="en-US" sz="1200" b="1" dirty="0">
                <a:solidFill>
                  <a:schemeClr val="accent1"/>
                </a:solidFill>
                <a:sym typeface="Wingdings" panose="05000000000000000000" pitchFamily="2" charset="2"/>
              </a:rPr>
              <a:t>교수는 </a:t>
            </a:r>
            <a:r>
              <a:rPr lang="ko-KR" altLang="en-US" sz="1200" b="1" dirty="0" err="1">
                <a:solidFill>
                  <a:schemeClr val="accent1"/>
                </a:solidFill>
                <a:sym typeface="Wingdings" panose="05000000000000000000" pitchFamily="2" charset="2"/>
              </a:rPr>
              <a:t>수퍼식별자</a:t>
            </a:r>
            <a:r>
              <a:rPr lang="en-US" altLang="ko-KR" sz="1200" b="1" dirty="0">
                <a:solidFill>
                  <a:schemeClr val="accent1"/>
                </a:solidFill>
                <a:sym typeface="Wingdings" panose="05000000000000000000" pitchFamily="2" charset="2"/>
              </a:rPr>
              <a:t>)</a:t>
            </a:r>
            <a:endParaRPr lang="ko-KR" altLang="en-US" sz="12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686779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09819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관계 참여 수와 연관된 다양한 설계 방법</a:t>
            </a: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관계 참여수도 결국은 요건을 설계한 것이다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요건에 따라 </a:t>
            </a:r>
            <a:r>
              <a:rPr lang="en-US" altLang="ko-KR" sz="1200" dirty="0">
                <a:latin typeface="+mn-ea"/>
              </a:rPr>
              <a:t>2</a:t>
            </a:r>
            <a:r>
              <a:rPr lang="ko-KR" altLang="en-US" sz="1200" dirty="0">
                <a:latin typeface="+mn-ea"/>
              </a:rPr>
              <a:t>개체 관계와 </a:t>
            </a:r>
            <a:r>
              <a:rPr lang="en-US" altLang="ko-KR" sz="1200" dirty="0">
                <a:latin typeface="+mn-ea"/>
              </a:rPr>
              <a:t>3</a:t>
            </a:r>
            <a:r>
              <a:rPr lang="ko-KR" altLang="en-US" sz="1200" dirty="0">
                <a:latin typeface="+mn-ea"/>
              </a:rPr>
              <a:t>개체 관계가 된다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이번 장에서는 유사한 요건이지만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일반적인 관계와 </a:t>
            </a:r>
            <a:r>
              <a:rPr lang="en-US" altLang="ko-KR" sz="1200" dirty="0">
                <a:latin typeface="+mn-ea"/>
              </a:rPr>
              <a:t>3</a:t>
            </a:r>
            <a:r>
              <a:rPr lang="ko-KR" altLang="en-US" sz="1200" dirty="0">
                <a:latin typeface="+mn-ea"/>
              </a:rPr>
              <a:t>개체 관계로 설계되는 예제를 설명할 것이다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사원이 담당하고 있는 고객의 계좌를 관리하기 위해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그룹 번호를 만드는 요건이 있다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그리고 그룹번호에 계좌를 묶어서 관리한다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이 요건을 만족하는 일반적인 모델은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5.79]</a:t>
            </a:r>
            <a:r>
              <a:rPr lang="ko-KR" altLang="en-US" sz="1200" dirty="0">
                <a:latin typeface="+mn-ea"/>
              </a:rPr>
              <a:t>와 같다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630BA7B-1221-05CF-15D8-1800D690C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60" y="3524219"/>
            <a:ext cx="3553321" cy="20576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5BD0310-3149-A433-F92C-9CBCDF295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9303" y="3533745"/>
            <a:ext cx="3753374" cy="204816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C647B52-3F59-1EF5-76D2-B4E03C863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2687" y="3705219"/>
            <a:ext cx="3915321" cy="18766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9A6521B-6AA8-047F-B0F2-41B08DAA8186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관계비와 관계 존재성의 표기법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663C2DE-535B-6B93-B153-24D453402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214</a:t>
            </a:fld>
            <a:endParaRPr lang="ko-KR" altLang="en-US" dirty="0"/>
          </a:p>
        </p:txBody>
      </p:sp>
      <p:cxnSp>
        <p:nvCxnSpPr>
          <p:cNvPr id="10" name="연결선: 구부러짐 9">
            <a:extLst>
              <a:ext uri="{FF2B5EF4-FFF2-40B4-BE49-F238E27FC236}">
                <a16:creationId xmlns:a16="http://schemas.microsoft.com/office/drawing/2014/main" id="{F5EF8B7D-1C75-47FD-8289-C1C54195A720}"/>
              </a:ext>
            </a:extLst>
          </p:cNvPr>
          <p:cNvCxnSpPr>
            <a:cxnSpLocks/>
            <a:stCxn id="11" idx="2"/>
            <a:endCxn id="14" idx="2"/>
          </p:cNvCxnSpPr>
          <p:nvPr/>
        </p:nvCxnSpPr>
        <p:spPr>
          <a:xfrm rot="16200000" flipH="1">
            <a:off x="7908169" y="3559727"/>
            <a:ext cx="12700" cy="4044358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180197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0981956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000" b="1" dirty="0" err="1">
                <a:latin typeface="+mn-ea"/>
              </a:rPr>
              <a:t>관계명</a:t>
            </a: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b="1" u="sng" dirty="0" err="1">
                <a:solidFill>
                  <a:srgbClr val="FF0000"/>
                </a:solidFill>
                <a:latin typeface="+mn-ea"/>
              </a:rPr>
              <a:t>관계명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(Relationship Name)</a:t>
            </a:r>
            <a:r>
              <a:rPr lang="ko-KR" altLang="en-US" sz="1400" dirty="0">
                <a:latin typeface="+mn-ea"/>
              </a:rPr>
              <a:t>은 </a:t>
            </a:r>
            <a:r>
              <a:rPr lang="ko-KR" altLang="en-US" sz="1400" b="1" u="sng" dirty="0" err="1">
                <a:solidFill>
                  <a:srgbClr val="FF0000"/>
                </a:solidFill>
                <a:latin typeface="+mn-ea"/>
              </a:rPr>
              <a:t>관계선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 위에 표시하는 관계의 이름</a:t>
            </a:r>
            <a:r>
              <a:rPr lang="ko-KR" altLang="en-US" sz="1400" dirty="0">
                <a:latin typeface="+mn-ea"/>
              </a:rPr>
              <a:t>이다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데이터 모델은 다이어그램 형식으로 표현하기 때문에 표현법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작도법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이 중요하다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+mn-ea"/>
              </a:rPr>
              <a:t>ERD</a:t>
            </a:r>
            <a:r>
              <a:rPr lang="ko-KR" altLang="en-US" sz="1400" dirty="0">
                <a:latin typeface="+mn-ea"/>
              </a:rPr>
              <a:t>를 임의대로 해석하지 않고 누구나 이해할 수 있도록 규칙에 따라서 약속된 대로 작성해야 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작도법에 포함되는 것 중의 하나가 관계명이다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관계명</a:t>
            </a:r>
            <a:r>
              <a:rPr lang="ko-KR" altLang="en-US" sz="1400" dirty="0">
                <a:latin typeface="+mn-ea"/>
              </a:rPr>
              <a:t>은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모델의 가독성을 높이기 위해서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사용된다</a:t>
            </a: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관계 명을 관계선의 중앙에 붙이는 것은 다대다</a:t>
            </a:r>
            <a:r>
              <a:rPr lang="en-US" altLang="ko-KR" sz="1400" dirty="0">
                <a:latin typeface="+mn-ea"/>
              </a:rPr>
              <a:t>(M:M) </a:t>
            </a:r>
            <a:r>
              <a:rPr lang="ko-KR" altLang="en-US" sz="1400" dirty="0">
                <a:latin typeface="+mn-ea"/>
              </a:rPr>
              <a:t>관계에서도 이미 사용하고 있는 유용한 방법이다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5.82] </a:t>
            </a:r>
            <a:r>
              <a:rPr lang="ko-KR" altLang="en-US" sz="1400" dirty="0">
                <a:latin typeface="+mn-ea"/>
              </a:rPr>
              <a:t>모델의 학생 </a:t>
            </a:r>
            <a:r>
              <a:rPr lang="ko-KR" altLang="en-US" sz="1400" dirty="0" err="1">
                <a:latin typeface="+mn-ea"/>
              </a:rPr>
              <a:t>엔터티와</a:t>
            </a:r>
            <a:r>
              <a:rPr lang="ko-KR" altLang="en-US" sz="1400" dirty="0">
                <a:latin typeface="+mn-ea"/>
              </a:rPr>
              <a:t> 과목 </a:t>
            </a:r>
            <a:r>
              <a:rPr lang="ko-KR" altLang="en-US" sz="1400" dirty="0" err="1">
                <a:latin typeface="+mn-ea"/>
              </a:rPr>
              <a:t>엔터티는</a:t>
            </a:r>
            <a:r>
              <a:rPr lang="ko-KR" altLang="en-US" sz="1400" dirty="0">
                <a:latin typeface="+mn-ea"/>
              </a:rPr>
              <a:t> 다대다</a:t>
            </a:r>
            <a:r>
              <a:rPr lang="en-US" altLang="ko-KR" sz="1400" dirty="0">
                <a:latin typeface="+mn-ea"/>
              </a:rPr>
              <a:t>(M:M) </a:t>
            </a:r>
            <a:r>
              <a:rPr lang="ko-KR" altLang="en-US" sz="1400" dirty="0">
                <a:latin typeface="+mn-ea"/>
              </a:rPr>
              <a:t>관계다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이 다대다</a:t>
            </a:r>
            <a:r>
              <a:rPr lang="en-US" altLang="ko-KR" sz="1400" dirty="0">
                <a:latin typeface="+mn-ea"/>
              </a:rPr>
              <a:t>(M:M) </a:t>
            </a:r>
            <a:r>
              <a:rPr lang="ko-KR" altLang="en-US" sz="1400" dirty="0">
                <a:latin typeface="+mn-ea"/>
              </a:rPr>
              <a:t>관계의 관계 명은 ‘수강’ 이며，다대다</a:t>
            </a:r>
            <a:r>
              <a:rPr lang="en-US" altLang="ko-KR" sz="1400" dirty="0">
                <a:latin typeface="+mn-ea"/>
              </a:rPr>
              <a:t>(M:M) </a:t>
            </a:r>
            <a:r>
              <a:rPr lang="ko-KR" altLang="en-US" sz="1400" dirty="0">
                <a:latin typeface="+mn-ea"/>
              </a:rPr>
              <a:t>관계를 해소하면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5.83]</a:t>
            </a:r>
            <a:r>
              <a:rPr lang="ko-KR" altLang="en-US" sz="1400" dirty="0">
                <a:latin typeface="+mn-ea"/>
              </a:rPr>
              <a:t>과 같은 모델이 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관계 명을 ‘상위조직으로서’ 와 같이 조사 형식으로 사용하는 </a:t>
            </a: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방법도 실익이 없어 필자는 사용하지 않는다</a:t>
            </a:r>
            <a:r>
              <a:rPr lang="en-US" altLang="ko-KR" sz="1400" dirty="0">
                <a:latin typeface="+mn-ea"/>
              </a:rPr>
              <a:t>. 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5.84] </a:t>
            </a:r>
            <a:r>
              <a:rPr lang="ko-KR" altLang="en-US" sz="1400" dirty="0">
                <a:latin typeface="+mn-ea"/>
              </a:rPr>
              <a:t>모델과 </a:t>
            </a: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같이 명사형으로 붙여도 관계는 충분히 이해된다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123F1A8-18E4-2F6B-E032-0CC9A9D11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116" y="4006993"/>
            <a:ext cx="1962424" cy="86689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28D8332-15D4-CF5F-46B0-284C94F0C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619" y="4006993"/>
            <a:ext cx="2638793" cy="84784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F22823C-E0AF-BF91-6200-E38F9387D0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357" y="4647352"/>
            <a:ext cx="1886213" cy="142894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604786-BE36-F0D1-ED99-8A620010A867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 err="1">
                <a:latin typeface="+mn-ea"/>
              </a:rPr>
              <a:t>관계명</a:t>
            </a:r>
            <a:r>
              <a:rPr lang="ko-KR" altLang="en-US" sz="2400" b="1" dirty="0">
                <a:latin typeface="+mn-ea"/>
              </a:rPr>
              <a:t> 붙이는 방법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25D66D-73CF-6F50-C6B4-964AD963C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215</a:t>
            </a:fld>
            <a:endParaRPr lang="ko-KR" altLang="en-US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7DF4F88-1B87-4013-A377-A324B2F64D12}"/>
              </a:ext>
            </a:extLst>
          </p:cNvPr>
          <p:cNvSpPr/>
          <p:nvPr/>
        </p:nvSpPr>
        <p:spPr>
          <a:xfrm>
            <a:off x="2540670" y="4107886"/>
            <a:ext cx="426465" cy="212187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6E26167-A960-4E7B-A221-0AB402FC2D57}"/>
              </a:ext>
            </a:extLst>
          </p:cNvPr>
          <p:cNvSpPr/>
          <p:nvPr/>
        </p:nvSpPr>
        <p:spPr>
          <a:xfrm>
            <a:off x="5531949" y="3951334"/>
            <a:ext cx="822198" cy="741962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연결선: 구부러짐 13">
            <a:extLst>
              <a:ext uri="{FF2B5EF4-FFF2-40B4-BE49-F238E27FC236}">
                <a16:creationId xmlns:a16="http://schemas.microsoft.com/office/drawing/2014/main" id="{07573A7C-6DB4-46EA-BF9D-0ECC199C7673}"/>
              </a:ext>
            </a:extLst>
          </p:cNvPr>
          <p:cNvCxnSpPr>
            <a:cxnSpLocks/>
            <a:stCxn id="11" idx="0"/>
            <a:endCxn id="12" idx="0"/>
          </p:cNvCxnSpPr>
          <p:nvPr/>
        </p:nvCxnSpPr>
        <p:spPr>
          <a:xfrm rot="5400000" flipH="1" flipV="1">
            <a:off x="4270199" y="2435038"/>
            <a:ext cx="156552" cy="3189145"/>
          </a:xfrm>
          <a:prstGeom prst="curvedConnector3">
            <a:avLst>
              <a:gd name="adj1" fmla="val 246022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7256649-1036-4FC4-830F-8E7CCC7303FF}"/>
              </a:ext>
            </a:extLst>
          </p:cNvPr>
          <p:cNvSpPr/>
          <p:nvPr/>
        </p:nvSpPr>
        <p:spPr>
          <a:xfrm>
            <a:off x="9181320" y="4614656"/>
            <a:ext cx="649264" cy="563833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691AD82-20C9-4A2E-8619-FCA66055485A}"/>
              </a:ext>
            </a:extLst>
          </p:cNvPr>
          <p:cNvSpPr/>
          <p:nvPr/>
        </p:nvSpPr>
        <p:spPr>
          <a:xfrm>
            <a:off x="9896994" y="4577837"/>
            <a:ext cx="14077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“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상위조직으로서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”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8621431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09819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관계명을 붙이는 방법을 나름대로 체계화한 두 가지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이유</a:t>
            </a: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600" b="1" dirty="0">
                <a:latin typeface="+mn-ea"/>
              </a:rPr>
              <a:t>하나는 관계 명을 붙이는 데 많은 시간을 소비하는 것을 종종 봤기 때문이고</a:t>
            </a:r>
            <a:r>
              <a:rPr lang="en-US" altLang="ko-KR" sz="1600" b="1" dirty="0">
                <a:latin typeface="+mn-ea"/>
              </a:rPr>
              <a:t>, 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600" b="1" dirty="0">
                <a:latin typeface="+mn-ea"/>
              </a:rPr>
              <a:t>다른 하나는 관계도 속성이기 때문에 관계 명이 속성 명과 연관된다고 생각했기 때문이다</a:t>
            </a:r>
            <a:r>
              <a:rPr lang="en-US" altLang="ko-KR" sz="1600" b="1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 err="1">
                <a:latin typeface="+mn-ea"/>
              </a:rPr>
              <a:t>관계명</a:t>
            </a:r>
            <a:r>
              <a:rPr lang="ko-KR" altLang="en-US" sz="2400" b="1" dirty="0">
                <a:latin typeface="+mn-ea"/>
              </a:rPr>
              <a:t> 붙이는 방법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C8EC5E8-2D1B-FA59-CE9E-3D61EA9B9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218" y="2912340"/>
            <a:ext cx="1800476" cy="86689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AC5DF80-1BB1-2CBE-C4EB-CDA73A5A9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5125" y="2912340"/>
            <a:ext cx="2410161" cy="87642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9BCF919-EB79-A10A-2672-2F396E65D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5213" y="2807550"/>
            <a:ext cx="3534268" cy="98121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9510C1D-310C-F2A0-3DBF-7A6AA52E99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298" y="4588672"/>
            <a:ext cx="3543795" cy="1000265"/>
          </a:xfrm>
          <a:prstGeom prst="rect">
            <a:avLst/>
          </a:prstGeom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0AA1EF3B-8F01-23C3-A55D-21B31D1DC219}"/>
              </a:ext>
            </a:extLst>
          </p:cNvPr>
          <p:cNvCxnSpPr>
            <a:cxnSpLocks/>
          </p:cNvCxnSpPr>
          <p:nvPr/>
        </p:nvCxnSpPr>
        <p:spPr>
          <a:xfrm>
            <a:off x="3441794" y="3254440"/>
            <a:ext cx="46132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522F313-89BC-937A-5F9E-20C54A680DC4}"/>
              </a:ext>
            </a:extLst>
          </p:cNvPr>
          <p:cNvCxnSpPr>
            <a:cxnSpLocks/>
          </p:cNvCxnSpPr>
          <p:nvPr/>
        </p:nvCxnSpPr>
        <p:spPr>
          <a:xfrm>
            <a:off x="6601447" y="3247627"/>
            <a:ext cx="46132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982D4106-F01B-EDF7-421A-4819B00AEDF0}"/>
              </a:ext>
            </a:extLst>
          </p:cNvPr>
          <p:cNvCxnSpPr>
            <a:cxnSpLocks/>
          </p:cNvCxnSpPr>
          <p:nvPr/>
        </p:nvCxnSpPr>
        <p:spPr>
          <a:xfrm>
            <a:off x="9089251" y="4055949"/>
            <a:ext cx="0" cy="3739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F263DA9E-1AB0-58BD-AD65-4DF94677FF2A}"/>
              </a:ext>
            </a:extLst>
          </p:cNvPr>
          <p:cNvCxnSpPr>
            <a:cxnSpLocks/>
          </p:cNvCxnSpPr>
          <p:nvPr/>
        </p:nvCxnSpPr>
        <p:spPr>
          <a:xfrm flipH="1">
            <a:off x="6986022" y="5063834"/>
            <a:ext cx="4416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4" name="그림 23">
            <a:extLst>
              <a:ext uri="{FF2B5EF4-FFF2-40B4-BE49-F238E27FC236}">
                <a16:creationId xmlns:a16="http://schemas.microsoft.com/office/drawing/2014/main" id="{52C3A0B7-656A-ACA1-83DD-F5F2BE04CB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7028" y="4302883"/>
            <a:ext cx="3010320" cy="1286054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6F73135-13AC-55E2-B470-55E566BEC36D}"/>
              </a:ext>
            </a:extLst>
          </p:cNvPr>
          <p:cNvSpPr/>
          <p:nvPr/>
        </p:nvSpPr>
        <p:spPr>
          <a:xfrm>
            <a:off x="4900474" y="3274787"/>
            <a:ext cx="766984" cy="154214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8B3780A-9EC2-6513-27AF-FE3DD92439C8}"/>
              </a:ext>
            </a:extLst>
          </p:cNvPr>
          <p:cNvSpPr/>
          <p:nvPr/>
        </p:nvSpPr>
        <p:spPr>
          <a:xfrm>
            <a:off x="7563489" y="3036831"/>
            <a:ext cx="1390382" cy="192690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EBD223C-DF76-ECE1-75D7-B9DDEC3FD266}"/>
              </a:ext>
            </a:extLst>
          </p:cNvPr>
          <p:cNvSpPr/>
          <p:nvPr/>
        </p:nvSpPr>
        <p:spPr>
          <a:xfrm>
            <a:off x="7907521" y="4813352"/>
            <a:ext cx="1390382" cy="364459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4B432D2F-07AE-E3E2-2370-494FEA8A2615}"/>
              </a:ext>
            </a:extLst>
          </p:cNvPr>
          <p:cNvSpPr/>
          <p:nvPr/>
        </p:nvSpPr>
        <p:spPr>
          <a:xfrm>
            <a:off x="4800887" y="4588672"/>
            <a:ext cx="821305" cy="222417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68135623-9FD2-83AE-EB08-A0075A52D8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091" y="4541041"/>
            <a:ext cx="2248214" cy="1047896"/>
          </a:xfrm>
          <a:prstGeom prst="rect">
            <a:avLst/>
          </a:prstGeom>
        </p:spPr>
      </p:pic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74C6AFE6-3855-6055-F541-74C075985369}"/>
              </a:ext>
            </a:extLst>
          </p:cNvPr>
          <p:cNvSpPr/>
          <p:nvPr/>
        </p:nvSpPr>
        <p:spPr>
          <a:xfrm>
            <a:off x="1858666" y="4762676"/>
            <a:ext cx="549557" cy="198623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D2CBA0B-3411-6A7A-B5F0-A4E30DA8E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4904522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0981956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b="1" dirty="0">
                <a:latin typeface="+mn-ea"/>
              </a:rPr>
              <a:t>관계 명이 필요할 때와 필요 없을 때 </a:t>
            </a:r>
            <a:r>
              <a:rPr lang="en-US" altLang="ko-KR" b="1" dirty="0">
                <a:latin typeface="+mn-ea"/>
              </a:rPr>
              <a:t>(1/4)</a:t>
            </a: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관계 명이 필요한 일반적인 기준</a:t>
            </a: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lt"/>
              <a:buAutoNum type="arabicPeriod"/>
            </a:pP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수식어가 필요할 때 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(Role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이름을 붙인다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.)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수식어가 필요한가</a:t>
            </a:r>
            <a:r>
              <a:rPr lang="ko-KR" altLang="en-US" sz="1200" dirty="0">
                <a:latin typeface="+mn-ea"/>
              </a:rPr>
              <a:t> 가 관계 명이 필요한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기초적인 기준</a:t>
            </a:r>
            <a:r>
              <a:rPr lang="ko-KR" altLang="en-US" sz="1200" dirty="0">
                <a:latin typeface="+mn-ea"/>
              </a:rPr>
              <a:t>이 된다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수식어가 필요한 경우라면 관계 명을 표현하는 것이 좋다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수식어는 관계가 하는 역할을 의미한다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수식어는 크게 관계가 여러 개일 때 사용하고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관계를 구체적으로 </a:t>
            </a:r>
            <a:endParaRPr lang="en-US" altLang="ko-KR" sz="1200" dirty="0"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정의할 때 사용한다</a:t>
            </a:r>
            <a:r>
              <a:rPr lang="en-US" altLang="ko-KR" sz="1200" dirty="0">
                <a:latin typeface="+mn-ea"/>
              </a:rPr>
              <a:t>. 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5.91] </a:t>
            </a:r>
            <a:r>
              <a:rPr lang="ko-KR" altLang="en-US" sz="1200" dirty="0">
                <a:latin typeface="+mn-ea"/>
              </a:rPr>
              <a:t>모델처럼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관계가 여러 개일 때</a:t>
            </a:r>
            <a:r>
              <a:rPr lang="ko-KR" altLang="en-US" sz="1200" dirty="0">
                <a:latin typeface="+mn-ea"/>
              </a:rPr>
              <a:t> </a:t>
            </a:r>
            <a:endParaRPr lang="en-US" altLang="ko-KR" sz="1200" dirty="0"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관계를 구분하기 위해서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수식어가 필요</a:t>
            </a:r>
            <a:r>
              <a:rPr lang="ko-KR" altLang="en-US" sz="1200" dirty="0">
                <a:latin typeface="+mn-ea"/>
              </a:rPr>
              <a:t>하다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5.92]</a:t>
            </a:r>
            <a:r>
              <a:rPr lang="ko-KR" altLang="en-US" sz="1200" dirty="0">
                <a:latin typeface="+mn-ea"/>
              </a:rPr>
              <a:t>는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관계를 구체적으로 정의</a:t>
            </a:r>
            <a:r>
              <a:rPr lang="ko-KR" altLang="en-US" sz="1200" dirty="0">
                <a:latin typeface="+mn-ea"/>
              </a:rPr>
              <a:t>하려고 사용한 모델이며</a:t>
            </a:r>
            <a:r>
              <a:rPr lang="en-US" altLang="ko-KR" sz="1200" dirty="0">
                <a:latin typeface="+mn-ea"/>
              </a:rPr>
              <a:t>,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확장성을 고려한 모델이기도 하다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지금은 관계가 하나지만</a:t>
            </a:r>
            <a:r>
              <a:rPr lang="en-US" altLang="ko-KR" sz="1200" dirty="0">
                <a:latin typeface="+mn-ea"/>
              </a:rPr>
              <a:t>, 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관계는 나중에 추가될 수 있다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5.93] </a:t>
            </a:r>
            <a:r>
              <a:rPr lang="ko-KR" altLang="en-US" sz="1200" dirty="0">
                <a:latin typeface="+mn-ea"/>
              </a:rPr>
              <a:t>모델은 가독성은 떨어지지만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관계 속성이 존재하기 </a:t>
            </a:r>
            <a:endParaRPr lang="en-US" altLang="ko-KR" sz="1200" dirty="0"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때문에 잘못된 모델은 아니다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하지만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5.94] </a:t>
            </a:r>
            <a:r>
              <a:rPr lang="ko-KR" altLang="en-US" sz="1200" dirty="0">
                <a:latin typeface="+mn-ea"/>
              </a:rPr>
              <a:t>모델은 관계 속성이 하나밖에 없어 잘못된 모델이다</a:t>
            </a:r>
            <a:endParaRPr lang="en-US" altLang="ko-KR" sz="12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A4C379-5F2D-16B0-A34E-94716C38E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352" y="1186578"/>
            <a:ext cx="3229426" cy="102884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A7703CC-A656-38B5-9FEA-39A1123ED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8563" y="2592132"/>
            <a:ext cx="2715004" cy="95263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E6F28D6B-712E-3172-3EE6-A80EFAD69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5695" y="3921475"/>
            <a:ext cx="2800741" cy="990738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3F3B5A2E-EC60-2ED4-23A2-0B88217495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0932" y="5288922"/>
            <a:ext cx="2810267" cy="9716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772C2C-F7F3-27E8-B699-8220C695DBCD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 err="1">
                <a:latin typeface="+mn-ea"/>
              </a:rPr>
              <a:t>관계명</a:t>
            </a:r>
            <a:r>
              <a:rPr lang="ko-KR" altLang="en-US" sz="2400" b="1" dirty="0">
                <a:latin typeface="+mn-ea"/>
              </a:rPr>
              <a:t> 붙이는 방법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43F2AE-1916-FEA2-4D14-C5C69785E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9638673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0981956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b="1" dirty="0">
                <a:latin typeface="+mn-ea"/>
              </a:rPr>
              <a:t>관계 명이 필요할 때와 필요 없을 때 </a:t>
            </a:r>
            <a:r>
              <a:rPr lang="en-US" altLang="ko-KR" b="1" dirty="0">
                <a:latin typeface="+mn-ea"/>
              </a:rPr>
              <a:t>(2/4)</a:t>
            </a: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관계 명이 필요한 일반적인 기준</a:t>
            </a: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lt"/>
              <a:buAutoNum type="arabicPeriod" startAt="2"/>
            </a:pP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재귀 관계일 때</a:t>
            </a:r>
            <a:endParaRPr lang="en-US" altLang="ko-KR" sz="1400" b="1" dirty="0">
              <a:solidFill>
                <a:srgbClr val="FF0000"/>
              </a:solidFill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재귀 관계 또한 관계 명이 반드시 필요하다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5.96] </a:t>
            </a:r>
            <a:r>
              <a:rPr lang="ko-KR" altLang="en-US" sz="1200" dirty="0">
                <a:latin typeface="+mn-ea"/>
              </a:rPr>
              <a:t>모델과 같은 재귀 관계에 관계 명이 없으면 </a:t>
            </a:r>
            <a:endParaRPr lang="en-US" altLang="ko-KR" sz="1200" dirty="0"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관계를 한 번에 이해할 수 없다</a:t>
            </a:r>
            <a:r>
              <a:rPr lang="en-US" altLang="ko-KR" sz="1200" dirty="0">
                <a:latin typeface="+mn-ea"/>
              </a:rPr>
              <a:t>. BOM</a:t>
            </a:r>
            <a:r>
              <a:rPr lang="ko-KR" altLang="en-US" sz="1200" dirty="0">
                <a:latin typeface="+mn-ea"/>
              </a:rPr>
              <a:t>관계도 관계 명이 필요하다</a:t>
            </a:r>
            <a:endParaRPr lang="en-US" altLang="ko-KR" sz="1200" dirty="0"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lt"/>
              <a:buAutoNum type="arabicPeriod" startAt="2"/>
            </a:pP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추출 관계일 때</a:t>
            </a:r>
            <a:endParaRPr lang="en-US" altLang="ko-KR" b="1" dirty="0">
              <a:solidFill>
                <a:srgbClr val="FF0000"/>
              </a:solidFill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5.9</a:t>
            </a:r>
            <a:r>
              <a:rPr lang="ko-KR" altLang="en-US" sz="1200" dirty="0">
                <a:latin typeface="+mn-ea"/>
              </a:rPr>
              <a:t>기 모델과 같은 추출 관계도 관계 명이 필요하다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추출 관계는 일반적인 관계가 아니므로 관계선과 </a:t>
            </a:r>
            <a:endParaRPr lang="en-US" altLang="ko-KR" sz="1200" dirty="0"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 err="1">
                <a:latin typeface="+mn-ea"/>
              </a:rPr>
              <a:t>엔터티</a:t>
            </a:r>
            <a:r>
              <a:rPr lang="ko-KR" altLang="en-US" sz="1200" dirty="0">
                <a:latin typeface="+mn-ea"/>
              </a:rPr>
              <a:t> 명만 봐서는 잘못된 관계로 오해할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D6B2299-67B6-D086-7CE2-68F1254EE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7691" y="2210857"/>
            <a:ext cx="1914792" cy="142894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2B5C3C0-0600-0CE5-2224-06D3B8347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348" y="4153281"/>
            <a:ext cx="3067478" cy="10955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67A2D07-F42F-C21F-4028-66FEC3753E43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 err="1">
                <a:latin typeface="+mn-ea"/>
              </a:rPr>
              <a:t>관계명</a:t>
            </a:r>
            <a:r>
              <a:rPr lang="ko-KR" altLang="en-US" sz="2400" b="1" dirty="0">
                <a:latin typeface="+mn-ea"/>
              </a:rPr>
              <a:t> 붙이는 방법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8DE8D2B-80D6-9B57-2AB2-D46896FE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1960258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0981956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b="1" dirty="0">
                <a:latin typeface="+mn-ea"/>
              </a:rPr>
              <a:t>관계 명이 필요할 때와 필요 없을 때 </a:t>
            </a:r>
            <a:r>
              <a:rPr lang="en-US" altLang="ko-KR" b="1" dirty="0">
                <a:latin typeface="+mn-ea"/>
              </a:rPr>
              <a:t>(3/4)</a:t>
            </a: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관계 명이 필요한 일반적인 기준</a:t>
            </a: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lt"/>
              <a:buAutoNum type="arabicPeriod" startAt="4"/>
            </a:pP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양방향 관계일 때 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추출관계 시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정상인 모델로 봐야 함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ko-KR" sz="1100" b="1" dirty="0">
              <a:solidFill>
                <a:srgbClr val="FF0000"/>
              </a:solidFill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5.98] </a:t>
            </a:r>
            <a:r>
              <a:rPr lang="ko-KR" altLang="en-US" sz="1200" dirty="0">
                <a:latin typeface="+mn-ea"/>
              </a:rPr>
              <a:t>모델은 양방향 관계다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많은 사람들이 잘못된 관계라는 선입견을 가진 관계다</a:t>
            </a:r>
            <a:endParaRPr lang="en-US" altLang="ko-KR" sz="1200" dirty="0"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같은 양방향 관계도 관계 명이 필요하다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양방향 관계 </a:t>
            </a:r>
            <a:endParaRPr lang="en-US" altLang="ko-KR" sz="1200" dirty="0"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또한 일반적인 관계가 아니지만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비교적 빈번하게 발생한다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5.98] </a:t>
            </a:r>
            <a:r>
              <a:rPr lang="ko-KR" altLang="en-US" sz="1200" dirty="0">
                <a:latin typeface="+mn-ea"/>
              </a:rPr>
              <a:t>모델은 관계 명이 없는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5.99] </a:t>
            </a:r>
            <a:r>
              <a:rPr lang="ko-KR" altLang="en-US" sz="1200" dirty="0">
                <a:latin typeface="+mn-ea"/>
              </a:rPr>
              <a:t>모델과 비교할 때 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모델 가독성이 훨씬 좋다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한 번 봐서는 잘 모르더라도 </a:t>
            </a:r>
            <a:endParaRPr lang="en-US" altLang="ko-KR" sz="1200" dirty="0"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설명을 들은 후에는 분명히 이해하게 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lt"/>
              <a:buAutoNum type="arabicPeriod" startAt="4"/>
            </a:pP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다대다 관계일 때</a:t>
            </a:r>
            <a:endParaRPr lang="en-US" altLang="ko-KR" b="1" dirty="0">
              <a:solidFill>
                <a:srgbClr val="FF0000"/>
              </a:solidFill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모델링 중에 나타나는 다대다</a:t>
            </a:r>
            <a:r>
              <a:rPr lang="en-US" altLang="ko-KR" sz="1200" dirty="0">
                <a:latin typeface="+mn-ea"/>
              </a:rPr>
              <a:t>(M:M) </a:t>
            </a:r>
            <a:r>
              <a:rPr lang="ko-KR" altLang="en-US" sz="1200" dirty="0">
                <a:latin typeface="+mn-ea"/>
              </a:rPr>
              <a:t>관계도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관계 명</a:t>
            </a:r>
            <a:r>
              <a:rPr lang="ko-KR" altLang="en-US" sz="1200" dirty="0">
                <a:latin typeface="+mn-ea"/>
              </a:rPr>
              <a:t>이 필요하다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5.91] </a:t>
            </a:r>
            <a:r>
              <a:rPr lang="ko-KR" altLang="en-US" sz="1200" dirty="0">
                <a:latin typeface="+mn-ea"/>
              </a:rPr>
              <a:t>모델 같은 일대다</a:t>
            </a:r>
            <a:r>
              <a:rPr lang="en-US" altLang="ko-KR" sz="1200" dirty="0">
                <a:latin typeface="+mn-ea"/>
              </a:rPr>
              <a:t>(1:M) </a:t>
            </a:r>
            <a:r>
              <a:rPr lang="ko-KR" altLang="en-US" sz="1200" dirty="0">
                <a:latin typeface="+mn-ea"/>
              </a:rPr>
              <a:t>관계의 관계 명이 관계 속성과 연관되듯이</a:t>
            </a:r>
            <a:r>
              <a:rPr lang="en-US" altLang="ko-KR" sz="1200" dirty="0">
                <a:latin typeface="+mn-ea"/>
              </a:rPr>
              <a:t>,</a:t>
            </a:r>
            <a:r>
              <a:rPr lang="ko-KR" altLang="en-US" sz="1200" dirty="0">
                <a:latin typeface="+mn-ea"/>
              </a:rPr>
              <a:t>다대다</a:t>
            </a:r>
            <a:r>
              <a:rPr lang="en-US" altLang="ko-KR" sz="1200" dirty="0">
                <a:latin typeface="+mn-ea"/>
              </a:rPr>
              <a:t>(M:M) </a:t>
            </a:r>
            <a:r>
              <a:rPr lang="ko-KR" altLang="en-US" sz="1200" dirty="0">
                <a:latin typeface="+mn-ea"/>
              </a:rPr>
              <a:t>관계의 관계 명은 관계 </a:t>
            </a:r>
            <a:r>
              <a:rPr lang="ko-KR" altLang="en-US" sz="1200" dirty="0" err="1">
                <a:latin typeface="+mn-ea"/>
              </a:rPr>
              <a:t>엔터티와</a:t>
            </a:r>
            <a:r>
              <a:rPr lang="ko-KR" altLang="en-US" sz="1200" dirty="0">
                <a:latin typeface="+mn-ea"/>
              </a:rPr>
              <a:t> 연관된다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5.100]</a:t>
            </a:r>
            <a:r>
              <a:rPr lang="ko-KR" altLang="en-US" sz="1200" dirty="0">
                <a:latin typeface="+mn-ea"/>
              </a:rPr>
              <a:t> 다대다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관계가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일대다</a:t>
            </a:r>
            <a:r>
              <a:rPr lang="en-US" altLang="ko-KR" sz="1200" b="1" u="sng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관계로 변환되는 과정</a:t>
            </a:r>
            <a:r>
              <a:rPr lang="ko-KR" altLang="en-US" sz="1200" dirty="0">
                <a:latin typeface="+mn-ea"/>
              </a:rPr>
              <a:t>을 나타낸다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7E958EB-B7AE-E8D2-82E7-8C338A936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5672" y="2112970"/>
            <a:ext cx="3372321" cy="97168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34587E5-3728-886C-080B-3589AC47B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119" y="3197978"/>
            <a:ext cx="3229426" cy="95263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0854591-5B07-0A44-5741-2861910D7CD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7472" b="70932"/>
          <a:stretch/>
        </p:blipFill>
        <p:spPr>
          <a:xfrm>
            <a:off x="2024639" y="5463894"/>
            <a:ext cx="1696341" cy="63689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BCBCBB-0E39-4E9D-254F-6399B239B97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1953" r="18622" b="40762"/>
          <a:stretch/>
        </p:blipFill>
        <p:spPr>
          <a:xfrm>
            <a:off x="4501558" y="5483426"/>
            <a:ext cx="2628048" cy="5978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7A06720-5DD6-1D4A-2FD6-36A42D02D39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2125" b="6956"/>
          <a:stretch/>
        </p:blipFill>
        <p:spPr>
          <a:xfrm>
            <a:off x="7910184" y="5443612"/>
            <a:ext cx="3229426" cy="67746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3D793BE-93BB-6FAE-81C7-2E7F38506D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3044"/>
          <a:stretch/>
        </p:blipFill>
        <p:spPr>
          <a:xfrm>
            <a:off x="4481287" y="6255073"/>
            <a:ext cx="3229426" cy="152400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E79142C-98B7-D083-875E-9320DD0FB0C2}"/>
              </a:ext>
            </a:extLst>
          </p:cNvPr>
          <p:cNvCxnSpPr>
            <a:cxnSpLocks/>
          </p:cNvCxnSpPr>
          <p:nvPr/>
        </p:nvCxnSpPr>
        <p:spPr>
          <a:xfrm>
            <a:off x="3880607" y="5782343"/>
            <a:ext cx="46132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5B205DB-48A9-A20A-0930-6B9E060FA416}"/>
              </a:ext>
            </a:extLst>
          </p:cNvPr>
          <p:cNvCxnSpPr>
            <a:cxnSpLocks/>
          </p:cNvCxnSpPr>
          <p:nvPr/>
        </p:nvCxnSpPr>
        <p:spPr>
          <a:xfrm>
            <a:off x="7289234" y="5782343"/>
            <a:ext cx="46132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E5BC3B0-FD94-D2B4-E84E-D23B4B67033C}"/>
              </a:ext>
            </a:extLst>
          </p:cNvPr>
          <p:cNvSpPr/>
          <p:nvPr/>
        </p:nvSpPr>
        <p:spPr>
          <a:xfrm>
            <a:off x="5355101" y="5470622"/>
            <a:ext cx="749952" cy="621117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E258320-7468-696F-02FB-B0F27505C7CF}"/>
              </a:ext>
            </a:extLst>
          </p:cNvPr>
          <p:cNvSpPr/>
          <p:nvPr/>
        </p:nvSpPr>
        <p:spPr>
          <a:xfrm>
            <a:off x="2749419" y="5569851"/>
            <a:ext cx="274443" cy="203439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69B29DC2-3ACB-103A-E747-C925797CB91C}"/>
              </a:ext>
            </a:extLst>
          </p:cNvPr>
          <p:cNvCxnSpPr>
            <a:cxnSpLocks/>
            <a:stCxn id="19" idx="0"/>
            <a:endCxn id="18" idx="0"/>
          </p:cNvCxnSpPr>
          <p:nvPr/>
        </p:nvCxnSpPr>
        <p:spPr>
          <a:xfrm rot="5400000" flipH="1" flipV="1">
            <a:off x="4258745" y="4098519"/>
            <a:ext cx="99229" cy="2843436"/>
          </a:xfrm>
          <a:prstGeom prst="curvedConnector3">
            <a:avLst>
              <a:gd name="adj1" fmla="val 330376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0EFE2A1E-2E5A-5567-4128-AED10E39F29D}"/>
              </a:ext>
            </a:extLst>
          </p:cNvPr>
          <p:cNvSpPr/>
          <p:nvPr/>
        </p:nvSpPr>
        <p:spPr>
          <a:xfrm>
            <a:off x="8726514" y="5456273"/>
            <a:ext cx="1576330" cy="621117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연결선: 구부러짐 24">
            <a:extLst>
              <a:ext uri="{FF2B5EF4-FFF2-40B4-BE49-F238E27FC236}">
                <a16:creationId xmlns:a16="http://schemas.microsoft.com/office/drawing/2014/main" id="{0561C8B2-629F-8B40-4385-461B1D702AB2}"/>
              </a:ext>
            </a:extLst>
          </p:cNvPr>
          <p:cNvCxnSpPr>
            <a:cxnSpLocks/>
            <a:stCxn id="18" idx="0"/>
            <a:endCxn id="24" idx="0"/>
          </p:cNvCxnSpPr>
          <p:nvPr/>
        </p:nvCxnSpPr>
        <p:spPr>
          <a:xfrm rot="5400000" flipH="1" flipV="1">
            <a:off x="7615204" y="3571147"/>
            <a:ext cx="14349" cy="3784602"/>
          </a:xfrm>
          <a:prstGeom prst="curvedConnector3">
            <a:avLst>
              <a:gd name="adj1" fmla="val 1693142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A5C70E4-5E24-2C6E-DCFE-791BBBC43972}"/>
              </a:ext>
            </a:extLst>
          </p:cNvPr>
          <p:cNvSpPr/>
          <p:nvPr/>
        </p:nvSpPr>
        <p:spPr>
          <a:xfrm>
            <a:off x="8629671" y="2319689"/>
            <a:ext cx="514329" cy="160961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F8757373-BA0F-A7A4-43D7-BAB879E41F59}"/>
              </a:ext>
            </a:extLst>
          </p:cNvPr>
          <p:cNvSpPr/>
          <p:nvPr/>
        </p:nvSpPr>
        <p:spPr>
          <a:xfrm>
            <a:off x="8629671" y="2514594"/>
            <a:ext cx="514329" cy="160961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103B40-FD5A-5DDE-6FB3-2745B119175E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 err="1">
                <a:latin typeface="+mn-ea"/>
              </a:rPr>
              <a:t>관계명</a:t>
            </a:r>
            <a:r>
              <a:rPr lang="ko-KR" altLang="en-US" sz="2400" b="1" dirty="0">
                <a:latin typeface="+mn-ea"/>
              </a:rPr>
              <a:t> 붙이는 방법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8AFD58-11FA-75FC-76EA-4A4EE01F0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7465078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0981956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b="1" dirty="0">
                <a:latin typeface="+mn-ea"/>
              </a:rPr>
              <a:t>관계 명이 필요할 때와 필요 없을 때 </a:t>
            </a:r>
            <a:r>
              <a:rPr lang="en-US" altLang="ko-KR" b="1" dirty="0">
                <a:latin typeface="+mn-ea"/>
              </a:rPr>
              <a:t>(4/4)</a:t>
            </a: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관계 명이 필요한 일반적인 기준</a:t>
            </a: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1257300" lvl="2" indent="-342900">
              <a:buFont typeface="+mj-lt"/>
              <a:buAutoNum type="arabicPeriod" startAt="6"/>
            </a:pPr>
            <a:r>
              <a:rPr lang="ko-KR" altLang="en-US" sz="2000" b="1" dirty="0">
                <a:solidFill>
                  <a:srgbClr val="FF0000"/>
                </a:solidFill>
                <a:latin typeface="+mn-ea"/>
              </a:rPr>
              <a:t>관계 명이 필요 없을 때</a:t>
            </a:r>
            <a:endParaRPr lang="en-US" altLang="ko-KR" sz="1400" b="1" dirty="0">
              <a:solidFill>
                <a:srgbClr val="FF0000"/>
              </a:solidFill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반면에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5.101] </a:t>
            </a:r>
            <a:r>
              <a:rPr lang="ko-KR" altLang="en-US" sz="1200" dirty="0">
                <a:latin typeface="+mn-ea"/>
              </a:rPr>
              <a:t>주문상세 </a:t>
            </a:r>
            <a:r>
              <a:rPr lang="ko-KR" altLang="en-US" sz="1200" dirty="0" err="1">
                <a:latin typeface="+mn-ea"/>
              </a:rPr>
              <a:t>엔터티처럼</a:t>
            </a:r>
            <a:r>
              <a:rPr lang="ko-KR" altLang="en-US" sz="1200" dirty="0">
                <a:latin typeface="+mn-ea"/>
              </a:rPr>
              <a:t> 상위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부모</a:t>
            </a:r>
            <a:r>
              <a:rPr lang="en-US" altLang="ko-KR" sz="1200" dirty="0">
                <a:latin typeface="+mn-ea"/>
              </a:rPr>
              <a:t>) </a:t>
            </a:r>
            <a:r>
              <a:rPr lang="ko-KR" altLang="en-US" sz="1200" dirty="0" err="1">
                <a:latin typeface="+mn-ea"/>
              </a:rPr>
              <a:t>엔터티에</a:t>
            </a:r>
            <a:r>
              <a:rPr lang="ko-KR" altLang="en-US" sz="1200" dirty="0">
                <a:latin typeface="+mn-ea"/>
              </a:rPr>
              <a:t> </a:t>
            </a:r>
            <a:endParaRPr lang="en-US" altLang="ko-KR" sz="1200" dirty="0"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일대다</a:t>
            </a:r>
            <a:r>
              <a:rPr lang="en-US" altLang="ko-KR" sz="1200" dirty="0">
                <a:latin typeface="+mn-ea"/>
              </a:rPr>
              <a:t>(1:M)</a:t>
            </a:r>
            <a:r>
              <a:rPr lang="ko-KR" altLang="en-US" sz="1200" dirty="0">
                <a:latin typeface="+mn-ea"/>
              </a:rPr>
              <a:t>로 종속되는 관계는 관계 명이 필요 없다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본질적으로 같은 성격의 데이터이므로 상세 관계에 대해서 </a:t>
            </a:r>
            <a:endParaRPr lang="en-US" altLang="ko-KR" sz="1200" dirty="0"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굳이 부가적인 설명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수식어</a:t>
            </a:r>
            <a:r>
              <a:rPr lang="en-US" altLang="ko-KR" sz="1200" dirty="0">
                <a:latin typeface="+mn-ea"/>
              </a:rPr>
              <a:t>)</a:t>
            </a:r>
            <a:r>
              <a:rPr lang="ko-KR" altLang="en-US" sz="1200" dirty="0">
                <a:latin typeface="+mn-ea"/>
              </a:rPr>
              <a:t>이 필요하지 않다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또한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5.102] </a:t>
            </a:r>
            <a:r>
              <a:rPr lang="ko-KR" altLang="en-US" sz="1200" dirty="0" err="1">
                <a:latin typeface="+mn-ea"/>
              </a:rPr>
              <a:t>개인고객상세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엔터티</a:t>
            </a:r>
            <a:r>
              <a:rPr lang="ko-KR" altLang="en-US" sz="1200" dirty="0">
                <a:latin typeface="+mn-ea"/>
              </a:rPr>
              <a:t> 같은 일대일</a:t>
            </a:r>
            <a:r>
              <a:rPr lang="en-US" altLang="ko-KR" sz="1200" dirty="0">
                <a:latin typeface="+mn-ea"/>
              </a:rPr>
              <a:t>(1:1) </a:t>
            </a:r>
            <a:r>
              <a:rPr lang="ko-KR" altLang="en-US" sz="1200" dirty="0">
                <a:latin typeface="+mn-ea"/>
              </a:rPr>
              <a:t>관계</a:t>
            </a:r>
            <a:r>
              <a:rPr lang="en-US" altLang="ko-KR" sz="1200" dirty="0">
                <a:latin typeface="+mn-ea"/>
              </a:rPr>
              <a:t>,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즉 성능이나 관리 차원에서 </a:t>
            </a:r>
            <a:r>
              <a:rPr lang="ko-KR" altLang="en-US" sz="1200" dirty="0" err="1">
                <a:latin typeface="+mn-ea"/>
              </a:rPr>
              <a:t>엔터티를</a:t>
            </a:r>
            <a:r>
              <a:rPr lang="ko-KR" altLang="en-US" sz="1200" dirty="0">
                <a:latin typeface="+mn-ea"/>
              </a:rPr>
              <a:t> 분해해서 관리하는 </a:t>
            </a:r>
            <a:endParaRPr lang="en-US" altLang="ko-KR" sz="1200" dirty="0"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일대일</a:t>
            </a:r>
            <a:r>
              <a:rPr lang="en-US" altLang="ko-KR" sz="1200" dirty="0">
                <a:latin typeface="+mn-ea"/>
              </a:rPr>
              <a:t>(1:1) </a:t>
            </a:r>
            <a:r>
              <a:rPr lang="ko-KR" altLang="en-US" sz="1200" dirty="0">
                <a:latin typeface="+mn-ea"/>
              </a:rPr>
              <a:t>관계는 사실상 하나의 </a:t>
            </a:r>
            <a:r>
              <a:rPr lang="ko-KR" altLang="en-US" sz="1200" dirty="0" err="1">
                <a:latin typeface="+mn-ea"/>
              </a:rPr>
              <a:t>엔터티이므로</a:t>
            </a:r>
            <a:r>
              <a:rPr lang="ko-KR" altLang="en-US" sz="1200" dirty="0">
                <a:latin typeface="+mn-ea"/>
              </a:rPr>
              <a:t> 관계 명이 필요 없다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5.103] </a:t>
            </a:r>
            <a:r>
              <a:rPr lang="ko-KR" altLang="en-US" sz="1200" dirty="0">
                <a:latin typeface="+mn-ea"/>
              </a:rPr>
              <a:t>계좌와 거래내역 </a:t>
            </a:r>
            <a:r>
              <a:rPr lang="ko-KR" altLang="en-US" sz="1200" dirty="0" err="1">
                <a:latin typeface="+mn-ea"/>
              </a:rPr>
              <a:t>엔터티의</a:t>
            </a:r>
            <a:r>
              <a:rPr lang="ko-KR" altLang="en-US" sz="1200" dirty="0">
                <a:latin typeface="+mn-ea"/>
              </a:rPr>
              <a:t> 관계에서도 관계 명은 필요 없다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해당 계좌에 대한 거래내역을 관리하는 것이므로 굳이 관계 명을 </a:t>
            </a:r>
            <a:endParaRPr lang="en-US" altLang="ko-KR" sz="1200" dirty="0"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표현하지 않아도 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거래내역 </a:t>
            </a:r>
            <a:r>
              <a:rPr lang="ko-KR" altLang="en-US" sz="1200" dirty="0" err="1">
                <a:latin typeface="+mn-ea"/>
              </a:rPr>
              <a:t>엔터티의</a:t>
            </a:r>
            <a:r>
              <a:rPr lang="ko-KR" altLang="en-US" sz="1200" dirty="0">
                <a:latin typeface="+mn-ea"/>
              </a:rPr>
              <a:t> 계좌번호 속성에 수식어를 </a:t>
            </a:r>
            <a:endParaRPr lang="en-US" altLang="ko-KR" sz="1200" dirty="0"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붙이지 않아도 이해하는 데 문제가 없다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이미 </a:t>
            </a:r>
            <a:r>
              <a:rPr lang="ko-KR" altLang="en-US" sz="1200" dirty="0" err="1">
                <a:latin typeface="+mn-ea"/>
              </a:rPr>
              <a:t>엔터티</a:t>
            </a:r>
            <a:r>
              <a:rPr lang="ko-KR" altLang="en-US" sz="1200" dirty="0">
                <a:latin typeface="+mn-ea"/>
              </a:rPr>
              <a:t> 명에 거래라는 </a:t>
            </a:r>
            <a:endParaRPr lang="en-US" altLang="ko-KR" sz="1200" dirty="0">
              <a:latin typeface="+mn-ea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행위가 포함돼 있고 행위를 한 주체는 계좌다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5E32823-37A9-F154-B933-91668069E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482" y="2536038"/>
            <a:ext cx="2001218" cy="88176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0B94C9E-52E0-3AC1-8FBC-EB8254DE1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1313" y="3496073"/>
            <a:ext cx="2039556" cy="86642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5513104-7B70-F5C4-D8E0-AD19DF6136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822" y="4431724"/>
            <a:ext cx="1878538" cy="89709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3FB2E54-83F6-7A36-CD3B-35575CAD84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2790" y="5416145"/>
            <a:ext cx="2476603" cy="10121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431FA9-943B-57B1-9B48-97249E88B3E8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 err="1">
                <a:latin typeface="+mn-ea"/>
              </a:rPr>
              <a:t>관계명</a:t>
            </a:r>
            <a:r>
              <a:rPr lang="ko-KR" altLang="en-US" sz="2400" b="1" dirty="0">
                <a:latin typeface="+mn-ea"/>
              </a:rPr>
              <a:t> 붙이는 방법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4ABCC21-B7A3-6FE2-29D0-F706F8B90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9285106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098195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n-ea"/>
              </a:rPr>
              <a:t>1. </a:t>
            </a:r>
            <a:r>
              <a:rPr lang="ko-KR" altLang="en-US" b="1" dirty="0">
                <a:latin typeface="+mn-ea"/>
              </a:rPr>
              <a:t>일대일 관계</a:t>
            </a: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일대일</a:t>
            </a:r>
            <a:r>
              <a:rPr lang="en-US" altLang="ko-KR" sz="1600" dirty="0">
                <a:latin typeface="+mn-ea"/>
              </a:rPr>
              <a:t>(1:1) </a:t>
            </a:r>
            <a:r>
              <a:rPr lang="ko-KR" altLang="en-US" sz="1600" dirty="0">
                <a:latin typeface="+mn-ea"/>
              </a:rPr>
              <a:t>관계는 비교적 자주 등장하는 관계이면서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설계할 때 혼란스러울 수 있는 관계다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일대일 </a:t>
            </a:r>
            <a:r>
              <a:rPr lang="en-US" altLang="ko-KR" sz="1600" dirty="0">
                <a:latin typeface="+mn-ea"/>
              </a:rPr>
              <a:t>(1:1) </a:t>
            </a:r>
            <a:r>
              <a:rPr lang="ko-KR" altLang="en-US" sz="1600" dirty="0">
                <a:latin typeface="+mn-ea"/>
              </a:rPr>
              <a:t>관계가 발생하는 이유는 크게 두 가지로 구분할 수 있다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dirty="0">
                <a:solidFill>
                  <a:srgbClr val="FF0000"/>
                </a:solidFill>
                <a:latin typeface="+mn-ea"/>
              </a:rPr>
              <a:t>하나는 업무 규칙에 의해서 발생하는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자연스러운 일대일 관계</a:t>
            </a:r>
            <a:r>
              <a:rPr lang="ko-KR" altLang="en-US" dirty="0">
                <a:solidFill>
                  <a:srgbClr val="FF0000"/>
                </a:solidFill>
                <a:latin typeface="+mn-ea"/>
              </a:rPr>
              <a:t>이며</a:t>
            </a:r>
            <a:r>
              <a:rPr lang="en-US" altLang="ko-KR" dirty="0">
                <a:solidFill>
                  <a:srgbClr val="FF0000"/>
                </a:solidFill>
                <a:latin typeface="+mn-ea"/>
              </a:rPr>
              <a:t>, </a:t>
            </a: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dirty="0">
                <a:solidFill>
                  <a:srgbClr val="FF0000"/>
                </a:solidFill>
                <a:latin typeface="+mn-ea"/>
              </a:rPr>
              <a:t>다른 하나는 성능이나 관리 측면에서 발생하는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인위적인 일대일 관계</a:t>
            </a:r>
            <a:r>
              <a:rPr lang="ko-KR" altLang="en-US" dirty="0">
                <a:solidFill>
                  <a:srgbClr val="FF0000"/>
                </a:solidFill>
                <a:latin typeface="+mn-ea"/>
              </a:rPr>
              <a:t>다</a:t>
            </a:r>
            <a:r>
              <a:rPr lang="en-US" altLang="ko-KR" dirty="0">
                <a:solidFill>
                  <a:srgbClr val="FF0000"/>
                </a:solidFill>
                <a:latin typeface="+mn-ea"/>
              </a:rPr>
              <a:t>. </a:t>
            </a:r>
          </a:p>
          <a:p>
            <a:pPr marL="1257300" lvl="2" indent="-342900">
              <a:buFont typeface="+mj-ea"/>
              <a:buAutoNum type="circleNumDbPlain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600" b="1" u="sng" dirty="0">
                <a:latin typeface="+mn-ea"/>
              </a:rPr>
              <a:t>1</a:t>
            </a:r>
            <a:r>
              <a:rPr lang="ko-KR" altLang="en-US" sz="1600" b="1" u="sng" dirty="0">
                <a:latin typeface="+mn-ea"/>
              </a:rPr>
              <a:t>번은</a:t>
            </a:r>
            <a:r>
              <a:rPr lang="ko-KR" altLang="en-US" sz="1600" dirty="0">
                <a:latin typeface="+mn-ea"/>
              </a:rPr>
              <a:t> 생각보다 많이 발생하지 않는다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dirty="0">
                <a:latin typeface="+mn-ea"/>
              </a:rPr>
              <a:t>하지만 </a:t>
            </a:r>
            <a:r>
              <a:rPr lang="ko-KR" altLang="en-US" sz="1600" b="1" u="sng" dirty="0">
                <a:latin typeface="+mn-ea"/>
              </a:rPr>
              <a:t>이력과 연관돼 있어 주의</a:t>
            </a:r>
            <a:r>
              <a:rPr lang="ko-KR" altLang="en-US" sz="1600" dirty="0">
                <a:latin typeface="+mn-ea"/>
              </a:rPr>
              <a:t>가 필요하다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600" b="1" u="sng" dirty="0">
                <a:latin typeface="+mn-ea"/>
              </a:rPr>
              <a:t>2</a:t>
            </a:r>
            <a:r>
              <a:rPr lang="ko-KR" altLang="en-US" sz="1600" b="1" u="sng" dirty="0">
                <a:latin typeface="+mn-ea"/>
              </a:rPr>
              <a:t>번</a:t>
            </a:r>
            <a:r>
              <a:rPr lang="ko-KR" altLang="en-US" sz="1600" dirty="0">
                <a:latin typeface="+mn-ea"/>
              </a:rPr>
              <a:t>으로 인해 발생하는 일대일 관계가 대부분이며 종류도 다양하다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성능이나 관리 측면에서 도출한 일대일 관계는 </a:t>
            </a:r>
            <a:r>
              <a:rPr lang="ko-KR" altLang="en-US" sz="1600" b="1" u="sng" dirty="0" err="1">
                <a:latin typeface="+mn-ea"/>
              </a:rPr>
              <a:t>엔터티</a:t>
            </a:r>
            <a:r>
              <a:rPr lang="ko-KR" altLang="en-US" sz="1600" b="1" u="sng" dirty="0">
                <a:latin typeface="+mn-ea"/>
              </a:rPr>
              <a:t> 분해와 연관</a:t>
            </a:r>
            <a:r>
              <a:rPr lang="ko-KR" altLang="en-US" sz="1600" dirty="0">
                <a:latin typeface="+mn-ea"/>
              </a:rPr>
              <a:t>된다</a:t>
            </a:r>
            <a:r>
              <a:rPr lang="en-US" altLang="ko-KR" sz="1600" dirty="0">
                <a:latin typeface="+mn-ea"/>
              </a:rPr>
              <a:t>.</a:t>
            </a:r>
            <a:endParaRPr lang="en-US" altLang="ko-KR" sz="12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관계의 종류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CA7C1DB-CF78-9C2A-52D9-BDC87F7AC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99" y="4614103"/>
            <a:ext cx="2088163" cy="98868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5C8B8BF-3699-A1A5-458C-01A568838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261" y="4318787"/>
            <a:ext cx="2284194" cy="125289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DB80878-F42B-3814-3E96-B9353985B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9854" y="4585525"/>
            <a:ext cx="2284193" cy="101425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1F17971-1D34-08DD-D931-855CD9C1FA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1445" y="4737945"/>
            <a:ext cx="2667735" cy="877881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BB3AC02-E94E-C377-4A13-197BEA33A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5765882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0981956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n-ea"/>
              </a:rPr>
              <a:t>2. </a:t>
            </a:r>
            <a:r>
              <a:rPr lang="ko-KR" altLang="en-US" b="1" dirty="0">
                <a:latin typeface="+mn-ea"/>
              </a:rPr>
              <a:t>일대일 관계와 이력데이터</a:t>
            </a: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일대일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(1:1)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관계에는 이력 데이터가 포함되지 않는다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dirty="0">
                <a:latin typeface="+mn-ea"/>
              </a:rPr>
              <a:t>업무 규칙에 따라서 발생하는 일대일</a:t>
            </a:r>
            <a:r>
              <a:rPr lang="en-US" altLang="ko-KR" sz="1600" dirty="0">
                <a:latin typeface="+mn-ea"/>
              </a:rPr>
              <a:t>(1:1) </a:t>
            </a:r>
            <a:r>
              <a:rPr lang="ko-KR" altLang="en-US" sz="1600" dirty="0">
                <a:latin typeface="+mn-ea"/>
              </a:rPr>
              <a:t>관계는 현재 유효한 데이터 간의 관계를 의미한다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dirty="0">
                <a:latin typeface="+mn-ea"/>
              </a:rPr>
              <a:t>이력 데이터까지 고려하면 일대일 관계는 있을 수 없으므로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이력 데이터를 고려하기 전에 기본적으로 원천 데이터만으로 파악해야 한다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600" dirty="0">
                <a:latin typeface="+mn-ea"/>
              </a:rPr>
              <a:t>[</a:t>
            </a:r>
            <a:r>
              <a:rPr lang="ko-KR" altLang="en-US" sz="1600" dirty="0">
                <a:latin typeface="+mn-ea"/>
              </a:rPr>
              <a:t>그림 </a:t>
            </a:r>
            <a:r>
              <a:rPr lang="en-US" altLang="ko-KR" sz="1600" dirty="0">
                <a:latin typeface="+mn-ea"/>
              </a:rPr>
              <a:t>5.109] </a:t>
            </a:r>
            <a:r>
              <a:rPr lang="ko-KR" altLang="en-US" sz="1600" dirty="0">
                <a:latin typeface="+mn-ea"/>
              </a:rPr>
              <a:t>모델의 개인고객 </a:t>
            </a:r>
            <a:r>
              <a:rPr lang="ko-KR" altLang="en-US" sz="1600" dirty="0" err="1">
                <a:latin typeface="+mn-ea"/>
              </a:rPr>
              <a:t>엔터티와</a:t>
            </a:r>
            <a:r>
              <a:rPr lang="ko-KR" altLang="en-US" sz="1600" dirty="0">
                <a:latin typeface="+mn-ea"/>
              </a:rPr>
              <a:t> 여권 </a:t>
            </a:r>
            <a:r>
              <a:rPr lang="ko-KR" altLang="en-US" sz="1600" dirty="0" err="1">
                <a:latin typeface="+mn-ea"/>
              </a:rPr>
              <a:t>엔터티는</a:t>
            </a:r>
            <a:r>
              <a:rPr lang="ko-KR" altLang="en-US" sz="1600" dirty="0">
                <a:latin typeface="+mn-ea"/>
              </a:rPr>
              <a:t> 업무적으로 일대일</a:t>
            </a:r>
            <a:r>
              <a:rPr lang="en-US" altLang="ko-KR" sz="1600" dirty="0">
                <a:latin typeface="+mn-ea"/>
              </a:rPr>
              <a:t>(1:1) </a:t>
            </a:r>
            <a:r>
              <a:rPr lang="ko-KR" altLang="en-US" sz="1600" dirty="0">
                <a:latin typeface="+mn-ea"/>
              </a:rPr>
              <a:t>관계다</a:t>
            </a: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과거 여권에 대한 정보도 관리할 것이므로 </a:t>
            </a:r>
            <a:r>
              <a:rPr lang="en-US" altLang="ko-KR" sz="1600" dirty="0">
                <a:latin typeface="+mn-ea"/>
              </a:rPr>
              <a:t>[</a:t>
            </a:r>
            <a:r>
              <a:rPr lang="ko-KR" altLang="en-US" sz="1600" dirty="0">
                <a:latin typeface="+mn-ea"/>
              </a:rPr>
              <a:t>그림 </a:t>
            </a:r>
            <a:r>
              <a:rPr lang="en-US" altLang="ko-KR" sz="1600" dirty="0">
                <a:latin typeface="+mn-ea"/>
              </a:rPr>
              <a:t>5.110]</a:t>
            </a:r>
            <a:r>
              <a:rPr lang="ko-KR" altLang="en-US" sz="1600" dirty="0">
                <a:latin typeface="+mn-ea"/>
              </a:rPr>
              <a:t> 모델같이 개인고객 </a:t>
            </a:r>
            <a:r>
              <a:rPr lang="ko-KR" altLang="en-US" sz="1600" dirty="0" err="1">
                <a:latin typeface="+mn-ea"/>
              </a:rPr>
              <a:t>엔터티와</a:t>
            </a:r>
            <a:r>
              <a:rPr lang="ko-KR" altLang="en-US" sz="1600" dirty="0">
                <a:latin typeface="+mn-ea"/>
              </a:rPr>
              <a:t> 여권 </a:t>
            </a:r>
            <a:r>
              <a:rPr lang="ko-KR" altLang="en-US" sz="1600" dirty="0" err="1">
                <a:latin typeface="+mn-ea"/>
              </a:rPr>
              <a:t>엔터티의</a:t>
            </a:r>
            <a:r>
              <a:rPr lang="ko-KR" altLang="en-US" sz="1600" dirty="0">
                <a:latin typeface="+mn-ea"/>
              </a:rPr>
              <a:t> 관계가 일대다</a:t>
            </a:r>
            <a:r>
              <a:rPr lang="en-US" altLang="ko-KR" sz="1600" dirty="0">
                <a:latin typeface="+mn-ea"/>
              </a:rPr>
              <a:t>(1:M)</a:t>
            </a:r>
            <a:r>
              <a:rPr lang="ko-KR" altLang="en-US" sz="1600" dirty="0">
                <a:latin typeface="+mn-ea"/>
              </a:rPr>
              <a:t>가 된다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600" dirty="0">
                <a:latin typeface="+mn-ea"/>
              </a:rPr>
              <a:t>[</a:t>
            </a:r>
            <a:r>
              <a:rPr lang="ko-KR" altLang="en-US" sz="1600" dirty="0">
                <a:latin typeface="+mn-ea"/>
              </a:rPr>
              <a:t>그림 </a:t>
            </a:r>
            <a:r>
              <a:rPr lang="en-US" altLang="ko-KR" sz="1600" dirty="0">
                <a:latin typeface="+mn-ea"/>
              </a:rPr>
              <a:t>5.111] </a:t>
            </a:r>
            <a:r>
              <a:rPr lang="ko-KR" altLang="en-US" sz="1600" dirty="0">
                <a:latin typeface="+mn-ea"/>
              </a:rPr>
              <a:t>모델과 같이 사용하다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이력 데이터를 관리해야 할 때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[</a:t>
            </a:r>
            <a:r>
              <a:rPr lang="ko-KR" altLang="en-US" sz="1600" dirty="0">
                <a:latin typeface="+mn-ea"/>
              </a:rPr>
              <a:t>그림 </a:t>
            </a:r>
            <a:r>
              <a:rPr lang="en-US" altLang="ko-KR" sz="1600" dirty="0">
                <a:latin typeface="+mn-ea"/>
              </a:rPr>
              <a:t>5.110]</a:t>
            </a:r>
            <a:r>
              <a:rPr lang="ko-KR" altLang="en-US" sz="1600" dirty="0">
                <a:latin typeface="+mn-ea"/>
              </a:rPr>
              <a:t> 모델과 같이 변경할 수 있지만</a:t>
            </a:r>
            <a:r>
              <a:rPr lang="en-US" altLang="ko-KR" sz="1600" dirty="0">
                <a:latin typeface="+mn-ea"/>
              </a:rPr>
              <a:t>,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성격이 구별되는 데이터를 합쳐버린 </a:t>
            </a:r>
            <a:r>
              <a:rPr lang="en-US" altLang="ko-KR" sz="1600" b="1" u="sng" dirty="0">
                <a:latin typeface="+mn-ea"/>
              </a:rPr>
              <a:t>[</a:t>
            </a:r>
            <a:r>
              <a:rPr lang="ko-KR" altLang="en-US" sz="1600" b="1" u="sng" dirty="0">
                <a:latin typeface="+mn-ea"/>
              </a:rPr>
              <a:t>그림 </a:t>
            </a:r>
            <a:r>
              <a:rPr lang="en-US" altLang="ko-KR" sz="1600" b="1" u="sng" dirty="0">
                <a:latin typeface="+mn-ea"/>
              </a:rPr>
              <a:t>5.111] </a:t>
            </a:r>
            <a:r>
              <a:rPr lang="ko-KR" altLang="en-US" sz="1600" b="1" u="sng" dirty="0">
                <a:latin typeface="+mn-ea"/>
              </a:rPr>
              <a:t>모델은 확장성이 떨어지는 모델</a:t>
            </a:r>
            <a:r>
              <a:rPr lang="ko-KR" altLang="en-US" sz="1600" dirty="0">
                <a:latin typeface="+mn-ea"/>
              </a:rPr>
              <a:t>이다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064EC23-A964-0A8E-0621-4BF392FC5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075" y="3858180"/>
            <a:ext cx="2333951" cy="108600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6E7CBC6-15C3-6DA0-49B3-3AF506CF1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277" y="3848654"/>
            <a:ext cx="2343477" cy="109552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CAC04BA-8C19-4E9F-84D6-CA72CD9B97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005" y="3648601"/>
            <a:ext cx="1781424" cy="1295581"/>
          </a:xfrm>
          <a:prstGeom prst="rect">
            <a:avLst/>
          </a:prstGeom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9AD07318-684F-4F1A-55AE-8BC7591BB295}"/>
              </a:ext>
            </a:extLst>
          </p:cNvPr>
          <p:cNvCxnSpPr>
            <a:cxnSpLocks/>
          </p:cNvCxnSpPr>
          <p:nvPr/>
        </p:nvCxnSpPr>
        <p:spPr>
          <a:xfrm>
            <a:off x="4514350" y="4376274"/>
            <a:ext cx="46132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4AB44B5-F542-19DF-DF96-22664E8E96AC}"/>
              </a:ext>
            </a:extLst>
          </p:cNvPr>
          <p:cNvCxnSpPr>
            <a:cxnSpLocks/>
          </p:cNvCxnSpPr>
          <p:nvPr/>
        </p:nvCxnSpPr>
        <p:spPr>
          <a:xfrm>
            <a:off x="7636417" y="4376274"/>
            <a:ext cx="46132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444CACD-54EA-F521-A3CA-D1C70A8C87D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관계의 종류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CDE4BB0-3440-6273-C61B-8602376D5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9529089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098195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n-ea"/>
              </a:rPr>
              <a:t>2. </a:t>
            </a:r>
            <a:r>
              <a:rPr lang="ko-KR" altLang="en-US" b="1" dirty="0">
                <a:latin typeface="+mn-ea"/>
              </a:rPr>
              <a:t>배타 관계 </a:t>
            </a:r>
            <a:r>
              <a:rPr lang="en-US" altLang="ko-KR" b="1" dirty="0">
                <a:latin typeface="+mn-ea"/>
              </a:rPr>
              <a:t>(</a:t>
            </a:r>
            <a:r>
              <a:rPr lang="ko-KR" altLang="en-US" b="1" dirty="0">
                <a:latin typeface="+mn-ea"/>
              </a:rPr>
              <a:t>일반적으로 배타관계를 없애야 한다</a:t>
            </a:r>
            <a:r>
              <a:rPr lang="en-US" altLang="ko-KR" b="1" dirty="0">
                <a:latin typeface="+mn-ea"/>
              </a:rPr>
              <a:t>. </a:t>
            </a:r>
            <a:r>
              <a:rPr lang="en-US" altLang="ko-KR" sz="1600" b="1" dirty="0">
                <a:latin typeface="+mn-ea"/>
                <a:sym typeface="Wingdings" panose="05000000000000000000" pitchFamily="2" charset="2"/>
              </a:rPr>
              <a:t>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상위 </a:t>
            </a:r>
            <a:r>
              <a:rPr lang="ko-KR" altLang="en-US" sz="1600" b="1" dirty="0" err="1">
                <a:latin typeface="+mn-ea"/>
              </a:rPr>
              <a:t>엔터티</a:t>
            </a:r>
            <a:r>
              <a:rPr lang="ko-KR" altLang="en-US" sz="1600" b="1" dirty="0">
                <a:latin typeface="+mn-ea"/>
              </a:rPr>
              <a:t> 성격에 따라 통합 모델을 고려해야 한다</a:t>
            </a:r>
            <a:r>
              <a:rPr lang="en-US" altLang="ko-KR" sz="1600" b="1" dirty="0">
                <a:latin typeface="+mn-ea"/>
              </a:rPr>
              <a:t>.)</a:t>
            </a: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배타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(Exclusive or Arc)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관계</a:t>
            </a:r>
            <a:r>
              <a:rPr lang="ko-KR" altLang="en-US" sz="1600" dirty="0">
                <a:latin typeface="+mn-ea"/>
              </a:rPr>
              <a:t>는 실무에서 꽤 자주 볼 수 있다</a:t>
            </a:r>
            <a:r>
              <a:rPr lang="en-US" altLang="ko-KR" sz="1600" dirty="0">
                <a:latin typeface="+mn-ea"/>
              </a:rPr>
              <a:t>. 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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n-ea"/>
              </a:rPr>
              <a:t>“</a:t>
            </a:r>
            <a:r>
              <a:rPr lang="ko-KR" altLang="en-US" sz="2000" b="1" dirty="0" err="1">
                <a:solidFill>
                  <a:srgbClr val="FF0000"/>
                </a:solidFill>
                <a:latin typeface="+mn-ea"/>
              </a:rPr>
              <a:t>구분자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</a:rPr>
              <a:t> 속성</a:t>
            </a:r>
            <a:r>
              <a:rPr lang="en-US" altLang="ko-KR" sz="2000" b="1" dirty="0">
                <a:solidFill>
                  <a:srgbClr val="FF0000"/>
                </a:solidFill>
                <a:latin typeface="+mn-ea"/>
              </a:rPr>
              <a:t>”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이 반드시 있어야 한다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예전에는 배타 관계에 대한 이해가 부족해 사용하지 않았지만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최근에는 대체로 잘 사용한다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배타 관계는 두 개 이상의 상위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부모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 </a:t>
            </a:r>
            <a:r>
              <a:rPr lang="ko-KR" altLang="en-US" sz="1600" dirty="0" err="1">
                <a:latin typeface="+mn-ea"/>
              </a:rPr>
              <a:t>엔터티와</a:t>
            </a:r>
            <a:r>
              <a:rPr lang="ko-KR" altLang="en-US" sz="1600" dirty="0">
                <a:latin typeface="+mn-ea"/>
              </a:rPr>
              <a:t> 관계를 가지며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그 관계가 상호 배타적일 때의 관계를 말한다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하위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자식</a:t>
            </a:r>
            <a:r>
              <a:rPr lang="en-US" altLang="ko-KR" sz="1600" dirty="0">
                <a:latin typeface="+mn-ea"/>
              </a:rPr>
              <a:t>) </a:t>
            </a:r>
            <a:r>
              <a:rPr lang="ko-KR" altLang="en-US" sz="1600" dirty="0" err="1">
                <a:latin typeface="+mn-ea"/>
              </a:rPr>
              <a:t>엔터티의</a:t>
            </a:r>
            <a:r>
              <a:rPr lang="ko-KR" altLang="en-US" sz="1600" dirty="0">
                <a:latin typeface="+mn-ea"/>
              </a:rPr>
              <a:t> 하나의 인스턴스는 관계를 가지는 두 개 이상의 상위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부외 </a:t>
            </a:r>
            <a:r>
              <a:rPr lang="ko-KR" altLang="en-US" sz="1600" dirty="0" err="1">
                <a:latin typeface="+mn-ea"/>
              </a:rPr>
              <a:t>엔터티</a:t>
            </a:r>
            <a:r>
              <a:rPr lang="ko-KR" altLang="en-US" sz="1600" dirty="0">
                <a:latin typeface="+mn-ea"/>
              </a:rPr>
              <a:t> 중에서 하나의 </a:t>
            </a:r>
            <a:r>
              <a:rPr lang="ko-KR" altLang="en-US" sz="1600" dirty="0" err="1">
                <a:latin typeface="+mn-ea"/>
              </a:rPr>
              <a:t>엔터티와</a:t>
            </a:r>
            <a:r>
              <a:rPr lang="ko-KR" altLang="en-US" sz="1600" dirty="0">
                <a:latin typeface="+mn-ea"/>
              </a:rPr>
              <a:t> 만 관계를 가진다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600" dirty="0">
                <a:latin typeface="+mn-ea"/>
              </a:rPr>
              <a:t>[</a:t>
            </a:r>
            <a:r>
              <a:rPr lang="ko-KR" altLang="en-US" sz="1600" dirty="0">
                <a:latin typeface="+mn-ea"/>
              </a:rPr>
              <a:t>그림 </a:t>
            </a:r>
            <a:r>
              <a:rPr lang="en-US" altLang="ko-KR" sz="1600" dirty="0">
                <a:latin typeface="+mn-ea"/>
              </a:rPr>
              <a:t>5.112]  </a:t>
            </a:r>
            <a:r>
              <a:rPr lang="ko-KR" altLang="en-US" sz="1600" dirty="0">
                <a:latin typeface="+mn-ea"/>
              </a:rPr>
              <a:t>모델의 거래내역 </a:t>
            </a:r>
            <a:r>
              <a:rPr lang="ko-KR" altLang="en-US" sz="1600" dirty="0" err="1">
                <a:latin typeface="+mn-ea"/>
              </a:rPr>
              <a:t>엔터티는</a:t>
            </a:r>
            <a:r>
              <a:rPr lang="ko-KR" altLang="en-US" sz="1600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두 개의 상위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부모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) 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엔터티와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 관계</a:t>
            </a:r>
            <a:r>
              <a:rPr lang="ko-KR" altLang="en-US" sz="1600" dirty="0">
                <a:latin typeface="+mn-ea"/>
              </a:rPr>
              <a:t>를 가진다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dirty="0">
                <a:latin typeface="+mn-ea"/>
              </a:rPr>
              <a:t>그리고 두 개의 관계는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상호 배타적</a:t>
            </a:r>
            <a:r>
              <a:rPr lang="ko-KR" altLang="en-US" sz="1600" dirty="0">
                <a:latin typeface="+mn-ea"/>
              </a:rPr>
              <a:t>이다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하나의 속성으로 통합해 관리</a:t>
            </a:r>
            <a:r>
              <a:rPr lang="ko-KR" altLang="en-US" sz="1600" dirty="0">
                <a:latin typeface="+mn-ea"/>
              </a:rPr>
              <a:t>하는 방법</a:t>
            </a:r>
            <a:r>
              <a:rPr lang="en-US" altLang="ko-KR" sz="1600" dirty="0">
                <a:latin typeface="+mn-ea"/>
              </a:rPr>
              <a:t>. (</a:t>
            </a:r>
            <a:r>
              <a:rPr lang="ko-KR" altLang="en-US" sz="1600" dirty="0">
                <a:latin typeface="+mn-ea"/>
              </a:rPr>
              <a:t>실무에서 주로 사용</a:t>
            </a:r>
            <a:r>
              <a:rPr lang="en-US" altLang="ko-KR" sz="1600" dirty="0">
                <a:latin typeface="+mn-ea"/>
              </a:rPr>
              <a:t>)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600" dirty="0">
                <a:latin typeface="+mn-ea"/>
              </a:rPr>
              <a:t>[</a:t>
            </a:r>
            <a:r>
              <a:rPr lang="ko-KR" altLang="en-US" sz="1600" dirty="0">
                <a:latin typeface="+mn-ea"/>
              </a:rPr>
              <a:t>그림 </a:t>
            </a:r>
            <a:r>
              <a:rPr lang="en-US" altLang="ko-KR" sz="1600" dirty="0">
                <a:latin typeface="+mn-ea"/>
              </a:rPr>
              <a:t>5.113] </a:t>
            </a:r>
            <a:r>
              <a:rPr lang="ko-KR" altLang="en-US" sz="1600" dirty="0">
                <a:latin typeface="+mn-ea"/>
              </a:rPr>
              <a:t>모델과 같이 배타 관계를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개별적인 속성으로 관리하는 방법</a:t>
            </a:r>
            <a:r>
              <a:rPr lang="ko-KR" altLang="en-US" sz="1600" dirty="0">
                <a:latin typeface="+mn-ea"/>
              </a:rPr>
              <a:t>이 있다</a:t>
            </a:r>
            <a:r>
              <a:rPr lang="en-US" altLang="ko-KR" sz="1600" dirty="0">
                <a:latin typeface="+mn-ea"/>
              </a:rPr>
              <a:t>. (</a:t>
            </a:r>
            <a:r>
              <a:rPr lang="ko-KR" altLang="en-US" sz="1600" dirty="0">
                <a:latin typeface="+mn-ea"/>
              </a:rPr>
              <a:t>복잡해서 사용 지양</a:t>
            </a:r>
            <a:r>
              <a:rPr lang="en-US" altLang="ko-KR" sz="1600" dirty="0">
                <a:latin typeface="+mn-ea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BB070BE-FC03-25E2-4088-D8E0A1A35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556" y="4151826"/>
            <a:ext cx="2553056" cy="153373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8C50B43-E723-2B97-5851-7BB2AA5A0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343" y="4056563"/>
            <a:ext cx="2781688" cy="1629002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2A4D456-5533-6158-63B4-CB1370D587B0}"/>
              </a:ext>
            </a:extLst>
          </p:cNvPr>
          <p:cNvSpPr/>
          <p:nvPr/>
        </p:nvSpPr>
        <p:spPr>
          <a:xfrm>
            <a:off x="3239409" y="4525347"/>
            <a:ext cx="980618" cy="177282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1C9B09B-5977-46AB-6955-440E487F3322}"/>
              </a:ext>
            </a:extLst>
          </p:cNvPr>
          <p:cNvSpPr/>
          <p:nvPr/>
        </p:nvSpPr>
        <p:spPr>
          <a:xfrm>
            <a:off x="6531428" y="4441371"/>
            <a:ext cx="1171962" cy="167951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9632FCB8-1FE9-0685-ED04-9EF6148082FB}"/>
              </a:ext>
            </a:extLst>
          </p:cNvPr>
          <p:cNvCxnSpPr>
            <a:cxnSpLocks/>
            <a:endCxn id="14" idx="1"/>
          </p:cNvCxnSpPr>
          <p:nvPr/>
        </p:nvCxnSpPr>
        <p:spPr>
          <a:xfrm rot="5400000" flipH="1" flipV="1">
            <a:off x="5495729" y="4917237"/>
            <a:ext cx="1427588" cy="64380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연결선: 구부러짐 22">
            <a:extLst>
              <a:ext uri="{FF2B5EF4-FFF2-40B4-BE49-F238E27FC236}">
                <a16:creationId xmlns:a16="http://schemas.microsoft.com/office/drawing/2014/main" id="{803FC757-3DAD-9CC2-ECA6-619B89E6D6CA}"/>
              </a:ext>
            </a:extLst>
          </p:cNvPr>
          <p:cNvCxnSpPr>
            <a:cxnSpLocks/>
            <a:endCxn id="12" idx="3"/>
          </p:cNvCxnSpPr>
          <p:nvPr/>
        </p:nvCxnSpPr>
        <p:spPr>
          <a:xfrm rot="5400000">
            <a:off x="4076757" y="4142754"/>
            <a:ext cx="614504" cy="32796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8" name="그림 27">
            <a:extLst>
              <a:ext uri="{FF2B5EF4-FFF2-40B4-BE49-F238E27FC236}">
                <a16:creationId xmlns:a16="http://schemas.microsoft.com/office/drawing/2014/main" id="{22DE87A6-78AE-1E70-5E3B-7892F98A9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9244" y="4170879"/>
            <a:ext cx="2152950" cy="1514686"/>
          </a:xfrm>
          <a:prstGeom prst="rect">
            <a:avLst/>
          </a:prstGeom>
        </p:spPr>
      </p:pic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0939E21-5EB4-8599-7270-D1090DE06EB0}"/>
              </a:ext>
            </a:extLst>
          </p:cNvPr>
          <p:cNvSpPr/>
          <p:nvPr/>
        </p:nvSpPr>
        <p:spPr>
          <a:xfrm>
            <a:off x="9913549" y="5504318"/>
            <a:ext cx="1437465" cy="181247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9B9C12-5B19-928E-A27C-4C6D2B0AA996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관계의 종류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708D86-0DC7-038D-E322-875AB8E76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223</a:t>
            </a:fld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70EAA5-09DE-4EFE-8BC3-2A5CAA16A186}"/>
              </a:ext>
            </a:extLst>
          </p:cNvPr>
          <p:cNvSpPr txBox="1"/>
          <p:nvPr/>
        </p:nvSpPr>
        <p:spPr>
          <a:xfrm>
            <a:off x="4158300" y="4609322"/>
            <a:ext cx="7793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</a:rPr>
              <a:t> RI</a:t>
            </a:r>
            <a:r>
              <a:rPr lang="ko-KR" altLang="en-US" sz="1400" b="1" dirty="0">
                <a:solidFill>
                  <a:srgbClr val="FF0000"/>
                </a:solidFill>
              </a:rPr>
              <a:t>불가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49EF79-4542-418E-92C9-52FE459414DE}"/>
              </a:ext>
            </a:extLst>
          </p:cNvPr>
          <p:cNvSpPr txBox="1"/>
          <p:nvPr/>
        </p:nvSpPr>
        <p:spPr>
          <a:xfrm>
            <a:off x="9354639" y="5670788"/>
            <a:ext cx="24497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</a:rPr>
              <a:t>성격이 다르면 무조건 통합하면 안된다</a:t>
            </a:r>
            <a:r>
              <a:rPr lang="en-US" altLang="ko-KR" sz="1000" b="1" dirty="0">
                <a:solidFill>
                  <a:srgbClr val="FF0000"/>
                </a:solidFill>
              </a:rPr>
              <a:t>.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026789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0981956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n-ea"/>
              </a:rPr>
              <a:t>4.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주 식별자가 다른 </a:t>
            </a:r>
            <a:r>
              <a:rPr lang="ko-KR" altLang="en-US" b="1" u="sng" dirty="0" err="1">
                <a:solidFill>
                  <a:srgbClr val="FF0000"/>
                </a:solidFill>
                <a:latin typeface="+mn-ea"/>
              </a:rPr>
              <a:t>엔터티의</a:t>
            </a:r>
            <a:r>
              <a:rPr lang="ko-KR" altLang="en-US" b="1" dirty="0">
                <a:latin typeface="+mn-ea"/>
              </a:rPr>
              <a:t>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배타관계</a:t>
            </a:r>
            <a:endParaRPr lang="en-US" altLang="ko-KR" sz="1400" u="sng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배타 관계를 발생시킨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성격이 달라서 주 식별자가 조금씩 다를 때가 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이렇게 배타 관계를 발생시킨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주 식별자가 다르면 배타 관계를 설계하기 까다로워진다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이번 장에서는 주 식별자가 다른 배타 관계를 설계하는 방법에 대해서 설명할 것이다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주 식별자가 다른 </a:t>
            </a:r>
            <a:r>
              <a:rPr lang="ko-KR" altLang="en-US" sz="1400" dirty="0" err="1">
                <a:latin typeface="+mn-ea"/>
              </a:rPr>
              <a:t>엔터티를</a:t>
            </a:r>
            <a:r>
              <a:rPr lang="ko-KR" altLang="en-US" sz="1400" dirty="0">
                <a:latin typeface="+mn-ea"/>
              </a:rPr>
              <a:t> 통합하는 방법과 유사하다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5.118] </a:t>
            </a:r>
            <a:r>
              <a:rPr lang="ko-KR" altLang="en-US" sz="1200" dirty="0">
                <a:latin typeface="+mn-ea"/>
              </a:rPr>
              <a:t>모델처럼 주 식별자에 기본 값이 사용되거나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가변적인 값이 사용되는 것은 주 식별자의 기능이 이미 퇴색돼 </a:t>
            </a:r>
            <a:r>
              <a:rPr lang="ko-KR" altLang="en-US" sz="1200" b="1" u="sng" dirty="0">
                <a:latin typeface="+mn-ea"/>
              </a:rPr>
              <a:t>바람직하지는 않다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5.119]</a:t>
            </a:r>
            <a:r>
              <a:rPr lang="ko-KR" altLang="en-US" sz="1200" dirty="0">
                <a:latin typeface="+mn-ea"/>
              </a:rPr>
              <a:t>는 </a:t>
            </a:r>
            <a:r>
              <a:rPr lang="ko-KR" altLang="en-US" sz="1200" b="1" u="sng" dirty="0">
                <a:latin typeface="+mn-ea"/>
              </a:rPr>
              <a:t>고객번호 속성만 주 식별자</a:t>
            </a:r>
            <a:r>
              <a:rPr lang="ko-KR" altLang="en-US" sz="1200" dirty="0">
                <a:latin typeface="+mn-ea"/>
              </a:rPr>
              <a:t>로 사용한 모델이다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5.120]</a:t>
            </a:r>
            <a:r>
              <a:rPr lang="ko-KR" altLang="en-US" sz="1200" dirty="0">
                <a:latin typeface="+mn-ea"/>
              </a:rPr>
              <a:t>는 배타 관계를 관리하는 </a:t>
            </a:r>
            <a:r>
              <a:rPr lang="ko-KR" altLang="en-US" sz="1200" dirty="0" err="1">
                <a:latin typeface="+mn-ea"/>
              </a:rPr>
              <a:t>알림서비스약정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엔터티에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인조식별자를 채택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b="1" u="sng" dirty="0">
                <a:latin typeface="+mn-ea"/>
              </a:rPr>
              <a:t>배타관계속성</a:t>
            </a:r>
            <a:r>
              <a:rPr lang="ko-KR" altLang="en-US" sz="1200" dirty="0">
                <a:latin typeface="+mn-ea"/>
              </a:rPr>
              <a:t>은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고객계좌번호 속성으로 통합한 모델</a:t>
            </a:r>
            <a:r>
              <a:rPr lang="ko-KR" altLang="en-US" sz="1200" dirty="0">
                <a:latin typeface="+mn-ea"/>
              </a:rPr>
              <a:t>이다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200" b="1" u="sng" dirty="0">
                <a:solidFill>
                  <a:srgbClr val="FF0000"/>
                </a:solidFill>
                <a:latin typeface="+mn-ea"/>
              </a:rPr>
              <a:t>[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그림 </a:t>
            </a:r>
            <a:r>
              <a:rPr lang="en-US" altLang="ko-KR" sz="1200" b="1" u="sng" dirty="0">
                <a:solidFill>
                  <a:srgbClr val="FF0000"/>
                </a:solidFill>
                <a:latin typeface="+mn-ea"/>
              </a:rPr>
              <a:t>5.121]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모델과 같이 상위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부모</a:t>
            </a:r>
            <a:r>
              <a:rPr lang="en-US" altLang="ko-KR" sz="1200" dirty="0">
                <a:latin typeface="+mn-ea"/>
              </a:rPr>
              <a:t>)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엔터티의</a:t>
            </a:r>
            <a:r>
              <a:rPr lang="ko-KR" altLang="en-US" sz="1200" dirty="0">
                <a:latin typeface="+mn-ea"/>
              </a:rPr>
              <a:t> 주 식별자가 복잡할 때는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비식별</a:t>
            </a:r>
            <a:r>
              <a:rPr lang="ko-KR" altLang="en-US" sz="1200" dirty="0">
                <a:latin typeface="+mn-ea"/>
              </a:rPr>
              <a:t> 관계로 상속하고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인조 식별자를 사용하는 방법</a:t>
            </a:r>
            <a:r>
              <a:rPr lang="ko-KR" altLang="en-US" sz="1200" dirty="0">
                <a:latin typeface="+mn-ea"/>
              </a:rPr>
              <a:t>이 더욱 무난하다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식별 관계로 상속하면 </a:t>
            </a:r>
            <a:r>
              <a:rPr lang="ko-KR" altLang="en-US" sz="1200" dirty="0" err="1">
                <a:latin typeface="+mn-ea"/>
              </a:rPr>
              <a:t>알림서비스약정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엔터티의</a:t>
            </a:r>
            <a:r>
              <a:rPr lang="ko-KR" altLang="en-US" sz="1200" dirty="0">
                <a:latin typeface="+mn-ea"/>
              </a:rPr>
              <a:t> 주 식별자가 지나치게 복잡해 진다 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만약 상위 </a:t>
            </a:r>
            <a:r>
              <a:rPr lang="ko-KR" altLang="en-US" sz="1200" dirty="0" err="1">
                <a:latin typeface="+mn-ea"/>
              </a:rPr>
              <a:t>엔터티의</a:t>
            </a:r>
            <a:r>
              <a:rPr lang="ko-KR" altLang="en-US" sz="1200" dirty="0">
                <a:latin typeface="+mn-ea"/>
              </a:rPr>
              <a:t> 주 식별자에 포함되는 고객번호</a:t>
            </a:r>
            <a:r>
              <a:rPr lang="en-US" altLang="ko-KR" sz="1200" dirty="0">
                <a:latin typeface="+mn-ea"/>
              </a:rPr>
              <a:t>•</a:t>
            </a:r>
            <a:r>
              <a:rPr lang="ko-KR" altLang="en-US" sz="1200" dirty="0">
                <a:latin typeface="+mn-ea"/>
              </a:rPr>
              <a:t>종합계좌번호</a:t>
            </a:r>
            <a:r>
              <a:rPr lang="en-US" altLang="ko-KR" sz="1200" dirty="0">
                <a:latin typeface="+mn-ea"/>
              </a:rPr>
              <a:t> • </a:t>
            </a:r>
            <a:r>
              <a:rPr lang="ko-KR" altLang="en-US" sz="1200" dirty="0">
                <a:latin typeface="+mn-ea"/>
              </a:rPr>
              <a:t>계약지점번호 속성의 데이터 성격과 길이가 유사하다면，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5.120]</a:t>
            </a:r>
            <a:r>
              <a:rPr lang="ko-KR" altLang="en-US" sz="1200" dirty="0">
                <a:latin typeface="+mn-ea"/>
              </a:rPr>
              <a:t> 모델의 고객계좌번호 속성 같은 배타 속성으로 관리할 수도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5.121]</a:t>
            </a:r>
            <a:r>
              <a:rPr lang="ko-KR" altLang="en-US" sz="1200" dirty="0">
                <a:latin typeface="+mn-ea"/>
              </a:rPr>
              <a:t>보다 </a:t>
            </a:r>
            <a:r>
              <a:rPr lang="en-US" altLang="ko-KR" sz="1200" b="1" u="sng" dirty="0">
                <a:solidFill>
                  <a:srgbClr val="FF0000"/>
                </a:solidFill>
                <a:latin typeface="+mn-ea"/>
              </a:rPr>
              <a:t>[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그림 </a:t>
            </a:r>
            <a:r>
              <a:rPr lang="en-US" altLang="ko-KR" sz="1200" b="1" u="sng" dirty="0">
                <a:solidFill>
                  <a:srgbClr val="FF0000"/>
                </a:solidFill>
                <a:latin typeface="+mn-ea"/>
              </a:rPr>
              <a:t>5.122]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가 더욱 유연한 모델</a:t>
            </a:r>
            <a:r>
              <a:rPr lang="ko-KR" altLang="en-US" sz="1200" dirty="0">
                <a:latin typeface="+mn-ea"/>
              </a:rPr>
              <a:t>이다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19845E3-BA58-2D34-AC45-C649B8A5D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60" y="4909512"/>
            <a:ext cx="1976676" cy="117272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46F2E4F-DCB2-E88F-698B-C391838B8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629" y="4916887"/>
            <a:ext cx="1932422" cy="116535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5528CC6-4C38-2829-DB98-93F416203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443" y="4924263"/>
            <a:ext cx="2006179" cy="115797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E167191-4AC3-0077-8348-1D3FDA349D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6014" y="4466972"/>
            <a:ext cx="2153692" cy="161526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F7C41AF9-C4FF-AECB-1A8C-2DC4645918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8099" y="4393216"/>
            <a:ext cx="2153692" cy="1689025"/>
          </a:xfrm>
          <a:prstGeom prst="rect">
            <a:avLst/>
          </a:prstGeom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59C41552-C65A-0900-F8DD-5ADF2E756779}"/>
              </a:ext>
            </a:extLst>
          </p:cNvPr>
          <p:cNvSpPr/>
          <p:nvPr/>
        </p:nvSpPr>
        <p:spPr>
          <a:xfrm>
            <a:off x="8411566" y="4870763"/>
            <a:ext cx="822972" cy="552265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01E1B9F-902E-6F0B-3AC1-1EF4909F9589}"/>
              </a:ext>
            </a:extLst>
          </p:cNvPr>
          <p:cNvSpPr/>
          <p:nvPr/>
        </p:nvSpPr>
        <p:spPr>
          <a:xfrm>
            <a:off x="10883162" y="4943490"/>
            <a:ext cx="822972" cy="235094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DBFC2EEC-5A87-5FE5-65AE-D1C9673860B2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 flipV="1">
            <a:off x="9234538" y="5061037"/>
            <a:ext cx="1648624" cy="8585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8E654E6D-6749-3B39-1B82-A2145CD0C0D1}"/>
              </a:ext>
            </a:extLst>
          </p:cNvPr>
          <p:cNvSpPr/>
          <p:nvPr/>
        </p:nvSpPr>
        <p:spPr>
          <a:xfrm>
            <a:off x="5684514" y="5939072"/>
            <a:ext cx="822972" cy="143169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F7490E-172F-7051-F8C9-B92F669564FB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 관계의 종류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9CB2E38-8D9A-02FB-E421-91CE9FE41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6059511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098195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dirty="0" err="1">
                <a:latin typeface="+mn-ea"/>
              </a:rPr>
              <a:t>엔터티의</a:t>
            </a:r>
            <a:r>
              <a:rPr lang="ko-KR" altLang="en-US" sz="1600" dirty="0">
                <a:latin typeface="+mn-ea"/>
              </a:rPr>
              <a:t> 특정 인스턴스가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같은 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엔터티의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 다른 인스턴스와 관계를 가지는 관계</a:t>
            </a:r>
            <a:r>
              <a:rPr lang="ko-KR" altLang="en-US" sz="1600" dirty="0">
                <a:latin typeface="+mn-ea"/>
              </a:rPr>
              <a:t>를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재귀 관계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(Recursive Relationship)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라고 한다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b="1" u="sng" dirty="0" err="1">
                <a:latin typeface="+mn-ea"/>
              </a:rPr>
              <a:t>리커시브</a:t>
            </a:r>
            <a:r>
              <a:rPr lang="ko-KR" altLang="en-US" sz="1600" b="1" u="sng" dirty="0">
                <a:latin typeface="+mn-ea"/>
              </a:rPr>
              <a:t> 관계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b="1" u="sng" dirty="0">
                <a:latin typeface="+mn-ea"/>
              </a:rPr>
              <a:t>자기 참조</a:t>
            </a:r>
            <a:r>
              <a:rPr lang="en-US" altLang="ko-KR" sz="1600" b="1" u="sng" dirty="0">
                <a:latin typeface="+mn-ea"/>
              </a:rPr>
              <a:t>(Self Referencing) </a:t>
            </a:r>
            <a:r>
              <a:rPr lang="ko-KR" altLang="en-US" sz="1600" b="1" u="sng" dirty="0">
                <a:latin typeface="+mn-ea"/>
              </a:rPr>
              <a:t>관계</a:t>
            </a:r>
            <a:r>
              <a:rPr lang="ko-KR" altLang="en-US" sz="1600" dirty="0">
                <a:latin typeface="+mn-ea"/>
              </a:rPr>
              <a:t>라고도 한다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dirty="0">
                <a:latin typeface="+mn-ea"/>
              </a:rPr>
              <a:t>재귀 관계가 발생하는 대표적인 때는 계층 데이터를 관리할 때와 자기 참조 데이터를 관리할 때다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u="sng" dirty="0">
                <a:latin typeface="+mn-ea"/>
              </a:rPr>
              <a:t>계층 관계</a:t>
            </a:r>
            <a:r>
              <a:rPr lang="ko-KR" altLang="en-US" sz="1600" dirty="0">
                <a:latin typeface="+mn-ea"/>
              </a:rPr>
              <a:t>는 </a:t>
            </a:r>
            <a:r>
              <a:rPr lang="ko-KR" altLang="en-US" sz="1600" b="1" u="sng" dirty="0">
                <a:latin typeface="+mn-ea"/>
              </a:rPr>
              <a:t>종속 관계</a:t>
            </a:r>
            <a:r>
              <a:rPr lang="ko-KR" altLang="en-US" sz="1600" dirty="0">
                <a:latin typeface="+mn-ea"/>
              </a:rPr>
              <a:t>와 유사하고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b="1" u="sng" dirty="0">
                <a:latin typeface="+mn-ea"/>
              </a:rPr>
              <a:t>자기 참조 관계</a:t>
            </a:r>
            <a:r>
              <a:rPr lang="ko-KR" altLang="en-US" sz="1600" dirty="0">
                <a:latin typeface="+mn-ea"/>
              </a:rPr>
              <a:t>는 </a:t>
            </a:r>
            <a:r>
              <a:rPr lang="ko-KR" altLang="en-US" sz="1600" b="1" u="sng" dirty="0">
                <a:latin typeface="+mn-ea"/>
              </a:rPr>
              <a:t>참조 관계</a:t>
            </a:r>
            <a:r>
              <a:rPr lang="ko-KR" altLang="en-US" sz="1600" dirty="0">
                <a:latin typeface="+mn-ea"/>
              </a:rPr>
              <a:t>와 유사하다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계층</a:t>
            </a:r>
            <a:endParaRPr lang="en-US" altLang="ko-KR" sz="1600" b="1" dirty="0">
              <a:latin typeface="+mn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계층 데이터에는 소속 개념이 존재한다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큰 조직이나 분류 </a:t>
            </a:r>
            <a:endParaRPr lang="en-US" altLang="ko-KR" sz="1400" dirty="0">
              <a:latin typeface="+mn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아래 작은 것이 소속된 형태가 계층 데이터를 이룬다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만약 </a:t>
            </a:r>
            <a:r>
              <a:rPr lang="en-US" altLang="ko-KR" sz="1400" dirty="0">
                <a:latin typeface="+mn-ea"/>
              </a:rPr>
              <a:t>1</a:t>
            </a:r>
            <a:r>
              <a:rPr lang="ko-KR" altLang="en-US" sz="1400" dirty="0">
                <a:latin typeface="+mn-ea"/>
              </a:rPr>
              <a:t>레벨</a:t>
            </a:r>
            <a:r>
              <a:rPr lang="en-US" altLang="ko-KR" sz="1400" dirty="0">
                <a:latin typeface="+mn-ea"/>
              </a:rPr>
              <a:t> • 2</a:t>
            </a:r>
            <a:r>
              <a:rPr lang="ko-KR" altLang="en-US" sz="1400" dirty="0">
                <a:latin typeface="+mn-ea"/>
              </a:rPr>
              <a:t>레벨</a:t>
            </a:r>
            <a:r>
              <a:rPr lang="en-US" altLang="ko-KR" sz="1400" dirty="0">
                <a:latin typeface="+mn-ea"/>
              </a:rPr>
              <a:t> • 3</a:t>
            </a:r>
            <a:r>
              <a:rPr lang="ko-KR" altLang="en-US" sz="1400" dirty="0">
                <a:latin typeface="+mn-ea"/>
              </a:rPr>
              <a:t>레벨이 존재해 세 개의 </a:t>
            </a:r>
            <a:r>
              <a:rPr lang="ko-KR" altLang="en-US" sz="1400" dirty="0" err="1">
                <a:latin typeface="+mn-ea"/>
              </a:rPr>
              <a:t>엔터티로</a:t>
            </a:r>
            <a:r>
              <a:rPr lang="ko-KR" altLang="en-US" sz="1400" dirty="0">
                <a:latin typeface="+mn-ea"/>
              </a:rPr>
              <a:t> </a:t>
            </a:r>
            <a:endParaRPr lang="en-US" altLang="ko-KR" sz="1400" dirty="0">
              <a:latin typeface="+mn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설계했다면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레벨을 세분화할수록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개수는 늘어날 </a:t>
            </a:r>
            <a:endParaRPr lang="en-US" altLang="ko-KR" sz="1400" dirty="0">
              <a:latin typeface="+mn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것이며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 err="1">
                <a:latin typeface="+mn-ea"/>
              </a:rPr>
              <a:t>엔터티들을</a:t>
            </a:r>
            <a:r>
              <a:rPr lang="ko-KR" altLang="en-US" sz="1400" dirty="0">
                <a:latin typeface="+mn-ea"/>
              </a:rPr>
              <a:t> 조인해서 조회하기 불편할 것이다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이때 </a:t>
            </a:r>
            <a:endParaRPr lang="en-US" altLang="ko-KR" sz="1400" dirty="0">
              <a:latin typeface="+mn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재귀 관계를 사용하면 계층 데이터를 간결하고 효율적으로 </a:t>
            </a:r>
            <a:endParaRPr lang="en-US" altLang="ko-KR" sz="1400" dirty="0">
              <a:latin typeface="+mn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관리할 수 있다</a:t>
            </a:r>
            <a:r>
              <a:rPr lang="en-US" altLang="ko-KR" sz="1400" dirty="0">
                <a:latin typeface="+mn-ea"/>
              </a:rPr>
              <a:t>. 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5.123]</a:t>
            </a:r>
            <a:r>
              <a:rPr lang="ko-KR" altLang="en-US" sz="1400" dirty="0">
                <a:latin typeface="+mn-ea"/>
              </a:rPr>
              <a:t>은 대표적인 계층 구조인 </a:t>
            </a:r>
            <a:endParaRPr lang="en-US" altLang="ko-KR" sz="1400" dirty="0">
              <a:latin typeface="+mn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기업의 조직을 표현한 모델이다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어떤 기업이 본사 데이터를 관리하고 본사 내에 부서 데이터</a:t>
            </a:r>
            <a:r>
              <a:rPr lang="en-US" altLang="ko-KR" sz="1400" dirty="0">
                <a:latin typeface="+mn-ea"/>
              </a:rPr>
              <a:t>,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부서 내에 팀 데이터를 관리할 때 각자를 개별적인 </a:t>
            </a:r>
            <a:r>
              <a:rPr lang="ko-KR" altLang="en-US" sz="1400" dirty="0" err="1">
                <a:latin typeface="+mn-ea"/>
              </a:rPr>
              <a:t>엔터티로</a:t>
            </a:r>
            <a:r>
              <a:rPr lang="ko-KR" altLang="en-US" sz="1400" dirty="0">
                <a:latin typeface="+mn-ea"/>
              </a:rPr>
              <a:t> </a:t>
            </a:r>
            <a:endParaRPr lang="en-US" altLang="ko-KR" sz="1400" dirty="0">
              <a:latin typeface="+mn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관리하는 모델이다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이러한 모델은 계층 단계가 늘어나면 </a:t>
            </a:r>
            <a:r>
              <a:rPr lang="ko-KR" altLang="en-US" sz="1400" dirty="0" err="1">
                <a:latin typeface="+mn-ea"/>
              </a:rPr>
              <a:t>엔터티를</a:t>
            </a:r>
            <a:r>
              <a:rPr lang="ko-KR" altLang="en-US" sz="1400" dirty="0">
                <a:latin typeface="+mn-ea"/>
              </a:rPr>
              <a:t> </a:t>
            </a:r>
            <a:endParaRPr lang="en-US" altLang="ko-KR" sz="1400" dirty="0">
              <a:latin typeface="+mn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추가해야 하며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조직이 개편돼 중간 계층이 없어지면 관리하기 </a:t>
            </a:r>
            <a:endParaRPr lang="en-US" altLang="ko-KR" sz="1400" dirty="0">
              <a:latin typeface="+mn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모호해지는 등 확장성이 떨어지는 모델이다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또한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5.124]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발주 </a:t>
            </a:r>
            <a:r>
              <a:rPr lang="ko-KR" altLang="en-US" sz="1400" dirty="0" err="1">
                <a:latin typeface="+mn-ea"/>
              </a:rPr>
              <a:t>엔터티와</a:t>
            </a:r>
            <a:r>
              <a:rPr lang="ko-KR" altLang="en-US" sz="1400" dirty="0">
                <a:latin typeface="+mn-ea"/>
              </a:rPr>
              <a:t> 같이 부서 또는 팀 </a:t>
            </a:r>
            <a:r>
              <a:rPr lang="ko-KR" altLang="en-US" sz="1400" dirty="0" err="1">
                <a:latin typeface="+mn-ea"/>
              </a:rPr>
              <a:t>엔터티와</a:t>
            </a:r>
            <a:r>
              <a:rPr lang="ko-KR" altLang="en-US" sz="1400" dirty="0">
                <a:latin typeface="+mn-ea"/>
              </a:rPr>
              <a:t> 관계가 존재하면 </a:t>
            </a:r>
            <a:endParaRPr lang="en-US" altLang="ko-KR" sz="1400" dirty="0">
              <a:latin typeface="+mn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배타 관계가 발생한다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재귀 관계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4BCA950-7D68-D394-F68F-B97F46D6D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6794" y="3105245"/>
            <a:ext cx="1486107" cy="258163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19F3397-6388-BB36-3470-19429065F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1960" y="3248140"/>
            <a:ext cx="2867425" cy="243874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0838AE0-D50D-8078-8CEB-795F726FD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4474182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배타 관계는 바람직하지 않으므로 배타 관계를 해소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통합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하기 위해서는 배타 관계를 발생시킨 </a:t>
            </a:r>
            <a:r>
              <a:rPr lang="ko-KR" altLang="en-US" sz="1600" dirty="0" err="1">
                <a:latin typeface="+mn-ea"/>
              </a:rPr>
              <a:t>엔터티들을</a:t>
            </a:r>
            <a:r>
              <a:rPr lang="ko-KR" altLang="en-US" sz="1600" dirty="0">
                <a:latin typeface="+mn-ea"/>
              </a:rPr>
              <a:t> 통합해야 한다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600" dirty="0">
                <a:latin typeface="+mn-ea"/>
              </a:rPr>
              <a:t>[</a:t>
            </a:r>
            <a:r>
              <a:rPr lang="ko-KR" altLang="en-US" sz="1600" dirty="0">
                <a:latin typeface="+mn-ea"/>
              </a:rPr>
              <a:t>그림 </a:t>
            </a:r>
            <a:r>
              <a:rPr lang="en-US" altLang="ko-KR" sz="1600" dirty="0">
                <a:latin typeface="+mn-ea"/>
              </a:rPr>
              <a:t>5.125] </a:t>
            </a:r>
            <a:r>
              <a:rPr lang="ko-KR" altLang="en-US" sz="1600" dirty="0">
                <a:latin typeface="+mn-ea"/>
              </a:rPr>
              <a:t>모델이 </a:t>
            </a:r>
            <a:r>
              <a:rPr lang="en-US" altLang="ko-KR" sz="1600" dirty="0">
                <a:latin typeface="+mn-ea"/>
              </a:rPr>
              <a:t>[</a:t>
            </a:r>
            <a:r>
              <a:rPr lang="ko-KR" altLang="en-US" sz="1600" dirty="0">
                <a:latin typeface="+mn-ea"/>
              </a:rPr>
              <a:t>그림 </a:t>
            </a:r>
            <a:r>
              <a:rPr lang="en-US" altLang="ko-KR" sz="1600" dirty="0">
                <a:latin typeface="+mn-ea"/>
              </a:rPr>
              <a:t>5.123] </a:t>
            </a:r>
            <a:r>
              <a:rPr lang="ko-KR" altLang="en-US" sz="1600" dirty="0">
                <a:latin typeface="+mn-ea"/>
              </a:rPr>
              <a:t>모델의 계층 구조 </a:t>
            </a:r>
            <a:r>
              <a:rPr lang="ko-KR" altLang="en-US" sz="1600" dirty="0" err="1">
                <a:latin typeface="+mn-ea"/>
              </a:rPr>
              <a:t>엔터티를</a:t>
            </a:r>
            <a:r>
              <a:rPr lang="ko-KR" altLang="en-US" sz="1600" dirty="0">
                <a:latin typeface="+mn-ea"/>
              </a:rPr>
              <a:t> 통합한 모델이다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600" dirty="0">
                <a:latin typeface="+mn-ea"/>
              </a:rPr>
              <a:t>[</a:t>
            </a:r>
            <a:r>
              <a:rPr lang="ko-KR" altLang="en-US" sz="1600" dirty="0">
                <a:latin typeface="+mn-ea"/>
              </a:rPr>
              <a:t>그림 </a:t>
            </a:r>
            <a:r>
              <a:rPr lang="en-US" altLang="ko-KR" sz="1600" dirty="0">
                <a:latin typeface="+mn-ea"/>
              </a:rPr>
              <a:t>5.125] </a:t>
            </a:r>
            <a:r>
              <a:rPr lang="ko-KR" altLang="en-US" sz="1600" dirty="0">
                <a:latin typeface="+mn-ea"/>
              </a:rPr>
              <a:t>모델과 같이 계층 구조 </a:t>
            </a:r>
            <a:r>
              <a:rPr lang="ko-KR" altLang="en-US" sz="1600" dirty="0" err="1">
                <a:latin typeface="+mn-ea"/>
              </a:rPr>
              <a:t>엔터티가</a:t>
            </a:r>
            <a:r>
              <a:rPr lang="ko-KR" altLang="en-US" sz="1600" dirty="0">
                <a:latin typeface="+mn-ea"/>
              </a:rPr>
              <a:t> 통합돼 재귀 관계가 생기면</a:t>
            </a:r>
            <a:r>
              <a:rPr lang="en-US" altLang="ko-KR" sz="1600" dirty="0">
                <a:latin typeface="+mn-ea"/>
              </a:rPr>
              <a:t>, [</a:t>
            </a:r>
            <a:r>
              <a:rPr lang="ko-KR" altLang="en-US" sz="1600" dirty="0">
                <a:latin typeface="+mn-ea"/>
              </a:rPr>
              <a:t>그림 </a:t>
            </a:r>
            <a:r>
              <a:rPr lang="en-US" altLang="ko-KR" sz="1600" dirty="0">
                <a:latin typeface="+mn-ea"/>
              </a:rPr>
              <a:t>5.124] </a:t>
            </a:r>
            <a:r>
              <a:rPr lang="ko-KR" altLang="en-US" sz="1600" dirty="0">
                <a:latin typeface="+mn-ea"/>
              </a:rPr>
              <a:t>모델은 </a:t>
            </a:r>
            <a:r>
              <a:rPr lang="en-US" altLang="ko-KR" sz="1600" dirty="0">
                <a:latin typeface="+mn-ea"/>
              </a:rPr>
              <a:t>[</a:t>
            </a:r>
            <a:r>
              <a:rPr lang="ko-KR" altLang="en-US" sz="1600" dirty="0">
                <a:latin typeface="+mn-ea"/>
              </a:rPr>
              <a:t>그림 </a:t>
            </a:r>
            <a:r>
              <a:rPr lang="en-US" altLang="ko-KR" sz="1600" dirty="0">
                <a:latin typeface="+mn-ea"/>
              </a:rPr>
              <a:t>5.126] </a:t>
            </a:r>
            <a:r>
              <a:rPr lang="ko-KR" altLang="en-US" sz="1600" dirty="0">
                <a:latin typeface="+mn-ea"/>
              </a:rPr>
              <a:t>모델과 같이 바뀐다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4BCA950-7D68-D394-F68F-B97F46D6D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901" y="3005612"/>
            <a:ext cx="1486107" cy="258163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7ADFEFE-6F37-14DE-16C3-739192599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0392" y="4186877"/>
            <a:ext cx="1876687" cy="1400370"/>
          </a:xfrm>
          <a:prstGeom prst="rect">
            <a:avLst/>
          </a:prstGeom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C0519F3D-B4EE-AA93-F695-E04648B0F7C1}"/>
              </a:ext>
            </a:extLst>
          </p:cNvPr>
          <p:cNvCxnSpPr>
            <a:cxnSpLocks/>
          </p:cNvCxnSpPr>
          <p:nvPr/>
        </p:nvCxnSpPr>
        <p:spPr>
          <a:xfrm>
            <a:off x="2341532" y="4991905"/>
            <a:ext cx="46132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9B1887BE-B430-F442-DE18-944467B4E1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5402" y="3148507"/>
            <a:ext cx="2867425" cy="24387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991EE17-DE07-B40B-3BA6-82BD2C6DE6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9639" y="4158298"/>
            <a:ext cx="3162741" cy="1428949"/>
          </a:xfrm>
          <a:prstGeom prst="rect">
            <a:avLst/>
          </a:prstGeom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2CFF5BCB-9FB4-CD1A-987C-A17128F5519E}"/>
              </a:ext>
            </a:extLst>
          </p:cNvPr>
          <p:cNvCxnSpPr>
            <a:cxnSpLocks/>
          </p:cNvCxnSpPr>
          <p:nvPr/>
        </p:nvCxnSpPr>
        <p:spPr>
          <a:xfrm>
            <a:off x="8100210" y="5000959"/>
            <a:ext cx="46132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0E951E5-AE0A-A061-CEDC-13BF2693066A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재귀 관계 </a:t>
            </a:r>
            <a:r>
              <a:rPr lang="en-US" altLang="ko-KR" sz="2400" b="1" dirty="0">
                <a:latin typeface="+mn-ea"/>
              </a:rPr>
              <a:t>- </a:t>
            </a:r>
            <a:r>
              <a:rPr lang="ko-KR" altLang="en-US" sz="2400" b="1" dirty="0">
                <a:latin typeface="+mn-ea"/>
              </a:rPr>
              <a:t>계층 </a:t>
            </a:r>
            <a:r>
              <a:rPr lang="en-US" altLang="ko-KR" sz="2400" b="1" dirty="0">
                <a:latin typeface="+mn-ea"/>
              </a:rPr>
              <a:t>(1/2) </a:t>
            </a:r>
            <a:r>
              <a:rPr lang="en-US" altLang="ko-KR" sz="1600" dirty="0">
                <a:solidFill>
                  <a:srgbClr val="FF0000"/>
                </a:solidFill>
                <a:latin typeface="+mn-ea"/>
              </a:rPr>
              <a:t>  </a:t>
            </a:r>
            <a:r>
              <a:rPr lang="en-US" altLang="ko-KR" sz="16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 </a:t>
            </a:r>
            <a:r>
              <a:rPr lang="ko-KR" altLang="en-US" sz="16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더 늘어날 가능성이 있을 경우</a:t>
            </a:r>
            <a:r>
              <a:rPr lang="en-US" altLang="ko-KR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, </a:t>
            </a:r>
            <a:r>
              <a:rPr lang="ko-KR" altLang="en-US" sz="16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계층이 보이면 통합해라</a:t>
            </a:r>
            <a:r>
              <a:rPr lang="en-US" altLang="ko-KR" sz="16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~!</a:t>
            </a:r>
            <a:endParaRPr lang="en-US" altLang="ko-KR" sz="2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2F6C3D0-C236-0CAE-A879-E87A7303F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8943319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만약 </a:t>
            </a:r>
            <a:r>
              <a:rPr lang="en-US" altLang="ko-KR" sz="1600" dirty="0">
                <a:latin typeface="+mn-ea"/>
              </a:rPr>
              <a:t>[</a:t>
            </a:r>
            <a:r>
              <a:rPr lang="ko-KR" altLang="en-US" sz="1600" dirty="0">
                <a:latin typeface="+mn-ea"/>
              </a:rPr>
              <a:t>그림 </a:t>
            </a:r>
            <a:r>
              <a:rPr lang="en-US" altLang="ko-KR" sz="1600" dirty="0">
                <a:latin typeface="+mn-ea"/>
              </a:rPr>
              <a:t>5.127]</a:t>
            </a:r>
            <a:r>
              <a:rPr lang="ko-KR" altLang="en-US" sz="1600" dirty="0">
                <a:latin typeface="+mn-ea"/>
              </a:rPr>
              <a:t> 모델과 같이 계층 관계가 두 개로 완전히 고정되어 있다면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 err="1">
                <a:latin typeface="+mn-ea"/>
              </a:rPr>
              <a:t>엔터티를</a:t>
            </a:r>
            <a:r>
              <a:rPr lang="ko-KR" altLang="en-US" sz="1600" dirty="0">
                <a:latin typeface="+mn-ea"/>
              </a:rPr>
              <a:t> 계층 관계로 나열해서 사용할 수도 있다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하지만 계층 구조의 </a:t>
            </a:r>
            <a:r>
              <a:rPr lang="ko-KR" altLang="en-US" sz="1600" dirty="0" err="1">
                <a:latin typeface="+mn-ea"/>
              </a:rPr>
              <a:t>엔터티가</a:t>
            </a:r>
            <a:r>
              <a:rPr lang="ko-KR" altLang="en-US" sz="1600" dirty="0">
                <a:latin typeface="+mn-ea"/>
              </a:rPr>
              <a:t> 세 개 이상이라면 통합해서 재귀 관계를 사용하는 것이 좋다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계층 성격의 데이터는 본질적으로 가변적이다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dirty="0">
                <a:latin typeface="+mn-ea"/>
              </a:rPr>
              <a:t>따라서 필자는 계층 관계인 </a:t>
            </a:r>
            <a:r>
              <a:rPr lang="ko-KR" altLang="en-US" sz="1600" dirty="0" err="1">
                <a:latin typeface="+mn-ea"/>
              </a:rPr>
              <a:t>엔터티가</a:t>
            </a:r>
            <a:r>
              <a:rPr lang="ko-KR" altLang="en-US" sz="1600" dirty="0">
                <a:latin typeface="+mn-ea"/>
              </a:rPr>
              <a:t> 두 개 이상이면 재귀 관계로 구현한다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문제는 두 </a:t>
            </a:r>
            <a:r>
              <a:rPr lang="ko-KR" altLang="en-US" sz="1600" dirty="0" err="1">
                <a:latin typeface="+mn-ea"/>
              </a:rPr>
              <a:t>엔터티가</a:t>
            </a:r>
            <a:r>
              <a:rPr lang="ko-KR" altLang="en-US" sz="1600" dirty="0">
                <a:latin typeface="+mn-ea"/>
              </a:rPr>
              <a:t> 계층 관계인지를 판단하는 것이다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dirty="0">
                <a:latin typeface="+mn-ea"/>
              </a:rPr>
              <a:t>세 개 이상일 때는 오히려 판단하기 쉽지만 두 개의 </a:t>
            </a:r>
            <a:r>
              <a:rPr lang="ko-KR" altLang="en-US" sz="1600" dirty="0" err="1">
                <a:latin typeface="+mn-ea"/>
              </a:rPr>
              <a:t>엔터티는</a:t>
            </a:r>
            <a:r>
              <a:rPr lang="ko-KR" altLang="en-US" sz="1600" dirty="0">
                <a:latin typeface="+mn-ea"/>
              </a:rPr>
              <a:t> 판단하기 어려울 수 있다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dirty="0">
                <a:latin typeface="+mn-ea"/>
              </a:rPr>
              <a:t>두 </a:t>
            </a:r>
            <a:r>
              <a:rPr lang="ko-KR" altLang="en-US" sz="1600" dirty="0" err="1">
                <a:latin typeface="+mn-ea"/>
              </a:rPr>
              <a:t>엔터티에서</a:t>
            </a:r>
            <a:r>
              <a:rPr lang="ko-KR" altLang="en-US" sz="1600" dirty="0">
                <a:latin typeface="+mn-ea"/>
              </a:rPr>
              <a:t> 관리하는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속성이 유사하고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두 </a:t>
            </a:r>
            <a:r>
              <a:rPr lang="ko-KR" altLang="en-US" sz="1600" dirty="0" err="1">
                <a:latin typeface="+mn-ea"/>
              </a:rPr>
              <a:t>엔터티</a:t>
            </a:r>
            <a:r>
              <a:rPr lang="ko-KR" altLang="en-US" sz="1600" dirty="0">
                <a:latin typeface="+mn-ea"/>
              </a:rPr>
              <a:t> 사이에 소속 개념이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존재하면 계층 관계의 </a:t>
            </a:r>
            <a:r>
              <a:rPr lang="ko-KR" altLang="en-US" sz="1600" dirty="0" err="1">
                <a:latin typeface="+mn-ea"/>
              </a:rPr>
              <a:t>엔터티다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4633B3A-5A6C-7EF4-3E3B-D439172F9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025" y="2270451"/>
            <a:ext cx="1609950" cy="17433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1E8E08-7E8A-45B2-F292-2B49B29B9A78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재귀 관계 </a:t>
            </a:r>
            <a:r>
              <a:rPr lang="en-US" altLang="ko-KR" sz="2400" b="1" dirty="0">
                <a:latin typeface="+mn-ea"/>
              </a:rPr>
              <a:t>- </a:t>
            </a:r>
            <a:r>
              <a:rPr lang="ko-KR" altLang="en-US" sz="2400" b="1" dirty="0">
                <a:latin typeface="+mn-ea"/>
              </a:rPr>
              <a:t>계층 </a:t>
            </a:r>
            <a:r>
              <a:rPr lang="en-US" altLang="ko-KR" sz="2400" b="1" dirty="0">
                <a:latin typeface="+mn-ea"/>
              </a:rPr>
              <a:t>(2/2)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A785C6-B3E1-3C57-BD1B-1F131A35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8360732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200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재귀 관계</a:t>
            </a:r>
            <a:r>
              <a:rPr lang="ko-KR" altLang="en-US" sz="1400" dirty="0">
                <a:latin typeface="+mn-ea"/>
              </a:rPr>
              <a:t>를 사용하는 또 다른 대표적인 경우는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자기 참조를 할 때</a:t>
            </a:r>
            <a:r>
              <a:rPr lang="ko-KR" altLang="en-US" sz="1400" dirty="0">
                <a:latin typeface="+mn-ea"/>
              </a:rPr>
              <a:t>이다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한 인스턴스가 자신의 </a:t>
            </a:r>
            <a:r>
              <a:rPr lang="ko-KR" altLang="en-US" sz="1400" dirty="0" err="1">
                <a:latin typeface="+mn-ea"/>
              </a:rPr>
              <a:t>엔터티에</a:t>
            </a:r>
            <a:r>
              <a:rPr lang="ko-KR" altLang="en-US" sz="1400" dirty="0">
                <a:latin typeface="+mn-ea"/>
              </a:rPr>
              <a:t> 존재하는 다른 인스턴스를 참조할 때를 자기 참조라고 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계층 구조의 </a:t>
            </a:r>
            <a:r>
              <a:rPr lang="ko-KR" altLang="en-US" sz="1400" dirty="0" err="1">
                <a:latin typeface="+mn-ea"/>
              </a:rPr>
              <a:t>엔터티를</a:t>
            </a:r>
            <a:r>
              <a:rPr lang="ko-KR" altLang="en-US" sz="1400" dirty="0">
                <a:latin typeface="+mn-ea"/>
              </a:rPr>
              <a:t> 하나의 </a:t>
            </a:r>
            <a:r>
              <a:rPr lang="ko-KR" altLang="en-US" sz="1400" dirty="0" err="1">
                <a:latin typeface="+mn-ea"/>
              </a:rPr>
              <a:t>엔터티로</a:t>
            </a:r>
            <a:r>
              <a:rPr lang="ko-KR" altLang="en-US" sz="1400" dirty="0">
                <a:latin typeface="+mn-ea"/>
              </a:rPr>
              <a:t> 통합해 재귀 관계로 구현하는 것은 주로 실체 </a:t>
            </a:r>
            <a:r>
              <a:rPr lang="ko-KR" altLang="en-US" sz="1400" dirty="0" err="1">
                <a:latin typeface="+mn-ea"/>
              </a:rPr>
              <a:t>엔터티나</a:t>
            </a:r>
            <a:r>
              <a:rPr lang="ko-KR" altLang="en-US" sz="1400" dirty="0">
                <a:latin typeface="+mn-ea"/>
              </a:rPr>
              <a:t> 주요 </a:t>
            </a:r>
            <a:r>
              <a:rPr lang="ko-KR" altLang="en-US" sz="1400" dirty="0" err="1">
                <a:latin typeface="+mn-ea"/>
              </a:rPr>
              <a:t>엔터티와</a:t>
            </a:r>
            <a:r>
              <a:rPr lang="ko-KR" altLang="en-US" sz="1400" dirty="0">
                <a:latin typeface="+mn-ea"/>
              </a:rPr>
              <a:t> 같은 상위 </a:t>
            </a:r>
            <a:r>
              <a:rPr lang="ko-KR" altLang="en-US" sz="1400" dirty="0" err="1">
                <a:latin typeface="+mn-ea"/>
              </a:rPr>
              <a:t>엔터티에서</a:t>
            </a:r>
            <a:r>
              <a:rPr lang="ko-KR" altLang="en-US" sz="1400" dirty="0">
                <a:latin typeface="+mn-ea"/>
              </a:rPr>
              <a:t> 발생하지만</a:t>
            </a:r>
            <a:r>
              <a:rPr lang="en-US" altLang="ko-KR" sz="1400" dirty="0">
                <a:latin typeface="+mn-ea"/>
              </a:rPr>
              <a:t>,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 err="1">
                <a:latin typeface="+mn-ea"/>
              </a:rPr>
              <a:t>엔터티</a:t>
            </a:r>
            <a:r>
              <a:rPr lang="ko-KR" altLang="en-US" sz="1400" dirty="0">
                <a:latin typeface="+mn-ea"/>
              </a:rPr>
              <a:t> 내의 관계 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연관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된 인스턴스를 참조해 관리하는 재귀 관계는 행위 </a:t>
            </a:r>
            <a:r>
              <a:rPr lang="ko-KR" altLang="en-US" sz="1400" dirty="0" err="1">
                <a:latin typeface="+mn-ea"/>
              </a:rPr>
              <a:t>엔터티까지</a:t>
            </a:r>
            <a:r>
              <a:rPr lang="ko-KR" altLang="en-US" sz="1400" dirty="0">
                <a:latin typeface="+mn-ea"/>
              </a:rPr>
              <a:t> 전반적으로 많이 발생 한다 </a:t>
            </a:r>
            <a:r>
              <a:rPr lang="en-US" altLang="ko-KR" sz="1400" dirty="0">
                <a:latin typeface="+mn-ea"/>
              </a:rPr>
              <a:t>. 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5.128]</a:t>
            </a:r>
            <a:r>
              <a:rPr lang="ko-KR" altLang="en-US" sz="1400" dirty="0">
                <a:latin typeface="+mn-ea"/>
              </a:rPr>
              <a:t>은 주문 데이터를 관리하는 </a:t>
            </a:r>
            <a:r>
              <a:rPr lang="ko-KR" altLang="en-US" sz="1400" dirty="0" err="1">
                <a:latin typeface="+mn-ea"/>
              </a:rPr>
              <a:t>엔터티다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주문 중에서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정정 주문이 발생</a:t>
            </a:r>
            <a:r>
              <a:rPr lang="ko-KR" altLang="en-US" sz="1400" dirty="0">
                <a:latin typeface="+mn-ea"/>
              </a:rPr>
              <a:t>하면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원주문이 무엇인지를 재귀 관계로 관리</a:t>
            </a:r>
            <a:r>
              <a:rPr lang="ko-KR" altLang="en-US" sz="1400" dirty="0">
                <a:latin typeface="+mn-ea"/>
              </a:rPr>
              <a:t>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이처럼 어떤 주문에 대해서 참조할만한 주문이 있을 때 재귀 관계가 발생한다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이런 재귀 관계는 광범위하게 사용된다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여전히 많은 사람이 재귀관계를 꺼리는 것이 사실이지만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재귀 관계는 매우 유용하게 사용할 수 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사용하기 어려울 것 같다는 선입관만 없앤다면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실무에서 주요하게 사용될 수 있는 모델링 기법</a:t>
            </a:r>
            <a:r>
              <a:rPr lang="ko-KR" altLang="en-US" sz="1400" dirty="0">
                <a:latin typeface="+mn-ea"/>
              </a:rPr>
              <a:t>이다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B926E9F-B0AC-D35D-289B-17FA61577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920" y="2693577"/>
            <a:ext cx="1686160" cy="139084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4B9B40-035F-FB16-2D29-7C01480194A4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재귀 관계 </a:t>
            </a:r>
            <a:r>
              <a:rPr lang="en-US" altLang="ko-KR" sz="2400" b="1" dirty="0">
                <a:latin typeface="+mn-ea"/>
              </a:rPr>
              <a:t>– </a:t>
            </a:r>
            <a:r>
              <a:rPr lang="ko-KR" altLang="en-US" sz="2400" b="1" dirty="0">
                <a:latin typeface="+mn-ea"/>
              </a:rPr>
              <a:t>자기 참조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19FC64-102E-92C0-181A-71FD77B0F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2462398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재귀 관계도 일반 관계와 마찬가지로 일대일</a:t>
            </a:r>
            <a:r>
              <a:rPr lang="en-US" altLang="ko-KR" sz="1400" dirty="0">
                <a:latin typeface="+mn-ea"/>
              </a:rPr>
              <a:t>(1:1) </a:t>
            </a:r>
            <a:r>
              <a:rPr lang="ko-KR" altLang="en-US" sz="1400" dirty="0">
                <a:latin typeface="+mn-ea"/>
              </a:rPr>
              <a:t>관계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일대다</a:t>
            </a:r>
            <a:r>
              <a:rPr lang="en-US" altLang="ko-KR" sz="1400" dirty="0">
                <a:latin typeface="+mn-ea"/>
              </a:rPr>
              <a:t>(1:M) </a:t>
            </a:r>
            <a:r>
              <a:rPr lang="ko-KR" altLang="en-US" sz="1400" dirty="0">
                <a:latin typeface="+mn-ea"/>
              </a:rPr>
              <a:t>관계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다대다</a:t>
            </a:r>
            <a:r>
              <a:rPr lang="en-US" altLang="ko-KR" sz="1400" dirty="0">
                <a:latin typeface="+mn-ea"/>
              </a:rPr>
              <a:t>(M:M) </a:t>
            </a:r>
            <a:r>
              <a:rPr lang="ko-KR" altLang="en-US" sz="1400" dirty="0">
                <a:latin typeface="+mn-ea"/>
              </a:rPr>
              <a:t>관계가  존재한다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다대다</a:t>
            </a:r>
            <a:r>
              <a:rPr lang="en-US" altLang="ko-KR" sz="1400" dirty="0">
                <a:latin typeface="+mn-ea"/>
              </a:rPr>
              <a:t>(M:M) </a:t>
            </a:r>
            <a:r>
              <a:rPr lang="ko-KR" altLang="en-US" sz="1400" dirty="0">
                <a:latin typeface="+mn-ea"/>
              </a:rPr>
              <a:t>재귀 관계를 해소하면 교차 </a:t>
            </a:r>
            <a:r>
              <a:rPr lang="ko-KR" altLang="en-US" sz="1400" dirty="0" err="1">
                <a:latin typeface="+mn-ea"/>
              </a:rPr>
              <a:t>엔터티가</a:t>
            </a:r>
            <a:r>
              <a:rPr lang="ko-KR" altLang="en-US" sz="1400" dirty="0">
                <a:latin typeface="+mn-ea"/>
              </a:rPr>
              <a:t> 생기는데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이를 특별히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BOM(Bill Of Materials)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모델</a:t>
            </a:r>
            <a:r>
              <a:rPr lang="ko-KR" altLang="en-US" sz="1400" dirty="0">
                <a:latin typeface="+mn-ea"/>
              </a:rPr>
              <a:t>이라고 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u="sng" dirty="0">
                <a:latin typeface="+mn-ea"/>
              </a:rPr>
              <a:t>일대일 재귀 관계</a:t>
            </a:r>
            <a:endParaRPr lang="en-US" altLang="ko-KR" sz="1400" b="1" u="sng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일대일</a:t>
            </a:r>
            <a:r>
              <a:rPr lang="en-US" altLang="ko-KR" sz="1200" dirty="0">
                <a:latin typeface="+mn-ea"/>
              </a:rPr>
              <a:t>(1:1) </a:t>
            </a:r>
            <a:r>
              <a:rPr lang="ko-KR" altLang="en-US" sz="1200" dirty="0">
                <a:latin typeface="+mn-ea"/>
              </a:rPr>
              <a:t>재귀 관계는 실무에서 자주 발생하지 않는다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흔히 인용되는 예제가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5.129]</a:t>
            </a:r>
            <a:r>
              <a:rPr lang="ko-KR" altLang="en-US" sz="1200" dirty="0">
                <a:latin typeface="+mn-ea"/>
              </a:rPr>
              <a:t>와 같이 배우자를 관리하는 모델이다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u="sng" dirty="0">
                <a:latin typeface="+mn-ea"/>
              </a:rPr>
              <a:t>일대다 재귀 관계</a:t>
            </a:r>
            <a:endParaRPr lang="en-US" altLang="ko-KR" sz="1400" b="1" u="sng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일대다</a:t>
            </a:r>
            <a:r>
              <a:rPr lang="en-US" altLang="ko-KR" sz="1200" dirty="0">
                <a:latin typeface="+mn-ea"/>
              </a:rPr>
              <a:t>(1:M) </a:t>
            </a:r>
            <a:r>
              <a:rPr lang="ko-KR" altLang="en-US" sz="1200" dirty="0">
                <a:latin typeface="+mn-ea"/>
              </a:rPr>
              <a:t>재귀 관계가 가장 일반적이다</a:t>
            </a:r>
            <a:r>
              <a:rPr lang="en-US" altLang="ko-KR" sz="1200" dirty="0">
                <a:latin typeface="+mn-ea"/>
              </a:rPr>
              <a:t>. 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5.130]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200" dirty="0" err="1">
                <a:latin typeface="+mn-ea"/>
              </a:rPr>
              <a:t>엔터티의</a:t>
            </a:r>
            <a:r>
              <a:rPr lang="ko-KR" altLang="en-US" sz="1200" dirty="0">
                <a:latin typeface="+mn-ea"/>
              </a:rPr>
              <a:t> 상위사원번호 속성은 일대다</a:t>
            </a:r>
            <a:r>
              <a:rPr lang="en-US" altLang="ko-KR" sz="1200" dirty="0">
                <a:latin typeface="+mn-ea"/>
              </a:rPr>
              <a:t>(1:M) </a:t>
            </a:r>
            <a:r>
              <a:rPr lang="ko-KR" altLang="en-US" sz="1200" dirty="0">
                <a:latin typeface="+mn-ea"/>
              </a:rPr>
              <a:t>재귀 관계를 나타낸다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다대다 재귀 관계</a:t>
            </a:r>
            <a:endParaRPr lang="en-US" altLang="ko-KR" b="1" u="sng" dirty="0">
              <a:solidFill>
                <a:srgbClr val="FF0000"/>
              </a:solidFill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재귀 관계 중에서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다대다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(M:M)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관계가 발생하는 모델</a:t>
            </a:r>
            <a:r>
              <a:rPr lang="ko-KR" altLang="en-US" sz="1200" dirty="0">
                <a:latin typeface="+mn-ea"/>
              </a:rPr>
              <a:t>을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BOM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모델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이라고 </a:t>
            </a:r>
            <a:r>
              <a:rPr lang="ko-KR" altLang="en-US" sz="1200" dirty="0">
                <a:latin typeface="+mn-ea"/>
              </a:rPr>
              <a:t>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실무에서 </a:t>
            </a:r>
            <a:r>
              <a:rPr lang="en-US" altLang="ko-KR" sz="1200" dirty="0">
                <a:latin typeface="+mn-ea"/>
              </a:rPr>
              <a:t>BOM </a:t>
            </a:r>
            <a:r>
              <a:rPr lang="ko-KR" altLang="en-US" sz="1200" dirty="0">
                <a:latin typeface="+mn-ea"/>
              </a:rPr>
              <a:t>관계는 그다지 많이 발생하지 않는다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0784DCC-B2F1-B5D9-7D91-853D26B6D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707" y="2419850"/>
            <a:ext cx="1962424" cy="137179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9C42F9A-B99C-73ED-E192-36B834B8D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707" y="3791642"/>
            <a:ext cx="1838582" cy="140037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030553D-1673-2698-59C5-67C0B48EBD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8588" y="5058552"/>
            <a:ext cx="2857899" cy="96215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F012BA-7BF5-CC29-FB21-58A794387010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재귀 관계 </a:t>
            </a:r>
            <a:r>
              <a:rPr lang="en-US" altLang="ko-KR" sz="2400" b="1" dirty="0">
                <a:latin typeface="+mn-ea"/>
              </a:rPr>
              <a:t>– </a:t>
            </a:r>
            <a:r>
              <a:rPr lang="ko-KR" altLang="en-US" sz="2400" b="1" dirty="0" err="1">
                <a:latin typeface="+mn-ea"/>
              </a:rPr>
              <a:t>관계비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(1/2)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C0010A1-276F-B320-3FAA-C7C5E9B63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192854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u="sng" dirty="0">
                <a:latin typeface="+mn-ea"/>
              </a:rPr>
              <a:t>다대다 재귀 관계 </a:t>
            </a:r>
            <a:r>
              <a:rPr lang="en-US" altLang="ko-KR" sz="1600" b="1" u="sng" dirty="0">
                <a:latin typeface="+mn-ea"/>
              </a:rPr>
              <a:t>(</a:t>
            </a:r>
            <a:r>
              <a:rPr lang="ko-KR" altLang="en-US" sz="1600" b="1" u="sng" dirty="0">
                <a:latin typeface="+mn-ea"/>
              </a:rPr>
              <a:t>계속</a:t>
            </a:r>
            <a:r>
              <a:rPr lang="en-US" altLang="ko-KR" sz="1600" b="1" u="sng" dirty="0">
                <a:latin typeface="+mn-ea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다대다</a:t>
            </a:r>
            <a:r>
              <a:rPr lang="en-US" altLang="ko-KR" sz="1400" dirty="0">
                <a:latin typeface="+mn-ea"/>
              </a:rPr>
              <a:t>(M:M) </a:t>
            </a:r>
            <a:r>
              <a:rPr lang="ko-KR" altLang="en-US" sz="1400" dirty="0">
                <a:latin typeface="+mn-ea"/>
              </a:rPr>
              <a:t>재귀 관계는 </a:t>
            </a:r>
            <a:r>
              <a:rPr lang="en-US" altLang="ko-KR" sz="1400" dirty="0">
                <a:latin typeface="+mn-ea"/>
              </a:rPr>
              <a:t>BOM </a:t>
            </a:r>
            <a:r>
              <a:rPr lang="ko-KR" altLang="en-US" sz="1400" dirty="0">
                <a:latin typeface="+mn-ea"/>
              </a:rPr>
              <a:t>모델보다 역할</a:t>
            </a:r>
            <a:r>
              <a:rPr lang="en-US" altLang="ko-KR" sz="1400" dirty="0">
                <a:latin typeface="+mn-ea"/>
              </a:rPr>
              <a:t>(Role)</a:t>
            </a:r>
            <a:r>
              <a:rPr lang="ko-KR" altLang="en-US" sz="1400" dirty="0">
                <a:latin typeface="+mn-ea"/>
              </a:rPr>
              <a:t>을 관리하는 모델에서 주로 발생한다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5.132] </a:t>
            </a:r>
            <a:r>
              <a:rPr lang="ko-KR" altLang="en-US" sz="1400" dirty="0">
                <a:latin typeface="+mn-ea"/>
              </a:rPr>
              <a:t>모델에서  ‘홍길동’ 사원의 관계 사원은 여러 명이다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또한 ‘홍길동’ 사원은 다른 사원의 관계 사원이 될 수 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5.132] </a:t>
            </a:r>
            <a:r>
              <a:rPr lang="ko-KR" altLang="en-US" sz="1400" dirty="0">
                <a:latin typeface="+mn-ea"/>
              </a:rPr>
              <a:t>모델에서 재귀 관계가 추후에 추가될 수 있다면，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5.133] </a:t>
            </a:r>
            <a:r>
              <a:rPr lang="ko-KR" altLang="en-US" sz="1400" dirty="0">
                <a:latin typeface="+mn-ea"/>
              </a:rPr>
              <a:t>모델과 같이 교차 </a:t>
            </a:r>
            <a:r>
              <a:rPr lang="ko-KR" altLang="en-US" sz="1400" dirty="0" err="1">
                <a:latin typeface="+mn-ea"/>
              </a:rPr>
              <a:t>엔터티를</a:t>
            </a:r>
            <a:r>
              <a:rPr lang="ko-KR" altLang="en-US" sz="1400" dirty="0">
                <a:latin typeface="+mn-ea"/>
              </a:rPr>
              <a:t> 사용해야 속성을 추가하지 않고 여러 관계를 관리할 수 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5.132] </a:t>
            </a:r>
            <a:r>
              <a:rPr lang="ko-KR" altLang="en-US" sz="1400" dirty="0">
                <a:latin typeface="+mn-ea"/>
              </a:rPr>
              <a:t>모델은 관계 사원이 하나일 때는 적절하지만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두 개 이상일 때는 적절하지 않은 모델이다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관계 사원이 늘어날 것을 대비해서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5.133] </a:t>
            </a:r>
            <a:r>
              <a:rPr lang="ko-KR" altLang="en-US" sz="1400" dirty="0">
                <a:latin typeface="+mn-ea"/>
              </a:rPr>
              <a:t>모델과 같이 설계해야 유연한 모델이다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재귀 관계 역시 대다수가 일대다</a:t>
            </a:r>
            <a:r>
              <a:rPr lang="en-US" altLang="ko-KR" sz="1400" dirty="0">
                <a:latin typeface="+mn-ea"/>
              </a:rPr>
              <a:t>0:M) </a:t>
            </a:r>
            <a:r>
              <a:rPr lang="ko-KR" altLang="en-US" sz="1400" dirty="0">
                <a:latin typeface="+mn-ea"/>
              </a:rPr>
              <a:t>관계다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다대다</a:t>
            </a:r>
            <a:r>
              <a:rPr lang="en-US" altLang="ko-KR" sz="1400" dirty="0">
                <a:latin typeface="+mn-ea"/>
              </a:rPr>
              <a:t>(M:M) </a:t>
            </a:r>
            <a:r>
              <a:rPr lang="ko-KR" altLang="en-US" sz="1400" dirty="0">
                <a:latin typeface="+mn-ea"/>
              </a:rPr>
              <a:t>관계인 </a:t>
            </a:r>
            <a:r>
              <a:rPr lang="en-US" altLang="ko-KR" sz="1400" dirty="0">
                <a:latin typeface="+mn-ea"/>
              </a:rPr>
              <a:t>BOM </a:t>
            </a:r>
            <a:r>
              <a:rPr lang="ko-KR" altLang="en-US" sz="1400" dirty="0">
                <a:latin typeface="+mn-ea"/>
              </a:rPr>
              <a:t>모델은 관계나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역할을 관리하는 모델</a:t>
            </a:r>
            <a:r>
              <a:rPr lang="ko-KR" altLang="en-US" sz="1400" dirty="0">
                <a:latin typeface="+mn-ea"/>
              </a:rPr>
              <a:t>에서 주로 볼 수 있다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6160C3A-BDAE-DA25-8A0E-802F400ED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239" y="2857178"/>
            <a:ext cx="2114845" cy="213389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222FF50-7C38-8718-E833-EDE514739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672" y="3257284"/>
            <a:ext cx="2934109" cy="17337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4AE596-7267-7907-2E1E-3425B4E65DF6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재귀 관계 </a:t>
            </a:r>
            <a:r>
              <a:rPr lang="en-US" altLang="ko-KR" sz="2400" b="1" dirty="0">
                <a:latin typeface="+mn-ea"/>
              </a:rPr>
              <a:t>– </a:t>
            </a:r>
            <a:r>
              <a:rPr lang="ko-KR" altLang="en-US" sz="2400" b="1" dirty="0" err="1">
                <a:latin typeface="+mn-ea"/>
              </a:rPr>
              <a:t>관계비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(2/2)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2CC5DA-D5AD-2EA3-5F63-C3B311F8F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9446618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계층 데이터를 관리하는 재귀 관계에서 최상위 데이터는 업무적으로 널이어야 하지만 최적의 조회</a:t>
            </a:r>
            <a:r>
              <a:rPr lang="en-US" altLang="ko-KR" sz="1400" b="1" dirty="0">
                <a:latin typeface="+mn-ea"/>
              </a:rPr>
              <a:t> </a:t>
            </a:r>
            <a:r>
              <a:rPr lang="ko-KR" altLang="en-US" sz="1400" b="1" dirty="0">
                <a:latin typeface="+mn-ea"/>
              </a:rPr>
              <a:t>성능을 위해 임의의 값을 등록해서 사용한다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최상위 부서에 대한 상위 부서는 없기 때문에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5.134] </a:t>
            </a:r>
            <a:r>
              <a:rPr lang="ko-KR" altLang="en-US" sz="1400" b="1" dirty="0">
                <a:latin typeface="+mn-ea"/>
              </a:rPr>
              <a:t>부서 </a:t>
            </a:r>
            <a:r>
              <a:rPr lang="ko-KR" altLang="en-US" sz="1400" b="1" dirty="0" err="1">
                <a:latin typeface="+mn-ea"/>
              </a:rPr>
              <a:t>엔터티에서</a:t>
            </a:r>
            <a:r>
              <a:rPr lang="ko-KR" altLang="en-US" sz="1400" b="1" dirty="0">
                <a:latin typeface="+mn-ea"/>
              </a:rPr>
              <a:t>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재귀 관계</a:t>
            </a:r>
            <a:r>
              <a:rPr lang="ko-KR" altLang="en-US" sz="1400" b="1" dirty="0">
                <a:latin typeface="+mn-ea"/>
              </a:rPr>
              <a:t>를 관리하는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상위부서번호 속성은 널이 허용돼야</a:t>
            </a:r>
            <a:r>
              <a:rPr lang="ko-KR" altLang="en-US" sz="1400" b="1" dirty="0">
                <a:latin typeface="+mn-ea"/>
              </a:rPr>
              <a:t> 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상위부서번호 속성 왼쪽의 작은 동그라미</a:t>
            </a:r>
            <a:r>
              <a:rPr lang="ko-KR" altLang="en-US" sz="1400" b="1" dirty="0">
                <a:latin typeface="+mn-ea"/>
              </a:rPr>
              <a:t>가 이를 의미한다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가상의 인스턴스를 추가하면 위의 쿼리에서 </a:t>
            </a:r>
            <a:r>
              <a:rPr lang="en-US" altLang="ko-KR" sz="1400" b="1" dirty="0">
                <a:latin typeface="+mn-ea"/>
              </a:rPr>
              <a:t>“ START  WITH </a:t>
            </a:r>
            <a:r>
              <a:rPr lang="ko-KR" altLang="en-US" sz="1400" b="1" dirty="0">
                <a:latin typeface="+mn-ea"/>
              </a:rPr>
              <a:t>상위부서번호 </a:t>
            </a:r>
            <a:r>
              <a:rPr lang="en-US" altLang="ko-KR" sz="1400" b="1" dirty="0">
                <a:latin typeface="+mn-ea"/>
              </a:rPr>
              <a:t>= ‘000’ ” </a:t>
            </a:r>
            <a:r>
              <a:rPr lang="ko-KR" altLang="en-US" sz="1400" b="1" dirty="0">
                <a:latin typeface="+mn-ea"/>
              </a:rPr>
              <a:t>과 같은 구문을 사용할 수 있어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인덱스를 효율적으로 사용할 수 있게 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무엇보다 재귀 관계를 참조 무결성</a:t>
            </a:r>
            <a:r>
              <a:rPr lang="en-US" altLang="ko-KR" sz="1400" b="1" dirty="0">
                <a:latin typeface="+mn-ea"/>
              </a:rPr>
              <a:t>(RI) </a:t>
            </a:r>
            <a:r>
              <a:rPr lang="ko-KR" altLang="en-US" sz="1400" b="1" dirty="0">
                <a:latin typeface="+mn-ea"/>
              </a:rPr>
              <a:t>제약으로 구현할 수 있으므로 데이터 무결성도 높일 수 있다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5618A7E-18E0-833A-FD0C-6859B3EE4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434" y="3444463"/>
            <a:ext cx="1848108" cy="1419423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193F99C4-0AC6-221A-AF14-A786ED2744ED}"/>
              </a:ext>
            </a:extLst>
          </p:cNvPr>
          <p:cNvSpPr/>
          <p:nvPr/>
        </p:nvSpPr>
        <p:spPr>
          <a:xfrm>
            <a:off x="5865039" y="4389135"/>
            <a:ext cx="244444" cy="24444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4D905EA-1C13-F405-05BC-2807A57787E8}"/>
              </a:ext>
            </a:extLst>
          </p:cNvPr>
          <p:cNvSpPr/>
          <p:nvPr/>
        </p:nvSpPr>
        <p:spPr>
          <a:xfrm>
            <a:off x="1326334" y="2397968"/>
            <a:ext cx="3334876" cy="2146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BB0FF733-4D29-401C-2EC1-9E492163E469}"/>
              </a:ext>
            </a:extLst>
          </p:cNvPr>
          <p:cNvCxnSpPr>
            <a:cxnSpLocks/>
            <a:stCxn id="13" idx="3"/>
            <a:endCxn id="5" idx="0"/>
          </p:cNvCxnSpPr>
          <p:nvPr/>
        </p:nvCxnSpPr>
        <p:spPr>
          <a:xfrm>
            <a:off x="4661210" y="2505271"/>
            <a:ext cx="1326051" cy="188386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3F56AC97-2F4B-93D0-882D-DEDA5DBBF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064" y="2834778"/>
            <a:ext cx="2800741" cy="2029108"/>
          </a:xfrm>
          <a:prstGeom prst="rect">
            <a:avLst/>
          </a:prstGeom>
        </p:spPr>
      </p:pic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EA8A508-E62E-F6E9-F2F7-180428A7D974}"/>
              </a:ext>
            </a:extLst>
          </p:cNvPr>
          <p:cNvSpPr/>
          <p:nvPr/>
        </p:nvSpPr>
        <p:spPr>
          <a:xfrm>
            <a:off x="3591204" y="3231430"/>
            <a:ext cx="708094" cy="156176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AC40AB71-0A68-8C3D-0F72-5B9A0EF1C0B8}"/>
              </a:ext>
            </a:extLst>
          </p:cNvPr>
          <p:cNvCxnSpPr>
            <a:cxnSpLocks/>
            <a:stCxn id="5" idx="2"/>
            <a:endCxn id="24" idx="3"/>
          </p:cNvCxnSpPr>
          <p:nvPr/>
        </p:nvCxnSpPr>
        <p:spPr>
          <a:xfrm rot="10800000">
            <a:off x="4299299" y="3309519"/>
            <a:ext cx="1565741" cy="120183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그림 46">
            <a:extLst>
              <a:ext uri="{FF2B5EF4-FFF2-40B4-BE49-F238E27FC236}">
                <a16:creationId xmlns:a16="http://schemas.microsoft.com/office/drawing/2014/main" id="{594D71F1-16E1-1E49-6A2E-2AEBA2CB0B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650" y="2931059"/>
            <a:ext cx="2800741" cy="1933845"/>
          </a:xfrm>
          <a:prstGeom prst="rect">
            <a:avLst/>
          </a:prstGeom>
        </p:spPr>
      </p:pic>
      <p:sp>
        <p:nvSpPr>
          <p:cNvPr id="52" name="직사각형 51">
            <a:extLst>
              <a:ext uri="{FF2B5EF4-FFF2-40B4-BE49-F238E27FC236}">
                <a16:creationId xmlns:a16="http://schemas.microsoft.com/office/drawing/2014/main" id="{980FBAA1-3459-F4CF-0EAE-E6A3D3F7144D}"/>
              </a:ext>
            </a:extLst>
          </p:cNvPr>
          <p:cNvSpPr/>
          <p:nvPr/>
        </p:nvSpPr>
        <p:spPr>
          <a:xfrm>
            <a:off x="4750420" y="5521802"/>
            <a:ext cx="3262713" cy="2951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55688DB0-8ABD-A87E-2838-E14B563DD765}"/>
              </a:ext>
            </a:extLst>
          </p:cNvPr>
          <p:cNvSpPr/>
          <p:nvPr/>
        </p:nvSpPr>
        <p:spPr>
          <a:xfrm>
            <a:off x="10082536" y="3351394"/>
            <a:ext cx="613718" cy="116086"/>
          </a:xfrm>
          <a:prstGeom prst="roundRect">
            <a:avLst>
              <a:gd name="adj" fmla="val 7165"/>
            </a:avLst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466455-6F40-E620-242A-419BF2BC568A}"/>
              </a:ext>
            </a:extLst>
          </p:cNvPr>
          <p:cNvSpPr txBox="1"/>
          <p:nvPr/>
        </p:nvSpPr>
        <p:spPr>
          <a:xfrm>
            <a:off x="10195508" y="3286326"/>
            <a:ext cx="419964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000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AB209FBD-C486-A841-E26F-0451D210165E}"/>
              </a:ext>
            </a:extLst>
          </p:cNvPr>
          <p:cNvCxnSpPr>
            <a:cxnSpLocks/>
            <a:stCxn id="52" idx="3"/>
            <a:endCxn id="56" idx="3"/>
          </p:cNvCxnSpPr>
          <p:nvPr/>
        </p:nvCxnSpPr>
        <p:spPr>
          <a:xfrm flipV="1">
            <a:off x="8013133" y="3409437"/>
            <a:ext cx="2602339" cy="2259918"/>
          </a:xfrm>
          <a:prstGeom prst="bentConnector3">
            <a:avLst>
              <a:gd name="adj1" fmla="val 1087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7DBA285-7A17-144D-D52E-E36159720708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재귀 관계 </a:t>
            </a:r>
            <a:r>
              <a:rPr lang="en-US" altLang="ko-KR" sz="2400" b="1" dirty="0">
                <a:latin typeface="+mn-ea"/>
              </a:rPr>
              <a:t>– </a:t>
            </a:r>
            <a:r>
              <a:rPr lang="ko-KR" altLang="en-US" sz="2400" b="1" dirty="0">
                <a:latin typeface="+mn-ea"/>
              </a:rPr>
              <a:t>데이터 발생 규칙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8D9E856-3862-591F-080A-B8E60D0D1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4537194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어떤 분류를 대</a:t>
            </a:r>
            <a:r>
              <a:rPr lang="en-US" altLang="ko-KR" sz="1400" b="1" dirty="0">
                <a:latin typeface="+mn-ea"/>
              </a:rPr>
              <a:t>•</a:t>
            </a:r>
            <a:r>
              <a:rPr lang="ko-KR" altLang="en-US" sz="1400" b="1" dirty="0">
                <a:latin typeface="+mn-ea"/>
              </a:rPr>
              <a:t>중</a:t>
            </a:r>
            <a:r>
              <a:rPr lang="en-US" altLang="ko-KR" sz="1400" b="1" dirty="0">
                <a:latin typeface="+mn-ea"/>
              </a:rPr>
              <a:t>•</a:t>
            </a:r>
            <a:r>
              <a:rPr lang="ko-KR" altLang="en-US" sz="1400" b="1" dirty="0">
                <a:latin typeface="+mn-ea"/>
              </a:rPr>
              <a:t>소 계층으로 관리하는 모델은 자주 사용된다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이런 모델은 재귀 관계를 기반으로 하거나</a:t>
            </a:r>
            <a:r>
              <a:rPr lang="en-US" altLang="ko-KR" sz="1400" b="1" dirty="0">
                <a:latin typeface="+mn-ea"/>
              </a:rPr>
              <a:t>,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주 식별자 값에 체계를 부여하여 관리하면 효율적으로 관리할 수 있다</a:t>
            </a:r>
            <a:r>
              <a:rPr lang="en-US" altLang="ko-KR" sz="1400" b="1" dirty="0">
                <a:latin typeface="+mn-ea"/>
              </a:rPr>
              <a:t>. 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5.137]</a:t>
            </a:r>
            <a:r>
              <a:rPr lang="ko-KR" altLang="en-US" sz="1400" b="1" dirty="0">
                <a:latin typeface="+mn-ea"/>
              </a:rPr>
              <a:t> 실무에서 자주 등장하는 분류 계층 모델이다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5.13</a:t>
            </a:r>
            <a:r>
              <a:rPr lang="ko-KR" altLang="en-US" sz="1400" dirty="0">
                <a:latin typeface="+mn-ea"/>
              </a:rPr>
              <a:t>기 모델 은 단순해 보이지만 사용 하기에는 불편하다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조인도 많이 발생</a:t>
            </a:r>
            <a:r>
              <a:rPr lang="ko-KR" altLang="en-US" sz="1400" dirty="0">
                <a:latin typeface="+mn-ea"/>
              </a:rPr>
              <a:t>하지만 여러 요건에 대한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조회 쿼리를 작성하기 쉽지 않다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이와 같은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분류계층구조모델은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“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재귀 관계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”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를 사용</a:t>
            </a:r>
            <a:r>
              <a:rPr lang="ko-KR" altLang="en-US" sz="1400" dirty="0">
                <a:latin typeface="+mn-ea"/>
              </a:rPr>
              <a:t>하거나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코드 체계를 사용하면 효율적인 모델</a:t>
            </a:r>
            <a:r>
              <a:rPr lang="ko-KR" altLang="en-US" sz="1400" dirty="0">
                <a:latin typeface="+mn-ea"/>
              </a:rPr>
              <a:t>이 된다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분류 계층 모델 </a:t>
            </a:r>
            <a:r>
              <a:rPr lang="en-US" altLang="ko-KR" sz="2400" b="1" dirty="0">
                <a:latin typeface="+mn-ea"/>
              </a:rPr>
              <a:t>(1/4)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34F2EF3-4452-EEAE-E7A2-BC475F752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944" y="3693722"/>
            <a:ext cx="1524213" cy="261974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3DDBEB0-5BF8-BA55-15D5-7F4F62610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9736" y="3052116"/>
            <a:ext cx="1638529" cy="80021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51BBBB6-C5DE-A6DD-2CDC-367023753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4483" y="3052116"/>
            <a:ext cx="2305372" cy="94310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0B21CDA-04CA-833E-B970-B72FBD6B7C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7021" y="3052116"/>
            <a:ext cx="2343477" cy="1467055"/>
          </a:xfrm>
          <a:prstGeom prst="rect">
            <a:avLst/>
          </a:prstGeom>
        </p:spPr>
      </p:pic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C7096DD-6D2C-D6B1-CB7E-3935C45F4F09}"/>
              </a:ext>
            </a:extLst>
          </p:cNvPr>
          <p:cNvSpPr/>
          <p:nvPr/>
        </p:nvSpPr>
        <p:spPr>
          <a:xfrm>
            <a:off x="2443007" y="3767923"/>
            <a:ext cx="1160277" cy="532465"/>
          </a:xfrm>
          <a:prstGeom prst="roundRect">
            <a:avLst>
              <a:gd name="adj" fmla="val 7165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E6F3807-AADF-9CC2-90D9-6040D993968C}"/>
              </a:ext>
            </a:extLst>
          </p:cNvPr>
          <p:cNvSpPr/>
          <p:nvPr/>
        </p:nvSpPr>
        <p:spPr>
          <a:xfrm>
            <a:off x="2334067" y="4508607"/>
            <a:ext cx="1395966" cy="651862"/>
          </a:xfrm>
          <a:prstGeom prst="roundRect">
            <a:avLst>
              <a:gd name="adj" fmla="val 7165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D44AD42-0BA4-DC52-3E34-AE76456E61AA}"/>
              </a:ext>
            </a:extLst>
          </p:cNvPr>
          <p:cNvSpPr/>
          <p:nvPr/>
        </p:nvSpPr>
        <p:spPr>
          <a:xfrm>
            <a:off x="2334067" y="5394340"/>
            <a:ext cx="1395966" cy="651862"/>
          </a:xfrm>
          <a:prstGeom prst="roundRect">
            <a:avLst>
              <a:gd name="adj" fmla="val 7165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BEC1BFA3-B77B-C62F-E1B4-4A16AEFDC2A9}"/>
              </a:ext>
            </a:extLst>
          </p:cNvPr>
          <p:cNvCxnSpPr>
            <a:cxnSpLocks/>
            <a:stCxn id="18" idx="3"/>
            <a:endCxn id="11" idx="2"/>
          </p:cNvCxnSpPr>
          <p:nvPr/>
        </p:nvCxnSpPr>
        <p:spPr>
          <a:xfrm flipV="1">
            <a:off x="3603284" y="3852328"/>
            <a:ext cx="1195717" cy="181828"/>
          </a:xfrm>
          <a:prstGeom prst="bent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201C54FD-4F4B-C7AC-6D6D-8845C2D9BBCE}"/>
              </a:ext>
            </a:extLst>
          </p:cNvPr>
          <p:cNvCxnSpPr>
            <a:cxnSpLocks/>
            <a:stCxn id="19" idx="3"/>
            <a:endCxn id="14" idx="2"/>
          </p:cNvCxnSpPr>
          <p:nvPr/>
        </p:nvCxnSpPr>
        <p:spPr>
          <a:xfrm flipV="1">
            <a:off x="3730033" y="3995223"/>
            <a:ext cx="3077136" cy="839315"/>
          </a:xfrm>
          <a:prstGeom prst="bent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8F1EAC0C-AAEC-AA8B-43E0-0C06E91795C2}"/>
              </a:ext>
            </a:extLst>
          </p:cNvPr>
          <p:cNvCxnSpPr>
            <a:cxnSpLocks/>
            <a:stCxn id="21" idx="3"/>
            <a:endCxn id="17" idx="2"/>
          </p:cNvCxnSpPr>
          <p:nvPr/>
        </p:nvCxnSpPr>
        <p:spPr>
          <a:xfrm flipV="1">
            <a:off x="3730033" y="4519171"/>
            <a:ext cx="5428727" cy="1201100"/>
          </a:xfrm>
          <a:prstGeom prst="bent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1128282-72C4-9775-EC9F-CA4B44B34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232</a:t>
            </a:fld>
            <a:endParaRPr lang="ko-KR" altLang="en-US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3AAFCA8-E4E6-48CD-8CFD-7597C6BDADD8}"/>
              </a:ext>
            </a:extLst>
          </p:cNvPr>
          <p:cNvSpPr/>
          <p:nvPr/>
        </p:nvSpPr>
        <p:spPr>
          <a:xfrm>
            <a:off x="2177016" y="3588241"/>
            <a:ext cx="1728119" cy="2861591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BDF559-62BD-4DE3-A450-E8A9688D728C}"/>
              </a:ext>
            </a:extLst>
          </p:cNvPr>
          <p:cNvSpPr txBox="1"/>
          <p:nvPr/>
        </p:nvSpPr>
        <p:spPr>
          <a:xfrm>
            <a:off x="1626468" y="3275111"/>
            <a:ext cx="19255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</a:rPr>
              <a:t>바람직하지 않은 모델</a:t>
            </a:r>
          </a:p>
        </p:txBody>
      </p:sp>
    </p:spTree>
    <p:extLst>
      <p:ext uri="{BB962C8B-B14F-4D97-AF65-F5344CB8AC3E}">
        <p14:creationId xmlns:p14="http://schemas.microsoft.com/office/powerpoint/2010/main" val="2767066012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5.139] </a:t>
            </a:r>
            <a:r>
              <a:rPr lang="ko-KR" altLang="en-US" sz="1400" dirty="0">
                <a:latin typeface="+mn-ea"/>
              </a:rPr>
              <a:t>모델은 </a:t>
            </a:r>
            <a:r>
              <a:rPr lang="ko-KR" altLang="en-US" sz="1400" b="1" u="sng" dirty="0">
                <a:latin typeface="+mn-ea"/>
              </a:rPr>
              <a:t>재귀관계를 사용한 모델</a:t>
            </a:r>
            <a:r>
              <a:rPr lang="ko-KR" altLang="en-US" sz="1400" dirty="0">
                <a:latin typeface="+mn-ea"/>
              </a:rPr>
              <a:t>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상위상품분류를 쫓아 올라가면 계층 체계를 알 수 있는 일반적인 재귀 관계 모델이다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이에 대한 릴레이션은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5.14</a:t>
            </a:r>
            <a:r>
              <a:rPr lang="ko-KR" altLang="en-US" sz="1400" dirty="0">
                <a:latin typeface="+mn-ea"/>
              </a:rPr>
              <a:t>이과 같다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상품분류번호 ‘</a:t>
            </a:r>
            <a:r>
              <a:rPr lang="en-US" altLang="ko-KR" sz="1400" dirty="0">
                <a:latin typeface="+mn-ea"/>
              </a:rPr>
              <a:t>06’</a:t>
            </a:r>
            <a:r>
              <a:rPr lang="ko-KR" altLang="en-US" sz="1400" dirty="0">
                <a:latin typeface="+mn-ea"/>
              </a:rPr>
              <a:t>의 상위상품분류번호는 ‘</a:t>
            </a:r>
            <a:r>
              <a:rPr lang="en-US" altLang="ko-KR" sz="1400" dirty="0">
                <a:latin typeface="+mn-ea"/>
              </a:rPr>
              <a:t>03’</a:t>
            </a:r>
            <a:r>
              <a:rPr lang="ko-KR" altLang="en-US" sz="1400" dirty="0">
                <a:latin typeface="+mn-ea"/>
              </a:rPr>
              <a:t>이며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이에 대한 상위상품분류번호는 ‘</a:t>
            </a:r>
            <a:r>
              <a:rPr lang="en-US" altLang="ko-KR" sz="1400" dirty="0">
                <a:latin typeface="+mn-ea"/>
              </a:rPr>
              <a:t>01’</a:t>
            </a:r>
            <a:r>
              <a:rPr lang="ko-KR" altLang="en-US" sz="1400" dirty="0">
                <a:latin typeface="+mn-ea"/>
              </a:rPr>
              <a:t>이다</a:t>
            </a:r>
            <a:r>
              <a:rPr lang="en-US" altLang="ko-KR" sz="1400" dirty="0">
                <a:latin typeface="+mn-ea"/>
              </a:rPr>
              <a:t>. ‘01’</a:t>
            </a:r>
            <a:r>
              <a:rPr lang="ko-KR" altLang="en-US" sz="1400" dirty="0">
                <a:latin typeface="+mn-ea"/>
              </a:rPr>
              <a:t>에 대한 상위상품분류번호는 널 값이다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5.139]</a:t>
            </a:r>
            <a:r>
              <a:rPr lang="ko-KR" altLang="en-US" sz="1400" dirty="0">
                <a:latin typeface="+mn-ea"/>
              </a:rPr>
              <a:t> 모델은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계층 구조가 가변적이라면 사용해야 하는 모델</a:t>
            </a:r>
            <a:r>
              <a:rPr lang="ko-KR" altLang="en-US" sz="1400" dirty="0">
                <a:latin typeface="+mn-ea"/>
              </a:rPr>
              <a:t>이다</a:t>
            </a:r>
            <a:r>
              <a:rPr lang="en-US" altLang="ko-KR" sz="1400" dirty="0">
                <a:latin typeface="+mn-ea"/>
              </a:rPr>
              <a:t>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CB11A2-8437-D931-B363-F9B99030F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023" y="5014584"/>
            <a:ext cx="2143424" cy="129558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1DFD85A-6ED8-1005-8B5C-1C0C84D9A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719003"/>
            <a:ext cx="2362530" cy="259116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79C6B75-3798-E8BD-942A-A54249E1D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3267" y="2824280"/>
            <a:ext cx="1368158" cy="2351521"/>
          </a:xfrm>
          <a:prstGeom prst="rect">
            <a:avLst/>
          </a:prstGeom>
        </p:spPr>
      </p:pic>
      <p:cxnSp>
        <p:nvCxnSpPr>
          <p:cNvPr id="13" name="연결선: 구부러짐 12">
            <a:extLst>
              <a:ext uri="{FF2B5EF4-FFF2-40B4-BE49-F238E27FC236}">
                <a16:creationId xmlns:a16="http://schemas.microsoft.com/office/drawing/2014/main" id="{D10F3EEA-C560-4223-425A-D5E2B5CABEBD}"/>
              </a:ext>
            </a:extLst>
          </p:cNvPr>
          <p:cNvCxnSpPr>
            <a:cxnSpLocks/>
            <a:stCxn id="21" idx="2"/>
            <a:endCxn id="18" idx="1"/>
          </p:cNvCxnSpPr>
          <p:nvPr/>
        </p:nvCxnSpPr>
        <p:spPr>
          <a:xfrm rot="16200000" flipH="1">
            <a:off x="2863682" y="4914115"/>
            <a:ext cx="365334" cy="115513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1B030E01-B9A3-CDF0-1C30-633986B56537}"/>
              </a:ext>
            </a:extLst>
          </p:cNvPr>
          <p:cNvGrpSpPr/>
          <p:nvPr/>
        </p:nvGrpSpPr>
        <p:grpSpPr>
          <a:xfrm>
            <a:off x="8971022" y="2437572"/>
            <a:ext cx="2078896" cy="2248927"/>
            <a:chOff x="9182157" y="2014712"/>
            <a:chExt cx="2343477" cy="3210374"/>
          </a:xfrm>
        </p:grpSpPr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1CA0505E-F103-2A3D-1488-79C1CC5CE0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82157" y="2014712"/>
              <a:ext cx="1638529" cy="800212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0A0C2363-1AC5-7C3E-CD81-D15FFC06A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82157" y="2814924"/>
              <a:ext cx="2305372" cy="943107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0209E287-94B2-5185-67D9-60D0560B460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182157" y="3758031"/>
              <a:ext cx="2343477" cy="1467055"/>
            </a:xfrm>
            <a:prstGeom prst="rect">
              <a:avLst/>
            </a:prstGeom>
          </p:spPr>
        </p:pic>
      </p:grpSp>
      <p:cxnSp>
        <p:nvCxnSpPr>
          <p:cNvPr id="33" name="연결선: 구부러짐 32">
            <a:extLst>
              <a:ext uri="{FF2B5EF4-FFF2-40B4-BE49-F238E27FC236}">
                <a16:creationId xmlns:a16="http://schemas.microsoft.com/office/drawing/2014/main" id="{E836AC5E-F357-229B-1F51-ACA5E4B47121}"/>
              </a:ext>
            </a:extLst>
          </p:cNvPr>
          <p:cNvCxnSpPr>
            <a:cxnSpLocks/>
            <a:stCxn id="30" idx="2"/>
            <a:endCxn id="10" idx="3"/>
          </p:cNvCxnSpPr>
          <p:nvPr/>
        </p:nvCxnSpPr>
        <p:spPr>
          <a:xfrm rot="5400000">
            <a:off x="9070458" y="4074571"/>
            <a:ext cx="328085" cy="155194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366A99C-D3C5-228E-6D98-485099FA9CD4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분류 계층 모델 </a:t>
            </a:r>
            <a:r>
              <a:rPr lang="en-US" altLang="ko-KR" sz="2400" b="1" dirty="0">
                <a:latin typeface="+mn-ea"/>
              </a:rPr>
              <a:t>(2/4)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050EEF0-566D-8B2A-979E-099EA8922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233</a:t>
            </a:fld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B98ABE6-B7F6-4647-AD69-8C963B1A3B5B}"/>
              </a:ext>
            </a:extLst>
          </p:cNvPr>
          <p:cNvSpPr/>
          <p:nvPr/>
        </p:nvSpPr>
        <p:spPr>
          <a:xfrm>
            <a:off x="3623917" y="4991879"/>
            <a:ext cx="2362530" cy="1364941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899903D-B910-4E91-AC4C-1A4047AC7603}"/>
              </a:ext>
            </a:extLst>
          </p:cNvPr>
          <p:cNvSpPr/>
          <p:nvPr/>
        </p:nvSpPr>
        <p:spPr>
          <a:xfrm>
            <a:off x="1686094" y="2717853"/>
            <a:ext cx="1565373" cy="2591163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281946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 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[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그림 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5.139]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 모델은 계층 구조가 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“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가변적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”</a:t>
            </a:r>
            <a:r>
              <a:rPr lang="ko-KR" altLang="en-US" sz="1400" dirty="0">
                <a:latin typeface="+mn-ea"/>
              </a:rPr>
              <a:t>이라면 사용해야 하는 모델이다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반면에 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[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그림 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5.141]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은 계층 구조가 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“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고정적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”</a:t>
            </a:r>
            <a:r>
              <a:rPr lang="ko-KR" altLang="en-US" sz="1400" dirty="0">
                <a:latin typeface="+mn-ea"/>
              </a:rPr>
              <a:t>일 때 사용할 수 있는 모델이다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특정 상품분류에 대한 상위 상품분류는 중분류와 대분류로 고정돼 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이에 대한 릴레이션은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5.142] </a:t>
            </a:r>
            <a:r>
              <a:rPr lang="ko-KR" altLang="en-US" sz="1400" dirty="0">
                <a:latin typeface="+mn-ea"/>
              </a:rPr>
              <a:t>와 같다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 err="1">
                <a:latin typeface="+mn-ea"/>
              </a:rPr>
              <a:t>대분류상품분류번호</a:t>
            </a:r>
            <a:r>
              <a:rPr lang="ko-KR" altLang="en-US" sz="1400" dirty="0">
                <a:latin typeface="+mn-ea"/>
              </a:rPr>
              <a:t> 속성 값이 널이면 대분류를 의미하며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중분류상품분류번호 속성 값이 널이면 중분류를 의미한다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그리고 </a:t>
            </a:r>
            <a:r>
              <a:rPr lang="ko-KR" altLang="en-US" sz="1400" dirty="0" err="1">
                <a:latin typeface="+mn-ea"/>
              </a:rPr>
              <a:t>대분류상품분류번호</a:t>
            </a:r>
            <a:r>
              <a:rPr lang="en-US" altLang="ko-KR" sz="1400" dirty="0">
                <a:latin typeface="+mn-ea"/>
              </a:rPr>
              <a:t>•</a:t>
            </a:r>
            <a:r>
              <a:rPr lang="ko-KR" altLang="en-US" sz="1400" dirty="0">
                <a:latin typeface="+mn-ea"/>
              </a:rPr>
              <a:t>중분류상품분류번호 속성에 존재하는 값이 해당 인스턴스의 대분류와 중분류를 나타낸다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5.141] </a:t>
            </a:r>
            <a:r>
              <a:rPr lang="ko-KR" altLang="en-US" sz="1400" dirty="0">
                <a:latin typeface="+mn-ea"/>
              </a:rPr>
              <a:t>모델은 유연하지 않기 때문에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계층이 고정적일 때만 고려할 수 있는 모델</a:t>
            </a:r>
            <a:r>
              <a:rPr lang="ko-KR" altLang="en-US" sz="1400" dirty="0">
                <a:latin typeface="+mn-ea"/>
              </a:rPr>
              <a:t>이다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cxnSp>
        <p:nvCxnSpPr>
          <p:cNvPr id="13" name="연결선: 구부러짐 12">
            <a:extLst>
              <a:ext uri="{FF2B5EF4-FFF2-40B4-BE49-F238E27FC236}">
                <a16:creationId xmlns:a16="http://schemas.microsoft.com/office/drawing/2014/main" id="{D10F3EEA-C560-4223-425A-D5E2B5CABEBD}"/>
              </a:ext>
            </a:extLst>
          </p:cNvPr>
          <p:cNvCxnSpPr>
            <a:cxnSpLocks/>
            <a:stCxn id="2" idx="2"/>
            <a:endCxn id="5" idx="1"/>
          </p:cNvCxnSpPr>
          <p:nvPr/>
        </p:nvCxnSpPr>
        <p:spPr>
          <a:xfrm rot="16200000" flipH="1">
            <a:off x="2843151" y="4459448"/>
            <a:ext cx="794917" cy="90107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연결선: 구부러짐 32">
            <a:extLst>
              <a:ext uri="{FF2B5EF4-FFF2-40B4-BE49-F238E27FC236}">
                <a16:creationId xmlns:a16="http://schemas.microsoft.com/office/drawing/2014/main" id="{E836AC5E-F357-229B-1F51-ACA5E4B47121}"/>
              </a:ext>
            </a:extLst>
          </p:cNvPr>
          <p:cNvCxnSpPr>
            <a:cxnSpLocks/>
            <a:stCxn id="16" idx="2"/>
            <a:endCxn id="15" idx="3"/>
          </p:cNvCxnSpPr>
          <p:nvPr/>
        </p:nvCxnSpPr>
        <p:spPr>
          <a:xfrm rot="5400000">
            <a:off x="10156431" y="4187736"/>
            <a:ext cx="176731" cy="129105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7D48CA66-98D8-F235-621B-3B8C5CF56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936" y="3096757"/>
            <a:ext cx="2342269" cy="141577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A6B3ACE-B937-337E-54B3-42B5F5075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1148" y="4402444"/>
            <a:ext cx="2267266" cy="181000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6EA4FF8-D39C-E227-4FD4-31800D22CD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210" y="3630812"/>
            <a:ext cx="3458058" cy="258163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5A183AD-9654-4C2E-0E39-4D056DCB3F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374" y="2794945"/>
            <a:ext cx="1777899" cy="19499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B859CE-6490-FCF3-EC4F-9A5BDDF15561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분류 계층 모델 </a:t>
            </a:r>
            <a:r>
              <a:rPr lang="en-US" altLang="ko-KR" sz="2400" b="1" dirty="0">
                <a:latin typeface="+mn-ea"/>
              </a:rPr>
              <a:t>(3/4)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E3B5A6-53FB-923E-9C3B-ADFF070AC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746384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5.143]</a:t>
            </a:r>
            <a:r>
              <a:rPr lang="ko-KR" altLang="en-US" sz="1400" dirty="0">
                <a:latin typeface="+mn-ea"/>
              </a:rPr>
              <a:t>은 재귀 관계 없이 코드 체계를 활용한 모델이다</a:t>
            </a:r>
            <a:r>
              <a:rPr lang="en-US" altLang="ko-KR" sz="1400" dirty="0">
                <a:latin typeface="+mn-ea"/>
              </a:rPr>
              <a:t>. 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5.144]</a:t>
            </a:r>
            <a:r>
              <a:rPr lang="ko-KR" altLang="en-US" sz="1400" dirty="0">
                <a:latin typeface="+mn-ea"/>
              </a:rPr>
              <a:t>는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5.143] </a:t>
            </a:r>
            <a:r>
              <a:rPr lang="ko-KR" altLang="en-US" sz="1400" dirty="0">
                <a:latin typeface="+mn-ea"/>
              </a:rPr>
              <a:t>모델에 대한 릴레이션이다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상품대분류번호 </a:t>
            </a:r>
            <a:r>
              <a:rPr lang="en-US" altLang="ko-KR" sz="1400" dirty="0">
                <a:latin typeface="+mn-ea"/>
              </a:rPr>
              <a:t>• </a:t>
            </a:r>
            <a:r>
              <a:rPr lang="ko-KR" altLang="en-US" sz="1400" dirty="0" err="1">
                <a:latin typeface="+mn-ea"/>
              </a:rPr>
              <a:t>상품중분류번호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• </a:t>
            </a:r>
            <a:r>
              <a:rPr lang="ko-KR" altLang="en-US" sz="1400" dirty="0" err="1">
                <a:latin typeface="+mn-ea"/>
              </a:rPr>
              <a:t>상품소분류번호</a:t>
            </a:r>
            <a:r>
              <a:rPr lang="ko-KR" altLang="en-US" sz="1400" dirty="0">
                <a:latin typeface="+mn-ea"/>
              </a:rPr>
              <a:t> 속성 값이 ‘</a:t>
            </a:r>
            <a:r>
              <a:rPr lang="en-US" altLang="ko-KR" sz="1400" dirty="0">
                <a:latin typeface="+mn-ea"/>
              </a:rPr>
              <a:t>00’</a:t>
            </a:r>
            <a:r>
              <a:rPr lang="ko-KR" altLang="en-US" sz="1400" dirty="0">
                <a:latin typeface="+mn-ea"/>
              </a:rPr>
              <a:t>이면 해당 분류에 대한 체계가 없다는 것을 의미한다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예를 들어 ‘도서’ 인스턴스는 상품대분류번호 속성 값만 존재하므로 대분류를 의미하고</a:t>
            </a:r>
            <a:r>
              <a:rPr lang="en-US" altLang="ko-KR" sz="1400" dirty="0">
                <a:latin typeface="+mn-ea"/>
              </a:rPr>
              <a:t>, ‘</a:t>
            </a:r>
            <a:r>
              <a:rPr lang="ko-KR" altLang="en-US" sz="1400" dirty="0">
                <a:latin typeface="+mn-ea"/>
              </a:rPr>
              <a:t>문학’ 인스턴스는 </a:t>
            </a:r>
            <a:r>
              <a:rPr lang="ko-KR" altLang="en-US" sz="1400" dirty="0" err="1">
                <a:latin typeface="+mn-ea"/>
              </a:rPr>
              <a:t>상품중분류번호</a:t>
            </a:r>
            <a:r>
              <a:rPr lang="ko-KR" altLang="en-US" sz="1400" dirty="0">
                <a:latin typeface="+mn-ea"/>
              </a:rPr>
              <a:t> 속성값까지 존재하므로 중분류를 의미한다</a:t>
            </a:r>
            <a:r>
              <a:rPr lang="en-US" altLang="ko-KR" sz="1400" dirty="0">
                <a:latin typeface="+mn-ea"/>
              </a:rPr>
              <a:t>. ‘</a:t>
            </a:r>
            <a:r>
              <a:rPr lang="ko-KR" altLang="en-US" sz="1400" dirty="0">
                <a:latin typeface="+mn-ea"/>
              </a:rPr>
              <a:t>문학’ 인스턴스의 대분류는 상품대분류번호 속성 값이 ‘</a:t>
            </a:r>
            <a:r>
              <a:rPr lang="en-US" altLang="ko-KR" sz="1400" dirty="0">
                <a:latin typeface="+mn-ea"/>
              </a:rPr>
              <a:t>01’ </a:t>
            </a:r>
            <a:r>
              <a:rPr lang="ko-KR" altLang="en-US" sz="1400" dirty="0">
                <a:latin typeface="+mn-ea"/>
              </a:rPr>
              <a:t>인 ‘도서’ 가 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5.143] </a:t>
            </a:r>
            <a:r>
              <a:rPr lang="ko-KR" altLang="en-US" sz="1400" dirty="0">
                <a:latin typeface="+mn-ea"/>
              </a:rPr>
              <a:t>모델은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5.141] </a:t>
            </a:r>
            <a:r>
              <a:rPr lang="ko-KR" altLang="en-US" sz="1400" dirty="0">
                <a:latin typeface="+mn-ea"/>
              </a:rPr>
              <a:t>모델과 마찬가지로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분류 계층이 고정적일 때 사용</a:t>
            </a:r>
            <a:r>
              <a:rPr lang="ko-KR" altLang="en-US" sz="1400" dirty="0">
                <a:latin typeface="+mn-ea"/>
              </a:rPr>
              <a:t>할 수 있다</a:t>
            </a:r>
            <a:r>
              <a:rPr lang="en-US" altLang="ko-KR" sz="1400" dirty="0">
                <a:latin typeface="+mn-ea"/>
              </a:rPr>
              <a:t>. 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5.144] </a:t>
            </a:r>
            <a:r>
              <a:rPr lang="ko-KR" altLang="en-US" sz="1400" dirty="0">
                <a:latin typeface="+mn-ea"/>
              </a:rPr>
              <a:t>릴레이션처럼 데이터를 생성하기 어렵지만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분류 계층이 고정적일 때 조회 요건을 가장 쉽게 구할 수 있는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생각보다 효율적인 모델이다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F478B5C-9385-616D-6213-0FEBF34AF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331" y="4865649"/>
            <a:ext cx="1476581" cy="139084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054747F-400E-EA6F-D944-120EEF51E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646279"/>
            <a:ext cx="3962953" cy="261021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526C37-6EC5-A040-B44F-57B7D38ABBB3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분류 계층 모델 </a:t>
            </a:r>
            <a:r>
              <a:rPr lang="en-US" altLang="ko-KR" sz="2400" b="1" dirty="0">
                <a:latin typeface="+mn-ea"/>
              </a:rPr>
              <a:t>(4/4)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AAA0C96-71A7-1A43-09F5-4EBB392C4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4452154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관계에도 중복을 의미하는 추출 관계</a:t>
            </a:r>
            <a:r>
              <a:rPr lang="en-US" altLang="ko-KR" sz="1400" dirty="0">
                <a:latin typeface="+mn-ea"/>
              </a:rPr>
              <a:t>(Derived Relationship) </a:t>
            </a:r>
            <a:r>
              <a:rPr lang="ko-KR" altLang="en-US" sz="1400" dirty="0">
                <a:latin typeface="+mn-ea"/>
              </a:rPr>
              <a:t>가 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추출 관계는 중복 관계</a:t>
            </a:r>
            <a:r>
              <a:rPr lang="en-US" altLang="ko-KR" sz="1400" dirty="0">
                <a:latin typeface="+mn-ea"/>
              </a:rPr>
              <a:t>(Redundant Relationship) </a:t>
            </a:r>
            <a:r>
              <a:rPr lang="ko-KR" altLang="en-US" sz="1400" dirty="0">
                <a:latin typeface="+mn-ea"/>
              </a:rPr>
              <a:t>라고도 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추출 속성이 관계 속성일 때는 추출 관계가 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추출 관계는 이미 존재하는 관계로 구현이 가능한 관계다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다시 생성할 수 있으므로 따로 관리하지 않아도 되는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없어도 되는 관계다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추출 관계를 사용하는 경우</a:t>
            </a:r>
            <a:r>
              <a:rPr lang="ko-KR" altLang="en-US" sz="1400" dirty="0">
                <a:latin typeface="+mn-ea"/>
              </a:rPr>
              <a:t>는 두 가지다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 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1.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상속되는 관계의 깊이를 줄이려고 사용</a:t>
            </a:r>
            <a:r>
              <a:rPr lang="ko-KR" altLang="en-US" sz="1400" dirty="0">
                <a:latin typeface="+mn-ea"/>
              </a:rPr>
              <a:t>하거나</a:t>
            </a:r>
            <a:r>
              <a:rPr lang="en-US" altLang="ko-KR" sz="1400" dirty="0">
                <a:latin typeface="+mn-ea"/>
              </a:rPr>
              <a:t>,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2.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추출 속성을 채택하기 위해</a:t>
            </a:r>
            <a:r>
              <a:rPr lang="ko-KR" altLang="en-US" sz="1400" dirty="0">
                <a:latin typeface="+mn-ea"/>
              </a:rPr>
              <a:t> 사용한다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이렇게 추출 관계를 사용하는 목적은 성능 향상을 위해서다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추출 관계는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성능을 향상시키기 위해서만 사용</a:t>
            </a:r>
            <a:r>
              <a:rPr lang="ko-KR" altLang="en-US" sz="1400" dirty="0">
                <a:latin typeface="+mn-ea"/>
              </a:rPr>
              <a:t>해야 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b="1" strike="sngStrike" dirty="0">
                <a:latin typeface="+mn-ea"/>
              </a:rPr>
              <a:t>조인하지 않기 위해서</a:t>
            </a:r>
            <a:r>
              <a:rPr lang="en-US" altLang="ko-KR" sz="1400" b="1" strike="sngStrike" dirty="0">
                <a:latin typeface="+mn-ea"/>
              </a:rPr>
              <a:t>, </a:t>
            </a:r>
            <a:r>
              <a:rPr lang="ko-KR" altLang="en-US" sz="1400" b="1" strike="sngStrike" dirty="0">
                <a:latin typeface="+mn-ea"/>
              </a:rPr>
              <a:t>즉 사용 편이성을 위해서 사용해선 안 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데이터 정합성을 맞춰야 하는 단점을 간과해서는 안된다</a:t>
            </a:r>
            <a:r>
              <a:rPr lang="en-US" altLang="ko-KR" sz="1400" dirty="0">
                <a:latin typeface="+mn-ea"/>
              </a:rPr>
              <a:t>. 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5.145] </a:t>
            </a:r>
            <a:r>
              <a:rPr lang="ko-KR" altLang="en-US" sz="1400" dirty="0">
                <a:latin typeface="+mn-ea"/>
              </a:rPr>
              <a:t>모델에서 대분류 </a:t>
            </a:r>
            <a:r>
              <a:rPr lang="ko-KR" altLang="en-US" sz="1400" dirty="0" err="1">
                <a:latin typeface="+mn-ea"/>
              </a:rPr>
              <a:t>엔터티와</a:t>
            </a:r>
            <a:r>
              <a:rPr lang="ko-KR" altLang="en-US" sz="1400" dirty="0">
                <a:latin typeface="+mn-ea"/>
              </a:rPr>
              <a:t> 소분류 </a:t>
            </a:r>
            <a:r>
              <a:rPr lang="ko-KR" altLang="en-US" sz="1400" dirty="0" err="1">
                <a:latin typeface="+mn-ea"/>
              </a:rPr>
              <a:t>엔터티</a:t>
            </a:r>
            <a:r>
              <a:rPr lang="ko-KR" altLang="en-US" sz="1400" dirty="0">
                <a:latin typeface="+mn-ea"/>
              </a:rPr>
              <a:t> 간의 관계가 추출 관계다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추출 관계 </a:t>
            </a:r>
            <a:r>
              <a:rPr lang="en-US" altLang="ko-KR" sz="2400" b="1" dirty="0">
                <a:latin typeface="+mn-ea"/>
              </a:rPr>
              <a:t>(1/3)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CB8B757-F655-3469-7A85-443060F7E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253" y="3682412"/>
            <a:ext cx="2772162" cy="148610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682C8D2-F671-FB74-D6CD-4819EFF5F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592" y="3647602"/>
            <a:ext cx="4753638" cy="94310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A5450DC-A007-2BCC-55B9-BDA773E5BF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4435" y="5006963"/>
            <a:ext cx="3057952" cy="111458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176E284-27C9-392A-56F5-9ED82A9E6430}"/>
              </a:ext>
            </a:extLst>
          </p:cNvPr>
          <p:cNvSpPr txBox="1"/>
          <p:nvPr/>
        </p:nvSpPr>
        <p:spPr>
          <a:xfrm>
            <a:off x="6096000" y="6104442"/>
            <a:ext cx="575482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70C0"/>
                </a:solidFill>
              </a:rPr>
              <a:t>거래내역 데이터 중에서 최종 거래를 계좌 </a:t>
            </a:r>
            <a:r>
              <a:rPr lang="ko-KR" altLang="en-US" sz="1000" b="1" dirty="0" err="1">
                <a:solidFill>
                  <a:srgbClr val="0070C0"/>
                </a:solidFill>
              </a:rPr>
              <a:t>엔터티에서</a:t>
            </a:r>
            <a:r>
              <a:rPr lang="ko-KR" altLang="en-US" sz="1000" b="1" dirty="0">
                <a:solidFill>
                  <a:srgbClr val="0070C0"/>
                </a:solidFill>
              </a:rPr>
              <a:t> 관리하므로 관계(최종거래)가 존재한다.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3FBCA1-9F9D-50B1-5EFB-5C8F2B6F7BB9}"/>
              </a:ext>
            </a:extLst>
          </p:cNvPr>
          <p:cNvSpPr txBox="1"/>
          <p:nvPr/>
        </p:nvSpPr>
        <p:spPr>
          <a:xfrm>
            <a:off x="6096000" y="4582158"/>
            <a:ext cx="575482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70C0"/>
                </a:solidFill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</a:rPr>
              <a:t>[</a:t>
            </a:r>
            <a:r>
              <a:rPr lang="ko-KR" altLang="en-US" sz="1000" b="1" dirty="0">
                <a:solidFill>
                  <a:srgbClr val="0070C0"/>
                </a:solidFill>
              </a:rPr>
              <a:t>그림 </a:t>
            </a:r>
            <a:r>
              <a:rPr lang="en-US" altLang="ko-KR" sz="1000" b="1" dirty="0">
                <a:solidFill>
                  <a:srgbClr val="0070C0"/>
                </a:solidFill>
              </a:rPr>
              <a:t>5.146] </a:t>
            </a:r>
            <a:r>
              <a:rPr lang="ko-KR" altLang="en-US" sz="1000" b="1" dirty="0">
                <a:solidFill>
                  <a:srgbClr val="0070C0"/>
                </a:solidFill>
              </a:rPr>
              <a:t>모델과 같이 관계가 상속되는 단계가 깊을 때는 추출 관계를 사용할 수 있다</a:t>
            </a:r>
            <a:r>
              <a:rPr lang="en-US" altLang="ko-KR" sz="1000" b="1" dirty="0">
                <a:solidFill>
                  <a:srgbClr val="0070C0"/>
                </a:solidFill>
              </a:rPr>
              <a:t>.</a:t>
            </a:r>
            <a:endParaRPr lang="ko-KR" altLang="en-US" sz="1000" b="1" dirty="0">
              <a:solidFill>
                <a:srgbClr val="0070C0"/>
              </a:solidFill>
            </a:endParaRPr>
          </a:p>
        </p:txBody>
      </p:sp>
      <p:sp>
        <p:nvSpPr>
          <p:cNvPr id="17" name="곱하기 기호 16">
            <a:extLst>
              <a:ext uri="{FF2B5EF4-FFF2-40B4-BE49-F238E27FC236}">
                <a16:creationId xmlns:a16="http://schemas.microsoft.com/office/drawing/2014/main" id="{AC4A8EF7-ABED-F97A-2B6D-155C97FDB146}"/>
              </a:ext>
            </a:extLst>
          </p:cNvPr>
          <p:cNvSpPr/>
          <p:nvPr/>
        </p:nvSpPr>
        <p:spPr>
          <a:xfrm>
            <a:off x="6596592" y="3647601"/>
            <a:ext cx="4753638" cy="943107"/>
          </a:xfrm>
          <a:prstGeom prst="mathMultiply">
            <a:avLst>
              <a:gd name="adj1" fmla="val 13818"/>
            </a:avLst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486DE6B-7D0D-A611-2071-F68195115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236</a:t>
            </a:fld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CDD5F31-E404-4AD0-828E-81B647886EBA}"/>
              </a:ext>
            </a:extLst>
          </p:cNvPr>
          <p:cNvSpPr/>
          <p:nvPr/>
        </p:nvSpPr>
        <p:spPr>
          <a:xfrm>
            <a:off x="3550628" y="4747701"/>
            <a:ext cx="1033815" cy="207577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AE4789-B030-4B79-AF77-7887E76597F4}"/>
              </a:ext>
            </a:extLst>
          </p:cNvPr>
          <p:cNvSpPr txBox="1"/>
          <p:nvPr/>
        </p:nvSpPr>
        <p:spPr>
          <a:xfrm>
            <a:off x="1587471" y="5405010"/>
            <a:ext cx="483016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b="1" u="sng" dirty="0">
                <a:solidFill>
                  <a:srgbClr val="FF0000"/>
                </a:solidFill>
              </a:rPr>
              <a:t>추출관계</a:t>
            </a:r>
            <a:r>
              <a:rPr lang="ko-KR" altLang="en-US" sz="1600" b="1" dirty="0">
                <a:solidFill>
                  <a:srgbClr val="FF0000"/>
                </a:solidFill>
              </a:rPr>
              <a:t> </a:t>
            </a:r>
            <a:r>
              <a:rPr lang="en-US" altLang="ko-KR" sz="1600" b="1" dirty="0">
                <a:solidFill>
                  <a:srgbClr val="FF0000"/>
                </a:solidFill>
              </a:rPr>
              <a:t>: </a:t>
            </a:r>
            <a:r>
              <a:rPr lang="ko-KR" altLang="en-US" sz="1600" b="1" dirty="0">
                <a:solidFill>
                  <a:srgbClr val="FF0000"/>
                </a:solidFill>
              </a:rPr>
              <a:t>위의 관계를 아래로 내린 것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ko-KR" altLang="en-US" sz="1400" b="1" dirty="0">
                <a:solidFill>
                  <a:srgbClr val="FF0000"/>
                </a:solidFill>
              </a:rPr>
              <a:t>중복속성 </a:t>
            </a:r>
            <a:r>
              <a:rPr lang="en-US" altLang="ko-KR" sz="1400" b="1" dirty="0">
                <a:solidFill>
                  <a:srgbClr val="FF0000"/>
                </a:solidFill>
              </a:rPr>
              <a:t>: </a:t>
            </a:r>
            <a:r>
              <a:rPr lang="ko-KR" altLang="en-US" sz="1400" b="1" dirty="0">
                <a:solidFill>
                  <a:srgbClr val="FF0000"/>
                </a:solidFill>
              </a:rPr>
              <a:t>위의 속성을 아래로 내린 것</a:t>
            </a:r>
            <a:endParaRPr lang="en-US" altLang="ko-KR" sz="1400" b="1" dirty="0">
              <a:solidFill>
                <a:srgbClr val="FF000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ko-KR" altLang="en-US" sz="1400" b="1" dirty="0">
                <a:solidFill>
                  <a:srgbClr val="FF0000"/>
                </a:solidFill>
              </a:rPr>
              <a:t>추출속성 </a:t>
            </a:r>
            <a:r>
              <a:rPr lang="en-US" altLang="ko-KR" sz="1400" b="1" dirty="0">
                <a:solidFill>
                  <a:srgbClr val="FF0000"/>
                </a:solidFill>
              </a:rPr>
              <a:t>: </a:t>
            </a:r>
            <a:r>
              <a:rPr lang="ko-KR" altLang="en-US" sz="1400" b="1" dirty="0">
                <a:solidFill>
                  <a:srgbClr val="FF0000"/>
                </a:solidFill>
              </a:rPr>
              <a:t>아래의 속성을 계산에서 위로 올린 것</a:t>
            </a:r>
            <a:endParaRPr lang="en-US" altLang="ko-KR" sz="1400" b="1" dirty="0">
              <a:solidFill>
                <a:srgbClr val="FF0000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F1BD731-B775-4955-8154-4F26FEB6E6E1}"/>
              </a:ext>
            </a:extLst>
          </p:cNvPr>
          <p:cNvSpPr/>
          <p:nvPr/>
        </p:nvSpPr>
        <p:spPr>
          <a:xfrm>
            <a:off x="7476931" y="5656837"/>
            <a:ext cx="1287629" cy="246221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D9338A3-B403-4A20-B3B8-0237AC8E1A0D}"/>
              </a:ext>
            </a:extLst>
          </p:cNvPr>
          <p:cNvSpPr/>
          <p:nvPr/>
        </p:nvSpPr>
        <p:spPr>
          <a:xfrm>
            <a:off x="3160111" y="3834574"/>
            <a:ext cx="1033815" cy="24444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78CEB140-213B-4E8F-B635-49707E7EF1CD}"/>
              </a:ext>
            </a:extLst>
          </p:cNvPr>
          <p:cNvSpPr/>
          <p:nvPr/>
        </p:nvSpPr>
        <p:spPr>
          <a:xfrm>
            <a:off x="8764559" y="5478253"/>
            <a:ext cx="687351" cy="284682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8D1776BF-CBD3-4EF0-8B0D-ABCA7C5335C1}"/>
              </a:ext>
            </a:extLst>
          </p:cNvPr>
          <p:cNvCxnSpPr>
            <a:cxnSpLocks/>
            <a:stCxn id="26" idx="0"/>
            <a:endCxn id="19" idx="2"/>
          </p:cNvCxnSpPr>
          <p:nvPr/>
        </p:nvCxnSpPr>
        <p:spPr>
          <a:xfrm rot="5400000" flipH="1" flipV="1">
            <a:off x="2043804" y="4316696"/>
            <a:ext cx="1476207" cy="75640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연결선: 구부러짐 21">
            <a:extLst>
              <a:ext uri="{FF2B5EF4-FFF2-40B4-BE49-F238E27FC236}">
                <a16:creationId xmlns:a16="http://schemas.microsoft.com/office/drawing/2014/main" id="{62DF4930-5435-4F5D-A0ED-494327555B38}"/>
              </a:ext>
            </a:extLst>
          </p:cNvPr>
          <p:cNvCxnSpPr>
            <a:cxnSpLocks/>
            <a:stCxn id="26" idx="0"/>
            <a:endCxn id="20" idx="2"/>
          </p:cNvCxnSpPr>
          <p:nvPr/>
        </p:nvCxnSpPr>
        <p:spPr>
          <a:xfrm rot="16200000" flipH="1">
            <a:off x="5490335" y="2346370"/>
            <a:ext cx="187591" cy="6360856"/>
          </a:xfrm>
          <a:prstGeom prst="curvedConnector4">
            <a:avLst>
              <a:gd name="adj1" fmla="val -121861"/>
              <a:gd name="adj2" fmla="val 53989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ECE18B7-D2EC-41F1-9A1F-2364FED7ECB8}"/>
              </a:ext>
            </a:extLst>
          </p:cNvPr>
          <p:cNvSpPr/>
          <p:nvPr/>
        </p:nvSpPr>
        <p:spPr>
          <a:xfrm>
            <a:off x="1896254" y="5433003"/>
            <a:ext cx="1014897" cy="251827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6D8F2A40-E3E1-4565-8948-BC3647891D32}"/>
              </a:ext>
            </a:extLst>
          </p:cNvPr>
          <p:cNvSpPr/>
          <p:nvPr/>
        </p:nvSpPr>
        <p:spPr>
          <a:xfrm>
            <a:off x="2413033" y="5664012"/>
            <a:ext cx="747078" cy="230969"/>
          </a:xfrm>
          <a:prstGeom prst="roundRect">
            <a:avLst>
              <a:gd name="adj" fmla="val 7165"/>
            </a:avLst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1DCEC789-EA4F-4B1E-9A0C-26D9AE7A3929}"/>
              </a:ext>
            </a:extLst>
          </p:cNvPr>
          <p:cNvSpPr/>
          <p:nvPr/>
        </p:nvSpPr>
        <p:spPr>
          <a:xfrm>
            <a:off x="2419397" y="5915838"/>
            <a:ext cx="740714" cy="246221"/>
          </a:xfrm>
          <a:prstGeom prst="roundRect">
            <a:avLst>
              <a:gd name="adj" fmla="val 7165"/>
            </a:avLst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연결선: 구부러짐 36">
            <a:extLst>
              <a:ext uri="{FF2B5EF4-FFF2-40B4-BE49-F238E27FC236}">
                <a16:creationId xmlns:a16="http://schemas.microsoft.com/office/drawing/2014/main" id="{930C6985-58FF-4242-B280-A1DC95C5BDE1}"/>
              </a:ext>
            </a:extLst>
          </p:cNvPr>
          <p:cNvCxnSpPr>
            <a:cxnSpLocks/>
            <a:stCxn id="36" idx="3"/>
            <a:endCxn id="18" idx="1"/>
          </p:cNvCxnSpPr>
          <p:nvPr/>
        </p:nvCxnSpPr>
        <p:spPr>
          <a:xfrm flipV="1">
            <a:off x="3160111" y="5779948"/>
            <a:ext cx="4316820" cy="259001"/>
          </a:xfrm>
          <a:prstGeom prst="curvedConnector3">
            <a:avLst>
              <a:gd name="adj1" fmla="val 50000"/>
            </a:avLst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연결선: 구부러짐 39">
            <a:extLst>
              <a:ext uri="{FF2B5EF4-FFF2-40B4-BE49-F238E27FC236}">
                <a16:creationId xmlns:a16="http://schemas.microsoft.com/office/drawing/2014/main" id="{8A7ED279-5016-4792-B354-F941C7E8CA3F}"/>
              </a:ext>
            </a:extLst>
          </p:cNvPr>
          <p:cNvCxnSpPr>
            <a:cxnSpLocks/>
            <a:stCxn id="35" idx="3"/>
            <a:endCxn id="14" idx="2"/>
          </p:cNvCxnSpPr>
          <p:nvPr/>
        </p:nvCxnSpPr>
        <p:spPr>
          <a:xfrm flipV="1">
            <a:off x="3160111" y="4955278"/>
            <a:ext cx="907425" cy="824219"/>
          </a:xfrm>
          <a:prstGeom prst="curvedConnector2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710144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아래의 </a:t>
            </a:r>
            <a:r>
              <a:rPr lang="ko-KR" altLang="en-US" sz="1400" dirty="0" err="1">
                <a:latin typeface="+mn-ea"/>
              </a:rPr>
              <a:t>릴레이션에서</a:t>
            </a:r>
            <a:r>
              <a:rPr lang="ko-KR" altLang="en-US" sz="1400" dirty="0">
                <a:latin typeface="+mn-ea"/>
              </a:rPr>
              <a:t> 하나의 값을 제외하고 모든 데이터는 정확하다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추출관계를 사용한 소분류 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인스턴스 중에 소분류번호 ‘</a:t>
            </a:r>
            <a:r>
              <a:rPr lang="en-US" altLang="ko-KR" sz="1400" dirty="0">
                <a:latin typeface="+mn-ea"/>
              </a:rPr>
              <a:t>102010’ </a:t>
            </a:r>
            <a:r>
              <a:rPr lang="ko-KR" altLang="en-US" sz="1400" dirty="0">
                <a:latin typeface="+mn-ea"/>
              </a:rPr>
              <a:t>에 대한 대 분 류 번 호 값 </a:t>
            </a:r>
            <a:r>
              <a:rPr lang="en-US" altLang="ko-KR" sz="1400" dirty="0">
                <a:latin typeface="+mn-ea"/>
              </a:rPr>
              <a:t>(200000) </a:t>
            </a:r>
            <a:r>
              <a:rPr lang="ko-KR" altLang="en-US" sz="1400" dirty="0">
                <a:latin typeface="+mn-ea"/>
              </a:rPr>
              <a:t>이 잘못된 데이터다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소분류번호 ‘</a:t>
            </a:r>
            <a:r>
              <a:rPr lang="en-US" altLang="ko-KR" sz="1400" dirty="0">
                <a:latin typeface="+mn-ea"/>
              </a:rPr>
              <a:t>102010’ </a:t>
            </a:r>
            <a:r>
              <a:rPr lang="ko-KR" altLang="en-US" sz="1400" dirty="0">
                <a:latin typeface="+mn-ea"/>
              </a:rPr>
              <a:t>에 대해 중분류 </a:t>
            </a:r>
            <a:r>
              <a:rPr lang="ko-KR" altLang="en-US" sz="1400" dirty="0" err="1">
                <a:latin typeface="+mn-ea"/>
              </a:rPr>
              <a:t>엔터티와</a:t>
            </a:r>
            <a:r>
              <a:rPr lang="ko-KR" altLang="en-US" sz="1400" dirty="0">
                <a:latin typeface="+mn-ea"/>
              </a:rPr>
              <a:t> 대분류 </a:t>
            </a:r>
            <a:r>
              <a:rPr lang="ko-KR" altLang="en-US" sz="1400" dirty="0" err="1">
                <a:latin typeface="+mn-ea"/>
              </a:rPr>
              <a:t>엔터티를</a:t>
            </a:r>
            <a:r>
              <a:rPr lang="ko-KR" altLang="en-US" sz="1400" dirty="0">
                <a:latin typeface="+mn-ea"/>
              </a:rPr>
              <a:t> 순차적으로 찾아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조인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가면 대분류 번호는 ‘</a:t>
            </a:r>
            <a:r>
              <a:rPr lang="en-US" altLang="ko-KR" sz="1400" dirty="0">
                <a:latin typeface="+mn-ea"/>
              </a:rPr>
              <a:t>100000’</a:t>
            </a:r>
            <a:r>
              <a:rPr lang="ko-KR" altLang="en-US" sz="1400" dirty="0">
                <a:latin typeface="+mn-ea"/>
              </a:rPr>
              <a:t>이 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소분류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대분류번호 속성에 존재하는 값과 중분류</a:t>
            </a:r>
            <a:r>
              <a:rPr lang="en-US" altLang="ko-KR" sz="1400" dirty="0">
                <a:latin typeface="+mn-ea"/>
              </a:rPr>
              <a:t> • </a:t>
            </a:r>
            <a:r>
              <a:rPr lang="ko-KR" altLang="en-US" sz="1400" dirty="0">
                <a:latin typeface="+mn-ea"/>
              </a:rPr>
              <a:t>대분류 </a:t>
            </a:r>
            <a:r>
              <a:rPr lang="ko-KR" altLang="en-US" sz="1400" dirty="0" err="1">
                <a:latin typeface="+mn-ea"/>
              </a:rPr>
              <a:t>엔터티</a:t>
            </a:r>
            <a:r>
              <a:rPr lang="ko-KR" altLang="en-US" sz="1400" dirty="0">
                <a:latin typeface="+mn-ea"/>
              </a:rPr>
              <a:t> 순서로 조인한 결과 값은 같아야 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‘</a:t>
            </a:r>
            <a:r>
              <a:rPr lang="en-US" altLang="ko-KR" sz="1400" dirty="0">
                <a:latin typeface="+mn-ea"/>
              </a:rPr>
              <a:t>200000’</a:t>
            </a:r>
            <a:r>
              <a:rPr lang="ko-KR" altLang="en-US" sz="1400" dirty="0">
                <a:latin typeface="+mn-ea"/>
              </a:rPr>
              <a:t>은 잘못된 값이지만 상위 </a:t>
            </a:r>
            <a:r>
              <a:rPr lang="ko-KR" altLang="en-US" sz="1400" dirty="0" err="1">
                <a:latin typeface="+mn-ea"/>
              </a:rPr>
              <a:t>엔터티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대분류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에 존재하는 값이므로 참조 무결성에 어긋나는 것은 아니다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따라서 오류를 찾기도 어렵다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어느 것이 맞는 데이터인지 판단 하기가 쉽지 않다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추출 관계가 없다면 속성이 존재하지 않기 때문에 잘못된 데이터가 존재할 수 없다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이는 설명을 위해 작성한 예제지만 비슷한 사례는 실무에서 종종 발생한다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발생할 가능성이 있다는 것을 주의해야  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조인해서 찾은 값과 저장한 값이 달라질 수 있다는 것을 가볍게 여겨서는 안된다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4DFDA62-FD50-7E04-3C80-2DD842451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152" y="2687628"/>
            <a:ext cx="4286848" cy="1905266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BF1E998-911C-FAC4-CDDF-0BCF2464667B}"/>
              </a:ext>
            </a:extLst>
          </p:cNvPr>
          <p:cNvSpPr/>
          <p:nvPr/>
        </p:nvSpPr>
        <p:spPr>
          <a:xfrm>
            <a:off x="5400015" y="3392076"/>
            <a:ext cx="677879" cy="181726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257E64-5A93-F226-ED88-FA29B789B53C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추출 관계 </a:t>
            </a:r>
            <a:r>
              <a:rPr lang="en-US" altLang="ko-KR" sz="2400" b="1" dirty="0">
                <a:latin typeface="+mn-ea"/>
              </a:rPr>
              <a:t>(2/3)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51996D0-75BB-0361-115C-79BD5392D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4653452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추출 관계는 생략해도 되는 관계 속성이다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결국은 존재하는 값이어서 생략해도 값을 다시 생성할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하지만 추출 관계처럼 보이지만 다른 의미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값</a:t>
            </a:r>
            <a:r>
              <a:rPr lang="en-US" altLang="ko-KR" sz="1200" dirty="0">
                <a:latin typeface="+mn-ea"/>
              </a:rPr>
              <a:t>)</a:t>
            </a:r>
            <a:r>
              <a:rPr lang="ko-KR" altLang="en-US" sz="1200" dirty="0">
                <a:latin typeface="+mn-ea"/>
              </a:rPr>
              <a:t>를 가지는 관계 속성은 삭제하지 않도록 주의해야 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5.149] </a:t>
            </a:r>
            <a:r>
              <a:rPr lang="ko-KR" altLang="en-US" sz="1200" dirty="0">
                <a:latin typeface="+mn-ea"/>
              </a:rPr>
              <a:t>모델에서 ‘</a:t>
            </a:r>
            <a:r>
              <a:rPr lang="ko-KR" altLang="en-US" sz="1200" b="1" u="sng" dirty="0">
                <a:solidFill>
                  <a:srgbClr val="0070C0"/>
                </a:solidFill>
                <a:latin typeface="+mn-ea"/>
              </a:rPr>
              <a:t>근무도시</a:t>
            </a:r>
            <a:r>
              <a:rPr lang="ko-KR" altLang="en-US" sz="1200" dirty="0">
                <a:latin typeface="+mn-ea"/>
              </a:rPr>
              <a:t>’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관계는 추출 관계다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‘근무도시’ </a:t>
            </a:r>
            <a:r>
              <a:rPr lang="ko-KR" altLang="en-US" sz="1200" b="1" u="sng" dirty="0">
                <a:latin typeface="+mn-ea"/>
              </a:rPr>
              <a:t>관계선은 없더라도 프로젝트가 수행되는 도시를 알 수 있으므로</a:t>
            </a:r>
            <a:r>
              <a:rPr lang="ko-KR" altLang="en-US" sz="1200" dirty="0">
                <a:latin typeface="+mn-ea"/>
              </a:rPr>
              <a:t> 프로젝트에 소속된 사원이 근무하고 있는 도시는 알 수 있다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따라서 중복 성격의 ‘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근무도시</a:t>
            </a:r>
            <a:r>
              <a:rPr lang="ko-KR" altLang="en-US" sz="1200" dirty="0">
                <a:latin typeface="+mn-ea"/>
              </a:rPr>
              <a:t>’ </a:t>
            </a:r>
            <a:r>
              <a:rPr lang="ko-KR" altLang="en-US" sz="1200" b="1" u="sng" dirty="0">
                <a:latin typeface="+mn-ea"/>
              </a:rPr>
              <a:t>관계선은 삭제하는 것이 바람직</a:t>
            </a:r>
            <a:r>
              <a:rPr lang="ko-KR" altLang="en-US" sz="1200" dirty="0">
                <a:latin typeface="+mn-ea"/>
              </a:rPr>
              <a:t>하다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최소한 추출 관계라는 사실과 어떻게 추출할 수 있는지를 인지하고 있어야 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반면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5.150]</a:t>
            </a:r>
            <a:r>
              <a:rPr lang="ko-KR" altLang="en-US" sz="1200" dirty="0">
                <a:latin typeface="+mn-ea"/>
              </a:rPr>
              <a:t> 모델의 ‘</a:t>
            </a:r>
            <a:r>
              <a:rPr lang="ko-KR" altLang="en-US" sz="1200" b="1" u="sng" dirty="0">
                <a:solidFill>
                  <a:srgbClr val="0070C0"/>
                </a:solidFill>
                <a:latin typeface="+mn-ea"/>
              </a:rPr>
              <a:t>거주도시</a:t>
            </a:r>
            <a:r>
              <a:rPr lang="ko-KR" altLang="en-US" sz="1200" dirty="0">
                <a:latin typeface="+mn-ea"/>
              </a:rPr>
              <a:t>’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관계는 추출</a:t>
            </a:r>
            <a:r>
              <a:rPr lang="en-US" altLang="ko-KR" sz="1200" b="1" u="sng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중복</a:t>
            </a:r>
            <a:r>
              <a:rPr lang="en-US" altLang="ko-KR" sz="1200" b="1" u="sng" dirty="0">
                <a:solidFill>
                  <a:srgbClr val="FF0000"/>
                </a:solidFill>
                <a:latin typeface="+mn-ea"/>
              </a:rPr>
              <a:t>)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관계가 아니다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사원이 거주하고 있는 도시 </a:t>
            </a:r>
            <a:r>
              <a:rPr lang="ko-KR" altLang="en-US" sz="1200" b="1" u="sng" dirty="0">
                <a:latin typeface="+mn-ea"/>
              </a:rPr>
              <a:t>‘거주도시’ 관계선을 삭제하면 거주하는 도시를 알 수 없게 된다</a:t>
            </a:r>
            <a:r>
              <a:rPr lang="en-US" altLang="ko-KR" sz="1200" dirty="0">
                <a:latin typeface="+mn-ea"/>
              </a:rPr>
              <a:t>.  </a:t>
            </a:r>
            <a:r>
              <a:rPr lang="en-US" altLang="ko-KR" sz="1200" b="1" dirty="0">
                <a:latin typeface="+mn-ea"/>
              </a:rPr>
              <a:t>‘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거주도시</a:t>
            </a:r>
            <a:r>
              <a:rPr lang="ko-KR" altLang="en-US" sz="1200" b="1" dirty="0">
                <a:latin typeface="+mn-ea"/>
              </a:rPr>
              <a:t>’ </a:t>
            </a:r>
            <a:r>
              <a:rPr lang="ko-KR" altLang="en-US" sz="1200" b="1" u="sng" dirty="0">
                <a:latin typeface="+mn-ea"/>
              </a:rPr>
              <a:t>관계선은 당연히 삭제하면 안 된다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근무도시나 거주도시와 같이 관리하려는 관계의 의미가 다른 경우 표면적인 관계선만 보고 추출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중복</a:t>
            </a:r>
            <a:r>
              <a:rPr lang="en-US" altLang="ko-KR" sz="1200" dirty="0">
                <a:latin typeface="+mn-ea"/>
              </a:rPr>
              <a:t>) </a:t>
            </a:r>
            <a:r>
              <a:rPr lang="ko-KR" altLang="en-US" sz="1200" dirty="0">
                <a:latin typeface="+mn-ea"/>
              </a:rPr>
              <a:t>관계라고 판단하지 않도록 주의해야 한다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4237662-66CC-C919-9048-F31323815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228" y="3955912"/>
            <a:ext cx="2219635" cy="235300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F26504C-1CDA-D550-88FB-51BCEE54B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2147" y="3946385"/>
            <a:ext cx="2267266" cy="2362530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73D1A93-A7E8-9E2E-3CDB-E76DAEE92650}"/>
              </a:ext>
            </a:extLst>
          </p:cNvPr>
          <p:cNvSpPr/>
          <p:nvPr/>
        </p:nvSpPr>
        <p:spPr>
          <a:xfrm>
            <a:off x="4331707" y="4285019"/>
            <a:ext cx="566219" cy="181726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0261159-70EE-E767-7033-F863C2986309}"/>
              </a:ext>
            </a:extLst>
          </p:cNvPr>
          <p:cNvSpPr/>
          <p:nvPr/>
        </p:nvSpPr>
        <p:spPr>
          <a:xfrm>
            <a:off x="8806774" y="4266913"/>
            <a:ext cx="566219" cy="181726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8755B6C-D1EE-FD0A-DB93-6D9EF4339010}"/>
              </a:ext>
            </a:extLst>
          </p:cNvPr>
          <p:cNvSpPr/>
          <p:nvPr/>
        </p:nvSpPr>
        <p:spPr>
          <a:xfrm>
            <a:off x="2822176" y="2028972"/>
            <a:ext cx="2105341" cy="2640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77F2B43-CCBA-C90F-F1D4-B5EA98398BCB}"/>
              </a:ext>
            </a:extLst>
          </p:cNvPr>
          <p:cNvSpPr/>
          <p:nvPr/>
        </p:nvSpPr>
        <p:spPr>
          <a:xfrm>
            <a:off x="8532545" y="2754351"/>
            <a:ext cx="3069372" cy="2653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008629A3-35C7-644F-473A-AB82BF87B324}"/>
              </a:ext>
            </a:extLst>
          </p:cNvPr>
          <p:cNvCxnSpPr>
            <a:cxnSpLocks/>
            <a:stCxn id="14" idx="3"/>
            <a:endCxn id="12" idx="3"/>
          </p:cNvCxnSpPr>
          <p:nvPr/>
        </p:nvCxnSpPr>
        <p:spPr>
          <a:xfrm flipH="1">
            <a:off x="4897926" y="2161021"/>
            <a:ext cx="29591" cy="2214861"/>
          </a:xfrm>
          <a:prstGeom prst="curvedConnector3">
            <a:avLst>
              <a:gd name="adj1" fmla="val -772532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A3ABB5B9-83D5-6344-265E-8F69721FFC69}"/>
              </a:ext>
            </a:extLst>
          </p:cNvPr>
          <p:cNvCxnSpPr>
            <a:cxnSpLocks/>
            <a:stCxn id="16" idx="2"/>
            <a:endCxn id="13" idx="3"/>
          </p:cNvCxnSpPr>
          <p:nvPr/>
        </p:nvCxnSpPr>
        <p:spPr>
          <a:xfrm rot="5400000">
            <a:off x="9051053" y="3341598"/>
            <a:ext cx="1338118" cy="69423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4892F37-19AA-F42D-483E-88910583BBDA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추출 관계 </a:t>
            </a:r>
            <a:r>
              <a:rPr lang="en-US" altLang="ko-KR" sz="2400" b="1" dirty="0">
                <a:latin typeface="+mn-ea"/>
              </a:rPr>
              <a:t>(3/3)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9D127E-1066-9CF5-C5FD-FC6D8D59D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238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996CC3-586F-4E6F-97D3-FA6246F75E79}"/>
              </a:ext>
            </a:extLst>
          </p:cNvPr>
          <p:cNvSpPr txBox="1"/>
          <p:nvPr/>
        </p:nvSpPr>
        <p:spPr>
          <a:xfrm>
            <a:off x="2257583" y="4850651"/>
            <a:ext cx="7906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1</a:t>
            </a:r>
            <a:r>
              <a:rPr lang="ko-KR" altLang="en-US" sz="1200" b="1" dirty="0">
                <a:solidFill>
                  <a:srgbClr val="FF0000"/>
                </a:solidFill>
              </a:rPr>
              <a:t>차 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954401-441F-43BE-929E-1E30E11DE109}"/>
              </a:ext>
            </a:extLst>
          </p:cNvPr>
          <p:cNvSpPr txBox="1"/>
          <p:nvPr/>
        </p:nvSpPr>
        <p:spPr>
          <a:xfrm>
            <a:off x="3367400" y="5139023"/>
            <a:ext cx="7906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1</a:t>
            </a:r>
            <a:r>
              <a:rPr lang="ko-KR" altLang="en-US" sz="1200" b="1" dirty="0">
                <a:solidFill>
                  <a:srgbClr val="FF0000"/>
                </a:solidFill>
              </a:rPr>
              <a:t>차 관계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401631-D78B-4344-98D5-9341CF9C0BC1}"/>
              </a:ext>
            </a:extLst>
          </p:cNvPr>
          <p:cNvSpPr txBox="1"/>
          <p:nvPr/>
        </p:nvSpPr>
        <p:spPr>
          <a:xfrm>
            <a:off x="4660491" y="4469162"/>
            <a:ext cx="23246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2</a:t>
            </a:r>
            <a:r>
              <a:rPr lang="ko-KR" altLang="en-US" sz="1200" b="1" dirty="0">
                <a:solidFill>
                  <a:srgbClr val="FF0000"/>
                </a:solidFill>
              </a:rPr>
              <a:t>차 관계로 삭제해도 무방하다</a:t>
            </a:r>
            <a:r>
              <a:rPr lang="en-US" altLang="ko-KR" sz="1200" b="1" dirty="0">
                <a:solidFill>
                  <a:srgbClr val="FF0000"/>
                </a:solidFill>
              </a:rPr>
              <a:t>.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8DFDEF-3AE0-4286-BFB3-E27AD3998DAF}"/>
              </a:ext>
            </a:extLst>
          </p:cNvPr>
          <p:cNvSpPr txBox="1"/>
          <p:nvPr/>
        </p:nvSpPr>
        <p:spPr>
          <a:xfrm>
            <a:off x="9397195" y="4381382"/>
            <a:ext cx="21707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1</a:t>
            </a:r>
            <a:r>
              <a:rPr lang="ko-KR" altLang="en-US" sz="1200" b="1" dirty="0">
                <a:solidFill>
                  <a:srgbClr val="FF0000"/>
                </a:solidFill>
              </a:rPr>
              <a:t>차 관계로 삭제하면 안된다</a:t>
            </a:r>
            <a:r>
              <a:rPr lang="en-US" altLang="ko-KR" sz="1200" b="1" dirty="0">
                <a:solidFill>
                  <a:srgbClr val="FF0000"/>
                </a:solidFill>
              </a:rPr>
              <a:t>.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5719365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많은 사람이 관계는 무조건 한쪽 </a:t>
            </a:r>
            <a:r>
              <a:rPr lang="ko-KR" altLang="en-US" sz="1400" dirty="0" err="1">
                <a:latin typeface="+mn-ea"/>
              </a:rPr>
              <a:t>엔터티에서</a:t>
            </a:r>
            <a:r>
              <a:rPr lang="ko-KR" altLang="en-US" sz="1400" dirty="0">
                <a:latin typeface="+mn-ea"/>
              </a:rPr>
              <a:t> 다른 쪽 </a:t>
            </a:r>
            <a:r>
              <a:rPr lang="ko-KR" altLang="en-US" sz="1400" dirty="0" err="1">
                <a:latin typeface="+mn-ea"/>
              </a:rPr>
              <a:t>엔터티로</a:t>
            </a:r>
            <a:r>
              <a:rPr lang="ko-KR" altLang="en-US" sz="1400" dirty="0">
                <a:latin typeface="+mn-ea"/>
              </a:rPr>
              <a:t> 생성된다고 생각한다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하지만 양쪽으로 생성되는 관계도 빈번하다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두 </a:t>
            </a:r>
            <a:r>
              <a:rPr lang="ko-KR" altLang="en-US" sz="1400" dirty="0" err="1">
                <a:latin typeface="+mn-ea"/>
              </a:rPr>
              <a:t>엔터티</a:t>
            </a:r>
            <a:r>
              <a:rPr lang="ko-KR" altLang="en-US" sz="1400" dirty="0">
                <a:latin typeface="+mn-ea"/>
              </a:rPr>
              <a:t> 간에 서로 존재하는 관계가 양방향 관계다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상호 관계나 교차 관계라고도 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양방향 관계는 잘 알려지지 않았지만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실무에서 비교적 자주 발생한다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관계를 프로세스나 데이터 생성 순서로 보거나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종속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소속</a:t>
            </a:r>
            <a:r>
              <a:rPr lang="en-US" altLang="ko-KR" sz="1400" dirty="0">
                <a:latin typeface="+mn-ea"/>
              </a:rPr>
              <a:t>) </a:t>
            </a:r>
            <a:r>
              <a:rPr lang="ko-KR" altLang="en-US" sz="1400" dirty="0">
                <a:latin typeface="+mn-ea"/>
              </a:rPr>
              <a:t>개념을 표현한 부모</a:t>
            </a:r>
            <a:r>
              <a:rPr lang="en-US" altLang="ko-KR" sz="1400" dirty="0">
                <a:latin typeface="+mn-ea"/>
              </a:rPr>
              <a:t> • </a:t>
            </a:r>
            <a:r>
              <a:rPr lang="ko-KR" altLang="en-US" sz="1400" dirty="0">
                <a:latin typeface="+mn-ea"/>
              </a:rPr>
              <a:t>자식 관계로 생각하기 때문에 관계는 한 방향으로만 생성된다고 생각하고 양방향으로 관계가 생성되면 잘못된 관계로 생각하기 쉽다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하지만 양쪽 관계가 나타내는 의미가 서로 다르다면 양방향 관계는 정상적인 관계다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실무에서 양방향 관계는 크게 두 가지 이유에서 나타난다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업무에서 필요한 요건을 반영해서 나타날 수 있으며，추출 관계를 사용해서 나타날 수 있다</a:t>
            </a:r>
            <a:r>
              <a:rPr lang="en-US" altLang="ko-KR" sz="1400" dirty="0">
                <a:latin typeface="+mn-ea"/>
              </a:rPr>
              <a:t>. 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 151] </a:t>
            </a:r>
            <a:r>
              <a:rPr lang="ko-KR" altLang="en-US" sz="1400" dirty="0">
                <a:latin typeface="+mn-ea"/>
              </a:rPr>
              <a:t>모델은 업무 요건을 반영해서 나타난 양방향 관계다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사원은 소속된 지점이 존재하고 지점은 지점장이 존재한다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한쪽을 기준으로 다른 쪽이 하는 역할이 달라지므로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관계속성과 관계명에 수식어를 사용해야 한다</a:t>
            </a:r>
            <a:r>
              <a:rPr lang="en-US" altLang="ko-KR" sz="1400" dirty="0">
                <a:latin typeface="+mn-ea"/>
              </a:rPr>
              <a:t>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양방향 관계 </a:t>
            </a:r>
            <a:r>
              <a:rPr lang="en-US" altLang="ko-KR" sz="2400" b="1" dirty="0">
                <a:latin typeface="+mn-ea"/>
              </a:rPr>
              <a:t>(1/2)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0698D6C-E260-1752-7664-06F5A4499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076" y="3876607"/>
            <a:ext cx="3381847" cy="93358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64C6AA3-BAEF-59F9-1B2A-C8A6EB3C5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239</a:t>
            </a:fld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B293A0C-BA91-418B-AFB5-08CCEB342F50}"/>
              </a:ext>
            </a:extLst>
          </p:cNvPr>
          <p:cNvSpPr/>
          <p:nvPr/>
        </p:nvSpPr>
        <p:spPr>
          <a:xfrm>
            <a:off x="6428293" y="4324735"/>
            <a:ext cx="1278793" cy="228604"/>
          </a:xfrm>
          <a:prstGeom prst="roundRect">
            <a:avLst>
              <a:gd name="adj" fmla="val 47980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1E7D945-1939-45EB-8282-2A167FBC508E}"/>
              </a:ext>
            </a:extLst>
          </p:cNvPr>
          <p:cNvSpPr/>
          <p:nvPr/>
        </p:nvSpPr>
        <p:spPr>
          <a:xfrm>
            <a:off x="4547694" y="4173109"/>
            <a:ext cx="1106657" cy="228604"/>
          </a:xfrm>
          <a:prstGeom prst="roundRect">
            <a:avLst>
              <a:gd name="adj" fmla="val 47980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478518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+mn-ea"/>
              </a:rPr>
              <a:t> 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5.152] </a:t>
            </a:r>
            <a:r>
              <a:rPr lang="ko-KR" altLang="en-US" sz="1400" dirty="0">
                <a:latin typeface="+mn-ea"/>
              </a:rPr>
              <a:t>는 추출 관계가 사용돼 양방향 관계가 나타난 모델이다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계좌 </a:t>
            </a:r>
            <a:r>
              <a:rPr lang="ko-KR" altLang="en-US" sz="1400" dirty="0" err="1">
                <a:latin typeface="+mn-ea"/>
              </a:rPr>
              <a:t>엔터티에서</a:t>
            </a:r>
            <a:r>
              <a:rPr lang="ko-KR" altLang="en-US" sz="1400" dirty="0">
                <a:latin typeface="+mn-ea"/>
              </a:rPr>
              <a:t> 거래내역 </a:t>
            </a:r>
            <a:r>
              <a:rPr lang="ko-KR" altLang="en-US" sz="1400" dirty="0" err="1">
                <a:latin typeface="+mn-ea"/>
              </a:rPr>
              <a:t>엔터티</a:t>
            </a:r>
            <a:r>
              <a:rPr lang="ko-KR" altLang="en-US" sz="1400" dirty="0">
                <a:latin typeface="+mn-ea"/>
              </a:rPr>
              <a:t> 쪽으로의 관계선은 어떤 계좌가 거래를 발생시켰는지를 알기 위해  필요한 당연한 관계다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반면 ‘최종거래’ 관계선은 없어도 되지만 성능을 위해 채택한 추출 관계다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이렇게 추출 관계가 발생한 모델에서는 양방향 관계를 자주 볼 수 있다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5.153] </a:t>
            </a:r>
            <a:r>
              <a:rPr lang="ko-KR" altLang="en-US" sz="1400" dirty="0">
                <a:latin typeface="+mn-ea"/>
              </a:rPr>
              <a:t>모델에서는 변형된 추출 관계가 사용됐고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이 때문에 양방향 관계가 나타났다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고객과 법인고객 </a:t>
            </a:r>
            <a:r>
              <a:rPr lang="ko-KR" altLang="en-US" sz="1400" dirty="0" err="1">
                <a:latin typeface="+mn-ea"/>
              </a:rPr>
              <a:t>엔터티는</a:t>
            </a:r>
            <a:r>
              <a:rPr lang="ko-KR" altLang="en-US" sz="1400" dirty="0">
                <a:latin typeface="+mn-ea"/>
              </a:rPr>
              <a:t> 일대일 관계로 합체할 수 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그리고 ‘대표계좌’ 관계선은 추출 관계이므로 결국 고객과 계좌 </a:t>
            </a:r>
            <a:r>
              <a:rPr lang="ko-KR" altLang="en-US" sz="1400" dirty="0" err="1">
                <a:latin typeface="+mn-ea"/>
              </a:rPr>
              <a:t>엔터티</a:t>
            </a:r>
            <a:r>
              <a:rPr lang="ko-KR" altLang="en-US" sz="1400" dirty="0">
                <a:latin typeface="+mn-ea"/>
              </a:rPr>
              <a:t> 간에는 양방향 관계가 존재한다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양방향 관계와 유사한 관계가 순환 관계</a:t>
            </a:r>
            <a:r>
              <a:rPr lang="en-US" altLang="ko-KR" sz="1400" dirty="0">
                <a:latin typeface="+mn-ea"/>
              </a:rPr>
              <a:t>(Circular Relationship)</a:t>
            </a:r>
            <a:r>
              <a:rPr lang="ko-KR" altLang="en-US" sz="1400" dirty="0">
                <a:latin typeface="+mn-ea"/>
              </a:rPr>
              <a:t>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순환 관계는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5.154] </a:t>
            </a:r>
            <a:r>
              <a:rPr lang="ko-KR" altLang="en-US" sz="1400" dirty="0">
                <a:latin typeface="+mn-ea"/>
              </a:rPr>
              <a:t>모델과 같이 </a:t>
            </a:r>
            <a:r>
              <a:rPr lang="ko-KR" altLang="en-US" sz="1400" dirty="0" err="1">
                <a:latin typeface="+mn-ea"/>
              </a:rPr>
              <a:t>엔터티</a:t>
            </a:r>
            <a:r>
              <a:rPr lang="ko-KR" altLang="en-US" sz="1400" dirty="0">
                <a:latin typeface="+mn-ea"/>
              </a:rPr>
              <a:t> 간의 관계가 원형처럼 이어진 관계다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양방향 관계</a:t>
            </a:r>
            <a:r>
              <a:rPr lang="ko-KR" altLang="en-US" sz="1400" dirty="0">
                <a:latin typeface="+mn-ea"/>
              </a:rPr>
              <a:t>도 </a:t>
            </a:r>
            <a:r>
              <a:rPr lang="ko-KR" altLang="en-US" sz="1400" b="1" u="sng" dirty="0">
                <a:latin typeface="+mn-ea"/>
              </a:rPr>
              <a:t>넓은 의미</a:t>
            </a:r>
            <a:r>
              <a:rPr lang="ko-KR" altLang="en-US" sz="1400" dirty="0">
                <a:latin typeface="+mn-ea"/>
              </a:rPr>
              <a:t>의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순환 관계</a:t>
            </a:r>
            <a:r>
              <a:rPr lang="ko-KR" altLang="en-US" sz="1400" dirty="0">
                <a:latin typeface="+mn-ea"/>
              </a:rPr>
              <a:t>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300AE85-77B1-E741-43FD-C5ECF0EC9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25" y="3891852"/>
            <a:ext cx="3086531" cy="111458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F65CDBE-54CA-C722-E8C1-F92E16D08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489" y="2815377"/>
            <a:ext cx="2286319" cy="219105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99AFEA5-111A-1CDB-BC4D-601080B76A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4260" y="3063062"/>
            <a:ext cx="2629267" cy="1943371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DCC4883-6D6B-AB78-EAAB-78BE798C0E6D}"/>
              </a:ext>
            </a:extLst>
          </p:cNvPr>
          <p:cNvSpPr/>
          <p:nvPr/>
        </p:nvSpPr>
        <p:spPr>
          <a:xfrm>
            <a:off x="1673380" y="4839354"/>
            <a:ext cx="381767" cy="181726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6543142-215C-7022-F11D-71235743B34B}"/>
              </a:ext>
            </a:extLst>
          </p:cNvPr>
          <p:cNvSpPr/>
          <p:nvPr/>
        </p:nvSpPr>
        <p:spPr>
          <a:xfrm>
            <a:off x="5270592" y="4812832"/>
            <a:ext cx="505534" cy="175495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9EC7668-A4C5-73D2-699D-F5130C2BC61E}"/>
              </a:ext>
            </a:extLst>
          </p:cNvPr>
          <p:cNvSpPr/>
          <p:nvPr/>
        </p:nvSpPr>
        <p:spPr>
          <a:xfrm>
            <a:off x="7959477" y="4830938"/>
            <a:ext cx="505534" cy="175495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연결선: 구부러짐 15">
            <a:extLst>
              <a:ext uri="{FF2B5EF4-FFF2-40B4-BE49-F238E27FC236}">
                <a16:creationId xmlns:a16="http://schemas.microsoft.com/office/drawing/2014/main" id="{D21D2FF3-BC09-F574-034C-04542A17E4A8}"/>
              </a:ext>
            </a:extLst>
          </p:cNvPr>
          <p:cNvCxnSpPr>
            <a:cxnSpLocks/>
            <a:stCxn id="13" idx="0"/>
            <a:endCxn id="14" idx="0"/>
          </p:cNvCxnSpPr>
          <p:nvPr/>
        </p:nvCxnSpPr>
        <p:spPr>
          <a:xfrm rot="5400000" flipH="1" flipV="1">
            <a:off x="3680550" y="2996546"/>
            <a:ext cx="26522" cy="3659095"/>
          </a:xfrm>
          <a:prstGeom prst="curvedConnector3">
            <a:avLst>
              <a:gd name="adj1" fmla="val 961926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85E8CC9F-29FC-919B-4C51-27A8AA80A1BE}"/>
              </a:ext>
            </a:extLst>
          </p:cNvPr>
          <p:cNvCxnSpPr>
            <a:cxnSpLocks/>
            <a:stCxn id="14" idx="2"/>
            <a:endCxn id="15" idx="2"/>
          </p:cNvCxnSpPr>
          <p:nvPr/>
        </p:nvCxnSpPr>
        <p:spPr>
          <a:xfrm rot="16200000" flipH="1">
            <a:off x="6858748" y="3652937"/>
            <a:ext cx="18106" cy="2688885"/>
          </a:xfrm>
          <a:prstGeom prst="curvedConnector3">
            <a:avLst>
              <a:gd name="adj1" fmla="val 1362565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5" name="그림 24">
            <a:extLst>
              <a:ext uri="{FF2B5EF4-FFF2-40B4-BE49-F238E27FC236}">
                <a16:creationId xmlns:a16="http://schemas.microsoft.com/office/drawing/2014/main" id="{6344964E-43A5-1733-CEA1-CB5475FAC4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9967" y="3096761"/>
            <a:ext cx="2829320" cy="1924319"/>
          </a:xfrm>
          <a:prstGeom prst="rect">
            <a:avLst/>
          </a:prstGeom>
        </p:spPr>
      </p:pic>
      <p:sp>
        <p:nvSpPr>
          <p:cNvPr id="26" name="곱하기 기호 25">
            <a:extLst>
              <a:ext uri="{FF2B5EF4-FFF2-40B4-BE49-F238E27FC236}">
                <a16:creationId xmlns:a16="http://schemas.microsoft.com/office/drawing/2014/main" id="{3CDF1558-9699-FC55-359C-F20AAD65A6AD}"/>
              </a:ext>
            </a:extLst>
          </p:cNvPr>
          <p:cNvSpPr/>
          <p:nvPr/>
        </p:nvSpPr>
        <p:spPr>
          <a:xfrm>
            <a:off x="9469924" y="3143948"/>
            <a:ext cx="2199245" cy="1877132"/>
          </a:xfrm>
          <a:prstGeom prst="mathMultiply">
            <a:avLst>
              <a:gd name="adj1" fmla="val 13818"/>
            </a:avLst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828687-5E73-57BB-551A-B0E5CF620D37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양방향 관계 </a:t>
            </a:r>
            <a:r>
              <a:rPr lang="en-US" altLang="ko-KR" sz="2400" b="1" dirty="0">
                <a:latin typeface="+mn-ea"/>
              </a:rPr>
              <a:t>(2/2)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D467FF-3039-1CE3-C8C6-A6DB80095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240</a:t>
            </a:fld>
            <a:endParaRPr lang="ko-KR" altLang="en-US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5C620838-1440-4EC9-BC68-E71C2346B297}"/>
              </a:ext>
            </a:extLst>
          </p:cNvPr>
          <p:cNvSpPr/>
          <p:nvPr/>
        </p:nvSpPr>
        <p:spPr>
          <a:xfrm>
            <a:off x="8117633" y="3429000"/>
            <a:ext cx="896192" cy="237494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6A0C36-8A7F-4EF0-BCB1-939ED8693C97}"/>
              </a:ext>
            </a:extLst>
          </p:cNvPr>
          <p:cNvSpPr txBox="1"/>
          <p:nvPr/>
        </p:nvSpPr>
        <p:spPr>
          <a:xfrm>
            <a:off x="9290026" y="2544307"/>
            <a:ext cx="25292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FF0000"/>
                </a:solidFill>
              </a:rPr>
              <a:t>추출관계는 성능 때문에 사용하며</a:t>
            </a:r>
            <a:endParaRPr lang="en-US" altLang="ko-KR" sz="1100" b="1" dirty="0">
              <a:solidFill>
                <a:srgbClr val="FF0000"/>
              </a:solidFill>
            </a:endParaRPr>
          </a:p>
          <a:p>
            <a:r>
              <a:rPr lang="ko-KR" altLang="en-US" sz="1100" b="1" dirty="0">
                <a:solidFill>
                  <a:srgbClr val="FF0000"/>
                </a:solidFill>
              </a:rPr>
              <a:t>관계속성의 설명은 필수</a:t>
            </a:r>
          </a:p>
        </p:txBody>
      </p:sp>
      <p:cxnSp>
        <p:nvCxnSpPr>
          <p:cNvPr id="23" name="연결선: 구부러짐 22">
            <a:extLst>
              <a:ext uri="{FF2B5EF4-FFF2-40B4-BE49-F238E27FC236}">
                <a16:creationId xmlns:a16="http://schemas.microsoft.com/office/drawing/2014/main" id="{17DFCE81-1387-474F-AA8F-D37921A24969}"/>
              </a:ext>
            </a:extLst>
          </p:cNvPr>
          <p:cNvCxnSpPr>
            <a:cxnSpLocks/>
            <a:stCxn id="18" idx="1"/>
            <a:endCxn id="21" idx="0"/>
          </p:cNvCxnSpPr>
          <p:nvPr/>
        </p:nvCxnSpPr>
        <p:spPr>
          <a:xfrm rot="10800000" flipV="1">
            <a:off x="8565730" y="2759750"/>
            <a:ext cx="724297" cy="66924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BF69684F-E68C-49CB-8278-85F248AE7FE7}"/>
              </a:ext>
            </a:extLst>
          </p:cNvPr>
          <p:cNvSpPr/>
          <p:nvPr/>
        </p:nvSpPr>
        <p:spPr>
          <a:xfrm>
            <a:off x="10746899" y="3312205"/>
            <a:ext cx="796549" cy="579647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연결선: 구부러짐 31">
            <a:extLst>
              <a:ext uri="{FF2B5EF4-FFF2-40B4-BE49-F238E27FC236}">
                <a16:creationId xmlns:a16="http://schemas.microsoft.com/office/drawing/2014/main" id="{ABB0F206-CE90-4EB6-B467-99BA7CD401A8}"/>
              </a:ext>
            </a:extLst>
          </p:cNvPr>
          <p:cNvCxnSpPr>
            <a:cxnSpLocks/>
            <a:stCxn id="18" idx="2"/>
            <a:endCxn id="31" idx="0"/>
          </p:cNvCxnSpPr>
          <p:nvPr/>
        </p:nvCxnSpPr>
        <p:spPr>
          <a:xfrm rot="16200000" flipH="1">
            <a:off x="10681395" y="2848425"/>
            <a:ext cx="337011" cy="59054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70993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관계선을 잘못 표현하는 유형은 크게 두 가지가 있다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하나는 </a:t>
            </a:r>
            <a:r>
              <a:rPr lang="ko-KR" altLang="en-US" sz="1200" dirty="0" err="1">
                <a:latin typeface="+mn-ea"/>
              </a:rPr>
              <a:t>엔터티</a:t>
            </a:r>
            <a:r>
              <a:rPr lang="ko-KR" altLang="en-US" sz="1200" dirty="0">
                <a:latin typeface="+mn-ea"/>
              </a:rPr>
              <a:t> 간에 연관성이 존재하는데도 관계를 표현하지 않는 것이며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다른 하나는 연관성이 없는데도 관계를 표현하는 것이다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이번 장에서는 잘못 표현한 관계선에 대해 설명할 것이다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특별히 중요한 참조 무결성과 바로 상위 </a:t>
            </a:r>
            <a:r>
              <a:rPr lang="ko-KR" altLang="en-US" sz="1200" dirty="0" err="1">
                <a:latin typeface="+mn-ea"/>
              </a:rPr>
              <a:t>엔터티와의</a:t>
            </a:r>
            <a:r>
              <a:rPr lang="ko-KR" altLang="en-US" sz="1200" dirty="0">
                <a:latin typeface="+mn-ea"/>
              </a:rPr>
              <a:t> 관계에 대해서는 이번 장에서 설명하고 이어지는 장에서는 잘못 표현된 다양한 관계 예제에 대해서 설명할 것이다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모델링을 수행할 때 가장 부족한 부분이 </a:t>
            </a:r>
            <a:r>
              <a:rPr lang="ko-KR" altLang="en-US" sz="1200" dirty="0" err="1">
                <a:latin typeface="+mn-ea"/>
              </a:rPr>
              <a:t>엔터티</a:t>
            </a:r>
            <a:r>
              <a:rPr lang="ko-KR" altLang="en-US" sz="1200" dirty="0">
                <a:latin typeface="+mn-ea"/>
              </a:rPr>
              <a:t> 정의와 관계선의 표현이다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아래 </a:t>
            </a:r>
            <a:r>
              <a:rPr lang="ko-KR" altLang="en-US" sz="1200" b="1" u="sng" dirty="0">
                <a:latin typeface="+mn-ea"/>
              </a:rPr>
              <a:t>세 가지를 항상 염두에 두면서 관계를 도출</a:t>
            </a:r>
            <a:r>
              <a:rPr lang="ko-KR" altLang="en-US" sz="1200" dirty="0">
                <a:latin typeface="+mn-ea"/>
              </a:rPr>
              <a:t>해야 한다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속성으로 관리하려는 관계</a:t>
            </a:r>
            <a:endParaRPr lang="en-US" altLang="ko-KR" sz="1200" b="1" dirty="0">
              <a:solidFill>
                <a:srgbClr val="FF0000"/>
              </a:solidFill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참조 무결성 관계</a:t>
            </a:r>
            <a:endParaRPr lang="en-US" altLang="ko-KR" sz="1200" b="1" dirty="0">
              <a:solidFill>
                <a:srgbClr val="FF0000"/>
              </a:solidFill>
              <a:latin typeface="+mn-ea"/>
            </a:endParaRP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바로 상위의 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차 관계</a:t>
            </a:r>
            <a:endParaRPr lang="en-US" altLang="ko-KR" sz="1200" b="1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위의 세 가지 요소를 기준으로 해당 사항이 없으면 관계선으로 </a:t>
            </a: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표현하면 안 된다</a:t>
            </a: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오른쪽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5.156] </a:t>
            </a:r>
            <a:r>
              <a:rPr lang="ko-KR" altLang="en-US" sz="1200" dirty="0">
                <a:latin typeface="+mn-ea"/>
              </a:rPr>
              <a:t>모델은 </a:t>
            </a:r>
            <a:r>
              <a:rPr lang="en-US" altLang="ko-KR" sz="1200" b="1" u="sng" dirty="0">
                <a:latin typeface="+mn-ea"/>
              </a:rPr>
              <a:t>1</a:t>
            </a:r>
            <a:r>
              <a:rPr lang="ko-KR" altLang="en-US" sz="1200" b="1" u="sng" dirty="0">
                <a:latin typeface="+mn-ea"/>
              </a:rPr>
              <a:t>차 관계를 위반</a:t>
            </a:r>
            <a:r>
              <a:rPr lang="ko-KR" altLang="en-US" sz="1200" dirty="0">
                <a:latin typeface="+mn-ea"/>
              </a:rPr>
              <a:t>한 예제다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주문하기 전에 반드시 예약주문을 해야 한다는 업무 규칙을 </a:t>
            </a: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반영한 모델로 주문 </a:t>
            </a:r>
            <a:r>
              <a:rPr lang="ko-KR" altLang="en-US" sz="1200" dirty="0" err="1">
                <a:latin typeface="+mn-ea"/>
              </a:rPr>
              <a:t>엔터티의</a:t>
            </a:r>
            <a:r>
              <a:rPr lang="ko-KR" altLang="en-US" sz="1200" dirty="0">
                <a:latin typeface="+mn-ea"/>
              </a:rPr>
              <a:t> 고객번호 속성에 대한 바로 위의 </a:t>
            </a: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관계는 예약주문 </a:t>
            </a:r>
            <a:r>
              <a:rPr lang="ko-KR" altLang="en-US" sz="1200" dirty="0" err="1">
                <a:latin typeface="+mn-ea"/>
              </a:rPr>
              <a:t>엔터티의</a:t>
            </a:r>
            <a:r>
              <a:rPr lang="ko-KR" altLang="en-US" sz="1200" dirty="0">
                <a:latin typeface="+mn-ea"/>
              </a:rPr>
              <a:t> 고객번호 속성이다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고객 </a:t>
            </a:r>
            <a:r>
              <a:rPr lang="ko-KR" altLang="en-US" sz="1200" dirty="0" err="1">
                <a:latin typeface="+mn-ea"/>
              </a:rPr>
              <a:t>엔터티의</a:t>
            </a:r>
            <a:r>
              <a:rPr lang="ko-KR" altLang="en-US" sz="1200" dirty="0">
                <a:latin typeface="+mn-ea"/>
              </a:rPr>
              <a:t> </a:t>
            </a: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고객번호 속성이 아니다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상품번호 속성도 마찬가지다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따라서 </a:t>
            </a:r>
            <a:endParaRPr lang="en-US" altLang="ko-KR" sz="12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5.156] </a:t>
            </a:r>
            <a:r>
              <a:rPr lang="ko-KR" altLang="en-US" sz="1200" dirty="0">
                <a:latin typeface="+mn-ea"/>
              </a:rPr>
              <a:t>모델에서  </a:t>
            </a:r>
            <a:r>
              <a:rPr lang="en-US" altLang="ko-KR" sz="1200" dirty="0">
                <a:latin typeface="+mn-ea"/>
              </a:rPr>
              <a:t>a</a:t>
            </a:r>
            <a:r>
              <a:rPr lang="ko-KR" altLang="en-US" sz="1200" dirty="0">
                <a:latin typeface="+mn-ea"/>
              </a:rPr>
              <a:t>관계’ 와 ‘</a:t>
            </a:r>
            <a:r>
              <a:rPr lang="en-US" altLang="ko-KR" sz="1200" dirty="0">
                <a:latin typeface="+mn-ea"/>
              </a:rPr>
              <a:t>b</a:t>
            </a:r>
            <a:r>
              <a:rPr lang="ko-KR" altLang="en-US" sz="1200" dirty="0">
                <a:latin typeface="+mn-ea"/>
              </a:rPr>
              <a:t>관계’ 는 </a:t>
            </a:r>
            <a:r>
              <a:rPr lang="en-US" altLang="ko-KR" sz="1200" dirty="0">
                <a:latin typeface="+mn-ea"/>
              </a:rPr>
              <a:t>1</a:t>
            </a:r>
            <a:r>
              <a:rPr lang="ko-KR" altLang="en-US" sz="1200" dirty="0">
                <a:latin typeface="+mn-ea"/>
              </a:rPr>
              <a:t>차 관계가 아니다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추출 관계인데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정합성에 문제가 생길 수 있는 관계다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5.157]</a:t>
            </a:r>
            <a:r>
              <a:rPr lang="ko-KR" altLang="en-US" sz="1200" dirty="0">
                <a:latin typeface="+mn-ea"/>
              </a:rPr>
              <a:t>릴레이션은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5.156] </a:t>
            </a:r>
            <a:r>
              <a:rPr lang="ko-KR" altLang="en-US" sz="1200" dirty="0">
                <a:latin typeface="+mn-ea"/>
              </a:rPr>
              <a:t>모델에서 예약주문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n-ea"/>
              </a:rPr>
              <a:t>주문 </a:t>
            </a:r>
            <a:r>
              <a:rPr lang="ko-KR" altLang="en-US" sz="1200" dirty="0" err="1">
                <a:latin typeface="+mn-ea"/>
              </a:rPr>
              <a:t>엔터티</a:t>
            </a:r>
            <a:r>
              <a:rPr lang="ko-KR" altLang="en-US" sz="1200" dirty="0">
                <a:latin typeface="+mn-ea"/>
              </a:rPr>
              <a:t> 간의 관계가 없을 때에 대한 잘못된 사례 데이터다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잘못 설계한 관계 선 </a:t>
            </a:r>
            <a:r>
              <a:rPr lang="en-US" altLang="ko-KR" sz="2400" b="1" dirty="0">
                <a:latin typeface="+mn-ea"/>
              </a:rPr>
              <a:t>(1/3)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DD9507D-9B89-B071-5AE9-2D12FD377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319" y="2714664"/>
            <a:ext cx="2791215" cy="292458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0E78BE7-784C-3BF6-B810-F16373F24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3088" y="3656214"/>
            <a:ext cx="2467319" cy="76210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FA7A380-F115-3B67-27FA-49419AAE27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8766" y="4443566"/>
            <a:ext cx="2276793" cy="93358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6D0A25B-FB29-98CD-3740-F5713F5E87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6924" y="5458247"/>
            <a:ext cx="1800476" cy="18100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FEE7096-5755-67A6-4EAA-8A2DD3035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241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1407395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만약 예약주문 </a:t>
            </a:r>
            <a:r>
              <a:rPr lang="ko-KR" altLang="en-US" sz="1400" dirty="0" err="1">
                <a:latin typeface="+mn-ea"/>
              </a:rPr>
              <a:t>엔터티와</a:t>
            </a:r>
            <a:r>
              <a:rPr lang="ko-KR" altLang="en-US" sz="1400" dirty="0">
                <a:latin typeface="+mn-ea"/>
              </a:rPr>
              <a:t> 주문 </a:t>
            </a:r>
            <a:r>
              <a:rPr lang="ko-KR" altLang="en-US" sz="1400" dirty="0" err="1">
                <a:latin typeface="+mn-ea"/>
              </a:rPr>
              <a:t>엔터티가</a:t>
            </a:r>
            <a:r>
              <a:rPr lang="ko-KR" altLang="en-US" sz="1400" dirty="0">
                <a:latin typeface="+mn-ea"/>
              </a:rPr>
              <a:t> 관계가 없다면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즉 예약주문과 주문을 별도로 관리하고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주문에 대한 예약주문이 어떤 것이었는지를 관리할 필요가 없다면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5.156] </a:t>
            </a:r>
            <a:r>
              <a:rPr lang="ko-KR" altLang="en-US" sz="1400" dirty="0">
                <a:latin typeface="+mn-ea"/>
              </a:rPr>
              <a:t>모델에서 </a:t>
            </a:r>
            <a:r>
              <a:rPr lang="en-US" altLang="ko-KR" sz="1400" dirty="0">
                <a:latin typeface="+mn-ea"/>
              </a:rPr>
              <a:t>‘a</a:t>
            </a:r>
            <a:r>
              <a:rPr lang="ko-KR" altLang="en-US" sz="1400" dirty="0">
                <a:latin typeface="+mn-ea"/>
              </a:rPr>
              <a:t>관계’</a:t>
            </a:r>
            <a:r>
              <a:rPr lang="en-US" altLang="ko-KR" sz="1400" dirty="0">
                <a:latin typeface="+mn-ea"/>
              </a:rPr>
              <a:t>, ‘b</a:t>
            </a:r>
            <a:r>
              <a:rPr lang="ko-KR" altLang="en-US" sz="1400" dirty="0">
                <a:latin typeface="+mn-ea"/>
              </a:rPr>
              <a:t>관계’ 는 정상적인 관계다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대신 예약주문 </a:t>
            </a:r>
            <a:r>
              <a:rPr lang="ko-KR" altLang="en-US" sz="1400" dirty="0" err="1">
                <a:latin typeface="+mn-ea"/>
              </a:rPr>
              <a:t>엔터티와</a:t>
            </a:r>
            <a:r>
              <a:rPr lang="ko-KR" altLang="en-US" sz="1400" dirty="0">
                <a:latin typeface="+mn-ea"/>
              </a:rPr>
              <a:t> 주문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관계는 없어야 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5.158]</a:t>
            </a:r>
            <a:r>
              <a:rPr lang="ko-KR" altLang="en-US" sz="1400" dirty="0">
                <a:latin typeface="+mn-ea"/>
              </a:rPr>
              <a:t>은 참조 무결성 관점에서 잘못된 모델이다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이 모델에서 외국인 고객은 고객 </a:t>
            </a:r>
            <a:r>
              <a:rPr lang="ko-KR" altLang="en-US" sz="1400" dirty="0" err="1">
                <a:latin typeface="+mn-ea"/>
              </a:rPr>
              <a:t>엔터티에</a:t>
            </a:r>
            <a:r>
              <a:rPr lang="ko-KR" altLang="en-US" sz="1400" dirty="0">
                <a:latin typeface="+mn-ea"/>
              </a:rPr>
              <a:t> 통합되지 않고 별개로 관리되고 있다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그리고 외국인거래 </a:t>
            </a:r>
            <a:r>
              <a:rPr lang="ko-KR" altLang="en-US" sz="1400" dirty="0" err="1">
                <a:latin typeface="+mn-ea"/>
              </a:rPr>
              <a:t>엔터티는</a:t>
            </a:r>
            <a:r>
              <a:rPr lang="ko-KR" altLang="en-US" sz="1400" dirty="0">
                <a:latin typeface="+mn-ea"/>
              </a:rPr>
              <a:t> 외국인이 거래한 데이터를 관리하는 </a:t>
            </a:r>
            <a:r>
              <a:rPr lang="ko-KR" altLang="en-US" sz="1400" dirty="0" err="1">
                <a:latin typeface="+mn-ea"/>
              </a:rPr>
              <a:t>엔터티이므로</a:t>
            </a:r>
            <a:r>
              <a:rPr lang="ko-KR" altLang="en-US" sz="1400" dirty="0">
                <a:latin typeface="+mn-ea"/>
              </a:rPr>
              <a:t> ‘</a:t>
            </a:r>
            <a:r>
              <a:rPr lang="en-US" altLang="ko-KR" sz="1400" dirty="0">
                <a:latin typeface="+mn-ea"/>
              </a:rPr>
              <a:t>b</a:t>
            </a:r>
            <a:r>
              <a:rPr lang="ko-KR" altLang="en-US" sz="1400" dirty="0">
                <a:latin typeface="+mn-ea"/>
              </a:rPr>
              <a:t>관계’ 는 꼭 필요한 맞는 관계다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당연히 </a:t>
            </a:r>
            <a:r>
              <a:rPr lang="en-US" altLang="ko-KR" sz="1400" dirty="0">
                <a:latin typeface="+mn-ea"/>
              </a:rPr>
              <a:t>1</a:t>
            </a:r>
            <a:r>
              <a:rPr lang="ko-KR" altLang="en-US" sz="1400" dirty="0">
                <a:latin typeface="+mn-ea"/>
              </a:rPr>
              <a:t>차 관계다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하지만 </a:t>
            </a:r>
            <a:r>
              <a:rPr lang="en-US" altLang="ko-KR" sz="1400" dirty="0">
                <a:latin typeface="+mn-ea"/>
              </a:rPr>
              <a:t>‘a</a:t>
            </a:r>
            <a:r>
              <a:rPr lang="ko-KR" altLang="en-US" sz="1400" dirty="0">
                <a:latin typeface="+mn-ea"/>
              </a:rPr>
              <a:t>관계’ 는 잘못된 관계다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주 식별자</a:t>
            </a:r>
            <a:r>
              <a:rPr lang="en-US" altLang="ko-KR" sz="1400" dirty="0">
                <a:latin typeface="+mn-ea"/>
              </a:rPr>
              <a:t>(PK)</a:t>
            </a:r>
            <a:r>
              <a:rPr lang="ko-KR" altLang="en-US" sz="1400" dirty="0">
                <a:latin typeface="+mn-ea"/>
              </a:rPr>
              <a:t>가 같을 뿐 참조 무결성 관계가 아니기 때문에 잘못된 관계다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실제 데이터는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5.159] </a:t>
            </a:r>
            <a:r>
              <a:rPr lang="ko-KR" altLang="en-US" sz="1400" dirty="0">
                <a:latin typeface="+mn-ea"/>
              </a:rPr>
              <a:t>릴레이션과 같다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4B7F019-F2A4-369C-C26F-2E074C036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920" y="2877024"/>
            <a:ext cx="2467319" cy="174331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258480A-4E37-E792-9476-869DF0A7E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653" y="3172340"/>
            <a:ext cx="2553056" cy="14480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C849CB3-E18C-92EF-510C-E4EA2C14F0C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잘못 설계한 관계 선 </a:t>
            </a:r>
            <a:r>
              <a:rPr lang="en-US" altLang="ko-KR" sz="2400" b="1" dirty="0">
                <a:latin typeface="+mn-ea"/>
              </a:rPr>
              <a:t>(2/3)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3578AEC-6DB7-C7C0-5A10-361917E2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242</a:t>
            </a:fld>
            <a:endParaRPr lang="ko-KR" altLang="en-US" dirty="0"/>
          </a:p>
        </p:txBody>
      </p:sp>
      <p:sp>
        <p:nvSpPr>
          <p:cNvPr id="14" name="곱하기 기호 13">
            <a:extLst>
              <a:ext uri="{FF2B5EF4-FFF2-40B4-BE49-F238E27FC236}">
                <a16:creationId xmlns:a16="http://schemas.microsoft.com/office/drawing/2014/main" id="{A06F797B-E252-48E5-B5E4-42618E46CB5B}"/>
              </a:ext>
            </a:extLst>
          </p:cNvPr>
          <p:cNvSpPr/>
          <p:nvPr/>
        </p:nvSpPr>
        <p:spPr>
          <a:xfrm>
            <a:off x="3505691" y="3172340"/>
            <a:ext cx="317888" cy="285052"/>
          </a:xfrm>
          <a:prstGeom prst="mathMultiply">
            <a:avLst>
              <a:gd name="adj1" fmla="val 13818"/>
            </a:avLst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0685776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외국인거래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고객번호 데이터는 외국인고객 엔 터 티 에 만 존재하며 고객 </a:t>
            </a:r>
            <a:r>
              <a:rPr lang="ko-KR" altLang="en-US" sz="1400" dirty="0" err="1">
                <a:latin typeface="+mn-ea"/>
              </a:rPr>
              <a:t>엔터티에는</a:t>
            </a:r>
            <a:r>
              <a:rPr lang="ko-KR" altLang="en-US" sz="1400" dirty="0">
                <a:latin typeface="+mn-ea"/>
              </a:rPr>
              <a:t> 존재하지 않기 때문에 고객 </a:t>
            </a:r>
            <a:r>
              <a:rPr lang="ko-KR" altLang="en-US" sz="1400" dirty="0" err="1">
                <a:latin typeface="+mn-ea"/>
              </a:rPr>
              <a:t>엔터티와는</a:t>
            </a:r>
            <a:r>
              <a:rPr lang="ko-KR" altLang="en-US" sz="1400" dirty="0">
                <a:latin typeface="+mn-ea"/>
              </a:rPr>
              <a:t> 참조 무결성 관계가 없고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외국인고객 </a:t>
            </a:r>
            <a:r>
              <a:rPr lang="ko-KR" altLang="en-US" sz="1400" dirty="0" err="1">
                <a:latin typeface="+mn-ea"/>
              </a:rPr>
              <a:t>엔터티와</a:t>
            </a:r>
            <a:r>
              <a:rPr lang="ko-KR" altLang="en-US" sz="1400" dirty="0">
                <a:latin typeface="+mn-ea"/>
              </a:rPr>
              <a:t> 만 참조 무결성 관계가 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참조하는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외래 식별자 속성에 사용된 값이 참조되는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주 식별자 속성에 반드시 존재해야만 관계선을 표현하는 것이다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만약 외국인 고객이 고객 </a:t>
            </a:r>
            <a:r>
              <a:rPr lang="ko-KR" altLang="en-US" sz="1400" dirty="0" err="1">
                <a:latin typeface="+mn-ea"/>
              </a:rPr>
              <a:t>엔터티에</a:t>
            </a:r>
            <a:r>
              <a:rPr lang="ko-KR" altLang="en-US" sz="1400" dirty="0">
                <a:latin typeface="+mn-ea"/>
              </a:rPr>
              <a:t> 통합된다면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5.158]</a:t>
            </a:r>
            <a:r>
              <a:rPr lang="ko-KR" altLang="en-US" sz="1400" dirty="0">
                <a:latin typeface="+mn-ea"/>
              </a:rPr>
              <a:t> 모델은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 .160] </a:t>
            </a:r>
            <a:r>
              <a:rPr lang="ko-KR" altLang="en-US" sz="1400" dirty="0">
                <a:latin typeface="+mn-ea"/>
              </a:rPr>
              <a:t>과 유사해진다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5.160]</a:t>
            </a:r>
            <a:r>
              <a:rPr lang="ko-KR" altLang="en-US" sz="1400" dirty="0">
                <a:latin typeface="+mn-ea"/>
              </a:rPr>
              <a:t> 모델에서 ‘</a:t>
            </a:r>
            <a:r>
              <a:rPr lang="en-US" altLang="ko-KR" sz="1400" dirty="0">
                <a:latin typeface="+mn-ea"/>
              </a:rPr>
              <a:t>b</a:t>
            </a:r>
            <a:r>
              <a:rPr lang="ko-KR" altLang="en-US" sz="1400" dirty="0">
                <a:latin typeface="+mn-ea"/>
              </a:rPr>
              <a:t>관계’ 는 </a:t>
            </a:r>
            <a:r>
              <a:rPr lang="en-US" altLang="ko-KR" sz="1400" dirty="0">
                <a:latin typeface="+mn-ea"/>
              </a:rPr>
              <a:t>1</a:t>
            </a:r>
            <a:r>
              <a:rPr lang="ko-KR" altLang="en-US" sz="1400" dirty="0">
                <a:latin typeface="+mn-ea"/>
              </a:rPr>
              <a:t>차 관계이며 참조 무결성 관계이다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하지만 </a:t>
            </a:r>
            <a:r>
              <a:rPr lang="en-US" altLang="ko-KR" sz="1400" dirty="0">
                <a:latin typeface="+mn-ea"/>
              </a:rPr>
              <a:t>‘a</a:t>
            </a:r>
            <a:r>
              <a:rPr lang="ko-KR" altLang="en-US" sz="1400" dirty="0">
                <a:latin typeface="+mn-ea"/>
              </a:rPr>
              <a:t>관계’ 는 </a:t>
            </a:r>
            <a:r>
              <a:rPr lang="en-US" altLang="ko-KR" sz="1400" dirty="0">
                <a:latin typeface="+mn-ea"/>
              </a:rPr>
              <a:t>2</a:t>
            </a:r>
            <a:r>
              <a:rPr lang="ko-KR" altLang="en-US" sz="1400" dirty="0">
                <a:latin typeface="+mn-ea"/>
              </a:rPr>
              <a:t>차 관계이기 때문에 추출 관계다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만약 ‘</a:t>
            </a:r>
            <a:r>
              <a:rPr lang="en-US" altLang="ko-KR" sz="1400" dirty="0">
                <a:latin typeface="+mn-ea"/>
              </a:rPr>
              <a:t>b</a:t>
            </a:r>
            <a:r>
              <a:rPr lang="ko-KR" altLang="en-US" sz="1400" dirty="0">
                <a:latin typeface="+mn-ea"/>
              </a:rPr>
              <a:t>관계’ 가 없고 </a:t>
            </a:r>
            <a:r>
              <a:rPr lang="en-US" altLang="ko-KR" sz="1400" dirty="0">
                <a:latin typeface="+mn-ea"/>
              </a:rPr>
              <a:t>‘a</a:t>
            </a:r>
            <a:r>
              <a:rPr lang="ko-KR" altLang="en-US" sz="1400" dirty="0">
                <a:latin typeface="+mn-ea"/>
              </a:rPr>
              <a:t>관계’ 만 있다면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업무 규칙을 제대로 설계하지 못한 것이다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 때문에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5.161]</a:t>
            </a:r>
            <a:r>
              <a:rPr lang="ko-KR" altLang="en-US" sz="1400" dirty="0">
                <a:latin typeface="+mn-ea"/>
              </a:rPr>
              <a:t>과 같은 릴레이션이 생길 수 있다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C99C4F0-C25D-4006-8771-48620E7F9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729" y="2783554"/>
            <a:ext cx="4190257" cy="250021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3E91684-C1D1-A3EF-6716-A1C5BCD98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4726" y="3826242"/>
            <a:ext cx="2772162" cy="14575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D60FE5-ECF3-23BE-04D0-5CF1F5E3D16F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+mn-ea"/>
              </a:rPr>
              <a:t>잘못 설계한 관계 선 </a:t>
            </a:r>
            <a:r>
              <a:rPr lang="en-US" altLang="ko-KR" sz="2400" b="1" dirty="0">
                <a:latin typeface="+mn-ea"/>
              </a:rPr>
              <a:t>(3/3)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6D9AFC-A5A9-6581-CFA9-7C230CA83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243</a:t>
            </a:fld>
            <a:endParaRPr lang="ko-KR" altLang="en-US" dirty="0"/>
          </a:p>
        </p:txBody>
      </p:sp>
      <p:sp>
        <p:nvSpPr>
          <p:cNvPr id="11" name="곱하기 기호 10">
            <a:extLst>
              <a:ext uri="{FF2B5EF4-FFF2-40B4-BE49-F238E27FC236}">
                <a16:creationId xmlns:a16="http://schemas.microsoft.com/office/drawing/2014/main" id="{D4A95F67-671A-4FBA-B886-9D403F02ABFE}"/>
              </a:ext>
            </a:extLst>
          </p:cNvPr>
          <p:cNvSpPr/>
          <p:nvPr/>
        </p:nvSpPr>
        <p:spPr>
          <a:xfrm>
            <a:off x="5056545" y="3125286"/>
            <a:ext cx="436964" cy="420346"/>
          </a:xfrm>
          <a:prstGeom prst="mathMultiply">
            <a:avLst>
              <a:gd name="adj1" fmla="val 13818"/>
            </a:avLst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0297230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7"/>
            </a:pP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잘못 설계한 관계선의 다양한 예제</a:t>
            </a:r>
            <a:endParaRPr lang="en-US" altLang="ko-KR" b="1" dirty="0">
              <a:latin typeface="+mn-ea"/>
            </a:endParaRPr>
          </a:p>
          <a:p>
            <a:pPr marL="342900" indent="-342900">
              <a:buFont typeface="+mj-lt"/>
              <a:buAutoNum type="arabicPeriod" startAt="37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b="1" u="sng" dirty="0">
                <a:latin typeface="+mn-ea"/>
              </a:rPr>
              <a:t>잘못 사용한 관계선</a:t>
            </a:r>
            <a:r>
              <a:rPr lang="ko-KR" altLang="en-US" sz="1400" dirty="0">
                <a:latin typeface="+mn-ea"/>
              </a:rPr>
              <a:t>에 대한 </a:t>
            </a:r>
            <a:r>
              <a:rPr lang="ko-KR" altLang="en-US" sz="1400" b="1" u="sng" dirty="0">
                <a:latin typeface="+mn-ea"/>
              </a:rPr>
              <a:t>다양한 예제</a:t>
            </a:r>
            <a:r>
              <a:rPr lang="ko-KR" altLang="en-US" sz="1400" dirty="0">
                <a:latin typeface="+mn-ea"/>
              </a:rPr>
              <a:t>를 설명할 것이다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관계선을 잘못 표현하는 경우는 다양하게 나타나는데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결국 참조 무결성 관계와 </a:t>
            </a:r>
            <a:r>
              <a:rPr lang="en-US" altLang="ko-KR" sz="1400" dirty="0">
                <a:latin typeface="+mn-ea"/>
              </a:rPr>
              <a:t>1</a:t>
            </a:r>
            <a:r>
              <a:rPr lang="ko-KR" altLang="en-US" sz="1400" dirty="0">
                <a:latin typeface="+mn-ea"/>
              </a:rPr>
              <a:t>차 관계를 고려하지 않아서 나타난다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관계선은 반드시 참조 무결성 제약으로 구현돼야 한다는 사실을 염두에 둬야 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+mj-lt"/>
              <a:buAutoNum type="arabicParenR"/>
            </a:pPr>
            <a:r>
              <a:rPr lang="ko-KR" altLang="en-US" sz="1400" b="1" dirty="0">
                <a:latin typeface="+mn-ea"/>
              </a:rPr>
              <a:t>주 식별자가 같을 때</a:t>
            </a:r>
            <a:endParaRPr lang="en-US" altLang="ko-KR" sz="1400" b="1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관계선을 무의식적으로 표현하는 대표적인 경우는 </a:t>
            </a:r>
            <a:r>
              <a:rPr lang="ko-KR" altLang="en-US" sz="1200" dirty="0" err="1">
                <a:latin typeface="+mn-ea"/>
              </a:rPr>
              <a:t>엔터티가</a:t>
            </a:r>
            <a:r>
              <a:rPr lang="ko-KR" altLang="en-US" sz="1200" dirty="0">
                <a:latin typeface="+mn-ea"/>
              </a:rPr>
              <a:t> 유사하며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주 식별자 속성이 같을 때다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수표를 거래한 내역은 수표거래내역 </a:t>
            </a:r>
            <a:r>
              <a:rPr lang="ko-KR" altLang="en-US" sz="1200" b="1" u="sng" dirty="0" err="1">
                <a:solidFill>
                  <a:srgbClr val="FF0000"/>
                </a:solidFill>
                <a:latin typeface="+mn-ea"/>
              </a:rPr>
              <a:t>엔터티에서만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 관리</a:t>
            </a:r>
            <a:r>
              <a:rPr lang="ko-KR" altLang="en-US" sz="1200" dirty="0">
                <a:latin typeface="+mn-ea"/>
              </a:rPr>
              <a:t>하고 거래내역 </a:t>
            </a:r>
            <a:r>
              <a:rPr lang="ko-KR" altLang="en-US" sz="1200" dirty="0" err="1">
                <a:latin typeface="+mn-ea"/>
              </a:rPr>
              <a:t>엔터티에서</a:t>
            </a:r>
            <a:r>
              <a:rPr lang="ko-KR" altLang="en-US" sz="1200" dirty="0">
                <a:latin typeface="+mn-ea"/>
              </a:rPr>
              <a:t> 관리하지 않는다는 요건이 있을 때</a:t>
            </a:r>
            <a:r>
              <a:rPr lang="en-US" altLang="ko-KR" sz="1200" dirty="0">
                <a:latin typeface="+mn-ea"/>
              </a:rPr>
              <a:t>,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5.162]</a:t>
            </a:r>
            <a:r>
              <a:rPr lang="ko-KR" altLang="en-US" sz="1200" dirty="0">
                <a:latin typeface="+mn-ea"/>
              </a:rPr>
              <a:t>는 잘못된 관계를 표현한 모델이다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퇴직 사원 데이터는 사원 </a:t>
            </a:r>
            <a:r>
              <a:rPr lang="ko-KR" altLang="en-US" sz="1200" dirty="0" err="1">
                <a:latin typeface="+mn-ea"/>
              </a:rPr>
              <a:t>엔터티에는</a:t>
            </a:r>
            <a:r>
              <a:rPr lang="ko-KR" altLang="en-US" sz="1200" dirty="0">
                <a:latin typeface="+mn-ea"/>
              </a:rPr>
              <a:t> 존재하지 않고 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퇴직사원 </a:t>
            </a:r>
            <a:r>
              <a:rPr lang="ko-KR" altLang="en-US" sz="1200" b="1" u="sng" dirty="0" err="1">
                <a:solidFill>
                  <a:srgbClr val="FF0000"/>
                </a:solidFill>
                <a:latin typeface="+mn-ea"/>
              </a:rPr>
              <a:t>엔터티에만</a:t>
            </a:r>
            <a:r>
              <a:rPr lang="ko-KR" altLang="en-US" sz="1200" b="1" u="sng" dirty="0">
                <a:solidFill>
                  <a:srgbClr val="FF0000"/>
                </a:solidFill>
                <a:latin typeface="+mn-ea"/>
              </a:rPr>
              <a:t> 존재한다는 요건</a:t>
            </a:r>
            <a:r>
              <a:rPr lang="ko-KR" altLang="en-US" sz="1200" dirty="0">
                <a:latin typeface="+mn-ea"/>
              </a:rPr>
              <a:t>이 있다면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사원과 퇴직사원 </a:t>
            </a:r>
            <a:r>
              <a:rPr lang="ko-KR" altLang="en-US" sz="1200" dirty="0" err="1">
                <a:latin typeface="+mn-ea"/>
              </a:rPr>
              <a:t>엔터티는</a:t>
            </a:r>
            <a:r>
              <a:rPr lang="ko-KR" altLang="en-US" sz="1200" dirty="0">
                <a:latin typeface="+mn-ea"/>
              </a:rPr>
              <a:t> 서로 관계가 없으므로 관계선을 표현하면 안 된다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관계 이야기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E407110-7174-4F64-9897-FC1D2D403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136" y="4977561"/>
            <a:ext cx="2343477" cy="84784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79B500A-0D8C-9D5A-5D32-45B09C2BB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567" y="4720350"/>
            <a:ext cx="2600688" cy="110505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ABCB0E6-43CD-E42C-216A-FE0F42A69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016" y="4720350"/>
            <a:ext cx="2429214" cy="1105054"/>
          </a:xfrm>
          <a:prstGeom prst="rect">
            <a:avLst/>
          </a:prstGeom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03659E2-ED7A-CEBA-FDEA-2EAF4368D118}"/>
              </a:ext>
            </a:extLst>
          </p:cNvPr>
          <p:cNvCxnSpPr>
            <a:cxnSpLocks/>
          </p:cNvCxnSpPr>
          <p:nvPr/>
        </p:nvCxnSpPr>
        <p:spPr>
          <a:xfrm>
            <a:off x="7611216" y="5258216"/>
            <a:ext cx="46132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곱하기 기호 14">
            <a:extLst>
              <a:ext uri="{FF2B5EF4-FFF2-40B4-BE49-F238E27FC236}">
                <a16:creationId xmlns:a16="http://schemas.microsoft.com/office/drawing/2014/main" id="{6C07C5BA-9EB1-A281-4390-87B0BE31FA3E}"/>
              </a:ext>
            </a:extLst>
          </p:cNvPr>
          <p:cNvSpPr/>
          <p:nvPr/>
        </p:nvSpPr>
        <p:spPr>
          <a:xfrm>
            <a:off x="5861933" y="4942655"/>
            <a:ext cx="468134" cy="419172"/>
          </a:xfrm>
          <a:prstGeom prst="mathMultiply">
            <a:avLst>
              <a:gd name="adj1" fmla="val 13818"/>
            </a:avLst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7C76D15-E282-8799-1B9C-A3EE9457D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244</a:t>
            </a:fld>
            <a:endParaRPr lang="ko-KR" altLang="en-US" dirty="0"/>
          </a:p>
        </p:txBody>
      </p:sp>
      <p:sp>
        <p:nvSpPr>
          <p:cNvPr id="17" name="곱하기 기호 16">
            <a:extLst>
              <a:ext uri="{FF2B5EF4-FFF2-40B4-BE49-F238E27FC236}">
                <a16:creationId xmlns:a16="http://schemas.microsoft.com/office/drawing/2014/main" id="{FF464C3C-B99B-43CB-9B87-D130E47B37FA}"/>
              </a:ext>
            </a:extLst>
          </p:cNvPr>
          <p:cNvSpPr/>
          <p:nvPr/>
        </p:nvSpPr>
        <p:spPr>
          <a:xfrm>
            <a:off x="2642871" y="5130192"/>
            <a:ext cx="468134" cy="419172"/>
          </a:xfrm>
          <a:prstGeom prst="mathMultiply">
            <a:avLst>
              <a:gd name="adj1" fmla="val 13818"/>
            </a:avLst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3039205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326572" y="1496173"/>
            <a:ext cx="11768858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7"/>
            </a:pP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잘못 설계한 관계선의 다양한 예제</a:t>
            </a:r>
            <a:endParaRPr lang="en-US" altLang="ko-KR" b="1" dirty="0">
              <a:latin typeface="+mn-ea"/>
            </a:endParaRPr>
          </a:p>
          <a:p>
            <a:pPr marL="342900" indent="-342900">
              <a:buFont typeface="+mj-lt"/>
              <a:buAutoNum type="arabicPeriod" startAt="37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+mj-lt"/>
              <a:buAutoNum type="arabicParenR" startAt="2"/>
            </a:pPr>
            <a:r>
              <a:rPr lang="ko-KR" altLang="en-US" sz="1400" b="1" dirty="0">
                <a:latin typeface="+mn-ea"/>
              </a:rPr>
              <a:t>프로세스를 표현할 때</a:t>
            </a:r>
            <a:endParaRPr lang="en-US" altLang="ko-KR" sz="1400" b="1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관계선에 대해 주로 혼동하는 것 중의 하나가 프로세스를 관계로 표현하는 것이다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물론 프로세스가 관계로 표현되는 예도 있지만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그렇지 않은 예도 많기 때문에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프로세스를 무조건 관계로 표현하지 않아야 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5.165]</a:t>
            </a:r>
            <a:r>
              <a:rPr lang="ko-KR" altLang="en-US" sz="1400" dirty="0">
                <a:latin typeface="+mn-ea"/>
              </a:rPr>
              <a:t>는 주식을 주문하고 체결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결제된 데이터를 관리하는 모델이다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하나의 주문이 여러 건으로 체결되므로 주문과 체결 사이의 관계는 정상이다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하지만 체결 한 건에 대해 여러 건의 결제 데이터가 생기지 않으므로 체결과 결제 사이의 관계는 정상이 아니다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데이터가 생성되는 순서는 주문</a:t>
            </a:r>
            <a:r>
              <a:rPr lang="en-US" altLang="ko-KR" sz="1400" dirty="0">
                <a:latin typeface="+mn-ea"/>
              </a:rPr>
              <a:t> • </a:t>
            </a:r>
            <a:r>
              <a:rPr lang="ko-KR" altLang="en-US" sz="1400" dirty="0">
                <a:latin typeface="+mn-ea"/>
              </a:rPr>
              <a:t>체결 </a:t>
            </a:r>
            <a:r>
              <a:rPr lang="en-US" altLang="ko-KR" sz="1400" dirty="0">
                <a:latin typeface="+mn-ea"/>
              </a:rPr>
              <a:t>• </a:t>
            </a:r>
            <a:r>
              <a:rPr lang="ko-KR" altLang="en-US" sz="1400" dirty="0">
                <a:latin typeface="+mn-ea"/>
              </a:rPr>
              <a:t>결제가 맞지만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데이터 생성 순서와 관계선은 별개이므로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5.165] </a:t>
            </a:r>
            <a:r>
              <a:rPr lang="ko-KR" altLang="en-US" sz="1400" dirty="0">
                <a:latin typeface="+mn-ea"/>
              </a:rPr>
              <a:t>모델과 같이 </a:t>
            </a:r>
            <a:endParaRPr lang="en-US" altLang="ko-KR" sz="14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데이터 처리 순서에 따라 관계선을 표현하면 안 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만약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체결 가격이 같은 데이터는 하나의 결제로 처리한다는 업무 규칙</a:t>
            </a:r>
            <a:r>
              <a:rPr lang="ko-KR" altLang="en-US" sz="1400" dirty="0">
                <a:latin typeface="+mn-ea"/>
              </a:rPr>
              <a:t>이 </a:t>
            </a:r>
            <a:endParaRPr lang="en-US" altLang="ko-KR" sz="14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있다면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5.166]</a:t>
            </a:r>
            <a:r>
              <a:rPr lang="ko-KR" altLang="en-US" sz="1400" dirty="0">
                <a:latin typeface="+mn-ea"/>
              </a:rPr>
              <a:t>과 같은 모델이 될 것이다</a:t>
            </a:r>
            <a:r>
              <a:rPr lang="en-US" altLang="ko-KR" sz="1400" dirty="0">
                <a:latin typeface="+mn-ea"/>
              </a:rPr>
              <a:t>.  </a:t>
            </a:r>
            <a:r>
              <a:rPr lang="ko-KR" altLang="en-US" sz="1400" dirty="0">
                <a:latin typeface="+mn-ea"/>
              </a:rPr>
              <a:t>또한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체결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결제번호 관계 속성은 널 값을 허용</a:t>
            </a:r>
            <a:r>
              <a:rPr lang="ko-KR" altLang="en-US" sz="1400" dirty="0">
                <a:latin typeface="+mn-ea"/>
              </a:rPr>
              <a:t>해야 한다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관계 이야기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21344F7-9FD6-5B7E-686E-2EB4B8B17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647" y="3326861"/>
            <a:ext cx="3562847" cy="82879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9413B25-658A-2599-424C-CA7BAE961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522" y="3164914"/>
            <a:ext cx="3419952" cy="990738"/>
          </a:xfrm>
          <a:prstGeom prst="rect">
            <a:avLst/>
          </a:prstGeom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7660AD6-74BB-0130-E25C-8303D45445D7}"/>
              </a:ext>
            </a:extLst>
          </p:cNvPr>
          <p:cNvSpPr/>
          <p:nvPr/>
        </p:nvSpPr>
        <p:spPr>
          <a:xfrm>
            <a:off x="4826138" y="3706567"/>
            <a:ext cx="813337" cy="175495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9C0924F-D41A-9949-4B3D-1C20158F045A}"/>
              </a:ext>
            </a:extLst>
          </p:cNvPr>
          <p:cNvSpPr/>
          <p:nvPr/>
        </p:nvSpPr>
        <p:spPr>
          <a:xfrm>
            <a:off x="7658935" y="3706567"/>
            <a:ext cx="813337" cy="175495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5892EC-4644-26C5-3E67-A4D32F185155}"/>
              </a:ext>
            </a:extLst>
          </p:cNvPr>
          <p:cNvSpPr txBox="1"/>
          <p:nvPr/>
        </p:nvSpPr>
        <p:spPr>
          <a:xfrm>
            <a:off x="8553145" y="3271534"/>
            <a:ext cx="369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</a:rPr>
              <a:t>o</a:t>
            </a:r>
            <a:endParaRPr lang="ko-KR" altLang="en-US" sz="2400" dirty="0">
              <a:solidFill>
                <a:srgbClr val="FF0000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9245E5D-FECD-9BF3-F6CE-22312A010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245</a:t>
            </a:fld>
            <a:endParaRPr lang="ko-KR" altLang="en-US" dirty="0"/>
          </a:p>
        </p:txBody>
      </p:sp>
      <p:sp>
        <p:nvSpPr>
          <p:cNvPr id="13" name="곱하기 기호 12">
            <a:extLst>
              <a:ext uri="{FF2B5EF4-FFF2-40B4-BE49-F238E27FC236}">
                <a16:creationId xmlns:a16="http://schemas.microsoft.com/office/drawing/2014/main" id="{1307C1CD-75C0-4E81-9FB2-7115B3354EA3}"/>
              </a:ext>
            </a:extLst>
          </p:cNvPr>
          <p:cNvSpPr/>
          <p:nvPr/>
        </p:nvSpPr>
        <p:spPr>
          <a:xfrm>
            <a:off x="4371533" y="3517757"/>
            <a:ext cx="315543" cy="285052"/>
          </a:xfrm>
          <a:prstGeom prst="mathMultiply">
            <a:avLst>
              <a:gd name="adj1" fmla="val 13818"/>
            </a:avLst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0214497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7"/>
            </a:pP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잘못 설계한 관계선의 다양한 예제</a:t>
            </a:r>
            <a:endParaRPr lang="en-US" altLang="ko-KR" b="1" dirty="0">
              <a:latin typeface="+mn-ea"/>
            </a:endParaRPr>
          </a:p>
          <a:p>
            <a:pPr marL="342900" indent="-342900">
              <a:buFont typeface="+mj-lt"/>
              <a:buAutoNum type="arabicPeriod" startAt="37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+mj-lt"/>
              <a:buAutoNum type="arabicParenR" startAt="3"/>
            </a:pPr>
            <a:r>
              <a:rPr lang="ko-KR" altLang="en-US" sz="1400" b="1" dirty="0">
                <a:latin typeface="+mn-ea"/>
              </a:rPr>
              <a:t>주 식별자를 상속한 관계가 추출 관계일 때</a:t>
            </a:r>
            <a:endParaRPr lang="en-US" altLang="ko-KR" sz="1400" b="1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주 식별자를 상속한 추출 관계선도 표현하지 않아야 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5.167] </a:t>
            </a:r>
            <a:r>
              <a:rPr lang="ko-KR" altLang="en-US" sz="1200" dirty="0">
                <a:latin typeface="+mn-ea"/>
              </a:rPr>
              <a:t>모델에서 지점 </a:t>
            </a:r>
            <a:r>
              <a:rPr lang="ko-KR" altLang="en-US" sz="1200" dirty="0" err="1">
                <a:latin typeface="+mn-ea"/>
              </a:rPr>
              <a:t>엔터티와</a:t>
            </a:r>
            <a:r>
              <a:rPr lang="ko-KR" altLang="en-US" sz="1200" dirty="0">
                <a:latin typeface="+mn-ea"/>
              </a:rPr>
              <a:t>  거래내역 </a:t>
            </a:r>
            <a:r>
              <a:rPr lang="ko-KR" altLang="en-US" sz="1200" dirty="0" err="1">
                <a:latin typeface="+mn-ea"/>
              </a:rPr>
              <a:t>엔터티의</a:t>
            </a:r>
            <a:r>
              <a:rPr lang="ko-KR" altLang="en-US" sz="1200" dirty="0">
                <a:latin typeface="+mn-ea"/>
              </a:rPr>
              <a:t> ‘개설지점’ 관계는 삭제해도 무방한 관계선이다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이미 계좌 </a:t>
            </a:r>
            <a:r>
              <a:rPr lang="ko-KR" altLang="en-US" sz="1200" dirty="0" err="1">
                <a:latin typeface="+mn-ea"/>
              </a:rPr>
              <a:t>엔터티에서</a:t>
            </a:r>
            <a:r>
              <a:rPr lang="ko-KR" altLang="en-US" sz="1200" dirty="0">
                <a:latin typeface="+mn-ea"/>
              </a:rPr>
              <a:t> 개설지점번호 속성을 식별자로 상속받았기 때문에 거래내역 </a:t>
            </a:r>
            <a:r>
              <a:rPr lang="ko-KR" altLang="en-US" sz="1200" dirty="0" err="1">
                <a:latin typeface="+mn-ea"/>
              </a:rPr>
              <a:t>엔터티에서</a:t>
            </a:r>
            <a:r>
              <a:rPr lang="ko-KR" altLang="en-US" sz="1200" dirty="0">
                <a:latin typeface="+mn-ea"/>
              </a:rPr>
              <a:t> 다시 식별자로 상속받는 것은 의미가 없다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지점과 거래내역 </a:t>
            </a:r>
            <a:r>
              <a:rPr lang="ko-KR" altLang="en-US" sz="1200" dirty="0" err="1">
                <a:latin typeface="+mn-ea"/>
              </a:rPr>
              <a:t>엔터티의</a:t>
            </a:r>
            <a:r>
              <a:rPr lang="ko-KR" altLang="en-US" sz="1200" dirty="0">
                <a:latin typeface="+mn-ea"/>
              </a:rPr>
              <a:t> 개설지점 관계는 추출 관계라고 볼 수도 있지만，관계선을 삭제해도 관계 속성이 삭제되지 않기 때문에 아무런 의미가 없는 관계선이다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하지만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5.168] </a:t>
            </a:r>
            <a:r>
              <a:rPr lang="ko-KR" altLang="en-US" sz="1200" dirty="0">
                <a:latin typeface="+mn-ea"/>
              </a:rPr>
              <a:t>모델과 같이 지점 </a:t>
            </a:r>
            <a:r>
              <a:rPr lang="ko-KR" altLang="en-US" sz="1200" dirty="0" err="1">
                <a:latin typeface="+mn-ea"/>
              </a:rPr>
              <a:t>엔터티의</a:t>
            </a:r>
            <a:r>
              <a:rPr lang="ko-KR" altLang="en-US" sz="1200" dirty="0">
                <a:latin typeface="+mn-ea"/>
              </a:rPr>
              <a:t> 주 식별자를 계좌 </a:t>
            </a:r>
            <a:r>
              <a:rPr lang="ko-KR" altLang="en-US" sz="1200" dirty="0" err="1">
                <a:latin typeface="+mn-ea"/>
              </a:rPr>
              <a:t>엔터티에</a:t>
            </a:r>
            <a:r>
              <a:rPr lang="ko-KR" altLang="en-US" sz="1200" dirty="0">
                <a:latin typeface="+mn-ea"/>
              </a:rPr>
              <a:t> 식별자로 상속하지 않고 일반 속성으로 상속할 때는</a:t>
            </a:r>
            <a:r>
              <a:rPr lang="en-US" altLang="ko-KR" sz="1200" dirty="0">
                <a:latin typeface="+mn-ea"/>
              </a:rPr>
              <a:t>,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성능 때문에 지점 </a:t>
            </a:r>
            <a:r>
              <a:rPr lang="ko-KR" altLang="en-US" sz="1200" dirty="0" err="1">
                <a:latin typeface="+mn-ea"/>
              </a:rPr>
              <a:t>엔터티와</a:t>
            </a:r>
            <a:r>
              <a:rPr lang="ko-KR" altLang="en-US" sz="1200" dirty="0">
                <a:latin typeface="+mn-ea"/>
              </a:rPr>
              <a:t> 거래내역 </a:t>
            </a:r>
            <a:r>
              <a:rPr lang="ko-KR" altLang="en-US" sz="1200" dirty="0" err="1">
                <a:latin typeface="+mn-ea"/>
              </a:rPr>
              <a:t>엔터티의</a:t>
            </a:r>
            <a:r>
              <a:rPr lang="ko-KR" altLang="en-US" sz="1200" dirty="0">
                <a:latin typeface="+mn-ea"/>
              </a:rPr>
              <a:t> 추출 관계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개설지점</a:t>
            </a:r>
            <a:r>
              <a:rPr lang="en-US" altLang="ko-KR" sz="1200" dirty="0">
                <a:latin typeface="+mn-ea"/>
              </a:rPr>
              <a:t>)</a:t>
            </a:r>
            <a:r>
              <a:rPr lang="ko-KR" altLang="en-US" sz="1200" dirty="0">
                <a:latin typeface="+mn-ea"/>
              </a:rPr>
              <a:t>를 채택할 수도 있다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관계 이야기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9A0E875-A556-ACC5-6C2A-52FC548BE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073" y="3256986"/>
            <a:ext cx="2943636" cy="21529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328D897-3756-6D6F-AC8F-204F7BB3C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525" y="3237933"/>
            <a:ext cx="2991267" cy="2172003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12B7FB1-9FAC-EF69-E1DB-C080AC1C55D9}"/>
              </a:ext>
            </a:extLst>
          </p:cNvPr>
          <p:cNvSpPr/>
          <p:nvPr/>
        </p:nvSpPr>
        <p:spPr>
          <a:xfrm>
            <a:off x="4645901" y="4803326"/>
            <a:ext cx="161489" cy="377434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B1BF617-C18F-C89A-0B28-B137FDA5D048}"/>
              </a:ext>
            </a:extLst>
          </p:cNvPr>
          <p:cNvSpPr/>
          <p:nvPr/>
        </p:nvSpPr>
        <p:spPr>
          <a:xfrm>
            <a:off x="8120923" y="4956498"/>
            <a:ext cx="1004970" cy="197103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486CD25-47A7-CAD0-5F82-71CD91BEC98B}"/>
              </a:ext>
            </a:extLst>
          </p:cNvPr>
          <p:cNvSpPr/>
          <p:nvPr/>
        </p:nvSpPr>
        <p:spPr>
          <a:xfrm>
            <a:off x="3749610" y="5221219"/>
            <a:ext cx="532681" cy="188717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BB9FC77-4C16-0A7B-F40D-878BDD2BDCBC}"/>
              </a:ext>
            </a:extLst>
          </p:cNvPr>
          <p:cNvSpPr/>
          <p:nvPr/>
        </p:nvSpPr>
        <p:spPr>
          <a:xfrm>
            <a:off x="7549817" y="5217181"/>
            <a:ext cx="532681" cy="188717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60975616-FA4C-F8AC-5064-96F6EA1B44D3}"/>
              </a:ext>
            </a:extLst>
          </p:cNvPr>
          <p:cNvCxnSpPr>
            <a:cxnSpLocks/>
            <a:stCxn id="15" idx="0"/>
            <a:endCxn id="13" idx="1"/>
          </p:cNvCxnSpPr>
          <p:nvPr/>
        </p:nvCxnSpPr>
        <p:spPr>
          <a:xfrm rot="5400000" flipH="1" flipV="1">
            <a:off x="4216338" y="4791656"/>
            <a:ext cx="229176" cy="62995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연결선: 구부러짐 22">
            <a:extLst>
              <a:ext uri="{FF2B5EF4-FFF2-40B4-BE49-F238E27FC236}">
                <a16:creationId xmlns:a16="http://schemas.microsoft.com/office/drawing/2014/main" id="{CC619C14-6D56-6634-F9E0-18F73A72D209}"/>
              </a:ext>
            </a:extLst>
          </p:cNvPr>
          <p:cNvCxnSpPr>
            <a:cxnSpLocks/>
            <a:stCxn id="16" idx="0"/>
            <a:endCxn id="14" idx="1"/>
          </p:cNvCxnSpPr>
          <p:nvPr/>
        </p:nvCxnSpPr>
        <p:spPr>
          <a:xfrm rot="5400000" flipH="1" flipV="1">
            <a:off x="7887475" y="4983734"/>
            <a:ext cx="162131" cy="30476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6AB1C28-8118-9CBC-E4BB-FF38734D1D14}"/>
              </a:ext>
            </a:extLst>
          </p:cNvPr>
          <p:cNvSpPr txBox="1"/>
          <p:nvPr/>
        </p:nvSpPr>
        <p:spPr>
          <a:xfrm>
            <a:off x="7730115" y="4585568"/>
            <a:ext cx="369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</a:rPr>
              <a:t>o</a:t>
            </a:r>
            <a:endParaRPr lang="ko-KR" altLang="en-US" sz="2400" dirty="0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C2F75C-C69A-44F7-19F2-43EAA61594CC}"/>
              </a:ext>
            </a:extLst>
          </p:cNvPr>
          <p:cNvSpPr txBox="1"/>
          <p:nvPr/>
        </p:nvSpPr>
        <p:spPr>
          <a:xfrm>
            <a:off x="4278734" y="4614609"/>
            <a:ext cx="369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</a:rPr>
              <a:t>o</a:t>
            </a:r>
            <a:endParaRPr lang="ko-KR" altLang="en-US" sz="2400" dirty="0">
              <a:solidFill>
                <a:srgbClr val="FF0000"/>
              </a:solidFill>
            </a:endParaRPr>
          </a:p>
        </p:txBody>
      </p:sp>
      <p:cxnSp>
        <p:nvCxnSpPr>
          <p:cNvPr id="28" name="연결선: 구부러짐 27">
            <a:extLst>
              <a:ext uri="{FF2B5EF4-FFF2-40B4-BE49-F238E27FC236}">
                <a16:creationId xmlns:a16="http://schemas.microsoft.com/office/drawing/2014/main" id="{CF83AFC3-4783-B19A-D8E3-E247B4C50B3D}"/>
              </a:ext>
            </a:extLst>
          </p:cNvPr>
          <p:cNvCxnSpPr>
            <a:cxnSpLocks/>
          </p:cNvCxnSpPr>
          <p:nvPr/>
        </p:nvCxnSpPr>
        <p:spPr>
          <a:xfrm flipV="1">
            <a:off x="4461888" y="4799288"/>
            <a:ext cx="3440986" cy="1711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17F6971-03A1-7BC6-4642-078D7FA3B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246</a:t>
            </a:fld>
            <a:endParaRPr lang="ko-KR" altLang="en-US" dirty="0"/>
          </a:p>
        </p:txBody>
      </p:sp>
      <p:sp>
        <p:nvSpPr>
          <p:cNvPr id="18" name="곱하기 기호 17">
            <a:extLst>
              <a:ext uri="{FF2B5EF4-FFF2-40B4-BE49-F238E27FC236}">
                <a16:creationId xmlns:a16="http://schemas.microsoft.com/office/drawing/2014/main" id="{05CC238E-12D7-4EE9-8B92-FC61790D1A29}"/>
              </a:ext>
            </a:extLst>
          </p:cNvPr>
          <p:cNvSpPr/>
          <p:nvPr/>
        </p:nvSpPr>
        <p:spPr>
          <a:xfrm>
            <a:off x="4384891" y="3214650"/>
            <a:ext cx="1283386" cy="1176358"/>
          </a:xfrm>
          <a:prstGeom prst="mathMultiply">
            <a:avLst>
              <a:gd name="adj1" fmla="val 13818"/>
            </a:avLst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3525548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7"/>
            </a:pP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잘못 설계한 관계선의 다양한 예제</a:t>
            </a:r>
            <a:endParaRPr lang="en-US" altLang="ko-KR" b="1" dirty="0">
              <a:latin typeface="+mn-ea"/>
            </a:endParaRPr>
          </a:p>
          <a:p>
            <a:pPr marL="342900" indent="-342900">
              <a:buFont typeface="+mj-lt"/>
              <a:buAutoNum type="arabicPeriod" startAt="37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+mj-lt"/>
              <a:buAutoNum type="arabicParenR" startAt="4"/>
            </a:pPr>
            <a:r>
              <a:rPr lang="ko-KR" altLang="en-US" sz="1400" b="1" dirty="0">
                <a:latin typeface="+mn-ea"/>
              </a:rPr>
              <a:t>집계 </a:t>
            </a:r>
            <a:r>
              <a:rPr lang="ko-KR" altLang="en-US" sz="1400" b="1" dirty="0" err="1">
                <a:latin typeface="+mn-ea"/>
              </a:rPr>
              <a:t>엔터티와</a:t>
            </a:r>
            <a:r>
              <a:rPr lang="ko-KR" altLang="en-US" sz="1400" b="1" dirty="0">
                <a:latin typeface="+mn-ea"/>
              </a:rPr>
              <a:t> 관계선을 표현할 때</a:t>
            </a:r>
            <a:endParaRPr lang="en-US" altLang="ko-KR" sz="1400" b="1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상위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부모</a:t>
            </a:r>
            <a:r>
              <a:rPr lang="en-US" altLang="ko-KR" sz="1200" dirty="0">
                <a:latin typeface="+mn-ea"/>
              </a:rPr>
              <a:t>) </a:t>
            </a:r>
            <a:r>
              <a:rPr lang="ko-KR" altLang="en-US" sz="1200" dirty="0" err="1">
                <a:latin typeface="+mn-ea"/>
              </a:rPr>
              <a:t>엔터티의</a:t>
            </a:r>
            <a:r>
              <a:rPr lang="ko-KR" altLang="en-US" sz="1200" dirty="0">
                <a:latin typeface="+mn-ea"/>
              </a:rPr>
              <a:t> 주 식별자가 복합 주 식별자일 때는 몇 가지 주의 해야 한다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5.169] </a:t>
            </a:r>
            <a:r>
              <a:rPr lang="ko-KR" altLang="en-US" sz="1200" dirty="0">
                <a:latin typeface="+mn-ea"/>
              </a:rPr>
              <a:t>모델과 같이 상속받은 관계 속성이 상위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부모</a:t>
            </a:r>
            <a:r>
              <a:rPr lang="en-US" altLang="ko-KR" sz="1200" dirty="0">
                <a:latin typeface="+mn-ea"/>
              </a:rPr>
              <a:t>)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엔터티의</a:t>
            </a:r>
            <a:r>
              <a:rPr lang="ko-KR" altLang="en-US" sz="1200" dirty="0">
                <a:latin typeface="+mn-ea"/>
              </a:rPr>
              <a:t> 주 식별자와 순서가 일치하지 않으면 안 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계좌 </a:t>
            </a:r>
            <a:r>
              <a:rPr lang="ko-KR" altLang="en-US" sz="1200" dirty="0" err="1">
                <a:latin typeface="+mn-ea"/>
              </a:rPr>
              <a:t>엔터티의</a:t>
            </a:r>
            <a:r>
              <a:rPr lang="ko-KR" altLang="en-US" sz="1200" dirty="0">
                <a:latin typeface="+mn-ea"/>
              </a:rPr>
              <a:t> 주 식별자와 동일하게 주식잔고 </a:t>
            </a:r>
            <a:r>
              <a:rPr lang="ko-KR" altLang="en-US" sz="1200" dirty="0" err="1">
                <a:latin typeface="+mn-ea"/>
              </a:rPr>
              <a:t>엔터티의</a:t>
            </a:r>
            <a:r>
              <a:rPr lang="ko-KR" altLang="en-US" sz="1200" dirty="0">
                <a:latin typeface="+mn-ea"/>
              </a:rPr>
              <a:t> 주 식별자도 계좌지점번호</a:t>
            </a:r>
            <a:r>
              <a:rPr lang="en-US" altLang="ko-KR" sz="1200" dirty="0">
                <a:latin typeface="+mn-ea"/>
              </a:rPr>
              <a:t> • </a:t>
            </a:r>
            <a:r>
              <a:rPr lang="ko-KR" altLang="en-US" sz="1200" dirty="0">
                <a:latin typeface="+mn-ea"/>
              </a:rPr>
              <a:t>계좌상품번호 </a:t>
            </a:r>
            <a:r>
              <a:rPr lang="en-US" altLang="ko-KR" sz="1200" dirty="0">
                <a:latin typeface="+mn-ea"/>
              </a:rPr>
              <a:t>• </a:t>
            </a:r>
            <a:r>
              <a:rPr lang="ko-KR" altLang="en-US" sz="1200" dirty="0" err="1">
                <a:latin typeface="+mn-ea"/>
              </a:rPr>
              <a:t>계좌순번</a:t>
            </a:r>
            <a:r>
              <a:rPr lang="ko-KR" altLang="en-US" sz="1200" dirty="0">
                <a:latin typeface="+mn-ea"/>
              </a:rPr>
              <a:t> 순서가 돼야 한다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주식종목 </a:t>
            </a:r>
            <a:r>
              <a:rPr lang="ko-KR" altLang="en-US" sz="1200" dirty="0" err="1">
                <a:latin typeface="+mn-ea"/>
              </a:rPr>
              <a:t>엔터티의</a:t>
            </a:r>
            <a:r>
              <a:rPr lang="ko-KR" altLang="en-US" sz="1200" dirty="0">
                <a:latin typeface="+mn-ea"/>
              </a:rPr>
              <a:t> 주 식별자인 주식종목번호 속성이 상속받은 계좌 식별자 사이에 위치해도 안 된다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관계 이야기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F3FED75-F371-57C6-793A-51AC16745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021" y="3156034"/>
            <a:ext cx="3067478" cy="121937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6990B51-2755-0B6F-F775-11E1CB72F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734" y="3032192"/>
            <a:ext cx="3086531" cy="134321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5DE798F-41FB-F764-E9F7-2774F5243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3975" y="3217481"/>
            <a:ext cx="3077004" cy="1114581"/>
          </a:xfrm>
          <a:prstGeom prst="rect">
            <a:avLst/>
          </a:prstGeom>
        </p:spPr>
      </p:pic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0549055-1C88-F0F7-2E9D-0439BED647AC}"/>
              </a:ext>
            </a:extLst>
          </p:cNvPr>
          <p:cNvSpPr/>
          <p:nvPr/>
        </p:nvSpPr>
        <p:spPr>
          <a:xfrm>
            <a:off x="1848382" y="4186687"/>
            <a:ext cx="1917860" cy="188717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5437479-64F7-AA5F-97E1-BB82F4B0BB29}"/>
              </a:ext>
            </a:extLst>
          </p:cNvPr>
          <p:cNvSpPr/>
          <p:nvPr/>
        </p:nvSpPr>
        <p:spPr>
          <a:xfrm>
            <a:off x="5467920" y="4168581"/>
            <a:ext cx="1774855" cy="188717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7E7E2A3-A5D1-C521-67D5-BA287A9A06E2}"/>
              </a:ext>
            </a:extLst>
          </p:cNvPr>
          <p:cNvSpPr/>
          <p:nvPr/>
        </p:nvSpPr>
        <p:spPr>
          <a:xfrm>
            <a:off x="9371565" y="4143345"/>
            <a:ext cx="1678353" cy="188717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748E1C-B9A2-FF0F-9B9E-36FDEA12CCAB}"/>
              </a:ext>
            </a:extLst>
          </p:cNvPr>
          <p:cNvSpPr txBox="1"/>
          <p:nvPr/>
        </p:nvSpPr>
        <p:spPr>
          <a:xfrm>
            <a:off x="8078942" y="4381228"/>
            <a:ext cx="32922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70C0"/>
                </a:solidFill>
              </a:rPr>
              <a:t>복합 주 식별자를 하나의 속성으로 </a:t>
            </a:r>
            <a:endParaRPr lang="en-US" altLang="ko-KR" sz="1000" b="1" dirty="0">
              <a:solidFill>
                <a:srgbClr val="0070C0"/>
              </a:solidFill>
            </a:endParaRPr>
          </a:p>
          <a:p>
            <a:pPr algn="ctr"/>
            <a:r>
              <a:rPr lang="ko-KR" altLang="en-US" sz="1000" b="1" dirty="0">
                <a:solidFill>
                  <a:srgbClr val="0070C0"/>
                </a:solidFill>
              </a:rPr>
              <a:t>변환해서 상속하면 안 된다.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9AE713-7B16-7C58-5201-C8259C39045A}"/>
              </a:ext>
            </a:extLst>
          </p:cNvPr>
          <p:cNvSpPr txBox="1"/>
          <p:nvPr/>
        </p:nvSpPr>
        <p:spPr>
          <a:xfrm>
            <a:off x="4552734" y="4381228"/>
            <a:ext cx="30865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0070C0"/>
                </a:solidFill>
              </a:defRPr>
            </a:lvl1pPr>
          </a:lstStyle>
          <a:p>
            <a:pPr algn="ctr"/>
            <a:r>
              <a:rPr lang="ko-KR" altLang="en-US" dirty="0"/>
              <a:t>주 식별자 따로</a:t>
            </a:r>
            <a:r>
              <a:rPr lang="en-US" altLang="ko-KR" dirty="0"/>
              <a:t>, </a:t>
            </a:r>
            <a:r>
              <a:rPr lang="ko-KR" altLang="en-US" dirty="0"/>
              <a:t>비식별자(일반속성) </a:t>
            </a:r>
            <a:endParaRPr lang="en-US" altLang="ko-KR" dirty="0"/>
          </a:p>
          <a:p>
            <a:pPr algn="ctr"/>
            <a:r>
              <a:rPr lang="ko-KR" altLang="en-US" dirty="0"/>
              <a:t>따로 분리해서 상속하면 안 된다.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CC30EA-8C47-189D-62A1-535B0E8161B1}"/>
              </a:ext>
            </a:extLst>
          </p:cNvPr>
          <p:cNvSpPr txBox="1"/>
          <p:nvPr/>
        </p:nvSpPr>
        <p:spPr>
          <a:xfrm>
            <a:off x="991021" y="4535117"/>
            <a:ext cx="30674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0070C0"/>
                </a:solidFill>
              </a:defRPr>
            </a:lvl1pPr>
          </a:lstStyle>
          <a:p>
            <a:pPr algn="ctr"/>
            <a:r>
              <a:rPr lang="ko-KR" altLang="en-US" dirty="0"/>
              <a:t>상속받은 식별자의 순서가 다르면 안된다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B3654E83-C2C4-9540-B8A5-B09ABC1E6C06}"/>
              </a:ext>
            </a:extLst>
          </p:cNvPr>
          <p:cNvSpPr/>
          <p:nvPr/>
        </p:nvSpPr>
        <p:spPr>
          <a:xfrm>
            <a:off x="1068309" y="3422211"/>
            <a:ext cx="660903" cy="434567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312F30F-422B-2AE0-A0D9-8AAC7AA1FF8D}"/>
              </a:ext>
            </a:extLst>
          </p:cNvPr>
          <p:cNvSpPr/>
          <p:nvPr/>
        </p:nvSpPr>
        <p:spPr>
          <a:xfrm>
            <a:off x="2055137" y="3322099"/>
            <a:ext cx="932507" cy="434567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45F384BA-E8A3-04B3-23FB-E08F3FC6ABEC}"/>
              </a:ext>
            </a:extLst>
          </p:cNvPr>
          <p:cNvSpPr/>
          <p:nvPr/>
        </p:nvSpPr>
        <p:spPr>
          <a:xfrm>
            <a:off x="5629746" y="3238356"/>
            <a:ext cx="932507" cy="273550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706909E-6223-5095-3445-9F77EF2D07D6}"/>
              </a:ext>
            </a:extLst>
          </p:cNvPr>
          <p:cNvSpPr/>
          <p:nvPr/>
        </p:nvSpPr>
        <p:spPr>
          <a:xfrm>
            <a:off x="5629746" y="3639494"/>
            <a:ext cx="932507" cy="188717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6B2BEC0-5BE9-2D75-E94D-868527FEE76E}"/>
              </a:ext>
            </a:extLst>
          </p:cNvPr>
          <p:cNvSpPr/>
          <p:nvPr/>
        </p:nvSpPr>
        <p:spPr>
          <a:xfrm>
            <a:off x="8133501" y="3458218"/>
            <a:ext cx="775110" cy="398560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1733CC8-065C-A104-80A8-74631973B774}"/>
              </a:ext>
            </a:extLst>
          </p:cNvPr>
          <p:cNvSpPr/>
          <p:nvPr/>
        </p:nvSpPr>
        <p:spPr>
          <a:xfrm>
            <a:off x="9196223" y="3397338"/>
            <a:ext cx="932507" cy="188717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9" name="연결선: 구부러짐 38">
            <a:extLst>
              <a:ext uri="{FF2B5EF4-FFF2-40B4-BE49-F238E27FC236}">
                <a16:creationId xmlns:a16="http://schemas.microsoft.com/office/drawing/2014/main" id="{44657247-8EE4-0A05-7849-0F542AC09C86}"/>
              </a:ext>
            </a:extLst>
          </p:cNvPr>
          <p:cNvCxnSpPr>
            <a:cxnSpLocks/>
            <a:stCxn id="31" idx="3"/>
            <a:endCxn id="32" idx="1"/>
          </p:cNvCxnSpPr>
          <p:nvPr/>
        </p:nvCxnSpPr>
        <p:spPr>
          <a:xfrm flipV="1">
            <a:off x="1729212" y="3539383"/>
            <a:ext cx="325925" cy="10011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연결선: 구부러짐 41">
            <a:extLst>
              <a:ext uri="{FF2B5EF4-FFF2-40B4-BE49-F238E27FC236}">
                <a16:creationId xmlns:a16="http://schemas.microsoft.com/office/drawing/2014/main" id="{0F399CDF-157D-1C03-4E5B-3D550A5F8B80}"/>
              </a:ext>
            </a:extLst>
          </p:cNvPr>
          <p:cNvCxnSpPr>
            <a:cxnSpLocks/>
            <a:stCxn id="46" idx="3"/>
            <a:endCxn id="33" idx="1"/>
          </p:cNvCxnSpPr>
          <p:nvPr/>
        </p:nvCxnSpPr>
        <p:spPr>
          <a:xfrm flipV="1">
            <a:off x="5296278" y="3375131"/>
            <a:ext cx="333468" cy="8308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ECDD5891-486D-55BA-1E4A-5DFEDC291CD6}"/>
              </a:ext>
            </a:extLst>
          </p:cNvPr>
          <p:cNvSpPr/>
          <p:nvPr/>
        </p:nvSpPr>
        <p:spPr>
          <a:xfrm>
            <a:off x="4589732" y="3240934"/>
            <a:ext cx="706546" cy="434567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9" name="연결선: 구부러짐 48">
            <a:extLst>
              <a:ext uri="{FF2B5EF4-FFF2-40B4-BE49-F238E27FC236}">
                <a16:creationId xmlns:a16="http://schemas.microsoft.com/office/drawing/2014/main" id="{B71AABED-DC44-4EFD-CA48-2B3554525CF3}"/>
              </a:ext>
            </a:extLst>
          </p:cNvPr>
          <p:cNvCxnSpPr>
            <a:cxnSpLocks/>
            <a:stCxn id="46" idx="3"/>
            <a:endCxn id="34" idx="1"/>
          </p:cNvCxnSpPr>
          <p:nvPr/>
        </p:nvCxnSpPr>
        <p:spPr>
          <a:xfrm>
            <a:off x="5296278" y="3458218"/>
            <a:ext cx="333468" cy="27563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연결선: 구부러짐 51">
            <a:extLst>
              <a:ext uri="{FF2B5EF4-FFF2-40B4-BE49-F238E27FC236}">
                <a16:creationId xmlns:a16="http://schemas.microsoft.com/office/drawing/2014/main" id="{2A598017-182C-D42E-865C-7797FDD6BAE0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 flipV="1">
            <a:off x="8908611" y="3491697"/>
            <a:ext cx="287612" cy="16580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6" name="그림 55">
            <a:extLst>
              <a:ext uri="{FF2B5EF4-FFF2-40B4-BE49-F238E27FC236}">
                <a16:creationId xmlns:a16="http://schemas.microsoft.com/office/drawing/2014/main" id="{A5978372-4A09-8DE8-392C-6AEFD8D026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6336" y="4830504"/>
            <a:ext cx="2762636" cy="1247949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ADDF1AC1-10A4-95E1-8AFD-9B11182946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309" y="4963872"/>
            <a:ext cx="2762636" cy="1114581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973595D7-9C76-A3FE-14B6-74F3B143AC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2293" y="4954346"/>
            <a:ext cx="2686425" cy="1124107"/>
          </a:xfrm>
          <a:prstGeom prst="rect">
            <a:avLst/>
          </a:prstGeom>
        </p:spPr>
      </p:pic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AB6C1DD9-D22D-BE5B-67B1-00051D728967}"/>
              </a:ext>
            </a:extLst>
          </p:cNvPr>
          <p:cNvSpPr/>
          <p:nvPr/>
        </p:nvSpPr>
        <p:spPr>
          <a:xfrm>
            <a:off x="2388759" y="5889736"/>
            <a:ext cx="1223574" cy="188717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838A8527-DEA8-2302-822E-FDB29DCC1D1F}"/>
              </a:ext>
            </a:extLst>
          </p:cNvPr>
          <p:cNvSpPr/>
          <p:nvPr/>
        </p:nvSpPr>
        <p:spPr>
          <a:xfrm>
            <a:off x="6096000" y="5911423"/>
            <a:ext cx="775580" cy="188717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74244CBC-787C-CB68-6831-B8CC83C2E5B3}"/>
              </a:ext>
            </a:extLst>
          </p:cNvPr>
          <p:cNvSpPr/>
          <p:nvPr/>
        </p:nvSpPr>
        <p:spPr>
          <a:xfrm>
            <a:off x="9644370" y="5896895"/>
            <a:ext cx="775580" cy="188717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3EB2CCA-B9FB-862E-A41A-CEE104AA6808}"/>
              </a:ext>
            </a:extLst>
          </p:cNvPr>
          <p:cNvSpPr txBox="1"/>
          <p:nvPr/>
        </p:nvSpPr>
        <p:spPr>
          <a:xfrm>
            <a:off x="1068309" y="6073578"/>
            <a:ext cx="2762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rgbClr val="0070C0"/>
                </a:solidFill>
              </a:defRPr>
            </a:lvl1pPr>
          </a:lstStyle>
          <a:p>
            <a:r>
              <a:rPr lang="ko-KR" altLang="en-US" dirty="0"/>
              <a:t>상위 </a:t>
            </a:r>
            <a:r>
              <a:rPr lang="ko-KR" altLang="en-US" dirty="0" err="1"/>
              <a:t>엔터티의</a:t>
            </a:r>
            <a:r>
              <a:rPr lang="ko-KR" altLang="en-US" dirty="0"/>
              <a:t> 주 식별자가 상속될 때</a:t>
            </a:r>
            <a:endParaRPr lang="en-US" altLang="ko-KR" dirty="0"/>
          </a:p>
          <a:p>
            <a:r>
              <a:rPr lang="ko-KR" altLang="en-US" dirty="0" err="1"/>
              <a:t>Null</a:t>
            </a:r>
            <a:r>
              <a:rPr lang="ko-KR" altLang="en-US" dirty="0"/>
              <a:t>/</a:t>
            </a:r>
            <a:r>
              <a:rPr lang="ko-KR" altLang="en-US" dirty="0" err="1"/>
              <a:t>Not</a:t>
            </a:r>
            <a:r>
              <a:rPr lang="ko-KR" altLang="en-US" dirty="0"/>
              <a:t> </a:t>
            </a:r>
            <a:r>
              <a:rPr lang="ko-KR" altLang="en-US" dirty="0" err="1"/>
              <a:t>Null이</a:t>
            </a:r>
            <a:r>
              <a:rPr lang="ko-KR" altLang="en-US" dirty="0"/>
              <a:t> 혼용돼도 안 된다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3594291-CD55-B9E7-F92B-668938F8A891}"/>
              </a:ext>
            </a:extLst>
          </p:cNvPr>
          <p:cNvSpPr txBox="1"/>
          <p:nvPr/>
        </p:nvSpPr>
        <p:spPr>
          <a:xfrm>
            <a:off x="4782293" y="6073578"/>
            <a:ext cx="26864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rgbClr val="0070C0"/>
                </a:solidFill>
              </a:defRPr>
            </a:lvl1pPr>
          </a:lstStyle>
          <a:p>
            <a:r>
              <a:rPr lang="ko-KR" altLang="en-US" dirty="0"/>
              <a:t>상위 </a:t>
            </a:r>
            <a:r>
              <a:rPr lang="ko-KR" altLang="en-US" dirty="0" err="1"/>
              <a:t>엔터티의</a:t>
            </a:r>
            <a:r>
              <a:rPr lang="ko-KR" altLang="en-US" dirty="0"/>
              <a:t> 주 식별자가 상속될 때</a:t>
            </a:r>
            <a:endParaRPr lang="en-US" altLang="ko-KR" dirty="0"/>
          </a:p>
          <a:p>
            <a:r>
              <a:rPr lang="ko-KR" altLang="en-US" dirty="0"/>
              <a:t>속성을 생략하면 안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E00F997-8483-0EED-8C25-1970CABF4DAF}"/>
              </a:ext>
            </a:extLst>
          </p:cNvPr>
          <p:cNvSpPr txBox="1"/>
          <p:nvPr/>
        </p:nvSpPr>
        <p:spPr>
          <a:xfrm>
            <a:off x="8301157" y="6073578"/>
            <a:ext cx="27578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rgbClr val="0070C0"/>
                </a:solidFill>
              </a:defRPr>
            </a:lvl1pPr>
          </a:lstStyle>
          <a:p>
            <a:r>
              <a:rPr lang="ko-KR" altLang="en-US" dirty="0"/>
              <a:t>상위에 존재하지 않는 식별자를 </a:t>
            </a:r>
            <a:endParaRPr lang="en-US" altLang="ko-KR" dirty="0"/>
          </a:p>
          <a:p>
            <a:r>
              <a:rPr lang="ko-KR" altLang="en-US" dirty="0"/>
              <a:t>상속받을 수 없다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4077E54-BC4D-B33F-420F-101631BD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247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2738219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7"/>
            </a:pP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잘못 설계한 관계선의 다양한 예제</a:t>
            </a:r>
            <a:endParaRPr lang="en-US" altLang="ko-KR" b="1" dirty="0">
              <a:latin typeface="+mn-ea"/>
            </a:endParaRPr>
          </a:p>
          <a:p>
            <a:pPr marL="342900" indent="-342900">
              <a:buFont typeface="+mj-lt"/>
              <a:buAutoNum type="arabicPeriod" startAt="37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+mj-lt"/>
              <a:buAutoNum type="arabicParenR" startAt="5"/>
            </a:pPr>
            <a:r>
              <a:rPr lang="ko-KR" altLang="en-US" sz="1400" b="1" dirty="0">
                <a:latin typeface="+mn-ea"/>
              </a:rPr>
              <a:t>상위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부모</a:t>
            </a:r>
            <a:r>
              <a:rPr lang="en-US" altLang="ko-KR" sz="1400" b="1" dirty="0">
                <a:latin typeface="+mn-ea"/>
              </a:rPr>
              <a:t>) </a:t>
            </a:r>
            <a:r>
              <a:rPr lang="ko-KR" altLang="en-US" sz="1400" b="1" dirty="0" err="1">
                <a:latin typeface="+mn-ea"/>
              </a:rPr>
              <a:t>엔터티가</a:t>
            </a:r>
            <a:r>
              <a:rPr lang="ko-KR" altLang="en-US" sz="1400" b="1" dirty="0">
                <a:latin typeface="+mn-ea"/>
              </a:rPr>
              <a:t>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복합 주 식별자</a:t>
            </a:r>
            <a:r>
              <a:rPr lang="ko-KR" altLang="en-US" sz="1400" b="1" dirty="0">
                <a:latin typeface="+mn-ea"/>
              </a:rPr>
              <a:t>일 때</a:t>
            </a:r>
            <a:endParaRPr lang="en-US" altLang="ko-KR" sz="1400" b="1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집계 </a:t>
            </a:r>
            <a:r>
              <a:rPr lang="ko-KR" altLang="en-US" sz="1200" dirty="0" err="1">
                <a:latin typeface="+mn-ea"/>
              </a:rPr>
              <a:t>엔터티도</a:t>
            </a:r>
            <a:r>
              <a:rPr lang="ko-KR" altLang="en-US" sz="1200" dirty="0">
                <a:latin typeface="+mn-ea"/>
              </a:rPr>
              <a:t> 관계를 주의해야 한다</a:t>
            </a:r>
            <a:r>
              <a:rPr lang="en-US" altLang="ko-KR" sz="1200" dirty="0">
                <a:latin typeface="+mn-ea"/>
              </a:rPr>
              <a:t>. 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5.175] </a:t>
            </a:r>
            <a:r>
              <a:rPr lang="ko-KR" altLang="en-US" sz="1200" dirty="0">
                <a:latin typeface="+mn-ea"/>
              </a:rPr>
              <a:t>는 원천 </a:t>
            </a:r>
            <a:r>
              <a:rPr lang="ko-KR" altLang="en-US" sz="1200" dirty="0" err="1">
                <a:latin typeface="+mn-ea"/>
              </a:rPr>
              <a:t>엔터티와</a:t>
            </a:r>
            <a:r>
              <a:rPr lang="ko-KR" altLang="en-US" sz="1200" dirty="0">
                <a:latin typeface="+mn-ea"/>
              </a:rPr>
              <a:t> 집계 </a:t>
            </a:r>
            <a:r>
              <a:rPr lang="ko-KR" altLang="en-US" sz="1200" dirty="0" err="1">
                <a:latin typeface="+mn-ea"/>
              </a:rPr>
              <a:t>엔터티의</a:t>
            </a:r>
            <a:r>
              <a:rPr lang="ko-KR" altLang="en-US" sz="1200" dirty="0">
                <a:latin typeface="+mn-ea"/>
              </a:rPr>
              <a:t> 관계를 표현한 모델이다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아래의 그림처럼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거래가 발생하려면 먼저 거래를 집계해야 한다는 요건은 존재할 수 없다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또한 주 식별자가 같을 때 집계 </a:t>
            </a:r>
            <a:r>
              <a:rPr lang="ko-KR" altLang="en-US" sz="1200" dirty="0" err="1">
                <a:latin typeface="+mn-ea"/>
              </a:rPr>
              <a:t>엔터티</a:t>
            </a:r>
            <a:r>
              <a:rPr lang="ko-KR" altLang="en-US" sz="1200" dirty="0">
                <a:latin typeface="+mn-ea"/>
              </a:rPr>
              <a:t> 간에도 관계선을 표현할 때가 많다</a:t>
            </a:r>
            <a:r>
              <a:rPr lang="en-US" altLang="ko-KR" sz="1200" dirty="0">
                <a:latin typeface="+mn-ea"/>
              </a:rPr>
              <a:t>. 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5.176] </a:t>
            </a:r>
            <a:r>
              <a:rPr lang="ko-KR" altLang="en-US" sz="1200" dirty="0">
                <a:latin typeface="+mn-ea"/>
              </a:rPr>
              <a:t>모델에서 지점별로 거래를 집계하는 </a:t>
            </a: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200" dirty="0" err="1">
                <a:latin typeface="+mn-ea"/>
              </a:rPr>
              <a:t>엔터티와</a:t>
            </a:r>
            <a:r>
              <a:rPr lang="ko-KR" altLang="en-US" sz="1200" dirty="0">
                <a:latin typeface="+mn-ea"/>
              </a:rPr>
              <a:t> 지점별 </a:t>
            </a:r>
            <a:r>
              <a:rPr lang="en-US" altLang="ko-KR" sz="1200" dirty="0">
                <a:latin typeface="+mn-ea"/>
              </a:rPr>
              <a:t>• </a:t>
            </a:r>
            <a:r>
              <a:rPr lang="ko-KR" altLang="en-US" sz="1200" dirty="0">
                <a:latin typeface="+mn-ea"/>
              </a:rPr>
              <a:t>종목별로 거래를 집계하는 </a:t>
            </a:r>
            <a:r>
              <a:rPr lang="ko-KR" altLang="en-US" sz="1200" dirty="0" err="1">
                <a:latin typeface="+mn-ea"/>
              </a:rPr>
              <a:t>엔터티</a:t>
            </a:r>
            <a:r>
              <a:rPr lang="ko-KR" altLang="en-US" sz="1200" dirty="0">
                <a:latin typeface="+mn-ea"/>
              </a:rPr>
              <a:t> 간에 관계선이 표현됐다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이 관계는 만약 </a:t>
            </a:r>
            <a:r>
              <a:rPr lang="ko-KR" altLang="en-US" sz="1200" dirty="0" err="1">
                <a:latin typeface="+mn-ea"/>
              </a:rPr>
              <a:t>지점별종목별거래집계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엔터티에</a:t>
            </a:r>
            <a:r>
              <a:rPr lang="ko-KR" altLang="en-US" sz="1200" dirty="0">
                <a:latin typeface="+mn-ea"/>
              </a:rPr>
              <a:t> ‘</a:t>
            </a:r>
            <a:r>
              <a:rPr lang="en-US" altLang="ko-KR" sz="1200" dirty="0">
                <a:latin typeface="+mn-ea"/>
              </a:rPr>
              <a:t>100’ </a:t>
            </a:r>
            <a:r>
              <a:rPr lang="ko-KR" altLang="en-US" sz="1200" dirty="0">
                <a:latin typeface="+mn-ea"/>
              </a:rPr>
              <a:t>번 지점의 ‘</a:t>
            </a:r>
            <a:r>
              <a:rPr lang="en-US" altLang="ko-KR" sz="1200" dirty="0">
                <a:latin typeface="+mn-ea"/>
              </a:rPr>
              <a:t>100000’ </a:t>
            </a:r>
            <a:r>
              <a:rPr lang="ko-KR" altLang="en-US" sz="1200" dirty="0">
                <a:latin typeface="+mn-ea"/>
              </a:rPr>
              <a:t>종목번호에 대한 ‘</a:t>
            </a:r>
            <a:r>
              <a:rPr lang="en-US" altLang="ko-KR" sz="1200" dirty="0">
                <a:latin typeface="+mn-ea"/>
              </a:rPr>
              <a:t>2030</a:t>
            </a:r>
            <a:r>
              <a:rPr lang="ko-KR" altLang="en-US" sz="1200" dirty="0">
                <a:latin typeface="+mn-ea"/>
              </a:rPr>
              <a:t>년 </a:t>
            </a:r>
            <a:r>
              <a:rPr lang="en-US" altLang="ko-KR" sz="1200" dirty="0">
                <a:latin typeface="+mn-ea"/>
              </a:rPr>
              <a:t>1</a:t>
            </a:r>
            <a:r>
              <a:rPr lang="ko-KR" altLang="en-US" sz="1200" dirty="0">
                <a:latin typeface="+mn-ea"/>
              </a:rPr>
              <a:t>월 </a:t>
            </a:r>
            <a:r>
              <a:rPr lang="en-US" altLang="ko-KR" sz="1200" dirty="0">
                <a:latin typeface="+mn-ea"/>
              </a:rPr>
              <a:t>1</a:t>
            </a:r>
            <a:r>
              <a:rPr lang="ko-KR" altLang="en-US" sz="1200" dirty="0">
                <a:latin typeface="+mn-ea"/>
              </a:rPr>
              <a:t>일’ 의 집계 데이터가 존재하면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지점별거래집계 </a:t>
            </a:r>
            <a:r>
              <a:rPr lang="ko-KR" altLang="en-US" sz="1200" dirty="0" err="1">
                <a:latin typeface="+mn-ea"/>
              </a:rPr>
              <a:t>엔터티에도</a:t>
            </a:r>
            <a:r>
              <a:rPr lang="ko-KR" altLang="en-US" sz="1200" dirty="0">
                <a:latin typeface="+mn-ea"/>
              </a:rPr>
              <a:t> ‘</a:t>
            </a:r>
            <a:r>
              <a:rPr lang="en-US" altLang="ko-KR" sz="1200" dirty="0">
                <a:latin typeface="+mn-ea"/>
              </a:rPr>
              <a:t>100’ </a:t>
            </a:r>
            <a:r>
              <a:rPr lang="ko-KR" altLang="en-US" sz="1200" dirty="0">
                <a:latin typeface="+mn-ea"/>
              </a:rPr>
              <a:t>번 지점의 ‘</a:t>
            </a:r>
            <a:r>
              <a:rPr lang="en-US" altLang="ko-KR" sz="1200" dirty="0">
                <a:latin typeface="+mn-ea"/>
              </a:rPr>
              <a:t>2030</a:t>
            </a:r>
            <a:r>
              <a:rPr lang="ko-KR" altLang="en-US" sz="1200" dirty="0">
                <a:latin typeface="+mn-ea"/>
              </a:rPr>
              <a:t>년 </a:t>
            </a:r>
            <a:r>
              <a:rPr lang="en-US" altLang="ko-KR" sz="1200" dirty="0">
                <a:latin typeface="+mn-ea"/>
              </a:rPr>
              <a:t>1</a:t>
            </a:r>
            <a:r>
              <a:rPr lang="ko-KR" altLang="en-US" sz="1200" dirty="0">
                <a:latin typeface="+mn-ea"/>
              </a:rPr>
              <a:t>월 </a:t>
            </a:r>
            <a:r>
              <a:rPr lang="en-US" altLang="ko-KR" sz="1200" dirty="0">
                <a:latin typeface="+mn-ea"/>
              </a:rPr>
              <a:t>1</a:t>
            </a:r>
            <a:r>
              <a:rPr lang="ko-KR" altLang="en-US" sz="1200" dirty="0">
                <a:latin typeface="+mn-ea"/>
              </a:rPr>
              <a:t>일’ 의 집계 데이터가 반드시 존재해야 한다는 것을 의미한다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5.176] </a:t>
            </a:r>
            <a:r>
              <a:rPr lang="ko-KR" altLang="en-US" sz="1200" dirty="0">
                <a:latin typeface="+mn-ea"/>
              </a:rPr>
              <a:t>모델이 요건에 부합할 수는 있지만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주 식별자가 같다고 관계가 생기는 것은 아니므로 반드시 상위 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부모</a:t>
            </a:r>
            <a:r>
              <a:rPr lang="en-US" altLang="ko-KR" sz="1200" dirty="0">
                <a:latin typeface="+mn-ea"/>
              </a:rPr>
              <a:t>)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엔터티의</a:t>
            </a:r>
            <a:r>
              <a:rPr lang="ko-KR" altLang="en-US" sz="1200" dirty="0">
                <a:latin typeface="+mn-ea"/>
              </a:rPr>
              <a:t> 데이터가 하위 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자식</a:t>
            </a:r>
            <a:r>
              <a:rPr lang="en-US" altLang="ko-KR" sz="1200" dirty="0">
                <a:latin typeface="+mn-ea"/>
              </a:rPr>
              <a:t>) </a:t>
            </a:r>
            <a:r>
              <a:rPr lang="ko-KR" altLang="en-US" sz="1200" dirty="0" err="1">
                <a:latin typeface="+mn-ea"/>
              </a:rPr>
              <a:t>엔터티에</a:t>
            </a:r>
            <a:r>
              <a:rPr lang="ko-KR" altLang="en-US" sz="1200" dirty="0">
                <a:latin typeface="+mn-ea"/>
              </a:rPr>
              <a:t> 데이터로서 관리되는지를 고려해야 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5.177]</a:t>
            </a:r>
            <a:r>
              <a:rPr lang="ko-KR" altLang="en-US" sz="1200" dirty="0">
                <a:latin typeface="+mn-ea"/>
              </a:rPr>
              <a:t> 모델과 같이 집계 </a:t>
            </a:r>
            <a:r>
              <a:rPr lang="ko-KR" altLang="en-US" sz="1200" dirty="0" err="1">
                <a:latin typeface="+mn-ea"/>
              </a:rPr>
              <a:t>엔터티의</a:t>
            </a:r>
            <a:r>
              <a:rPr lang="ko-KR" altLang="en-US" sz="1200" dirty="0">
                <a:latin typeface="+mn-ea"/>
              </a:rPr>
              <a:t> 집계 기준 역할을 하는 </a:t>
            </a:r>
            <a:r>
              <a:rPr lang="ko-KR" altLang="en-US" sz="1200" dirty="0" err="1">
                <a:latin typeface="+mn-ea"/>
              </a:rPr>
              <a:t>엔터티와는</a:t>
            </a:r>
            <a:r>
              <a:rPr lang="ko-KR" altLang="en-US" sz="1200" dirty="0">
                <a:latin typeface="+mn-ea"/>
              </a:rPr>
              <a:t> 관계선을 표현해야 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5.177] </a:t>
            </a:r>
            <a:r>
              <a:rPr lang="ko-KR" altLang="en-US" sz="1200" dirty="0">
                <a:latin typeface="+mn-ea"/>
              </a:rPr>
              <a:t>모델은 참조 무결성 제약도 만족하며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어떤 기준으로 집계하는지를 직관적으로 알 수 있어 모델의 가독성이 좋아진다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관계 이야기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C954D3D6-AF8B-9A65-2F98-F29526DD2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113" y="3143782"/>
            <a:ext cx="2486372" cy="1095528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F7407133-F56C-734D-AF35-7AC9A20F0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679" y="3134256"/>
            <a:ext cx="2553056" cy="1105054"/>
          </a:xfrm>
          <a:prstGeom prst="rect">
            <a:avLst/>
          </a:prstGeom>
        </p:spPr>
      </p:pic>
      <p:pic>
        <p:nvPicPr>
          <p:cNvPr id="74" name="그림 73">
            <a:extLst>
              <a:ext uri="{FF2B5EF4-FFF2-40B4-BE49-F238E27FC236}">
                <a16:creationId xmlns:a16="http://schemas.microsoft.com/office/drawing/2014/main" id="{038CC824-6032-EF14-086B-4231D26051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8522" y="3258098"/>
            <a:ext cx="2400635" cy="981212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CC28BD2-4B5B-ABAC-3077-69BCEAD49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248</a:t>
            </a:fld>
            <a:endParaRPr lang="ko-KR" altLang="en-US" dirty="0"/>
          </a:p>
        </p:txBody>
      </p:sp>
      <p:sp>
        <p:nvSpPr>
          <p:cNvPr id="11" name="곱하기 기호 10">
            <a:extLst>
              <a:ext uri="{FF2B5EF4-FFF2-40B4-BE49-F238E27FC236}">
                <a16:creationId xmlns:a16="http://schemas.microsoft.com/office/drawing/2014/main" id="{73AB855A-E94F-404F-A45A-A35825A8F8D9}"/>
              </a:ext>
            </a:extLst>
          </p:cNvPr>
          <p:cNvSpPr/>
          <p:nvPr/>
        </p:nvSpPr>
        <p:spPr>
          <a:xfrm>
            <a:off x="2883894" y="3385518"/>
            <a:ext cx="468134" cy="419172"/>
          </a:xfrm>
          <a:prstGeom prst="mathMultiply">
            <a:avLst>
              <a:gd name="adj1" fmla="val 13818"/>
            </a:avLst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6489737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7"/>
            </a:pP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잘못 설계한 관계선의 다양한 예제</a:t>
            </a:r>
            <a:endParaRPr lang="en-US" altLang="ko-KR" b="1" dirty="0">
              <a:latin typeface="+mn-ea"/>
            </a:endParaRPr>
          </a:p>
          <a:p>
            <a:pPr marL="342900" indent="-342900">
              <a:buFont typeface="+mj-lt"/>
              <a:buAutoNum type="arabicPeriod" startAt="37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+mj-lt"/>
              <a:buAutoNum type="arabicParenR" startAt="6"/>
            </a:pPr>
            <a:r>
              <a:rPr lang="ko-KR" altLang="en-US" sz="1400" b="1" dirty="0">
                <a:latin typeface="+mn-ea"/>
              </a:rPr>
              <a:t>원천에 대한 백업 </a:t>
            </a:r>
            <a:r>
              <a:rPr lang="ko-KR" altLang="en-US" sz="1400" b="1" dirty="0" err="1">
                <a:latin typeface="+mn-ea"/>
              </a:rPr>
              <a:t>엔터티가</a:t>
            </a:r>
            <a:r>
              <a:rPr lang="ko-KR" altLang="en-US" sz="1400" b="1" dirty="0">
                <a:latin typeface="+mn-ea"/>
              </a:rPr>
              <a:t> 존재할 때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원천 </a:t>
            </a:r>
            <a:r>
              <a:rPr lang="ko-KR" altLang="en-US" sz="1200" dirty="0" err="1">
                <a:latin typeface="+mn-ea"/>
              </a:rPr>
              <a:t>엔터티와</a:t>
            </a:r>
            <a:r>
              <a:rPr lang="ko-KR" altLang="en-US" sz="1200" dirty="0">
                <a:latin typeface="+mn-ea"/>
              </a:rPr>
              <a:t> 백업 </a:t>
            </a:r>
            <a:r>
              <a:rPr lang="ko-KR" altLang="en-US" sz="1200" dirty="0" err="1">
                <a:latin typeface="+mn-ea"/>
              </a:rPr>
              <a:t>엔터티와는</a:t>
            </a:r>
            <a:r>
              <a:rPr lang="ko-KR" altLang="en-US" sz="1200" dirty="0">
                <a:latin typeface="+mn-ea"/>
              </a:rPr>
              <a:t> 관계선을 표현하지 않아야 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특정 데이터에 대한 인스턴스는 백업 </a:t>
            </a:r>
            <a:r>
              <a:rPr lang="ko-KR" altLang="en-US" sz="1200" dirty="0" err="1">
                <a:latin typeface="+mn-ea"/>
              </a:rPr>
              <a:t>엔터티와</a:t>
            </a:r>
            <a:r>
              <a:rPr lang="ko-KR" altLang="en-US" sz="1200" dirty="0">
                <a:latin typeface="+mn-ea"/>
              </a:rPr>
              <a:t> 원천 </a:t>
            </a:r>
            <a:r>
              <a:rPr lang="ko-KR" altLang="en-US" sz="1200" dirty="0" err="1">
                <a:latin typeface="+mn-ea"/>
              </a:rPr>
              <a:t>엔터티</a:t>
            </a:r>
            <a:r>
              <a:rPr lang="ko-KR" altLang="en-US" sz="1200" dirty="0">
                <a:latin typeface="+mn-ea"/>
              </a:rPr>
              <a:t> 둘 중의 하나에만 존재하므로 참조 무결성 관계가 존재하지 않는다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5.178] </a:t>
            </a:r>
            <a:r>
              <a:rPr lang="ko-KR" altLang="en-US" sz="1200" dirty="0">
                <a:latin typeface="+mn-ea"/>
              </a:rPr>
              <a:t>모델에서 </a:t>
            </a:r>
            <a:r>
              <a:rPr lang="en-US" altLang="ko-KR" sz="1200" dirty="0">
                <a:latin typeface="+mn-ea"/>
              </a:rPr>
              <a:t>2029</a:t>
            </a:r>
            <a:r>
              <a:rPr lang="ko-KR" altLang="en-US" sz="1200" dirty="0">
                <a:latin typeface="+mn-ea"/>
              </a:rPr>
              <a:t>년의 주문 데이터를 관리하는 주식주문</a:t>
            </a:r>
            <a:r>
              <a:rPr lang="en-US" altLang="ko-KR" sz="1200" dirty="0">
                <a:latin typeface="+mn-ea"/>
              </a:rPr>
              <a:t>(2029) </a:t>
            </a:r>
            <a:r>
              <a:rPr lang="ko-KR" altLang="en-US" sz="1200" dirty="0" err="1">
                <a:latin typeface="+mn-ea"/>
              </a:rPr>
              <a:t>엔터티에는</a:t>
            </a:r>
            <a:r>
              <a:rPr lang="ko-KR" altLang="en-US" sz="1200" dirty="0">
                <a:latin typeface="+mn-ea"/>
              </a:rPr>
              <a:t> 주문일자가 </a:t>
            </a:r>
            <a:r>
              <a:rPr lang="en-US" altLang="ko-KR" sz="1200" dirty="0">
                <a:latin typeface="+mn-ea"/>
              </a:rPr>
              <a:t>2029</a:t>
            </a:r>
            <a:r>
              <a:rPr lang="ko-KR" altLang="en-US" sz="1200" dirty="0">
                <a:latin typeface="+mn-ea"/>
              </a:rPr>
              <a:t>년인 데이터만 존재한다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반면에 주식주문 </a:t>
            </a:r>
            <a:r>
              <a:rPr lang="ko-KR" altLang="en-US" sz="1200" dirty="0" err="1">
                <a:latin typeface="+mn-ea"/>
              </a:rPr>
              <a:t>엔터티에는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2030</a:t>
            </a:r>
            <a:r>
              <a:rPr lang="ko-KR" altLang="en-US" sz="1200" dirty="0">
                <a:latin typeface="+mn-ea"/>
              </a:rPr>
              <a:t>년 현재의 데이터가 존재한다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따라서 주식주문 </a:t>
            </a:r>
            <a:r>
              <a:rPr lang="ko-KR" altLang="en-US" sz="1200" dirty="0" err="1">
                <a:latin typeface="+mn-ea"/>
              </a:rPr>
              <a:t>엔터티의</a:t>
            </a:r>
            <a:r>
              <a:rPr lang="ko-KR" altLang="en-US" sz="1200" dirty="0">
                <a:latin typeface="+mn-ea"/>
              </a:rPr>
              <a:t> 주 식별자인 주문번호 데이터는 주식주문</a:t>
            </a:r>
            <a:r>
              <a:rPr lang="en-US" altLang="ko-KR" sz="1200" dirty="0">
                <a:latin typeface="+mn-ea"/>
              </a:rPr>
              <a:t>(2029) </a:t>
            </a:r>
            <a:r>
              <a:rPr lang="ko-KR" altLang="en-US" sz="1200" dirty="0" err="1">
                <a:latin typeface="+mn-ea"/>
              </a:rPr>
              <a:t>엔터티에</a:t>
            </a:r>
            <a:r>
              <a:rPr lang="ko-KR" altLang="en-US" sz="1200" dirty="0">
                <a:latin typeface="+mn-ea"/>
              </a:rPr>
              <a:t> 존재하지 않으므로 참조 무결성 제약을 생성할 수 없다</a:t>
            </a:r>
            <a:r>
              <a:rPr lang="en-US" altLang="ko-KR" sz="1200" dirty="0">
                <a:latin typeface="+mn-ea"/>
              </a:rPr>
              <a:t>. 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5.178] </a:t>
            </a:r>
            <a:r>
              <a:rPr lang="ko-KR" altLang="en-US" sz="1200" dirty="0">
                <a:latin typeface="+mn-ea"/>
              </a:rPr>
              <a:t>모델의 관계선은 잘못 표현된 것이다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백업이라는 프로세스로 말미암아 데이터의 연관 관계가 있는 것처럼 보여 관계선을 표현하기 쉽지만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실제로 참조 무결성 관계는 존재하지 않는다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관계 이야기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F14684E-837F-CA55-35B0-00718E884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094" y="3766398"/>
            <a:ext cx="2419688" cy="1124107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21765D4-5D70-EEBA-CF9E-5DB9AE764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249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2899997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7"/>
            </a:pP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잘못 설계한 관계선의 다양한 예제</a:t>
            </a:r>
            <a:endParaRPr lang="en-US" altLang="ko-KR" b="1" dirty="0">
              <a:latin typeface="+mn-ea"/>
            </a:endParaRPr>
          </a:p>
          <a:p>
            <a:pPr marL="342900" indent="-342900">
              <a:buFont typeface="+mj-lt"/>
              <a:buAutoNum type="arabicPeriod" startAt="37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+mj-lt"/>
              <a:buAutoNum type="arabicParenR" startAt="7"/>
            </a:pPr>
            <a:r>
              <a:rPr lang="ko-KR" altLang="en-US" sz="1400" b="1" dirty="0">
                <a:latin typeface="+mn-ea"/>
              </a:rPr>
              <a:t>주 식별자가 체계 값일 때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5.179] </a:t>
            </a:r>
            <a:r>
              <a:rPr lang="ko-KR" altLang="en-US" sz="1200" dirty="0">
                <a:latin typeface="+mn-ea"/>
              </a:rPr>
              <a:t>계좌 </a:t>
            </a:r>
            <a:r>
              <a:rPr lang="ko-KR" altLang="en-US" sz="1200" dirty="0" err="1">
                <a:latin typeface="+mn-ea"/>
              </a:rPr>
              <a:t>엔터티의</a:t>
            </a:r>
            <a:r>
              <a:rPr lang="ko-KR" altLang="en-US" sz="1200" dirty="0">
                <a:latin typeface="+mn-ea"/>
              </a:rPr>
              <a:t> 주 식별자인 계좌번호 속성 값에는 체계 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지점번호</a:t>
            </a:r>
            <a:r>
              <a:rPr lang="en-US" altLang="ko-KR" sz="1200" dirty="0">
                <a:latin typeface="+mn-ea"/>
              </a:rPr>
              <a:t>+</a:t>
            </a:r>
            <a:r>
              <a:rPr lang="ko-KR" altLang="en-US" sz="1200" dirty="0" err="1">
                <a:latin typeface="+mn-ea"/>
              </a:rPr>
              <a:t>계좌순번</a:t>
            </a:r>
            <a:r>
              <a:rPr lang="en-US" altLang="ko-KR" sz="1200" dirty="0">
                <a:latin typeface="+mn-ea"/>
              </a:rPr>
              <a:t>)</a:t>
            </a:r>
            <a:r>
              <a:rPr lang="ko-KR" altLang="en-US" sz="1200" dirty="0">
                <a:latin typeface="+mn-ea"/>
              </a:rPr>
              <a:t>가 존재해</a:t>
            </a:r>
            <a:r>
              <a:rPr lang="en-US" altLang="ko-KR" sz="1200" dirty="0">
                <a:latin typeface="+mn-ea"/>
              </a:rPr>
              <a:t>,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지점번호별로 순번을 </a:t>
            </a:r>
            <a:r>
              <a:rPr lang="ko-KR" altLang="en-US" sz="1200" dirty="0" err="1">
                <a:latin typeface="+mn-ea"/>
              </a:rPr>
              <a:t>채번해서</a:t>
            </a:r>
            <a:r>
              <a:rPr lang="ko-KR" altLang="en-US" sz="1200" dirty="0">
                <a:latin typeface="+mn-ea"/>
              </a:rPr>
              <a:t> 계좌번호를 생성한다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이때 계좌번호 체계 내에 있는 지점번호와 지점 </a:t>
            </a:r>
            <a:r>
              <a:rPr lang="ko-KR" altLang="en-US" sz="1200" dirty="0" err="1">
                <a:latin typeface="+mn-ea"/>
              </a:rPr>
              <a:t>엔터티의</a:t>
            </a:r>
            <a:r>
              <a:rPr lang="ko-KR" altLang="en-US" sz="1200" dirty="0">
                <a:latin typeface="+mn-ea"/>
              </a:rPr>
              <a:t> 지점번호는 관계가 존재하지 않는다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체계 내에 속해 있는 속성과는 관계를 표현하지 않아야 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이밖에 </a:t>
            </a:r>
            <a:r>
              <a:rPr lang="ko-KR" altLang="en-US" sz="1200" dirty="0" err="1">
                <a:latin typeface="+mn-ea"/>
              </a:rPr>
              <a:t>채번</a:t>
            </a:r>
            <a:r>
              <a:rPr lang="ko-KR" altLang="en-US" sz="1200" dirty="0">
                <a:latin typeface="+mn-ea"/>
              </a:rPr>
              <a:t> 용도로 설계된 </a:t>
            </a:r>
            <a:r>
              <a:rPr lang="ko-KR" altLang="en-US" sz="1200" dirty="0" err="1">
                <a:latin typeface="+mn-ea"/>
              </a:rPr>
              <a:t>엔터티나</a:t>
            </a:r>
            <a:r>
              <a:rPr lang="ko-KR" altLang="en-US" sz="1200" dirty="0">
                <a:latin typeface="+mn-ea"/>
              </a:rPr>
              <a:t> 외부 기관과 주고받는 전문을 관리하는 </a:t>
            </a:r>
            <a:r>
              <a:rPr lang="ko-KR" altLang="en-US" sz="1200" dirty="0" err="1">
                <a:latin typeface="+mn-ea"/>
              </a:rPr>
              <a:t>엔터티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공통 코드 </a:t>
            </a:r>
            <a:r>
              <a:rPr lang="ko-KR" altLang="en-US" sz="1200" dirty="0" err="1">
                <a:latin typeface="+mn-ea"/>
              </a:rPr>
              <a:t>엔터티</a:t>
            </a:r>
            <a:r>
              <a:rPr lang="ko-KR" altLang="en-US" sz="1200" dirty="0">
                <a:latin typeface="+mn-ea"/>
              </a:rPr>
              <a:t> 등과는 참조 무결성 관계가 존재하지 않으므로 관계선을 표현하지 않아야 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관계선이 맞는지를 판단하는 필수 기준은 업무 요건이다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업무적인 판단이 뒤따르기 때문에 간혹 이 판단은 쉽지 않다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예를 들어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그림 </a:t>
            </a:r>
            <a:r>
              <a:rPr lang="en-US" altLang="ko-KR" sz="1200" dirty="0">
                <a:latin typeface="+mn-ea"/>
              </a:rPr>
              <a:t>5.180]</a:t>
            </a:r>
            <a:r>
              <a:rPr lang="ko-KR" altLang="en-US" sz="1200" dirty="0">
                <a:latin typeface="+mn-ea"/>
              </a:rPr>
              <a:t> 일별계좌거래집계 </a:t>
            </a:r>
            <a:r>
              <a:rPr lang="ko-KR" altLang="en-US" sz="1200" dirty="0" err="1">
                <a:latin typeface="+mn-ea"/>
              </a:rPr>
              <a:t>엔터티에</a:t>
            </a:r>
            <a:r>
              <a:rPr lang="ko-KR" altLang="en-US" sz="1200" dirty="0">
                <a:latin typeface="+mn-ea"/>
              </a:rPr>
              <a:t> 존재하는 ‘</a:t>
            </a:r>
            <a:r>
              <a:rPr lang="en-US" altLang="ko-KR" sz="1200" dirty="0">
                <a:latin typeface="+mn-ea"/>
              </a:rPr>
              <a:t>1234’ </a:t>
            </a:r>
            <a:r>
              <a:rPr lang="ko-KR" altLang="en-US" sz="1200" dirty="0">
                <a:latin typeface="+mn-ea"/>
              </a:rPr>
              <a:t>계좌번호의 ‘</a:t>
            </a:r>
            <a:r>
              <a:rPr lang="en-US" altLang="ko-KR" sz="1200" dirty="0">
                <a:latin typeface="+mn-ea"/>
              </a:rPr>
              <a:t>2035</a:t>
            </a:r>
            <a:r>
              <a:rPr lang="ko-KR" altLang="en-US" sz="1200" dirty="0">
                <a:latin typeface="+mn-ea"/>
              </a:rPr>
              <a:t>년 </a:t>
            </a:r>
            <a:r>
              <a:rPr lang="en-US" altLang="ko-KR" sz="1200" dirty="0">
                <a:latin typeface="+mn-ea"/>
              </a:rPr>
              <a:t>1</a:t>
            </a:r>
            <a:r>
              <a:rPr lang="ko-KR" altLang="en-US" sz="1200" dirty="0">
                <a:latin typeface="+mn-ea"/>
              </a:rPr>
              <a:t>월 </a:t>
            </a:r>
            <a:r>
              <a:rPr lang="en-US" altLang="ko-KR" sz="1200" dirty="0">
                <a:latin typeface="+mn-ea"/>
              </a:rPr>
              <a:t>10</a:t>
            </a:r>
            <a:r>
              <a:rPr lang="ko-KR" altLang="en-US" sz="1200" dirty="0">
                <a:latin typeface="+mn-ea"/>
              </a:rPr>
              <a:t>일’ 거래금액이 ‘</a:t>
            </a:r>
            <a:r>
              <a:rPr lang="en-US" altLang="ko-KR" sz="1200" dirty="0">
                <a:latin typeface="+mn-ea"/>
              </a:rPr>
              <a:t>1000’</a:t>
            </a:r>
            <a:r>
              <a:rPr lang="ko-KR" altLang="en-US" sz="1200" dirty="0">
                <a:latin typeface="+mn-ea"/>
              </a:rPr>
              <a:t>원이라면，‘</a:t>
            </a:r>
            <a:r>
              <a:rPr lang="en-US" altLang="ko-KR" sz="1200" dirty="0">
                <a:latin typeface="+mn-ea"/>
              </a:rPr>
              <a:t>1000’ </a:t>
            </a:r>
            <a:r>
              <a:rPr lang="ko-KR" altLang="en-US" sz="1200" dirty="0">
                <a:latin typeface="+mn-ea"/>
              </a:rPr>
              <a:t>원이 어떤 원천 데이터를 집계한 것인지를 관리할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관계 이야기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02E00C9-71EC-5D28-24C1-F5C2B8D62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421" y="2818888"/>
            <a:ext cx="2419688" cy="92405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E77C3EB-712B-B588-8564-72E964826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476" y="5065657"/>
            <a:ext cx="2514951" cy="1105054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A450A65-CA94-DC6C-7CC6-8D62B411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250</a:t>
            </a:fld>
            <a:endParaRPr lang="ko-KR" altLang="en-US" dirty="0"/>
          </a:p>
        </p:txBody>
      </p:sp>
      <p:sp>
        <p:nvSpPr>
          <p:cNvPr id="11" name="곱하기 기호 10">
            <a:extLst>
              <a:ext uri="{FF2B5EF4-FFF2-40B4-BE49-F238E27FC236}">
                <a16:creationId xmlns:a16="http://schemas.microsoft.com/office/drawing/2014/main" id="{035C1EDA-25D8-4D5A-9538-412CF3224BEE}"/>
              </a:ext>
            </a:extLst>
          </p:cNvPr>
          <p:cNvSpPr/>
          <p:nvPr/>
        </p:nvSpPr>
        <p:spPr>
          <a:xfrm>
            <a:off x="3156055" y="2971640"/>
            <a:ext cx="468134" cy="419172"/>
          </a:xfrm>
          <a:prstGeom prst="mathMultiply">
            <a:avLst>
              <a:gd name="adj1" fmla="val 13818"/>
            </a:avLst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6481657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335902" y="1496173"/>
            <a:ext cx="11759527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300" dirty="0">
                <a:latin typeface="+mn-ea"/>
              </a:rPr>
              <a:t>관계는 검증하기 가장 어려운 대상이다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dirty="0">
                <a:latin typeface="+mn-ea"/>
              </a:rPr>
              <a:t>업무 규칙을 알아야 하고 데이터 값을 분석해야 정확한 관계를 파악할 수 있기 때문이다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dirty="0">
                <a:latin typeface="+mn-ea"/>
              </a:rPr>
              <a:t>또한 기계적으로 검토할 수 있는 방법이 거의 없다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b="1" u="sng" dirty="0">
                <a:solidFill>
                  <a:srgbClr val="FF0000"/>
                </a:solidFill>
                <a:latin typeface="+mn-ea"/>
              </a:rPr>
              <a:t>대부분 눈으로 관계선을 확인하면서 검토</a:t>
            </a:r>
            <a:r>
              <a:rPr lang="ko-KR" altLang="en-US" sz="1300" dirty="0">
                <a:latin typeface="+mn-ea"/>
              </a:rPr>
              <a:t>해야 한다</a:t>
            </a:r>
            <a:r>
              <a:rPr lang="en-US" altLang="ko-KR" sz="13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3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300" dirty="0">
                <a:latin typeface="+mn-ea"/>
              </a:rPr>
              <a:t>관계는 존재 여부를 검증하기도 쉽지 않다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dirty="0" err="1">
                <a:latin typeface="+mn-ea"/>
              </a:rPr>
              <a:t>엔터티나</a:t>
            </a:r>
            <a:r>
              <a:rPr lang="ko-KR" altLang="en-US" sz="1300" dirty="0">
                <a:latin typeface="+mn-ea"/>
              </a:rPr>
              <a:t> 속성과 달리 적절한 비교 대상이 없기 때문이다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dirty="0">
                <a:latin typeface="+mn-ea"/>
              </a:rPr>
              <a:t>있어야 할 관계를 누락시켰는지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없어야 할 관계를 추가했는지를 검토하기 쉽지 않다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dirty="0">
                <a:latin typeface="+mn-ea"/>
              </a:rPr>
              <a:t>하지만 관계가 맞는지를 대략 확인할 수 있는 방법은 존재한다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dirty="0">
                <a:latin typeface="+mn-ea"/>
              </a:rPr>
              <a:t>관계선은 관계 속성으로 구현되기 때문에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관계 속성이 화면에 사용됐는지를 검토한다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dirty="0">
                <a:latin typeface="+mn-ea"/>
              </a:rPr>
              <a:t>화면에 관계 속성이 존재할 수도 있지만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관계 속성과 연관된 속성이 존재할 수도 있다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dirty="0">
                <a:latin typeface="+mn-ea"/>
              </a:rPr>
              <a:t>전자는 화면과 비교해서 대략 기계적으로 찾을 수 있지만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후자는 대상 화면을 하나씩 분석해야 검토할 수 있다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dirty="0">
                <a:latin typeface="+mn-ea"/>
              </a:rPr>
              <a:t>어떤 식이든 </a:t>
            </a:r>
            <a:r>
              <a:rPr lang="ko-KR" altLang="en-US" sz="1300" b="1" u="sng" dirty="0">
                <a:solidFill>
                  <a:srgbClr val="FF0000"/>
                </a:solidFill>
                <a:latin typeface="+mn-ea"/>
              </a:rPr>
              <a:t>화면을 하나씩 확인해야만 관계를 검토</a:t>
            </a:r>
            <a:r>
              <a:rPr lang="ko-KR" altLang="en-US" sz="1300" dirty="0">
                <a:latin typeface="+mn-ea"/>
              </a:rPr>
              <a:t>할 수 있다</a:t>
            </a:r>
            <a:r>
              <a:rPr lang="en-US" altLang="ko-KR" sz="13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3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300" dirty="0">
                <a:latin typeface="+mn-ea"/>
              </a:rPr>
              <a:t>개발이 진행된 후에 검토할 수 있는 방법도 있다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dirty="0">
                <a:latin typeface="+mn-ea"/>
              </a:rPr>
              <a:t>관계는 결국 조인을 해야 의미가 있다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dirty="0">
                <a:latin typeface="+mn-ea"/>
              </a:rPr>
              <a:t>따라서 쿼리의 조인 구문을 분석해서 관계선과의 매핑을 통해 검토할 수 있다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b="1" u="sng" dirty="0">
                <a:solidFill>
                  <a:srgbClr val="FF0000"/>
                </a:solidFill>
                <a:latin typeface="+mn-ea"/>
              </a:rPr>
              <a:t>관계 속성으로 조인한 구문이 없다면 관계선이 의미가 있는지를 검토</a:t>
            </a:r>
            <a:r>
              <a:rPr lang="ko-KR" altLang="en-US" sz="1300" dirty="0">
                <a:latin typeface="+mn-ea"/>
              </a:rPr>
              <a:t>해야 하고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b="1" u="sng" dirty="0">
                <a:solidFill>
                  <a:srgbClr val="FF0000"/>
                </a:solidFill>
                <a:latin typeface="+mn-ea"/>
              </a:rPr>
              <a:t>조인 구문이 있는데 관계선이 없다면 관계선의 추가를 검토</a:t>
            </a:r>
            <a:r>
              <a:rPr lang="ko-KR" altLang="en-US" sz="1300" dirty="0">
                <a:latin typeface="+mn-ea"/>
              </a:rPr>
              <a:t>해야 한다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dirty="0">
                <a:latin typeface="+mn-ea"/>
              </a:rPr>
              <a:t>이 방법은 개발이 진행된 후에 검토할 수 있다는 것이 단점이다</a:t>
            </a:r>
            <a:r>
              <a:rPr lang="en-US" altLang="ko-KR" sz="13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3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300" dirty="0">
                <a:latin typeface="+mn-ea"/>
              </a:rPr>
              <a:t>만약 </a:t>
            </a:r>
            <a:r>
              <a:rPr lang="ko-KR" altLang="en-US" sz="1300" b="1" u="sng" dirty="0">
                <a:solidFill>
                  <a:srgbClr val="FF0000"/>
                </a:solidFill>
                <a:latin typeface="+mn-ea"/>
              </a:rPr>
              <a:t>다른 </a:t>
            </a:r>
            <a:r>
              <a:rPr lang="ko-KR" altLang="en-US" sz="1300" b="1" u="sng" dirty="0" err="1">
                <a:solidFill>
                  <a:srgbClr val="FF0000"/>
                </a:solidFill>
                <a:latin typeface="+mn-ea"/>
              </a:rPr>
              <a:t>엔터티와</a:t>
            </a:r>
            <a:r>
              <a:rPr lang="ko-KR" altLang="en-US" sz="1300" b="1" u="sng" dirty="0">
                <a:solidFill>
                  <a:srgbClr val="FF0000"/>
                </a:solidFill>
                <a:latin typeface="+mn-ea"/>
              </a:rPr>
              <a:t> 어떤 관계도 존재하지 않는 고립된 </a:t>
            </a:r>
            <a:r>
              <a:rPr lang="ko-KR" altLang="en-US" sz="1300" b="1" u="sng" dirty="0" err="1">
                <a:solidFill>
                  <a:srgbClr val="FF0000"/>
                </a:solidFill>
                <a:latin typeface="+mn-ea"/>
              </a:rPr>
              <a:t>엔터티가</a:t>
            </a:r>
            <a:r>
              <a:rPr lang="ko-KR" altLang="en-US" sz="1300" b="1" u="sng" dirty="0">
                <a:solidFill>
                  <a:srgbClr val="FF0000"/>
                </a:solidFill>
                <a:latin typeface="+mn-ea"/>
              </a:rPr>
              <a:t> 있다면 검토</a:t>
            </a:r>
            <a:r>
              <a:rPr lang="ko-KR" altLang="en-US" sz="1300" dirty="0">
                <a:latin typeface="+mn-ea"/>
              </a:rPr>
              <a:t>해야 한다 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dirty="0">
                <a:latin typeface="+mn-ea"/>
              </a:rPr>
              <a:t>코드 속성이나 공통 속성과의 관계는 표현하지 않기로 표준을 정했어도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관계선이 존재하지 않는 </a:t>
            </a:r>
            <a:r>
              <a:rPr lang="ko-KR" altLang="en-US" sz="1300" dirty="0" err="1">
                <a:latin typeface="+mn-ea"/>
              </a:rPr>
              <a:t>엔터티는</a:t>
            </a:r>
            <a:r>
              <a:rPr lang="ko-KR" altLang="en-US" sz="1300" dirty="0">
                <a:latin typeface="+mn-ea"/>
              </a:rPr>
              <a:t> 많지 않은 것이 일반적이다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b="1" u="sng" dirty="0">
                <a:solidFill>
                  <a:srgbClr val="FF0000"/>
                </a:solidFill>
                <a:latin typeface="+mn-ea"/>
              </a:rPr>
              <a:t>고립된 </a:t>
            </a:r>
            <a:r>
              <a:rPr lang="ko-KR" altLang="en-US" sz="1300" b="1" u="sng" dirty="0" err="1">
                <a:solidFill>
                  <a:srgbClr val="FF0000"/>
                </a:solidFill>
                <a:latin typeface="+mn-ea"/>
              </a:rPr>
              <a:t>엔터티를</a:t>
            </a:r>
            <a:r>
              <a:rPr lang="ko-KR" altLang="en-US" sz="1300" b="1" u="sng" dirty="0">
                <a:solidFill>
                  <a:srgbClr val="FF0000"/>
                </a:solidFill>
                <a:latin typeface="+mn-ea"/>
              </a:rPr>
              <a:t> 추출해서 관계가 누락되지 않았는지를 검토</a:t>
            </a:r>
            <a:r>
              <a:rPr lang="ko-KR" altLang="en-US" sz="1300" dirty="0">
                <a:latin typeface="+mn-ea"/>
              </a:rPr>
              <a:t>한다</a:t>
            </a:r>
            <a:r>
              <a:rPr lang="en-US" altLang="ko-KR" sz="13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3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300" dirty="0">
                <a:latin typeface="+mn-ea"/>
              </a:rPr>
              <a:t> </a:t>
            </a:r>
            <a:r>
              <a:rPr lang="ko-KR" altLang="en-US" sz="1300" b="1" u="sng" dirty="0">
                <a:solidFill>
                  <a:srgbClr val="FF0000"/>
                </a:solidFill>
                <a:latin typeface="+mn-ea"/>
              </a:rPr>
              <a:t>관계선이 표현된 </a:t>
            </a:r>
            <a:r>
              <a:rPr lang="ko-KR" altLang="en-US" sz="1300" b="1" u="sng" dirty="0" err="1">
                <a:solidFill>
                  <a:srgbClr val="FF0000"/>
                </a:solidFill>
                <a:latin typeface="+mn-ea"/>
              </a:rPr>
              <a:t>엔터티에</a:t>
            </a:r>
            <a:r>
              <a:rPr lang="ko-KR" altLang="en-US" sz="1300" b="1" u="sng" dirty="0">
                <a:solidFill>
                  <a:srgbClr val="FF0000"/>
                </a:solidFill>
                <a:latin typeface="+mn-ea"/>
              </a:rPr>
              <a:t> 대해서는 데이터 사이에 참조 무결성 제약이 있는지를 검토</a:t>
            </a:r>
            <a:r>
              <a:rPr lang="ko-KR" altLang="en-US" sz="1300" dirty="0">
                <a:latin typeface="+mn-ea"/>
              </a:rPr>
              <a:t>한다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dirty="0">
                <a:latin typeface="+mn-ea"/>
              </a:rPr>
              <a:t>즉 관계 속성에 사용된 값이 관계로 연결된 상위 </a:t>
            </a:r>
            <a:r>
              <a:rPr lang="ko-KR" altLang="en-US" sz="1300" dirty="0" err="1">
                <a:latin typeface="+mn-ea"/>
              </a:rPr>
              <a:t>엔터티의</a:t>
            </a:r>
            <a:r>
              <a:rPr lang="ko-KR" altLang="en-US" sz="1300" dirty="0">
                <a:latin typeface="+mn-ea"/>
              </a:rPr>
              <a:t> 주 식별자에 존재하는지를 검토한다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dirty="0">
                <a:latin typeface="+mn-ea"/>
              </a:rPr>
              <a:t>모델링이 끝난 시점에는 데이터가 없기 때문에 물리적으로 존재하는 값을 분석하기는 힘들고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논리적으로 값이 맞는지를 생각해본다</a:t>
            </a:r>
            <a:r>
              <a:rPr lang="en-US" altLang="ko-KR" sz="13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3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300" dirty="0">
                <a:latin typeface="+mn-ea"/>
              </a:rPr>
              <a:t>5.37</a:t>
            </a:r>
            <a:r>
              <a:rPr lang="ko-KR" altLang="en-US" sz="1300" dirty="0">
                <a:latin typeface="+mn-ea"/>
              </a:rPr>
              <a:t>장 </a:t>
            </a:r>
            <a:r>
              <a:rPr lang="en-US" altLang="ko-KR" sz="1300" dirty="0">
                <a:latin typeface="+mn-ea"/>
              </a:rPr>
              <a:t>(</a:t>
            </a:r>
            <a:r>
              <a:rPr lang="ko-KR" altLang="en-US" sz="1300" dirty="0">
                <a:latin typeface="+mn-ea"/>
              </a:rPr>
              <a:t>잘못 설계한 관계선의 다양한 예제</a:t>
            </a:r>
            <a:r>
              <a:rPr lang="en-US" altLang="ko-KR" sz="1300" dirty="0">
                <a:latin typeface="+mn-ea"/>
              </a:rPr>
              <a:t>)</a:t>
            </a:r>
            <a:r>
              <a:rPr lang="ko-KR" altLang="en-US" sz="1300" dirty="0">
                <a:latin typeface="+mn-ea"/>
              </a:rPr>
              <a:t>에서 설명한 것과 같이 </a:t>
            </a:r>
            <a:r>
              <a:rPr lang="ko-KR" altLang="en-US" sz="1300" b="1" u="sng" dirty="0">
                <a:solidFill>
                  <a:srgbClr val="FF0000"/>
                </a:solidFill>
                <a:latin typeface="+mn-ea"/>
              </a:rPr>
              <a:t>주 식별자가 같다고 관계를 표현한 것은</a:t>
            </a:r>
            <a:r>
              <a:rPr lang="en-US" altLang="ko-KR" sz="1300" b="1" u="sng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1300" b="1" u="sng" dirty="0">
                <a:solidFill>
                  <a:srgbClr val="FF0000"/>
                </a:solidFill>
                <a:latin typeface="+mn-ea"/>
              </a:rPr>
              <a:t>아닌지</a:t>
            </a:r>
            <a:r>
              <a:rPr lang="en-US" altLang="ko-KR" sz="1300" b="1" u="sng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300" b="1" u="sng" dirty="0">
                <a:solidFill>
                  <a:srgbClr val="FF0000"/>
                </a:solidFill>
                <a:latin typeface="+mn-ea"/>
              </a:rPr>
              <a:t>프로세스를 관계로 표현한 것은 아닌지를 검토</a:t>
            </a:r>
            <a:r>
              <a:rPr lang="ko-KR" altLang="en-US" sz="1300" dirty="0">
                <a:latin typeface="+mn-ea"/>
              </a:rPr>
              <a:t>해야 한다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dirty="0">
                <a:latin typeface="+mn-ea"/>
              </a:rPr>
              <a:t>집계 </a:t>
            </a:r>
            <a:r>
              <a:rPr lang="ko-KR" altLang="en-US" sz="1300" dirty="0" err="1">
                <a:latin typeface="+mn-ea"/>
              </a:rPr>
              <a:t>엔터티에</a:t>
            </a:r>
            <a:r>
              <a:rPr lang="ko-KR" altLang="en-US" sz="1300" dirty="0">
                <a:latin typeface="+mn-ea"/>
              </a:rPr>
              <a:t> 존재하는 관계도 집계 기준이 아닌 이상 제대로 된 관계인지를 검토해야 한다</a:t>
            </a:r>
            <a:r>
              <a:rPr lang="en-US" altLang="ko-KR" sz="13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CAA3F8-1602-43DE-2EC6-FF530ED2F5C6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관계 검증 </a:t>
            </a:r>
            <a:r>
              <a:rPr lang="en-US" altLang="ko-KR" sz="2400" dirty="0">
                <a:latin typeface="+mn-ea"/>
              </a:rPr>
              <a:t>(1/2)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31009E5-2E00-935B-5640-5B075C499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251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4091375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335902" y="1496173"/>
            <a:ext cx="11759528" cy="5093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300" dirty="0">
                <a:latin typeface="+mn-ea"/>
              </a:rPr>
              <a:t>필자가 관계를 검토할 때 주로 찾는 것이 배타 관계다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b="1" u="sng" dirty="0">
                <a:solidFill>
                  <a:srgbClr val="FF0000"/>
                </a:solidFill>
                <a:latin typeface="+mn-ea"/>
              </a:rPr>
              <a:t>배타 관계는 모델을 복잡하게 만들기 때문에 배타 관계를 발생시킨 </a:t>
            </a:r>
            <a:r>
              <a:rPr lang="ko-KR" altLang="en-US" sz="1300" b="1" u="sng" dirty="0" err="1">
                <a:solidFill>
                  <a:srgbClr val="FF0000"/>
                </a:solidFill>
                <a:latin typeface="+mn-ea"/>
              </a:rPr>
              <a:t>엔터티를</a:t>
            </a:r>
            <a:r>
              <a:rPr lang="ko-KR" altLang="en-US" sz="1300" b="1" u="sng" dirty="0">
                <a:solidFill>
                  <a:srgbClr val="FF0000"/>
                </a:solidFill>
                <a:latin typeface="+mn-ea"/>
              </a:rPr>
              <a:t> 통합할 수 있는지를 검토</a:t>
            </a:r>
            <a:r>
              <a:rPr lang="ko-KR" altLang="en-US" sz="1300" dirty="0">
                <a:latin typeface="+mn-ea"/>
              </a:rPr>
              <a:t>한다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dirty="0">
                <a:latin typeface="+mn-ea"/>
              </a:rPr>
              <a:t>이를 위해서는 어떤 방식으로 든 모델에 배타 관계선을 표현해야 한다</a:t>
            </a:r>
            <a:r>
              <a:rPr lang="en-US" altLang="ko-KR" sz="13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3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300" dirty="0">
                <a:latin typeface="+mn-ea"/>
              </a:rPr>
              <a:t>또한 </a:t>
            </a:r>
            <a:r>
              <a:rPr lang="ko-KR" altLang="en-US" sz="1300" b="1" u="sng" dirty="0">
                <a:solidFill>
                  <a:srgbClr val="FF0000"/>
                </a:solidFill>
                <a:latin typeface="+mn-ea"/>
              </a:rPr>
              <a:t>양방향 관계나 순환 관계와 같은 특별한 관계도 검토</a:t>
            </a:r>
            <a:r>
              <a:rPr lang="ko-KR" altLang="en-US" sz="1300" dirty="0">
                <a:latin typeface="+mn-ea"/>
              </a:rPr>
              <a:t>한다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dirty="0">
                <a:latin typeface="+mn-ea"/>
              </a:rPr>
              <a:t>특히 양방향 관계는 업무 규칙을 제대로 표현한 관계인지를 검토해야 한다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dirty="0" err="1">
                <a:latin typeface="+mn-ea"/>
              </a:rPr>
              <a:t>엔터티</a:t>
            </a:r>
            <a:r>
              <a:rPr lang="ko-KR" altLang="en-US" sz="1300" dirty="0">
                <a:latin typeface="+mn-ea"/>
              </a:rPr>
              <a:t> 간에 관계가 다수 발생한 경우도 검토 대상이다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dirty="0">
                <a:latin typeface="+mn-ea"/>
              </a:rPr>
              <a:t>다수의 관 계 를 관계 </a:t>
            </a:r>
            <a:r>
              <a:rPr lang="ko-KR" altLang="en-US" sz="1300" dirty="0" err="1">
                <a:latin typeface="+mn-ea"/>
              </a:rPr>
              <a:t>엔터티로</a:t>
            </a:r>
            <a:r>
              <a:rPr lang="ko-KR" altLang="en-US" sz="1300" dirty="0">
                <a:latin typeface="+mn-ea"/>
              </a:rPr>
              <a:t> 통합하여 설계할 수 없는지를 검토한다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dirty="0">
                <a:latin typeface="+mn-ea"/>
              </a:rPr>
              <a:t>다수의 관계가 존재할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3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300" dirty="0">
                <a:latin typeface="+mn-ea"/>
              </a:rPr>
              <a:t>때는 관계 속성의 수식어 사용이 선택이 아니라 필수이므로 수식어가 생략되거나 잘못 사용되지 않았는지를 검토하고 이에 따른 관계 속성 명이 제대로 사용됐는지를 검토한다</a:t>
            </a:r>
            <a:r>
              <a:rPr lang="en-US" altLang="ko-KR" sz="13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3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300" dirty="0">
                <a:latin typeface="+mn-ea"/>
              </a:rPr>
              <a:t>일대일</a:t>
            </a:r>
            <a:r>
              <a:rPr lang="en-US" altLang="ko-KR" sz="1300" dirty="0">
                <a:latin typeface="+mn-ea"/>
              </a:rPr>
              <a:t>(1:1) </a:t>
            </a:r>
            <a:r>
              <a:rPr lang="ko-KR" altLang="en-US" sz="1300" dirty="0">
                <a:latin typeface="+mn-ea"/>
              </a:rPr>
              <a:t>관계도 별도로 검토하는 관계선이다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dirty="0">
                <a:latin typeface="+mn-ea"/>
              </a:rPr>
              <a:t>일대일 관계는 일반적으로 많지 않다는 것을 염두에 두고 검토한다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b="1" u="sng" dirty="0">
                <a:solidFill>
                  <a:srgbClr val="FF0000"/>
                </a:solidFill>
                <a:latin typeface="+mn-ea"/>
              </a:rPr>
              <a:t>특히 업무 요건을 잘못 반영한 일대일 관계가 있는지를 검토</a:t>
            </a:r>
            <a:r>
              <a:rPr lang="ko-KR" altLang="en-US" sz="1300" dirty="0">
                <a:latin typeface="+mn-ea"/>
              </a:rPr>
              <a:t>한다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dirty="0">
                <a:latin typeface="+mn-ea"/>
              </a:rPr>
              <a:t>또한 </a:t>
            </a:r>
            <a:r>
              <a:rPr lang="ko-KR" altLang="en-US" sz="1300" b="1" u="sng" dirty="0">
                <a:solidFill>
                  <a:srgbClr val="FF0000"/>
                </a:solidFill>
                <a:latin typeface="+mn-ea"/>
              </a:rPr>
              <a:t>분리하지 않아도 무관한 </a:t>
            </a:r>
            <a:r>
              <a:rPr lang="ko-KR" altLang="en-US" sz="1300" b="1" u="sng" dirty="0" err="1">
                <a:solidFill>
                  <a:srgbClr val="FF0000"/>
                </a:solidFill>
                <a:latin typeface="+mn-ea"/>
              </a:rPr>
              <a:t>엔터티를</a:t>
            </a:r>
            <a:r>
              <a:rPr lang="ko-KR" altLang="en-US" sz="1300" b="1" u="sng" dirty="0">
                <a:solidFill>
                  <a:srgbClr val="FF0000"/>
                </a:solidFill>
                <a:latin typeface="+mn-ea"/>
              </a:rPr>
              <a:t> 분리한 것은 아닌지를 검토</a:t>
            </a:r>
            <a:r>
              <a:rPr lang="ko-KR" altLang="en-US" sz="1300" dirty="0">
                <a:latin typeface="+mn-ea"/>
              </a:rPr>
              <a:t>해야 한다</a:t>
            </a:r>
            <a:r>
              <a:rPr lang="en-US" altLang="ko-KR" sz="13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3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300" dirty="0">
                <a:latin typeface="+mn-ea"/>
              </a:rPr>
              <a:t>상위 </a:t>
            </a:r>
            <a:r>
              <a:rPr lang="ko-KR" altLang="en-US" sz="1300" dirty="0" err="1">
                <a:latin typeface="+mn-ea"/>
              </a:rPr>
              <a:t>엔터티의</a:t>
            </a:r>
            <a:r>
              <a:rPr lang="ko-KR" altLang="en-US" sz="1300" dirty="0">
                <a:latin typeface="+mn-ea"/>
              </a:rPr>
              <a:t> 관계 존재성이 선택 관계일 때는 관계가 존재하지 않는 것과 마찬가지므로 가능한 상위</a:t>
            </a:r>
            <a:r>
              <a:rPr lang="en-US" altLang="ko-KR" sz="1300" dirty="0">
                <a:latin typeface="+mn-ea"/>
              </a:rPr>
              <a:t>(</a:t>
            </a:r>
            <a:r>
              <a:rPr lang="ko-KR" altLang="en-US" sz="1300" dirty="0">
                <a:latin typeface="+mn-ea"/>
              </a:rPr>
              <a:t>부모</a:t>
            </a:r>
            <a:r>
              <a:rPr lang="en-US" altLang="ko-KR" sz="1300" dirty="0">
                <a:latin typeface="+mn-ea"/>
              </a:rPr>
              <a:t>)</a:t>
            </a:r>
            <a:r>
              <a:rPr lang="ko-KR" altLang="en-US" sz="1300" dirty="0">
                <a:latin typeface="+mn-ea"/>
              </a:rPr>
              <a:t> </a:t>
            </a:r>
            <a:r>
              <a:rPr lang="ko-KR" altLang="en-US" sz="1300" dirty="0" err="1">
                <a:latin typeface="+mn-ea"/>
              </a:rPr>
              <a:t>엔터티</a:t>
            </a:r>
            <a:r>
              <a:rPr lang="ko-KR" altLang="en-US" sz="1300" dirty="0">
                <a:latin typeface="+mn-ea"/>
              </a:rPr>
              <a:t> 쪽이 필수 관계가 될 수 있도록 한다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dirty="0">
                <a:latin typeface="+mn-ea"/>
              </a:rPr>
              <a:t>관계의 관계 비를 판단하는 기준은 입력 시점이 아니라 궁극적으로 어떠하냐로 판단해야 한다</a:t>
            </a:r>
            <a:r>
              <a:rPr lang="en-US" altLang="ko-KR" sz="13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3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300" b="1" u="sng" dirty="0">
                <a:solidFill>
                  <a:srgbClr val="FF0000"/>
                </a:solidFill>
                <a:latin typeface="+mn-ea"/>
              </a:rPr>
              <a:t>관계가 </a:t>
            </a:r>
            <a:r>
              <a:rPr lang="en-US" altLang="ko-KR" sz="1300" b="1" u="sng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300" b="1" u="sng" dirty="0">
                <a:solidFill>
                  <a:srgbClr val="FF0000"/>
                </a:solidFill>
                <a:latin typeface="+mn-ea"/>
              </a:rPr>
              <a:t>차 관계인지도 검토</a:t>
            </a:r>
            <a:r>
              <a:rPr lang="ko-KR" altLang="en-US" sz="1300" dirty="0">
                <a:latin typeface="+mn-ea"/>
              </a:rPr>
              <a:t>해야 한다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dirty="0">
                <a:latin typeface="+mn-ea"/>
              </a:rPr>
              <a:t>성능을 고려한 추출 관계를 제외한 모든 관계는 </a:t>
            </a:r>
            <a:r>
              <a:rPr lang="en-US" altLang="ko-KR" sz="1300" dirty="0">
                <a:latin typeface="+mn-ea"/>
              </a:rPr>
              <a:t>1</a:t>
            </a:r>
            <a:r>
              <a:rPr lang="ko-KR" altLang="en-US" sz="1300" dirty="0">
                <a:latin typeface="+mn-ea"/>
              </a:rPr>
              <a:t>차 관계여야 한다</a:t>
            </a:r>
            <a:r>
              <a:rPr lang="en-US" altLang="ko-KR" sz="1300" dirty="0">
                <a:latin typeface="+mn-ea"/>
              </a:rPr>
              <a:t>. 1</a:t>
            </a:r>
            <a:r>
              <a:rPr lang="ko-KR" altLang="en-US" sz="1300" dirty="0">
                <a:latin typeface="+mn-ea"/>
              </a:rPr>
              <a:t>차 이상인 관계선이 중복으로 표현된 관계는 비교적 쉽게 찾을 수 있기 때문에 중점적으로 검토한다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dirty="0">
                <a:latin typeface="+mn-ea"/>
              </a:rPr>
              <a:t>표현되지 않은 </a:t>
            </a:r>
            <a:r>
              <a:rPr lang="en-US" altLang="ko-KR" sz="1300" dirty="0">
                <a:latin typeface="+mn-ea"/>
              </a:rPr>
              <a:t>1</a:t>
            </a:r>
            <a:r>
              <a:rPr lang="ko-KR" altLang="en-US" sz="1300" dirty="0">
                <a:latin typeface="+mn-ea"/>
              </a:rPr>
              <a:t>차 관계선이 있는지도 검토해야 하지만 이는 사실상 어렵다</a:t>
            </a:r>
            <a:r>
              <a:rPr lang="en-US" altLang="ko-KR" sz="13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3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300" dirty="0">
                <a:latin typeface="+mn-ea"/>
              </a:rPr>
              <a:t>모델이 </a:t>
            </a:r>
            <a:r>
              <a:rPr lang="ko-KR" altLang="en-US" sz="1300" dirty="0" err="1">
                <a:latin typeface="+mn-ea"/>
              </a:rPr>
              <a:t>복잡해져</a:t>
            </a:r>
            <a:r>
              <a:rPr lang="ko-KR" altLang="en-US" sz="1300" dirty="0">
                <a:latin typeface="+mn-ea"/>
              </a:rPr>
              <a:t> 표현을 생략하기로 약속한 관계선을 제외하고 관계선은 생략하지 않는 것이 원칙이다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dirty="0">
                <a:latin typeface="+mn-ea"/>
              </a:rPr>
              <a:t>모든 </a:t>
            </a:r>
            <a:r>
              <a:rPr lang="ko-KR" altLang="en-US" sz="1300" dirty="0" err="1">
                <a:latin typeface="+mn-ea"/>
              </a:rPr>
              <a:t>엔터티에</a:t>
            </a:r>
            <a:r>
              <a:rPr lang="ko-KR" altLang="en-US" sz="1300" dirty="0">
                <a:latin typeface="+mn-ea"/>
              </a:rPr>
              <a:t> 존재하는 입력사원번호 같은 시스템 속성이나 코드 속성과는 관계선의 표현을 생략할 때가 있다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dirty="0">
                <a:latin typeface="+mn-ea"/>
              </a:rPr>
              <a:t>이력 </a:t>
            </a:r>
            <a:r>
              <a:rPr lang="ko-KR" altLang="en-US" sz="1300" dirty="0" err="1">
                <a:latin typeface="+mn-ea"/>
              </a:rPr>
              <a:t>엔터티나</a:t>
            </a:r>
            <a:r>
              <a:rPr lang="ko-KR" altLang="en-US" sz="1300" dirty="0">
                <a:latin typeface="+mn-ea"/>
              </a:rPr>
              <a:t> 백업 </a:t>
            </a:r>
            <a:r>
              <a:rPr lang="ko-KR" altLang="en-US" sz="1300" dirty="0" err="1">
                <a:latin typeface="+mn-ea"/>
              </a:rPr>
              <a:t>엔터티에</a:t>
            </a:r>
            <a:r>
              <a:rPr lang="ko-KR" altLang="en-US" sz="1300" dirty="0">
                <a:latin typeface="+mn-ea"/>
              </a:rPr>
              <a:t> 포함된 관계 속성도 관계선의 표현을 생략할 수 있다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dirty="0">
                <a:latin typeface="+mn-ea"/>
              </a:rPr>
              <a:t>이런 </a:t>
            </a:r>
            <a:r>
              <a:rPr lang="ko-KR" altLang="en-US" sz="1300" dirty="0" err="1">
                <a:latin typeface="+mn-ea"/>
              </a:rPr>
              <a:t>엔터티는</a:t>
            </a:r>
            <a:r>
              <a:rPr lang="ko-KR" altLang="en-US" sz="1300" dirty="0">
                <a:latin typeface="+mn-ea"/>
              </a:rPr>
              <a:t> 원천 </a:t>
            </a:r>
            <a:r>
              <a:rPr lang="ko-KR" altLang="en-US" sz="1300" dirty="0" err="1">
                <a:latin typeface="+mn-ea"/>
              </a:rPr>
              <a:t>엔터티와의</a:t>
            </a:r>
            <a:r>
              <a:rPr lang="ko-KR" altLang="en-US" sz="1300" dirty="0">
                <a:latin typeface="+mn-ea"/>
              </a:rPr>
              <a:t> 관계를 그대로 따르기 때문이다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dirty="0">
                <a:latin typeface="+mn-ea"/>
              </a:rPr>
              <a:t>하지만 이 역시도 데이터 무결성이 우선이면 생략하지 않는 것이 원칙이다</a:t>
            </a:r>
            <a:r>
              <a:rPr lang="en-US" altLang="ko-KR" sz="13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3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300" dirty="0">
                <a:latin typeface="+mn-ea"/>
              </a:rPr>
              <a:t> </a:t>
            </a:r>
            <a:r>
              <a:rPr lang="ko-KR" altLang="en-US" sz="1300" b="1" u="sng" dirty="0">
                <a:solidFill>
                  <a:srgbClr val="FF0000"/>
                </a:solidFill>
                <a:latin typeface="+mn-ea"/>
              </a:rPr>
              <a:t>관계가 제대로 상속됐는지를 검토하기 위해서 주 식별자가 </a:t>
            </a:r>
            <a:r>
              <a:rPr lang="en-US" altLang="ko-KR" sz="1300" b="1" u="sng" dirty="0">
                <a:solidFill>
                  <a:srgbClr val="FF0000"/>
                </a:solidFill>
                <a:latin typeface="+mn-ea"/>
              </a:rPr>
              <a:t>10</a:t>
            </a:r>
            <a:r>
              <a:rPr lang="ko-KR" altLang="en-US" sz="1300" b="1" u="sng" dirty="0">
                <a:solidFill>
                  <a:srgbClr val="FF0000"/>
                </a:solidFill>
                <a:latin typeface="+mn-ea"/>
              </a:rPr>
              <a:t>개 이상의 속성으로 구성된 </a:t>
            </a:r>
            <a:r>
              <a:rPr lang="ko-KR" altLang="en-US" sz="1300" b="1" u="sng" dirty="0" err="1">
                <a:solidFill>
                  <a:srgbClr val="FF0000"/>
                </a:solidFill>
                <a:latin typeface="+mn-ea"/>
              </a:rPr>
              <a:t>엔터티를</a:t>
            </a:r>
            <a:r>
              <a:rPr lang="ko-KR" altLang="en-US" sz="1300" dirty="0">
                <a:latin typeface="+mn-ea"/>
              </a:rPr>
              <a:t> 뽑을 수 있다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dirty="0">
                <a:latin typeface="+mn-ea"/>
              </a:rPr>
              <a:t>관계로 연결된 </a:t>
            </a:r>
            <a:r>
              <a:rPr lang="ko-KR" altLang="en-US" sz="1300" dirty="0" err="1">
                <a:latin typeface="+mn-ea"/>
              </a:rPr>
              <a:t>엔터티</a:t>
            </a:r>
            <a:r>
              <a:rPr lang="ko-KR" altLang="en-US" sz="1300" dirty="0">
                <a:latin typeface="+mn-ea"/>
              </a:rPr>
              <a:t> 만을 대상으로 식별자가 제대로 상속됐는지를 육안으로 라도 검토하는 것이 좋다</a:t>
            </a:r>
            <a:r>
              <a:rPr lang="en-US" altLang="ko-KR" sz="1300" dirty="0">
                <a:latin typeface="+mn-ea"/>
              </a:rPr>
              <a:t>. </a:t>
            </a:r>
            <a:r>
              <a:rPr lang="ko-KR" altLang="en-US" sz="1300" dirty="0">
                <a:latin typeface="+mn-ea"/>
              </a:rPr>
              <a:t>복합 주 식별자를 상속하는 관계에 대해서는 속성의 순서가 주 식별자와 같은지를 검토해야 한다</a:t>
            </a:r>
            <a:r>
              <a:rPr lang="en-US" altLang="ko-KR" sz="13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관계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Relationship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관계 검증 </a:t>
            </a:r>
            <a:r>
              <a:rPr lang="en-US" altLang="ko-KR" sz="2400" dirty="0">
                <a:latin typeface="+mn-ea"/>
              </a:rPr>
              <a:t>(2/2)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2C085-6555-DC53-D9F0-0F3068BCD2AC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(Relationship)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C50CAB7-5898-6C11-A040-C534D7A37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252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7376047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381A9E-2A95-8FF9-CD30-21DF6F283265}"/>
              </a:ext>
            </a:extLst>
          </p:cNvPr>
          <p:cNvSpPr txBox="1"/>
          <p:nvPr/>
        </p:nvSpPr>
        <p:spPr>
          <a:xfrm>
            <a:off x="3048918" y="2464890"/>
            <a:ext cx="609783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6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</a:t>
            </a:r>
            <a:endParaRPr lang="en-US" altLang="ko-KR" sz="6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en-US" altLang="ko-KR" sz="7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endParaRPr lang="ko-KR" altLang="en-US" sz="7200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24B7D2-D29D-095D-A59F-457043872A94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</p:spTree>
    <p:extLst>
      <p:ext uri="{BB962C8B-B14F-4D97-AF65-F5344CB8AC3E}">
        <p14:creationId xmlns:p14="http://schemas.microsoft.com/office/powerpoint/2010/main" val="1403435189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6.1. </a:t>
            </a:r>
            <a:r>
              <a:rPr lang="ko-KR" altLang="en-US" sz="2400" dirty="0">
                <a:latin typeface="+mn-ea"/>
              </a:rPr>
              <a:t>이력 데이터 이야기</a:t>
            </a:r>
            <a:endParaRPr lang="en-US" altLang="ko-KR" sz="2400" dirty="0"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  <a:p>
            <a:endParaRPr lang="en-US" altLang="ko-KR" sz="2400" dirty="0"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  <a:p>
            <a:r>
              <a:rPr lang="en-US" altLang="ko-KR" sz="2400" dirty="0">
                <a:latin typeface="+mn-ea"/>
              </a:rPr>
              <a:t>6.2. </a:t>
            </a:r>
            <a:r>
              <a:rPr lang="ko-KR" altLang="en-US" sz="2400" dirty="0">
                <a:latin typeface="+mn-ea"/>
              </a:rPr>
              <a:t>이력 데이터와 내역 데이터</a:t>
            </a:r>
            <a:endParaRPr lang="en-US" altLang="ko-KR" sz="2400" b="1" dirty="0"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dirty="0">
                <a:latin typeface="+mn-ea"/>
              </a:rPr>
              <a:t>이력 데이터는 원천 데이터의 함수 종속이나 파생 종속과 연관된다</a:t>
            </a:r>
            <a:r>
              <a:rPr lang="en-US" altLang="ko-KR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dirty="0">
                <a:latin typeface="+mn-ea"/>
              </a:rPr>
              <a:t>관계형 데이터 모델링은 결국 종속성을 따지는 작업이기 때문에 종속성을 이해해야만 좋은 </a:t>
            </a:r>
            <a:r>
              <a:rPr lang="ko-KR" altLang="en-US" dirty="0" err="1">
                <a:latin typeface="+mn-ea"/>
              </a:rPr>
              <a:t>모델러가</a:t>
            </a:r>
            <a:r>
              <a:rPr lang="ko-KR" altLang="en-US" dirty="0">
                <a:latin typeface="+mn-ea"/>
              </a:rPr>
              <a:t> 될 수 있다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이력 데이터</a:t>
            </a:r>
            <a:r>
              <a:rPr lang="ko-KR" altLang="en-US" dirty="0">
                <a:latin typeface="+mn-ea"/>
              </a:rPr>
              <a:t>란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변경된 데이터</a:t>
            </a:r>
            <a:r>
              <a:rPr lang="ko-KR" altLang="en-US" dirty="0">
                <a:latin typeface="+mn-ea"/>
              </a:rPr>
              <a:t>다</a:t>
            </a:r>
            <a:r>
              <a:rPr lang="en-US" altLang="ko-KR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dirty="0">
                <a:latin typeface="+mn-ea"/>
              </a:rPr>
              <a:t>예전에 쌓인 데이터여도 변경되지 않았다면 이력 데이터가 아니라 내역 데이터다</a:t>
            </a:r>
            <a:r>
              <a:rPr lang="en-US" altLang="ko-KR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dirty="0">
                <a:latin typeface="+mn-ea"/>
              </a:rPr>
              <a:t>필자는 이력과 내역을 ‘변경이력’ 과 ‘발생내역’ 이라는 용어로 구분한다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B744B71-1219-AE7A-77BE-E72672346970}"/>
              </a:ext>
            </a:extLst>
          </p:cNvPr>
          <p:cNvSpPr/>
          <p:nvPr/>
        </p:nvSpPr>
        <p:spPr>
          <a:xfrm>
            <a:off x="710764" y="4422543"/>
            <a:ext cx="1518383" cy="5388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변경 여부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429A333-5535-0538-8890-A8D93C5A8F36}"/>
              </a:ext>
            </a:extLst>
          </p:cNvPr>
          <p:cNvSpPr/>
          <p:nvPr/>
        </p:nvSpPr>
        <p:spPr>
          <a:xfrm>
            <a:off x="3837384" y="4422543"/>
            <a:ext cx="1222793" cy="5388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용어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C03DE4-A256-F92A-1C7F-A9AEBC756D36}"/>
              </a:ext>
            </a:extLst>
          </p:cNvPr>
          <p:cNvSpPr/>
          <p:nvPr/>
        </p:nvSpPr>
        <p:spPr>
          <a:xfrm>
            <a:off x="2272826" y="4422543"/>
            <a:ext cx="1518383" cy="5388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구분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45998E9-8262-07C4-B4AC-FA0AA2CAD236}"/>
              </a:ext>
            </a:extLst>
          </p:cNvPr>
          <p:cNvSpPr/>
          <p:nvPr/>
        </p:nvSpPr>
        <p:spPr>
          <a:xfrm>
            <a:off x="710764" y="5009536"/>
            <a:ext cx="1518383" cy="53889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rgbClr val="0070C0"/>
                </a:solidFill>
              </a:rPr>
              <a:t>원본 데이터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925A9EE-5E83-9FAC-A3FD-5DA55D54C5B0}"/>
              </a:ext>
            </a:extLst>
          </p:cNvPr>
          <p:cNvSpPr/>
          <p:nvPr/>
        </p:nvSpPr>
        <p:spPr>
          <a:xfrm>
            <a:off x="3837384" y="5009536"/>
            <a:ext cx="1222793" cy="538891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rgbClr val="0070C0"/>
                </a:solidFill>
              </a:rPr>
              <a:t>내역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3774B7C-1DC3-A860-DB20-8182210FB99C}"/>
              </a:ext>
            </a:extLst>
          </p:cNvPr>
          <p:cNvSpPr/>
          <p:nvPr/>
        </p:nvSpPr>
        <p:spPr>
          <a:xfrm>
            <a:off x="2272826" y="5009536"/>
            <a:ext cx="1518383" cy="53889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rgbClr val="0070C0"/>
                </a:solidFill>
              </a:rPr>
              <a:t>발생 내역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9865D93-E9EF-6460-2670-73F7683D5EEA}"/>
              </a:ext>
            </a:extLst>
          </p:cNvPr>
          <p:cNvSpPr/>
          <p:nvPr/>
        </p:nvSpPr>
        <p:spPr>
          <a:xfrm>
            <a:off x="710764" y="5596529"/>
            <a:ext cx="1518383" cy="53889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rgbClr val="FF0000"/>
                </a:solidFill>
              </a:rPr>
              <a:t>변경 데이터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0948E1-A005-5998-0593-126EE104E817}"/>
              </a:ext>
            </a:extLst>
          </p:cNvPr>
          <p:cNvSpPr/>
          <p:nvPr/>
        </p:nvSpPr>
        <p:spPr>
          <a:xfrm>
            <a:off x="3837384" y="5596529"/>
            <a:ext cx="1222793" cy="538891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rgbClr val="FF0000"/>
                </a:solidFill>
              </a:rPr>
              <a:t>이력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B3289D6-446D-7C2C-931E-5ACA2DC52727}"/>
              </a:ext>
            </a:extLst>
          </p:cNvPr>
          <p:cNvSpPr/>
          <p:nvPr/>
        </p:nvSpPr>
        <p:spPr>
          <a:xfrm>
            <a:off x="2272826" y="5596529"/>
            <a:ext cx="1518383" cy="53889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rgbClr val="FF0000"/>
                </a:solidFill>
              </a:rPr>
              <a:t>변경 이력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41617AD-2C92-AFFC-4BFA-A2CD4B08D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253" y="4691988"/>
            <a:ext cx="3779842" cy="1317545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1860992-0367-0089-C43B-2A0EB0586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449832"/>
            <a:ext cx="2743200" cy="365125"/>
          </a:xfrm>
        </p:spPr>
        <p:txBody>
          <a:bodyPr/>
          <a:lstStyle/>
          <a:p>
            <a:fld id="{6414D9B4-A085-4D58-9827-DD73C3602634}" type="slidenum">
              <a:rPr lang="ko-KR" altLang="en-US" smtClean="0"/>
              <a:pPr/>
              <a:t>254</a:t>
            </a:fld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0BDA4DA-B69B-4BAA-AE5C-C511C3FB28B0}"/>
              </a:ext>
            </a:extLst>
          </p:cNvPr>
          <p:cNvSpPr/>
          <p:nvPr/>
        </p:nvSpPr>
        <p:spPr>
          <a:xfrm>
            <a:off x="5112693" y="4422543"/>
            <a:ext cx="983307" cy="5388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DML</a:t>
            </a:r>
            <a:endParaRPr lang="ko-KR" altLang="en-US" sz="16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D4F02BE-3DFA-4633-BC3E-AA597FCF39D3}"/>
              </a:ext>
            </a:extLst>
          </p:cNvPr>
          <p:cNvSpPr/>
          <p:nvPr/>
        </p:nvSpPr>
        <p:spPr>
          <a:xfrm>
            <a:off x="5112693" y="5009536"/>
            <a:ext cx="983307" cy="538891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rgbClr val="0070C0"/>
                </a:solidFill>
              </a:rPr>
              <a:t>Insert</a:t>
            </a:r>
            <a:endParaRPr lang="ko-KR" altLang="en-US" sz="1600" b="1" dirty="0">
              <a:solidFill>
                <a:srgbClr val="0070C0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B288FDA-3574-4ABA-8361-A42A44364282}"/>
              </a:ext>
            </a:extLst>
          </p:cNvPr>
          <p:cNvSpPr/>
          <p:nvPr/>
        </p:nvSpPr>
        <p:spPr>
          <a:xfrm>
            <a:off x="5112693" y="5596529"/>
            <a:ext cx="983307" cy="538891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Update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DB3A80A-1E74-458B-B2F2-53FC1B6FD769}"/>
              </a:ext>
            </a:extLst>
          </p:cNvPr>
          <p:cNvSpPr/>
          <p:nvPr/>
        </p:nvSpPr>
        <p:spPr>
          <a:xfrm>
            <a:off x="6148516" y="4422543"/>
            <a:ext cx="1707860" cy="5388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Alive</a:t>
            </a:r>
            <a:endParaRPr lang="ko-KR" altLang="en-US" sz="1600" b="1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B0F5949-2AB1-42F1-B091-D1076029FA11}"/>
              </a:ext>
            </a:extLst>
          </p:cNvPr>
          <p:cNvSpPr/>
          <p:nvPr/>
        </p:nvSpPr>
        <p:spPr>
          <a:xfrm>
            <a:off x="6148516" y="5009536"/>
            <a:ext cx="1707860" cy="538891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rgbClr val="0070C0"/>
                </a:solidFill>
              </a:rPr>
              <a:t>살아있는 데이터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78A15F1-1DAD-4D65-B0E5-C9B8BCB5AA16}"/>
              </a:ext>
            </a:extLst>
          </p:cNvPr>
          <p:cNvSpPr/>
          <p:nvPr/>
        </p:nvSpPr>
        <p:spPr>
          <a:xfrm>
            <a:off x="6148516" y="5596529"/>
            <a:ext cx="1707860" cy="538891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rgbClr val="FF0000"/>
                </a:solidFill>
              </a:rPr>
              <a:t>죽은 데이터</a:t>
            </a:r>
          </a:p>
        </p:txBody>
      </p:sp>
    </p:spTree>
    <p:extLst>
      <p:ext uri="{BB962C8B-B14F-4D97-AF65-F5344CB8AC3E}">
        <p14:creationId xmlns:p14="http://schemas.microsoft.com/office/powerpoint/2010/main" val="1735951865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6.2. </a:t>
            </a:r>
            <a:r>
              <a:rPr lang="ko-KR" altLang="en-US" sz="2400" dirty="0">
                <a:solidFill>
                  <a:srgbClr val="FF0000"/>
                </a:solidFill>
                <a:latin typeface="+mn-ea"/>
              </a:rPr>
              <a:t>이력</a:t>
            </a:r>
            <a:r>
              <a:rPr lang="ko-KR" altLang="en-US" sz="2400" dirty="0">
                <a:latin typeface="+mn-ea"/>
              </a:rPr>
              <a:t> 데이터와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내역</a:t>
            </a:r>
            <a:r>
              <a:rPr lang="ko-KR" altLang="en-US" sz="2400" dirty="0">
                <a:latin typeface="+mn-ea"/>
              </a:rPr>
              <a:t> 데이터</a:t>
            </a:r>
            <a:endParaRPr lang="en-US" altLang="ko-KR" sz="2400" b="1" dirty="0"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dirty="0">
                <a:latin typeface="+mn-ea"/>
              </a:rPr>
              <a:t>이력 데이터란 변경된 데이터다</a:t>
            </a:r>
            <a:r>
              <a:rPr lang="en-US" altLang="ko-KR" dirty="0">
                <a:latin typeface="+mn-ea"/>
              </a:rPr>
              <a:t>. </a:t>
            </a:r>
            <a:r>
              <a:rPr lang="ko-KR" altLang="en-US" dirty="0">
                <a:latin typeface="+mn-ea"/>
              </a:rPr>
              <a:t>예전에 쌓인 데이터여도 변경되지 않았다면 이력 데이터가 아니라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dirty="0">
                <a:latin typeface="+mn-ea"/>
              </a:rPr>
              <a:t>내역 데이터다</a:t>
            </a:r>
            <a:r>
              <a:rPr lang="en-US" altLang="ko-KR" dirty="0">
                <a:latin typeface="+mn-ea"/>
              </a:rPr>
              <a:t>. </a:t>
            </a:r>
            <a:r>
              <a:rPr lang="ko-KR" altLang="en-US" dirty="0">
                <a:latin typeface="+mn-ea"/>
              </a:rPr>
              <a:t>필자는 이력과 내역을 ‘변경이력’ 과 ‘발생내역’ 이라는 용어로 구분한다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925A9EE-5E83-9FAC-A3FD-5DA55D54C5B0}"/>
              </a:ext>
            </a:extLst>
          </p:cNvPr>
          <p:cNvSpPr/>
          <p:nvPr/>
        </p:nvSpPr>
        <p:spPr>
          <a:xfrm>
            <a:off x="1062277" y="2481616"/>
            <a:ext cx="2009864" cy="94738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0070C0"/>
                </a:solidFill>
              </a:rPr>
              <a:t>내역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0948E1-A005-5998-0593-126EE104E817}"/>
              </a:ext>
            </a:extLst>
          </p:cNvPr>
          <p:cNvSpPr/>
          <p:nvPr/>
        </p:nvSpPr>
        <p:spPr>
          <a:xfrm>
            <a:off x="1062277" y="3923333"/>
            <a:ext cx="2009864" cy="2442166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FF0000"/>
                </a:solidFill>
              </a:rPr>
              <a:t>이력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41617AD-2C92-AFFC-4BFA-A2CD4B08D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454" y="2349989"/>
            <a:ext cx="3334215" cy="116221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6B80B55-8785-444E-24A1-784373A37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8454" y="3923333"/>
            <a:ext cx="3419952" cy="230537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B0FF19D-6746-C12B-7339-3A89E01AB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472" y="2349989"/>
            <a:ext cx="2534004" cy="581106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20B9F99-09B5-5645-E9C5-2FCCF4FD4C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4472" y="3923333"/>
            <a:ext cx="3600953" cy="743054"/>
          </a:xfrm>
          <a:prstGeom prst="rect">
            <a:avLst/>
          </a:prstGeom>
        </p:spPr>
      </p:pic>
      <p:cxnSp>
        <p:nvCxnSpPr>
          <p:cNvPr id="22" name="연결선: 구부러짐 21">
            <a:extLst>
              <a:ext uri="{FF2B5EF4-FFF2-40B4-BE49-F238E27FC236}">
                <a16:creationId xmlns:a16="http://schemas.microsoft.com/office/drawing/2014/main" id="{2FF670B1-DE3C-A8A5-28E4-F045F731BCAD}"/>
              </a:ext>
            </a:extLst>
          </p:cNvPr>
          <p:cNvCxnSpPr>
            <a:cxnSpLocks/>
            <a:stCxn id="23" idx="6"/>
            <a:endCxn id="24" idx="0"/>
          </p:cNvCxnSpPr>
          <p:nvPr/>
        </p:nvCxnSpPr>
        <p:spPr>
          <a:xfrm>
            <a:off x="10237205" y="2820046"/>
            <a:ext cx="976804" cy="147312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타원 22">
            <a:extLst>
              <a:ext uri="{FF2B5EF4-FFF2-40B4-BE49-F238E27FC236}">
                <a16:creationId xmlns:a16="http://schemas.microsoft.com/office/drawing/2014/main" id="{9639D022-50CB-EB65-DF3B-941092A3E5E0}"/>
              </a:ext>
            </a:extLst>
          </p:cNvPr>
          <p:cNvSpPr/>
          <p:nvPr/>
        </p:nvSpPr>
        <p:spPr>
          <a:xfrm>
            <a:off x="10049346" y="2726116"/>
            <a:ext cx="187859" cy="18785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165286DC-B5BC-67C0-AD4D-910BB649B21F}"/>
              </a:ext>
            </a:extLst>
          </p:cNvPr>
          <p:cNvSpPr/>
          <p:nvPr/>
        </p:nvSpPr>
        <p:spPr>
          <a:xfrm>
            <a:off x="11120079" y="4293175"/>
            <a:ext cx="187859" cy="18785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69E35602-ADDD-90C4-8027-8C2219070530}"/>
              </a:ext>
            </a:extLst>
          </p:cNvPr>
          <p:cNvSpPr/>
          <p:nvPr/>
        </p:nvSpPr>
        <p:spPr>
          <a:xfrm>
            <a:off x="9859222" y="4104029"/>
            <a:ext cx="1629625" cy="377005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5C2BFF1F-29A6-57B6-A477-7B24E0E8D763}"/>
              </a:ext>
            </a:extLst>
          </p:cNvPr>
          <p:cNvSpPr/>
          <p:nvPr/>
        </p:nvSpPr>
        <p:spPr>
          <a:xfrm>
            <a:off x="5522612" y="5649361"/>
            <a:ext cx="1231272" cy="316873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EBA02607-9B8D-9969-77D4-D6FFA2FD703F}"/>
              </a:ext>
            </a:extLst>
          </p:cNvPr>
          <p:cNvCxnSpPr>
            <a:cxnSpLocks/>
            <a:stCxn id="28" idx="3"/>
            <a:endCxn id="27" idx="2"/>
          </p:cNvCxnSpPr>
          <p:nvPr/>
        </p:nvCxnSpPr>
        <p:spPr>
          <a:xfrm flipV="1">
            <a:off x="6753884" y="4481034"/>
            <a:ext cx="3920151" cy="132676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48F0579-36B6-07B4-6BE6-3C8F4362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255</a:t>
            </a:fld>
            <a:endParaRPr lang="ko-KR" altLang="en-US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C8F0D2D-9A1C-4F9B-888D-541E6E55D98C}"/>
              </a:ext>
            </a:extLst>
          </p:cNvPr>
          <p:cNvSpPr/>
          <p:nvPr/>
        </p:nvSpPr>
        <p:spPr>
          <a:xfrm>
            <a:off x="5243804" y="4906761"/>
            <a:ext cx="1763486" cy="1458738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347423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6.2. </a:t>
            </a:r>
            <a:r>
              <a:rPr lang="ko-KR" altLang="en-US" sz="2400" dirty="0">
                <a:solidFill>
                  <a:srgbClr val="FF0000"/>
                </a:solidFill>
                <a:latin typeface="+mn-ea"/>
              </a:rPr>
              <a:t>이력</a:t>
            </a:r>
            <a:r>
              <a:rPr lang="ko-KR" altLang="en-US" sz="2400" dirty="0">
                <a:latin typeface="+mn-ea"/>
              </a:rPr>
              <a:t> 데이터와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내역</a:t>
            </a:r>
            <a:r>
              <a:rPr lang="ko-KR" altLang="en-US" sz="2400" dirty="0">
                <a:latin typeface="+mn-ea"/>
              </a:rPr>
              <a:t> 데이터</a:t>
            </a:r>
            <a:endParaRPr lang="en-US" altLang="ko-KR" sz="2400" b="1" dirty="0"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dirty="0">
                <a:latin typeface="+mn-ea"/>
              </a:rPr>
              <a:t>이력 데이터란 변경된 데이터다</a:t>
            </a:r>
            <a:r>
              <a:rPr lang="en-US" altLang="ko-KR" dirty="0">
                <a:latin typeface="+mn-ea"/>
              </a:rPr>
              <a:t>. </a:t>
            </a:r>
            <a:r>
              <a:rPr lang="ko-KR" altLang="en-US" dirty="0">
                <a:latin typeface="+mn-ea"/>
              </a:rPr>
              <a:t>예전에 쌓인 데이터여도 변경되지 않았다면 이력 데이터가 아니라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dirty="0">
                <a:latin typeface="+mn-ea"/>
              </a:rPr>
              <a:t>내역 데이터다</a:t>
            </a:r>
            <a:r>
              <a:rPr lang="en-US" altLang="ko-KR" dirty="0">
                <a:latin typeface="+mn-ea"/>
              </a:rPr>
              <a:t>. </a:t>
            </a:r>
            <a:r>
              <a:rPr lang="ko-KR" altLang="en-US" dirty="0">
                <a:latin typeface="+mn-ea"/>
              </a:rPr>
              <a:t>필자는 이력과 내역을 ‘변경이력’ 과 ‘발생내역’ 이라는 용어로 구분한다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925A9EE-5E83-9FAC-A3FD-5DA55D54C5B0}"/>
              </a:ext>
            </a:extLst>
          </p:cNvPr>
          <p:cNvSpPr/>
          <p:nvPr/>
        </p:nvSpPr>
        <p:spPr>
          <a:xfrm>
            <a:off x="1062279" y="2261286"/>
            <a:ext cx="2009864" cy="116771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0070C0"/>
                </a:solidFill>
              </a:rPr>
              <a:t>내역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0948E1-A005-5998-0593-126EE104E817}"/>
              </a:ext>
            </a:extLst>
          </p:cNvPr>
          <p:cNvSpPr/>
          <p:nvPr/>
        </p:nvSpPr>
        <p:spPr>
          <a:xfrm>
            <a:off x="1062279" y="3923333"/>
            <a:ext cx="2009864" cy="239711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FF0000"/>
                </a:solidFill>
              </a:rPr>
              <a:t>이력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5BB3FB4-1A4E-9BF6-ABEF-9A5E7F2A0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986" y="2404180"/>
            <a:ext cx="1905266" cy="97168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AA67FA4-E46A-234C-62E5-9E88108FD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0881" y="4066228"/>
            <a:ext cx="2343477" cy="98121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FDB982E-B1E2-5D11-62BC-458E9CE2E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5170" y="5339233"/>
            <a:ext cx="2314898" cy="98121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20E5810-B7F5-C618-F8FF-3B76D87F03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4148" y="2261285"/>
            <a:ext cx="2819794" cy="111458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DD06408-B7D0-A9A1-D3CF-1D1C214C15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042" y="3780438"/>
            <a:ext cx="4344006" cy="1267002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F7DC34A-4263-8309-4689-6A0886EA4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256</a:t>
            </a:fld>
            <a:endParaRPr lang="ko-KR" altLang="en-US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0C64645-FBF2-446D-9A30-234D04228B3E}"/>
              </a:ext>
            </a:extLst>
          </p:cNvPr>
          <p:cNvSpPr/>
          <p:nvPr/>
        </p:nvSpPr>
        <p:spPr>
          <a:xfrm>
            <a:off x="4733957" y="5700479"/>
            <a:ext cx="1157449" cy="205798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389F638-D4B8-4493-BDA9-3F457F604494}"/>
              </a:ext>
            </a:extLst>
          </p:cNvPr>
          <p:cNvSpPr/>
          <p:nvPr/>
        </p:nvSpPr>
        <p:spPr>
          <a:xfrm>
            <a:off x="4743287" y="4423270"/>
            <a:ext cx="1157449" cy="205798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72151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6.2. </a:t>
            </a:r>
            <a:r>
              <a:rPr lang="ko-KR" altLang="en-US" sz="2400" dirty="0">
                <a:solidFill>
                  <a:srgbClr val="FF0000"/>
                </a:solidFill>
                <a:latin typeface="+mn-ea"/>
              </a:rPr>
              <a:t>이력</a:t>
            </a:r>
            <a:r>
              <a:rPr lang="ko-KR" altLang="en-US" sz="2400" dirty="0">
                <a:latin typeface="+mn-ea"/>
              </a:rPr>
              <a:t> 데이터와 </a:t>
            </a:r>
            <a:r>
              <a:rPr lang="ko-KR" altLang="en-US" sz="2400" dirty="0">
                <a:solidFill>
                  <a:srgbClr val="FF0000"/>
                </a:solidFill>
                <a:latin typeface="+mn-ea"/>
              </a:rPr>
              <a:t>내역</a:t>
            </a:r>
            <a:r>
              <a:rPr lang="ko-KR" altLang="en-US" sz="2400" dirty="0">
                <a:latin typeface="+mn-ea"/>
              </a:rPr>
              <a:t> 데이터</a:t>
            </a:r>
            <a:endParaRPr lang="en-US" altLang="ko-KR" sz="2400" b="1" dirty="0"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이력 데이터란 변경된 데이터다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예전에 쌓인 데이터여도 변경되지 않았다면 이력 데이터가 아니라 내역 데이터다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필자는 이력과 내역을 ‘변경이력’ 과 ‘발생내역’ 이라는 용어로 구분한다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925A9EE-5E83-9FAC-A3FD-5DA55D54C5B0}"/>
              </a:ext>
            </a:extLst>
          </p:cNvPr>
          <p:cNvSpPr/>
          <p:nvPr/>
        </p:nvSpPr>
        <p:spPr>
          <a:xfrm>
            <a:off x="1062279" y="2620578"/>
            <a:ext cx="1455143" cy="538891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내역 </a:t>
            </a:r>
            <a:r>
              <a:rPr lang="en-US" altLang="ko-KR" b="1" dirty="0">
                <a:solidFill>
                  <a:schemeClr val="tx1"/>
                </a:solidFill>
              </a:rPr>
              <a:t>+ </a:t>
            </a:r>
            <a:r>
              <a:rPr lang="ko-KR" altLang="en-US" b="1" dirty="0">
                <a:solidFill>
                  <a:schemeClr val="tx2"/>
                </a:solidFill>
              </a:rPr>
              <a:t>이력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D72FBD-E6F6-C6CA-3727-A2727ED2A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463" y="2521682"/>
            <a:ext cx="3429479" cy="109552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6D707F4-C018-81FF-2EA0-7E14DB4DD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154" y="4202248"/>
            <a:ext cx="2886478" cy="100979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3B1006C-C914-B3D2-09B7-A947769616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3526" y="2406193"/>
            <a:ext cx="3334215" cy="205768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63C20366-85E8-FECD-2DE0-6658658773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4025" y="4828387"/>
            <a:ext cx="3153215" cy="1343212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937178E3-A353-FC56-4EE6-18E5E62B3E3A}"/>
              </a:ext>
            </a:extLst>
          </p:cNvPr>
          <p:cNvSpPr/>
          <p:nvPr/>
        </p:nvSpPr>
        <p:spPr>
          <a:xfrm>
            <a:off x="6519321" y="2620578"/>
            <a:ext cx="1373187" cy="538891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내역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528B4DB-7FA2-1809-7423-C8053102A7C9}"/>
              </a:ext>
            </a:extLst>
          </p:cNvPr>
          <p:cNvSpPr/>
          <p:nvPr/>
        </p:nvSpPr>
        <p:spPr>
          <a:xfrm>
            <a:off x="6519321" y="3618530"/>
            <a:ext cx="1373187" cy="538891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2"/>
                </a:solidFill>
              </a:rPr>
              <a:t>이력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1FC33EF-DFBA-7775-7EAD-F4334E0E9156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7892508" y="2890024"/>
            <a:ext cx="32151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ED0F668A-A4D3-FB6D-C5F1-F81CE5B6BF1E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7892508" y="3887976"/>
            <a:ext cx="135309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A2958729-BB0A-AADA-6FF7-7A8AD1AEADCD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517422" y="2890024"/>
            <a:ext cx="32151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99B8FEA-AFD9-2011-9384-F838E3E9B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257</a:t>
            </a:fld>
            <a:endParaRPr lang="ko-KR" altLang="en-US" dirty="0"/>
          </a:p>
        </p:txBody>
      </p:sp>
      <p:sp>
        <p:nvSpPr>
          <p:cNvPr id="18" name="곱하기 기호 17">
            <a:extLst>
              <a:ext uri="{FF2B5EF4-FFF2-40B4-BE49-F238E27FC236}">
                <a16:creationId xmlns:a16="http://schemas.microsoft.com/office/drawing/2014/main" id="{3842A0D6-60D7-43FB-A5A0-CA01711A302E}"/>
              </a:ext>
            </a:extLst>
          </p:cNvPr>
          <p:cNvSpPr/>
          <p:nvPr/>
        </p:nvSpPr>
        <p:spPr>
          <a:xfrm>
            <a:off x="3021613" y="1729050"/>
            <a:ext cx="2758908" cy="2653985"/>
          </a:xfrm>
          <a:prstGeom prst="mathMultiply">
            <a:avLst>
              <a:gd name="adj1" fmla="val 13818"/>
            </a:avLst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AD5243-A6B7-40F0-B6E2-B810D61D7868}"/>
              </a:ext>
            </a:extLst>
          </p:cNvPr>
          <p:cNvSpPr txBox="1"/>
          <p:nvPr/>
        </p:nvSpPr>
        <p:spPr>
          <a:xfrm>
            <a:off x="861367" y="4099235"/>
            <a:ext cx="1661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</a:rPr>
              <a:t>잘못 설계한 사례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FCD17498-9C41-4252-8A32-C13B986AE78D}"/>
              </a:ext>
            </a:extLst>
          </p:cNvPr>
          <p:cNvCxnSpPr>
            <a:cxnSpLocks/>
            <a:stCxn id="4" idx="3"/>
            <a:endCxn id="18" idx="3"/>
          </p:cNvCxnSpPr>
          <p:nvPr/>
        </p:nvCxnSpPr>
        <p:spPr>
          <a:xfrm flipV="1">
            <a:off x="2522963" y="3745614"/>
            <a:ext cx="1161271" cy="5075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2B0BB71-F37C-4652-B2DF-B10295C88533}"/>
              </a:ext>
            </a:extLst>
          </p:cNvPr>
          <p:cNvSpPr/>
          <p:nvPr/>
        </p:nvSpPr>
        <p:spPr>
          <a:xfrm>
            <a:off x="9333948" y="2787123"/>
            <a:ext cx="901565" cy="641851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9BBDA139-0CD0-4A7E-8772-8FD5693A145B}"/>
              </a:ext>
            </a:extLst>
          </p:cNvPr>
          <p:cNvCxnSpPr>
            <a:cxnSpLocks/>
            <a:stCxn id="30" idx="1"/>
            <a:endCxn id="26" idx="3"/>
          </p:cNvCxnSpPr>
          <p:nvPr/>
        </p:nvCxnSpPr>
        <p:spPr>
          <a:xfrm flipH="1" flipV="1">
            <a:off x="10235513" y="3108049"/>
            <a:ext cx="308078" cy="4115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C1DF7A3-3B8F-4BCD-87E0-6069F2798509}"/>
              </a:ext>
            </a:extLst>
          </p:cNvPr>
          <p:cNvSpPr txBox="1"/>
          <p:nvPr/>
        </p:nvSpPr>
        <p:spPr>
          <a:xfrm>
            <a:off x="10543591" y="3304141"/>
            <a:ext cx="15518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FF0000"/>
                </a:solidFill>
              </a:rPr>
              <a:t>주문번호 입장에서의 이력의 대상</a:t>
            </a:r>
          </a:p>
        </p:txBody>
      </p:sp>
    </p:spTree>
    <p:extLst>
      <p:ext uri="{BB962C8B-B14F-4D97-AF65-F5344CB8AC3E}">
        <p14:creationId xmlns:p14="http://schemas.microsoft.com/office/powerpoint/2010/main" val="3175616279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6.3. </a:t>
            </a:r>
            <a:r>
              <a:rPr lang="ko-KR" altLang="en-US" sz="2400" dirty="0">
                <a:latin typeface="+mn-ea"/>
              </a:rPr>
              <a:t>이력 </a:t>
            </a:r>
            <a:r>
              <a:rPr lang="ko-KR" altLang="en-US" sz="2400" dirty="0" err="1">
                <a:latin typeface="+mn-ea"/>
              </a:rPr>
              <a:t>엔터티</a:t>
            </a:r>
            <a:r>
              <a:rPr lang="ko-KR" altLang="en-US" sz="2400" dirty="0">
                <a:latin typeface="+mn-ea"/>
              </a:rPr>
              <a:t> </a:t>
            </a:r>
            <a:r>
              <a:rPr lang="ko-KR" altLang="en-US" sz="2400" dirty="0">
                <a:solidFill>
                  <a:srgbClr val="FF0000"/>
                </a:solidFill>
                <a:latin typeface="+mn-ea"/>
              </a:rPr>
              <a:t>설계 시점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633639" y="1496173"/>
            <a:ext cx="11228521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이력 </a:t>
            </a:r>
            <a:r>
              <a:rPr lang="ko-KR" altLang="en-US" b="1" u="sng" dirty="0" err="1">
                <a:solidFill>
                  <a:srgbClr val="FF0000"/>
                </a:solidFill>
                <a:latin typeface="+mn-ea"/>
              </a:rPr>
              <a:t>엔터티를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 설계하는 시점</a:t>
            </a:r>
            <a:r>
              <a:rPr lang="ko-KR" altLang="en-US" dirty="0">
                <a:latin typeface="+mn-ea"/>
              </a:rPr>
              <a:t>은 두 가지다</a:t>
            </a:r>
            <a:r>
              <a:rPr lang="en-US" altLang="ko-KR" dirty="0">
                <a:latin typeface="+mn-ea"/>
              </a:rPr>
              <a:t>. 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600" dirty="0">
                <a:latin typeface="+mn-ea"/>
              </a:rPr>
              <a:t>하나는 </a:t>
            </a:r>
            <a:r>
              <a:rPr lang="ko-KR" altLang="en-US" sz="2400" b="1" u="sng" dirty="0">
                <a:solidFill>
                  <a:srgbClr val="FF0000"/>
                </a:solidFill>
                <a:latin typeface="+mn-ea"/>
              </a:rPr>
              <a:t>원천 </a:t>
            </a:r>
            <a:r>
              <a:rPr lang="ko-KR" altLang="en-US" sz="2400" b="1" u="sng" dirty="0" err="1">
                <a:solidFill>
                  <a:srgbClr val="FF0000"/>
                </a:solidFill>
                <a:latin typeface="+mn-ea"/>
              </a:rPr>
              <a:t>엔터티와</a:t>
            </a:r>
            <a:r>
              <a:rPr lang="ko-KR" altLang="en-US" sz="2400" b="1" u="sng" dirty="0">
                <a:solidFill>
                  <a:srgbClr val="FF0000"/>
                </a:solidFill>
                <a:latin typeface="+mn-ea"/>
              </a:rPr>
              <a:t> 동시에 이력 </a:t>
            </a:r>
            <a:r>
              <a:rPr lang="ko-KR" altLang="en-US" sz="2400" b="1" u="sng" dirty="0" err="1">
                <a:solidFill>
                  <a:srgbClr val="FF0000"/>
                </a:solidFill>
                <a:latin typeface="+mn-ea"/>
              </a:rPr>
              <a:t>엔터티를</a:t>
            </a:r>
            <a:r>
              <a:rPr lang="ko-KR" altLang="en-US" sz="2400" b="1" u="sng" dirty="0">
                <a:solidFill>
                  <a:srgbClr val="FF0000"/>
                </a:solidFill>
                <a:latin typeface="+mn-ea"/>
              </a:rPr>
              <a:t> 설계하는 것</a:t>
            </a:r>
            <a:r>
              <a:rPr lang="ko-KR" altLang="en-US" sz="1600" dirty="0">
                <a:latin typeface="+mn-ea"/>
              </a:rPr>
              <a:t>이고</a:t>
            </a:r>
            <a:r>
              <a:rPr lang="en-US" altLang="ko-KR" sz="1600" dirty="0">
                <a:latin typeface="+mn-ea"/>
              </a:rPr>
              <a:t>,   </a:t>
            </a:r>
            <a:r>
              <a:rPr lang="en-US" altLang="ko-KR" sz="24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 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강추 방법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600" dirty="0">
                <a:latin typeface="+mn-ea"/>
              </a:rPr>
              <a:t>다른 하나는 원천 </a:t>
            </a:r>
            <a:r>
              <a:rPr lang="ko-KR" altLang="en-US" sz="1600" dirty="0" err="1">
                <a:latin typeface="+mn-ea"/>
              </a:rPr>
              <a:t>엔터티의</a:t>
            </a:r>
            <a:r>
              <a:rPr lang="ko-KR" altLang="en-US" sz="1600" dirty="0">
                <a:latin typeface="+mn-ea"/>
              </a:rPr>
              <a:t> 설계가 끝난 시점인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논리 모델링이 끝난 후</a:t>
            </a:r>
            <a:r>
              <a:rPr lang="ko-KR" altLang="en-US" sz="1600" dirty="0">
                <a:latin typeface="+mn-ea"/>
              </a:rPr>
              <a:t>나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물리 모델링 시점</a:t>
            </a:r>
            <a:r>
              <a:rPr lang="ko-KR" altLang="en-US" sz="1600" dirty="0">
                <a:latin typeface="+mn-ea"/>
              </a:rPr>
              <a:t>에 설계하는 것이다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800100" lvl="1" indent="-342900">
              <a:buFont typeface="+mj-ea"/>
              <a:buAutoNum type="circleNumDbPlain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원천 </a:t>
            </a:r>
            <a:r>
              <a:rPr lang="ko-KR" altLang="en-US" sz="1600" dirty="0" err="1">
                <a:latin typeface="+mn-ea"/>
              </a:rPr>
              <a:t>엔터티를</a:t>
            </a:r>
            <a:r>
              <a:rPr lang="ko-KR" altLang="en-US" sz="1600" dirty="0">
                <a:latin typeface="+mn-ea"/>
              </a:rPr>
              <a:t> 설계할 때 이력 </a:t>
            </a:r>
            <a:r>
              <a:rPr lang="ko-KR" altLang="en-US" sz="1600" dirty="0" err="1">
                <a:latin typeface="+mn-ea"/>
              </a:rPr>
              <a:t>엔터티도</a:t>
            </a:r>
            <a:r>
              <a:rPr lang="ko-KR" altLang="en-US" sz="1600" dirty="0">
                <a:latin typeface="+mn-ea"/>
              </a:rPr>
              <a:t> 같이 설계하는 방법은 이력 </a:t>
            </a:r>
            <a:r>
              <a:rPr lang="ko-KR" altLang="en-US" sz="1600" dirty="0" err="1">
                <a:latin typeface="+mn-ea"/>
              </a:rPr>
              <a:t>엔터티</a:t>
            </a:r>
            <a:r>
              <a:rPr lang="ko-KR" altLang="en-US" sz="1600" dirty="0">
                <a:latin typeface="+mn-ea"/>
              </a:rPr>
              <a:t> 만을 설계하는 특정 시점이 사실상 없다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주요 </a:t>
            </a:r>
            <a:r>
              <a:rPr lang="ko-KR" altLang="en-US" sz="1600" dirty="0" err="1">
                <a:latin typeface="+mn-ea"/>
              </a:rPr>
              <a:t>엔터티는</a:t>
            </a:r>
            <a:r>
              <a:rPr lang="ko-KR" altLang="en-US" sz="1600" dirty="0">
                <a:latin typeface="+mn-ea"/>
              </a:rPr>
              <a:t> 개념 모델링 단계에서 이력 </a:t>
            </a:r>
            <a:r>
              <a:rPr lang="ko-KR" altLang="en-US" sz="1600" dirty="0" err="1">
                <a:latin typeface="+mn-ea"/>
              </a:rPr>
              <a:t>엔터티를</a:t>
            </a:r>
            <a:r>
              <a:rPr lang="ko-KR" altLang="en-US" sz="1600" dirty="0">
                <a:latin typeface="+mn-ea"/>
              </a:rPr>
              <a:t> 고려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또는 논의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하는 것이 현실적으로 효율적이다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본질 데이터를 설계할 때 </a:t>
            </a:r>
            <a:r>
              <a:rPr lang="ko-KR" altLang="en-US" sz="1600" b="1" u="sng" dirty="0">
                <a:latin typeface="+mn-ea"/>
              </a:rPr>
              <a:t>최소한 모델 구조에 대한 변경을 염두</a:t>
            </a:r>
            <a:r>
              <a:rPr lang="ko-KR" altLang="en-US" sz="1600" dirty="0">
                <a:latin typeface="+mn-ea"/>
              </a:rPr>
              <a:t>에 두고 </a:t>
            </a:r>
            <a:r>
              <a:rPr lang="ko-KR" altLang="en-US" sz="1600" b="1" u="sng" dirty="0">
                <a:latin typeface="+mn-ea"/>
              </a:rPr>
              <a:t>이력 데이터를 고민</a:t>
            </a:r>
            <a:r>
              <a:rPr lang="ko-KR" altLang="en-US" sz="1600" dirty="0">
                <a:latin typeface="+mn-ea"/>
              </a:rPr>
              <a:t>해야 한다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이력 데이터를 추가로 설계하더라도 모델 구조에는 영향이 없다는 것을 확인한 후에 넘어가야 한다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이 정도만 검토해도 마무리 단계에서 모델 구조가 변경되는 일은 많이 줄어들 것이다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3200" b="1" u="sng" dirty="0">
                <a:solidFill>
                  <a:srgbClr val="FF0000"/>
                </a:solidFill>
                <a:latin typeface="+mn-ea"/>
              </a:rPr>
              <a:t>먼저 원천 데이터를 명확히 설계한다</a:t>
            </a:r>
            <a:r>
              <a:rPr lang="en-US" altLang="ko-KR" sz="3200" b="1" u="sng" dirty="0">
                <a:solidFill>
                  <a:srgbClr val="FF0000"/>
                </a:solidFill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92D1AC2-2157-8BD3-F975-8F20CA02A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258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8238491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6.4. </a:t>
            </a:r>
            <a:r>
              <a:rPr lang="ko-KR" altLang="en-US" sz="2400" dirty="0">
                <a:latin typeface="+mn-ea"/>
              </a:rPr>
              <a:t>이력 데이터를 </a:t>
            </a:r>
            <a:r>
              <a:rPr lang="ko-KR" altLang="en-US" sz="2400" dirty="0">
                <a:solidFill>
                  <a:srgbClr val="FF0000"/>
                </a:solidFill>
                <a:latin typeface="+mn-ea"/>
              </a:rPr>
              <a:t>설계하는 방법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2400" b="1" u="sng" dirty="0" err="1">
                <a:solidFill>
                  <a:srgbClr val="FF0000"/>
                </a:solidFill>
                <a:latin typeface="+mn-ea"/>
              </a:rPr>
              <a:t>엔터티</a:t>
            </a:r>
            <a:r>
              <a:rPr lang="ko-KR" altLang="en-US" sz="2400" b="1" u="sng" dirty="0">
                <a:solidFill>
                  <a:srgbClr val="FF0000"/>
                </a:solidFill>
                <a:latin typeface="+mn-ea"/>
              </a:rPr>
              <a:t> 단위</a:t>
            </a:r>
            <a:r>
              <a:rPr lang="ko-KR" altLang="en-US" sz="1600" dirty="0">
                <a:latin typeface="+mn-ea"/>
              </a:rPr>
              <a:t> 이력</a:t>
            </a:r>
            <a:endParaRPr lang="en-US" altLang="ko-KR" sz="1600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600" dirty="0" err="1">
                <a:latin typeface="+mn-ea"/>
              </a:rPr>
              <a:t>엔터티</a:t>
            </a:r>
            <a:r>
              <a:rPr lang="ko-KR" altLang="en-US" sz="1600" dirty="0">
                <a:latin typeface="+mn-ea"/>
              </a:rPr>
              <a:t> 단위로 이력 데이터를 설계하는 방법은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만약 원천 </a:t>
            </a:r>
            <a:r>
              <a:rPr lang="ko-KR" altLang="en-US" sz="1600" dirty="0" err="1">
                <a:latin typeface="+mn-ea"/>
              </a:rPr>
              <a:t>엔터티인</a:t>
            </a:r>
            <a:r>
              <a:rPr lang="ko-KR" altLang="en-US" sz="1600" dirty="0">
                <a:latin typeface="+mn-ea"/>
              </a:rPr>
              <a:t> 계좌 </a:t>
            </a:r>
            <a:r>
              <a:rPr lang="ko-KR" altLang="en-US" sz="1600" dirty="0" err="1">
                <a:latin typeface="+mn-ea"/>
              </a:rPr>
              <a:t>엔터티에서</a:t>
            </a:r>
            <a:r>
              <a:rPr lang="ko-KR" altLang="en-US" sz="1600" dirty="0">
                <a:latin typeface="+mn-ea"/>
              </a:rPr>
              <a:t> </a:t>
            </a:r>
            <a:endParaRPr lang="en-US" altLang="ko-KR" sz="1600" dirty="0">
              <a:latin typeface="+mn-ea"/>
            </a:endParaRPr>
          </a:p>
          <a:p>
            <a:pPr lvl="1"/>
            <a:r>
              <a:rPr lang="en-US" altLang="ko-KR" sz="1600" dirty="0">
                <a:latin typeface="+mn-ea"/>
              </a:rPr>
              <a:t>   </a:t>
            </a:r>
            <a:r>
              <a:rPr lang="ko-KR" altLang="en-US" sz="1600" dirty="0">
                <a:latin typeface="+mn-ea"/>
              </a:rPr>
              <a:t>속성 값이 하나라도 변경되면 변경 전의 전체 속성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인스턴스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을 별도의 </a:t>
            </a:r>
            <a:endParaRPr lang="en-US" altLang="ko-KR" sz="1600" dirty="0">
              <a:latin typeface="+mn-ea"/>
            </a:endParaRPr>
          </a:p>
          <a:p>
            <a:pPr lvl="1"/>
            <a:r>
              <a:rPr lang="en-US" altLang="ko-KR" sz="1600" dirty="0">
                <a:latin typeface="+mn-ea"/>
              </a:rPr>
              <a:t>   </a:t>
            </a:r>
            <a:r>
              <a:rPr lang="ko-KR" altLang="en-US" sz="1600" dirty="0">
                <a:latin typeface="+mn-ea"/>
              </a:rPr>
              <a:t>이력 </a:t>
            </a:r>
            <a:r>
              <a:rPr lang="ko-KR" altLang="en-US" sz="1600" dirty="0" err="1">
                <a:latin typeface="+mn-ea"/>
              </a:rPr>
              <a:t>엔터티에서</a:t>
            </a:r>
            <a:r>
              <a:rPr lang="ko-KR" altLang="en-US" sz="1600" dirty="0">
                <a:latin typeface="+mn-ea"/>
              </a:rPr>
              <a:t> 관리하는 방법이다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lvl="1"/>
            <a:r>
              <a:rPr lang="en-US" altLang="ko-KR" sz="1600" dirty="0">
                <a:latin typeface="+mn-ea"/>
              </a:rPr>
              <a:t>   </a:t>
            </a:r>
            <a:r>
              <a:rPr lang="ko-KR" altLang="en-US" sz="1600" dirty="0">
                <a:latin typeface="+mn-ea"/>
              </a:rPr>
              <a:t>따라서 계좌 </a:t>
            </a:r>
            <a:r>
              <a:rPr lang="ko-KR" altLang="en-US" sz="1600" dirty="0" err="1">
                <a:latin typeface="+mn-ea"/>
              </a:rPr>
              <a:t>엔터티와</a:t>
            </a:r>
            <a:r>
              <a:rPr lang="ko-KR" altLang="en-US" sz="1600" dirty="0">
                <a:latin typeface="+mn-ea"/>
              </a:rPr>
              <a:t> 거의 동일한 계좌이력 </a:t>
            </a:r>
            <a:r>
              <a:rPr lang="ko-KR" altLang="en-US" sz="1600" dirty="0" err="1">
                <a:latin typeface="+mn-ea"/>
              </a:rPr>
              <a:t>엔터티가</a:t>
            </a:r>
            <a:r>
              <a:rPr lang="ko-KR" altLang="en-US" sz="1600" dirty="0">
                <a:latin typeface="+mn-ea"/>
              </a:rPr>
              <a:t> 생긴다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800100" lvl="1" indent="-342900">
              <a:buFont typeface="+mj-ea"/>
              <a:buAutoNum type="circleNumDbPlain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2400" b="1" u="sng" dirty="0">
                <a:solidFill>
                  <a:srgbClr val="FF0000"/>
                </a:solidFill>
                <a:latin typeface="+mn-ea"/>
              </a:rPr>
              <a:t>속성 단위</a:t>
            </a:r>
            <a:r>
              <a:rPr lang="ko-KR" altLang="en-US" sz="24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이력</a:t>
            </a:r>
            <a:endParaRPr lang="en-US" altLang="ko-KR" sz="1600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600" dirty="0">
                <a:latin typeface="+mn-ea"/>
              </a:rPr>
              <a:t>속성 단위로 이력 데이터를 설계하는 방법은 변경된 속성의 데이터만을 별도로 관리하는 방법이다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dirty="0">
                <a:latin typeface="+mn-ea"/>
              </a:rPr>
              <a:t>예를 들어 </a:t>
            </a:r>
            <a:r>
              <a:rPr lang="en-US" altLang="ko-KR" sz="1600" dirty="0">
                <a:latin typeface="+mn-ea"/>
              </a:rPr>
              <a:t>[</a:t>
            </a:r>
            <a:r>
              <a:rPr lang="ko-KR" altLang="en-US" sz="1600" dirty="0">
                <a:latin typeface="+mn-ea"/>
              </a:rPr>
              <a:t>그림 </a:t>
            </a:r>
            <a:r>
              <a:rPr lang="en-US" altLang="ko-KR" sz="1600" dirty="0">
                <a:latin typeface="+mn-ea"/>
              </a:rPr>
              <a:t>6.14] </a:t>
            </a:r>
            <a:r>
              <a:rPr lang="ko-KR" altLang="en-US" sz="1600" dirty="0">
                <a:latin typeface="+mn-ea"/>
              </a:rPr>
              <a:t>계좌 </a:t>
            </a:r>
            <a:r>
              <a:rPr lang="ko-KR" altLang="en-US" sz="1600" dirty="0" err="1">
                <a:latin typeface="+mn-ea"/>
              </a:rPr>
              <a:t>엔터티에서</a:t>
            </a:r>
            <a:r>
              <a:rPr lang="ko-KR" altLang="en-US" sz="1600" dirty="0">
                <a:latin typeface="+mn-ea"/>
              </a:rPr>
              <a:t> 계좌비밀번호 속성만을 대상으로 별도의 이력 </a:t>
            </a:r>
            <a:r>
              <a:rPr lang="ko-KR" altLang="en-US" sz="1600" dirty="0" err="1">
                <a:latin typeface="+mn-ea"/>
              </a:rPr>
              <a:t>엔터티를</a:t>
            </a:r>
            <a:r>
              <a:rPr lang="ko-KR" altLang="en-US" sz="1600" dirty="0">
                <a:latin typeface="+mn-ea"/>
              </a:rPr>
              <a:t> 설계하는 것이다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800100" lvl="1" indent="-342900">
              <a:buFont typeface="+mj-ea"/>
              <a:buAutoNum type="circleNumDbPlain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2400" b="1" u="sng" dirty="0">
                <a:solidFill>
                  <a:srgbClr val="FF0000"/>
                </a:solidFill>
                <a:latin typeface="+mn-ea"/>
              </a:rPr>
              <a:t>속성 그룹 단위</a:t>
            </a:r>
            <a:r>
              <a:rPr lang="ko-KR" altLang="en-US" sz="24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이력</a:t>
            </a:r>
            <a:endParaRPr lang="en-US" altLang="ko-KR" sz="1600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600" dirty="0">
                <a:latin typeface="+mn-ea"/>
              </a:rPr>
              <a:t>마지막으로 속성 그룹 단위로 관리하는 방법이 있다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dirty="0">
                <a:latin typeface="+mn-ea"/>
              </a:rPr>
              <a:t>속성 중 내용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도메인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이 유사하거나 같이 사용될 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600" dirty="0">
                <a:latin typeface="+mn-ea"/>
              </a:rPr>
              <a:t>수 있는 속성을 묶어서 별도의 </a:t>
            </a:r>
            <a:r>
              <a:rPr lang="ko-KR" altLang="en-US" sz="1600" dirty="0" err="1">
                <a:latin typeface="+mn-ea"/>
              </a:rPr>
              <a:t>엔터티에서</a:t>
            </a:r>
            <a:r>
              <a:rPr lang="ko-KR" altLang="en-US" sz="1600" dirty="0">
                <a:latin typeface="+mn-ea"/>
              </a:rPr>
              <a:t> 이력 데이터를 관리하는 방 법 으 로 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묶인 속성 중의 하나라도 변경되면 그 시점의 묶인 속성 전체를 이력 데이터로 그대로 쌓는 방법이다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dirty="0">
                <a:latin typeface="+mn-ea"/>
              </a:rPr>
              <a:t>예를 들어 </a:t>
            </a:r>
            <a:r>
              <a:rPr lang="en-US" altLang="ko-KR" sz="1600" dirty="0">
                <a:latin typeface="+mn-ea"/>
              </a:rPr>
              <a:t>[</a:t>
            </a:r>
            <a:r>
              <a:rPr lang="ko-KR" altLang="en-US" sz="1600" dirty="0">
                <a:latin typeface="+mn-ea"/>
              </a:rPr>
              <a:t>그림 </a:t>
            </a:r>
            <a:r>
              <a:rPr lang="en-US" altLang="ko-KR" sz="1600" dirty="0">
                <a:latin typeface="+mn-ea"/>
              </a:rPr>
              <a:t>6.14] </a:t>
            </a:r>
            <a:r>
              <a:rPr lang="ko-KR" altLang="en-US" sz="1600" dirty="0">
                <a:latin typeface="+mn-ea"/>
              </a:rPr>
              <a:t>계좌 </a:t>
            </a:r>
            <a:r>
              <a:rPr lang="ko-KR" altLang="en-US" sz="1600" dirty="0" err="1">
                <a:latin typeface="+mn-ea"/>
              </a:rPr>
              <a:t>엔터티에서</a:t>
            </a:r>
            <a:r>
              <a:rPr lang="ko-KR" altLang="en-US" sz="1600" dirty="0">
                <a:latin typeface="+mn-ea"/>
              </a:rPr>
              <a:t> 계좌비밀번호 속성과 </a:t>
            </a:r>
            <a:r>
              <a:rPr lang="en-US" altLang="ko-KR" sz="1600" dirty="0">
                <a:latin typeface="+mn-ea"/>
              </a:rPr>
              <a:t>A R S </a:t>
            </a:r>
            <a:r>
              <a:rPr lang="ko-KR" altLang="en-US" sz="1600" dirty="0">
                <a:latin typeface="+mn-ea"/>
              </a:rPr>
              <a:t>비밀번호 속성을 묶어서 별도의 이력 </a:t>
            </a:r>
            <a:r>
              <a:rPr lang="ko-KR" altLang="en-US" sz="1600" dirty="0" err="1">
                <a:latin typeface="+mn-ea"/>
              </a:rPr>
              <a:t>엔터티에서</a:t>
            </a:r>
            <a:r>
              <a:rPr lang="ko-KR" altLang="en-US" sz="1600" dirty="0">
                <a:latin typeface="+mn-ea"/>
              </a:rPr>
              <a:t> 관리하는 것이다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800100" lvl="1" indent="-342900">
              <a:buFont typeface="+mj-ea"/>
              <a:buAutoNum type="circleNumDbPlain"/>
            </a:pPr>
            <a:endParaRPr lang="en-US" altLang="ko-KR" sz="16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D3F3C9-65C0-0B55-2D5A-BFC2D375C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8229" y="1593130"/>
            <a:ext cx="1324160" cy="1571844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4FA1019-298B-5779-8830-F89D19167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259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6098384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6.5. </a:t>
            </a:r>
            <a:r>
              <a:rPr lang="ko-KR" altLang="en-US" sz="2400" dirty="0">
                <a:latin typeface="+mn-ea"/>
              </a:rPr>
              <a:t>이력 데이터를 설계하는 첫 번째 방법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r>
              <a:rPr lang="en-US" altLang="ko-KR" sz="1600" b="1" dirty="0">
                <a:latin typeface="+mn-ea"/>
              </a:rPr>
              <a:t>6.5.1. </a:t>
            </a:r>
            <a:r>
              <a:rPr lang="ko-KR" altLang="en-US" sz="1600" b="1" dirty="0">
                <a:latin typeface="+mn-ea"/>
              </a:rPr>
              <a:t>이력 </a:t>
            </a: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별도 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엔터티로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 설계하는 방법</a:t>
            </a:r>
            <a:r>
              <a:rPr lang="ko-KR" altLang="en-US" sz="1600" b="1" dirty="0">
                <a:latin typeface="+mn-ea"/>
              </a:rPr>
              <a:t>이 이력 데이터를 설계하는 방법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실체 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엔터티</a:t>
            </a:r>
            <a:endParaRPr lang="en-US" altLang="ko-KR" sz="16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n-ea"/>
              </a:rPr>
              <a:t>[</a:t>
            </a:r>
            <a:r>
              <a:rPr lang="ko-KR" altLang="en-US" sz="1600" dirty="0">
                <a:latin typeface="+mn-ea"/>
              </a:rPr>
              <a:t>그림 </a:t>
            </a:r>
            <a:r>
              <a:rPr lang="en-US" altLang="ko-KR" sz="1600" dirty="0">
                <a:latin typeface="+mn-ea"/>
              </a:rPr>
              <a:t>6.15] </a:t>
            </a:r>
            <a:r>
              <a:rPr lang="ko-KR" altLang="en-US" sz="1600" dirty="0">
                <a:latin typeface="+mn-ea"/>
              </a:rPr>
              <a:t>계좌 </a:t>
            </a:r>
            <a:r>
              <a:rPr lang="ko-KR" altLang="en-US" sz="1600" dirty="0" err="1">
                <a:latin typeface="+mn-ea"/>
              </a:rPr>
              <a:t>엔터티는</a:t>
            </a:r>
            <a:r>
              <a:rPr lang="ko-KR" altLang="en-US" sz="1600" dirty="0">
                <a:latin typeface="+mn-ea"/>
              </a:rPr>
              <a:t> 원천 </a:t>
            </a:r>
            <a:r>
              <a:rPr lang="ko-KR" altLang="en-US" sz="1600" dirty="0" err="1">
                <a:latin typeface="+mn-ea"/>
              </a:rPr>
              <a:t>엔터티이면서</a:t>
            </a:r>
            <a:r>
              <a:rPr lang="ko-KR" altLang="en-US" sz="1600" dirty="0">
                <a:latin typeface="+mn-ea"/>
              </a:rPr>
              <a:t> 실체 성격의 </a:t>
            </a:r>
            <a:r>
              <a:rPr lang="ko-KR" altLang="en-US" sz="1600" dirty="0" err="1">
                <a:latin typeface="+mn-ea"/>
              </a:rPr>
              <a:t>엔터티다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계좌 </a:t>
            </a:r>
            <a:r>
              <a:rPr lang="ko-KR" altLang="en-US" sz="1600" dirty="0" err="1">
                <a:latin typeface="+mn-ea"/>
              </a:rPr>
              <a:t>엔터티는</a:t>
            </a:r>
            <a:r>
              <a:rPr lang="ko-KR" altLang="en-US" sz="1600" dirty="0">
                <a:latin typeface="+mn-ea"/>
              </a:rPr>
              <a:t> 이력 데이터를 설계하기 이전의 원천 데이터를 설계한 </a:t>
            </a:r>
            <a:r>
              <a:rPr lang="ko-KR" altLang="en-US" sz="1600" dirty="0" err="1">
                <a:latin typeface="+mn-ea"/>
              </a:rPr>
              <a:t>엔터티다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dirty="0">
                <a:latin typeface="+mn-ea"/>
              </a:rPr>
              <a:t>원천 </a:t>
            </a:r>
            <a:r>
              <a:rPr lang="ko-KR" altLang="en-US" sz="1600" dirty="0" err="1">
                <a:latin typeface="+mn-ea"/>
              </a:rPr>
              <a:t>엔터티는</a:t>
            </a:r>
            <a:r>
              <a:rPr lang="ko-KR" altLang="en-US" sz="1600" dirty="0">
                <a:latin typeface="+mn-ea"/>
              </a:rPr>
              <a:t> </a:t>
            </a:r>
            <a:r>
              <a:rPr lang="ko-KR" altLang="en-US" sz="1600" dirty="0" err="1">
                <a:latin typeface="+mn-ea"/>
              </a:rPr>
              <a:t>엔터티의</a:t>
            </a:r>
            <a:r>
              <a:rPr lang="ko-KR" altLang="en-US" sz="1600" dirty="0">
                <a:latin typeface="+mn-ea"/>
              </a:rPr>
              <a:t> 성격을 정의한 </a:t>
            </a:r>
            <a:r>
              <a:rPr lang="ko-KR" altLang="en-US" sz="1600" dirty="0" err="1">
                <a:latin typeface="+mn-ea"/>
              </a:rPr>
              <a:t>엔터티</a:t>
            </a:r>
            <a:r>
              <a:rPr lang="ko-KR" altLang="en-US" sz="1600" dirty="0">
                <a:latin typeface="+mn-ea"/>
              </a:rPr>
              <a:t> </a:t>
            </a:r>
            <a:r>
              <a:rPr lang="ko-KR" altLang="en-US" sz="1600" dirty="0" err="1">
                <a:latin typeface="+mn-ea"/>
              </a:rPr>
              <a:t>자체며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이력 데이터의 틀이 되는 </a:t>
            </a:r>
            <a:r>
              <a:rPr lang="ko-KR" altLang="en-US" sz="1600" dirty="0" err="1">
                <a:latin typeface="+mn-ea"/>
              </a:rPr>
              <a:t>엔터티다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dirty="0">
                <a:latin typeface="+mn-ea"/>
              </a:rPr>
              <a:t>원천 </a:t>
            </a:r>
            <a:r>
              <a:rPr lang="ko-KR" altLang="en-US" sz="1600" dirty="0" err="1">
                <a:latin typeface="+mn-ea"/>
              </a:rPr>
              <a:t>엔터티인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[</a:t>
            </a:r>
            <a:r>
              <a:rPr lang="ko-KR" altLang="en-US" sz="1600" dirty="0">
                <a:latin typeface="+mn-ea"/>
              </a:rPr>
              <a:t>그림 </a:t>
            </a:r>
            <a:r>
              <a:rPr lang="en-US" altLang="ko-KR" sz="1600" dirty="0">
                <a:latin typeface="+mn-ea"/>
              </a:rPr>
              <a:t>6.15] </a:t>
            </a:r>
            <a:r>
              <a:rPr lang="ko-KR" altLang="en-US" sz="1600" dirty="0">
                <a:latin typeface="+mn-ea"/>
              </a:rPr>
              <a:t>계좌 </a:t>
            </a:r>
            <a:r>
              <a:rPr lang="ko-KR" altLang="en-US" sz="1600" dirty="0" err="1">
                <a:latin typeface="+mn-ea"/>
              </a:rPr>
              <a:t>엔터티에</a:t>
            </a:r>
            <a:r>
              <a:rPr lang="ko-KR" altLang="en-US" sz="1600" dirty="0">
                <a:latin typeface="+mn-ea"/>
              </a:rPr>
              <a:t> 대한 이력 데이터를 관리하는 모델은 </a:t>
            </a:r>
            <a:r>
              <a:rPr lang="en-US" altLang="ko-KR" sz="1600" dirty="0">
                <a:latin typeface="+mn-ea"/>
              </a:rPr>
              <a:t>[</a:t>
            </a:r>
            <a:r>
              <a:rPr lang="ko-KR" altLang="en-US" sz="1600" dirty="0">
                <a:latin typeface="+mn-ea"/>
              </a:rPr>
              <a:t>그림 </a:t>
            </a:r>
            <a:r>
              <a:rPr lang="en-US" altLang="ko-KR" sz="1600" dirty="0">
                <a:latin typeface="+mn-ea"/>
              </a:rPr>
              <a:t>6.16]</a:t>
            </a:r>
            <a:r>
              <a:rPr lang="ko-KR" altLang="en-US" sz="1600" dirty="0">
                <a:latin typeface="+mn-ea"/>
              </a:rPr>
              <a:t>과 같다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458D2BF-03DD-04F1-49E5-F34E3B5CC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6182" y="1848471"/>
            <a:ext cx="1895740" cy="158137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268C8A3-9A0A-88DD-7C36-F93FE0F7C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3953" y="4555425"/>
            <a:ext cx="2915057" cy="183858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70636E1-7CAB-B09B-651B-C9B3BE3BFF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7336" y="4564952"/>
            <a:ext cx="4734586" cy="1819529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DAD89A-8433-7D77-F273-53A1B537B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260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6134185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6.5. </a:t>
            </a:r>
            <a:r>
              <a:rPr lang="ko-KR" altLang="en-US" sz="2400" dirty="0">
                <a:latin typeface="+mn-ea"/>
              </a:rPr>
              <a:t>이력 데이터를 설계하는 첫 번째 방법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실체 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엔터티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400" dirty="0">
                <a:latin typeface="+mn-ea"/>
              </a:rPr>
              <a:t>계좌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b="1" u="sng" dirty="0">
                <a:latin typeface="+mn-ea"/>
              </a:rPr>
              <a:t>속성 중에서 하나라도 값이 변경되면 </a:t>
            </a:r>
            <a:endParaRPr lang="en-US" altLang="ko-KR" sz="1400" b="1" u="sng" dirty="0">
              <a:latin typeface="+mn-ea"/>
            </a:endParaRPr>
          </a:p>
          <a:p>
            <a:pPr lvl="1"/>
            <a:r>
              <a:rPr lang="ko-KR" altLang="en-US" sz="1400" b="1" u="sng" dirty="0">
                <a:latin typeface="+mn-ea"/>
              </a:rPr>
              <a:t>변경 당시의 데이터를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스냅샷 형태</a:t>
            </a:r>
            <a:r>
              <a:rPr lang="ko-KR" altLang="en-US" sz="1400" dirty="0">
                <a:latin typeface="+mn-ea"/>
              </a:rPr>
              <a:t>로 계좌이력 </a:t>
            </a:r>
            <a:r>
              <a:rPr lang="ko-KR" altLang="en-US" sz="1400" dirty="0" err="1">
                <a:latin typeface="+mn-ea"/>
              </a:rPr>
              <a:t>엔터티에</a:t>
            </a:r>
            <a:r>
              <a:rPr lang="ko-KR" altLang="en-US" sz="1400" dirty="0">
                <a:latin typeface="+mn-ea"/>
              </a:rPr>
              <a:t>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저장한다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그리고 변경된 속성의 값은 원천 </a:t>
            </a:r>
            <a:r>
              <a:rPr lang="ko-KR" altLang="en-US" sz="1400" dirty="0" err="1">
                <a:latin typeface="+mn-ea"/>
              </a:rPr>
              <a:t>엔터티인</a:t>
            </a:r>
            <a:r>
              <a:rPr lang="ko-KR" altLang="en-US" sz="1400" dirty="0">
                <a:latin typeface="+mn-ea"/>
              </a:rPr>
              <a:t>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계좌 </a:t>
            </a:r>
            <a:r>
              <a:rPr lang="ko-KR" altLang="en-US" sz="1400" dirty="0" err="1">
                <a:latin typeface="+mn-ea"/>
              </a:rPr>
              <a:t>엔터티에</a:t>
            </a:r>
            <a:r>
              <a:rPr lang="ko-KR" altLang="en-US" sz="1400" dirty="0">
                <a:latin typeface="+mn-ea"/>
              </a:rPr>
              <a:t> 업데이트한다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예를 들어 관리사원번호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속성 값이 변경되면 새로운 관리사원번호 값은 계좌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 err="1">
                <a:latin typeface="+mn-ea"/>
              </a:rPr>
              <a:t>엔터티에</a:t>
            </a:r>
            <a:r>
              <a:rPr lang="ko-KR" altLang="en-US" sz="1400" dirty="0">
                <a:latin typeface="+mn-ea"/>
              </a:rPr>
              <a:t> 업데이트되고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이전 관리사원번호 값은 다른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속성과 함께 계좌이력 </a:t>
            </a:r>
            <a:r>
              <a:rPr lang="ko-KR" altLang="en-US" sz="1400" dirty="0" err="1">
                <a:latin typeface="+mn-ea"/>
              </a:rPr>
              <a:t>엔터티로</a:t>
            </a:r>
            <a:r>
              <a:rPr lang="ko-KR" altLang="en-US" sz="1400" dirty="0">
                <a:latin typeface="+mn-ea"/>
              </a:rPr>
              <a:t> 저장된다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lvl="1"/>
            <a:endParaRPr lang="en-US" altLang="ko-KR" sz="1400" dirty="0">
              <a:latin typeface="+mn-ea"/>
            </a:endParaRPr>
          </a:p>
          <a:p>
            <a:pPr lvl="1"/>
            <a:endParaRPr lang="en-US" altLang="ko-KR" sz="1400" dirty="0">
              <a:latin typeface="+mn-ea"/>
            </a:endParaRPr>
          </a:p>
          <a:p>
            <a:pPr lvl="1"/>
            <a:endParaRPr lang="en-US" altLang="ko-KR" sz="1400" dirty="0">
              <a:latin typeface="+mn-ea"/>
            </a:endParaRPr>
          </a:p>
          <a:p>
            <a:pPr marL="800100" lvl="1" indent="-342900">
              <a:buFont typeface="+mj-ea"/>
              <a:buAutoNum type="circleNumDbPlain" startAt="2"/>
            </a:pPr>
            <a:r>
              <a:rPr lang="ko-KR" altLang="en-US" sz="1400" dirty="0">
                <a:latin typeface="+mn-ea"/>
              </a:rPr>
              <a:t>만약 하위 </a:t>
            </a:r>
            <a:r>
              <a:rPr lang="ko-KR" altLang="en-US" sz="1400" dirty="0" err="1">
                <a:latin typeface="+mn-ea"/>
              </a:rPr>
              <a:t>엔터티가</a:t>
            </a:r>
            <a:r>
              <a:rPr lang="ko-KR" altLang="en-US" sz="1400" dirty="0">
                <a:latin typeface="+mn-ea"/>
              </a:rPr>
              <a:t> 존재하기 때문에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6.16]</a:t>
            </a:r>
            <a:r>
              <a:rPr lang="ko-KR" altLang="en-US" sz="1400" dirty="0">
                <a:latin typeface="+mn-ea"/>
              </a:rPr>
              <a:t>과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같은 모델을 사용할 수밖에 없는데</a:t>
            </a:r>
            <a:r>
              <a:rPr lang="en-US" altLang="ko-KR" sz="1400" dirty="0">
                <a:latin typeface="+mn-ea"/>
              </a:rPr>
              <a:t>,</a:t>
            </a:r>
            <a:r>
              <a:rPr lang="ko-KR" altLang="en-US" sz="1400" dirty="0">
                <a:latin typeface="+mn-ea"/>
              </a:rPr>
              <a:t>원천 데이터와 이력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데이터를 한꺼번에 조회하는 요건이 많다면 비효율이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발생할 수 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이를 해결하기 위해 계좌이력 </a:t>
            </a:r>
            <a:r>
              <a:rPr lang="ko-KR" altLang="en-US" sz="1400" dirty="0" err="1">
                <a:latin typeface="+mn-ea"/>
              </a:rPr>
              <a:t>엔터티에</a:t>
            </a:r>
            <a:r>
              <a:rPr lang="ko-KR" altLang="en-US" sz="1400" dirty="0">
                <a:latin typeface="+mn-ea"/>
              </a:rPr>
              <a:t>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원천 데이터를 중복으로 관리할 수도 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이는 비정규화의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일종인 중복 데이터를 사용하는 방법이다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이에 대한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릴레이션은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6.18]</a:t>
            </a:r>
            <a:r>
              <a:rPr lang="ko-KR" altLang="en-US" sz="1400" dirty="0">
                <a:latin typeface="+mn-ea"/>
              </a:rPr>
              <a:t>과 같다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70636E1-7CAB-B09B-651B-C9B3BE3BF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454" y="2088672"/>
            <a:ext cx="4734586" cy="181952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5AFE2A6-DDA5-98FE-835A-3A829E1EB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454" y="4231393"/>
            <a:ext cx="4753638" cy="2019582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DEC8770-0914-451A-E07A-84BAF5553682}"/>
              </a:ext>
            </a:extLst>
          </p:cNvPr>
          <p:cNvSpPr/>
          <p:nvPr/>
        </p:nvSpPr>
        <p:spPr>
          <a:xfrm>
            <a:off x="7128927" y="5206924"/>
            <a:ext cx="650543" cy="809738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A955261-41FF-4D32-093F-3448495BB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261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7775083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6.5. </a:t>
            </a:r>
            <a:r>
              <a:rPr lang="ko-KR" altLang="en-US" sz="2400" dirty="0">
                <a:latin typeface="+mn-ea"/>
              </a:rPr>
              <a:t>이력 데이터를 설계하는 첫 번째 방법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기준 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엔터티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6.19] </a:t>
            </a:r>
            <a:r>
              <a:rPr lang="ko-KR" altLang="en-US" sz="1400" dirty="0">
                <a:latin typeface="+mn-ea"/>
              </a:rPr>
              <a:t>：환율 </a:t>
            </a:r>
            <a:r>
              <a:rPr lang="ko-KR" altLang="en-US" sz="1400" dirty="0" err="1">
                <a:latin typeface="+mn-ea"/>
              </a:rPr>
              <a:t>엔터티는</a:t>
            </a:r>
            <a:r>
              <a:rPr lang="ko-KR" altLang="en-US" sz="1400" dirty="0">
                <a:latin typeface="+mn-ea"/>
              </a:rPr>
              <a:t> 기준 </a:t>
            </a:r>
            <a:r>
              <a:rPr lang="ko-KR" altLang="en-US" sz="1400" dirty="0" err="1">
                <a:latin typeface="+mn-ea"/>
              </a:rPr>
              <a:t>엔터티며</a:t>
            </a:r>
            <a:r>
              <a:rPr lang="ko-KR" altLang="en-US" sz="1400" dirty="0">
                <a:latin typeface="+mn-ea"/>
              </a:rPr>
              <a:t> 원천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 err="1">
                <a:latin typeface="+mn-ea"/>
              </a:rPr>
              <a:t>엔터티다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 </a:t>
            </a:r>
            <a:r>
              <a:rPr lang="ko-KR" altLang="en-US" sz="1400" dirty="0" err="1">
                <a:latin typeface="+mn-ea"/>
              </a:rPr>
              <a:t>엔터티는</a:t>
            </a:r>
            <a:r>
              <a:rPr lang="ko-KR" altLang="en-US" sz="1400" dirty="0">
                <a:latin typeface="+mn-ea"/>
              </a:rPr>
              <a:t> 기준일자 속성까지 포함해서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환율을 관리한다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즉 환율 데이터를 일자별로 관리하는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요건에 의해서 환율 데이터가 매일 저장되는 것이다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+mj-ea"/>
              <a:buAutoNum type="circleNumDbPlain"/>
            </a:pPr>
            <a:endParaRPr lang="en-US" altLang="ko-KR" sz="1400" dirty="0">
              <a:latin typeface="+mn-ea"/>
            </a:endParaRPr>
          </a:p>
          <a:p>
            <a:pPr lvl="1"/>
            <a:endParaRPr lang="en-US" altLang="ko-KR" sz="1400" dirty="0">
              <a:latin typeface="+mn-ea"/>
            </a:endParaRPr>
          </a:p>
          <a:p>
            <a:pPr marL="800100" lvl="1" indent="-342900">
              <a:buFont typeface="+mj-ea"/>
              <a:buAutoNum type="circleNumDbPlain" startAt="2"/>
            </a:pP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6.19] </a:t>
            </a:r>
            <a:r>
              <a:rPr lang="ko-KR" altLang="en-US" sz="1400" dirty="0">
                <a:latin typeface="+mn-ea"/>
              </a:rPr>
              <a:t>환율 </a:t>
            </a:r>
            <a:r>
              <a:rPr lang="ko-KR" altLang="en-US" sz="1400" dirty="0" err="1">
                <a:latin typeface="+mn-ea"/>
              </a:rPr>
              <a:t>엔터티와</a:t>
            </a:r>
            <a:r>
              <a:rPr lang="ko-KR" altLang="en-US" sz="1400" dirty="0">
                <a:latin typeface="+mn-ea"/>
              </a:rPr>
              <a:t> 같이 원천 </a:t>
            </a:r>
            <a:r>
              <a:rPr lang="ko-KR" altLang="en-US" sz="1400" dirty="0" err="1">
                <a:latin typeface="+mn-ea"/>
              </a:rPr>
              <a:t>엔터티를</a:t>
            </a:r>
            <a:r>
              <a:rPr lang="ko-KR" altLang="en-US" sz="1400" dirty="0">
                <a:latin typeface="+mn-ea"/>
              </a:rPr>
              <a:t>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설계했다면</a:t>
            </a:r>
            <a:r>
              <a:rPr lang="en-US" altLang="ko-KR" sz="1400" dirty="0">
                <a:latin typeface="+mn-ea"/>
              </a:rPr>
              <a:t>,</a:t>
            </a:r>
            <a:r>
              <a:rPr lang="ko-KR" altLang="en-US" sz="1400" dirty="0">
                <a:latin typeface="+mn-ea"/>
              </a:rPr>
              <a:t>이미 과거의 환율도 </a:t>
            </a:r>
            <a:r>
              <a:rPr lang="ko-KR" altLang="en-US" sz="1400" dirty="0" err="1">
                <a:latin typeface="+mn-ea"/>
              </a:rPr>
              <a:t>엔터티에</a:t>
            </a:r>
            <a:r>
              <a:rPr lang="ko-KR" altLang="en-US" sz="1400" dirty="0">
                <a:latin typeface="+mn-ea"/>
              </a:rPr>
              <a:t> 포함돼 있다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lvl="1"/>
            <a:r>
              <a:rPr lang="ko-KR" altLang="en-US" sz="1400" dirty="0">
                <a:latin typeface="+mn-ea"/>
              </a:rPr>
              <a:t>이 데이터는 과거에 입력됐지만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현재도 살아 있는 원천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데이터다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입력된 날짜인 기준 일자</a:t>
            </a:r>
            <a:r>
              <a:rPr lang="en-US" altLang="ko-KR" sz="1400" dirty="0">
                <a:latin typeface="+mn-ea"/>
              </a:rPr>
              <a:t>(2028</a:t>
            </a:r>
            <a:r>
              <a:rPr lang="ko-KR" altLang="en-US" sz="1400" dirty="0">
                <a:latin typeface="+mn-ea"/>
              </a:rPr>
              <a:t>년 </a:t>
            </a:r>
            <a:r>
              <a:rPr lang="en-US" altLang="ko-KR" sz="1400" dirty="0">
                <a:latin typeface="+mn-ea"/>
              </a:rPr>
              <a:t>1</a:t>
            </a:r>
            <a:r>
              <a:rPr lang="ko-KR" altLang="en-US" sz="1400" dirty="0">
                <a:latin typeface="+mn-ea"/>
              </a:rPr>
              <a:t>월 </a:t>
            </a:r>
            <a:r>
              <a:rPr lang="en-US" altLang="ko-KR" sz="1400" dirty="0">
                <a:latin typeface="+mn-ea"/>
              </a:rPr>
              <a:t>1</a:t>
            </a:r>
            <a:r>
              <a:rPr lang="ko-KR" altLang="en-US" sz="1400" dirty="0">
                <a:latin typeface="+mn-ea"/>
              </a:rPr>
              <a:t>일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에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해당하는 환율은 여전히 그대로다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과거 데이터라고 원천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데이터가 아닌 것은 아니다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주 식별자인 기준일자에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생성된 원천 데이터다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만약 이 데이터가 변경되고 이에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대한 이력 데이터를 설계해야 한다면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6.20]</a:t>
            </a:r>
            <a:r>
              <a:rPr lang="ko-KR" altLang="en-US" sz="1400" dirty="0">
                <a:latin typeface="+mn-ea"/>
              </a:rPr>
              <a:t> 모델과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같이 설계할 수 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lvl="1"/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이 모델을 사용하면 현재와 과거 데이터가 자연스럽게 분리된다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원천 </a:t>
            </a:r>
            <a:r>
              <a:rPr lang="ko-KR" altLang="en-US" sz="1400" dirty="0" err="1">
                <a:latin typeface="+mn-ea"/>
              </a:rPr>
              <a:t>엔터티인</a:t>
            </a:r>
            <a:r>
              <a:rPr lang="ko-KR" altLang="en-US" sz="1400" dirty="0">
                <a:latin typeface="+mn-ea"/>
              </a:rPr>
              <a:t> 환율 </a:t>
            </a:r>
            <a:r>
              <a:rPr lang="ko-KR" altLang="en-US" sz="1400" dirty="0" err="1">
                <a:latin typeface="+mn-ea"/>
              </a:rPr>
              <a:t>엔터티에서는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b="1" u="sng" dirty="0">
                <a:latin typeface="+mn-ea"/>
              </a:rPr>
              <a:t>현재 환율만 관리</a:t>
            </a:r>
            <a:r>
              <a:rPr lang="ko-KR" altLang="en-US" sz="1400" dirty="0">
                <a:latin typeface="+mn-ea"/>
              </a:rPr>
              <a:t>하도록 설계했기 때문에 현재의 데이터만 존재하고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환율이력 </a:t>
            </a:r>
            <a:r>
              <a:rPr lang="ko-KR" altLang="en-US" sz="1400" dirty="0" err="1">
                <a:latin typeface="+mn-ea"/>
              </a:rPr>
              <a:t>엔터티에는</a:t>
            </a:r>
            <a:r>
              <a:rPr lang="ko-KR" altLang="en-US" sz="1400" dirty="0">
                <a:latin typeface="+mn-ea"/>
              </a:rPr>
              <a:t> 현재 환율이 </a:t>
            </a:r>
            <a:r>
              <a:rPr lang="ko-KR" altLang="en-US" sz="1400" b="1" u="sng" dirty="0">
                <a:latin typeface="+mn-ea"/>
              </a:rPr>
              <a:t>변경된 데이터가 존재</a:t>
            </a:r>
            <a:r>
              <a:rPr lang="ko-KR" altLang="en-US" sz="1400" dirty="0">
                <a:latin typeface="+mn-ea"/>
              </a:rPr>
              <a:t>하는데</a:t>
            </a:r>
            <a:r>
              <a:rPr lang="en-US" altLang="ko-KR" sz="1400" dirty="0">
                <a:latin typeface="+mn-ea"/>
              </a:rPr>
              <a:t>, 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6.22] </a:t>
            </a:r>
            <a:r>
              <a:rPr lang="ko-KR" altLang="en-US" sz="1400" dirty="0">
                <a:latin typeface="+mn-ea"/>
              </a:rPr>
              <a:t>모델에서 이는 과거 데이터다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이처럼 원천 </a:t>
            </a:r>
            <a:r>
              <a:rPr lang="ko-KR" altLang="en-US" sz="1400" dirty="0" err="1">
                <a:latin typeface="+mn-ea"/>
              </a:rPr>
              <a:t>엔터티를</a:t>
            </a:r>
            <a:r>
              <a:rPr lang="ko-KR" altLang="en-US" sz="1400" dirty="0">
                <a:latin typeface="+mn-ea"/>
              </a:rPr>
              <a:t> 어떻게 설계하느냐 에 따라 </a:t>
            </a:r>
            <a:r>
              <a:rPr lang="ko-KR" altLang="en-US" sz="1400" b="1" u="sng" dirty="0">
                <a:latin typeface="+mn-ea"/>
              </a:rPr>
              <a:t>이력 </a:t>
            </a:r>
            <a:r>
              <a:rPr lang="ko-KR" altLang="en-US" sz="1400" b="1" u="sng" dirty="0" err="1">
                <a:latin typeface="+mn-ea"/>
              </a:rPr>
              <a:t>엔터티의</a:t>
            </a:r>
            <a:r>
              <a:rPr lang="ko-KR" altLang="en-US" sz="1400" b="1" u="sng" dirty="0">
                <a:latin typeface="+mn-ea"/>
              </a:rPr>
              <a:t> 성격도 달라진다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44BA219-E24A-66C3-460E-37C12D6A0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936" y="2044407"/>
            <a:ext cx="1524213" cy="112410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0F1EAF1-4EE1-E121-4515-99CB1B13C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783" y="3905839"/>
            <a:ext cx="2762636" cy="129558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AE4EFE6-39F4-36E3-55B3-9816D5C42F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5146" y="2187302"/>
            <a:ext cx="1981477" cy="98121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99C8D82-0E98-CB41-9188-35F649262B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4092" y="4096366"/>
            <a:ext cx="2743583" cy="1105054"/>
          </a:xfrm>
          <a:prstGeom prst="rect">
            <a:avLst/>
          </a:prstGeom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60C0E4F-8D65-C15C-C6A2-A9EB194FF62D}"/>
              </a:ext>
            </a:extLst>
          </p:cNvPr>
          <p:cNvSpPr/>
          <p:nvPr/>
        </p:nvSpPr>
        <p:spPr>
          <a:xfrm>
            <a:off x="6948870" y="2549735"/>
            <a:ext cx="795307" cy="192229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E3418E8-5E38-0941-3837-52976E29B25E}"/>
              </a:ext>
            </a:extLst>
          </p:cNvPr>
          <p:cNvSpPr/>
          <p:nvPr/>
        </p:nvSpPr>
        <p:spPr>
          <a:xfrm>
            <a:off x="6305404" y="4518911"/>
            <a:ext cx="795307" cy="192229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D4D73DB-05B2-132B-B7DD-C0BFD0857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262</a:t>
            </a:fld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FAFBA2A-07B7-4286-9611-FB0B9F803B95}"/>
              </a:ext>
            </a:extLst>
          </p:cNvPr>
          <p:cNvSpPr/>
          <p:nvPr/>
        </p:nvSpPr>
        <p:spPr>
          <a:xfrm>
            <a:off x="7526377" y="4571440"/>
            <a:ext cx="992473" cy="355124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E0F95B9-F4E7-4B2E-92E5-BB28F761E2A2}"/>
              </a:ext>
            </a:extLst>
          </p:cNvPr>
          <p:cNvSpPr/>
          <p:nvPr/>
        </p:nvSpPr>
        <p:spPr>
          <a:xfrm>
            <a:off x="10671474" y="4568370"/>
            <a:ext cx="992473" cy="355124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551758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6.5. </a:t>
            </a:r>
            <a:r>
              <a:rPr lang="ko-KR" altLang="en-US" sz="2400" dirty="0">
                <a:latin typeface="+mn-ea"/>
              </a:rPr>
              <a:t>이력 데이터를 설계하는 첫 번째 방법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행위 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엔터티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6.23] </a:t>
            </a:r>
            <a:r>
              <a:rPr lang="ko-KR" altLang="en-US" sz="1400" dirty="0">
                <a:latin typeface="+mn-ea"/>
              </a:rPr>
              <a:t>모델은 원천 데이터인 주문 데이터를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관리하는 행위 </a:t>
            </a:r>
            <a:r>
              <a:rPr lang="ko-KR" altLang="en-US" sz="1400" dirty="0" err="1">
                <a:latin typeface="+mn-ea"/>
              </a:rPr>
              <a:t>엔터티다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+mj-ea"/>
              <a:buAutoNum type="circleNumDbPlain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+mj-ea"/>
              <a:buAutoNum type="circleNumDbPlain" startAt="2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+mj-ea"/>
              <a:buAutoNum type="circleNumDbPlain" startAt="2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+mj-ea"/>
              <a:buAutoNum type="circleNumDbPlain" startAt="2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+mj-ea"/>
              <a:buAutoNum type="circleNumDbPlain" startAt="2"/>
            </a:pPr>
            <a:r>
              <a:rPr lang="ko-KR" altLang="en-US" sz="1400" dirty="0">
                <a:latin typeface="+mn-ea"/>
              </a:rPr>
              <a:t>만약 주문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속성 값이 변경되면</a:t>
            </a:r>
            <a:r>
              <a:rPr lang="en-US" altLang="ko-KR" sz="1400" dirty="0">
                <a:latin typeface="+mn-ea"/>
              </a:rPr>
              <a:t>, </a:t>
            </a:r>
          </a:p>
          <a:p>
            <a:pPr marL="800100" lvl="1" indent="-342900">
              <a:buFont typeface="+mj-ea"/>
              <a:buAutoNum type="circleNumDbPlain" startAt="2"/>
            </a:pPr>
            <a:r>
              <a:rPr lang="ko-KR" altLang="en-US" sz="1400" dirty="0">
                <a:latin typeface="+mn-ea"/>
              </a:rPr>
              <a:t>예들 들어 배송주소가 변경되면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6.24] </a:t>
            </a:r>
            <a:r>
              <a:rPr lang="ko-KR" altLang="en-US" sz="1400" dirty="0">
                <a:latin typeface="+mn-ea"/>
              </a:rPr>
              <a:t>모델과 </a:t>
            </a:r>
            <a:endParaRPr lang="en-US" altLang="ko-KR" sz="1400" dirty="0">
              <a:latin typeface="+mn-ea"/>
            </a:endParaRPr>
          </a:p>
          <a:p>
            <a:pPr marL="800100" lvl="1" indent="-342900">
              <a:buFont typeface="+mj-ea"/>
              <a:buAutoNum type="circleNumDbPlain" startAt="2"/>
            </a:pPr>
            <a:r>
              <a:rPr lang="ko-KR" altLang="en-US" sz="1400" dirty="0">
                <a:latin typeface="+mn-ea"/>
              </a:rPr>
              <a:t>같이 주문이력 </a:t>
            </a:r>
            <a:r>
              <a:rPr lang="ko-KR" altLang="en-US" sz="1400" dirty="0" err="1">
                <a:latin typeface="+mn-ea"/>
              </a:rPr>
              <a:t>엔터티에서</a:t>
            </a:r>
            <a:r>
              <a:rPr lang="ko-KR" altLang="en-US" sz="1400" dirty="0">
                <a:latin typeface="+mn-ea"/>
              </a:rPr>
              <a:t> 관리할 수 있다</a:t>
            </a:r>
            <a:r>
              <a:rPr lang="en-US" altLang="ko-KR" sz="1400" dirty="0">
                <a:latin typeface="+mn-ea"/>
              </a:rPr>
              <a:t>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60C0E4F-8D65-C15C-C6A2-A9EB194FF62D}"/>
              </a:ext>
            </a:extLst>
          </p:cNvPr>
          <p:cNvSpPr/>
          <p:nvPr/>
        </p:nvSpPr>
        <p:spPr>
          <a:xfrm>
            <a:off x="6948870" y="2549735"/>
            <a:ext cx="795307" cy="192229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30BCD05-9917-7DA3-EFB3-FF7EECB11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168" y="1791804"/>
            <a:ext cx="2543530" cy="125747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D64B83E-E8E4-49FF-E49E-7AE488FDE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168" y="3439746"/>
            <a:ext cx="2553056" cy="2667372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323CA16-8213-6BD6-7961-7EEE2668D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263</a:t>
            </a:fld>
            <a:endParaRPr lang="ko-KR" altLang="en-US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9F3932B-713B-4CD7-A4D5-FA42A686D3AC}"/>
              </a:ext>
            </a:extLst>
          </p:cNvPr>
          <p:cNvSpPr/>
          <p:nvPr/>
        </p:nvSpPr>
        <p:spPr>
          <a:xfrm>
            <a:off x="6693385" y="2172580"/>
            <a:ext cx="795307" cy="635934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FD3C6F3-6336-4B57-A68B-CBD17A8AE6CC}"/>
              </a:ext>
            </a:extLst>
          </p:cNvPr>
          <p:cNvSpPr/>
          <p:nvPr/>
        </p:nvSpPr>
        <p:spPr>
          <a:xfrm>
            <a:off x="8009730" y="2365206"/>
            <a:ext cx="795307" cy="331342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FBB44FC-7E46-4794-8DEB-ECE85AD9C8E6}"/>
              </a:ext>
            </a:extLst>
          </p:cNvPr>
          <p:cNvSpPr/>
          <p:nvPr/>
        </p:nvSpPr>
        <p:spPr>
          <a:xfrm>
            <a:off x="6693385" y="5075853"/>
            <a:ext cx="795307" cy="789445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083704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6.5. </a:t>
            </a:r>
            <a:r>
              <a:rPr lang="ko-KR" altLang="en-US" sz="2400" dirty="0">
                <a:latin typeface="+mn-ea"/>
              </a:rPr>
              <a:t>이력 데이터를 설계하는 첫 번째 방법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행위 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엔터티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400" dirty="0">
                <a:latin typeface="+mn-ea"/>
              </a:rPr>
              <a:t>주문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속성 중에서 하나라도 변경되면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그 시점의 데이터를 주문이력 </a:t>
            </a:r>
            <a:r>
              <a:rPr lang="ko-KR" altLang="en-US" sz="1400" dirty="0" err="1">
                <a:latin typeface="+mn-ea"/>
              </a:rPr>
              <a:t>엔터티로</a:t>
            </a:r>
            <a:r>
              <a:rPr lang="ko-KR" altLang="en-US" sz="1400" dirty="0">
                <a:latin typeface="+mn-ea"/>
              </a:rPr>
              <a:t> 인서트하고</a:t>
            </a:r>
            <a:r>
              <a:rPr lang="en-US" altLang="ko-KR" sz="1400" dirty="0">
                <a:latin typeface="+mn-ea"/>
              </a:rPr>
              <a:t>,</a:t>
            </a:r>
            <a:r>
              <a:rPr lang="ko-KR" altLang="en-US" sz="1400" dirty="0">
                <a:latin typeface="+mn-ea"/>
              </a:rPr>
              <a:t>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변경해야 할 속성은 주문 </a:t>
            </a:r>
            <a:r>
              <a:rPr lang="ko-KR" altLang="en-US" sz="1400" dirty="0" err="1">
                <a:latin typeface="+mn-ea"/>
              </a:rPr>
              <a:t>엔터티에</a:t>
            </a:r>
            <a:r>
              <a:rPr lang="ko-KR" altLang="en-US" sz="1400" dirty="0">
                <a:latin typeface="+mn-ea"/>
              </a:rPr>
              <a:t> 업데이트한다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lvl="1"/>
            <a:r>
              <a:rPr lang="ko-KR" altLang="en-US" sz="1400" dirty="0">
                <a:latin typeface="+mn-ea"/>
              </a:rPr>
              <a:t>만약 주문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속성은 변경되지 않고 주문 상품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속성만 변경되며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이를 관리해야 한다면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6.25] </a:t>
            </a:r>
            <a:r>
              <a:rPr lang="ko-KR" altLang="en-US" sz="1400" dirty="0">
                <a:latin typeface="+mn-ea"/>
              </a:rPr>
              <a:t>모델처럼 설계해야 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+mj-ea"/>
              <a:buAutoNum type="circleNumDbPlain" startAt="2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+mj-ea"/>
              <a:buAutoNum type="circleNumDbPlain" startAt="2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+mj-ea"/>
              <a:buAutoNum type="circleNumDbPlain" startAt="2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+mj-ea"/>
              <a:buAutoNum type="circleNumDbPlain" startAt="2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+mj-ea"/>
              <a:buAutoNum type="circleNumDbPlain" startAt="2"/>
            </a:pPr>
            <a:r>
              <a:rPr lang="ko-KR" altLang="en-US" sz="1400" dirty="0">
                <a:latin typeface="+mn-ea"/>
              </a:rPr>
              <a:t>마찬가지로 주문상품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속성 중에서 하나라도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변경되면 그 시점의 데이터를 주문상품이력 </a:t>
            </a:r>
            <a:r>
              <a:rPr lang="ko-KR" altLang="en-US" sz="1400" dirty="0" err="1">
                <a:latin typeface="+mn-ea"/>
              </a:rPr>
              <a:t>엔터티에</a:t>
            </a:r>
            <a:r>
              <a:rPr lang="ko-KR" altLang="en-US" sz="1400" dirty="0">
                <a:latin typeface="+mn-ea"/>
              </a:rPr>
              <a:t>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저장하고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변경해야 할 속성은 주문상품 </a:t>
            </a:r>
            <a:r>
              <a:rPr lang="ko-KR" altLang="en-US" sz="1400" dirty="0" err="1">
                <a:latin typeface="+mn-ea"/>
              </a:rPr>
              <a:t>엔터티에</a:t>
            </a:r>
            <a:r>
              <a:rPr lang="ko-KR" altLang="en-US" sz="1400" dirty="0">
                <a:latin typeface="+mn-ea"/>
              </a:rPr>
              <a:t>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업데이트한다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만약 주문 </a:t>
            </a:r>
            <a:r>
              <a:rPr lang="ko-KR" altLang="en-US" sz="1400" dirty="0" err="1">
                <a:latin typeface="+mn-ea"/>
              </a:rPr>
              <a:t>엔터티와</a:t>
            </a:r>
            <a:r>
              <a:rPr lang="ko-KR" altLang="en-US" sz="1400" dirty="0">
                <a:latin typeface="+mn-ea"/>
              </a:rPr>
              <a:t> 주문상품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속성이 모두 변경될 수 있다면</a:t>
            </a:r>
            <a:r>
              <a:rPr lang="en-US" altLang="ko-KR" sz="1400" dirty="0">
                <a:latin typeface="+mn-ea"/>
              </a:rPr>
              <a:t>, 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6.26] </a:t>
            </a:r>
            <a:r>
              <a:rPr lang="ko-KR" altLang="en-US" sz="1400" dirty="0">
                <a:latin typeface="+mn-ea"/>
              </a:rPr>
              <a:t>모델과 같이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설계해야 한다</a:t>
            </a:r>
            <a:r>
              <a:rPr lang="en-US" altLang="ko-KR" sz="1400" dirty="0">
                <a:latin typeface="+mn-ea"/>
              </a:rPr>
              <a:t>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1B96957-1A00-66B0-32B9-EADEE0539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155" y="1289426"/>
            <a:ext cx="2205560" cy="209570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07ACA8B-CC9F-4FAE-90C7-608301D63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288" y="3710142"/>
            <a:ext cx="2281614" cy="234921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2F0A1A9-56D8-A7D5-0290-54A0697FE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6285" y="3710142"/>
            <a:ext cx="2315415" cy="2374569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4EDADC7-EFE6-EA82-ECF8-6BDF67C30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264</a:t>
            </a:fld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D6794AA-903D-417E-B33E-D8DB92DE8F6C}"/>
              </a:ext>
            </a:extLst>
          </p:cNvPr>
          <p:cNvSpPr/>
          <p:nvPr/>
        </p:nvSpPr>
        <p:spPr>
          <a:xfrm>
            <a:off x="7691760" y="2730535"/>
            <a:ext cx="795307" cy="413881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DC67E4-6872-4DA5-B03B-1765B2D6EAF4}"/>
              </a:ext>
            </a:extLst>
          </p:cNvPr>
          <p:cNvSpPr txBox="1"/>
          <p:nvPr/>
        </p:nvSpPr>
        <p:spPr>
          <a:xfrm>
            <a:off x="9218645" y="6094454"/>
            <a:ext cx="24082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대부분 이렇게 설계함</a:t>
            </a:r>
            <a:r>
              <a:rPr lang="en-US" altLang="ko-KR" sz="1200" b="1" dirty="0">
                <a:solidFill>
                  <a:srgbClr val="FF0000"/>
                </a:solidFill>
              </a:rPr>
              <a:t>!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E2CEB3-EED7-4F6E-A029-DCF57BB5208F}"/>
              </a:ext>
            </a:extLst>
          </p:cNvPr>
          <p:cNvSpPr txBox="1"/>
          <p:nvPr/>
        </p:nvSpPr>
        <p:spPr>
          <a:xfrm>
            <a:off x="6127102" y="6094454"/>
            <a:ext cx="2743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이렇게 같이 이력관리 하는게 좋다</a:t>
            </a:r>
            <a:r>
              <a:rPr lang="en-US" altLang="ko-KR" sz="1200" b="1" dirty="0">
                <a:solidFill>
                  <a:srgbClr val="FF0000"/>
                </a:solidFill>
              </a:rPr>
              <a:t>.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C4194EB-96FE-4E56-A4F4-93E687C5C956}"/>
              </a:ext>
            </a:extLst>
          </p:cNvPr>
          <p:cNvSpPr/>
          <p:nvPr/>
        </p:nvSpPr>
        <p:spPr>
          <a:xfrm>
            <a:off x="6127102" y="3591878"/>
            <a:ext cx="2743200" cy="2857954"/>
          </a:xfrm>
          <a:prstGeom prst="roundRect">
            <a:avLst>
              <a:gd name="adj" fmla="val 5804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662551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3C4E03BE-D95C-0A82-7546-15B0C867D7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59"/>
          <a:stretch/>
        </p:blipFill>
        <p:spPr>
          <a:xfrm>
            <a:off x="3718275" y="5203095"/>
            <a:ext cx="4753638" cy="12052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6.6. </a:t>
            </a:r>
            <a:r>
              <a:rPr lang="ko-KR" altLang="en-US" sz="2400" dirty="0">
                <a:latin typeface="+mn-ea"/>
              </a:rPr>
              <a:t>이력 데이터를 설계하는 두 번째 방법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+mn-ea"/>
              </a:rPr>
              <a:t>6.6.1. </a:t>
            </a:r>
            <a:r>
              <a:rPr lang="ko-KR" altLang="en-US" sz="1600" b="1" dirty="0">
                <a:latin typeface="+mn-ea"/>
              </a:rPr>
              <a:t>이력 </a:t>
            </a: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별도 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엔터티로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 설계하는 방법</a:t>
            </a:r>
            <a:r>
              <a:rPr lang="ko-KR" altLang="en-US" sz="1600" b="1" dirty="0">
                <a:latin typeface="+mn-ea"/>
              </a:rPr>
              <a:t>이 이력 데이터를 설계하는 방법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실체 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엔터티</a:t>
            </a:r>
            <a:endParaRPr lang="en-US" altLang="ko-KR" sz="16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이력 데이터를 설계할 때는 먼저 원천 데이터를 </a:t>
            </a:r>
            <a:endParaRPr lang="en-US" altLang="ko-KR" sz="14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설계해야 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원천 </a:t>
            </a:r>
            <a:r>
              <a:rPr lang="ko-KR" altLang="en-US" sz="1400" dirty="0" err="1">
                <a:latin typeface="+mn-ea"/>
              </a:rPr>
              <a:t>엔터티가</a:t>
            </a:r>
            <a:r>
              <a:rPr lang="ko-KR" altLang="en-US" sz="1400" dirty="0">
                <a:latin typeface="+mn-ea"/>
              </a:rPr>
              <a:t> 무엇인지를 먼저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분석해야 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본질적인 성격을 먼저 </a:t>
            </a:r>
            <a:endParaRPr lang="en-US" altLang="ko-KR" sz="14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설계하는 것은 당연하다</a:t>
            </a:r>
            <a:r>
              <a:rPr lang="en-US" altLang="ko-KR" sz="1400" dirty="0">
                <a:latin typeface="+mn-ea"/>
              </a:rPr>
              <a:t>. 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6.28] </a:t>
            </a:r>
            <a:r>
              <a:rPr lang="ko-KR" altLang="en-US" sz="1400" dirty="0">
                <a:latin typeface="+mn-ea"/>
              </a:rPr>
              <a:t>계좌 </a:t>
            </a:r>
            <a:r>
              <a:rPr lang="ko-KR" altLang="en-US" sz="1400" dirty="0" err="1">
                <a:latin typeface="+mn-ea"/>
              </a:rPr>
              <a:t>엔터티는</a:t>
            </a:r>
            <a:endParaRPr lang="en-US" altLang="ko-KR" sz="14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실체 성격의 원천 </a:t>
            </a:r>
            <a:r>
              <a:rPr lang="ko-KR" altLang="en-US" sz="1400" dirty="0" err="1">
                <a:latin typeface="+mn-ea"/>
              </a:rPr>
              <a:t>엔터티다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원천 데이터를 관리하는 </a:t>
            </a:r>
            <a:r>
              <a:rPr lang="ko-KR" altLang="en-US" sz="1400" dirty="0" err="1">
                <a:latin typeface="+mn-ea"/>
              </a:rPr>
              <a:t>엔터티에</a:t>
            </a:r>
            <a:r>
              <a:rPr lang="ko-KR" altLang="en-US" sz="1400" dirty="0">
                <a:latin typeface="+mn-ea"/>
              </a:rPr>
              <a:t> 이력 데이터를 혼합하여 관리하는 기본적인 모델은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6.29]</a:t>
            </a:r>
            <a:r>
              <a:rPr lang="ko-KR" altLang="en-US" sz="1400" dirty="0">
                <a:latin typeface="+mn-ea"/>
              </a:rPr>
              <a:t>와 같다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C4952B8-D2C0-7A4E-C664-AFB9217ED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512" y="1945497"/>
            <a:ext cx="1562318" cy="172426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3948D22-6BB6-EAFA-BFAF-D03119DCD8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6255" y="4553882"/>
            <a:ext cx="1952898" cy="157184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335BAD8-F293-3B83-30DB-BF30BB7F81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5454" y="4268430"/>
            <a:ext cx="4744112" cy="981212"/>
          </a:xfrm>
          <a:prstGeom prst="rect">
            <a:avLst/>
          </a:prstGeom>
        </p:spPr>
      </p:pic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33095CB-5565-50FF-E723-C18B92BDFA51}"/>
              </a:ext>
            </a:extLst>
          </p:cNvPr>
          <p:cNvSpPr/>
          <p:nvPr/>
        </p:nvSpPr>
        <p:spPr>
          <a:xfrm>
            <a:off x="6472648" y="4714453"/>
            <a:ext cx="653143" cy="182880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연결선: 구부러짐 18">
            <a:extLst>
              <a:ext uri="{FF2B5EF4-FFF2-40B4-BE49-F238E27FC236}">
                <a16:creationId xmlns:a16="http://schemas.microsoft.com/office/drawing/2014/main" id="{A0CEECA5-1FF7-F4FA-203A-137471895AAA}"/>
              </a:ext>
            </a:extLst>
          </p:cNvPr>
          <p:cNvCxnSpPr>
            <a:cxnSpLocks/>
            <a:stCxn id="18" idx="3"/>
            <a:endCxn id="22" idx="3"/>
          </p:cNvCxnSpPr>
          <p:nvPr/>
        </p:nvCxnSpPr>
        <p:spPr>
          <a:xfrm flipH="1">
            <a:off x="7123297" y="4805893"/>
            <a:ext cx="2494" cy="916878"/>
          </a:xfrm>
          <a:prstGeom prst="curvedConnector3">
            <a:avLst>
              <a:gd name="adj1" fmla="val -9165998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FAD933F-54EC-F40A-88BC-B261A387DAEB}"/>
              </a:ext>
            </a:extLst>
          </p:cNvPr>
          <p:cNvSpPr/>
          <p:nvPr/>
        </p:nvSpPr>
        <p:spPr>
          <a:xfrm>
            <a:off x="6470154" y="5631331"/>
            <a:ext cx="653143" cy="182880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026EF8B-889A-3356-5169-6BA867BA8393}"/>
              </a:ext>
            </a:extLst>
          </p:cNvPr>
          <p:cNvSpPr/>
          <p:nvPr/>
        </p:nvSpPr>
        <p:spPr>
          <a:xfrm>
            <a:off x="3762818" y="5985915"/>
            <a:ext cx="4685464" cy="182880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연결선: 구부러짐 25">
            <a:extLst>
              <a:ext uri="{FF2B5EF4-FFF2-40B4-BE49-F238E27FC236}">
                <a16:creationId xmlns:a16="http://schemas.microsoft.com/office/drawing/2014/main" id="{B60D09B4-47D1-BD02-DC4F-59A1E7FE7636}"/>
              </a:ext>
            </a:extLst>
          </p:cNvPr>
          <p:cNvCxnSpPr>
            <a:cxnSpLocks/>
            <a:stCxn id="18" idx="1"/>
            <a:endCxn id="25" idx="0"/>
          </p:cNvCxnSpPr>
          <p:nvPr/>
        </p:nvCxnSpPr>
        <p:spPr>
          <a:xfrm rot="10800000" flipV="1">
            <a:off x="6105550" y="4805893"/>
            <a:ext cx="367098" cy="118002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4" name="그림 33">
            <a:extLst>
              <a:ext uri="{FF2B5EF4-FFF2-40B4-BE49-F238E27FC236}">
                <a16:creationId xmlns:a16="http://schemas.microsoft.com/office/drawing/2014/main" id="{0C66D42E-0626-FAE0-0EAD-38B91168AB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9499" y="4249039"/>
            <a:ext cx="2000529" cy="1876687"/>
          </a:xfrm>
          <a:prstGeom prst="rect">
            <a:avLst/>
          </a:prstGeom>
        </p:spPr>
      </p:pic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F628446E-ECD8-8ED8-B560-EB3D83E7D1BF}"/>
              </a:ext>
            </a:extLst>
          </p:cNvPr>
          <p:cNvSpPr/>
          <p:nvPr/>
        </p:nvSpPr>
        <p:spPr>
          <a:xfrm>
            <a:off x="9584047" y="4609563"/>
            <a:ext cx="653143" cy="182880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26DFEA3-3B53-1E35-23F7-CB2037C83059}"/>
              </a:ext>
            </a:extLst>
          </p:cNvPr>
          <p:cNvSpPr txBox="1"/>
          <p:nvPr/>
        </p:nvSpPr>
        <p:spPr>
          <a:xfrm>
            <a:off x="10702301" y="4307661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>
                <a:solidFill>
                  <a:srgbClr val="FF0000"/>
                </a:solidFill>
              </a:rPr>
              <a:t>인조식별자</a:t>
            </a:r>
          </a:p>
        </p:txBody>
      </p:sp>
      <p:cxnSp>
        <p:nvCxnSpPr>
          <p:cNvPr id="39" name="연결선: 구부러짐 38">
            <a:extLst>
              <a:ext uri="{FF2B5EF4-FFF2-40B4-BE49-F238E27FC236}">
                <a16:creationId xmlns:a16="http://schemas.microsoft.com/office/drawing/2014/main" id="{D65A6158-8B46-3E24-F724-CEC7819DA38A}"/>
              </a:ext>
            </a:extLst>
          </p:cNvPr>
          <p:cNvCxnSpPr>
            <a:cxnSpLocks/>
            <a:stCxn id="38" idx="2"/>
            <a:endCxn id="37" idx="3"/>
          </p:cNvCxnSpPr>
          <p:nvPr/>
        </p:nvCxnSpPr>
        <p:spPr>
          <a:xfrm rot="5400000">
            <a:off x="10602653" y="4188420"/>
            <a:ext cx="147121" cy="87804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866D0EC7-22A0-E494-BE60-CE52F21418D3}"/>
              </a:ext>
            </a:extLst>
          </p:cNvPr>
          <p:cNvSpPr/>
          <p:nvPr/>
        </p:nvSpPr>
        <p:spPr>
          <a:xfrm>
            <a:off x="4258769" y="4371669"/>
            <a:ext cx="735164" cy="1876646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51FC71AA-3878-A49E-8A5A-D01F2C4B4E9C}"/>
              </a:ext>
            </a:extLst>
          </p:cNvPr>
          <p:cNvSpPr/>
          <p:nvPr/>
        </p:nvSpPr>
        <p:spPr>
          <a:xfrm>
            <a:off x="6718227" y="2305500"/>
            <a:ext cx="653143" cy="182880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연결선: 구부러짐 47">
            <a:extLst>
              <a:ext uri="{FF2B5EF4-FFF2-40B4-BE49-F238E27FC236}">
                <a16:creationId xmlns:a16="http://schemas.microsoft.com/office/drawing/2014/main" id="{26F41573-E553-6845-E2FF-11BFE1BA4DF1}"/>
              </a:ext>
            </a:extLst>
          </p:cNvPr>
          <p:cNvCxnSpPr>
            <a:cxnSpLocks/>
            <a:stCxn id="47" idx="1"/>
            <a:endCxn id="44" idx="0"/>
          </p:cNvCxnSpPr>
          <p:nvPr/>
        </p:nvCxnSpPr>
        <p:spPr>
          <a:xfrm rot="10800000" flipV="1">
            <a:off x="4626351" y="2396939"/>
            <a:ext cx="2091876" cy="197472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84C1A1D-0D69-5906-26E1-6B7E93B90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449832"/>
            <a:ext cx="2743200" cy="365125"/>
          </a:xfrm>
        </p:spPr>
        <p:txBody>
          <a:bodyPr/>
          <a:lstStyle/>
          <a:p>
            <a:fld id="{6414D9B4-A085-4D58-9827-DD73C3602634}" type="slidenum">
              <a:rPr lang="ko-KR" altLang="en-US" smtClean="0"/>
              <a:pPr/>
              <a:t>265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64D711-0E95-4707-846D-BAA2B6E8428D}"/>
              </a:ext>
            </a:extLst>
          </p:cNvPr>
          <p:cNvSpPr txBox="1"/>
          <p:nvPr/>
        </p:nvSpPr>
        <p:spPr>
          <a:xfrm>
            <a:off x="1752140" y="4336900"/>
            <a:ext cx="909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[</a:t>
            </a:r>
            <a:r>
              <a:rPr lang="ko-KR" altLang="en-US" sz="1200" b="1" dirty="0">
                <a:solidFill>
                  <a:srgbClr val="FF0000"/>
                </a:solidFill>
              </a:rPr>
              <a:t>계좌기본</a:t>
            </a:r>
            <a:r>
              <a:rPr lang="en-US" altLang="ko-KR" sz="1200" b="1" dirty="0">
                <a:solidFill>
                  <a:srgbClr val="FF0000"/>
                </a:solidFill>
              </a:rPr>
              <a:t>]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30F3BA-9119-4883-874A-711DB7D9BDB6}"/>
              </a:ext>
            </a:extLst>
          </p:cNvPr>
          <p:cNvSpPr txBox="1"/>
          <p:nvPr/>
        </p:nvSpPr>
        <p:spPr>
          <a:xfrm>
            <a:off x="9389124" y="4010164"/>
            <a:ext cx="909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[</a:t>
            </a:r>
            <a:r>
              <a:rPr lang="ko-KR" altLang="en-US" sz="1200" b="1" dirty="0">
                <a:solidFill>
                  <a:srgbClr val="FF0000"/>
                </a:solidFill>
              </a:rPr>
              <a:t>계좌내역</a:t>
            </a:r>
            <a:r>
              <a:rPr lang="en-US" altLang="ko-KR" sz="1200" b="1" dirty="0">
                <a:solidFill>
                  <a:srgbClr val="FF0000"/>
                </a:solidFill>
              </a:rPr>
              <a:t>]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704370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6.6. </a:t>
            </a:r>
            <a:r>
              <a:rPr lang="ko-KR" altLang="en-US" sz="2400" dirty="0">
                <a:latin typeface="+mn-ea"/>
              </a:rPr>
              <a:t>이력 데이터를 설계하는 두 번째 방법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기준 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엔터티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기준 </a:t>
            </a:r>
            <a:r>
              <a:rPr lang="ko-KR" altLang="en-US" sz="1400" dirty="0" err="1">
                <a:latin typeface="+mn-ea"/>
              </a:rPr>
              <a:t>엔터티는</a:t>
            </a:r>
            <a:r>
              <a:rPr lang="ko-KR" altLang="en-US" sz="1400" dirty="0">
                <a:latin typeface="+mn-ea"/>
              </a:rPr>
              <a:t> 결과적으로 이 방법을 사용해서 이력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데이터를 설계하는 경우가 많다</a:t>
            </a:r>
            <a:r>
              <a:rPr lang="en-US" altLang="ko-KR" sz="1400" dirty="0">
                <a:latin typeface="+mn-ea"/>
              </a:rPr>
              <a:t>. 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6.33] </a:t>
            </a:r>
          </a:p>
          <a:p>
            <a:pPr lvl="1"/>
            <a:r>
              <a:rPr lang="ko-KR" altLang="en-US" sz="1400" dirty="0">
                <a:latin typeface="+mn-ea"/>
              </a:rPr>
              <a:t>모델은 환율의 원천 데이터를 설계한 </a:t>
            </a:r>
            <a:r>
              <a:rPr lang="ko-KR" altLang="en-US" sz="1400" dirty="0" err="1">
                <a:latin typeface="+mn-ea"/>
              </a:rPr>
              <a:t>엔터티다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+mj-ea"/>
              <a:buAutoNum type="circleNumDbPlain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기준 통화에 대한 대상 통화의 환율이 얼마인지를 관리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하는 원천 </a:t>
            </a:r>
            <a:r>
              <a:rPr lang="ko-KR" altLang="en-US" sz="1400" dirty="0" err="1">
                <a:latin typeface="+mn-ea"/>
              </a:rPr>
              <a:t>엔터티다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이에 대한 릴레이션은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</a:t>
            </a:r>
            <a:r>
              <a:rPr lang="en-US" altLang="ko-KR" sz="1400" dirty="0">
                <a:latin typeface="+mn-ea"/>
              </a:rPr>
              <a:t>6.34] </a:t>
            </a:r>
            <a:r>
              <a:rPr lang="ko-KR" altLang="en-US" sz="1400" dirty="0">
                <a:latin typeface="+mn-ea"/>
              </a:rPr>
              <a:t>와 같다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lvl="1"/>
            <a:endParaRPr lang="en-US" altLang="ko-KR" sz="1400" dirty="0">
              <a:latin typeface="+mn-ea"/>
            </a:endParaRPr>
          </a:p>
          <a:p>
            <a:pPr lvl="1"/>
            <a:endParaRPr lang="en-US" altLang="ko-KR" sz="14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변경되기 전의 환율을 관리해야 할 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변경 데이터를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하나의 </a:t>
            </a:r>
            <a:r>
              <a:rPr lang="ko-KR" altLang="en-US" sz="1400" dirty="0" err="1">
                <a:latin typeface="+mn-ea"/>
              </a:rPr>
              <a:t>엔터티에서</a:t>
            </a:r>
            <a:r>
              <a:rPr lang="ko-KR" altLang="en-US" sz="1400" dirty="0">
                <a:latin typeface="+mn-ea"/>
              </a:rPr>
              <a:t> 관리한다면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6.35] </a:t>
            </a:r>
            <a:r>
              <a:rPr lang="ko-KR" altLang="en-US" sz="1400" dirty="0">
                <a:latin typeface="+mn-ea"/>
              </a:rPr>
              <a:t>모델과 같이 설계한다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8F8072-B79D-C924-0F56-A9E025534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7467" y="2070949"/>
            <a:ext cx="1714739" cy="97168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D721FD8-8950-E453-06A6-119B8CB99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9270" y="2023318"/>
            <a:ext cx="2210108" cy="101931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8BAA45B-BD55-B613-07D8-9EA8336C0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7440" y="3529220"/>
            <a:ext cx="1914792" cy="111458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718E400-5DB7-87F8-6FD5-03E7620C90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7743" y="3500642"/>
            <a:ext cx="2953162" cy="113363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261226B-DE52-E945-8923-7B9CC07241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7743" y="5015899"/>
            <a:ext cx="2953162" cy="1114581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A98C6B2-DC01-66B0-4FB4-B3AE24449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266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1D6AF3-EFAF-4A62-A8A2-37C17DFAC54F}"/>
              </a:ext>
            </a:extLst>
          </p:cNvPr>
          <p:cNvSpPr txBox="1"/>
          <p:nvPr/>
        </p:nvSpPr>
        <p:spPr>
          <a:xfrm>
            <a:off x="9249165" y="3390720"/>
            <a:ext cx="21275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[</a:t>
            </a:r>
            <a:r>
              <a:rPr lang="ko-KR" altLang="en-US" sz="1200" b="1" dirty="0">
                <a:solidFill>
                  <a:srgbClr val="FF0000"/>
                </a:solidFill>
              </a:rPr>
              <a:t>내역 </a:t>
            </a:r>
            <a:r>
              <a:rPr lang="en-US" altLang="ko-KR" sz="1200" b="1" dirty="0">
                <a:solidFill>
                  <a:srgbClr val="FF0000"/>
                </a:solidFill>
              </a:rPr>
              <a:t>+ </a:t>
            </a:r>
            <a:r>
              <a:rPr lang="ko-KR" altLang="en-US" sz="1200" b="1" dirty="0">
                <a:solidFill>
                  <a:srgbClr val="FF0000"/>
                </a:solidFill>
              </a:rPr>
              <a:t>이력</a:t>
            </a:r>
            <a:r>
              <a:rPr lang="en-US" altLang="ko-KR" sz="1200" b="1" dirty="0">
                <a:solidFill>
                  <a:srgbClr val="FF0000"/>
                </a:solidFill>
              </a:rPr>
              <a:t>]  </a:t>
            </a:r>
            <a:r>
              <a:rPr lang="en-US" altLang="ko-KR" sz="1200" b="1" dirty="0">
                <a:solidFill>
                  <a:srgbClr val="FF0000"/>
                </a:solidFill>
                <a:sym typeface="Wingdings" panose="05000000000000000000" pitchFamily="2" charset="2"/>
              </a:rPr>
              <a:t> </a:t>
            </a:r>
            <a:r>
              <a:rPr lang="ko-KR" altLang="en-US" sz="1200" b="1" dirty="0">
                <a:solidFill>
                  <a:srgbClr val="FF0000"/>
                </a:solidFill>
                <a:sym typeface="Wingdings" panose="05000000000000000000" pitchFamily="2" charset="2"/>
              </a:rPr>
              <a:t>나쁜 모델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3FEA82-5927-4313-876A-5343781C74AE}"/>
              </a:ext>
            </a:extLst>
          </p:cNvPr>
          <p:cNvSpPr txBox="1"/>
          <p:nvPr/>
        </p:nvSpPr>
        <p:spPr>
          <a:xfrm>
            <a:off x="9292868" y="4877399"/>
            <a:ext cx="21275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[</a:t>
            </a:r>
            <a:r>
              <a:rPr lang="ko-KR" altLang="en-US" sz="1200" b="1" dirty="0">
                <a:solidFill>
                  <a:srgbClr val="FF0000"/>
                </a:solidFill>
              </a:rPr>
              <a:t>내역 </a:t>
            </a:r>
            <a:r>
              <a:rPr lang="en-US" altLang="ko-KR" sz="1200" b="1" dirty="0">
                <a:solidFill>
                  <a:srgbClr val="FF0000"/>
                </a:solidFill>
              </a:rPr>
              <a:t>+ </a:t>
            </a:r>
            <a:r>
              <a:rPr lang="ko-KR" altLang="en-US" sz="1200" b="1" dirty="0">
                <a:solidFill>
                  <a:srgbClr val="FF0000"/>
                </a:solidFill>
              </a:rPr>
              <a:t>이력</a:t>
            </a:r>
            <a:r>
              <a:rPr lang="en-US" altLang="ko-KR" sz="1200" b="1" dirty="0">
                <a:solidFill>
                  <a:srgbClr val="FF0000"/>
                </a:solidFill>
              </a:rPr>
              <a:t>]  </a:t>
            </a:r>
            <a:r>
              <a:rPr lang="en-US" altLang="ko-KR" sz="1200" b="1" dirty="0">
                <a:solidFill>
                  <a:srgbClr val="FF0000"/>
                </a:solidFill>
                <a:sym typeface="Wingdings" panose="05000000000000000000" pitchFamily="2" charset="2"/>
              </a:rPr>
              <a:t> </a:t>
            </a:r>
            <a:r>
              <a:rPr lang="ko-KR" altLang="en-US" sz="1200" b="1" dirty="0">
                <a:solidFill>
                  <a:srgbClr val="FF0000"/>
                </a:solidFill>
                <a:sym typeface="Wingdings" panose="05000000000000000000" pitchFamily="2" charset="2"/>
              </a:rPr>
              <a:t>좋은 모델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4495A9D-910F-4F44-A60F-D0C2E5C5A24F}"/>
              </a:ext>
            </a:extLst>
          </p:cNvPr>
          <p:cNvSpPr/>
          <p:nvPr/>
        </p:nvSpPr>
        <p:spPr>
          <a:xfrm>
            <a:off x="10584561" y="3667718"/>
            <a:ext cx="721869" cy="813887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B726CB4-C094-440B-95AE-CB8B2C4D6DFD}"/>
              </a:ext>
            </a:extLst>
          </p:cNvPr>
          <p:cNvSpPr/>
          <p:nvPr/>
        </p:nvSpPr>
        <p:spPr>
          <a:xfrm>
            <a:off x="10575417" y="5178947"/>
            <a:ext cx="731013" cy="755322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028509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6.6. </a:t>
            </a:r>
            <a:r>
              <a:rPr lang="ko-KR" altLang="en-US" sz="2400" dirty="0">
                <a:latin typeface="+mn-ea"/>
              </a:rPr>
              <a:t>이력 데이터를 설계하는 두 번째 방법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행위 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엔터티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6.38] </a:t>
            </a:r>
            <a:r>
              <a:rPr lang="ko-KR" altLang="en-US" sz="1400" dirty="0">
                <a:latin typeface="+mn-ea"/>
              </a:rPr>
              <a:t>주문 </a:t>
            </a:r>
            <a:r>
              <a:rPr lang="ko-KR" altLang="en-US" sz="1400" dirty="0" err="1">
                <a:latin typeface="+mn-ea"/>
              </a:rPr>
              <a:t>엔터티는</a:t>
            </a:r>
            <a:r>
              <a:rPr lang="ko-KR" altLang="en-US" sz="1400" dirty="0">
                <a:latin typeface="+mn-ea"/>
              </a:rPr>
              <a:t> 원천 </a:t>
            </a:r>
            <a:r>
              <a:rPr lang="ko-KR" altLang="en-US" sz="1400" dirty="0" err="1">
                <a:latin typeface="+mn-ea"/>
              </a:rPr>
              <a:t>엔터티이면서</a:t>
            </a:r>
            <a:r>
              <a:rPr lang="ko-KR" altLang="en-US" sz="1400" dirty="0">
                <a:latin typeface="+mn-ea"/>
              </a:rPr>
              <a:t> 행위 </a:t>
            </a:r>
            <a:r>
              <a:rPr lang="ko-KR" altLang="en-US" sz="1400" dirty="0" err="1">
                <a:latin typeface="+mn-ea"/>
              </a:rPr>
              <a:t>엔터티다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원천 데이터를 관리하는 주문 </a:t>
            </a:r>
            <a:r>
              <a:rPr lang="ko-KR" altLang="en-US" sz="1400" dirty="0" err="1">
                <a:latin typeface="+mn-ea"/>
              </a:rPr>
              <a:t>엔터티에</a:t>
            </a:r>
            <a:r>
              <a:rPr lang="ko-KR" altLang="en-US" sz="1400" dirty="0">
                <a:latin typeface="+mn-ea"/>
              </a:rPr>
              <a:t> 변경 데이터를 함께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관리한다면</a:t>
            </a:r>
            <a:r>
              <a:rPr lang="en-US" altLang="ko-KR" sz="1400" dirty="0">
                <a:latin typeface="+mn-ea"/>
              </a:rPr>
              <a:t>, 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6.39] </a:t>
            </a:r>
            <a:r>
              <a:rPr lang="ko-KR" altLang="en-US" sz="1400" dirty="0">
                <a:latin typeface="+mn-ea"/>
              </a:rPr>
              <a:t>주문 </a:t>
            </a:r>
            <a:r>
              <a:rPr lang="ko-KR" altLang="en-US" sz="1400" dirty="0" err="1">
                <a:latin typeface="+mn-ea"/>
              </a:rPr>
              <a:t>엔터티처럼</a:t>
            </a:r>
            <a:r>
              <a:rPr lang="ko-KR" altLang="en-US" sz="1400" dirty="0">
                <a:latin typeface="+mn-ea"/>
              </a:rPr>
              <a:t> 변경일자속성이 추가된다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lvl="1"/>
            <a:endParaRPr lang="en-US" altLang="ko-KR" sz="1400" dirty="0">
              <a:latin typeface="+mn-ea"/>
            </a:endParaRPr>
          </a:p>
          <a:p>
            <a:pPr lvl="1"/>
            <a:endParaRPr lang="en-US" altLang="ko-KR" sz="14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하위 </a:t>
            </a:r>
            <a:r>
              <a:rPr lang="ko-KR" altLang="en-US" sz="1400" dirty="0" err="1">
                <a:latin typeface="+mn-ea"/>
              </a:rPr>
              <a:t>엔터티가</a:t>
            </a:r>
            <a:r>
              <a:rPr lang="ko-KR" altLang="en-US" sz="1400" dirty="0">
                <a:latin typeface="+mn-ea"/>
              </a:rPr>
              <a:t> 없더라도 행위 </a:t>
            </a:r>
            <a:r>
              <a:rPr lang="ko-KR" altLang="en-US" sz="1400" dirty="0" err="1">
                <a:latin typeface="+mn-ea"/>
              </a:rPr>
              <a:t>엔터티에는</a:t>
            </a:r>
            <a:r>
              <a:rPr lang="ko-KR" altLang="en-US" sz="1400" dirty="0">
                <a:latin typeface="+mn-ea"/>
              </a:rPr>
              <a:t> 많은 속성과 인스턴스가 존재하기 때문에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6.39] </a:t>
            </a:r>
            <a:r>
              <a:rPr lang="ko-KR" altLang="en-US" sz="1400" dirty="0">
                <a:latin typeface="+mn-ea"/>
              </a:rPr>
              <a:t>모델과 같이 데이터를 관리하면 많은 중복이 발생해서 바람직하지 않다</a:t>
            </a:r>
            <a:r>
              <a:rPr lang="en-US" altLang="ko-KR" sz="1400" dirty="0">
                <a:latin typeface="+mn-ea"/>
              </a:rPr>
              <a:t>. 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6.4</a:t>
            </a:r>
            <a:r>
              <a:rPr lang="ko-KR" altLang="en-US" sz="1400" dirty="0">
                <a:latin typeface="+mn-ea"/>
              </a:rPr>
              <a:t>이은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6.39] </a:t>
            </a:r>
            <a:r>
              <a:rPr lang="ko-KR" altLang="en-US" sz="1400" dirty="0">
                <a:latin typeface="+mn-ea"/>
              </a:rPr>
              <a:t>모델에 대한 릴레이션으로 ‘</a:t>
            </a:r>
            <a:r>
              <a:rPr lang="en-US" altLang="ko-KR" sz="1400" dirty="0">
                <a:latin typeface="+mn-ea"/>
              </a:rPr>
              <a:t>100’ </a:t>
            </a:r>
            <a:r>
              <a:rPr lang="ko-KR" altLang="en-US" sz="1400" dirty="0">
                <a:latin typeface="+mn-ea"/>
              </a:rPr>
              <a:t>번 주문은 원천 데이터다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따라서 변경일자 속성 값은 ‘</a:t>
            </a:r>
            <a:r>
              <a:rPr lang="en-US" altLang="ko-KR" sz="1400" dirty="0">
                <a:latin typeface="+mn-ea"/>
              </a:rPr>
              <a:t>9999-12-31’</a:t>
            </a:r>
            <a:r>
              <a:rPr lang="ko-KR" altLang="en-US" sz="1400" dirty="0">
                <a:latin typeface="+mn-ea"/>
              </a:rPr>
              <a:t>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이 주문의 배송주소는  ‘서울’ 이고 두 개의 상품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en-US" altLang="ko-KR" sz="1400" dirty="0">
                <a:latin typeface="+mn-ea"/>
              </a:rPr>
              <a:t>(1010, 1020)</a:t>
            </a:r>
            <a:r>
              <a:rPr lang="ko-KR" altLang="en-US" sz="1400" dirty="0">
                <a:latin typeface="+mn-ea"/>
              </a:rPr>
              <a:t>을 주문했다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그런데 </a:t>
            </a:r>
            <a:r>
              <a:rPr lang="en-US" altLang="ko-KR" sz="1400" dirty="0">
                <a:latin typeface="+mn-ea"/>
              </a:rPr>
              <a:t>3</a:t>
            </a:r>
            <a:r>
              <a:rPr lang="ko-KR" altLang="en-US" sz="1400" dirty="0">
                <a:latin typeface="+mn-ea"/>
              </a:rPr>
              <a:t>월 </a:t>
            </a:r>
            <a:r>
              <a:rPr lang="en-US" altLang="ko-KR" sz="1400" dirty="0">
                <a:latin typeface="+mn-ea"/>
              </a:rPr>
              <a:t>16</a:t>
            </a:r>
            <a:r>
              <a:rPr lang="ko-KR" altLang="en-US" sz="1400" dirty="0">
                <a:latin typeface="+mn-ea"/>
              </a:rPr>
              <a:t>일에 배송주소를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‘서울’ 에서  ‘경기도’ 로 변경하면</a:t>
            </a:r>
            <a:r>
              <a:rPr lang="en-US" altLang="ko-KR" sz="1400" dirty="0">
                <a:latin typeface="+mn-ea"/>
              </a:rPr>
              <a:t>, 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6.41] </a:t>
            </a:r>
            <a:r>
              <a:rPr lang="ko-KR" altLang="en-US" sz="1400" dirty="0">
                <a:latin typeface="+mn-ea"/>
              </a:rPr>
              <a:t>주문 릴레이션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같이 새로운 인스턴스가 생성된다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4422B9A-839E-6C78-0C79-808B84045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808" y="2246475"/>
            <a:ext cx="2514951" cy="127652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8CA66B3-440F-66C9-9A51-653F87BDD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74" y="2065475"/>
            <a:ext cx="2524477" cy="145752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02540C7-A68B-2EB6-61AA-9CF3C0474E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825" y="4631733"/>
            <a:ext cx="4363059" cy="1705213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98E578B-2F94-83BC-889A-E50093936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267</a:t>
            </a:fld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C65295-9726-4F23-A13C-B4986AC9A84E}"/>
              </a:ext>
            </a:extLst>
          </p:cNvPr>
          <p:cNvSpPr txBox="1"/>
          <p:nvPr/>
        </p:nvSpPr>
        <p:spPr>
          <a:xfrm>
            <a:off x="9648669" y="1788476"/>
            <a:ext cx="23599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sym typeface="Wingdings" panose="05000000000000000000" pitchFamily="2" charset="2"/>
              </a:rPr>
              <a:t>나쁜 모델  그림</a:t>
            </a:r>
            <a:r>
              <a:rPr lang="en-US" altLang="ko-KR" sz="1200" b="1" dirty="0">
                <a:solidFill>
                  <a:srgbClr val="FF0000"/>
                </a:solidFill>
                <a:sym typeface="Wingdings" panose="05000000000000000000" pitchFamily="2" charset="2"/>
              </a:rPr>
              <a:t>[6.26]</a:t>
            </a:r>
            <a:r>
              <a:rPr lang="ko-KR" altLang="en-US" sz="1200" b="1" dirty="0">
                <a:solidFill>
                  <a:srgbClr val="FF0000"/>
                </a:solidFill>
                <a:sym typeface="Wingdings" panose="05000000000000000000" pitchFamily="2" charset="2"/>
              </a:rPr>
              <a:t>처럼 설계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5CA898C-71A6-4E59-B8AC-C385617F0DD6}"/>
              </a:ext>
            </a:extLst>
          </p:cNvPr>
          <p:cNvSpPr/>
          <p:nvPr/>
        </p:nvSpPr>
        <p:spPr>
          <a:xfrm>
            <a:off x="10862770" y="2475791"/>
            <a:ext cx="1151581" cy="277000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1908893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6.6. </a:t>
            </a:r>
            <a:r>
              <a:rPr lang="ko-KR" altLang="en-US" sz="2400" dirty="0">
                <a:latin typeface="+mn-ea"/>
              </a:rPr>
              <a:t>이력 데이터를 설계하는 두 번째 방법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행위 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엔터티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이때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6.41] </a:t>
            </a:r>
            <a:r>
              <a:rPr lang="ko-KR" altLang="en-US" sz="1400" dirty="0">
                <a:latin typeface="+mn-ea"/>
              </a:rPr>
              <a:t>주문상품 릴레이션의 변경일자 속성의 의미가 모호해진다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만약 주문상품 </a:t>
            </a:r>
            <a:r>
              <a:rPr lang="ko-KR" altLang="en-US" sz="1400" dirty="0" err="1">
                <a:latin typeface="+mn-ea"/>
              </a:rPr>
              <a:t>엔터티에</a:t>
            </a:r>
            <a:r>
              <a:rPr lang="ko-KR" altLang="en-US" sz="1400" dirty="0">
                <a:latin typeface="+mn-ea"/>
              </a:rPr>
              <a:t> 대해서도 변경 데이터를 관리한다면 모델이 더욱 혼란스러워진다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따라서 하위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자식</a:t>
            </a:r>
            <a:r>
              <a:rPr lang="en-US" altLang="ko-KR" sz="1400" dirty="0">
                <a:latin typeface="+mn-ea"/>
              </a:rPr>
              <a:t>) </a:t>
            </a:r>
            <a:r>
              <a:rPr lang="ko-KR" altLang="en-US" sz="1400" dirty="0" err="1">
                <a:latin typeface="+mn-ea"/>
              </a:rPr>
              <a:t>엔터티가</a:t>
            </a:r>
            <a:r>
              <a:rPr lang="ko-KR" altLang="en-US" sz="1400" dirty="0">
                <a:latin typeface="+mn-ea"/>
              </a:rPr>
              <a:t> 존재할 때 원천 데이터와 변경 데이터를 함께 관리하는 것은 바람직하지 않다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하지만 만약 원천 데이터와 변경 데이터를 같이 조회하는 요건이 매우 중요하다면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행위 </a:t>
            </a:r>
            <a:r>
              <a:rPr lang="ko-KR" altLang="en-US" sz="1400" dirty="0" err="1">
                <a:latin typeface="+mn-ea"/>
              </a:rPr>
              <a:t>엔터티라도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6.39] </a:t>
            </a:r>
            <a:r>
              <a:rPr lang="ko-KR" altLang="en-US" sz="1400" dirty="0">
                <a:latin typeface="+mn-ea"/>
              </a:rPr>
              <a:t>주문 </a:t>
            </a:r>
            <a:r>
              <a:rPr lang="ko-KR" altLang="en-US" sz="1400" dirty="0" err="1">
                <a:latin typeface="+mn-ea"/>
              </a:rPr>
              <a:t>엔터티와</a:t>
            </a:r>
            <a:r>
              <a:rPr lang="ko-KR" altLang="en-US" sz="1400" dirty="0">
                <a:latin typeface="+mn-ea"/>
              </a:rPr>
              <a:t> 같이 하나의 </a:t>
            </a:r>
            <a:r>
              <a:rPr lang="ko-KR" altLang="en-US" sz="1400" dirty="0" err="1">
                <a:latin typeface="+mn-ea"/>
              </a:rPr>
              <a:t>엔터티에서</a:t>
            </a:r>
            <a:r>
              <a:rPr lang="ko-KR" altLang="en-US" sz="1400" dirty="0">
                <a:latin typeface="+mn-ea"/>
              </a:rPr>
              <a:t> 관리하기도 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이때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6.41] </a:t>
            </a:r>
            <a:r>
              <a:rPr lang="ko-KR" altLang="en-US" sz="1400" dirty="0">
                <a:latin typeface="+mn-ea"/>
              </a:rPr>
              <a:t>주문상품 릴레이션의 변경일자 속성의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의미가 모호해진다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만약 주문상품 </a:t>
            </a:r>
            <a:r>
              <a:rPr lang="ko-KR" altLang="en-US" sz="1400" dirty="0" err="1">
                <a:latin typeface="+mn-ea"/>
              </a:rPr>
              <a:t>엔터티에</a:t>
            </a:r>
            <a:r>
              <a:rPr lang="ko-KR" altLang="en-US" sz="1400" dirty="0">
                <a:latin typeface="+mn-ea"/>
              </a:rPr>
              <a:t> 대해서도 변경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데이터를 관리한다면 모델이 더욱 혼란스러워진다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lvl="1"/>
            <a:endParaRPr lang="en-US" altLang="ko-KR" sz="14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따라서 하위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자식</a:t>
            </a:r>
            <a:r>
              <a:rPr lang="en-US" altLang="ko-KR" sz="1400" dirty="0">
                <a:latin typeface="+mn-ea"/>
              </a:rPr>
              <a:t>) </a:t>
            </a:r>
            <a:r>
              <a:rPr lang="ko-KR" altLang="en-US" sz="1400" dirty="0" err="1">
                <a:latin typeface="+mn-ea"/>
              </a:rPr>
              <a:t>엔터티가</a:t>
            </a:r>
            <a:r>
              <a:rPr lang="ko-KR" altLang="en-US" sz="1400" dirty="0">
                <a:latin typeface="+mn-ea"/>
              </a:rPr>
              <a:t> 존재할 때 원천 데이터와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변경 데이터를 함께 관리하는 것은 바람직하지 않다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하지만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만약 원천 데이터와 변경 데이터를 같이 조회하는 요건이 매우 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중요하다면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행위 </a:t>
            </a:r>
            <a:r>
              <a:rPr lang="ko-KR" altLang="en-US" sz="1400" dirty="0" err="1">
                <a:latin typeface="+mn-ea"/>
              </a:rPr>
              <a:t>엔터티라도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6.39] </a:t>
            </a:r>
            <a:r>
              <a:rPr lang="ko-KR" altLang="en-US" sz="1400" dirty="0">
                <a:latin typeface="+mn-ea"/>
              </a:rPr>
              <a:t>주문 </a:t>
            </a:r>
            <a:r>
              <a:rPr lang="ko-KR" altLang="en-US" sz="1400" dirty="0" err="1">
                <a:latin typeface="+mn-ea"/>
              </a:rPr>
              <a:t>엔터티와</a:t>
            </a:r>
            <a:r>
              <a:rPr lang="ko-KR" altLang="en-US" sz="1400" dirty="0">
                <a:latin typeface="+mn-ea"/>
              </a:rPr>
              <a:t> 같이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하나의 </a:t>
            </a:r>
            <a:r>
              <a:rPr lang="ko-KR" altLang="en-US" sz="1400" dirty="0" err="1">
                <a:latin typeface="+mn-ea"/>
              </a:rPr>
              <a:t>엔터티에서</a:t>
            </a:r>
            <a:r>
              <a:rPr lang="ko-KR" altLang="en-US" sz="1400" dirty="0">
                <a:latin typeface="+mn-ea"/>
              </a:rPr>
              <a:t> 관리하기도 한다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72F1CEC-006C-79CE-C2CC-F97CA42AC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2033" y="3551824"/>
            <a:ext cx="4363059" cy="1810003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C1DD54D-B65E-30C9-E78F-8675B7F31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268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1895604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6.7. </a:t>
            </a:r>
            <a:r>
              <a:rPr lang="ko-KR" altLang="en-US" sz="2400" dirty="0">
                <a:latin typeface="+mn-ea"/>
              </a:rPr>
              <a:t>이력 데이터를 설계하는 세 번째 방법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속성 단위로 이력 데이터를 설계</a:t>
            </a:r>
            <a:r>
              <a:rPr lang="ko-KR" altLang="en-US" sz="1600" b="1" dirty="0">
                <a:latin typeface="+mn-ea"/>
              </a:rPr>
              <a:t>하는 방법</a:t>
            </a:r>
            <a:endParaRPr lang="en-US" altLang="ko-KR" sz="1600" b="1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</a:rPr>
              <a:t>변경 데이터를 별도의 </a:t>
            </a:r>
            <a:r>
              <a:rPr lang="ko-KR" altLang="en-US" sz="1600" b="1" dirty="0" err="1">
                <a:latin typeface="+mn-ea"/>
              </a:rPr>
              <a:t>엔터티에서</a:t>
            </a:r>
            <a:r>
              <a:rPr lang="ko-KR" altLang="en-US" sz="1600" b="1" dirty="0">
                <a:latin typeface="+mn-ea"/>
              </a:rPr>
              <a:t> 관리하는 방법 </a:t>
            </a:r>
            <a:endParaRPr lang="en-US" altLang="ko-KR" sz="1600" b="1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</a:rPr>
              <a:t>변경 데이터를 원천 데이터와 함께 관리하는 방법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6.42] </a:t>
            </a:r>
            <a:r>
              <a:rPr lang="ko-KR" altLang="en-US" sz="1600" b="1" dirty="0">
                <a:latin typeface="+mn-ea"/>
              </a:rPr>
              <a:t>모델은 계좌를 관리하는 원천 </a:t>
            </a:r>
            <a:r>
              <a:rPr lang="ko-KR" altLang="en-US" sz="1600" b="1" dirty="0" err="1">
                <a:latin typeface="+mn-ea"/>
              </a:rPr>
              <a:t>엔터티다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6.43] </a:t>
            </a:r>
            <a:r>
              <a:rPr lang="ko-KR" altLang="en-US" sz="1600" b="1" dirty="0">
                <a:latin typeface="+mn-ea"/>
              </a:rPr>
              <a:t>모델처럼 계좌비밀번호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속성 하나만을 별도의 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엔터티에서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 이력 관리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6.42] </a:t>
            </a:r>
            <a:r>
              <a:rPr lang="ko-KR" altLang="en-US" sz="1600" b="1" dirty="0">
                <a:latin typeface="+mn-ea"/>
              </a:rPr>
              <a:t>모델과는 다르게 계좌비밀번호를 관리하는 원본 속성을 </a:t>
            </a: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6.44] </a:t>
            </a:r>
            <a:r>
              <a:rPr lang="ko-KR" altLang="en-US" sz="1600" b="1" dirty="0">
                <a:latin typeface="+mn-ea"/>
              </a:rPr>
              <a:t>모델과 같이 설계할 수 있다</a:t>
            </a:r>
            <a:r>
              <a:rPr lang="en-US" altLang="ko-KR" sz="1600" b="1" dirty="0">
                <a:latin typeface="+mn-ea"/>
              </a:rPr>
              <a:t>.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B9F320C-192D-711E-49EA-6CE0C1C8A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452" y="3610685"/>
            <a:ext cx="1352739" cy="155279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0C61BC2-6A11-F3F9-A2FB-E7D96DA4E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568" y="3620212"/>
            <a:ext cx="2772162" cy="154326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3AB8A90-FAF6-3EB3-0498-8C6196B0E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3107" y="3725001"/>
            <a:ext cx="2734057" cy="1438476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96129A2-C23D-2D09-02C3-960EB8521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269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5379904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6.7. </a:t>
            </a:r>
            <a:r>
              <a:rPr lang="ko-KR" altLang="en-US" sz="2400" dirty="0">
                <a:latin typeface="+mn-ea"/>
              </a:rPr>
              <a:t>이력 데이터를 설계하는 세 번째 방법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계좌비밀번호에 대한 원천 </a:t>
            </a: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6.44] </a:t>
            </a:r>
            <a:r>
              <a:rPr lang="ko-KR" altLang="en-US" sz="1600" b="1" dirty="0">
                <a:latin typeface="+mn-ea"/>
              </a:rPr>
              <a:t>모델과 같이 설계했다면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변경 데이터를 별도의 </a:t>
            </a:r>
            <a:r>
              <a:rPr lang="ko-KR" altLang="en-US" sz="1600" b="1" dirty="0" err="1">
                <a:latin typeface="+mn-ea"/>
              </a:rPr>
              <a:t>엔터티에서</a:t>
            </a:r>
            <a:r>
              <a:rPr lang="ko-KR" altLang="en-US" sz="1600" b="1" dirty="0">
                <a:latin typeface="+mn-ea"/>
              </a:rPr>
              <a:t> 관리할 때의 계좌비밀번호에 대한 이력 모델은 </a:t>
            </a: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6.45] </a:t>
            </a:r>
            <a:r>
              <a:rPr lang="ko-KR" altLang="en-US" sz="1600" b="1" dirty="0">
                <a:latin typeface="+mn-ea"/>
              </a:rPr>
              <a:t>와 같다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6.44] </a:t>
            </a:r>
            <a:r>
              <a:rPr lang="ko-KR" altLang="en-US" sz="1600" b="1" dirty="0">
                <a:latin typeface="+mn-ea"/>
              </a:rPr>
              <a:t>모델과 유사하게 계좌비밀번호에 대한 원천 </a:t>
            </a: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6.46] </a:t>
            </a:r>
            <a:r>
              <a:rPr lang="ko-KR" altLang="en-US" sz="1600" b="1" dirty="0">
                <a:latin typeface="+mn-ea"/>
              </a:rPr>
              <a:t>과 같이 설계할 수도 있다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원천 </a:t>
            </a:r>
            <a:r>
              <a:rPr lang="ko-KR" altLang="en-US" sz="1600" b="1" dirty="0" err="1">
                <a:latin typeface="+mn-ea"/>
              </a:rPr>
              <a:t>엔터티가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6.46] </a:t>
            </a:r>
            <a:r>
              <a:rPr lang="ko-KR" altLang="en-US" sz="1600" b="1" dirty="0">
                <a:latin typeface="+mn-ea"/>
              </a:rPr>
              <a:t>모델과 같을 때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원천 </a:t>
            </a:r>
            <a:r>
              <a:rPr lang="ko-KR" altLang="en-US" sz="1600" b="1" dirty="0" err="1">
                <a:latin typeface="+mn-ea"/>
              </a:rPr>
              <a:t>엔터티와</a:t>
            </a:r>
            <a:r>
              <a:rPr lang="ko-KR" altLang="en-US" sz="1600" b="1" dirty="0">
                <a:latin typeface="+mn-ea"/>
              </a:rPr>
              <a:t> 이력 </a:t>
            </a: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별개로 설계한 모델은 </a:t>
            </a: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6.47]</a:t>
            </a:r>
            <a:r>
              <a:rPr lang="ko-KR" altLang="en-US" sz="1600" b="1" dirty="0">
                <a:latin typeface="+mn-ea"/>
              </a:rPr>
              <a:t>과 같다</a:t>
            </a:r>
            <a:r>
              <a:rPr lang="en-US" altLang="ko-KR" sz="1600" b="1" dirty="0">
                <a:latin typeface="+mn-ea"/>
              </a:rPr>
              <a:t>.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3AB8A90-FAF6-3EB3-0498-8C6196B0E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574" y="2731176"/>
            <a:ext cx="2734057" cy="143847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F65FAB7-B2F0-098C-A8BE-F0F1FE713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921" y="2735940"/>
            <a:ext cx="4039164" cy="14289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F438452-43C7-77E3-98A7-BA21A10EE4B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2" r="-2"/>
          <a:stretch/>
        </p:blipFill>
        <p:spPr>
          <a:xfrm>
            <a:off x="3239904" y="4409811"/>
            <a:ext cx="2851564" cy="1267002"/>
          </a:xfrm>
          <a:prstGeom prst="rect">
            <a:avLst/>
          </a:prstGeom>
        </p:spPr>
      </p:pic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D56C8349-B17E-9151-9067-96E2402FD499}"/>
              </a:ext>
            </a:extLst>
          </p:cNvPr>
          <p:cNvCxnSpPr>
            <a:cxnSpLocks/>
            <a:stCxn id="12" idx="3"/>
            <a:endCxn id="4" idx="1"/>
          </p:cNvCxnSpPr>
          <p:nvPr/>
        </p:nvCxnSpPr>
        <p:spPr>
          <a:xfrm>
            <a:off x="4008631" y="3450414"/>
            <a:ext cx="587290" cy="1"/>
          </a:xfrm>
          <a:prstGeom prst="bentConnector3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335A1C41-20F4-64A8-3529-9A601DA0A306}"/>
              </a:ext>
            </a:extLst>
          </p:cNvPr>
          <p:cNvCxnSpPr>
            <a:cxnSpLocks/>
            <a:stCxn id="12" idx="2"/>
            <a:endCxn id="11" idx="1"/>
          </p:cNvCxnSpPr>
          <p:nvPr/>
        </p:nvCxnSpPr>
        <p:spPr>
          <a:xfrm rot="16200000" flipH="1">
            <a:off x="2503923" y="4307331"/>
            <a:ext cx="873660" cy="598301"/>
          </a:xfrm>
          <a:prstGeom prst="bentConnector2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그림 20">
            <a:extLst>
              <a:ext uri="{FF2B5EF4-FFF2-40B4-BE49-F238E27FC236}">
                <a16:creationId xmlns:a16="http://schemas.microsoft.com/office/drawing/2014/main" id="{BB4F1468-13EB-8AB0-F457-A39989D0EB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5770" y="4419338"/>
            <a:ext cx="4563112" cy="1247949"/>
          </a:xfrm>
          <a:prstGeom prst="rect">
            <a:avLst/>
          </a:prstGeom>
        </p:spPr>
      </p:pic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97C3A3B2-36E3-2A79-84FD-EA44827BF5B3}"/>
              </a:ext>
            </a:extLst>
          </p:cNvPr>
          <p:cNvCxnSpPr>
            <a:cxnSpLocks/>
            <a:stCxn id="11" idx="3"/>
            <a:endCxn id="21" idx="1"/>
          </p:cNvCxnSpPr>
          <p:nvPr/>
        </p:nvCxnSpPr>
        <p:spPr>
          <a:xfrm>
            <a:off x="6091468" y="5043312"/>
            <a:ext cx="634302" cy="1"/>
          </a:xfrm>
          <a:prstGeom prst="bentConnector3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1AB80AA-92F4-22F8-0378-A76D30C61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270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3315953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6.8. </a:t>
            </a:r>
            <a:r>
              <a:rPr lang="ko-KR" altLang="en-US" sz="2400" dirty="0">
                <a:latin typeface="+mn-ea"/>
              </a:rPr>
              <a:t>이력 데이터를 설계하는 네 번째 방법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이력 데이터를 설계하는 네 번째 방법은 특정 속성의 원천 데이터를 별도의 </a:t>
            </a:r>
            <a:r>
              <a:rPr lang="ko-KR" altLang="en-US" sz="1600" b="1" dirty="0" err="1">
                <a:latin typeface="+mn-ea"/>
              </a:rPr>
              <a:t>엔터티에서</a:t>
            </a:r>
            <a:r>
              <a:rPr lang="ko-KR" altLang="en-US" sz="1600" b="1" dirty="0">
                <a:latin typeface="+mn-ea"/>
              </a:rPr>
              <a:t> 관리하면서</a:t>
            </a:r>
            <a:r>
              <a:rPr lang="en-US" altLang="ko-KR" sz="1600" b="1" dirty="0">
                <a:latin typeface="+mn-ea"/>
              </a:rPr>
              <a:t>,</a:t>
            </a:r>
            <a:r>
              <a:rPr lang="ko-KR" altLang="en-US" sz="1600" b="1" dirty="0">
                <a:latin typeface="+mn-ea"/>
              </a:rPr>
              <a:t> 변경 데이터와 원천 데이터를 함께 관리하는 방법이다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이 방법은 설계할 때 혼란스러울 수 있어 주의해야 한다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계좌비밀번호 속성만을 별도로 관리하는 원천 </a:t>
            </a:r>
            <a:r>
              <a:rPr lang="ko-KR" altLang="en-US" sz="1600" b="1" dirty="0" err="1">
                <a:latin typeface="+mn-ea"/>
              </a:rPr>
              <a:t>엔터티는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6.48] </a:t>
            </a:r>
            <a:r>
              <a:rPr lang="ko-KR" altLang="en-US" sz="1600" b="1" dirty="0">
                <a:latin typeface="+mn-ea"/>
              </a:rPr>
              <a:t>모델과 같다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계좌비밀번호 속성이 자주 중요하게 사용돼서 계좌 </a:t>
            </a:r>
            <a:r>
              <a:rPr lang="ko-KR" altLang="en-US" sz="1600" b="1" dirty="0" err="1">
                <a:latin typeface="+mn-ea"/>
              </a:rPr>
              <a:t>엔터티와는</a:t>
            </a:r>
            <a:r>
              <a:rPr lang="ko-KR" altLang="en-US" sz="1600" b="1" dirty="0">
                <a:latin typeface="+mn-ea"/>
              </a:rPr>
              <a:t> 일대일</a:t>
            </a:r>
            <a:r>
              <a:rPr lang="en-US" altLang="ko-KR" sz="1600" b="1" dirty="0">
                <a:latin typeface="+mn-ea"/>
              </a:rPr>
              <a:t>(1:1) </a:t>
            </a:r>
            <a:r>
              <a:rPr lang="ko-KR" altLang="en-US" sz="1600" b="1" dirty="0">
                <a:latin typeface="+mn-ea"/>
              </a:rPr>
              <a:t>관계의 별도 </a:t>
            </a:r>
            <a:r>
              <a:rPr lang="ko-KR" altLang="en-US" sz="1600" b="1" dirty="0" err="1">
                <a:latin typeface="+mn-ea"/>
              </a:rPr>
              <a:t>엔터티로</a:t>
            </a:r>
            <a:r>
              <a:rPr lang="ko-KR" altLang="en-US" sz="1600" b="1" dirty="0">
                <a:latin typeface="+mn-ea"/>
              </a:rPr>
              <a:t> 설계한 모델이다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이때 변경된 데이터도 이 </a:t>
            </a:r>
            <a:r>
              <a:rPr lang="ko-KR" altLang="en-US" sz="1600" b="1" dirty="0" err="1">
                <a:latin typeface="+mn-ea"/>
              </a:rPr>
              <a:t>엔터티에서</a:t>
            </a:r>
            <a:r>
              <a:rPr lang="ko-KR" altLang="en-US" sz="1600" b="1" dirty="0">
                <a:latin typeface="+mn-ea"/>
              </a:rPr>
              <a:t> 함께 관리할 수 있다</a:t>
            </a:r>
            <a:r>
              <a:rPr lang="en-US" altLang="ko-KR" sz="1600" b="1" dirty="0">
                <a:latin typeface="+mn-ea"/>
              </a:rPr>
              <a:t>. 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6.49] </a:t>
            </a:r>
            <a:r>
              <a:rPr lang="ko-KR" altLang="en-US" sz="1600" b="1" dirty="0">
                <a:latin typeface="+mn-ea"/>
              </a:rPr>
              <a:t>계좌비밀번호 </a:t>
            </a:r>
            <a:r>
              <a:rPr lang="ko-KR" altLang="en-US" sz="1600" b="1" dirty="0" err="1">
                <a:latin typeface="+mn-ea"/>
              </a:rPr>
              <a:t>엔터티와</a:t>
            </a:r>
            <a:r>
              <a:rPr lang="ko-KR" altLang="en-US" sz="1600" b="1" dirty="0">
                <a:latin typeface="+mn-ea"/>
              </a:rPr>
              <a:t> 같이 설계할 수 있다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계좌비밀번호 </a:t>
            </a:r>
            <a:r>
              <a:rPr lang="ko-KR" altLang="en-US" sz="1600" b="1" dirty="0" err="1">
                <a:latin typeface="+mn-ea"/>
              </a:rPr>
              <a:t>엔터티에서는</a:t>
            </a:r>
            <a:r>
              <a:rPr lang="ko-KR" altLang="en-US" sz="1600" b="1" dirty="0">
                <a:latin typeface="+mn-ea"/>
              </a:rPr>
              <a:t> 현재 유효한 비밀번호와 변경된 지난 비밀번호를 같이 관리한다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현재 유효한 비밀번호도 존재하기 때문에 </a:t>
            </a:r>
            <a:r>
              <a:rPr lang="ko-KR" altLang="en-US" sz="1600" b="1" dirty="0" err="1">
                <a:latin typeface="+mn-ea"/>
              </a:rPr>
              <a:t>엔터티</a:t>
            </a:r>
            <a:r>
              <a:rPr lang="ko-KR" altLang="en-US" sz="1600" b="1" dirty="0">
                <a:latin typeface="+mn-ea"/>
              </a:rPr>
              <a:t> 명에는 ‘</a:t>
            </a:r>
            <a:r>
              <a:rPr lang="en-US" altLang="ko-KR" sz="1600" b="1" dirty="0">
                <a:latin typeface="+mn-ea"/>
              </a:rPr>
              <a:t>〜</a:t>
            </a:r>
            <a:r>
              <a:rPr lang="ko-KR" altLang="en-US" sz="1600" b="1" dirty="0">
                <a:latin typeface="+mn-ea"/>
              </a:rPr>
              <a:t>이력’ 을 붙이지 않는다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이에 대한 릴레이션은 </a:t>
            </a: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6.50]</a:t>
            </a:r>
            <a:r>
              <a:rPr lang="ko-KR" altLang="en-US" sz="1600" b="1" dirty="0">
                <a:latin typeface="+mn-ea"/>
              </a:rPr>
              <a:t> 같다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98629F9-8D5C-44D9-0D80-E04BA09F9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193" y="2903292"/>
            <a:ext cx="2705478" cy="138131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D7AC816-61F4-D2A6-85EE-BA30DFA42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934" y="2893766"/>
            <a:ext cx="2686425" cy="139084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4E127EB-DE95-C31D-018D-E73B8B720D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8622" y="3189082"/>
            <a:ext cx="2257740" cy="1095528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B663A-C4D4-8816-B613-9B09FEC83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271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D580D8-7AFD-460F-83C3-E3F3CED11295}"/>
              </a:ext>
            </a:extLst>
          </p:cNvPr>
          <p:cNvSpPr txBox="1"/>
          <p:nvPr/>
        </p:nvSpPr>
        <p:spPr>
          <a:xfrm>
            <a:off x="8364697" y="2828115"/>
            <a:ext cx="21515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변경일자보다는 </a:t>
            </a:r>
            <a:r>
              <a:rPr lang="en-US" altLang="ko-KR" sz="1200" b="1" dirty="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r>
              <a:rPr lang="ko-KR" altLang="en-US" sz="1200" b="1" dirty="0">
                <a:solidFill>
                  <a:srgbClr val="FF0000"/>
                </a:solidFill>
              </a:rPr>
              <a:t>발생일자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7DCE8F8-FADE-4783-961C-8BB52844DD07}"/>
              </a:ext>
            </a:extLst>
          </p:cNvPr>
          <p:cNvSpPr/>
          <p:nvPr/>
        </p:nvSpPr>
        <p:spPr>
          <a:xfrm>
            <a:off x="6644515" y="3290500"/>
            <a:ext cx="987928" cy="199148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8568DCE8-539F-4CB8-805E-8CFC927BCF94}"/>
              </a:ext>
            </a:extLst>
          </p:cNvPr>
          <p:cNvCxnSpPr>
            <a:cxnSpLocks/>
            <a:stCxn id="11" idx="3"/>
            <a:endCxn id="4" idx="1"/>
          </p:cNvCxnSpPr>
          <p:nvPr/>
        </p:nvCxnSpPr>
        <p:spPr>
          <a:xfrm flipV="1">
            <a:off x="7632443" y="2966615"/>
            <a:ext cx="732254" cy="423459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812502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6.8. </a:t>
            </a:r>
            <a:r>
              <a:rPr lang="ko-KR" altLang="en-US" sz="2400" dirty="0">
                <a:latin typeface="+mn-ea"/>
              </a:rPr>
              <a:t>이력 데이터를 설계하는 네 번째 방법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계좌 비밀번호가 처음에 입력되고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그 후에는 변경된 것으로 본다면 </a:t>
            </a: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6.49] </a:t>
            </a:r>
            <a:r>
              <a:rPr lang="ko-KR" altLang="en-US" sz="1600" b="1" dirty="0">
                <a:latin typeface="+mn-ea"/>
              </a:rPr>
              <a:t>모델 과 같이 설계할 것이다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원천 </a:t>
            </a: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6.48] </a:t>
            </a:r>
            <a:r>
              <a:rPr lang="ko-KR" altLang="en-US" sz="1600" b="1" dirty="0">
                <a:latin typeface="+mn-ea"/>
              </a:rPr>
              <a:t>모델처럼 설계한 후에 이력 </a:t>
            </a: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설계하면 그렇게 된다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하지만 계좌 비밀번호가 처음에 입력되고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비밀번호가 변경될 때도 입력된다고 본다면 </a:t>
            </a: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6.51] </a:t>
            </a:r>
            <a:r>
              <a:rPr lang="ko-KR" altLang="en-US" sz="1600" b="1" dirty="0">
                <a:latin typeface="+mn-ea"/>
              </a:rPr>
              <a:t>모델과 같이 입력일자나 등록일자 속성을 사용한다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이렇게 전부 입력되는 것으로 본다면 업데이트는 없고 인서트만 있다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6.51] </a:t>
            </a:r>
            <a:r>
              <a:rPr lang="ko-KR" altLang="en-US" sz="1600" b="1" dirty="0">
                <a:latin typeface="+mn-ea"/>
              </a:rPr>
              <a:t>모델에 대한 릴레이션은 </a:t>
            </a: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6.52]</a:t>
            </a:r>
            <a:r>
              <a:rPr lang="ko-KR" altLang="en-US" sz="1600" b="1" dirty="0">
                <a:latin typeface="+mn-ea"/>
              </a:rPr>
              <a:t>와 같다</a:t>
            </a:r>
            <a:r>
              <a:rPr lang="en-US" altLang="ko-KR" sz="1600" b="1" dirty="0">
                <a:latin typeface="+mn-ea"/>
              </a:rPr>
              <a:t>.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3395ACE-FBD1-A00E-9DDD-26C26D12E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324" y="3458747"/>
            <a:ext cx="2734057" cy="141942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A05B974-46E0-5FD9-6FF8-FA6A7D733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098" y="3792168"/>
            <a:ext cx="2248214" cy="1086002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FD403A-01BE-D984-CC9C-9F02C0C82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272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5849234"/>
      </p:ext>
    </p:extLst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6.8. </a:t>
            </a:r>
            <a:r>
              <a:rPr lang="ko-KR" altLang="en-US" sz="2400" dirty="0">
                <a:latin typeface="+mn-ea"/>
              </a:rPr>
              <a:t>이력 데이터를 설계하는 네 번째 방법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만약 계좌와 관련된 비밀번호가 여러 개 있다면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계좌비밀번호에 대한 원천 </a:t>
            </a: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6.53]</a:t>
            </a:r>
            <a:r>
              <a:rPr lang="ko-KR" altLang="en-US" sz="1600" b="1" dirty="0">
                <a:latin typeface="+mn-ea"/>
              </a:rPr>
              <a:t>처럼 설계할 수 있다</a:t>
            </a: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현재 유효한 비밀번호를 관리하는 계좌비밀번호 </a:t>
            </a:r>
            <a:r>
              <a:rPr lang="ko-KR" altLang="en-US" sz="1600" b="1" dirty="0" err="1">
                <a:latin typeface="+mn-ea"/>
              </a:rPr>
              <a:t>엔터티에</a:t>
            </a:r>
            <a:r>
              <a:rPr lang="ko-KR" altLang="en-US" sz="1600" b="1" dirty="0">
                <a:latin typeface="+mn-ea"/>
              </a:rPr>
              <a:t> 변경 데이터를 함께 관리하는 모델은</a:t>
            </a:r>
            <a:r>
              <a:rPr lang="en-US" altLang="ko-KR" sz="1600" b="1" dirty="0">
                <a:latin typeface="+mn-ea"/>
              </a:rPr>
              <a:t> 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6.54]</a:t>
            </a:r>
            <a:r>
              <a:rPr lang="ko-KR" altLang="en-US" sz="1600" b="1" dirty="0">
                <a:latin typeface="+mn-ea"/>
              </a:rPr>
              <a:t>와 같다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6.54] </a:t>
            </a:r>
            <a:r>
              <a:rPr lang="ko-KR" altLang="en-US" sz="1600" b="1" dirty="0">
                <a:latin typeface="+mn-ea"/>
              </a:rPr>
              <a:t>계좌비밀번호 </a:t>
            </a:r>
            <a:r>
              <a:rPr lang="ko-KR" altLang="en-US" sz="1600" b="1" dirty="0" err="1">
                <a:latin typeface="+mn-ea"/>
              </a:rPr>
              <a:t>엔터티는</a:t>
            </a:r>
            <a:r>
              <a:rPr lang="ko-KR" altLang="en-US" sz="1600" b="1" dirty="0">
                <a:latin typeface="+mn-ea"/>
              </a:rPr>
              <a:t> 현재 유효한 비밀번호와 변경돼서 현재 유효하지 않은 비밀번호를 함께 관리하는 </a:t>
            </a:r>
            <a:r>
              <a:rPr lang="ko-KR" altLang="en-US" sz="1600" b="1" dirty="0" err="1">
                <a:latin typeface="+mn-ea"/>
              </a:rPr>
              <a:t>엔터티다</a:t>
            </a:r>
            <a:r>
              <a:rPr lang="en-US" altLang="ko-KR" sz="1600" b="1" dirty="0">
                <a:latin typeface="+mn-ea"/>
              </a:rPr>
              <a:t>. 6 .7 </a:t>
            </a:r>
            <a:r>
              <a:rPr lang="ko-KR" altLang="en-US" sz="1600" b="1" dirty="0">
                <a:latin typeface="+mn-ea"/>
              </a:rPr>
              <a:t>장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>
                <a:latin typeface="+mn-ea"/>
              </a:rPr>
              <a:t>이력 데이터를 설계하는 세 번째 방법</a:t>
            </a:r>
            <a:r>
              <a:rPr lang="en-US" altLang="ko-KR" sz="1600" b="1" dirty="0">
                <a:latin typeface="+mn-ea"/>
              </a:rPr>
              <a:t>)</a:t>
            </a:r>
            <a:r>
              <a:rPr lang="ko-KR" altLang="en-US" sz="1600" b="1" dirty="0">
                <a:latin typeface="+mn-ea"/>
              </a:rPr>
              <a:t>에서 설명한 </a:t>
            </a: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6.47] </a:t>
            </a:r>
            <a:r>
              <a:rPr lang="ko-KR" altLang="en-US" sz="1600" b="1" dirty="0">
                <a:latin typeface="+mn-ea"/>
              </a:rPr>
              <a:t>모델의  계좌비밀번호 </a:t>
            </a:r>
            <a:r>
              <a:rPr lang="ko-KR" altLang="en-US" sz="1600" b="1" dirty="0" err="1">
                <a:latin typeface="+mn-ea"/>
              </a:rPr>
              <a:t>엔터티와</a:t>
            </a:r>
            <a:r>
              <a:rPr lang="ko-KR" altLang="en-US" sz="1600" b="1" dirty="0">
                <a:latin typeface="+mn-ea"/>
              </a:rPr>
              <a:t> 계좌비밀번호이력 </a:t>
            </a: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합친 </a:t>
            </a:r>
            <a:r>
              <a:rPr lang="ko-KR" altLang="en-US" sz="1600" b="1" dirty="0" err="1">
                <a:latin typeface="+mn-ea"/>
              </a:rPr>
              <a:t>엔터티다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이번 장에서 설명한 방법은 주의해서 사용해야 한다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변경이력 데이터로 설계한 것인지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발생내역 데이터로 설계한 것인지 구분해야 혼란스럽지 않게 된다 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명확하게 구분하지 않고 설계하면 뒤죽박죽인 모델이 될 수 있다</a:t>
            </a:r>
            <a:r>
              <a:rPr lang="en-US" altLang="ko-KR" sz="1600" b="1" dirty="0">
                <a:latin typeface="+mn-ea"/>
              </a:rPr>
              <a:t>.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78C3D3E-57E4-3757-6200-736BB7530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856" y="2430704"/>
            <a:ext cx="2838846" cy="128605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D8B8325-0F98-F037-99EF-BFAF5D54E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702" y="2449756"/>
            <a:ext cx="2876951" cy="1267002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9A2E40F-E9BB-DC7A-10B8-171D304CB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273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8592175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7B5ED990-6E1B-0B27-1439-C1DCF75F6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1915" y="3905605"/>
            <a:ext cx="3048425" cy="21910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6.9. </a:t>
            </a:r>
            <a:r>
              <a:rPr lang="ko-KR" altLang="en-US" sz="2400" dirty="0">
                <a:latin typeface="+mn-ea"/>
              </a:rPr>
              <a:t>속성 단위의 이력 모델과 추출 속성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이번 장에서는 속성 단위로 이력 데이터를 설계한 모델에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추출 속성이 사용된 모델을 설명할 것이다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이력 데이터와 중복 데이터가 혼합된 모델은 주의해야 한다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속성 단위로 이력 데이터를 설계하는 방법은 역할을 관리하는 </a:t>
            </a: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</a:t>
            </a: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설계할 때 자주 사용된다</a:t>
            </a:r>
            <a:r>
              <a:rPr lang="en-US" altLang="ko-KR" sz="1600" b="1" dirty="0">
                <a:latin typeface="+mn-ea"/>
              </a:rPr>
              <a:t>. 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6.55] </a:t>
            </a:r>
            <a:r>
              <a:rPr lang="ko-KR" altLang="en-US" sz="1600" b="1" dirty="0">
                <a:latin typeface="+mn-ea"/>
              </a:rPr>
              <a:t>계좌 </a:t>
            </a:r>
            <a:r>
              <a:rPr lang="ko-KR" altLang="en-US" sz="1600" b="1" dirty="0" err="1">
                <a:latin typeface="+mn-ea"/>
              </a:rPr>
              <a:t>엔터티에서</a:t>
            </a:r>
            <a:r>
              <a:rPr lang="ko-KR" altLang="en-US" sz="1600" b="1" dirty="0">
                <a:latin typeface="+mn-ea"/>
              </a:rPr>
              <a:t> 계좌관리사원번호 </a:t>
            </a: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속성이 역할을 관리하는 속성이다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역할을 관리하는 속성은 보통 </a:t>
            </a: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6.56] </a:t>
            </a:r>
            <a:r>
              <a:rPr lang="ko-KR" altLang="en-US" sz="1600" b="1" dirty="0">
                <a:latin typeface="+mn-ea"/>
              </a:rPr>
              <a:t>모델과 같이 별도의 </a:t>
            </a:r>
            <a:r>
              <a:rPr lang="ko-KR" altLang="en-US" sz="1600" b="1" dirty="0" err="1">
                <a:latin typeface="+mn-ea"/>
              </a:rPr>
              <a:t>엔터티에서</a:t>
            </a:r>
            <a:r>
              <a:rPr lang="ko-KR" altLang="en-US" sz="1600" b="1" dirty="0">
                <a:latin typeface="+mn-ea"/>
              </a:rPr>
              <a:t> 관리한다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계좌관리사원 </a:t>
            </a:r>
            <a:r>
              <a:rPr lang="ko-KR" altLang="en-US" sz="1600" b="1" dirty="0" err="1">
                <a:latin typeface="+mn-ea"/>
              </a:rPr>
              <a:t>엔터티는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6.55] </a:t>
            </a:r>
            <a:r>
              <a:rPr lang="ko-KR" altLang="en-US" sz="1600" b="1" dirty="0">
                <a:latin typeface="+mn-ea"/>
              </a:rPr>
              <a:t>모델의 계좌 </a:t>
            </a:r>
            <a:r>
              <a:rPr lang="ko-KR" altLang="en-US" sz="1600" b="1" dirty="0" err="1">
                <a:latin typeface="+mn-ea"/>
              </a:rPr>
              <a:t>엔터티에서</a:t>
            </a:r>
            <a:r>
              <a:rPr lang="ko-KR" altLang="en-US" sz="1600" b="1" dirty="0">
                <a:latin typeface="+mn-ea"/>
              </a:rPr>
              <a:t> </a:t>
            </a: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계좌관리사원번호 속성을 별도로 관리하는 원천 </a:t>
            </a:r>
            <a:r>
              <a:rPr lang="ko-KR" altLang="en-US" sz="1600" b="1" dirty="0" err="1">
                <a:latin typeface="+mn-ea"/>
              </a:rPr>
              <a:t>엔터티로서</a:t>
            </a:r>
            <a:r>
              <a:rPr lang="en-US" altLang="ko-KR" sz="1600" b="1" dirty="0">
                <a:latin typeface="+mn-ea"/>
              </a:rPr>
              <a:t>,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계좌 </a:t>
            </a:r>
            <a:r>
              <a:rPr lang="ko-KR" altLang="en-US" sz="1600" b="1" dirty="0" err="1">
                <a:latin typeface="+mn-ea"/>
              </a:rPr>
              <a:t>엔터티와</a:t>
            </a:r>
            <a:r>
              <a:rPr lang="ko-KR" altLang="en-US" sz="1600" b="1" dirty="0">
                <a:latin typeface="+mn-ea"/>
              </a:rPr>
              <a:t> 일대일</a:t>
            </a:r>
            <a:r>
              <a:rPr lang="en-US" altLang="ko-KR" sz="1600" b="1" dirty="0">
                <a:latin typeface="+mn-ea"/>
              </a:rPr>
              <a:t>(1:1) </a:t>
            </a:r>
            <a:r>
              <a:rPr lang="ko-KR" altLang="en-US" sz="1600" b="1" dirty="0">
                <a:latin typeface="+mn-ea"/>
              </a:rPr>
              <a:t>관계이며 현재 유효한 계좌관리사원을 관리한다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이렇게 별도의 </a:t>
            </a:r>
            <a:r>
              <a:rPr lang="ko-KR" altLang="en-US" sz="1600" b="1" dirty="0" err="1">
                <a:latin typeface="+mn-ea"/>
              </a:rPr>
              <a:t>엔터티에서</a:t>
            </a:r>
            <a:r>
              <a:rPr lang="ko-KR" altLang="en-US" sz="1600" b="1" dirty="0">
                <a:latin typeface="+mn-ea"/>
              </a:rPr>
              <a:t> 관리하는 이유는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역할은 보통 한 개가 </a:t>
            </a: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아니라는 사실과 함께 이력 데이터까지 고려했기 때문이다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6.56] </a:t>
            </a:r>
            <a:r>
              <a:rPr lang="ko-KR" altLang="en-US" sz="1600" b="1" dirty="0">
                <a:latin typeface="+mn-ea"/>
              </a:rPr>
              <a:t>모델에서 계좌의 관리사원이 변경됐을 때</a:t>
            </a:r>
            <a:r>
              <a:rPr lang="en-US" altLang="ko-KR" sz="1600" b="1" dirty="0">
                <a:latin typeface="+mn-ea"/>
              </a:rPr>
              <a:t>,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변경된 데이터를 관리한다면 </a:t>
            </a: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6.57]</a:t>
            </a:r>
            <a:r>
              <a:rPr lang="ko-KR" altLang="en-US" sz="1600" b="1" dirty="0">
                <a:latin typeface="+mn-ea"/>
              </a:rPr>
              <a:t> 과 같은 모델이 된다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2970A93-EB10-D43A-4906-99CA61EDE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4732" y="2225009"/>
            <a:ext cx="1629002" cy="150516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F0CF2CB-56B6-5873-FCF0-2BCAC2C69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274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36096-3490-4AD5-A171-6609DC4E1EAE}"/>
              </a:ext>
            </a:extLst>
          </p:cNvPr>
          <p:cNvSpPr txBox="1"/>
          <p:nvPr/>
        </p:nvSpPr>
        <p:spPr>
          <a:xfrm>
            <a:off x="8061084" y="6055342"/>
            <a:ext cx="3770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관계 </a:t>
            </a:r>
            <a:r>
              <a:rPr lang="ko-KR" altLang="en-US" sz="1200" b="1" dirty="0" err="1">
                <a:solidFill>
                  <a:srgbClr val="FF0000"/>
                </a:solidFill>
              </a:rPr>
              <a:t>엔터티</a:t>
            </a:r>
            <a:r>
              <a:rPr lang="ko-KR" altLang="en-US" sz="1200" b="1" dirty="0">
                <a:solidFill>
                  <a:srgbClr val="FF0000"/>
                </a:solidFill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</a:rPr>
              <a:t>(</a:t>
            </a:r>
            <a:r>
              <a:rPr lang="ko-KR" altLang="en-US" sz="1200" b="1" dirty="0" err="1">
                <a:solidFill>
                  <a:srgbClr val="FF0000"/>
                </a:solidFill>
              </a:rPr>
              <a:t>교차엔터티</a:t>
            </a:r>
            <a:r>
              <a:rPr lang="en-US" altLang="ko-KR" sz="1200" b="1" dirty="0">
                <a:solidFill>
                  <a:srgbClr val="FF0000"/>
                </a:solidFill>
              </a:rPr>
              <a:t>) </a:t>
            </a:r>
            <a:r>
              <a:rPr lang="ko-KR" altLang="en-US" sz="1200" b="1" dirty="0">
                <a:solidFill>
                  <a:srgbClr val="FF0000"/>
                </a:solidFill>
              </a:rPr>
              <a:t>도출이 어렵지만 중요하다</a:t>
            </a:r>
            <a:r>
              <a:rPr lang="en-US" altLang="ko-KR" sz="1200" b="1" dirty="0">
                <a:solidFill>
                  <a:srgbClr val="FF0000"/>
                </a:solidFill>
              </a:rPr>
              <a:t>.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8258048"/>
      </p:ext>
    </p:extLst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6.9. </a:t>
            </a:r>
            <a:r>
              <a:rPr lang="ko-KR" altLang="en-US" sz="2400" dirty="0">
                <a:latin typeface="+mn-ea"/>
              </a:rPr>
              <a:t>속성 단위의 이력 모델과 추출 속성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이렇게 별도의 </a:t>
            </a:r>
            <a:r>
              <a:rPr lang="ko-KR" altLang="en-US" sz="1400" b="1" dirty="0" err="1">
                <a:latin typeface="+mn-ea"/>
              </a:rPr>
              <a:t>엔터티에서</a:t>
            </a:r>
            <a:r>
              <a:rPr lang="ko-KR" altLang="en-US" sz="1400" b="1" dirty="0">
                <a:latin typeface="+mn-ea"/>
              </a:rPr>
              <a:t> 관리하는 이유는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역할은 보통 한 개가 아니라는 사실과 함께 이력 데이터까지 고려했기 때문이다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6.56] </a:t>
            </a:r>
            <a:r>
              <a:rPr lang="ko-KR" altLang="en-US" sz="1400" b="1" dirty="0">
                <a:latin typeface="+mn-ea"/>
              </a:rPr>
              <a:t>모델에서 계좌의 관리사원이 변경됐을 때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변경된 데이터를 관리한다면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6.57]</a:t>
            </a:r>
            <a:r>
              <a:rPr lang="ko-KR" altLang="en-US" sz="1400" b="1" dirty="0">
                <a:latin typeface="+mn-ea"/>
              </a:rPr>
              <a:t> 과 같은 모델이 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계좌관리사원 </a:t>
            </a:r>
            <a:r>
              <a:rPr lang="ko-KR" altLang="en-US" sz="1400" b="1" dirty="0" err="1">
                <a:latin typeface="+mn-ea"/>
              </a:rPr>
              <a:t>엔터티에서는</a:t>
            </a:r>
            <a:r>
              <a:rPr lang="ko-KR" altLang="en-US" sz="1400" b="1" dirty="0">
                <a:latin typeface="+mn-ea"/>
              </a:rPr>
              <a:t> 계좌를 관리하고 있는 현재 유효한 사원과 이전에 관리했던 사원을 함께 관리한다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변경된 데이터도 관리하지만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현재 유효한 데이터를 관리하므로 </a:t>
            </a:r>
            <a:r>
              <a:rPr lang="en-US" altLang="ko-KR" sz="1400" b="1" dirty="0">
                <a:latin typeface="+mn-ea"/>
              </a:rPr>
              <a:t>‘~</a:t>
            </a:r>
            <a:r>
              <a:rPr lang="ko-KR" altLang="en-US" sz="1400" b="1" dirty="0">
                <a:latin typeface="+mn-ea"/>
              </a:rPr>
              <a:t>이력’ 이란 </a:t>
            </a:r>
            <a:r>
              <a:rPr lang="ko-KR" altLang="en-US" sz="1400" b="1" dirty="0" err="1">
                <a:latin typeface="+mn-ea"/>
              </a:rPr>
              <a:t>엔터티</a:t>
            </a:r>
            <a:r>
              <a:rPr lang="ko-KR" altLang="en-US" sz="1400" b="1" dirty="0">
                <a:latin typeface="+mn-ea"/>
              </a:rPr>
              <a:t> 명을 사용하지 않는다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성능 문제를 해결하는 다른 방법은 비정규화다</a:t>
            </a:r>
            <a:r>
              <a:rPr lang="en-US" altLang="ko-KR" sz="1400" b="1" dirty="0">
                <a:latin typeface="+mn-ea"/>
              </a:rPr>
              <a:t>. 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6.58] </a:t>
            </a:r>
            <a:r>
              <a:rPr lang="ko-KR" altLang="en-US" sz="1400" b="1" dirty="0">
                <a:latin typeface="+mn-ea"/>
              </a:rPr>
              <a:t>모델과 같이 계좌 </a:t>
            </a:r>
            <a:r>
              <a:rPr lang="ko-KR" altLang="en-US" sz="1400" b="1" dirty="0" err="1">
                <a:latin typeface="+mn-ea"/>
              </a:rPr>
              <a:t>엔터티에</a:t>
            </a:r>
            <a:r>
              <a:rPr lang="ko-KR" altLang="en-US" sz="1400" b="1" dirty="0">
                <a:latin typeface="+mn-ea"/>
              </a:rPr>
              <a:t> 현재 유효한 상태인 관리사원을 중복으로 관리할 수 있다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무결성이 더 중요하다고 판단해서 계좌 </a:t>
            </a:r>
            <a:r>
              <a:rPr lang="ko-KR" altLang="en-US" sz="1400" b="1" dirty="0" err="1">
                <a:latin typeface="+mn-ea"/>
              </a:rPr>
              <a:t>엔터티에서는</a:t>
            </a:r>
            <a:r>
              <a:rPr lang="ko-KR" altLang="en-US" sz="1400" b="1" dirty="0">
                <a:latin typeface="+mn-ea"/>
              </a:rPr>
              <a:t> 현재 유효한 관리사원만 관리하고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변경된 관리사원은 계좌관리사원 </a:t>
            </a:r>
            <a:r>
              <a:rPr lang="ko-KR" altLang="en-US" sz="1400" b="1" dirty="0" err="1">
                <a:latin typeface="+mn-ea"/>
              </a:rPr>
              <a:t>엔터티에서</a:t>
            </a:r>
            <a:r>
              <a:rPr lang="ko-KR" altLang="en-US" sz="1400" b="1" dirty="0">
                <a:latin typeface="+mn-ea"/>
              </a:rPr>
              <a:t> 관리한다면</a:t>
            </a:r>
            <a:r>
              <a:rPr lang="en-US" altLang="ko-KR" sz="1400" b="1" dirty="0">
                <a:latin typeface="+mn-ea"/>
              </a:rPr>
              <a:t>, 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6.59]</a:t>
            </a:r>
            <a:r>
              <a:rPr lang="ko-KR" altLang="en-US" sz="1400" b="1" dirty="0">
                <a:latin typeface="+mn-ea"/>
              </a:rPr>
              <a:t>와 같은 모델이 된다</a:t>
            </a:r>
            <a:r>
              <a:rPr lang="en-US" altLang="ko-KR" sz="1400" b="1" dirty="0">
                <a:latin typeface="+mn-ea"/>
              </a:rPr>
              <a:t>.</a:t>
            </a:r>
            <a:endParaRPr lang="en-US" altLang="ko-KR" sz="1400" b="1" u="sng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6DA8A1B-2E67-9137-B50D-05C46B50C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740" y="3962087"/>
            <a:ext cx="2665701" cy="203652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BAE060B-D065-A82D-0380-597F0FCAD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89" y="4000192"/>
            <a:ext cx="3121022" cy="200341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F3626FA-CBC4-AA7E-5C33-07E066CC4D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5314" y="3933508"/>
            <a:ext cx="2972008" cy="2061365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29A442-5203-1B99-5160-AFE49400A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275</a:t>
            </a:fld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A6915D-1CD1-4522-9FBF-16923ACF2135}"/>
              </a:ext>
            </a:extLst>
          </p:cNvPr>
          <p:cNvSpPr txBox="1"/>
          <p:nvPr/>
        </p:nvSpPr>
        <p:spPr>
          <a:xfrm>
            <a:off x="8061084" y="6055342"/>
            <a:ext cx="3770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관계 </a:t>
            </a:r>
            <a:r>
              <a:rPr lang="ko-KR" altLang="en-US" sz="1200" b="1" dirty="0" err="1">
                <a:solidFill>
                  <a:srgbClr val="FF0000"/>
                </a:solidFill>
              </a:rPr>
              <a:t>엔터티</a:t>
            </a:r>
            <a:r>
              <a:rPr lang="ko-KR" altLang="en-US" sz="1200" b="1" dirty="0">
                <a:solidFill>
                  <a:srgbClr val="FF0000"/>
                </a:solidFill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</a:rPr>
              <a:t>(</a:t>
            </a:r>
            <a:r>
              <a:rPr lang="ko-KR" altLang="en-US" sz="1200" b="1" dirty="0" err="1">
                <a:solidFill>
                  <a:srgbClr val="FF0000"/>
                </a:solidFill>
              </a:rPr>
              <a:t>교차엔터티</a:t>
            </a:r>
            <a:r>
              <a:rPr lang="en-US" altLang="ko-KR" sz="1200" b="1" dirty="0">
                <a:solidFill>
                  <a:srgbClr val="FF0000"/>
                </a:solidFill>
              </a:rPr>
              <a:t>) </a:t>
            </a:r>
            <a:r>
              <a:rPr lang="ko-KR" altLang="en-US" sz="1200" b="1" dirty="0">
                <a:solidFill>
                  <a:srgbClr val="FF0000"/>
                </a:solidFill>
              </a:rPr>
              <a:t>도출이 어렵지만 중요하다</a:t>
            </a:r>
            <a:r>
              <a:rPr lang="en-US" altLang="ko-KR" sz="1200" b="1" dirty="0">
                <a:solidFill>
                  <a:srgbClr val="FF0000"/>
                </a:solidFill>
              </a:rPr>
              <a:t>.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4315562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6.9. </a:t>
            </a:r>
            <a:r>
              <a:rPr lang="ko-KR" altLang="en-US" sz="2400" dirty="0">
                <a:latin typeface="+mn-ea"/>
              </a:rPr>
              <a:t>속성 단위의 이력 모델과 추출 속성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6.59] </a:t>
            </a:r>
            <a:r>
              <a:rPr lang="ko-KR" altLang="en-US" sz="1400" b="1" dirty="0">
                <a:latin typeface="+mn-ea"/>
              </a:rPr>
              <a:t>모델은 확장성이 떨어지는 유연하지 않은 모델이다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가까운 미래에 새로운 역할이 생기면 모델이 변경되고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화면이나 프로그램도 변경돼 많은 비효율이 생긴다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따라서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6.60]</a:t>
            </a:r>
            <a:r>
              <a:rPr lang="ko-KR" altLang="en-US" sz="1400" b="1" dirty="0">
                <a:latin typeface="+mn-ea"/>
              </a:rPr>
              <a:t> 모델과 같이 계좌관계사원 </a:t>
            </a:r>
            <a:r>
              <a:rPr lang="ko-KR" altLang="en-US" sz="1400" b="1" dirty="0" err="1">
                <a:latin typeface="+mn-ea"/>
              </a:rPr>
              <a:t>엔터티에서</a:t>
            </a:r>
            <a:r>
              <a:rPr lang="ko-KR" altLang="en-US" sz="1400" b="1" dirty="0">
                <a:latin typeface="+mn-ea"/>
              </a:rPr>
              <a:t> 여러 역할을 통합해서 관리하는 것이 바람직하다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여러 역할을 통합 관리하므로 </a:t>
            </a:r>
            <a:r>
              <a:rPr lang="ko-KR" altLang="en-US" sz="1400" b="1" dirty="0" err="1">
                <a:latin typeface="+mn-ea"/>
              </a:rPr>
              <a:t>엔터티</a:t>
            </a:r>
            <a:r>
              <a:rPr lang="ko-KR" altLang="en-US" sz="1400" b="1" dirty="0">
                <a:latin typeface="+mn-ea"/>
              </a:rPr>
              <a:t> 명과 속성 명에 좀 더 일반적인 용어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관계사원</a:t>
            </a:r>
            <a:r>
              <a:rPr lang="en-US" altLang="ko-KR" sz="1400" b="1" dirty="0">
                <a:latin typeface="+mn-ea"/>
              </a:rPr>
              <a:t>)</a:t>
            </a:r>
            <a:r>
              <a:rPr lang="ko-KR" altLang="en-US" sz="1400" b="1" dirty="0">
                <a:latin typeface="+mn-ea"/>
              </a:rPr>
              <a:t>를 사용해야 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이 모델에 이력 데이터까지 고려해서 설계한 모델은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6.61] </a:t>
            </a:r>
            <a:r>
              <a:rPr lang="ko-KR" altLang="en-US" sz="1400" b="1" dirty="0">
                <a:latin typeface="+mn-ea"/>
              </a:rPr>
              <a:t>과 같다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계좌관계사원 </a:t>
            </a:r>
            <a:r>
              <a:rPr lang="ko-KR" altLang="en-US" sz="1400" b="1" dirty="0" err="1">
                <a:latin typeface="+mn-ea"/>
              </a:rPr>
              <a:t>엔터티에는</a:t>
            </a:r>
            <a:r>
              <a:rPr lang="ko-KR" altLang="en-US" sz="1400" b="1" dirty="0">
                <a:latin typeface="+mn-ea"/>
              </a:rPr>
              <a:t> 현재 유효한 데이터와 지난 데이터가 공존한다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만약 특정 역할을 하는 현재 유효한 데이터를 계좌 </a:t>
            </a:r>
            <a:r>
              <a:rPr lang="ko-KR" altLang="en-US" sz="1400" b="1" dirty="0" err="1">
                <a:latin typeface="+mn-ea"/>
              </a:rPr>
              <a:t>엔터티에서도</a:t>
            </a:r>
            <a:r>
              <a:rPr lang="ko-KR" altLang="en-US" sz="1400" b="1" dirty="0">
                <a:latin typeface="+mn-ea"/>
              </a:rPr>
              <a:t> 중복으로 관리한다면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6.62] </a:t>
            </a:r>
            <a:r>
              <a:rPr lang="ko-KR" altLang="en-US" sz="1400" b="1" dirty="0">
                <a:latin typeface="+mn-ea"/>
              </a:rPr>
              <a:t>와 같은 모델이 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관리사원이나 실적사원같이 역할을 관리하는 데이터는 보통 과거 데이터도 철저하게 관리해야 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역할의 확장성</a:t>
            </a:r>
            <a:r>
              <a:rPr lang="ko-KR" altLang="en-US" sz="1400" b="1" dirty="0">
                <a:latin typeface="+mn-ea"/>
              </a:rPr>
              <a:t>과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역할의 이력 데이터를 고려</a:t>
            </a:r>
            <a:r>
              <a:rPr lang="ko-KR" altLang="en-US" sz="1400" b="1" dirty="0">
                <a:latin typeface="+mn-ea"/>
              </a:rPr>
              <a:t>해서 모델을 설계해야 한다</a:t>
            </a:r>
            <a:r>
              <a:rPr lang="en-US" altLang="ko-KR" sz="1400" b="1" dirty="0">
                <a:latin typeface="+mn-ea"/>
              </a:rPr>
              <a:t>.</a:t>
            </a:r>
            <a:endParaRPr lang="en-US" altLang="ko-KR" sz="1400" b="1" u="sng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F288496-7218-72D9-F022-422D6ADAF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706" y="3924244"/>
            <a:ext cx="2560013" cy="20642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A636A2B-58CE-C6C8-916E-C26295F6E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866" y="3865324"/>
            <a:ext cx="2576267" cy="210489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A1E45C7-318E-5DA2-9FAF-56B4B694B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5385" y="3892140"/>
            <a:ext cx="3332081" cy="2072392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BB60E0F-3B7E-8D59-6C85-EC4A7EA13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276</a:t>
            </a:fld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5C6631-D60A-41DF-AE7D-CBC529725440}"/>
              </a:ext>
            </a:extLst>
          </p:cNvPr>
          <p:cNvSpPr txBox="1"/>
          <p:nvPr/>
        </p:nvSpPr>
        <p:spPr>
          <a:xfrm>
            <a:off x="8061084" y="6055342"/>
            <a:ext cx="3770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관계 </a:t>
            </a:r>
            <a:r>
              <a:rPr lang="ko-KR" altLang="en-US" sz="1200" b="1" dirty="0" err="1">
                <a:solidFill>
                  <a:srgbClr val="FF0000"/>
                </a:solidFill>
              </a:rPr>
              <a:t>엔터티</a:t>
            </a:r>
            <a:r>
              <a:rPr lang="ko-KR" altLang="en-US" sz="1200" b="1" dirty="0">
                <a:solidFill>
                  <a:srgbClr val="FF0000"/>
                </a:solidFill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</a:rPr>
              <a:t>(</a:t>
            </a:r>
            <a:r>
              <a:rPr lang="ko-KR" altLang="en-US" sz="1200" b="1" dirty="0" err="1">
                <a:solidFill>
                  <a:srgbClr val="FF0000"/>
                </a:solidFill>
              </a:rPr>
              <a:t>교차엔터티</a:t>
            </a:r>
            <a:r>
              <a:rPr lang="en-US" altLang="ko-KR" sz="1200" b="1" dirty="0">
                <a:solidFill>
                  <a:srgbClr val="FF0000"/>
                </a:solidFill>
              </a:rPr>
              <a:t>) </a:t>
            </a:r>
            <a:r>
              <a:rPr lang="ko-KR" altLang="en-US" sz="1200" b="1" dirty="0">
                <a:solidFill>
                  <a:srgbClr val="FF0000"/>
                </a:solidFill>
              </a:rPr>
              <a:t>도출이 어렵지만 중요하다</a:t>
            </a:r>
            <a:r>
              <a:rPr lang="en-US" altLang="ko-KR" sz="1200" b="1" dirty="0">
                <a:solidFill>
                  <a:srgbClr val="FF0000"/>
                </a:solidFill>
              </a:rPr>
              <a:t>.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874007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6.10. </a:t>
            </a:r>
            <a:r>
              <a:rPr lang="ko-KR" altLang="en-US" sz="2400" dirty="0">
                <a:latin typeface="+mn-ea"/>
              </a:rPr>
              <a:t>속성 그룹 단위로 이력 데이터를 설계하는 예제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속성 그룹 단위로 이력 데이터를 설계하는 방법은 하나의 속성 단위로 이력 데이터를 설계하는 방법과 기본적으로 같다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속성 그룹으로 묶을 수 있는 속성은 성격이 유사한 속성을 의미한다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도메인 유형이 같은 속성을 그룹으로 묶기도 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또한 주로 같이 조회되는 속성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동시에 입력되는 속성을 그룹으로 묶을 수도 있다</a:t>
            </a:r>
            <a:r>
              <a:rPr lang="en-US" altLang="ko-KR" sz="1400" b="1" dirty="0">
                <a:latin typeface="+mn-ea"/>
              </a:rPr>
              <a:t>. 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6.63] </a:t>
            </a:r>
            <a:r>
              <a:rPr lang="ko-KR" altLang="en-US" sz="1400" b="1" dirty="0">
                <a:latin typeface="+mn-ea"/>
              </a:rPr>
              <a:t>계좌 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계좌비밀번호와 </a:t>
            </a:r>
            <a:r>
              <a:rPr lang="en-US" altLang="ko-KR" sz="1400" b="1" dirty="0">
                <a:latin typeface="+mn-ea"/>
              </a:rPr>
              <a:t>ARS </a:t>
            </a:r>
            <a:r>
              <a:rPr lang="ko-KR" altLang="en-US" sz="1400" b="1" dirty="0">
                <a:latin typeface="+mn-ea"/>
              </a:rPr>
              <a:t>비밀번호 속성은 유사한 속성이다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계좌 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비밀번호 속성에 대한 이력 데이터를 설계할 때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유사한 속성을 묶어서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6.64] </a:t>
            </a:r>
            <a:r>
              <a:rPr lang="ko-KR" altLang="en-US" sz="1400" b="1" dirty="0">
                <a:latin typeface="+mn-ea"/>
              </a:rPr>
              <a:t>모델과 같이 설계할 수 있다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계좌 </a:t>
            </a:r>
            <a:r>
              <a:rPr lang="ko-KR" altLang="en-US" sz="1400" b="1" dirty="0" err="1">
                <a:latin typeface="+mn-ea"/>
              </a:rPr>
              <a:t>엔터티에는</a:t>
            </a:r>
            <a:r>
              <a:rPr lang="ko-KR" altLang="en-US" sz="1400" b="1" dirty="0">
                <a:latin typeface="+mn-ea"/>
              </a:rPr>
              <a:t> 현재 시점의 유효한 비밀번호가 관리되고</a:t>
            </a:r>
            <a:r>
              <a:rPr lang="en-US" altLang="ko-KR" sz="1400" b="1" dirty="0">
                <a:latin typeface="+mn-ea"/>
              </a:rPr>
              <a:t>,  </a:t>
            </a:r>
            <a:r>
              <a:rPr lang="ko-KR" altLang="en-US" sz="1400" b="1" dirty="0">
                <a:latin typeface="+mn-ea"/>
              </a:rPr>
              <a:t>계좌비밀번호이력 </a:t>
            </a:r>
            <a:r>
              <a:rPr lang="ko-KR" altLang="en-US" sz="1400" b="1" dirty="0" err="1">
                <a:latin typeface="+mn-ea"/>
              </a:rPr>
              <a:t>엔터티에는</a:t>
            </a:r>
            <a:r>
              <a:rPr lang="ko-KR" altLang="en-US" sz="1400" b="1" dirty="0">
                <a:latin typeface="+mn-ea"/>
              </a:rPr>
              <a:t> 변경된 비밀번호가 관리된다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6.66] </a:t>
            </a:r>
            <a:r>
              <a:rPr lang="ko-KR" altLang="en-US" sz="1400" b="1" dirty="0" err="1">
                <a:latin typeface="+mn-ea"/>
              </a:rPr>
              <a:t>릴레이션에서는</a:t>
            </a:r>
            <a:r>
              <a:rPr lang="en-US" altLang="ko-KR" sz="1400" b="1" dirty="0">
                <a:latin typeface="+mn-ea"/>
              </a:rPr>
              <a:t> </a:t>
            </a:r>
            <a:r>
              <a:rPr lang="ko-KR" altLang="en-US" sz="1400" b="1" dirty="0">
                <a:latin typeface="+mn-ea"/>
              </a:rPr>
              <a:t>변경되지 </a:t>
            </a:r>
            <a:endParaRPr lang="en-US" altLang="ko-KR" sz="1400" b="1" dirty="0">
              <a:latin typeface="+mn-ea"/>
            </a:endParaRPr>
          </a:p>
          <a:p>
            <a:r>
              <a:rPr lang="ko-KR" altLang="en-US" sz="1400" b="1" dirty="0">
                <a:latin typeface="+mn-ea"/>
              </a:rPr>
              <a:t>     않은 속성에 대해서 널 값을 사용했다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u="sng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u="sng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78FD787-4911-EC17-0C44-AC4DD44DC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687" y="3098512"/>
            <a:ext cx="2086266" cy="154326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B75E1F1-3202-2F28-EF42-8799BBCFC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515" y="3069933"/>
            <a:ext cx="2743583" cy="157184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9016A2B-2687-9A1C-616F-17D945968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576" y="4705529"/>
            <a:ext cx="4477375" cy="1686160"/>
          </a:xfrm>
          <a:prstGeom prst="rect">
            <a:avLst/>
          </a:prstGeom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F652C2C-A07E-9943-A764-C10B8CF1E84E}"/>
              </a:ext>
            </a:extLst>
          </p:cNvPr>
          <p:cNvSpPr/>
          <p:nvPr/>
        </p:nvSpPr>
        <p:spPr>
          <a:xfrm>
            <a:off x="9710643" y="5761943"/>
            <a:ext cx="629980" cy="187298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1BCB2EF-8454-515B-8035-F8204A1D89ED}"/>
              </a:ext>
            </a:extLst>
          </p:cNvPr>
          <p:cNvSpPr/>
          <p:nvPr/>
        </p:nvSpPr>
        <p:spPr>
          <a:xfrm>
            <a:off x="9064974" y="5921019"/>
            <a:ext cx="629980" cy="187298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1FD7F9A-54CB-F897-541B-E2646D707709}"/>
              </a:ext>
            </a:extLst>
          </p:cNvPr>
          <p:cNvSpPr/>
          <p:nvPr/>
        </p:nvSpPr>
        <p:spPr>
          <a:xfrm>
            <a:off x="8497083" y="6210436"/>
            <a:ext cx="737227" cy="169964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D24070E6-AA47-1F06-9C14-60A66728D2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7576" y="3012063"/>
            <a:ext cx="4477375" cy="1686160"/>
          </a:xfrm>
          <a:prstGeom prst="rect">
            <a:avLst/>
          </a:prstGeom>
        </p:spPr>
      </p:pic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125C0656-0347-E205-2FF6-905F44F59C31}"/>
              </a:ext>
            </a:extLst>
          </p:cNvPr>
          <p:cNvCxnSpPr>
            <a:cxnSpLocks/>
            <a:stCxn id="10" idx="2"/>
            <a:endCxn id="16" idx="1"/>
          </p:cNvCxnSpPr>
          <p:nvPr/>
        </p:nvCxnSpPr>
        <p:spPr>
          <a:xfrm rot="16200000" flipH="1">
            <a:off x="5296525" y="4007558"/>
            <a:ext cx="906832" cy="2175269"/>
          </a:xfrm>
          <a:prstGeom prst="bentConnector2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2FF1ADFD-E801-927A-62A4-708378B6B076}"/>
              </a:ext>
            </a:extLst>
          </p:cNvPr>
          <p:cNvCxnSpPr>
            <a:cxnSpLocks/>
            <a:stCxn id="10" idx="3"/>
            <a:endCxn id="20" idx="1"/>
          </p:cNvCxnSpPr>
          <p:nvPr/>
        </p:nvCxnSpPr>
        <p:spPr>
          <a:xfrm flipV="1">
            <a:off x="6034098" y="3855143"/>
            <a:ext cx="803478" cy="712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E41DB3A-625B-A55E-B968-0304933CB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277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4971460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6.10. </a:t>
            </a:r>
            <a:r>
              <a:rPr lang="ko-KR" altLang="en-US" sz="2400" dirty="0">
                <a:latin typeface="+mn-ea"/>
              </a:rPr>
              <a:t>속성 그룹 단위로 이력 데이터를 설계하는 예제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변경 값만 알아야 한다면 다음 장에서 설명할 다섯 번째 방법처럼 종 테이블</a:t>
            </a:r>
            <a:r>
              <a:rPr lang="en-US" altLang="ko-KR" sz="1400" b="1" dirty="0">
                <a:latin typeface="+mn-ea"/>
              </a:rPr>
              <a:t>(Vertical Table)</a:t>
            </a:r>
            <a:r>
              <a:rPr lang="ko-KR" altLang="en-US" sz="1400" b="1" dirty="0">
                <a:latin typeface="+mn-ea"/>
              </a:rPr>
              <a:t>로 관리하는 것이 바람직하다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유사한 속성에 대해 변경된 속성과 변경되지 않은 속성이 같이 조회될 가능성이 조금이라도 있다면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6.65] </a:t>
            </a:r>
            <a:r>
              <a:rPr lang="ko-KR" altLang="en-US" sz="1400" b="1" dirty="0">
                <a:latin typeface="+mn-ea"/>
              </a:rPr>
              <a:t>릴레이션과 같이 해당 인스턴스를 스냅샷 방식으로 관리해야 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6.64] </a:t>
            </a:r>
            <a:r>
              <a:rPr lang="ko-KR" altLang="en-US" sz="1400" b="1" dirty="0">
                <a:latin typeface="+mn-ea"/>
              </a:rPr>
              <a:t>모델처럼 같은 성격의 속성이 아니더라도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같이 사용되는 속성을 그룹으로 묶을 수 있다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6.67]</a:t>
            </a:r>
            <a:r>
              <a:rPr lang="ko-KR" altLang="en-US" sz="1400" b="1" dirty="0">
                <a:latin typeface="+mn-ea"/>
              </a:rPr>
              <a:t> 고객 </a:t>
            </a:r>
            <a:r>
              <a:rPr lang="ko-KR" altLang="en-US" sz="1400" b="1" dirty="0" err="1">
                <a:latin typeface="+mn-ea"/>
              </a:rPr>
              <a:t>엔터티에서</a:t>
            </a:r>
            <a:r>
              <a:rPr lang="ko-KR" altLang="en-US" sz="1400" b="1" dirty="0">
                <a:latin typeface="+mn-ea"/>
              </a:rPr>
              <a:t> 주소의 변경 데이터를 관리할 때는 우편번호</a:t>
            </a:r>
            <a:r>
              <a:rPr lang="en-US" altLang="ko-KR" sz="1400" b="1" dirty="0">
                <a:latin typeface="+mn-ea"/>
              </a:rPr>
              <a:t>.</a:t>
            </a:r>
            <a:r>
              <a:rPr lang="ko-KR" altLang="en-US" sz="1400" b="1" dirty="0">
                <a:latin typeface="+mn-ea"/>
              </a:rPr>
              <a:t>우편주소</a:t>
            </a:r>
            <a:r>
              <a:rPr lang="en-US" altLang="ko-KR" sz="1400" b="1" dirty="0">
                <a:latin typeface="+mn-ea"/>
              </a:rPr>
              <a:t>•</a:t>
            </a:r>
            <a:r>
              <a:rPr lang="ko-KR" altLang="en-US" sz="1400" b="1" dirty="0">
                <a:latin typeface="+mn-ea"/>
              </a:rPr>
              <a:t>상세주소 속성을 묶어서 관리한다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주소 속성 그룹에 대한 이력 데이터는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6.68] </a:t>
            </a:r>
            <a:r>
              <a:rPr lang="ko-KR" altLang="en-US" sz="1400" b="1" dirty="0">
                <a:latin typeface="+mn-ea"/>
              </a:rPr>
              <a:t>모델과 같이 설계할 수 있다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또한 고객주소는 개별적으로 자주 사용되기 때문에 고객주소에 대한 원천 </a:t>
            </a:r>
            <a:r>
              <a:rPr lang="ko-KR" altLang="en-US" sz="1400" b="1" dirty="0" err="1">
                <a:latin typeface="+mn-ea"/>
              </a:rPr>
              <a:t>엔터티를</a:t>
            </a:r>
            <a:r>
              <a:rPr lang="ko-KR" altLang="en-US" sz="1400" b="1" dirty="0">
                <a:latin typeface="+mn-ea"/>
              </a:rPr>
              <a:t>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6.69]</a:t>
            </a:r>
            <a:r>
              <a:rPr lang="ko-KR" altLang="en-US" sz="1400" b="1" dirty="0">
                <a:latin typeface="+mn-ea"/>
              </a:rPr>
              <a:t> 모델과 같이 설계할 수 있다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이 모델에 이력 데이터를 설계한 모델은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6.70]</a:t>
            </a:r>
            <a:r>
              <a:rPr lang="ko-KR" altLang="en-US" sz="1400" b="1" dirty="0">
                <a:latin typeface="+mn-ea"/>
              </a:rPr>
              <a:t>과 같다</a:t>
            </a:r>
            <a:r>
              <a:rPr lang="en-US" altLang="ko-KR" sz="1400" b="1" dirty="0">
                <a:latin typeface="+mn-ea"/>
              </a:rPr>
              <a:t>. </a:t>
            </a:r>
            <a:endParaRPr lang="en-US" altLang="ko-KR" sz="1400" b="1" u="sng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50F43AB-5E5A-B62A-A7FE-0B0348C2B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38" y="3444345"/>
            <a:ext cx="1629002" cy="159089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70495B2-DEF0-EA0E-D0AB-3AA40028E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5603" y="3439057"/>
            <a:ext cx="2553056" cy="156231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79D0EA5-2AE9-2D3A-296C-BFCEB86BB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0358" y="3886794"/>
            <a:ext cx="2543530" cy="111458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874BB2C-C3BC-8151-D668-C51C19072D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8770" y="3777767"/>
            <a:ext cx="3867690" cy="1257475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8DFD116-9540-80CC-E413-A4D57ED2F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278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9418798"/>
      </p:ext>
    </p:extLst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6.10. </a:t>
            </a:r>
            <a:r>
              <a:rPr lang="ko-KR" altLang="en-US" sz="2400" dirty="0">
                <a:latin typeface="+mn-ea"/>
              </a:rPr>
              <a:t>속성 그룹 단위로 이력 데이터를 설계하는 예제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고객주소 </a:t>
            </a:r>
            <a:r>
              <a:rPr lang="ko-KR" altLang="en-US" sz="1400" b="1" dirty="0" err="1">
                <a:latin typeface="+mn-ea"/>
              </a:rPr>
              <a:t>엔터티에는</a:t>
            </a:r>
            <a:r>
              <a:rPr lang="ko-KR" altLang="en-US" sz="1400" b="1" dirty="0">
                <a:latin typeface="+mn-ea"/>
              </a:rPr>
              <a:t> 현재의 유효한 주소를 관리하고 변경된 과거 데이터는 별도의 </a:t>
            </a:r>
            <a:r>
              <a:rPr lang="ko-KR" altLang="en-US" sz="1400" b="1" dirty="0" err="1">
                <a:latin typeface="+mn-ea"/>
              </a:rPr>
              <a:t>엔터티인</a:t>
            </a:r>
            <a:r>
              <a:rPr lang="ko-KR" altLang="en-US" sz="1400" b="1" dirty="0">
                <a:latin typeface="+mn-ea"/>
              </a:rPr>
              <a:t> 고객주소이력 </a:t>
            </a:r>
            <a:r>
              <a:rPr lang="ko-KR" altLang="en-US" sz="1400" b="1" dirty="0" err="1">
                <a:latin typeface="+mn-ea"/>
              </a:rPr>
              <a:t>엔터티에서</a:t>
            </a:r>
            <a:r>
              <a:rPr lang="ko-KR" altLang="en-US" sz="1400" b="1" dirty="0">
                <a:latin typeface="+mn-ea"/>
              </a:rPr>
              <a:t> 관 리 한 다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만약 과거에 변경돼서 유효하지 않은 주소도 빈번하게 사용된다면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6.71] </a:t>
            </a:r>
            <a:r>
              <a:rPr lang="ko-KR" altLang="en-US" sz="1400" b="1" dirty="0">
                <a:latin typeface="+mn-ea"/>
              </a:rPr>
              <a:t>모델과 같이 하나의 </a:t>
            </a:r>
            <a:r>
              <a:rPr lang="ko-KR" altLang="en-US" sz="1400" b="1" dirty="0" err="1">
                <a:latin typeface="+mn-ea"/>
              </a:rPr>
              <a:t>엔터티에서</a:t>
            </a:r>
            <a:r>
              <a:rPr lang="ko-KR" altLang="en-US" sz="1400" b="1" dirty="0">
                <a:latin typeface="+mn-ea"/>
              </a:rPr>
              <a:t> 관리할 수 있다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6.71] </a:t>
            </a:r>
            <a:r>
              <a:rPr lang="ko-KR" altLang="en-US" sz="1400" b="1" dirty="0">
                <a:latin typeface="+mn-ea"/>
              </a:rPr>
              <a:t>모델의 고객주소 </a:t>
            </a:r>
            <a:r>
              <a:rPr lang="ko-KR" altLang="en-US" sz="1400" b="1" dirty="0" err="1">
                <a:latin typeface="+mn-ea"/>
              </a:rPr>
              <a:t>엔터티에는</a:t>
            </a:r>
            <a:r>
              <a:rPr lang="ko-KR" altLang="en-US" sz="1400" b="1" dirty="0">
                <a:latin typeface="+mn-ea"/>
              </a:rPr>
              <a:t> 현재 유효한 주소와 변경돼서 유효하지 않은 주소가 같이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있기 때문에 </a:t>
            </a:r>
            <a:r>
              <a:rPr lang="ko-KR" altLang="en-US" sz="1400" b="1" dirty="0" err="1">
                <a:latin typeface="+mn-ea"/>
              </a:rPr>
              <a:t>엔터티</a:t>
            </a:r>
            <a:r>
              <a:rPr lang="ko-KR" altLang="en-US" sz="1400" b="1" dirty="0">
                <a:latin typeface="+mn-ea"/>
              </a:rPr>
              <a:t> 명에 ‘</a:t>
            </a:r>
            <a:r>
              <a:rPr lang="en-US" altLang="ko-KR" sz="1400" b="1" dirty="0">
                <a:latin typeface="+mn-ea"/>
              </a:rPr>
              <a:t>〜</a:t>
            </a:r>
            <a:r>
              <a:rPr lang="ko-KR" altLang="en-US" sz="1400" b="1" dirty="0">
                <a:latin typeface="+mn-ea"/>
              </a:rPr>
              <a:t>이력’ 을 붙이지 않는다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이밖에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6.72] </a:t>
            </a:r>
            <a:r>
              <a:rPr lang="ko-KR" altLang="en-US" sz="1400" b="1" dirty="0">
                <a:latin typeface="+mn-ea"/>
              </a:rPr>
              <a:t>모델과 같이 도메인이 유사한 속성을 묶어서 이력 </a:t>
            </a:r>
            <a:r>
              <a:rPr lang="ko-KR" altLang="en-US" sz="1400" b="1" dirty="0" err="1">
                <a:latin typeface="+mn-ea"/>
              </a:rPr>
              <a:t>엔터티를</a:t>
            </a:r>
            <a:r>
              <a:rPr lang="ko-KR" altLang="en-US" sz="1400" b="1" dirty="0">
                <a:latin typeface="+mn-ea"/>
              </a:rPr>
              <a:t> 설계할 수도 있다</a:t>
            </a:r>
            <a:r>
              <a:rPr lang="en-US" altLang="ko-KR" sz="1400" b="1" dirty="0">
                <a:latin typeface="+mn-ea"/>
              </a:rPr>
              <a:t>.</a:t>
            </a:r>
            <a:endParaRPr lang="en-US" altLang="ko-KR" sz="1400" b="1" u="sng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8B85A8D-4CDC-C4E2-EEB3-20539736B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042" y="4102179"/>
            <a:ext cx="2534004" cy="128605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290BAB3-64D3-C3D3-35BE-1CCC54D17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091" y="3244809"/>
            <a:ext cx="2762636" cy="2143424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661D5C3-602A-5460-1F75-C55D80C77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279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076737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6.10. </a:t>
            </a:r>
            <a:r>
              <a:rPr lang="ko-KR" altLang="en-US" sz="2400" dirty="0">
                <a:latin typeface="+mn-ea"/>
              </a:rPr>
              <a:t>속성 그룹 단위로 이력 데이터를 설계하는 예제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6.72] </a:t>
            </a:r>
            <a:r>
              <a:rPr lang="ko-KR" altLang="en-US" sz="1400" b="1" dirty="0">
                <a:latin typeface="+mn-ea"/>
              </a:rPr>
              <a:t>모델과 같이 설계할 때는 도메인이 유사하면서 함께 조회되는지도 따져야 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주로 같이 조회된다면 </a:t>
            </a:r>
            <a:r>
              <a:rPr lang="ko-KR" altLang="en-US" sz="1400" b="1" dirty="0" err="1">
                <a:latin typeface="+mn-ea"/>
              </a:rPr>
              <a:t>발행가와</a:t>
            </a:r>
            <a:r>
              <a:rPr lang="ko-KR" altLang="en-US" sz="1400" b="1" dirty="0">
                <a:latin typeface="+mn-ea"/>
              </a:rPr>
              <a:t> 같이 업무적으로 변경되지 않는 값이라도 이력 </a:t>
            </a:r>
            <a:r>
              <a:rPr lang="ko-KR" altLang="en-US" sz="1400" b="1" dirty="0" err="1">
                <a:latin typeface="+mn-ea"/>
              </a:rPr>
              <a:t>엔터티에서</a:t>
            </a:r>
            <a:r>
              <a:rPr lang="ko-KR" altLang="en-US" sz="1400" b="1" dirty="0">
                <a:latin typeface="+mn-ea"/>
              </a:rPr>
              <a:t> 관리할 수 있다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만약 외부에서 데이터를 받는다면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그 기준에 따라 동시에 받는 속성만을 별도 이력 </a:t>
            </a:r>
            <a:r>
              <a:rPr lang="ko-KR" altLang="en-US" sz="1400" b="1" dirty="0" err="1">
                <a:latin typeface="+mn-ea"/>
              </a:rPr>
              <a:t>엔터티에서</a:t>
            </a:r>
            <a:r>
              <a:rPr lang="ko-KR" altLang="en-US" sz="1400" b="1" dirty="0">
                <a:latin typeface="+mn-ea"/>
              </a:rPr>
              <a:t> 관리할 수도 있다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조회 요건과 입력 요건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정정 요건 등은 이력 데이터를 설계할 때 고려해야 할 요소다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6.72] </a:t>
            </a:r>
            <a:r>
              <a:rPr lang="ko-KR" altLang="en-US" sz="1400" b="1" dirty="0">
                <a:latin typeface="+mn-ea"/>
              </a:rPr>
              <a:t>주식종목 </a:t>
            </a:r>
            <a:r>
              <a:rPr lang="ko-KR" altLang="en-US" sz="1400" b="1" dirty="0" err="1">
                <a:latin typeface="+mn-ea"/>
              </a:rPr>
              <a:t>엔터티에서</a:t>
            </a:r>
            <a:r>
              <a:rPr lang="ko-KR" altLang="en-US" sz="1400" b="1" dirty="0">
                <a:latin typeface="+mn-ea"/>
              </a:rPr>
              <a:t> 묶은 속성을 별도의 </a:t>
            </a:r>
            <a:r>
              <a:rPr lang="ko-KR" altLang="en-US" sz="1400" b="1" dirty="0" err="1">
                <a:latin typeface="+mn-ea"/>
              </a:rPr>
              <a:t>엔터티에서</a:t>
            </a:r>
            <a:r>
              <a:rPr lang="ko-KR" altLang="en-US" sz="1400" b="1" dirty="0">
                <a:latin typeface="+mn-ea"/>
              </a:rPr>
              <a:t> 관리한다면</a:t>
            </a:r>
            <a:r>
              <a:rPr lang="en-US" altLang="ko-KR" sz="1400" b="1" dirty="0">
                <a:latin typeface="+mn-ea"/>
              </a:rPr>
              <a:t>,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이에 대한 이력 데이터는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6.73] </a:t>
            </a:r>
            <a:r>
              <a:rPr lang="ko-KR" altLang="en-US" sz="1400" b="1" dirty="0">
                <a:latin typeface="+mn-ea"/>
              </a:rPr>
              <a:t>모델과 같이 설계할 수 있다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이 모델에서는 변하지 않는 </a:t>
            </a:r>
            <a:r>
              <a:rPr lang="ko-KR" altLang="en-US" sz="1400" b="1" dirty="0" err="1">
                <a:latin typeface="+mn-ea"/>
              </a:rPr>
              <a:t>발행가는</a:t>
            </a:r>
            <a:r>
              <a:rPr lang="ko-KR" altLang="en-US" sz="1400" b="1" dirty="0">
                <a:latin typeface="+mn-ea"/>
              </a:rPr>
              <a:t> 주식종목 </a:t>
            </a:r>
            <a:r>
              <a:rPr lang="ko-KR" altLang="en-US" sz="1400" b="1" dirty="0" err="1">
                <a:latin typeface="+mn-ea"/>
              </a:rPr>
              <a:t>엔터티에서</a:t>
            </a:r>
            <a:r>
              <a:rPr lang="ko-KR" altLang="en-US" sz="1400" b="1" dirty="0">
                <a:latin typeface="+mn-ea"/>
              </a:rPr>
              <a:t> 관리하고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변할 가능성이 있는 속성만을 묶어서 별도의 </a:t>
            </a:r>
            <a:r>
              <a:rPr lang="ko-KR" altLang="en-US" sz="1400" b="1" dirty="0" err="1">
                <a:latin typeface="+mn-ea"/>
              </a:rPr>
              <a:t>엔터티에서</a:t>
            </a:r>
            <a:r>
              <a:rPr lang="ko-KR" altLang="en-US" sz="1400" b="1" dirty="0">
                <a:latin typeface="+mn-ea"/>
              </a:rPr>
              <a:t> 관리한다</a:t>
            </a:r>
            <a:r>
              <a:rPr lang="en-US" altLang="ko-KR" sz="1400" b="1" dirty="0">
                <a:latin typeface="+mn-ea"/>
              </a:rPr>
              <a:t>. 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6.72] </a:t>
            </a:r>
            <a:r>
              <a:rPr lang="ko-KR" altLang="en-US" sz="1400" b="1" dirty="0">
                <a:latin typeface="+mn-ea"/>
              </a:rPr>
              <a:t>모델보다 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개수가 늘었지만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자주 사용되는 현재 유효한 데이터만 별도의 </a:t>
            </a:r>
            <a:r>
              <a:rPr lang="ko-KR" altLang="en-US" sz="1400" b="1" dirty="0" err="1">
                <a:latin typeface="+mn-ea"/>
              </a:rPr>
              <a:t>엔터티에서</a:t>
            </a:r>
            <a:r>
              <a:rPr lang="ko-KR" altLang="en-US" sz="1400" b="1" dirty="0">
                <a:latin typeface="+mn-ea"/>
              </a:rPr>
              <a:t> 관리하므로 유효한 데이터를 사용하기 수월하다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만약 현재 유효한 데이터와 변경 데이터가 주로 함께 사용된다면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6.74] </a:t>
            </a:r>
            <a:r>
              <a:rPr lang="ko-KR" altLang="en-US" sz="1400" b="1" dirty="0">
                <a:latin typeface="+mn-ea"/>
              </a:rPr>
              <a:t>모델이 적절하다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u="sng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u="sng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593C29-F4D6-4307-240A-CC05FB991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959" y="3449428"/>
            <a:ext cx="4210638" cy="19719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D6FC1CE-ADF4-EF07-92A4-4A8CE1531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424" y="3403559"/>
            <a:ext cx="2867425" cy="2029108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E23E9E4-A33A-11BE-C81F-63BCAAE8B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280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178524"/>
      </p:ext>
    </p:extLst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6.11. </a:t>
            </a:r>
            <a:r>
              <a:rPr lang="ko-KR" altLang="en-US" sz="2400" dirty="0">
                <a:latin typeface="+mn-ea"/>
              </a:rPr>
              <a:t>이력 데이터를 설계하는 다섯 번째 방법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이력 데이터를 설계하는 다섯 번째 방법은 설계하기 가장 쉬운 방법이다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하지만 정형화돼서 표면적으로 쉬워 보일 뿐 데이터를 제대로 관리하기는 쉽지 않다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계좌속성 </a:t>
            </a:r>
            <a:r>
              <a:rPr lang="ko-KR" altLang="en-US" sz="1400" b="1" dirty="0" err="1">
                <a:latin typeface="+mn-ea"/>
              </a:rPr>
              <a:t>엔터티는</a:t>
            </a:r>
            <a:r>
              <a:rPr lang="ko-KR" altLang="en-US" sz="1400" b="1" dirty="0">
                <a:latin typeface="+mn-ea"/>
              </a:rPr>
              <a:t> 계좌 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속성 중에서 이력 데이터를 관리할 속성을 관리하는 </a:t>
            </a:r>
            <a:r>
              <a:rPr lang="ko-KR" altLang="en-US" sz="1400" b="1" dirty="0" err="1">
                <a:latin typeface="+mn-ea"/>
              </a:rPr>
              <a:t>엔터티다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이 </a:t>
            </a:r>
            <a:r>
              <a:rPr lang="ko-KR" altLang="en-US" sz="1400" b="1" dirty="0" err="1">
                <a:latin typeface="+mn-ea"/>
              </a:rPr>
              <a:t>엔터티에서는</a:t>
            </a:r>
            <a:r>
              <a:rPr lang="ko-KR" altLang="en-US" sz="1400" b="1" dirty="0">
                <a:latin typeface="+mn-ea"/>
              </a:rPr>
              <a:t> 계좌의 모든 속성을 기준 정보로 관리하는 것이 바람직하다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계좌이력 </a:t>
            </a:r>
            <a:r>
              <a:rPr lang="ko-KR" altLang="en-US" sz="1400" b="1" dirty="0" err="1">
                <a:latin typeface="+mn-ea"/>
              </a:rPr>
              <a:t>엔터티는</a:t>
            </a:r>
            <a:r>
              <a:rPr lang="ko-KR" altLang="en-US" sz="1400" b="1" dirty="0">
                <a:latin typeface="+mn-ea"/>
              </a:rPr>
              <a:t> 계좌에 대한 속성을 기준으로 변경된 속성 값을 관리하는 </a:t>
            </a:r>
            <a:r>
              <a:rPr lang="ko-KR" altLang="en-US" sz="1400" b="1" dirty="0" err="1">
                <a:latin typeface="+mn-ea"/>
              </a:rPr>
              <a:t>엔터티다</a:t>
            </a:r>
            <a:r>
              <a:rPr lang="ko-KR" altLang="en-US" sz="1400" b="1" dirty="0">
                <a:latin typeface="+mn-ea"/>
              </a:rPr>
              <a:t> 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6.75] </a:t>
            </a:r>
            <a:r>
              <a:rPr lang="ko-KR" altLang="en-US" sz="1400" b="1" dirty="0">
                <a:latin typeface="+mn-ea"/>
              </a:rPr>
              <a:t>모델에 대한 릴레이션은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6.76] </a:t>
            </a:r>
            <a:r>
              <a:rPr lang="ko-KR" altLang="en-US" sz="1400" b="1" dirty="0">
                <a:latin typeface="+mn-ea"/>
              </a:rPr>
              <a:t>과 같다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u="sng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u="sng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2F3037F-1945-24A3-BD11-B5506BC04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072" y="3286914"/>
            <a:ext cx="3943900" cy="148610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2A6945A-29F7-26B0-C7F0-26E05C925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030" y="3086861"/>
            <a:ext cx="4658375" cy="168616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3456F9F-B038-3250-1AF2-BB0A8021E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281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6833295"/>
      </p:ext>
    </p:extLst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6.11. </a:t>
            </a:r>
            <a:r>
              <a:rPr lang="ko-KR" altLang="en-US" sz="2400" dirty="0">
                <a:latin typeface="+mn-ea"/>
              </a:rPr>
              <a:t>이력 데이터를 설계하는 다섯 번째 방법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이 방법의 가장 큰 문제점은 보통 계좌이력 </a:t>
            </a:r>
            <a:r>
              <a:rPr lang="ko-KR" altLang="en-US" sz="1400" b="1" dirty="0" err="1">
                <a:latin typeface="+mn-ea"/>
              </a:rPr>
              <a:t>엔터티에서</a:t>
            </a:r>
            <a:r>
              <a:rPr lang="ko-KR" altLang="en-US" sz="1400" b="1" dirty="0">
                <a:latin typeface="+mn-ea"/>
              </a:rPr>
              <a:t> 관리할 속성이 명확하지 않다는 것이다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계좌 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일부 속성은 개별적으로 이력 데이터를 관리할 수 있는데，예를 들어 계좌관리사원번호 속성은 별도의 </a:t>
            </a:r>
            <a:r>
              <a:rPr lang="ko-KR" altLang="en-US" sz="1400" b="1" dirty="0" err="1">
                <a:latin typeface="+mn-ea"/>
              </a:rPr>
              <a:t>엔터티에서</a:t>
            </a:r>
            <a:r>
              <a:rPr lang="ko-KR" altLang="en-US" sz="1400" b="1" dirty="0">
                <a:latin typeface="+mn-ea"/>
              </a:rPr>
              <a:t> 변경 데이터를 관리한다면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6.7</a:t>
            </a:r>
            <a:r>
              <a:rPr lang="ko-KR" altLang="en-US" sz="1400" b="1" dirty="0" err="1">
                <a:latin typeface="+mn-ea"/>
              </a:rPr>
              <a:t>기과</a:t>
            </a:r>
            <a:r>
              <a:rPr lang="ko-KR" altLang="en-US" sz="1400" b="1" dirty="0">
                <a:latin typeface="+mn-ea"/>
              </a:rPr>
              <a:t> 같은 모델이 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6.77]</a:t>
            </a:r>
            <a:r>
              <a:rPr lang="ko-KR" altLang="en-US" sz="1400" b="1" dirty="0">
                <a:latin typeface="+mn-ea"/>
              </a:rPr>
              <a:t> 모델을 사용하면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6.76] </a:t>
            </a:r>
            <a:r>
              <a:rPr lang="ko-KR" altLang="en-US" sz="1400" b="1" dirty="0">
                <a:latin typeface="+mn-ea"/>
              </a:rPr>
              <a:t>계좌속성 </a:t>
            </a:r>
            <a:r>
              <a:rPr lang="ko-KR" altLang="en-US" sz="1400" b="1" dirty="0" err="1">
                <a:latin typeface="+mn-ea"/>
              </a:rPr>
              <a:t>릴레이션에서</a:t>
            </a:r>
            <a:r>
              <a:rPr lang="ko-KR" altLang="en-US" sz="1400" b="1" dirty="0">
                <a:latin typeface="+mn-ea"/>
              </a:rPr>
              <a:t> ‘</a:t>
            </a:r>
            <a:r>
              <a:rPr lang="en-US" altLang="ko-KR" sz="1400" b="1" dirty="0">
                <a:latin typeface="+mn-ea"/>
              </a:rPr>
              <a:t>105’ </a:t>
            </a:r>
            <a:r>
              <a:rPr lang="ko-KR" altLang="en-US" sz="1400" b="1" dirty="0">
                <a:latin typeface="+mn-ea"/>
              </a:rPr>
              <a:t>인스턴스는 삭제돼야 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계좌 </a:t>
            </a:r>
            <a:r>
              <a:rPr lang="ko-KR" altLang="en-US" sz="1400" b="1" dirty="0" err="1">
                <a:latin typeface="+mn-ea"/>
              </a:rPr>
              <a:t>엔터티에는</a:t>
            </a:r>
            <a:r>
              <a:rPr lang="ko-KR" altLang="en-US" sz="1400" b="1" dirty="0">
                <a:latin typeface="+mn-ea"/>
              </a:rPr>
              <a:t> 속성이 많기 때문에 이렇게 별도로 이력 데이터를 관리하는 </a:t>
            </a:r>
            <a:r>
              <a:rPr lang="ko-KR" altLang="en-US" sz="1400" b="1" dirty="0" err="1">
                <a:latin typeface="+mn-ea"/>
              </a:rPr>
              <a:t>엔터티와</a:t>
            </a:r>
            <a:r>
              <a:rPr lang="ko-KR" altLang="en-US" sz="1400" b="1" dirty="0">
                <a:latin typeface="+mn-ea"/>
              </a:rPr>
              <a:t> 혼용해서 사용하면 실제로 어떤 속성을 계좌이력 </a:t>
            </a:r>
            <a:r>
              <a:rPr lang="ko-KR" altLang="en-US" sz="1400" b="1" dirty="0" err="1">
                <a:latin typeface="+mn-ea"/>
              </a:rPr>
              <a:t>엔터티에서</a:t>
            </a:r>
            <a:r>
              <a:rPr lang="ko-KR" altLang="en-US" sz="1400" b="1" dirty="0">
                <a:latin typeface="+mn-ea"/>
              </a:rPr>
              <a:t> 관리하는지 불분명 해진다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모델로는 명확히 알 수 없기 때문에 처음에 제대로 관리가 되더라도 점점 혼란스러워진다</a:t>
            </a: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u="sng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u="sng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B1B87FA-9C6A-426E-8C55-39E5E3127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623" y="2538769"/>
            <a:ext cx="4172532" cy="2457793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6D9EF21-3AC3-8A42-E5EB-0F9CDC9EC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282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95484C-1B56-42BA-9741-E01E1B6DBDD2}"/>
              </a:ext>
            </a:extLst>
          </p:cNvPr>
          <p:cNvSpPr txBox="1"/>
          <p:nvPr/>
        </p:nvSpPr>
        <p:spPr>
          <a:xfrm>
            <a:off x="3965509" y="3598388"/>
            <a:ext cx="26498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데이터 중복의 문제점</a:t>
            </a:r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00A06413-CBB5-4902-9F76-737D482FE445}"/>
              </a:ext>
            </a:extLst>
          </p:cNvPr>
          <p:cNvCxnSpPr>
            <a:cxnSpLocks/>
            <a:stCxn id="4" idx="0"/>
          </p:cNvCxnSpPr>
          <p:nvPr/>
        </p:nvCxnSpPr>
        <p:spPr>
          <a:xfrm rot="16200000" flipV="1">
            <a:off x="5121069" y="3428999"/>
            <a:ext cx="338776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7A71F9FB-A60C-439A-8C78-E0ED8F9AE355}"/>
              </a:ext>
            </a:extLst>
          </p:cNvPr>
          <p:cNvCxnSpPr>
            <a:cxnSpLocks/>
            <a:stCxn id="4" idx="2"/>
          </p:cNvCxnSpPr>
          <p:nvPr/>
        </p:nvCxnSpPr>
        <p:spPr>
          <a:xfrm rot="5400000">
            <a:off x="4579575" y="3574802"/>
            <a:ext cx="348742" cy="1073022"/>
          </a:xfrm>
          <a:prstGeom prst="bentConnector2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766197"/>
      </p:ext>
    </p:extLst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6.12. </a:t>
            </a:r>
            <a:r>
              <a:rPr lang="ko-KR" altLang="en-US" sz="2400" dirty="0">
                <a:latin typeface="+mn-ea"/>
              </a:rPr>
              <a:t>이력 데이터를 </a:t>
            </a:r>
            <a:r>
              <a:rPr lang="ko-KR" altLang="en-US" sz="2400" u="sng" dirty="0">
                <a:solidFill>
                  <a:srgbClr val="FF0000"/>
                </a:solidFill>
                <a:latin typeface="+mn-ea"/>
              </a:rPr>
              <a:t>종 테이블</a:t>
            </a:r>
            <a:r>
              <a:rPr lang="ko-KR" altLang="en-US" sz="2400" dirty="0">
                <a:latin typeface="+mn-ea"/>
              </a:rPr>
              <a:t>로 설계하는 다양한 방법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이력 데이터를 종 테이블로 설계하는 방법은 다양하다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계좌 </a:t>
            </a:r>
            <a:r>
              <a:rPr lang="ko-KR" altLang="en-US" sz="1400" b="1" dirty="0" err="1">
                <a:latin typeface="+mn-ea"/>
              </a:rPr>
              <a:t>엔터티</a:t>
            </a:r>
            <a:r>
              <a:rPr lang="ko-KR" altLang="en-US" sz="1400" b="1" dirty="0">
                <a:latin typeface="+mn-ea"/>
              </a:rPr>
              <a:t> 한 개만 관리하는 대신 두 개 이상의 </a:t>
            </a:r>
            <a:r>
              <a:rPr lang="ko-KR" altLang="en-US" sz="1400" b="1" dirty="0" err="1">
                <a:latin typeface="+mn-ea"/>
              </a:rPr>
              <a:t>엔터티로</a:t>
            </a:r>
            <a:r>
              <a:rPr lang="ko-KR" altLang="en-US" sz="1400" b="1" dirty="0">
                <a:latin typeface="+mn-ea"/>
              </a:rPr>
              <a:t> 확장한 모델이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6.78]</a:t>
            </a:r>
            <a:r>
              <a:rPr lang="ko-KR" altLang="en-US" sz="1400" b="1" dirty="0">
                <a:latin typeface="+mn-ea"/>
              </a:rPr>
              <a:t>이다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3D0FF46-9C53-1719-A063-EF35D0FED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934" y="2310939"/>
            <a:ext cx="4515480" cy="2457793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463D072-71F7-C820-69E5-65935BCBA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283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0388426"/>
      </p:ext>
    </p:extLst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6.12. </a:t>
            </a:r>
            <a:r>
              <a:rPr lang="ko-KR" altLang="en-US" sz="2400" dirty="0">
                <a:latin typeface="+mn-ea"/>
              </a:rPr>
              <a:t>이력 데이터를 </a:t>
            </a:r>
            <a:r>
              <a:rPr lang="ko-KR" altLang="en-US" sz="2400" u="sng" dirty="0">
                <a:solidFill>
                  <a:srgbClr val="FF0000"/>
                </a:solidFill>
                <a:latin typeface="+mn-ea"/>
              </a:rPr>
              <a:t>종 테이블</a:t>
            </a:r>
            <a:r>
              <a:rPr lang="ko-KR" altLang="en-US" sz="2400" dirty="0">
                <a:latin typeface="+mn-ea"/>
              </a:rPr>
              <a:t>로 설계하는 다양한 방법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6.78] </a:t>
            </a:r>
            <a:r>
              <a:rPr lang="ko-KR" altLang="en-US" sz="1400" b="1" dirty="0">
                <a:latin typeface="+mn-ea"/>
              </a:rPr>
              <a:t>모델은 이력 데이터를 관리하는 대상 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주 식별자가 배타 관계를 만들기 때문에 주의해야 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만약 이 방법을 사용해서 슈퍼타입</a:t>
            </a:r>
            <a:r>
              <a:rPr lang="en-US" altLang="ko-KR" sz="1400" b="1" dirty="0">
                <a:latin typeface="+mn-ea"/>
              </a:rPr>
              <a:t>•</a:t>
            </a:r>
            <a:r>
              <a:rPr lang="ko-KR" altLang="en-US" sz="1400" b="1" dirty="0">
                <a:latin typeface="+mn-ea"/>
              </a:rPr>
              <a:t>서브타입 모델의 이력 데이터를 설계한다면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6.79] </a:t>
            </a:r>
            <a:r>
              <a:rPr lang="ko-KR" altLang="en-US" sz="1400" b="1" dirty="0">
                <a:latin typeface="+mn-ea"/>
              </a:rPr>
              <a:t>모델과 같이 배타 속성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고객 번호</a:t>
            </a:r>
            <a:r>
              <a:rPr lang="en-US" altLang="ko-KR" sz="1400" b="1" dirty="0">
                <a:latin typeface="+mn-ea"/>
              </a:rPr>
              <a:t>)</a:t>
            </a:r>
            <a:r>
              <a:rPr lang="ko-KR" altLang="en-US" sz="1400" b="1" dirty="0">
                <a:latin typeface="+mn-ea"/>
              </a:rPr>
              <a:t>이 단순해 진다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고객 슈퍼타입과 개인고객</a:t>
            </a:r>
            <a:r>
              <a:rPr lang="en-US" altLang="ko-KR" sz="1400" b="1" dirty="0">
                <a:latin typeface="+mn-ea"/>
              </a:rPr>
              <a:t>•</a:t>
            </a:r>
            <a:r>
              <a:rPr lang="ko-KR" altLang="en-US" sz="1400" b="1" dirty="0">
                <a:latin typeface="+mn-ea"/>
              </a:rPr>
              <a:t>법인고객 서브타입 각각의 속성에 대해 통합이력 </a:t>
            </a:r>
            <a:r>
              <a:rPr lang="ko-KR" altLang="en-US" sz="1400" b="1" dirty="0" err="1">
                <a:latin typeface="+mn-ea"/>
              </a:rPr>
              <a:t>엔터티에서</a:t>
            </a:r>
            <a:r>
              <a:rPr lang="ko-KR" altLang="en-US" sz="1400" b="1" dirty="0">
                <a:latin typeface="+mn-ea"/>
              </a:rPr>
              <a:t> 이력 데이터를 관리하는</a:t>
            </a:r>
            <a:r>
              <a:rPr lang="en-US" altLang="ko-KR" sz="1400" b="1" dirty="0">
                <a:latin typeface="+mn-ea"/>
              </a:rPr>
              <a:t>  </a:t>
            </a:r>
            <a:r>
              <a:rPr lang="ko-KR" altLang="en-US" sz="1400" b="1" dirty="0">
                <a:latin typeface="+mn-ea"/>
              </a:rPr>
              <a:t>모델이다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F235DA5-0A4D-ADBC-193E-3C44BC818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937" y="3095297"/>
            <a:ext cx="5372125" cy="1897342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2C44DDC-4F25-1812-5B39-3C57D768A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284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6020397"/>
      </p:ext>
    </p:extLst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6.12. </a:t>
            </a:r>
            <a:r>
              <a:rPr lang="ko-KR" altLang="en-US" sz="2400" dirty="0">
                <a:latin typeface="+mn-ea"/>
              </a:rPr>
              <a:t>이력 데이터를 </a:t>
            </a:r>
            <a:r>
              <a:rPr lang="ko-KR" altLang="en-US" sz="2400" u="sng" dirty="0">
                <a:solidFill>
                  <a:srgbClr val="FF0000"/>
                </a:solidFill>
                <a:latin typeface="+mn-ea"/>
              </a:rPr>
              <a:t>종 테이블</a:t>
            </a:r>
            <a:r>
              <a:rPr lang="ko-KR" altLang="en-US" sz="2400" dirty="0">
                <a:latin typeface="+mn-ea"/>
              </a:rPr>
              <a:t>로 설계하는 다양한 방법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6.80]</a:t>
            </a:r>
            <a:r>
              <a:rPr lang="ko-KR" altLang="en-US" sz="1400" b="1" dirty="0">
                <a:latin typeface="+mn-ea"/>
              </a:rPr>
              <a:t> 모델은 이력 데이터를 종 테이블로 설계하는 다른 방법이다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계좌 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데이터가 변경될 때마다 계좌변경이력 </a:t>
            </a:r>
            <a:r>
              <a:rPr lang="ko-KR" altLang="en-US" sz="1400" b="1" dirty="0" err="1">
                <a:latin typeface="+mn-ea"/>
              </a:rPr>
              <a:t>엔터티에</a:t>
            </a:r>
            <a:r>
              <a:rPr lang="ko-KR" altLang="en-US" sz="1400" b="1" dirty="0">
                <a:latin typeface="+mn-ea"/>
              </a:rPr>
              <a:t> 데이터가 생성되며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그때 변경된 속성에 대해서는 계좌변경이력속성 </a:t>
            </a:r>
            <a:r>
              <a:rPr lang="ko-KR" altLang="en-US" sz="1400" b="1" dirty="0" err="1">
                <a:latin typeface="+mn-ea"/>
              </a:rPr>
              <a:t>엔터티에서</a:t>
            </a:r>
            <a:r>
              <a:rPr lang="ko-KR" altLang="en-US" sz="1400" b="1" dirty="0">
                <a:latin typeface="+mn-ea"/>
              </a:rPr>
              <a:t> 관리한다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만약 첫 번째 변경에서 계좌비밀번호가 ‘</a:t>
            </a:r>
            <a:r>
              <a:rPr lang="en-US" altLang="ko-KR" sz="1400" b="1" dirty="0">
                <a:latin typeface="+mn-ea"/>
              </a:rPr>
              <a:t>1000’ </a:t>
            </a:r>
            <a:r>
              <a:rPr lang="ko-KR" altLang="en-US" sz="1400" b="1" dirty="0">
                <a:latin typeface="+mn-ea"/>
              </a:rPr>
              <a:t>에서 ‘</a:t>
            </a:r>
            <a:r>
              <a:rPr lang="en-US" altLang="ko-KR" sz="1400" b="1" dirty="0">
                <a:latin typeface="+mn-ea"/>
              </a:rPr>
              <a:t>1004’ </a:t>
            </a:r>
            <a:r>
              <a:rPr lang="ko-KR" altLang="en-US" sz="1400" b="1" dirty="0">
                <a:latin typeface="+mn-ea"/>
              </a:rPr>
              <a:t>로 바뀌고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두 번째  변경에서  계좌관리사원번호가   ‘</a:t>
            </a:r>
            <a:r>
              <a:rPr lang="en-US" altLang="ko-KR" sz="1400" b="1" dirty="0">
                <a:latin typeface="+mn-ea"/>
              </a:rPr>
              <a:t>100’ </a:t>
            </a:r>
            <a:r>
              <a:rPr lang="ko-KR" altLang="en-US" sz="1400" b="1" dirty="0">
                <a:latin typeface="+mn-ea"/>
              </a:rPr>
              <a:t>에서 ‘</a:t>
            </a:r>
            <a:r>
              <a:rPr lang="en-US" altLang="ko-KR" sz="1400" b="1" dirty="0">
                <a:latin typeface="+mn-ea"/>
              </a:rPr>
              <a:t>101’ </a:t>
            </a:r>
            <a:r>
              <a:rPr lang="ko-KR" altLang="en-US" sz="1400" b="1" dirty="0">
                <a:latin typeface="+mn-ea"/>
              </a:rPr>
              <a:t>로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 </a:t>
            </a:r>
            <a:r>
              <a:rPr lang="en-US" altLang="ko-KR" sz="1400" b="1" dirty="0">
                <a:latin typeface="+mn-ea"/>
              </a:rPr>
              <a:t>ARS</a:t>
            </a:r>
            <a:r>
              <a:rPr lang="ko-KR" altLang="en-US" sz="1400" b="1" dirty="0">
                <a:latin typeface="+mn-ea"/>
              </a:rPr>
              <a:t>비밀번호가 ‘</a:t>
            </a:r>
            <a:r>
              <a:rPr lang="en-US" altLang="ko-KR" sz="1400" b="1" dirty="0">
                <a:latin typeface="+mn-ea"/>
              </a:rPr>
              <a:t>1234’ </a:t>
            </a:r>
            <a:r>
              <a:rPr lang="ko-KR" altLang="en-US" sz="1400" b="1" dirty="0">
                <a:latin typeface="+mn-ea"/>
              </a:rPr>
              <a:t>에서 ‘</a:t>
            </a:r>
            <a:r>
              <a:rPr lang="en-US" altLang="ko-KR" sz="1400" b="1" dirty="0">
                <a:latin typeface="+mn-ea"/>
              </a:rPr>
              <a:t>4321’</a:t>
            </a:r>
            <a:r>
              <a:rPr lang="ko-KR" altLang="en-US" sz="1400" b="1" dirty="0">
                <a:latin typeface="+mn-ea"/>
              </a:rPr>
              <a:t>로 바뀌면 릴레이션은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6.81】</a:t>
            </a:r>
            <a:r>
              <a:rPr lang="ko-KR" altLang="en-US" sz="1400" b="1" dirty="0">
                <a:latin typeface="+mn-ea"/>
              </a:rPr>
              <a:t>과 같다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종 테이블</a:t>
            </a:r>
            <a:r>
              <a:rPr lang="en-US" altLang="ko-KR" sz="1400" b="1" dirty="0">
                <a:latin typeface="+mn-ea"/>
              </a:rPr>
              <a:t>(Vertical Table) </a:t>
            </a:r>
            <a:r>
              <a:rPr lang="ko-KR" altLang="en-US" sz="1400" b="1" dirty="0">
                <a:latin typeface="+mn-ea"/>
              </a:rPr>
              <a:t>모델은 유용할 때가 있어 적절하게 사용하면 좋은 모델이 될 수 있다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하지만 분석하기 싫어서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귀찮아서 이 모델을 선택해선 안 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특별히 </a:t>
            </a:r>
            <a:r>
              <a:rPr lang="ko-KR" altLang="en-US" sz="1400" b="1" dirty="0" err="1">
                <a:latin typeface="+mn-ea"/>
              </a:rPr>
              <a:t>모델러는</a:t>
            </a:r>
            <a:r>
              <a:rPr lang="ko-KR" altLang="en-US" sz="1400" b="1" dirty="0">
                <a:latin typeface="+mn-ea"/>
              </a:rPr>
              <a:t> 주의해야 한다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93438ED-56D3-9C31-6EFC-B43243359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824" y="2958660"/>
            <a:ext cx="4086795" cy="185763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21986C5-A684-820F-6100-7860468BB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227" y="3015818"/>
            <a:ext cx="4772691" cy="1800476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F8B4D5B-86DD-A598-4458-B1C82574E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285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7189933"/>
      </p:ext>
    </p:extLst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6.13. </a:t>
            </a:r>
            <a:r>
              <a:rPr lang="ko-KR" altLang="en-US" sz="2400" dirty="0">
                <a:latin typeface="+mn-ea"/>
              </a:rPr>
              <a:t>함께 변경된 속성을  알아야 할 때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이력 데이터를 관리하는 </a:t>
            </a:r>
            <a:r>
              <a:rPr lang="ko-KR" altLang="en-US" sz="1400" b="1" dirty="0" err="1">
                <a:latin typeface="+mn-ea"/>
              </a:rPr>
              <a:t>엔터티를</a:t>
            </a:r>
            <a:r>
              <a:rPr lang="ko-KR" altLang="en-US" sz="1400" b="1" dirty="0">
                <a:latin typeface="+mn-ea"/>
              </a:rPr>
              <a:t> 종 테이블</a:t>
            </a:r>
            <a:r>
              <a:rPr lang="en-US" altLang="ko-KR" sz="1400" b="1" dirty="0">
                <a:latin typeface="+mn-ea"/>
              </a:rPr>
              <a:t>(Vertical Table) </a:t>
            </a:r>
            <a:r>
              <a:rPr lang="ko-KR" altLang="en-US" sz="1400" b="1" dirty="0">
                <a:latin typeface="+mn-ea"/>
              </a:rPr>
              <a:t>로 설계했을 때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동시에 변경된 속성을 알아야 할 때가 있다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동일한 업데이트 트랜잭션에 의해 변경된 속성이 무엇인지를 알려면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6.82]</a:t>
            </a:r>
            <a:r>
              <a:rPr lang="ko-KR" altLang="en-US" sz="1400" b="1" dirty="0">
                <a:latin typeface="+mn-ea"/>
              </a:rPr>
              <a:t>와 같은 모델을 사용할 수 있다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계좌이력 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변경 순번 속성 값이 같으면 동시에 변경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업데이트</a:t>
            </a:r>
            <a:r>
              <a:rPr lang="en-US" altLang="ko-KR" sz="1400" b="1" dirty="0">
                <a:latin typeface="+mn-ea"/>
              </a:rPr>
              <a:t>)</a:t>
            </a:r>
            <a:r>
              <a:rPr lang="ko-KR" altLang="en-US" sz="1400" b="1" dirty="0">
                <a:latin typeface="+mn-ea"/>
              </a:rPr>
              <a:t>된 속성을 의미한다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이에 대한 릴레이션은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6.83]</a:t>
            </a:r>
            <a:r>
              <a:rPr lang="ko-KR" altLang="en-US" sz="1400" b="1" dirty="0">
                <a:latin typeface="+mn-ea"/>
              </a:rPr>
              <a:t>과 같다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6.83] </a:t>
            </a:r>
            <a:r>
              <a:rPr lang="ko-KR" altLang="en-US" sz="1400" b="1" dirty="0" err="1">
                <a:latin typeface="+mn-ea"/>
              </a:rPr>
              <a:t>릴레이션에서는</a:t>
            </a:r>
            <a:r>
              <a:rPr lang="ko-KR" altLang="en-US" sz="1400" b="1" dirty="0">
                <a:latin typeface="+mn-ea"/>
              </a:rPr>
              <a:t> 가장 최근에 함께 변경된 속성은 계좌관리사원번호 </a:t>
            </a:r>
            <a:r>
              <a:rPr lang="en-US" altLang="ko-KR" sz="1400" b="1" dirty="0">
                <a:latin typeface="+mn-ea"/>
              </a:rPr>
              <a:t>(110) </a:t>
            </a:r>
            <a:r>
              <a:rPr lang="ko-KR" altLang="en-US" sz="1400" b="1" dirty="0">
                <a:latin typeface="+mn-ea"/>
              </a:rPr>
              <a:t>와 계좌비밀번호</a:t>
            </a:r>
            <a:r>
              <a:rPr lang="en-US" altLang="ko-KR" sz="1400" b="1" dirty="0">
                <a:latin typeface="+mn-ea"/>
              </a:rPr>
              <a:t>(120) </a:t>
            </a:r>
            <a:r>
              <a:rPr lang="ko-KR" altLang="en-US" sz="1400" b="1" dirty="0">
                <a:latin typeface="+mn-ea"/>
              </a:rPr>
              <a:t>라는 것을 알 수 있다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 err="1">
                <a:latin typeface="+mn-ea"/>
              </a:rPr>
              <a:t>변경순번</a:t>
            </a:r>
            <a:r>
              <a:rPr lang="ko-KR" altLang="en-US" sz="1400" b="1" dirty="0">
                <a:latin typeface="+mn-ea"/>
              </a:rPr>
              <a:t> 속성은 인조 식별자 성격의 속성이라 유연하게 사용할 수 있다</a:t>
            </a:r>
            <a:r>
              <a:rPr lang="en-US" altLang="ko-KR" sz="1400" b="1" dirty="0">
                <a:latin typeface="+mn-ea"/>
              </a:rPr>
              <a:t>. 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6.83] </a:t>
            </a:r>
            <a:r>
              <a:rPr lang="ko-KR" altLang="en-US" sz="1400" b="1" dirty="0">
                <a:latin typeface="+mn-ea"/>
              </a:rPr>
              <a:t>계좌이력 릴레이션은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6.84] </a:t>
            </a:r>
            <a:r>
              <a:rPr lang="ko-KR" altLang="en-US" sz="1400" b="1" dirty="0">
                <a:latin typeface="+mn-ea"/>
              </a:rPr>
              <a:t>릴레이션과 같이 사용할 수도 있다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DFE6D27-5977-9DF7-5C2C-E0595B287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428" y="2573351"/>
            <a:ext cx="4182059" cy="158137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09D241B-D5CF-A773-1F3D-A92BF8F5C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753" y="2811510"/>
            <a:ext cx="4763165" cy="134321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73720AD-3FBD-E52A-9CD3-3E5CBBD6EE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9866" y="5035030"/>
            <a:ext cx="3172268" cy="1343212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AC5C9ED-6E9A-9B4A-C730-0E3FCB9E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286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8164083"/>
      </p:ext>
    </p:extLst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6.14. </a:t>
            </a:r>
            <a:r>
              <a:rPr lang="ko-KR" altLang="en-US" sz="2400" dirty="0">
                <a:latin typeface="+mn-ea"/>
              </a:rPr>
              <a:t>선분이력 </a:t>
            </a:r>
            <a:r>
              <a:rPr lang="en-US" altLang="ko-KR" sz="20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2000" dirty="0">
                <a:solidFill>
                  <a:srgbClr val="FF0000"/>
                </a:solidFill>
                <a:latin typeface="+mn-ea"/>
              </a:rPr>
              <a:t>원천은 </a:t>
            </a:r>
            <a:r>
              <a:rPr lang="en-US" altLang="ko-KR" sz="2000" dirty="0">
                <a:solidFill>
                  <a:srgbClr val="FF0000"/>
                </a:solidFill>
                <a:latin typeface="+mn-ea"/>
              </a:rPr>
              <a:t>DW</a:t>
            </a:r>
            <a:r>
              <a:rPr lang="ko-KR" altLang="en-US" sz="2000" dirty="0">
                <a:solidFill>
                  <a:srgbClr val="FF0000"/>
                </a:solidFill>
                <a:latin typeface="+mn-ea"/>
              </a:rPr>
              <a:t>에서 출발</a:t>
            </a:r>
            <a:r>
              <a:rPr lang="en-US" altLang="ko-KR" sz="2000" dirty="0">
                <a:solidFill>
                  <a:srgbClr val="FF0000"/>
                </a:solidFill>
                <a:latin typeface="+mn-ea"/>
              </a:rPr>
              <a:t>!)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이력 데이터를 관리할 때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선분이력</a:t>
            </a:r>
            <a:r>
              <a:rPr lang="ko-KR" altLang="en-US" sz="1400" b="1" dirty="0">
                <a:latin typeface="+mn-ea"/>
              </a:rPr>
              <a:t> 방법이 종종 사용된다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선분이력은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과거 특정 시점의 데이터</a:t>
            </a:r>
            <a:r>
              <a:rPr lang="ko-KR" altLang="en-US" sz="1400" b="1" dirty="0">
                <a:latin typeface="+mn-ea"/>
              </a:rPr>
              <a:t>를 조회하는 요건이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많을 때 사용하는 방법</a:t>
            </a:r>
            <a:r>
              <a:rPr lang="ko-KR" altLang="en-US" sz="1400" b="1" dirty="0">
                <a:latin typeface="+mn-ea"/>
              </a:rPr>
              <a:t>으로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조회 </a:t>
            </a:r>
            <a:r>
              <a:rPr lang="ko-KR" altLang="en-US" sz="2000" b="1" u="sng" dirty="0">
                <a:solidFill>
                  <a:srgbClr val="FF0000"/>
                </a:solidFill>
                <a:latin typeface="+mn-ea"/>
              </a:rPr>
              <a:t>성능을 고려한 기법</a:t>
            </a:r>
            <a:r>
              <a:rPr lang="ko-KR" altLang="en-US" sz="1400" b="1" dirty="0">
                <a:latin typeface="+mn-ea"/>
              </a:rPr>
              <a:t>이다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선분이력 방법은 데이터가 유효한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시작 시점</a:t>
            </a:r>
            <a:r>
              <a:rPr lang="ko-KR" altLang="en-US" sz="1400" b="1" dirty="0">
                <a:latin typeface="+mn-ea"/>
              </a:rPr>
              <a:t>과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종료 시점</a:t>
            </a:r>
            <a:r>
              <a:rPr lang="ko-KR" altLang="en-US" sz="1400" b="1" dirty="0">
                <a:latin typeface="+mn-ea"/>
              </a:rPr>
              <a:t>을 관리하는 방법</a:t>
            </a:r>
            <a:r>
              <a:rPr lang="en-US" altLang="ko-KR" sz="1400" b="1" dirty="0">
                <a:latin typeface="+mn-ea"/>
              </a:rPr>
              <a:t>. (</a:t>
            </a:r>
            <a:r>
              <a:rPr lang="ko-KR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선분이력의 핵심은 선분이 되어야 한다</a:t>
            </a:r>
            <a:r>
              <a:rPr lang="en-US" altLang="ko-K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.</a:t>
            </a:r>
            <a:r>
              <a:rPr lang="en-US" altLang="ko-KR" sz="1400" b="1" dirty="0">
                <a:latin typeface="+mn-ea"/>
              </a:rPr>
              <a:t>)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무한대의 날짜를 의미하는 종료일자에 대한 기본값은  ‘</a:t>
            </a:r>
            <a:r>
              <a:rPr lang="en-US" altLang="ko-KR" sz="1400" b="1" dirty="0">
                <a:latin typeface="+mn-ea"/>
              </a:rPr>
              <a:t>9999</a:t>
            </a:r>
            <a:r>
              <a:rPr lang="ko-KR" altLang="en-US" sz="1400" b="1" dirty="0">
                <a:latin typeface="+mn-ea"/>
              </a:rPr>
              <a:t>년 </a:t>
            </a:r>
            <a:r>
              <a:rPr lang="en-US" altLang="ko-KR" sz="1400" b="1" dirty="0">
                <a:latin typeface="+mn-ea"/>
              </a:rPr>
              <a:t>12</a:t>
            </a:r>
            <a:r>
              <a:rPr lang="ko-KR" altLang="en-US" sz="1400" b="1" dirty="0">
                <a:latin typeface="+mn-ea"/>
              </a:rPr>
              <a:t>월 </a:t>
            </a:r>
            <a:r>
              <a:rPr lang="en-US" altLang="ko-KR" sz="1400" b="1" dirty="0">
                <a:latin typeface="+mn-ea"/>
              </a:rPr>
              <a:t>31</a:t>
            </a:r>
            <a:r>
              <a:rPr lang="ko-KR" altLang="en-US" sz="1400" b="1" dirty="0">
                <a:latin typeface="+mn-ea"/>
              </a:rPr>
              <a:t>일’이 적당하다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‘3000</a:t>
            </a:r>
            <a:r>
              <a:rPr lang="ko-KR" altLang="en-US" sz="1400" b="1" dirty="0">
                <a:latin typeface="+mn-ea"/>
              </a:rPr>
              <a:t>년 </a:t>
            </a:r>
            <a:r>
              <a:rPr lang="en-US" altLang="ko-KR" sz="1400" b="1" dirty="0">
                <a:latin typeface="+mn-ea"/>
              </a:rPr>
              <a:t>12</a:t>
            </a:r>
            <a:r>
              <a:rPr lang="ko-KR" altLang="en-US" sz="1400" b="1" dirty="0">
                <a:latin typeface="+mn-ea"/>
              </a:rPr>
              <a:t>월 </a:t>
            </a:r>
            <a:r>
              <a:rPr lang="en-US" altLang="ko-KR" sz="1400" b="1" dirty="0">
                <a:latin typeface="+mn-ea"/>
              </a:rPr>
              <a:t>31</a:t>
            </a:r>
            <a:r>
              <a:rPr lang="ko-KR" altLang="en-US" sz="1400" b="1" dirty="0">
                <a:latin typeface="+mn-ea"/>
              </a:rPr>
              <a:t>일’ 이나 ‘</a:t>
            </a:r>
            <a:r>
              <a:rPr lang="en-US" altLang="ko-KR" sz="1400" b="1" dirty="0">
                <a:latin typeface="+mn-ea"/>
              </a:rPr>
              <a:t>9000</a:t>
            </a:r>
            <a:r>
              <a:rPr lang="ko-KR" altLang="en-US" sz="1400" b="1" dirty="0">
                <a:latin typeface="+mn-ea"/>
              </a:rPr>
              <a:t>년 </a:t>
            </a:r>
            <a:r>
              <a:rPr lang="en-US" altLang="ko-KR" sz="1400" b="1" dirty="0">
                <a:latin typeface="+mn-ea"/>
              </a:rPr>
              <a:t>12</a:t>
            </a:r>
            <a:r>
              <a:rPr lang="ko-KR" altLang="en-US" sz="1400" b="1" dirty="0">
                <a:latin typeface="+mn-ea"/>
              </a:rPr>
              <a:t>월 </a:t>
            </a:r>
            <a:r>
              <a:rPr lang="en-US" altLang="ko-KR" sz="1400" b="1" dirty="0">
                <a:latin typeface="+mn-ea"/>
              </a:rPr>
              <a:t>31</a:t>
            </a:r>
            <a:r>
              <a:rPr lang="ko-KR" altLang="en-US" sz="1400" b="1" dirty="0">
                <a:latin typeface="+mn-ea"/>
              </a:rPr>
              <a:t>일’ 처럼 사람마다 무한대를 다르게 해석하도록 사용하는 것은 좋지 않다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또한 ‘</a:t>
            </a:r>
            <a:r>
              <a:rPr lang="en-US" altLang="ko-KR" sz="1400" b="1" dirty="0">
                <a:latin typeface="+mn-ea"/>
              </a:rPr>
              <a:t>9999 </a:t>
            </a:r>
            <a:r>
              <a:rPr lang="ko-KR" altLang="en-US" sz="1400" b="1" dirty="0">
                <a:latin typeface="+mn-ea"/>
              </a:rPr>
              <a:t>년 </a:t>
            </a:r>
            <a:r>
              <a:rPr lang="en-US" altLang="ko-KR" sz="1400" b="1" dirty="0">
                <a:latin typeface="+mn-ea"/>
              </a:rPr>
              <a:t>99</a:t>
            </a:r>
            <a:r>
              <a:rPr lang="ko-KR" altLang="en-US" sz="1400" b="1" dirty="0">
                <a:latin typeface="+mn-ea"/>
              </a:rPr>
              <a:t>월 </a:t>
            </a:r>
            <a:r>
              <a:rPr lang="en-US" altLang="ko-KR" sz="1400" b="1" dirty="0">
                <a:latin typeface="+mn-ea"/>
              </a:rPr>
              <a:t>99</a:t>
            </a:r>
            <a:r>
              <a:rPr lang="ko-KR" altLang="en-US" sz="1400" b="1" dirty="0">
                <a:latin typeface="+mn-ea"/>
              </a:rPr>
              <a:t>일’ 처럼 날짜가 아닌 값을 사용하는 것도 좋지 않다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종료일자에 대한 기본 값은 </a:t>
            </a:r>
            <a:r>
              <a:rPr lang="en-US" altLang="ko-KR" sz="1400" b="1" dirty="0">
                <a:latin typeface="+mn-ea"/>
              </a:rPr>
              <a:t>Default </a:t>
            </a:r>
            <a:r>
              <a:rPr lang="ko-KR" altLang="en-US" sz="1400" b="1" dirty="0">
                <a:latin typeface="+mn-ea"/>
              </a:rPr>
              <a:t>제약을 설정해 사용하는 것이 좋다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776E0E0-E480-6B13-335A-21C4CEC60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544" y="2816409"/>
            <a:ext cx="1924319" cy="971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F8808DE-56A2-FA75-EB6B-539E6AEED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872" y="2816409"/>
            <a:ext cx="2686425" cy="971686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8477E15-DB95-7F06-7BE3-FFD0278D4A92}"/>
              </a:ext>
            </a:extLst>
          </p:cNvPr>
          <p:cNvSpPr/>
          <p:nvPr/>
        </p:nvSpPr>
        <p:spPr>
          <a:xfrm>
            <a:off x="6496876" y="3378370"/>
            <a:ext cx="762897" cy="207895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E774F51-0871-46C7-F5F8-CA9610123FCA}"/>
              </a:ext>
            </a:extLst>
          </p:cNvPr>
          <p:cNvSpPr/>
          <p:nvPr/>
        </p:nvSpPr>
        <p:spPr>
          <a:xfrm>
            <a:off x="1269103" y="5511833"/>
            <a:ext cx="1169297" cy="280781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80EBF22-3FF6-315C-318E-2556061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1976" y="4183520"/>
            <a:ext cx="3696216" cy="104789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EAD2EB1-BB1F-220A-C2EA-869054EE68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8201" y="4116835"/>
            <a:ext cx="2715004" cy="111458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B56E517-5A9B-937B-15EB-FB897B9546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2231" y="2816409"/>
            <a:ext cx="2057687" cy="971686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36F5C83D-66B4-72B7-6818-E87ED31867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1545" y="3916783"/>
            <a:ext cx="2057687" cy="1314633"/>
          </a:xfrm>
          <a:prstGeom prst="rect">
            <a:avLst/>
          </a:prstGeom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CAE2DED-67C7-6BB6-CA73-040C0E083B36}"/>
              </a:ext>
            </a:extLst>
          </p:cNvPr>
          <p:cNvSpPr/>
          <p:nvPr/>
        </p:nvSpPr>
        <p:spPr>
          <a:xfrm>
            <a:off x="9008472" y="4499574"/>
            <a:ext cx="2031524" cy="166210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BB1597F9-6143-28C5-D999-CF8D3D26A884}"/>
              </a:ext>
            </a:extLst>
          </p:cNvPr>
          <p:cNvCxnSpPr>
            <a:cxnSpLocks/>
            <a:stCxn id="20" idx="3"/>
            <a:endCxn id="23" idx="3"/>
          </p:cNvCxnSpPr>
          <p:nvPr/>
        </p:nvCxnSpPr>
        <p:spPr>
          <a:xfrm flipH="1">
            <a:off x="11039996" y="3302252"/>
            <a:ext cx="9922" cy="1280427"/>
          </a:xfrm>
          <a:prstGeom prst="bentConnector3">
            <a:avLst>
              <a:gd name="adj1" fmla="val -2303971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317B2BF-1805-142C-05AE-E1F578EF5CB3}"/>
              </a:ext>
            </a:extLst>
          </p:cNvPr>
          <p:cNvSpPr/>
          <p:nvPr/>
        </p:nvSpPr>
        <p:spPr>
          <a:xfrm>
            <a:off x="9008234" y="4334041"/>
            <a:ext cx="743053" cy="165534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07DB93AA-C939-4FE7-0EF3-A8641E2EF57A}"/>
              </a:ext>
            </a:extLst>
          </p:cNvPr>
          <p:cNvSpPr/>
          <p:nvPr/>
        </p:nvSpPr>
        <p:spPr>
          <a:xfrm>
            <a:off x="9729816" y="4674125"/>
            <a:ext cx="743053" cy="165534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5D0BBD6-0200-F02D-8911-122D166A3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287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C1C18F-D264-4B41-84D8-EF3798EF4372}"/>
              </a:ext>
            </a:extLst>
          </p:cNvPr>
          <p:cNvSpPr txBox="1"/>
          <p:nvPr/>
        </p:nvSpPr>
        <p:spPr>
          <a:xfrm>
            <a:off x="6096000" y="1148934"/>
            <a:ext cx="5663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</a:rPr>
              <a:t>※. </a:t>
            </a:r>
            <a:r>
              <a:rPr lang="ko-KR" altLang="en-US" sz="2400" b="1" u="sng" dirty="0">
                <a:solidFill>
                  <a:srgbClr val="FF0000"/>
                </a:solidFill>
              </a:rPr>
              <a:t>중복데이터가 발생할 우려가 다분함</a:t>
            </a:r>
            <a:r>
              <a:rPr lang="en-US" altLang="ko-KR" sz="2400" b="1" dirty="0">
                <a:solidFill>
                  <a:srgbClr val="FF0000"/>
                </a:solidFill>
              </a:rPr>
              <a:t>!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21" name="곱하기 기호 20">
            <a:extLst>
              <a:ext uri="{FF2B5EF4-FFF2-40B4-BE49-F238E27FC236}">
                <a16:creationId xmlns:a16="http://schemas.microsoft.com/office/drawing/2014/main" id="{041658D1-CF8B-4121-8A98-6C55EE4FFF06}"/>
              </a:ext>
            </a:extLst>
          </p:cNvPr>
          <p:cNvSpPr/>
          <p:nvPr/>
        </p:nvSpPr>
        <p:spPr>
          <a:xfrm>
            <a:off x="5750587" y="3836303"/>
            <a:ext cx="1509186" cy="1285407"/>
          </a:xfrm>
          <a:prstGeom prst="mathMultiply">
            <a:avLst>
              <a:gd name="adj1" fmla="val 13818"/>
            </a:avLst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543CC4-9BF2-457C-A5C5-FCA43B818344}"/>
              </a:ext>
            </a:extLst>
          </p:cNvPr>
          <p:cNvSpPr txBox="1"/>
          <p:nvPr/>
        </p:nvSpPr>
        <p:spPr>
          <a:xfrm>
            <a:off x="7019329" y="4297946"/>
            <a:ext cx="17475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선분이력은</a:t>
            </a:r>
            <a:r>
              <a:rPr lang="en-US" altLang="ko-KR" sz="1600" b="1" dirty="0">
                <a:solidFill>
                  <a:srgbClr val="FF0000"/>
                </a:solidFill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</a:rPr>
              <a:t>비추</a:t>
            </a:r>
          </a:p>
        </p:txBody>
      </p:sp>
    </p:spTree>
    <p:extLst>
      <p:ext uri="{BB962C8B-B14F-4D97-AF65-F5344CB8AC3E}">
        <p14:creationId xmlns:p14="http://schemas.microsoft.com/office/powerpoint/2010/main" val="206438127"/>
      </p:ext>
    </p:extLst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6.15. </a:t>
            </a:r>
            <a:r>
              <a:rPr lang="ko-KR" altLang="en-US" sz="2400" dirty="0">
                <a:latin typeface="+mn-ea"/>
              </a:rPr>
              <a:t>선분이력의 종료일자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선분이력 방법의 핵심은 종료일자이다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선분이력에서는 시작일자와 종료일자가 사용되는데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시작일자는 변경일자를 의미하기 때문에 특별히 종료일자에 대해서 설명할 것이다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선분이력 방법은 심각한 성능 문제가 없다면 사용하지 않아야 한다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즉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종료일자</a:t>
            </a:r>
            <a:r>
              <a:rPr lang="ko-KR" altLang="en-US" sz="1400" b="1" dirty="0">
                <a:latin typeface="+mn-ea"/>
              </a:rPr>
              <a:t>와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시작일자</a:t>
            </a:r>
            <a:r>
              <a:rPr lang="ko-KR" altLang="en-US" sz="1400" b="1" dirty="0">
                <a:latin typeface="+mn-ea"/>
              </a:rPr>
              <a:t>를 사용하는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대신</a:t>
            </a:r>
            <a:r>
              <a:rPr lang="ko-KR" altLang="en-US" sz="1400" b="1" dirty="0">
                <a:latin typeface="+mn-ea"/>
              </a:rPr>
              <a:t>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변경일자</a:t>
            </a:r>
            <a:r>
              <a:rPr lang="ko-KR" altLang="en-US" sz="1400" b="1" dirty="0">
                <a:latin typeface="+mn-ea"/>
              </a:rPr>
              <a:t>를 사용해야 한다</a:t>
            </a:r>
            <a:r>
              <a:rPr lang="en-US" altLang="ko-KR" sz="1400" b="1" dirty="0">
                <a:latin typeface="+mn-ea"/>
              </a:rPr>
              <a:t>. 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6.91] </a:t>
            </a:r>
            <a:r>
              <a:rPr lang="ko-KR" altLang="en-US" sz="1400" b="1" dirty="0">
                <a:latin typeface="+mn-ea"/>
              </a:rPr>
              <a:t>계좌관리사원이력 </a:t>
            </a:r>
            <a:r>
              <a:rPr lang="ko-KR" altLang="en-US" sz="1400" b="1" dirty="0" err="1">
                <a:latin typeface="+mn-ea"/>
              </a:rPr>
              <a:t>엔터티는</a:t>
            </a:r>
            <a:r>
              <a:rPr lang="ko-KR" altLang="en-US" sz="1400" b="1" dirty="0">
                <a:latin typeface="+mn-ea"/>
              </a:rPr>
              <a:t> 계좌의 계좌관리사원번호 속성에 대한 변경 데이터를 관리하는 이력 </a:t>
            </a:r>
            <a:r>
              <a:rPr lang="ko-KR" altLang="en-US" sz="1400" b="1" dirty="0" err="1">
                <a:latin typeface="+mn-ea"/>
              </a:rPr>
              <a:t>엔터티다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선분이력을 사용할 때는 종료일자 속성을 주 식별자에 포함시키는 것이 효과적이다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이에 대해서는 </a:t>
            </a:r>
            <a:r>
              <a:rPr lang="en-US" altLang="ko-KR" sz="1400" b="1" dirty="0">
                <a:latin typeface="+mn-ea"/>
              </a:rPr>
              <a:t>6.17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이력 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주 식별자</a:t>
            </a:r>
            <a:r>
              <a:rPr lang="en-US" altLang="ko-KR" sz="1400" b="1" dirty="0">
                <a:latin typeface="+mn-ea"/>
              </a:rPr>
              <a:t>)</a:t>
            </a:r>
            <a:r>
              <a:rPr lang="ko-KR" altLang="en-US" sz="1400" b="1" dirty="0">
                <a:latin typeface="+mn-ea"/>
              </a:rPr>
              <a:t>에서 자세하게 설명할 것이다</a:t>
            </a:r>
            <a:r>
              <a:rPr lang="en-US" altLang="ko-KR" sz="1400" b="1" dirty="0">
                <a:latin typeface="+mn-ea"/>
              </a:rPr>
              <a:t>. 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6.93] </a:t>
            </a:r>
            <a:r>
              <a:rPr lang="ko-KR" altLang="en-US" sz="1400" b="1" dirty="0">
                <a:latin typeface="+mn-ea"/>
              </a:rPr>
              <a:t>모델에 대한 릴레이션은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6.94]</a:t>
            </a:r>
            <a:r>
              <a:rPr lang="ko-KR" altLang="en-US" sz="1400" b="1" dirty="0">
                <a:latin typeface="+mn-ea"/>
              </a:rPr>
              <a:t>와 같다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5D7C1F1-3936-0826-C9EB-28CDE3029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262" y="2775693"/>
            <a:ext cx="4191585" cy="12574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0AC8F0D-35A9-CDE6-AEFA-A17039932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564" y="2356534"/>
            <a:ext cx="3324689" cy="167663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1380CAB-79E3-3672-CAEF-B777D362BB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325" y="5149754"/>
            <a:ext cx="4153480" cy="128605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967C5D82-153A-6839-B5D6-CD2E732D38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1339" y="4749648"/>
            <a:ext cx="3343742" cy="168616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767355AF-699D-635C-68CC-C9131D2B1B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8906" y="5292648"/>
            <a:ext cx="3743847" cy="114316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F010E53-C1E5-D206-D07F-621EB6E44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288</a:t>
            </a:fld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4D2D709-B2C6-4AED-A217-4842855EEEF7}"/>
              </a:ext>
            </a:extLst>
          </p:cNvPr>
          <p:cNvSpPr/>
          <p:nvPr/>
        </p:nvSpPr>
        <p:spPr>
          <a:xfrm>
            <a:off x="2047835" y="5592727"/>
            <a:ext cx="947292" cy="182921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2509155"/>
      </p:ext>
    </p:extLst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6.15. </a:t>
            </a:r>
            <a:r>
              <a:rPr lang="ko-KR" altLang="en-US" sz="2400" dirty="0">
                <a:latin typeface="+mn-ea"/>
              </a:rPr>
              <a:t>선분이력의 종료일자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6.91] </a:t>
            </a:r>
            <a:r>
              <a:rPr lang="ko-KR" altLang="en-US" sz="1400" b="1" dirty="0">
                <a:latin typeface="+mn-ea"/>
              </a:rPr>
              <a:t>모델과 같이 현재 유효한 관리사원과 변경된 지난 관 리사 원 을 분리해서 관리하는 경우보다는</a:t>
            </a:r>
            <a:r>
              <a:rPr lang="en-US" altLang="ko-KR" sz="1400" b="1" dirty="0">
                <a:latin typeface="+mn-ea"/>
              </a:rPr>
              <a:t>,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6.97]</a:t>
            </a:r>
            <a:r>
              <a:rPr lang="ko-KR" altLang="en-US" sz="1400" b="1" dirty="0">
                <a:latin typeface="+mn-ea"/>
              </a:rPr>
              <a:t> 모델처럼 함께 관리하는 경우 더 주의해야 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계좌관리사원 </a:t>
            </a:r>
            <a:r>
              <a:rPr lang="ko-KR" altLang="en-US" sz="1400" b="1" dirty="0" err="1">
                <a:latin typeface="+mn-ea"/>
              </a:rPr>
              <a:t>엔터티는</a:t>
            </a:r>
            <a:r>
              <a:rPr lang="ko-KR" altLang="en-US" sz="1400" b="1" dirty="0">
                <a:latin typeface="+mn-ea"/>
              </a:rPr>
              <a:t> 현재 유효한 관리사원과 변경된 지난 관리사원을 같이 관리한다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따라서 계좌 </a:t>
            </a:r>
            <a:r>
              <a:rPr lang="ko-KR" altLang="en-US" sz="1400" b="1" dirty="0" err="1">
                <a:latin typeface="+mn-ea"/>
              </a:rPr>
              <a:t>엔터티에는</a:t>
            </a:r>
            <a:r>
              <a:rPr lang="ko-KR" altLang="en-US" sz="1400" b="1" dirty="0">
                <a:latin typeface="+mn-ea"/>
              </a:rPr>
              <a:t> 계좌관리사원번호 속성이 없다</a:t>
            </a:r>
            <a:r>
              <a:rPr lang="en-US" altLang="ko-KR" sz="1400" b="1" dirty="0">
                <a:latin typeface="+mn-ea"/>
              </a:rPr>
              <a:t>. 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6.97]</a:t>
            </a:r>
            <a:r>
              <a:rPr lang="ko-KR" altLang="en-US" sz="1400" b="1" dirty="0">
                <a:latin typeface="+mn-ea"/>
              </a:rPr>
              <a:t>모델에 대해 선분이력을 설계한 모델은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6.98]</a:t>
            </a:r>
            <a:r>
              <a:rPr lang="ko-KR" altLang="en-US" sz="1400" b="1" dirty="0">
                <a:latin typeface="+mn-ea"/>
              </a:rPr>
              <a:t>과 같다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6.98] </a:t>
            </a:r>
            <a:r>
              <a:rPr lang="ko-KR" altLang="en-US" sz="1400" b="1" dirty="0">
                <a:latin typeface="+mn-ea"/>
              </a:rPr>
              <a:t>모델에 대해서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6.92] </a:t>
            </a:r>
            <a:r>
              <a:rPr lang="ko-KR" altLang="en-US" sz="1400" b="1" dirty="0">
                <a:latin typeface="+mn-ea"/>
              </a:rPr>
              <a:t>릴레이션과 똑같이 관리사원이 변경됐다면</a:t>
            </a:r>
            <a:r>
              <a:rPr lang="en-US" altLang="ko-KR" sz="1400" b="1" dirty="0">
                <a:latin typeface="+mn-ea"/>
              </a:rPr>
              <a:t>, 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6.99] </a:t>
            </a:r>
            <a:r>
              <a:rPr lang="ko-KR" altLang="en-US" sz="1400" b="1" dirty="0">
                <a:latin typeface="+mn-ea"/>
              </a:rPr>
              <a:t>릴레이션이 된다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9BAE9C5-06F2-8B81-D45D-FDC9BB5D7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60" y="2898979"/>
            <a:ext cx="3982006" cy="112410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54CB23A-2A1F-81A0-4D05-42322F01C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182" y="2887142"/>
            <a:ext cx="4001058" cy="113363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BDD1D03-F00E-C79B-8D54-2EB7838596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287" y="4875154"/>
            <a:ext cx="2876951" cy="112410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0FF1497-9C5F-D2A8-9B04-E1B26319EE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709" y="4646522"/>
            <a:ext cx="2896004" cy="1352739"/>
          </a:xfrm>
          <a:prstGeom prst="rect">
            <a:avLst/>
          </a:prstGeom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5FCA8DB-F2B0-919F-297D-650FD99DF5EE}"/>
              </a:ext>
            </a:extLst>
          </p:cNvPr>
          <p:cNvSpPr/>
          <p:nvPr/>
        </p:nvSpPr>
        <p:spPr>
          <a:xfrm>
            <a:off x="7807507" y="5411744"/>
            <a:ext cx="671476" cy="176256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EEDE45D-51AF-501F-7878-9237E8737B17}"/>
              </a:ext>
            </a:extLst>
          </p:cNvPr>
          <p:cNvSpPr/>
          <p:nvPr/>
        </p:nvSpPr>
        <p:spPr>
          <a:xfrm>
            <a:off x="7230235" y="5583382"/>
            <a:ext cx="2825769" cy="176256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22F1386-AD11-2633-B2F1-DA6176171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289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3146859"/>
      </p:ext>
    </p:extLst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6.16. </a:t>
            </a:r>
            <a:r>
              <a:rPr lang="ko-KR" altLang="en-US" sz="2400" dirty="0">
                <a:latin typeface="+mn-ea"/>
              </a:rPr>
              <a:t>기간을 의미하는 종료일자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종료일자</a:t>
            </a:r>
            <a:r>
              <a:rPr lang="ko-KR" altLang="en-US" sz="1400" b="1" dirty="0">
                <a:latin typeface="+mn-ea"/>
              </a:rPr>
              <a:t> 속성은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이력 데이터를 설계</a:t>
            </a:r>
            <a:r>
              <a:rPr lang="ko-KR" altLang="en-US" sz="1400" b="1" dirty="0">
                <a:latin typeface="+mn-ea"/>
              </a:rPr>
              <a:t>하기 위한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추출 속성</a:t>
            </a:r>
            <a:r>
              <a:rPr lang="ko-KR" altLang="en-US" sz="1400" b="1" dirty="0">
                <a:latin typeface="+mn-ea"/>
              </a:rPr>
              <a:t>이다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하지만 기간을 의미하는 종료일자 속성은 이력 데이터와 다르므로 구별해야 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선분이력을 위한 종료일자와 기간을 의미하는 종료일자는 다르다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6.101] </a:t>
            </a:r>
            <a:r>
              <a:rPr lang="ko-KR" altLang="en-US" sz="1400" b="1" dirty="0">
                <a:latin typeface="+mn-ea"/>
              </a:rPr>
              <a:t>보험계약 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보험시작일자와 보험종료일자 속성은 선분이력을 위해 설계한 속성이 아니다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보험시작일자와 보험종료일자 속성은 추출 속성이 아니고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보험 기간을 의미하는 업무에서 사용하는 속성이다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핵심적인 기초 속성이므로 생략하면 안 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만약 보험 기간의 변경 데이터를 선분이력 방법으로 관리한다면</a:t>
            </a:r>
            <a:r>
              <a:rPr lang="en-US" altLang="ko-KR" sz="1400" b="1" dirty="0">
                <a:latin typeface="+mn-ea"/>
              </a:rPr>
              <a:t>, [</a:t>
            </a:r>
            <a:r>
              <a:rPr lang="ko-KR" altLang="en-US" sz="1400" b="1" dirty="0">
                <a:latin typeface="+mn-ea"/>
              </a:rPr>
              <a:t>그림</a:t>
            </a:r>
            <a:r>
              <a:rPr lang="en-US" altLang="ko-KR" sz="1400" b="1" dirty="0">
                <a:latin typeface="+mn-ea"/>
              </a:rPr>
              <a:t>6.102]</a:t>
            </a:r>
            <a:r>
              <a:rPr lang="ko-KR" altLang="en-US" sz="1400" b="1" dirty="0">
                <a:latin typeface="+mn-ea"/>
              </a:rPr>
              <a:t>와 같은 모델을 사용할 수 있다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‘</a:t>
            </a:r>
            <a:r>
              <a:rPr lang="en-US" altLang="ko-KR" sz="1400" b="1" dirty="0">
                <a:latin typeface="+mn-ea"/>
              </a:rPr>
              <a:t>2035</a:t>
            </a:r>
            <a:r>
              <a:rPr lang="ko-KR" altLang="en-US" sz="1400" b="1" dirty="0">
                <a:latin typeface="+mn-ea"/>
              </a:rPr>
              <a:t>년 </a:t>
            </a:r>
            <a:r>
              <a:rPr lang="en-US" altLang="ko-KR" sz="1400" b="1" dirty="0">
                <a:latin typeface="+mn-ea"/>
              </a:rPr>
              <a:t>4</a:t>
            </a:r>
            <a:r>
              <a:rPr lang="ko-KR" altLang="en-US" sz="1400" b="1" dirty="0">
                <a:latin typeface="+mn-ea"/>
              </a:rPr>
              <a:t>월 </a:t>
            </a:r>
            <a:r>
              <a:rPr lang="en-US" altLang="ko-KR" sz="1400" b="1" dirty="0">
                <a:latin typeface="+mn-ea"/>
              </a:rPr>
              <a:t>30</a:t>
            </a:r>
            <a:r>
              <a:rPr lang="ko-KR" altLang="en-US" sz="1400" b="1" dirty="0">
                <a:latin typeface="+mn-ea"/>
              </a:rPr>
              <a:t>일’ 에 보험 계약했을 때의 릴레이션은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6.103]</a:t>
            </a:r>
            <a:r>
              <a:rPr lang="ko-KR" altLang="en-US" sz="1400" b="1" dirty="0">
                <a:latin typeface="+mn-ea"/>
              </a:rPr>
              <a:t>과 같다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보험 계약기간이  </a:t>
            </a:r>
            <a:r>
              <a:rPr lang="en-US" altLang="ko-KR" sz="1400" b="1" dirty="0">
                <a:latin typeface="+mn-ea"/>
              </a:rPr>
              <a:t>10</a:t>
            </a:r>
            <a:r>
              <a:rPr lang="ko-KR" altLang="en-US" sz="1400" b="1" dirty="0">
                <a:latin typeface="+mn-ea"/>
              </a:rPr>
              <a:t>년인데</a:t>
            </a:r>
            <a:r>
              <a:rPr lang="en-US" altLang="ko-KR" sz="1400" b="1" dirty="0">
                <a:latin typeface="+mn-ea"/>
              </a:rPr>
              <a:t>, 2045</a:t>
            </a:r>
            <a:r>
              <a:rPr lang="ko-KR" altLang="en-US" sz="1400" b="1" dirty="0">
                <a:latin typeface="+mn-ea"/>
              </a:rPr>
              <a:t>년 </a:t>
            </a:r>
            <a:r>
              <a:rPr lang="en-US" altLang="ko-KR" sz="1400" b="1" dirty="0">
                <a:latin typeface="+mn-ea"/>
              </a:rPr>
              <a:t>3</a:t>
            </a:r>
            <a:r>
              <a:rPr lang="ko-KR" altLang="en-US" sz="1400" b="1" dirty="0">
                <a:latin typeface="+mn-ea"/>
              </a:rPr>
              <a:t>월 </a:t>
            </a:r>
            <a:r>
              <a:rPr lang="en-US" altLang="ko-KR" sz="1400" b="1" dirty="0">
                <a:latin typeface="+mn-ea"/>
              </a:rPr>
              <a:t>2</a:t>
            </a:r>
            <a:r>
              <a:rPr lang="ko-KR" altLang="en-US" sz="1400" b="1" dirty="0">
                <a:latin typeface="+mn-ea"/>
              </a:rPr>
              <a:t>일에 보험계약 기간을 </a:t>
            </a:r>
            <a:r>
              <a:rPr lang="en-US" altLang="ko-KR" sz="1400" b="1" dirty="0">
                <a:latin typeface="+mn-ea"/>
              </a:rPr>
              <a:t>2050</a:t>
            </a:r>
            <a:r>
              <a:rPr lang="ko-KR" altLang="en-US" sz="1400" b="1" dirty="0">
                <a:latin typeface="+mn-ea"/>
              </a:rPr>
              <a:t>년 </a:t>
            </a:r>
            <a:r>
              <a:rPr lang="en-US" altLang="ko-KR" sz="1400" b="1" dirty="0">
                <a:latin typeface="+mn-ea"/>
              </a:rPr>
              <a:t>4</a:t>
            </a:r>
            <a:r>
              <a:rPr lang="ko-KR" altLang="en-US" sz="1400" b="1" dirty="0">
                <a:latin typeface="+mn-ea"/>
              </a:rPr>
              <a:t>월 </a:t>
            </a:r>
            <a:r>
              <a:rPr lang="en-US" altLang="ko-KR" sz="1400" b="1" dirty="0">
                <a:latin typeface="+mn-ea"/>
              </a:rPr>
              <a:t>30</a:t>
            </a:r>
            <a:r>
              <a:rPr lang="ko-KR" altLang="en-US" sz="1400" b="1" dirty="0">
                <a:latin typeface="+mn-ea"/>
              </a:rPr>
              <a:t>일 까지로 연장하고</a:t>
            </a:r>
            <a:r>
              <a:rPr lang="en-US" altLang="ko-KR" sz="1400" b="1" dirty="0">
                <a:latin typeface="+mn-ea"/>
              </a:rPr>
              <a:t>,</a:t>
            </a:r>
            <a:r>
              <a:rPr lang="ko-KR" altLang="en-US" sz="1400" b="1" dirty="0">
                <a:latin typeface="+mn-ea"/>
              </a:rPr>
              <a:t> </a:t>
            </a:r>
            <a:r>
              <a:rPr lang="en-US" altLang="ko-KR" sz="1400" b="1" dirty="0">
                <a:latin typeface="+mn-ea"/>
              </a:rPr>
              <a:t>3</a:t>
            </a:r>
            <a:r>
              <a:rPr lang="ko-KR" altLang="en-US" sz="1400" b="1" dirty="0">
                <a:latin typeface="+mn-ea"/>
              </a:rPr>
              <a:t>월 </a:t>
            </a:r>
            <a:r>
              <a:rPr lang="en-US" altLang="ko-KR" sz="1400" b="1" dirty="0">
                <a:latin typeface="+mn-ea"/>
              </a:rPr>
              <a:t>10</a:t>
            </a:r>
            <a:r>
              <a:rPr lang="ko-KR" altLang="en-US" sz="1400" b="1" dirty="0">
                <a:latin typeface="+mn-ea"/>
              </a:rPr>
              <a:t>일에 </a:t>
            </a:r>
            <a:r>
              <a:rPr lang="en-US" altLang="ko-KR" sz="1400" b="1" dirty="0">
                <a:latin typeface="+mn-ea"/>
              </a:rPr>
              <a:t>2055</a:t>
            </a:r>
            <a:r>
              <a:rPr lang="ko-KR" altLang="en-US" sz="1400" b="1" dirty="0">
                <a:latin typeface="+mn-ea"/>
              </a:rPr>
              <a:t>년 </a:t>
            </a:r>
            <a:r>
              <a:rPr lang="en-US" altLang="ko-KR" sz="1400" b="1" dirty="0">
                <a:latin typeface="+mn-ea"/>
              </a:rPr>
              <a:t>4</a:t>
            </a:r>
            <a:r>
              <a:rPr lang="ko-KR" altLang="en-US" sz="1400" b="1" dirty="0">
                <a:latin typeface="+mn-ea"/>
              </a:rPr>
              <a:t>월 </a:t>
            </a:r>
            <a:r>
              <a:rPr lang="en-US" altLang="ko-KR" sz="1400" b="1" dirty="0">
                <a:latin typeface="+mn-ea"/>
              </a:rPr>
              <a:t>30</a:t>
            </a:r>
            <a:r>
              <a:rPr lang="ko-KR" altLang="en-US" sz="1400" b="1" dirty="0">
                <a:latin typeface="+mn-ea"/>
              </a:rPr>
              <a:t>일 까지로 다시 연장했다면 릴레이션은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6.104] </a:t>
            </a:r>
            <a:r>
              <a:rPr lang="ko-KR" altLang="en-US" sz="1400" b="1" dirty="0">
                <a:latin typeface="+mn-ea"/>
              </a:rPr>
              <a:t>와 같다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7F180DB-E2DE-D8C1-E055-83B861EDF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775" y="2243769"/>
            <a:ext cx="1752845" cy="140989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D0FF126-2BDB-9B60-2EE1-BF67E651F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4971" y="2216062"/>
            <a:ext cx="2724530" cy="140989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DEADD7A-9BEA-A230-EE8B-4C5AF7EA9A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3520" y="2872507"/>
            <a:ext cx="3762900" cy="78115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476C45F-3CDA-1F66-6DB1-83EF5E636B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5415" y="5399256"/>
            <a:ext cx="4010585" cy="581106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FE45BCF-358D-F170-E2ED-212F5EAE79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9427" y="5405854"/>
            <a:ext cx="3572374" cy="981212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DC3CF54-FFA4-04BE-935D-2AFF018BE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290</a:t>
            </a:fld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D0E67DB-F218-4AEA-95B7-D24962587D45}"/>
              </a:ext>
            </a:extLst>
          </p:cNvPr>
          <p:cNvSpPr/>
          <p:nvPr/>
        </p:nvSpPr>
        <p:spPr>
          <a:xfrm>
            <a:off x="5714766" y="2643531"/>
            <a:ext cx="1105912" cy="304942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5D4FADD-710E-4919-881A-7072645D6BC8}"/>
              </a:ext>
            </a:extLst>
          </p:cNvPr>
          <p:cNvSpPr/>
          <p:nvPr/>
        </p:nvSpPr>
        <p:spPr>
          <a:xfrm>
            <a:off x="4470031" y="2768539"/>
            <a:ext cx="820716" cy="304942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B96AA1C-5E9F-4DF6-8FD1-811023B132CB}"/>
              </a:ext>
            </a:extLst>
          </p:cNvPr>
          <p:cNvSpPr/>
          <p:nvPr/>
        </p:nvSpPr>
        <p:spPr>
          <a:xfrm>
            <a:off x="5826487" y="2958144"/>
            <a:ext cx="820716" cy="304942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6641116D-62A2-47D7-B396-6F40BDA87DCF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5290747" y="2921010"/>
            <a:ext cx="535740" cy="189605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684994"/>
      </p:ext>
    </p:extLst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6.17. </a:t>
            </a:r>
            <a:r>
              <a:rPr lang="ko-KR" altLang="en-US" sz="2400" dirty="0">
                <a:latin typeface="+mn-ea"/>
              </a:rPr>
              <a:t>이력 </a:t>
            </a:r>
            <a:r>
              <a:rPr lang="ko-KR" altLang="en-US" sz="2400" dirty="0" err="1">
                <a:latin typeface="+mn-ea"/>
              </a:rPr>
              <a:t>엔터티의</a:t>
            </a:r>
            <a:r>
              <a:rPr lang="ko-KR" altLang="en-US" sz="2400" dirty="0">
                <a:latin typeface="+mn-ea"/>
              </a:rPr>
              <a:t> 주 식별자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이력 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주 식별자에 대해 설명할 것이다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특히 선분이력 방법에서 종료일자 속성이 주 식별자에 포함돼야 지와 인조 식별자인 </a:t>
            </a:r>
            <a:r>
              <a:rPr lang="ko-KR" altLang="en-US" sz="1400" b="1" dirty="0" err="1">
                <a:latin typeface="+mn-ea"/>
              </a:rPr>
              <a:t>변경순번</a:t>
            </a:r>
            <a:r>
              <a:rPr lang="ko-KR" altLang="en-US" sz="1400" b="1" dirty="0">
                <a:latin typeface="+mn-ea"/>
              </a:rPr>
              <a:t> 속성을 사용해야 하는지를 중점으로 설명할 것이다</a:t>
            </a:r>
            <a:r>
              <a:rPr lang="en-US" altLang="ko-KR" sz="1400" b="1" dirty="0">
                <a:latin typeface="+mn-ea"/>
              </a:rPr>
              <a:t>. 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6.105]  </a:t>
            </a:r>
            <a:r>
              <a:rPr lang="ko-KR" altLang="en-US" sz="1400" b="1" dirty="0">
                <a:latin typeface="+mn-ea"/>
              </a:rPr>
              <a:t>모델은 계좌의 변경된 비밀번호를 별도로 관리하는 일반적인 이력 </a:t>
            </a:r>
            <a:r>
              <a:rPr lang="ko-KR" altLang="en-US" sz="1400" b="1" dirty="0" err="1">
                <a:latin typeface="+mn-ea"/>
              </a:rPr>
              <a:t>엔터티다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6.105] </a:t>
            </a:r>
            <a:r>
              <a:rPr lang="ko-KR" altLang="en-US" sz="1400" b="1" dirty="0">
                <a:latin typeface="+mn-ea"/>
              </a:rPr>
              <a:t>모델은 계좌의 변경된 비밀번호를 별도로 관리하는 일반적인 이력 </a:t>
            </a:r>
            <a:r>
              <a:rPr lang="ko-KR" altLang="en-US" sz="1400" b="1" dirty="0" err="1">
                <a:latin typeface="+mn-ea"/>
              </a:rPr>
              <a:t>엔터티다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계좌비밀번호 </a:t>
            </a:r>
            <a:r>
              <a:rPr lang="ko-KR" altLang="en-US" sz="1400" b="1" dirty="0" err="1">
                <a:latin typeface="+mn-ea"/>
              </a:rPr>
              <a:t>엔터티에서는</a:t>
            </a:r>
            <a:r>
              <a:rPr lang="ko-KR" altLang="en-US" sz="1400" b="1" dirty="0">
                <a:latin typeface="+mn-ea"/>
              </a:rPr>
              <a:t> 현재 유효한 비밀번호와 과거에 변경돼 무효화된 비밀번호를 함께 관리한다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이를 선분이력이 되도록 설계하면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6.106] </a:t>
            </a:r>
            <a:r>
              <a:rPr lang="ko-KR" altLang="en-US" sz="1400" b="1" dirty="0">
                <a:latin typeface="+mn-ea"/>
              </a:rPr>
              <a:t>모델과 같다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선분이력 모델에서 시작일자와 종료일자 속성 중에 어떤 속성이 주 식별자에 포함돼야 하는지에 대한 이견이 있다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이에 대한 판단은 일단 순수하게 성능 관점에서 이루어져야 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선분이력 방법은 성능을</a:t>
            </a:r>
            <a:r>
              <a:rPr lang="en-US" altLang="ko-KR" sz="1400" b="1" dirty="0">
                <a:latin typeface="+mn-ea"/>
              </a:rPr>
              <a:t> </a:t>
            </a:r>
            <a:r>
              <a:rPr lang="ko-KR" altLang="en-US" sz="1400" b="1" dirty="0">
                <a:latin typeface="+mn-ea"/>
              </a:rPr>
              <a:t>극대화하려는 방법이기 때문이다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6.106]  </a:t>
            </a:r>
            <a:r>
              <a:rPr lang="ko-KR" altLang="en-US" sz="1400" b="1" dirty="0">
                <a:latin typeface="+mn-ea"/>
              </a:rPr>
              <a:t>모델과 같이 유효시작일자 속성을 주 식별자에 포함시킨 모델에서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현재의 비밀번호를 조회하는 쿼리는 아래와 같다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유효시작일자 등 일자속성의 데이터 타입은 편의상 </a:t>
            </a:r>
            <a:r>
              <a:rPr lang="en-US" altLang="ko-KR" sz="1400" b="1" dirty="0">
                <a:latin typeface="+mn-ea"/>
              </a:rPr>
              <a:t>Varchar  </a:t>
            </a:r>
            <a:r>
              <a:rPr lang="ko-KR" altLang="en-US" sz="1400" b="1" dirty="0">
                <a:latin typeface="+mn-ea"/>
              </a:rPr>
              <a:t>타입으로 가정한다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C2B716C-4B0A-A0D3-26F4-887998911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590" y="2733449"/>
            <a:ext cx="2486372" cy="109552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FDF26A4-7E5A-D3BA-71E3-1CC396BC9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589" y="2714396"/>
            <a:ext cx="2743583" cy="1114581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8DD0E8F-35C4-E7B5-6D2E-AC1C1308E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291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0792458"/>
      </p:ext>
    </p:extLst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6.17. </a:t>
            </a:r>
            <a:r>
              <a:rPr lang="ko-KR" altLang="en-US" sz="2400" dirty="0">
                <a:latin typeface="+mn-ea"/>
              </a:rPr>
              <a:t>이력 </a:t>
            </a:r>
            <a:r>
              <a:rPr lang="ko-KR" altLang="en-US" sz="2400" dirty="0" err="1">
                <a:latin typeface="+mn-ea"/>
              </a:rPr>
              <a:t>엔터티의</a:t>
            </a:r>
            <a:r>
              <a:rPr lang="ko-KR" altLang="en-US" sz="2400" dirty="0">
                <a:latin typeface="+mn-ea"/>
              </a:rPr>
              <a:t> 주 식별자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위의 쿼리는 조건절에 유효시작일자가 포함되지 않아  </a:t>
            </a:r>
            <a:r>
              <a:rPr lang="en-US" altLang="ko-KR" sz="1400" b="1" dirty="0">
                <a:latin typeface="+mn-ea"/>
              </a:rPr>
              <a:t>P K  </a:t>
            </a:r>
            <a:r>
              <a:rPr lang="ko-KR" altLang="en-US" sz="1400" b="1" dirty="0">
                <a:latin typeface="+mn-ea"/>
              </a:rPr>
              <a:t>인덱스인  ‘ 계 좌 번 호 </a:t>
            </a:r>
            <a:r>
              <a:rPr lang="en-US" altLang="ko-KR" sz="1400" b="1" dirty="0">
                <a:latin typeface="+mn-ea"/>
              </a:rPr>
              <a:t>+ </a:t>
            </a:r>
            <a:r>
              <a:rPr lang="ko-KR" altLang="en-US" sz="1400" b="1" dirty="0">
                <a:latin typeface="+mn-ea"/>
              </a:rPr>
              <a:t>유효시작일자 ’ 인덱스를 사용하지 못한다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따라서  ‘계좌번호</a:t>
            </a:r>
            <a:r>
              <a:rPr lang="en-US" altLang="ko-KR" sz="1400" b="1" dirty="0">
                <a:latin typeface="+mn-ea"/>
              </a:rPr>
              <a:t>+ </a:t>
            </a:r>
            <a:r>
              <a:rPr lang="ko-KR" altLang="en-US" sz="1400" b="1" dirty="0">
                <a:latin typeface="+mn-ea"/>
              </a:rPr>
              <a:t>유효종료일자’ 로 구성된 인덱스가 별도로 필요하다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만약 새로운 인덱스가 필요하지 않도록 유효종료일자 속성까지 주 식별자에 포함시키면 </a:t>
            </a:r>
            <a:r>
              <a:rPr lang="en-US" altLang="ko-KR" sz="1400" b="1" dirty="0">
                <a:latin typeface="+mn-ea"/>
              </a:rPr>
              <a:t>PK </a:t>
            </a:r>
            <a:r>
              <a:rPr lang="ko-KR" altLang="en-US" sz="1400" b="1" dirty="0">
                <a:latin typeface="+mn-ea"/>
              </a:rPr>
              <a:t>인덱스 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계좌번호 </a:t>
            </a:r>
            <a:r>
              <a:rPr lang="en-US" altLang="ko-KR" sz="1400" b="1" dirty="0">
                <a:latin typeface="+mn-ea"/>
              </a:rPr>
              <a:t>+ </a:t>
            </a:r>
            <a:r>
              <a:rPr lang="ko-KR" altLang="en-US" sz="1400" b="1" dirty="0">
                <a:latin typeface="+mn-ea"/>
              </a:rPr>
              <a:t>유효시작일자 </a:t>
            </a:r>
            <a:r>
              <a:rPr lang="en-US" altLang="ko-KR" sz="1400" b="1" dirty="0">
                <a:latin typeface="+mn-ea"/>
              </a:rPr>
              <a:t>+ </a:t>
            </a:r>
            <a:r>
              <a:rPr lang="ko-KR" altLang="en-US" sz="1400" b="1" dirty="0">
                <a:latin typeface="+mn-ea"/>
              </a:rPr>
              <a:t>유효종료일자</a:t>
            </a:r>
            <a:r>
              <a:rPr lang="en-US" altLang="ko-KR" sz="1400" b="1" dirty="0">
                <a:latin typeface="+mn-ea"/>
              </a:rPr>
              <a:t>)</a:t>
            </a:r>
            <a:r>
              <a:rPr lang="ko-KR" altLang="en-US" sz="1400" b="1" dirty="0">
                <a:latin typeface="+mn-ea"/>
              </a:rPr>
              <a:t>가 무거워지며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위의 쿼리에 대해서는 이 </a:t>
            </a:r>
            <a:r>
              <a:rPr lang="en-US" altLang="ko-KR" sz="1400" b="1" dirty="0">
                <a:latin typeface="+mn-ea"/>
              </a:rPr>
              <a:t>PK  </a:t>
            </a:r>
            <a:r>
              <a:rPr lang="ko-KR" altLang="en-US" sz="1400" b="1" dirty="0">
                <a:latin typeface="+mn-ea"/>
              </a:rPr>
              <a:t>인덱스가 사용되지 않을 가능성도 존재해 바람직하지 않다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또한 현재 시점의 유효한 비밀번호는 대부분 요건에서 사용될 것이므로 ‘계좌번호 </a:t>
            </a:r>
            <a:r>
              <a:rPr lang="en-US" altLang="ko-KR" sz="1400" b="1" dirty="0">
                <a:latin typeface="+mn-ea"/>
              </a:rPr>
              <a:t>+ </a:t>
            </a:r>
            <a:r>
              <a:rPr lang="ko-KR" altLang="en-US" sz="1400" b="1" dirty="0">
                <a:latin typeface="+mn-ea"/>
              </a:rPr>
              <a:t>유효종료일자’ 로 구성된 인덱스를 만들어서 위의 쿼리를 최적화해야 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그리고 과거 특정일을 조회하는 쿼리는 다음과 같다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결국 유효시작일자 속성이 주 식별자에 포함된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6.106] </a:t>
            </a:r>
            <a:r>
              <a:rPr lang="ko-KR" altLang="en-US" sz="1400" b="1" dirty="0">
                <a:latin typeface="+mn-ea"/>
              </a:rPr>
              <a:t>모델에서 현재와 과거 시점의 비밀번호 조회를 위해 필요한 인덱스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990C31-A3F7-BBD2-27FD-B2F68D4B6DE1}"/>
              </a:ext>
            </a:extLst>
          </p:cNvPr>
          <p:cNvSpPr txBox="1"/>
          <p:nvPr/>
        </p:nvSpPr>
        <p:spPr>
          <a:xfrm>
            <a:off x="1782616" y="2712650"/>
            <a:ext cx="54956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2"/>
                </a:solidFill>
              </a:rPr>
              <a:t>--</a:t>
            </a:r>
            <a:r>
              <a:rPr lang="ko-KR" altLang="en-US" sz="1400" b="1" dirty="0">
                <a:solidFill>
                  <a:schemeClr val="accent2"/>
                </a:solidFill>
              </a:rPr>
              <a:t> 계좌의 현재 비밀번호를 조회하는 쿼리 </a:t>
            </a:r>
          </a:p>
          <a:p>
            <a:r>
              <a:rPr lang="en-US" altLang="ko-KR" sz="1400" b="1" dirty="0">
                <a:solidFill>
                  <a:schemeClr val="accent2"/>
                </a:solidFill>
              </a:rPr>
              <a:t>SELECT  </a:t>
            </a:r>
            <a:r>
              <a:rPr lang="ko-KR" altLang="en-US" sz="1400" b="1" dirty="0">
                <a:solidFill>
                  <a:schemeClr val="accent2"/>
                </a:solidFill>
              </a:rPr>
              <a:t>계좌비밀번호</a:t>
            </a:r>
          </a:p>
          <a:p>
            <a:r>
              <a:rPr lang="en-US" altLang="ko-KR" sz="1400" b="1" dirty="0">
                <a:solidFill>
                  <a:schemeClr val="accent2"/>
                </a:solidFill>
              </a:rPr>
              <a:t> FROM  </a:t>
            </a:r>
            <a:r>
              <a:rPr lang="ko-KR" altLang="en-US" sz="1400" b="1" dirty="0">
                <a:solidFill>
                  <a:schemeClr val="accent2"/>
                </a:solidFill>
              </a:rPr>
              <a:t>계좌비밀번호</a:t>
            </a:r>
          </a:p>
          <a:p>
            <a:r>
              <a:rPr lang="en-US" altLang="ko-KR" sz="1400" b="1" dirty="0">
                <a:solidFill>
                  <a:schemeClr val="accent2"/>
                </a:solidFill>
              </a:rPr>
              <a:t>WHERE  </a:t>
            </a:r>
            <a:r>
              <a:rPr lang="ko-KR" altLang="en-US" sz="1400" b="1" dirty="0">
                <a:solidFill>
                  <a:schemeClr val="accent2"/>
                </a:solidFill>
              </a:rPr>
              <a:t>유효종료일자 </a:t>
            </a:r>
            <a:r>
              <a:rPr lang="en-US" altLang="ko-KR" sz="1400" b="1" dirty="0">
                <a:solidFill>
                  <a:schemeClr val="accent2"/>
                </a:solidFill>
              </a:rPr>
              <a:t>= ‘99991231’</a:t>
            </a:r>
            <a:endParaRPr lang="ko-KR" altLang="en-US" sz="1400" b="1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2C1FD2-BF00-91E5-F005-8C8F3F01D5A7}"/>
              </a:ext>
            </a:extLst>
          </p:cNvPr>
          <p:cNvSpPr txBox="1"/>
          <p:nvPr/>
        </p:nvSpPr>
        <p:spPr>
          <a:xfrm>
            <a:off x="1782616" y="4159049"/>
            <a:ext cx="64192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400" b="1">
                <a:solidFill>
                  <a:schemeClr val="accent2"/>
                </a:solidFill>
              </a:defRPr>
            </a:lvl1pPr>
          </a:lstStyle>
          <a:p>
            <a:r>
              <a:rPr lang="en-US" altLang="ko-KR" dirty="0"/>
              <a:t>--</a:t>
            </a:r>
            <a:r>
              <a:rPr lang="ko-KR" altLang="en-US" dirty="0"/>
              <a:t> </a:t>
            </a:r>
            <a:r>
              <a:rPr lang="ko-KR" altLang="en-US" u="sng" dirty="0">
                <a:solidFill>
                  <a:srgbClr val="FF0000"/>
                </a:solidFill>
              </a:rPr>
              <a:t>과거 특정일의 비밀번호</a:t>
            </a:r>
            <a:r>
              <a:rPr lang="ko-KR" altLang="en-US" dirty="0"/>
              <a:t>를 조회하는 쿼리 </a:t>
            </a:r>
          </a:p>
          <a:p>
            <a:r>
              <a:rPr lang="en-US" altLang="ko-KR" dirty="0"/>
              <a:t>SELECT  </a:t>
            </a:r>
            <a:r>
              <a:rPr lang="ko-KR" altLang="en-US" dirty="0"/>
              <a:t>계좌비밀번호  </a:t>
            </a:r>
          </a:p>
          <a:p>
            <a:r>
              <a:rPr lang="en-US" altLang="ko-KR" dirty="0"/>
              <a:t> FROM  </a:t>
            </a:r>
            <a:r>
              <a:rPr lang="ko-KR" altLang="en-US" dirty="0"/>
              <a:t>계좌비밀번호</a:t>
            </a:r>
          </a:p>
          <a:p>
            <a:r>
              <a:rPr lang="en-US" altLang="ko-KR" u="sng" dirty="0">
                <a:solidFill>
                  <a:srgbClr val="FF0000"/>
                </a:solidFill>
              </a:rPr>
              <a:t>WHERE  '20300123'  BETWEEEN  </a:t>
            </a:r>
            <a:r>
              <a:rPr lang="ko-KR" altLang="en-US" u="sng" dirty="0">
                <a:solidFill>
                  <a:srgbClr val="FF0000"/>
                </a:solidFill>
              </a:rPr>
              <a:t>유효시작일자 </a:t>
            </a:r>
            <a:r>
              <a:rPr lang="en-US" altLang="ko-KR" u="sng" dirty="0">
                <a:solidFill>
                  <a:srgbClr val="FF0000"/>
                </a:solidFill>
              </a:rPr>
              <a:t>AND </a:t>
            </a:r>
            <a:r>
              <a:rPr lang="ko-KR" altLang="en-US" u="sng" dirty="0">
                <a:solidFill>
                  <a:srgbClr val="FF0000"/>
                </a:solidFill>
              </a:rPr>
              <a:t>유효종료일자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6CECC-CC0C-5557-DE24-96747F5CB60E}"/>
              </a:ext>
            </a:extLst>
          </p:cNvPr>
          <p:cNvSpPr txBox="1"/>
          <p:nvPr/>
        </p:nvSpPr>
        <p:spPr>
          <a:xfrm>
            <a:off x="1782616" y="5462132"/>
            <a:ext cx="64192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400" b="1">
                <a:solidFill>
                  <a:schemeClr val="accent2"/>
                </a:solidFill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FF0000"/>
                </a:solidFill>
              </a:rPr>
              <a:t>Primary Key : </a:t>
            </a:r>
            <a:r>
              <a:rPr lang="ko-KR" altLang="en-US" dirty="0">
                <a:solidFill>
                  <a:srgbClr val="FF0000"/>
                </a:solidFill>
              </a:rPr>
              <a:t>계좌번호 </a:t>
            </a:r>
            <a:r>
              <a:rPr lang="en-US" altLang="ko-KR" dirty="0">
                <a:solidFill>
                  <a:srgbClr val="FF0000"/>
                </a:solidFill>
              </a:rPr>
              <a:t>+ </a:t>
            </a:r>
            <a:r>
              <a:rPr lang="ko-KR" altLang="en-US" dirty="0">
                <a:solidFill>
                  <a:srgbClr val="FF0000"/>
                </a:solidFill>
              </a:rPr>
              <a:t>유효시작일자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FF0000"/>
                </a:solidFill>
              </a:rPr>
              <a:t>Index1       </a:t>
            </a:r>
            <a:r>
              <a:rPr lang="ko-KR" altLang="en-US" dirty="0">
                <a:solidFill>
                  <a:srgbClr val="FF0000"/>
                </a:solidFill>
              </a:rPr>
              <a:t>：계좌번호 </a:t>
            </a:r>
            <a:r>
              <a:rPr lang="en-US" altLang="ko-KR" dirty="0">
                <a:solidFill>
                  <a:srgbClr val="FF0000"/>
                </a:solidFill>
              </a:rPr>
              <a:t>+ </a:t>
            </a:r>
            <a:r>
              <a:rPr lang="ko-KR" altLang="en-US" dirty="0">
                <a:solidFill>
                  <a:srgbClr val="FF0000"/>
                </a:solidFill>
              </a:rPr>
              <a:t>유효종료일자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FF0000"/>
                </a:solidFill>
              </a:rPr>
              <a:t>Index2        : </a:t>
            </a:r>
            <a:r>
              <a:rPr lang="ko-KR" altLang="en-US" dirty="0">
                <a:solidFill>
                  <a:srgbClr val="FF0000"/>
                </a:solidFill>
              </a:rPr>
              <a:t>계좌번호 </a:t>
            </a:r>
            <a:r>
              <a:rPr lang="en-US" altLang="ko-KR" dirty="0">
                <a:solidFill>
                  <a:srgbClr val="FF0000"/>
                </a:solidFill>
              </a:rPr>
              <a:t>+ </a:t>
            </a:r>
            <a:r>
              <a:rPr lang="ko-KR" altLang="en-US" dirty="0">
                <a:solidFill>
                  <a:srgbClr val="FF0000"/>
                </a:solidFill>
              </a:rPr>
              <a:t>유효시작일자 </a:t>
            </a:r>
            <a:r>
              <a:rPr lang="en-US" altLang="ko-KR" dirty="0">
                <a:solidFill>
                  <a:srgbClr val="FF0000"/>
                </a:solidFill>
              </a:rPr>
              <a:t>+ </a:t>
            </a:r>
            <a:r>
              <a:rPr lang="ko-KR" altLang="en-US" dirty="0">
                <a:solidFill>
                  <a:srgbClr val="FF0000"/>
                </a:solidFill>
              </a:rPr>
              <a:t>유효종료일자</a:t>
            </a:r>
            <a:endParaRPr lang="ko-KR" altLang="en-US" u="sng" dirty="0">
              <a:solidFill>
                <a:srgbClr val="FF000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E815B6-0831-62F0-4738-E74071D3A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292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8922412"/>
      </p:ext>
    </p:extLst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6.17. </a:t>
            </a:r>
            <a:r>
              <a:rPr lang="ko-KR" altLang="en-US" sz="2400" dirty="0">
                <a:latin typeface="+mn-ea"/>
              </a:rPr>
              <a:t>이력 </a:t>
            </a:r>
            <a:r>
              <a:rPr lang="ko-KR" altLang="en-US" sz="2400" dirty="0" err="1">
                <a:latin typeface="+mn-ea"/>
              </a:rPr>
              <a:t>엔터티의</a:t>
            </a:r>
            <a:r>
              <a:rPr lang="ko-KR" altLang="en-US" sz="2400" dirty="0">
                <a:latin typeface="+mn-ea"/>
              </a:rPr>
              <a:t> 주 식별자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유효시작일자 속성 대신에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유효종료일자 속성을 주 식별자에 포함시킨 모델</a:t>
            </a:r>
            <a:r>
              <a:rPr lang="ko-KR" altLang="en-US" sz="1400" b="1" dirty="0">
                <a:latin typeface="+mn-ea"/>
              </a:rPr>
              <a:t>은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6.107]</a:t>
            </a:r>
            <a:r>
              <a:rPr lang="ko-KR" altLang="en-US" sz="1400" b="1" dirty="0">
                <a:latin typeface="+mn-ea"/>
              </a:rPr>
              <a:t>과 같다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이 모델을 사용할 때 유의해야 할 점은 주 식별자 값에 업데이트가 발생하는 것이다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이는 주 식별자 값은 변경되지 않아야 한다는 기본적인 원칙에 어긋나는 것이기 때문에 보통 강하게 거부하기도 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또한 종료일자가 시작일자에 앞서 있어 뭔가 이상하게 생각하는 경향도 있다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하지만 선분이력 </a:t>
            </a:r>
            <a:r>
              <a:rPr lang="ko-KR" altLang="en-US" sz="1400" b="1" dirty="0" err="1">
                <a:latin typeface="+mn-ea"/>
              </a:rPr>
              <a:t>엔터티를</a:t>
            </a:r>
            <a:r>
              <a:rPr lang="ko-KR" altLang="en-US" sz="1400" b="1" dirty="0">
                <a:latin typeface="+mn-ea"/>
              </a:rPr>
              <a:t> 사용하는 유일한 목적은 성능 향상이다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따라서 가장 효율적인 성능이 나오도록 주 식별자를 구성할 필요가 있다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주 식별자인 유효종료일자 값이 업데이트된다고 별다른 문제를 일으키지는 않는다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쓰기 성능이 느려질 수 있지만 중요한 것은 조회 성능이다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다만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6 .1 0 </a:t>
            </a:r>
            <a:r>
              <a:rPr lang="ko-KR" altLang="en-US" sz="1400" b="1" dirty="0">
                <a:latin typeface="+mn-ea"/>
              </a:rPr>
              <a:t>기 계좌비밀번호 </a:t>
            </a:r>
            <a:r>
              <a:rPr lang="ko-KR" altLang="en-US" sz="1400" b="1" dirty="0" err="1">
                <a:latin typeface="+mn-ea"/>
              </a:rPr>
              <a:t>엔터티에</a:t>
            </a:r>
            <a:r>
              <a:rPr lang="ko-KR" altLang="en-US" sz="1400" b="1" dirty="0">
                <a:latin typeface="+mn-ea"/>
              </a:rPr>
              <a:t> 하위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자식</a:t>
            </a:r>
            <a:r>
              <a:rPr lang="en-US" altLang="ko-KR" sz="1400" b="1" dirty="0">
                <a:latin typeface="+mn-ea"/>
              </a:rPr>
              <a:t>) </a:t>
            </a:r>
            <a:r>
              <a:rPr lang="ko-KR" altLang="en-US" sz="1400" b="1" dirty="0" err="1">
                <a:latin typeface="+mn-ea"/>
              </a:rPr>
              <a:t>엔터티가</a:t>
            </a:r>
            <a:r>
              <a:rPr lang="ko-KR" altLang="en-US" sz="1400" b="1" dirty="0">
                <a:latin typeface="+mn-ea"/>
              </a:rPr>
              <a:t> 존재하면</a:t>
            </a:r>
            <a:r>
              <a:rPr lang="en-US" altLang="ko-KR" sz="1400" b="1" dirty="0">
                <a:latin typeface="+mn-ea"/>
              </a:rPr>
              <a:t>,</a:t>
            </a:r>
            <a:r>
              <a:rPr lang="ko-KR" altLang="en-US" sz="1400" b="1" dirty="0">
                <a:latin typeface="+mn-ea"/>
              </a:rPr>
              <a:t> 유효종료일자 속성을 주 식별자에 포함시키면 안 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하위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자식</a:t>
            </a:r>
            <a:r>
              <a:rPr lang="en-US" altLang="ko-KR" sz="1400" b="1" dirty="0">
                <a:latin typeface="+mn-ea"/>
              </a:rPr>
              <a:t>) 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주 식별자 값까지 업데이트해야 하기 때문이다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6.107]</a:t>
            </a:r>
            <a:r>
              <a:rPr lang="ko-KR" altLang="en-US" sz="1400" b="1" dirty="0">
                <a:latin typeface="+mn-ea"/>
              </a:rPr>
              <a:t> 모델에서 현재 유효한 비밀번호를 조회하는 쿼리는 다음과 같다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990C31-A3F7-BBD2-27FD-B2F68D4B6DE1}"/>
              </a:ext>
            </a:extLst>
          </p:cNvPr>
          <p:cNvSpPr txBox="1"/>
          <p:nvPr/>
        </p:nvSpPr>
        <p:spPr>
          <a:xfrm>
            <a:off x="1782613" y="5456580"/>
            <a:ext cx="54956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2"/>
                </a:solidFill>
              </a:rPr>
              <a:t>--</a:t>
            </a:r>
            <a:r>
              <a:rPr lang="ko-KR" altLang="en-US" sz="1400" b="1" dirty="0">
                <a:solidFill>
                  <a:schemeClr val="accent2"/>
                </a:solidFill>
              </a:rPr>
              <a:t> 계좌의 현재 비밀번호를 조회하는 쿼리 </a:t>
            </a:r>
          </a:p>
          <a:p>
            <a:r>
              <a:rPr lang="en-US" altLang="ko-KR" sz="1400" b="1" dirty="0">
                <a:solidFill>
                  <a:schemeClr val="accent2"/>
                </a:solidFill>
              </a:rPr>
              <a:t>SELECT  </a:t>
            </a:r>
            <a:r>
              <a:rPr lang="ko-KR" altLang="en-US" sz="1400" b="1" dirty="0">
                <a:solidFill>
                  <a:schemeClr val="accent2"/>
                </a:solidFill>
              </a:rPr>
              <a:t>계좌비밀번호</a:t>
            </a:r>
          </a:p>
          <a:p>
            <a:r>
              <a:rPr lang="en-US" altLang="ko-KR" sz="1400" b="1" dirty="0">
                <a:solidFill>
                  <a:schemeClr val="accent2"/>
                </a:solidFill>
              </a:rPr>
              <a:t> FROM  </a:t>
            </a:r>
            <a:r>
              <a:rPr lang="ko-KR" altLang="en-US" sz="1400" b="1" dirty="0">
                <a:solidFill>
                  <a:schemeClr val="accent2"/>
                </a:solidFill>
              </a:rPr>
              <a:t>계좌비밀번호</a:t>
            </a:r>
          </a:p>
          <a:p>
            <a:r>
              <a:rPr lang="en-US" altLang="ko-KR" sz="1400" b="1" dirty="0">
                <a:solidFill>
                  <a:schemeClr val="accent2"/>
                </a:solidFill>
              </a:rPr>
              <a:t>WHERE  </a:t>
            </a:r>
            <a:r>
              <a:rPr lang="ko-KR" altLang="en-US" sz="1400" b="1" dirty="0">
                <a:solidFill>
                  <a:schemeClr val="accent2"/>
                </a:solidFill>
              </a:rPr>
              <a:t>유효종료일자 </a:t>
            </a:r>
            <a:r>
              <a:rPr lang="en-US" altLang="ko-KR" sz="1400" b="1" dirty="0">
                <a:solidFill>
                  <a:schemeClr val="accent2"/>
                </a:solidFill>
              </a:rPr>
              <a:t>=  ‘99991231’</a:t>
            </a:r>
            <a:endParaRPr lang="ko-KR" altLang="en-US" sz="1400" b="1" dirty="0">
              <a:solidFill>
                <a:schemeClr val="accent2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4E636AE-C269-8269-932F-A6E76D679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319" y="1901739"/>
            <a:ext cx="2772162" cy="11812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8603525-82C8-A370-BA1A-463FAA277243}"/>
              </a:ext>
            </a:extLst>
          </p:cNvPr>
          <p:cNvSpPr txBox="1"/>
          <p:nvPr/>
        </p:nvSpPr>
        <p:spPr>
          <a:xfrm>
            <a:off x="6096000" y="5610467"/>
            <a:ext cx="56912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가장 자주 사용되는 현재의 비밀번호를 조회할 때 </a:t>
            </a:r>
            <a:r>
              <a:rPr lang="ko-KR" altLang="en-US" sz="1200" b="1" dirty="0" err="1"/>
              <a:t>옵티마이저가</a:t>
            </a:r>
            <a:r>
              <a:rPr lang="ko-KR" altLang="en-US" sz="1200" b="1" dirty="0"/>
              <a:t> PK 인덱스 </a:t>
            </a:r>
            <a:endParaRPr lang="en-US" altLang="ko-KR" sz="1200" b="1" dirty="0"/>
          </a:p>
          <a:p>
            <a:r>
              <a:rPr lang="ko-KR" altLang="en-US" sz="1200" b="1" dirty="0"/>
              <a:t>(계좌번호 + 유효종료일자) </a:t>
            </a:r>
            <a:r>
              <a:rPr lang="ko-KR" altLang="en-US" sz="1200" b="1" dirty="0" err="1"/>
              <a:t>를</a:t>
            </a:r>
            <a:r>
              <a:rPr lang="ko-KR" altLang="en-US" sz="1200" b="1" dirty="0"/>
              <a:t> 사용한다. 가장 중요한 요건에는 일반 인덱스를 사용하는 것보다 PK 인덱스를 사용하는 것이 효과적이다.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90C790-5144-D9AE-E1C7-09DB412BB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293</a:t>
            </a:fld>
            <a:endParaRPr lang="ko-KR" altLang="en-US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F2444A7-EAC2-4B6E-95F4-3D4877B3CE1B}"/>
              </a:ext>
            </a:extLst>
          </p:cNvPr>
          <p:cNvSpPr/>
          <p:nvPr/>
        </p:nvSpPr>
        <p:spPr>
          <a:xfrm>
            <a:off x="4843171" y="2130946"/>
            <a:ext cx="1007122" cy="350998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1840"/>
      </p:ext>
    </p:extLst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6.17. </a:t>
            </a:r>
            <a:r>
              <a:rPr lang="ko-KR" altLang="en-US" sz="2400" dirty="0">
                <a:latin typeface="+mn-ea"/>
              </a:rPr>
              <a:t>이력 </a:t>
            </a:r>
            <a:r>
              <a:rPr lang="ko-KR" altLang="en-US" sz="2400" dirty="0" err="1">
                <a:latin typeface="+mn-ea"/>
              </a:rPr>
              <a:t>엔터티의</a:t>
            </a:r>
            <a:r>
              <a:rPr lang="ko-KR" altLang="en-US" sz="2400" dirty="0">
                <a:latin typeface="+mn-ea"/>
              </a:rPr>
              <a:t> 주 식별자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과거 특정 시점의 비밀번호를 조회하는 쿼리는 다음과 같다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이때는 ‘계좌번호 </a:t>
            </a:r>
            <a:r>
              <a:rPr lang="en-US" altLang="ko-KR" sz="1400" b="1" dirty="0">
                <a:latin typeface="+mn-ea"/>
              </a:rPr>
              <a:t>+ </a:t>
            </a:r>
            <a:r>
              <a:rPr lang="ko-KR" altLang="en-US" sz="1400" b="1" dirty="0">
                <a:latin typeface="+mn-ea"/>
              </a:rPr>
              <a:t>유효시작일자 </a:t>
            </a:r>
            <a:r>
              <a:rPr lang="en-US" altLang="ko-KR" sz="1400" b="1" dirty="0">
                <a:latin typeface="+mn-ea"/>
              </a:rPr>
              <a:t>+ </a:t>
            </a:r>
            <a:r>
              <a:rPr lang="ko-KR" altLang="en-US" sz="1400" b="1" dirty="0">
                <a:latin typeface="+mn-ea"/>
              </a:rPr>
              <a:t>유효종료일자’ 로 구성된 유니크 인덱스를 생성해 해당 쿼리에 대한 성능을 최적화해야 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따라서 필요한 인덱스는 아래와 같이 두 개가 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그 밖에 실무에서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6.108] </a:t>
            </a:r>
            <a:r>
              <a:rPr lang="ko-KR" altLang="en-US" sz="1400" b="1" dirty="0">
                <a:latin typeface="+mn-ea"/>
              </a:rPr>
              <a:t>모델과 같이 </a:t>
            </a:r>
            <a:r>
              <a:rPr lang="ko-KR" altLang="en-US" sz="1400" b="1" dirty="0" err="1">
                <a:latin typeface="+mn-ea"/>
              </a:rPr>
              <a:t>변경순번</a:t>
            </a:r>
            <a:r>
              <a:rPr lang="ko-KR" altLang="en-US" sz="1400" b="1" dirty="0">
                <a:latin typeface="+mn-ea"/>
              </a:rPr>
              <a:t> 속성을 주 식별자에 포함시킨 모델을 자주 사용한다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A44EEC-AC63-86E1-4EEC-E3F972B78FD0}"/>
              </a:ext>
            </a:extLst>
          </p:cNvPr>
          <p:cNvSpPr txBox="1"/>
          <p:nvPr/>
        </p:nvSpPr>
        <p:spPr>
          <a:xfrm>
            <a:off x="1782616" y="1997737"/>
            <a:ext cx="64192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400" b="1">
                <a:solidFill>
                  <a:schemeClr val="accent2"/>
                </a:solidFill>
              </a:defRPr>
            </a:lvl1pPr>
          </a:lstStyle>
          <a:p>
            <a:r>
              <a:rPr lang="en-US" altLang="ko-KR" dirty="0"/>
              <a:t>--</a:t>
            </a:r>
            <a:r>
              <a:rPr lang="ko-KR" altLang="en-US" dirty="0"/>
              <a:t> </a:t>
            </a:r>
            <a:r>
              <a:rPr lang="ko-KR" altLang="en-US" u="sng" dirty="0">
                <a:solidFill>
                  <a:srgbClr val="FF0000"/>
                </a:solidFill>
              </a:rPr>
              <a:t>과거 특정일의 비밀번호</a:t>
            </a:r>
            <a:r>
              <a:rPr lang="ko-KR" altLang="en-US" dirty="0"/>
              <a:t>를 조회하는 쿼리 </a:t>
            </a:r>
          </a:p>
          <a:p>
            <a:r>
              <a:rPr lang="en-US" altLang="ko-KR" dirty="0"/>
              <a:t>SELECT  </a:t>
            </a:r>
            <a:r>
              <a:rPr lang="ko-KR" altLang="en-US" dirty="0"/>
              <a:t>계좌비밀번호  </a:t>
            </a:r>
          </a:p>
          <a:p>
            <a:r>
              <a:rPr lang="en-US" altLang="ko-KR" dirty="0"/>
              <a:t> FROM  </a:t>
            </a:r>
            <a:r>
              <a:rPr lang="ko-KR" altLang="en-US" dirty="0"/>
              <a:t>계좌비밀번호</a:t>
            </a:r>
          </a:p>
          <a:p>
            <a:r>
              <a:rPr lang="en-US" altLang="ko-KR" u="sng" dirty="0">
                <a:solidFill>
                  <a:srgbClr val="FF0000"/>
                </a:solidFill>
              </a:rPr>
              <a:t>WHERE  '20300123'  BETWEEEN  </a:t>
            </a:r>
            <a:r>
              <a:rPr lang="ko-KR" altLang="en-US" u="sng" dirty="0">
                <a:solidFill>
                  <a:srgbClr val="FF0000"/>
                </a:solidFill>
              </a:rPr>
              <a:t>유효시작일자 </a:t>
            </a:r>
            <a:r>
              <a:rPr lang="en-US" altLang="ko-KR" u="sng" dirty="0">
                <a:solidFill>
                  <a:srgbClr val="FF0000"/>
                </a:solidFill>
              </a:rPr>
              <a:t>AND </a:t>
            </a:r>
            <a:r>
              <a:rPr lang="ko-KR" altLang="en-US" u="sng" dirty="0">
                <a:solidFill>
                  <a:srgbClr val="FF0000"/>
                </a:solidFill>
              </a:rPr>
              <a:t>유효종료일자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0AD39C-A409-6BDD-6B18-3832E5390038}"/>
              </a:ext>
            </a:extLst>
          </p:cNvPr>
          <p:cNvSpPr txBox="1"/>
          <p:nvPr/>
        </p:nvSpPr>
        <p:spPr>
          <a:xfrm>
            <a:off x="1782616" y="3947368"/>
            <a:ext cx="64192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400" b="1">
                <a:solidFill>
                  <a:schemeClr val="accent2"/>
                </a:solidFill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FF0000"/>
                </a:solidFill>
              </a:rPr>
              <a:t>Primary Key : </a:t>
            </a:r>
            <a:r>
              <a:rPr lang="ko-KR" altLang="en-US" dirty="0">
                <a:solidFill>
                  <a:srgbClr val="FF0000"/>
                </a:solidFill>
              </a:rPr>
              <a:t>계좌번호 </a:t>
            </a:r>
            <a:r>
              <a:rPr lang="en-US" altLang="ko-KR" dirty="0">
                <a:solidFill>
                  <a:srgbClr val="FF0000"/>
                </a:solidFill>
              </a:rPr>
              <a:t>+ </a:t>
            </a:r>
            <a:r>
              <a:rPr lang="ko-KR" altLang="en-US" dirty="0">
                <a:solidFill>
                  <a:srgbClr val="FF0000"/>
                </a:solidFill>
              </a:rPr>
              <a:t>유효종료일자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FF0000"/>
                </a:solidFill>
              </a:rPr>
              <a:t>Index1       </a:t>
            </a:r>
            <a:r>
              <a:rPr lang="ko-KR" altLang="en-US" dirty="0">
                <a:solidFill>
                  <a:srgbClr val="FF0000"/>
                </a:solidFill>
              </a:rPr>
              <a:t>：계좌번호 </a:t>
            </a:r>
            <a:r>
              <a:rPr lang="en-US" altLang="ko-KR" dirty="0">
                <a:solidFill>
                  <a:srgbClr val="FF0000"/>
                </a:solidFill>
              </a:rPr>
              <a:t>+ </a:t>
            </a:r>
            <a:r>
              <a:rPr lang="ko-KR" altLang="en-US" dirty="0">
                <a:solidFill>
                  <a:srgbClr val="FF0000"/>
                </a:solidFill>
              </a:rPr>
              <a:t>유효시작일자 </a:t>
            </a:r>
            <a:r>
              <a:rPr lang="en-US" altLang="ko-KR" dirty="0">
                <a:solidFill>
                  <a:srgbClr val="FF0000"/>
                </a:solidFill>
              </a:rPr>
              <a:t>+ </a:t>
            </a:r>
            <a:r>
              <a:rPr lang="ko-KR" altLang="en-US" dirty="0">
                <a:solidFill>
                  <a:srgbClr val="FF0000"/>
                </a:solidFill>
              </a:rPr>
              <a:t>유효종료일자</a:t>
            </a:r>
            <a:endParaRPr lang="ko-KR" altLang="en-US" u="sng" dirty="0">
              <a:solidFill>
                <a:srgbClr val="FF0000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51F7A50-00D9-C5D8-6F58-F699B0D42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616" y="5129803"/>
            <a:ext cx="2514951" cy="1133633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1F36A40-B7FF-4C5E-793A-0614B390D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294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9255036"/>
      </p:ext>
    </p:extLst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6.17. </a:t>
            </a:r>
            <a:r>
              <a:rPr lang="ko-KR" altLang="en-US" sz="2400" dirty="0">
                <a:latin typeface="+mn-ea"/>
              </a:rPr>
              <a:t>이력 </a:t>
            </a:r>
            <a:r>
              <a:rPr lang="ko-KR" altLang="en-US" sz="2400" dirty="0" err="1">
                <a:latin typeface="+mn-ea"/>
              </a:rPr>
              <a:t>엔터티의</a:t>
            </a:r>
            <a:r>
              <a:rPr lang="ko-KR" altLang="en-US" sz="2400" dirty="0">
                <a:latin typeface="+mn-ea"/>
              </a:rPr>
              <a:t> 주 식별자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6.108] </a:t>
            </a:r>
            <a:r>
              <a:rPr lang="ko-KR" altLang="en-US" sz="1400" b="1" dirty="0">
                <a:latin typeface="+mn-ea"/>
              </a:rPr>
              <a:t>계좌비밀번호 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</a:t>
            </a:r>
            <a:r>
              <a:rPr lang="ko-KR" altLang="en-US" sz="1400" b="1" dirty="0" err="1">
                <a:latin typeface="+mn-ea"/>
              </a:rPr>
              <a:t>변경순번</a:t>
            </a:r>
            <a:r>
              <a:rPr lang="ko-KR" altLang="en-US" sz="1400" b="1" dirty="0">
                <a:latin typeface="+mn-ea"/>
              </a:rPr>
              <a:t> 같은 부분 인조 식별자를 사용하는 것은 바람직하지 않다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비밀번호가 하루에도 여러 번 변경될 수 있어 </a:t>
            </a:r>
            <a:r>
              <a:rPr lang="ko-KR" altLang="en-US" sz="1400" b="1" dirty="0" err="1">
                <a:latin typeface="+mn-ea"/>
              </a:rPr>
              <a:t>변경순번</a:t>
            </a:r>
            <a:r>
              <a:rPr lang="ko-KR" altLang="en-US" sz="1400" b="1" dirty="0">
                <a:latin typeface="+mn-ea"/>
              </a:rPr>
              <a:t> 속성을 사용한 것이라면，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6.109] </a:t>
            </a:r>
            <a:r>
              <a:rPr lang="ko-KR" altLang="en-US" sz="1400" b="1" dirty="0">
                <a:latin typeface="+mn-ea"/>
              </a:rPr>
              <a:t>모델과 같이 시</a:t>
            </a:r>
            <a:r>
              <a:rPr lang="en-US" altLang="ko-KR" sz="1400" b="1" dirty="0">
                <a:latin typeface="+mn-ea"/>
              </a:rPr>
              <a:t>•</a:t>
            </a:r>
            <a:r>
              <a:rPr lang="ko-KR" altLang="en-US" sz="1400" b="1" dirty="0">
                <a:latin typeface="+mn-ea"/>
              </a:rPr>
              <a:t>분</a:t>
            </a:r>
            <a:r>
              <a:rPr lang="en-US" altLang="ko-KR" sz="1400" b="1" dirty="0">
                <a:latin typeface="+mn-ea"/>
              </a:rPr>
              <a:t>•</a:t>
            </a:r>
            <a:r>
              <a:rPr lang="ko-KR" altLang="en-US" sz="1400" b="1" dirty="0">
                <a:latin typeface="+mn-ea"/>
              </a:rPr>
              <a:t>초를 관리하는 변경일시 속성을 사용하면 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조회할 때는 </a:t>
            </a:r>
            <a:r>
              <a:rPr lang="en-US" altLang="ko-KR" sz="1400" b="1" dirty="0">
                <a:latin typeface="+mn-ea"/>
              </a:rPr>
              <a:t>Index1</a:t>
            </a:r>
            <a:r>
              <a:rPr lang="ko-KR" altLang="en-US" sz="1400" b="1" dirty="0">
                <a:latin typeface="+mn-ea"/>
              </a:rPr>
              <a:t>과 </a:t>
            </a:r>
            <a:r>
              <a:rPr lang="en-US" altLang="ko-KR" sz="1400" b="1" dirty="0">
                <a:latin typeface="+mn-ea"/>
              </a:rPr>
              <a:t>Index2 </a:t>
            </a:r>
            <a:r>
              <a:rPr lang="ko-KR" altLang="en-US" sz="1400" b="1" dirty="0">
                <a:latin typeface="+mn-ea"/>
              </a:rPr>
              <a:t>가 사용되지만</a:t>
            </a:r>
            <a:r>
              <a:rPr lang="en-US" altLang="ko-KR" sz="1400" b="1" dirty="0">
                <a:latin typeface="+mn-ea"/>
              </a:rPr>
              <a:t>, PK</a:t>
            </a:r>
            <a:r>
              <a:rPr lang="ko-KR" altLang="en-US" sz="1400" b="1" dirty="0">
                <a:latin typeface="+mn-ea"/>
              </a:rPr>
              <a:t>인덱스는 거의 유용하지 않다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선분이력 방법 중에서도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6.110]</a:t>
            </a:r>
            <a:r>
              <a:rPr lang="ko-KR" altLang="en-US" sz="1400" b="1" dirty="0">
                <a:latin typeface="+mn-ea"/>
              </a:rPr>
              <a:t> 모델과 같이 </a:t>
            </a:r>
            <a:r>
              <a:rPr lang="ko-KR" altLang="en-US" sz="1400" b="1" dirty="0" err="1">
                <a:latin typeface="+mn-ea"/>
              </a:rPr>
              <a:t>변경순번</a:t>
            </a:r>
            <a:r>
              <a:rPr lang="ko-KR" altLang="en-US" sz="1400" b="1" dirty="0">
                <a:latin typeface="+mn-ea"/>
              </a:rPr>
              <a:t> 속성을 주 식별자에 사용하는 것은 가장 비효율적이다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6.108] </a:t>
            </a:r>
            <a:r>
              <a:rPr lang="ko-KR" altLang="en-US" sz="1400" b="1" dirty="0">
                <a:latin typeface="+mn-ea"/>
              </a:rPr>
              <a:t>모델은 간혹 실무에서 하위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자식</a:t>
            </a:r>
            <a:r>
              <a:rPr lang="en-US" altLang="ko-KR" sz="1400" b="1" dirty="0">
                <a:latin typeface="+mn-ea"/>
              </a:rPr>
              <a:t>) </a:t>
            </a:r>
            <a:r>
              <a:rPr lang="ko-KR" altLang="en-US" sz="1400" b="1" dirty="0" err="1">
                <a:latin typeface="+mn-ea"/>
              </a:rPr>
              <a:t>엔터티가</a:t>
            </a:r>
            <a:r>
              <a:rPr lang="ko-KR" altLang="en-US" sz="1400" b="1" dirty="0">
                <a:latin typeface="+mn-ea"/>
              </a:rPr>
              <a:t> 존재할 때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하위 </a:t>
            </a:r>
            <a:r>
              <a:rPr lang="ko-KR" altLang="en-US" sz="1400" b="1" dirty="0" err="1">
                <a:latin typeface="+mn-ea"/>
              </a:rPr>
              <a:t>엔터티에</a:t>
            </a:r>
            <a:r>
              <a:rPr lang="ko-KR" altLang="en-US" sz="1400" b="1" dirty="0">
                <a:latin typeface="+mn-ea"/>
              </a:rPr>
              <a:t> 미치는 영향을 줄이기 위해 사용한다</a:t>
            </a:r>
            <a:r>
              <a:rPr lang="en-US" altLang="ko-KR" sz="1400" b="1" dirty="0">
                <a:latin typeface="+mn-ea"/>
              </a:rPr>
              <a:t>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0AD39C-A409-6BDD-6B18-3832E5390038}"/>
              </a:ext>
            </a:extLst>
          </p:cNvPr>
          <p:cNvSpPr txBox="1"/>
          <p:nvPr/>
        </p:nvSpPr>
        <p:spPr>
          <a:xfrm>
            <a:off x="1782616" y="3439377"/>
            <a:ext cx="64192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400" b="1">
                <a:solidFill>
                  <a:schemeClr val="accent2"/>
                </a:solidFill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FF0000"/>
                </a:solidFill>
              </a:rPr>
              <a:t>Primary Key : </a:t>
            </a:r>
            <a:r>
              <a:rPr lang="ko-KR" altLang="en-US" dirty="0">
                <a:solidFill>
                  <a:srgbClr val="FF0000"/>
                </a:solidFill>
              </a:rPr>
              <a:t>계좌번호 </a:t>
            </a:r>
            <a:r>
              <a:rPr lang="en-US" altLang="ko-KR" dirty="0">
                <a:solidFill>
                  <a:srgbClr val="FF0000"/>
                </a:solidFill>
              </a:rPr>
              <a:t>+ </a:t>
            </a:r>
            <a:r>
              <a:rPr lang="ko-KR" altLang="en-US" dirty="0" err="1">
                <a:solidFill>
                  <a:srgbClr val="FF0000"/>
                </a:solidFill>
              </a:rPr>
              <a:t>변경순번</a:t>
            </a:r>
            <a:endParaRPr lang="ko-KR" alt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FF0000"/>
                </a:solidFill>
              </a:rPr>
              <a:t>Index1       </a:t>
            </a:r>
            <a:r>
              <a:rPr lang="ko-KR" altLang="en-US" dirty="0">
                <a:solidFill>
                  <a:srgbClr val="FF0000"/>
                </a:solidFill>
              </a:rPr>
              <a:t>：계좌번호 </a:t>
            </a:r>
            <a:r>
              <a:rPr lang="en-US" altLang="ko-KR" dirty="0">
                <a:solidFill>
                  <a:srgbClr val="FF0000"/>
                </a:solidFill>
              </a:rPr>
              <a:t>+ </a:t>
            </a:r>
            <a:r>
              <a:rPr lang="ko-KR" altLang="en-US" dirty="0">
                <a:solidFill>
                  <a:srgbClr val="FF0000"/>
                </a:solidFill>
              </a:rPr>
              <a:t>유효종료일자</a:t>
            </a:r>
            <a:endParaRPr lang="en-US" altLang="ko-KR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FF0000"/>
                </a:solidFill>
              </a:rPr>
              <a:t>Index2       </a:t>
            </a:r>
            <a:r>
              <a:rPr lang="ko-KR" altLang="en-US" dirty="0">
                <a:solidFill>
                  <a:srgbClr val="FF0000"/>
                </a:solidFill>
              </a:rPr>
              <a:t>：계좌번호 </a:t>
            </a:r>
            <a:r>
              <a:rPr lang="en-US" altLang="ko-KR" dirty="0">
                <a:solidFill>
                  <a:srgbClr val="FF0000"/>
                </a:solidFill>
              </a:rPr>
              <a:t>+ </a:t>
            </a:r>
            <a:r>
              <a:rPr lang="ko-KR" altLang="en-US" dirty="0">
                <a:solidFill>
                  <a:srgbClr val="FF0000"/>
                </a:solidFill>
              </a:rPr>
              <a:t>유효시작일자 </a:t>
            </a:r>
            <a:r>
              <a:rPr lang="en-US" altLang="ko-KR" dirty="0">
                <a:solidFill>
                  <a:srgbClr val="FF0000"/>
                </a:solidFill>
              </a:rPr>
              <a:t>+ </a:t>
            </a:r>
            <a:r>
              <a:rPr lang="ko-KR" altLang="en-US" dirty="0">
                <a:solidFill>
                  <a:srgbClr val="FF0000"/>
                </a:solidFill>
              </a:rPr>
              <a:t>유효종료일자</a:t>
            </a:r>
            <a:endParaRPr lang="ko-KR" altLang="en-US" u="sng" dirty="0">
              <a:solidFill>
                <a:srgbClr val="FF0000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5CA8F8B-8028-3A1B-1532-2A3183F65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259" y="2139573"/>
            <a:ext cx="2457793" cy="114316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0C542EE-DE61-984A-CCA0-AF0337B21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268" y="2049740"/>
            <a:ext cx="2486372" cy="1247949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607BD76-BC75-6158-CA36-36447CB5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295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2854201"/>
      </p:ext>
    </p:extLst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6.17. </a:t>
            </a:r>
            <a:r>
              <a:rPr lang="ko-KR" altLang="en-US" sz="2400" dirty="0">
                <a:latin typeface="+mn-ea"/>
              </a:rPr>
              <a:t>이력 </a:t>
            </a:r>
            <a:r>
              <a:rPr lang="ko-KR" altLang="en-US" sz="2400" dirty="0" err="1">
                <a:latin typeface="+mn-ea"/>
              </a:rPr>
              <a:t>엔터티의</a:t>
            </a:r>
            <a:r>
              <a:rPr lang="ko-KR" altLang="en-US" sz="2400" dirty="0">
                <a:latin typeface="+mn-ea"/>
              </a:rPr>
              <a:t> 주 식별자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6.108] </a:t>
            </a:r>
            <a:r>
              <a:rPr lang="ko-KR" altLang="en-US" sz="1400" b="1" dirty="0">
                <a:latin typeface="+mn-ea"/>
              </a:rPr>
              <a:t>모델에 대한 릴레이션을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6.111]</a:t>
            </a:r>
            <a:r>
              <a:rPr lang="ko-KR" altLang="en-US" sz="1400" b="1" dirty="0">
                <a:latin typeface="+mn-ea"/>
              </a:rPr>
              <a:t>과 같이 사용할 수 있다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만약 계좌비밀번호 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하위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자식</a:t>
            </a:r>
            <a:r>
              <a:rPr lang="en-US" altLang="ko-KR" sz="1400" b="1" dirty="0">
                <a:latin typeface="+mn-ea"/>
              </a:rPr>
              <a:t>) </a:t>
            </a:r>
            <a:r>
              <a:rPr lang="ko-KR" altLang="en-US" sz="1400" b="1" dirty="0" err="1">
                <a:latin typeface="+mn-ea"/>
              </a:rPr>
              <a:t>엔터티가</a:t>
            </a:r>
            <a:r>
              <a:rPr lang="ko-KR" altLang="en-US" sz="1400" b="1" dirty="0">
                <a:latin typeface="+mn-ea"/>
              </a:rPr>
              <a:t> 있으며 계좌비밀번호 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현재 유효한 데이터와 만 관계를 가진다면</a:t>
            </a:r>
            <a:r>
              <a:rPr lang="en-US" altLang="ko-KR" sz="1400" b="1" dirty="0">
                <a:latin typeface="+mn-ea"/>
              </a:rPr>
              <a:t>, 2032</a:t>
            </a:r>
            <a:r>
              <a:rPr lang="ko-KR" altLang="en-US" sz="1400" b="1" dirty="0">
                <a:latin typeface="+mn-ea"/>
              </a:rPr>
              <a:t>년  </a:t>
            </a:r>
            <a:r>
              <a:rPr lang="en-US" altLang="ko-KR" sz="1400" b="1" dirty="0">
                <a:latin typeface="+mn-ea"/>
              </a:rPr>
              <a:t>10</a:t>
            </a:r>
            <a:r>
              <a:rPr lang="ko-KR" altLang="en-US" sz="1400" b="1" dirty="0">
                <a:latin typeface="+mn-ea"/>
              </a:rPr>
              <a:t>월 </a:t>
            </a:r>
            <a:r>
              <a:rPr lang="en-US" altLang="ko-KR" sz="1400" b="1" dirty="0">
                <a:latin typeface="+mn-ea"/>
              </a:rPr>
              <a:t>15</a:t>
            </a:r>
            <a:r>
              <a:rPr lang="ko-KR" altLang="en-US" sz="1400" b="1" dirty="0">
                <a:latin typeface="+mn-ea"/>
              </a:rPr>
              <a:t>일에 비밀번호가 ‘</a:t>
            </a:r>
            <a:r>
              <a:rPr lang="en-US" altLang="ko-KR" sz="1400" b="1" dirty="0">
                <a:latin typeface="+mn-ea"/>
              </a:rPr>
              <a:t>1004’ </a:t>
            </a:r>
            <a:r>
              <a:rPr lang="ko-KR" altLang="en-US" sz="1400" b="1" dirty="0">
                <a:latin typeface="+mn-ea"/>
              </a:rPr>
              <a:t>로 변경될 때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6.112] </a:t>
            </a:r>
            <a:r>
              <a:rPr lang="ko-KR" altLang="en-US" sz="1400" b="1" dirty="0">
                <a:latin typeface="+mn-ea"/>
              </a:rPr>
              <a:t>릴레이션과 같이 사용한다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새로운 인스턴스는 </a:t>
            </a:r>
            <a:r>
              <a:rPr lang="ko-KR" altLang="en-US" sz="1400" b="1" dirty="0" err="1">
                <a:latin typeface="+mn-ea"/>
              </a:rPr>
              <a:t>변경순번을</a:t>
            </a:r>
            <a:r>
              <a:rPr lang="ko-KR" altLang="en-US" sz="1400" b="1" dirty="0">
                <a:latin typeface="+mn-ea"/>
              </a:rPr>
              <a:t> </a:t>
            </a:r>
            <a:r>
              <a:rPr lang="en-US" altLang="ko-KR" sz="1400" b="1" dirty="0">
                <a:latin typeface="+mn-ea"/>
              </a:rPr>
              <a:t>T</a:t>
            </a:r>
            <a:r>
              <a:rPr lang="ko-KR" altLang="en-US" sz="1400" b="1" dirty="0">
                <a:latin typeface="+mn-ea"/>
              </a:rPr>
              <a:t>로 저장하고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기존 인스턴스의 </a:t>
            </a:r>
            <a:r>
              <a:rPr lang="ko-KR" altLang="en-US" sz="1400" b="1" dirty="0" err="1">
                <a:latin typeface="+mn-ea"/>
              </a:rPr>
              <a:t>변경순번은</a:t>
            </a:r>
            <a:r>
              <a:rPr lang="ko-KR" altLang="en-US" sz="1400" b="1" dirty="0">
                <a:latin typeface="+mn-ea"/>
              </a:rPr>
              <a:t> </a:t>
            </a:r>
            <a:r>
              <a:rPr lang="en-US" altLang="ko-KR" sz="1400" b="1" dirty="0">
                <a:latin typeface="+mn-ea"/>
              </a:rPr>
              <a:t>+1 </a:t>
            </a:r>
            <a:r>
              <a:rPr lang="ko-KR" altLang="en-US" sz="1400" b="1" dirty="0">
                <a:latin typeface="+mn-ea"/>
              </a:rPr>
              <a:t>씩 업데이트한다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즉 현재 유효한 비밀번호를 의미하는 첫 번째 인스턴스의 주 식별자 값이 변경되지 않도록 항상 ‘</a:t>
            </a:r>
            <a:r>
              <a:rPr lang="en-US" altLang="ko-KR" sz="1400" b="1" dirty="0">
                <a:latin typeface="+mn-ea"/>
              </a:rPr>
              <a:t>1’ </a:t>
            </a:r>
            <a:r>
              <a:rPr lang="ko-KR" altLang="en-US" sz="1400" b="1" dirty="0">
                <a:latin typeface="+mn-ea"/>
              </a:rPr>
              <a:t>로 관리하는 것이다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따라서 하위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자식</a:t>
            </a:r>
            <a:r>
              <a:rPr lang="en-US" altLang="ko-KR" sz="1400" b="1" dirty="0">
                <a:latin typeface="+mn-ea"/>
              </a:rPr>
              <a:t>) </a:t>
            </a:r>
            <a:r>
              <a:rPr lang="ko-KR" altLang="en-US" sz="1400" b="1" dirty="0" err="1">
                <a:latin typeface="+mn-ea"/>
              </a:rPr>
              <a:t>엔터티가</a:t>
            </a:r>
            <a:r>
              <a:rPr lang="ko-KR" altLang="en-US" sz="1400" b="1" dirty="0">
                <a:latin typeface="+mn-ea"/>
              </a:rPr>
              <a:t> 존재하더라도 데이터를 쫓아가며 업데이트하지 않아도 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즉 하위 </a:t>
            </a:r>
            <a:r>
              <a:rPr lang="ko-KR" altLang="en-US" sz="1400" b="1" dirty="0" err="1">
                <a:latin typeface="+mn-ea"/>
              </a:rPr>
              <a:t>엔터티에</a:t>
            </a:r>
            <a:r>
              <a:rPr lang="ko-KR" altLang="en-US" sz="1400" b="1" dirty="0">
                <a:latin typeface="+mn-ea"/>
              </a:rPr>
              <a:t> 미치는 영향을 해소하려는 방법이다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이 모델에서는 먼저 변경된 과거 데이터</a:t>
            </a:r>
            <a:r>
              <a:rPr lang="en-US" altLang="ko-KR" sz="1400" b="1" dirty="0">
                <a:latin typeface="+mn-ea"/>
              </a:rPr>
              <a:t>([</a:t>
            </a:r>
            <a:r>
              <a:rPr lang="ko-KR" altLang="en-US" sz="1400" b="1" dirty="0">
                <a:latin typeface="+mn-ea"/>
              </a:rPr>
              <a:t>그 림 </a:t>
            </a:r>
            <a:r>
              <a:rPr lang="en-US" altLang="ko-KR" sz="1400" b="1" dirty="0">
                <a:latin typeface="+mn-ea"/>
              </a:rPr>
              <a:t>6.111] </a:t>
            </a:r>
            <a:r>
              <a:rPr lang="ko-KR" altLang="en-US" sz="1400" b="1" dirty="0">
                <a:latin typeface="+mn-ea"/>
              </a:rPr>
              <a:t>릴레이션 의 두 번 째 인스턴스</a:t>
            </a:r>
            <a:r>
              <a:rPr lang="en-US" altLang="ko-KR" sz="1400" b="1" dirty="0">
                <a:latin typeface="+mn-ea"/>
              </a:rPr>
              <a:t>) </a:t>
            </a:r>
            <a:r>
              <a:rPr lang="ko-KR" altLang="en-US" sz="1400" b="1" dirty="0">
                <a:latin typeface="+mn-ea"/>
              </a:rPr>
              <a:t>의 하위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자식</a:t>
            </a:r>
            <a:r>
              <a:rPr lang="en-US" altLang="ko-KR" sz="1400" b="1" dirty="0">
                <a:latin typeface="+mn-ea"/>
              </a:rPr>
              <a:t>) </a:t>
            </a:r>
            <a:r>
              <a:rPr lang="ko-KR" altLang="en-US" sz="1400" b="1" dirty="0">
                <a:latin typeface="+mn-ea"/>
              </a:rPr>
              <a:t>데이터가 존재하는지를 분석해야 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원천 데이터가 아닌 변경 데이터에는 하위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자식</a:t>
            </a:r>
            <a:r>
              <a:rPr lang="en-US" altLang="ko-KR" sz="1400" b="1" dirty="0">
                <a:latin typeface="+mn-ea"/>
              </a:rPr>
              <a:t>) </a:t>
            </a:r>
            <a:r>
              <a:rPr lang="ko-KR" altLang="en-US" sz="1400" b="1" dirty="0" err="1">
                <a:latin typeface="+mn-ea"/>
              </a:rPr>
              <a:t>엔터티가</a:t>
            </a:r>
            <a:r>
              <a:rPr lang="ko-KR" altLang="en-US" sz="1400" b="1" dirty="0">
                <a:latin typeface="+mn-ea"/>
              </a:rPr>
              <a:t> 존재하지 않는 게 일반적이다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만약 변경 데이터의 하위 데이터가 존재하더라도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6.105] </a:t>
            </a:r>
            <a:r>
              <a:rPr lang="ko-KR" altLang="en-US" sz="1400" b="1" dirty="0">
                <a:latin typeface="+mn-ea"/>
              </a:rPr>
              <a:t>모델을 사용하면</a:t>
            </a:r>
            <a:r>
              <a:rPr lang="en-US" altLang="ko-KR" sz="1400" b="1" dirty="0">
                <a:latin typeface="+mn-ea"/>
              </a:rPr>
              <a:t>,</a:t>
            </a:r>
            <a:r>
              <a:rPr lang="ko-KR" altLang="en-US" sz="1400" b="1" dirty="0">
                <a:latin typeface="+mn-ea"/>
              </a:rPr>
              <a:t>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6.112] </a:t>
            </a:r>
            <a:r>
              <a:rPr lang="ko-KR" altLang="en-US" sz="1400" b="1" dirty="0">
                <a:latin typeface="+mn-ea"/>
              </a:rPr>
              <a:t>릴레이션과 마찬가지로 하위 </a:t>
            </a:r>
            <a:r>
              <a:rPr lang="ko-KR" altLang="en-US" sz="1400" b="1" dirty="0" err="1">
                <a:latin typeface="+mn-ea"/>
              </a:rPr>
              <a:t>엔터티에</a:t>
            </a:r>
            <a:r>
              <a:rPr lang="ko-KR" altLang="en-US" sz="1400" b="1" dirty="0">
                <a:latin typeface="+mn-ea"/>
              </a:rPr>
              <a:t> 대한 변경을 해소할 수 있다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이에 대한 릴레이션은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6.113] </a:t>
            </a:r>
            <a:r>
              <a:rPr lang="ko-KR" altLang="en-US" sz="1400" b="1" dirty="0">
                <a:latin typeface="+mn-ea"/>
              </a:rPr>
              <a:t>과 같다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85251BBD-441A-C147-2C9D-389E3D803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266" y="4809305"/>
            <a:ext cx="2762636" cy="98121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F17D2E5-BD95-EEEA-B32D-9171B3628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827" y="4685463"/>
            <a:ext cx="2743583" cy="1105054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C5F23052-E5ED-372C-3232-43DC5DE2B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5335" y="4704515"/>
            <a:ext cx="2067213" cy="1086002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6ADB6C5-CEB9-1A51-1259-9734B1F25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296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6504373"/>
      </p:ext>
    </p:extLst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6.18. </a:t>
            </a:r>
            <a:r>
              <a:rPr lang="ko-KR" altLang="en-US" sz="2400" dirty="0">
                <a:latin typeface="+mn-ea"/>
              </a:rPr>
              <a:t>이력 </a:t>
            </a:r>
            <a:r>
              <a:rPr lang="ko-KR" altLang="en-US" sz="2400" dirty="0" err="1">
                <a:latin typeface="+mn-ea"/>
              </a:rPr>
              <a:t>엔터티</a:t>
            </a:r>
            <a:r>
              <a:rPr lang="ko-KR" altLang="en-US" sz="2400" dirty="0">
                <a:latin typeface="+mn-ea"/>
              </a:rPr>
              <a:t> 설계 절차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이번 장에서는 이력 </a:t>
            </a:r>
            <a:r>
              <a:rPr lang="ko-KR" altLang="en-US" sz="1400" b="1" dirty="0" err="1">
                <a:latin typeface="+mn-ea"/>
              </a:rPr>
              <a:t>엔터티를</a:t>
            </a:r>
            <a:r>
              <a:rPr lang="ko-KR" altLang="en-US" sz="1400" b="1" dirty="0">
                <a:latin typeface="+mn-ea"/>
              </a:rPr>
              <a:t> 설계하는 절차에 대해 간략하게 설명할 것이다</a:t>
            </a:r>
            <a:r>
              <a:rPr lang="en-US" altLang="ko-KR" sz="1400" b="1" dirty="0">
                <a:latin typeface="+mn-ea"/>
              </a:rPr>
              <a:t>.  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6.114]</a:t>
            </a:r>
            <a:r>
              <a:rPr lang="ko-KR" altLang="en-US" sz="1400" b="1" dirty="0">
                <a:latin typeface="+mn-ea"/>
              </a:rPr>
              <a:t>와 같이 이력 </a:t>
            </a:r>
            <a:r>
              <a:rPr lang="ko-KR" altLang="en-US" sz="1400" b="1" dirty="0" err="1">
                <a:latin typeface="+mn-ea"/>
              </a:rPr>
              <a:t>엔터티를</a:t>
            </a:r>
            <a:r>
              <a:rPr lang="ko-KR" altLang="en-US" sz="1400" b="1" dirty="0">
                <a:latin typeface="+mn-ea"/>
              </a:rPr>
              <a:t> 설계하는 시작점은 이력 데이터를 관리하는 요건이 있는가 이다</a:t>
            </a:r>
            <a:r>
              <a:rPr lang="en-US" altLang="ko-KR" sz="1400" b="1" dirty="0">
                <a:latin typeface="+mn-ea"/>
              </a:rPr>
              <a:t>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이력 데이터를 설계하는 마지막 단계는 이력 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주 식별자</a:t>
            </a:r>
            <a:r>
              <a:rPr lang="en-US" altLang="ko-KR" sz="1400" b="1" dirty="0">
                <a:latin typeface="+mn-ea"/>
              </a:rPr>
              <a:t>(PK)</a:t>
            </a:r>
            <a:r>
              <a:rPr lang="ko-KR" altLang="en-US" sz="1400" b="1" dirty="0">
                <a:latin typeface="+mn-ea"/>
              </a:rPr>
              <a:t>를 확정하는 것이다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이 단계도 이력 모델 유형을 결정하거나 선분이력을 고민하면서 함께 이루어지기도 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다만 개별 </a:t>
            </a:r>
            <a:r>
              <a:rPr lang="ko-KR" altLang="en-US" sz="1400" b="1" dirty="0" err="1">
                <a:latin typeface="+mn-ea"/>
              </a:rPr>
              <a:t>엔터티에</a:t>
            </a:r>
            <a:r>
              <a:rPr lang="ko-KR" altLang="en-US" sz="1400" b="1" dirty="0">
                <a:latin typeface="+mn-ea"/>
              </a:rPr>
              <a:t> 대해서 이미 확정했더라도 다른 </a:t>
            </a:r>
            <a:r>
              <a:rPr lang="ko-KR" altLang="en-US" sz="1400" b="1" dirty="0" err="1">
                <a:latin typeface="+mn-ea"/>
              </a:rPr>
              <a:t>엔터티와의</a:t>
            </a:r>
            <a:r>
              <a:rPr lang="ko-KR" altLang="en-US" sz="1400" b="1" dirty="0">
                <a:latin typeface="+mn-ea"/>
              </a:rPr>
              <a:t> 관계까지 감안해서 최종적으로 확인할 필요가 있다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주 식별자를 확정하면 이력 </a:t>
            </a:r>
            <a:r>
              <a:rPr lang="ko-KR" altLang="en-US" sz="1400" b="1" dirty="0" err="1">
                <a:latin typeface="+mn-ea"/>
              </a:rPr>
              <a:t>엔터티</a:t>
            </a:r>
            <a:r>
              <a:rPr lang="ko-KR" altLang="en-US" sz="1400" b="1" dirty="0">
                <a:latin typeface="+mn-ea"/>
              </a:rPr>
              <a:t> 설계가 완료된다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이력 </a:t>
            </a:r>
            <a:r>
              <a:rPr lang="ko-KR" altLang="en-US" sz="1400" b="1" dirty="0" err="1">
                <a:latin typeface="+mn-ea"/>
              </a:rPr>
              <a:t>엔터티</a:t>
            </a:r>
            <a:r>
              <a:rPr lang="ko-KR" altLang="en-US" sz="1400" b="1" dirty="0">
                <a:latin typeface="+mn-ea"/>
              </a:rPr>
              <a:t> 설계는 이력 데이터를 사용하는 요건이 있는지를 분석하는 것으로부터 시작해서 이력 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유형을 결정하고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주 식별자를 결정하는 것으로 끝난다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물론 최우선 단계는 원천 </a:t>
            </a:r>
            <a:r>
              <a:rPr lang="ko-KR" altLang="en-US" sz="1400" b="1" dirty="0" err="1">
                <a:latin typeface="+mn-ea"/>
              </a:rPr>
              <a:t>엔터티를</a:t>
            </a:r>
            <a:r>
              <a:rPr lang="ko-KR" altLang="en-US" sz="1400" b="1" dirty="0">
                <a:latin typeface="+mn-ea"/>
              </a:rPr>
              <a:t> 명확하게 설계하는 것이다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91C095E-C3AC-AEC9-5AE9-E98371FC8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37" y="2217803"/>
            <a:ext cx="8096325" cy="2422394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FAE8541-DAEE-59A6-C51F-606B66C66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297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799EE8-EBB8-409B-B89B-674425982D78}"/>
              </a:ext>
            </a:extLst>
          </p:cNvPr>
          <p:cNvSpPr txBox="1"/>
          <p:nvPr/>
        </p:nvSpPr>
        <p:spPr>
          <a:xfrm>
            <a:off x="6312498" y="2066095"/>
            <a:ext cx="14089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FF0000"/>
                </a:solidFill>
              </a:rPr>
              <a:t>성능 고려 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3BE1A6-DF5B-4CBA-8AF5-EBDC3AB439CB}"/>
              </a:ext>
            </a:extLst>
          </p:cNvPr>
          <p:cNvSpPr txBox="1"/>
          <p:nvPr/>
        </p:nvSpPr>
        <p:spPr>
          <a:xfrm>
            <a:off x="4903575" y="3650609"/>
            <a:ext cx="119242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solidFill>
                  <a:srgbClr val="FF0000"/>
                </a:solidFill>
              </a:rPr>
              <a:t>엔터티</a:t>
            </a:r>
            <a:r>
              <a:rPr lang="ko-KR" altLang="en-US" sz="1100" b="1" dirty="0">
                <a:solidFill>
                  <a:srgbClr val="FF0000"/>
                </a:solidFill>
              </a:rPr>
              <a:t> 이력</a:t>
            </a:r>
            <a:endParaRPr lang="en-US" altLang="ko-KR" sz="1100" b="1" dirty="0">
              <a:solidFill>
                <a:srgbClr val="FF0000"/>
              </a:solidFill>
            </a:endParaRPr>
          </a:p>
          <a:p>
            <a:r>
              <a:rPr lang="ko-KR" altLang="en-US" sz="1100" b="1" dirty="0">
                <a:solidFill>
                  <a:srgbClr val="FF0000"/>
                </a:solidFill>
              </a:rPr>
              <a:t>속성 이력</a:t>
            </a:r>
            <a:endParaRPr lang="en-US" altLang="ko-KR" sz="1100" b="1" dirty="0">
              <a:solidFill>
                <a:srgbClr val="FF0000"/>
              </a:solidFill>
            </a:endParaRPr>
          </a:p>
          <a:p>
            <a:r>
              <a:rPr lang="ko-KR" altLang="en-US" sz="1100" b="1" dirty="0">
                <a:solidFill>
                  <a:srgbClr val="FF0000"/>
                </a:solidFill>
              </a:rPr>
              <a:t>속성 그룹 이력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CA4F3D-7C42-4B16-BFD5-E245ABBFCBCB}"/>
              </a:ext>
            </a:extLst>
          </p:cNvPr>
          <p:cNvSpPr txBox="1"/>
          <p:nvPr/>
        </p:nvSpPr>
        <p:spPr>
          <a:xfrm>
            <a:off x="3013788" y="2066095"/>
            <a:ext cx="30822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FF0000"/>
                </a:solidFill>
              </a:rPr>
              <a:t>고객 인터뷰로 확정</a:t>
            </a:r>
            <a:r>
              <a:rPr lang="en-US" altLang="ko-KR" sz="1100" b="1" dirty="0">
                <a:solidFill>
                  <a:srgbClr val="FF0000"/>
                </a:solidFill>
              </a:rPr>
              <a:t>(</a:t>
            </a:r>
            <a:r>
              <a:rPr lang="ko-KR" altLang="en-US" sz="1100" b="1" dirty="0">
                <a:solidFill>
                  <a:srgbClr val="FF0000"/>
                </a:solidFill>
              </a:rPr>
              <a:t>내역</a:t>
            </a:r>
            <a:r>
              <a:rPr lang="en-US" altLang="ko-KR" sz="1100" b="1" dirty="0">
                <a:solidFill>
                  <a:srgbClr val="FF0000"/>
                </a:solidFill>
              </a:rPr>
              <a:t>/</a:t>
            </a:r>
            <a:r>
              <a:rPr lang="ko-KR" altLang="en-US" sz="1100" b="1" dirty="0">
                <a:solidFill>
                  <a:srgbClr val="FF0000"/>
                </a:solidFill>
              </a:rPr>
              <a:t>이력을 원하는지</a:t>
            </a:r>
            <a:r>
              <a:rPr lang="en-US" altLang="ko-KR" sz="1100" b="1" dirty="0">
                <a:solidFill>
                  <a:srgbClr val="FF0000"/>
                </a:solidFill>
              </a:rPr>
              <a:t>?)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5A8341F-BB87-45AD-91B1-64C18A9B1768}"/>
              </a:ext>
            </a:extLst>
          </p:cNvPr>
          <p:cNvCxnSpPr/>
          <p:nvPr/>
        </p:nvCxnSpPr>
        <p:spPr>
          <a:xfrm>
            <a:off x="4096139" y="2509935"/>
            <a:ext cx="80743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964D86C-ACAB-44B2-9911-9B569428D217}"/>
              </a:ext>
            </a:extLst>
          </p:cNvPr>
          <p:cNvCxnSpPr>
            <a:cxnSpLocks/>
          </p:cNvCxnSpPr>
          <p:nvPr/>
        </p:nvCxnSpPr>
        <p:spPr>
          <a:xfrm>
            <a:off x="6394579" y="2509935"/>
            <a:ext cx="99837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4F00256-E9E0-4CEE-BE3D-CD2A3E59BF7C}"/>
              </a:ext>
            </a:extLst>
          </p:cNvPr>
          <p:cNvCxnSpPr>
            <a:cxnSpLocks/>
          </p:cNvCxnSpPr>
          <p:nvPr/>
        </p:nvCxnSpPr>
        <p:spPr>
          <a:xfrm>
            <a:off x="4903575" y="3650609"/>
            <a:ext cx="99837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3884901"/>
      </p:ext>
    </p:extLst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6.19. </a:t>
            </a:r>
            <a:r>
              <a:rPr lang="ko-KR" altLang="en-US" sz="2400" dirty="0">
                <a:latin typeface="+mn-ea"/>
              </a:rPr>
              <a:t>서브타입의 이력 모델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이번 장에서는 슈퍼타입</a:t>
            </a:r>
            <a:r>
              <a:rPr lang="en-US" altLang="ko-KR" sz="1400" b="1" dirty="0">
                <a:latin typeface="+mn-ea"/>
              </a:rPr>
              <a:t>•</a:t>
            </a:r>
            <a:r>
              <a:rPr lang="ko-KR" altLang="en-US" sz="1400" b="1" dirty="0">
                <a:latin typeface="+mn-ea"/>
              </a:rPr>
              <a:t>서브타입 모델에 대해서 이력 </a:t>
            </a:r>
            <a:r>
              <a:rPr lang="ko-KR" altLang="en-US" sz="1400" b="1" dirty="0" err="1">
                <a:latin typeface="+mn-ea"/>
              </a:rPr>
              <a:t>엔터티를</a:t>
            </a:r>
            <a:r>
              <a:rPr lang="ko-KR" altLang="en-US" sz="1400" b="1" dirty="0">
                <a:latin typeface="+mn-ea"/>
              </a:rPr>
              <a:t> 설계하는 방법을 설명할 것이다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일반적으로 서브타입은 전체 모델에서 핵심적인 </a:t>
            </a:r>
            <a:r>
              <a:rPr lang="ko-KR" altLang="en-US" sz="1400" b="1" dirty="0" err="1">
                <a:latin typeface="+mn-ea"/>
              </a:rPr>
              <a:t>엔터티에</a:t>
            </a:r>
            <a:r>
              <a:rPr lang="ko-KR" altLang="en-US" sz="1400" b="1" dirty="0">
                <a:latin typeface="+mn-ea"/>
              </a:rPr>
              <a:t> 해당하기 때문에 제대로 설계하지 않으면 부작용이 커진다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서브타입 모델 자체도 단순하지 않은데 이에 대한 이력 데이터까지 설계한다면 복잡할 수 있다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이번 장에서 설명하는 방법을 적절하게 사용하여 최적의 모델이 되도록 설계해야 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6.115] </a:t>
            </a:r>
            <a:r>
              <a:rPr lang="ko-KR" altLang="en-US" sz="1400" b="1" dirty="0">
                <a:latin typeface="+mn-ea"/>
              </a:rPr>
              <a:t>모델은 가장 일반적인 방법으로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슈퍼타입</a:t>
            </a:r>
            <a:r>
              <a:rPr lang="en-US" altLang="ko-KR" sz="1400" b="1" dirty="0">
                <a:latin typeface="+mn-ea"/>
              </a:rPr>
              <a:t>.</a:t>
            </a:r>
            <a:r>
              <a:rPr lang="ko-KR" altLang="en-US" sz="1400" b="1" dirty="0">
                <a:latin typeface="+mn-ea"/>
              </a:rPr>
              <a:t>서브타입 </a:t>
            </a:r>
            <a:r>
              <a:rPr lang="ko-KR" altLang="en-US" sz="1400" b="1" dirty="0" err="1">
                <a:latin typeface="+mn-ea"/>
              </a:rPr>
              <a:t>엔터티</a:t>
            </a:r>
            <a:r>
              <a:rPr lang="ko-KR" altLang="en-US" sz="1400" b="1" dirty="0">
                <a:latin typeface="+mn-ea"/>
              </a:rPr>
              <a:t> 별로 이력 데이터를 관리하는 방법이다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DA98207-69A8-1776-C1F6-441C3C2D3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076" y="3096611"/>
            <a:ext cx="4771446" cy="321028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76FD749-5B15-5340-C041-74B50E8BA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74" y="3277519"/>
            <a:ext cx="3581900" cy="3029373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61055A9-9BEB-5B06-8FDB-E628B184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298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110953"/>
      </p:ext>
    </p:extLst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6.19. </a:t>
            </a:r>
            <a:r>
              <a:rPr lang="ko-KR" altLang="en-US" sz="2400" dirty="0">
                <a:latin typeface="+mn-ea"/>
              </a:rPr>
              <a:t>서브타입의 이력 모델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2032</a:t>
            </a:r>
            <a:r>
              <a:rPr lang="ko-KR" altLang="en-US" sz="1400" b="1" dirty="0">
                <a:latin typeface="+mn-ea"/>
              </a:rPr>
              <a:t>년 </a:t>
            </a:r>
            <a:r>
              <a:rPr lang="en-US" altLang="ko-KR" sz="1400" b="1" dirty="0">
                <a:latin typeface="+mn-ea"/>
              </a:rPr>
              <a:t>12</a:t>
            </a:r>
            <a:r>
              <a:rPr lang="ko-KR" altLang="en-US" sz="1400" b="1" dirty="0">
                <a:latin typeface="+mn-ea"/>
              </a:rPr>
              <a:t>월 </a:t>
            </a:r>
            <a:r>
              <a:rPr lang="en-US" altLang="ko-KR" sz="1400" b="1" dirty="0">
                <a:latin typeface="+mn-ea"/>
              </a:rPr>
              <a:t>12</a:t>
            </a:r>
            <a:r>
              <a:rPr lang="ko-KR" altLang="en-US" sz="1400" b="1" dirty="0">
                <a:latin typeface="+mn-ea"/>
              </a:rPr>
              <a:t>일에 주민등록번호 속성이 변경됐고</a:t>
            </a:r>
            <a:r>
              <a:rPr lang="en-US" altLang="ko-KR" sz="1400" b="1" dirty="0">
                <a:latin typeface="+mn-ea"/>
              </a:rPr>
              <a:t>, 2032</a:t>
            </a:r>
            <a:r>
              <a:rPr lang="ko-KR" altLang="en-US" sz="1400" b="1" dirty="0">
                <a:latin typeface="+mn-ea"/>
              </a:rPr>
              <a:t>년 </a:t>
            </a:r>
            <a:r>
              <a:rPr lang="en-US" altLang="ko-KR" sz="1400" b="1" dirty="0">
                <a:latin typeface="+mn-ea"/>
              </a:rPr>
              <a:t>12</a:t>
            </a:r>
            <a:r>
              <a:rPr lang="ko-KR" altLang="en-US" sz="1400" b="1" dirty="0">
                <a:latin typeface="+mn-ea"/>
              </a:rPr>
              <a:t>월 </a:t>
            </a:r>
            <a:r>
              <a:rPr lang="en-US" altLang="ko-KR" sz="1400" b="1" dirty="0">
                <a:latin typeface="+mn-ea"/>
              </a:rPr>
              <a:t>13</a:t>
            </a:r>
            <a:r>
              <a:rPr lang="ko-KR" altLang="en-US" sz="1400" b="1" dirty="0">
                <a:latin typeface="+mn-ea"/>
              </a:rPr>
              <a:t>일에 고객명 속성이 변경됐으며，</a:t>
            </a:r>
            <a:r>
              <a:rPr lang="en-US" altLang="ko-KR" sz="1400" b="1" dirty="0">
                <a:latin typeface="+mn-ea"/>
              </a:rPr>
              <a:t>2 0 3 2 </a:t>
            </a:r>
            <a:r>
              <a:rPr lang="ko-KR" altLang="en-US" sz="1400" b="1" dirty="0">
                <a:latin typeface="+mn-ea"/>
              </a:rPr>
              <a:t>년  </a:t>
            </a:r>
            <a:r>
              <a:rPr lang="en-US" altLang="ko-KR" sz="1400" b="1" dirty="0">
                <a:latin typeface="+mn-ea"/>
              </a:rPr>
              <a:t>1 2 </a:t>
            </a:r>
            <a:r>
              <a:rPr lang="ko-KR" altLang="en-US" sz="1400" b="1" dirty="0">
                <a:latin typeface="+mn-ea"/>
              </a:rPr>
              <a:t>월  </a:t>
            </a:r>
            <a:r>
              <a:rPr lang="en-US" altLang="ko-KR" sz="1400" b="1" dirty="0">
                <a:latin typeface="+mn-ea"/>
              </a:rPr>
              <a:t>1 4 </a:t>
            </a:r>
            <a:r>
              <a:rPr lang="ko-KR" altLang="en-US" sz="1400" b="1" dirty="0">
                <a:latin typeface="+mn-ea"/>
              </a:rPr>
              <a:t>일에는 결혼여부 속성이 변경돼서 이력 </a:t>
            </a:r>
            <a:r>
              <a:rPr lang="ko-KR" altLang="en-US" sz="1400" b="1" dirty="0" err="1">
                <a:latin typeface="+mn-ea"/>
              </a:rPr>
              <a:t>엔터티에</a:t>
            </a:r>
            <a:r>
              <a:rPr lang="ko-KR" altLang="en-US" sz="1400" b="1" dirty="0">
                <a:latin typeface="+mn-ea"/>
              </a:rPr>
              <a:t> 데이터가 생성됐다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만약 고객 데이터가 변경된 내역을 조회한다면 고객이력 </a:t>
            </a:r>
            <a:r>
              <a:rPr lang="ko-KR" altLang="en-US" sz="1400" b="1" dirty="0" err="1">
                <a:latin typeface="+mn-ea"/>
              </a:rPr>
              <a:t>엔터티와</a:t>
            </a:r>
            <a:r>
              <a:rPr lang="ko-KR" altLang="en-US" sz="1400" b="1" dirty="0">
                <a:latin typeface="+mn-ea"/>
              </a:rPr>
              <a:t> 개인고객이력 </a:t>
            </a:r>
            <a:r>
              <a:rPr lang="ko-KR" altLang="en-US" sz="1400" b="1" dirty="0" err="1">
                <a:latin typeface="+mn-ea"/>
              </a:rPr>
              <a:t>엔터티에서</a:t>
            </a:r>
            <a:r>
              <a:rPr lang="ko-KR" altLang="en-US" sz="1400" b="1" dirty="0">
                <a:latin typeface="+mn-ea"/>
              </a:rPr>
              <a:t> 데이터를 추출해야 하는데 쉽지 않다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좀 더 쉽게 조회할 수 있도록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6.117]</a:t>
            </a:r>
            <a:r>
              <a:rPr lang="ko-KR" altLang="en-US" sz="1400" b="1" dirty="0">
                <a:latin typeface="+mn-ea"/>
              </a:rPr>
              <a:t> 릴레이션과 같이 개인고객이력 </a:t>
            </a:r>
            <a:r>
              <a:rPr lang="ko-KR" altLang="en-US" sz="1400" b="1" dirty="0" err="1">
                <a:latin typeface="+mn-ea"/>
              </a:rPr>
              <a:t>엔터티의</a:t>
            </a:r>
            <a:r>
              <a:rPr lang="ko-KR" altLang="en-US" sz="1400" b="1" dirty="0">
                <a:latin typeface="+mn-ea"/>
              </a:rPr>
              <a:t> 속성 값이 변경될 때 고객이력 엔터에도 데이터를 생성할 수도 있다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C9BAA57-F5AC-8012-E722-4B8A683D5049}"/>
              </a:ext>
            </a:extLst>
          </p:cNvPr>
          <p:cNvGrpSpPr/>
          <p:nvPr/>
        </p:nvGrpSpPr>
        <p:grpSpPr>
          <a:xfrm>
            <a:off x="687772" y="2713758"/>
            <a:ext cx="3591426" cy="3421437"/>
            <a:chOff x="2504574" y="2756894"/>
            <a:chExt cx="3591426" cy="342143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72C2831-2484-EE08-5011-1B3280CBD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04574" y="2756894"/>
              <a:ext cx="3591426" cy="2286319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0F3B206E-35A8-AF8F-BEA8-85F731E87A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04574" y="5168540"/>
              <a:ext cx="3505689" cy="1009791"/>
            </a:xfrm>
            <a:prstGeom prst="rect">
              <a:avLst/>
            </a:prstGeom>
          </p:spPr>
        </p:pic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2BF3C125-E69F-E782-B10F-AAA2252BA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1395" y="3372559"/>
            <a:ext cx="3391373" cy="276263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76DB94E-4252-F3DB-BA55-2E96CD5B45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2180" y="3601191"/>
            <a:ext cx="3743847" cy="2534004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B530E8C-5AC6-CBAA-F9FF-99897AF2B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299</a:t>
            </a:fld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F6A07BA-40CB-4E28-AC98-2473E41867EB}"/>
              </a:ext>
            </a:extLst>
          </p:cNvPr>
          <p:cNvSpPr/>
          <p:nvPr/>
        </p:nvSpPr>
        <p:spPr>
          <a:xfrm>
            <a:off x="6018245" y="3372558"/>
            <a:ext cx="1696720" cy="2589703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CD2E5D-93A0-4680-BC51-949B9D1BAF16}"/>
              </a:ext>
            </a:extLst>
          </p:cNvPr>
          <p:cNvSpPr txBox="1"/>
          <p:nvPr/>
        </p:nvSpPr>
        <p:spPr>
          <a:xfrm>
            <a:off x="6096000" y="3051458"/>
            <a:ext cx="37438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FF0000"/>
                </a:solidFill>
              </a:rPr>
              <a:t>수퍼 타입과 서브타입은 항상 같이 관리한다</a:t>
            </a:r>
            <a:r>
              <a:rPr lang="en-US" altLang="ko-KR" sz="1100" b="1" dirty="0">
                <a:solidFill>
                  <a:srgbClr val="FF0000"/>
                </a:solidFill>
              </a:rPr>
              <a:t>.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089968"/>
      </p:ext>
    </p:extLst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6.20. </a:t>
            </a:r>
            <a:r>
              <a:rPr lang="ko-KR" altLang="en-US" sz="2400" dirty="0">
                <a:latin typeface="+mn-ea"/>
              </a:rPr>
              <a:t>정정 데이터  </a:t>
            </a:r>
            <a:r>
              <a:rPr lang="en-US" altLang="ko-KR" sz="16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 </a:t>
            </a:r>
            <a:r>
              <a:rPr lang="ko-KR" altLang="en-US" sz="16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정정데이터는 원칙적으로 이력을 관리하지 않는 데이터 </a:t>
            </a:r>
            <a:r>
              <a:rPr lang="en-US" altLang="ko-KR" sz="16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(update </a:t>
            </a:r>
            <a:r>
              <a:rPr lang="ko-KR" altLang="en-US" sz="16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만 하는 데이터</a:t>
            </a:r>
            <a:r>
              <a:rPr lang="en-US" altLang="ko-KR" sz="16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)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이미 존재하는 데이터가 시간의 흐름에 따라 변한 데이터가 이력 데이터다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이번 장에서는 정정 데이터에 대해서 설명할 것이다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정정 데이터는 이미 존재하는 데이터가 잘못돼 수정한 데이터다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이력 데이터와 마찬가지로 변경된 데이터이지만 잘못을 정정한 데이터를 의미한다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데이터를 정정하는 데는 여러 가지 이유가 있을 것이다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실수를 나중에 발견했거나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추후에 데이터를 서로 맞춰야 할 수도 있다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변경이력 데이터를 관리하기도 쉽지 않은데 이렇게 정정이 발생한 데이터를 구분해 관리해야 한다면 모델은 더욱 복잡해 진다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하지만 실무에서 가끔 이력과 정정 데이터를 함께 관리해야 하는 요건이 발생한다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6.120]</a:t>
            </a:r>
            <a:r>
              <a:rPr lang="ko-KR" altLang="en-US" sz="1400" b="1" dirty="0">
                <a:latin typeface="+mn-ea"/>
              </a:rPr>
              <a:t> </a:t>
            </a:r>
            <a:r>
              <a:rPr lang="ko-KR" altLang="en-US" sz="1400" b="1" dirty="0" err="1">
                <a:latin typeface="+mn-ea"/>
              </a:rPr>
              <a:t>릴레이션에서</a:t>
            </a:r>
            <a:r>
              <a:rPr lang="ko-KR" altLang="en-US" sz="1400" b="1" dirty="0">
                <a:latin typeface="+mn-ea"/>
              </a:rPr>
              <a:t> 세 번째 인스턴스의 비밀번호가 원래는 </a:t>
            </a:r>
            <a:r>
              <a:rPr lang="en-US" altLang="ko-KR" sz="1400" b="1" dirty="0">
                <a:latin typeface="+mn-ea"/>
              </a:rPr>
              <a:t>‘1000’ </a:t>
            </a:r>
            <a:r>
              <a:rPr lang="ko-KR" altLang="en-US" sz="1400" b="1" dirty="0">
                <a:latin typeface="+mn-ea"/>
              </a:rPr>
              <a:t>인데  ‘</a:t>
            </a:r>
            <a:r>
              <a:rPr lang="en-US" altLang="ko-KR" sz="1400" b="1" dirty="0">
                <a:latin typeface="+mn-ea"/>
              </a:rPr>
              <a:t>1001’ </a:t>
            </a:r>
            <a:r>
              <a:rPr lang="ko-KR" altLang="en-US" sz="1400" b="1" dirty="0">
                <a:latin typeface="+mn-ea"/>
              </a:rPr>
              <a:t>로 잘못 입력돼 있다가 </a:t>
            </a:r>
            <a:r>
              <a:rPr lang="en-US" altLang="ko-KR" sz="1400" b="1" dirty="0">
                <a:latin typeface="+mn-ea"/>
              </a:rPr>
              <a:t>2035</a:t>
            </a:r>
            <a:r>
              <a:rPr lang="ko-KR" altLang="en-US" sz="1400" b="1" dirty="0">
                <a:latin typeface="+mn-ea"/>
              </a:rPr>
              <a:t>년 </a:t>
            </a:r>
            <a:r>
              <a:rPr lang="en-US" altLang="ko-KR" sz="1400" b="1" dirty="0">
                <a:latin typeface="+mn-ea"/>
              </a:rPr>
              <a:t>3</a:t>
            </a:r>
            <a:r>
              <a:rPr lang="ko-KR" altLang="en-US" sz="1400" b="1" dirty="0">
                <a:latin typeface="+mn-ea"/>
              </a:rPr>
              <a:t>월 </a:t>
            </a:r>
            <a:r>
              <a:rPr lang="en-US" altLang="ko-KR" sz="1400" b="1" dirty="0">
                <a:latin typeface="+mn-ea"/>
              </a:rPr>
              <a:t>4</a:t>
            </a:r>
            <a:r>
              <a:rPr lang="ko-KR" altLang="en-US" sz="1400" b="1" dirty="0">
                <a:latin typeface="+mn-ea"/>
              </a:rPr>
              <a:t>일에 오류를 발견 했다면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계좌비밀번호 속성 값을 ‘</a:t>
            </a:r>
            <a:r>
              <a:rPr lang="en-US" altLang="ko-KR" sz="1400" b="1" dirty="0">
                <a:latin typeface="+mn-ea"/>
              </a:rPr>
              <a:t>1000’ </a:t>
            </a:r>
            <a:r>
              <a:rPr lang="ko-KR" altLang="en-US" sz="1400" b="1" dirty="0">
                <a:latin typeface="+mn-ea"/>
              </a:rPr>
              <a:t>으로 업데이트하면 된다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3D62D4C-040F-EDFE-A240-B43B373A1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157" y="4750717"/>
            <a:ext cx="2200582" cy="111458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2064D7A-778C-B857-FFD3-7E80108B0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5666" y="4779296"/>
            <a:ext cx="3848637" cy="108600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9E5F275-6B47-89C3-3015-5B909E332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7230" y="4102927"/>
            <a:ext cx="2962688" cy="1762371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A001578-539A-C9F9-128F-BCB7355AB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300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7544101"/>
      </p:ext>
    </p:extLst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6.20. </a:t>
            </a:r>
            <a:r>
              <a:rPr lang="ko-KR" altLang="en-US" sz="2400" dirty="0">
                <a:latin typeface="+mn-ea"/>
              </a:rPr>
              <a:t>정정 데이터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정정 데이터를 관리하는 또 다른 방법은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6.123] </a:t>
            </a:r>
            <a:r>
              <a:rPr lang="ko-KR" altLang="en-US" sz="1400" b="1" dirty="0">
                <a:latin typeface="+mn-ea"/>
              </a:rPr>
              <a:t>모델과 같이 하나의 </a:t>
            </a:r>
            <a:r>
              <a:rPr lang="ko-KR" altLang="en-US" sz="1400" b="1" dirty="0" err="1">
                <a:latin typeface="+mn-ea"/>
              </a:rPr>
              <a:t>엔터티에서</a:t>
            </a:r>
            <a:r>
              <a:rPr lang="ko-KR" altLang="en-US" sz="1400" b="1" dirty="0">
                <a:latin typeface="+mn-ea"/>
              </a:rPr>
              <a:t> 변경이력 데이터를 관리하면서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정정 데이터도 함께 관리하는 것이다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계좌비밀번호 </a:t>
            </a:r>
            <a:r>
              <a:rPr lang="ko-KR" altLang="en-US" sz="1400" b="1" dirty="0" err="1">
                <a:latin typeface="+mn-ea"/>
              </a:rPr>
              <a:t>엔터티</a:t>
            </a:r>
            <a:r>
              <a:rPr lang="ko-KR" altLang="en-US" sz="1400" b="1" dirty="0">
                <a:latin typeface="+mn-ea"/>
              </a:rPr>
              <a:t> 의 변경정정구분코드 속성은 데이터가 업무에 대한 정상적인 변경인지 정정인지를 구분하는 속성이다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6.123] </a:t>
            </a:r>
            <a:r>
              <a:rPr lang="ko-KR" altLang="en-US" sz="1400" b="1" dirty="0">
                <a:latin typeface="+mn-ea"/>
              </a:rPr>
              <a:t>모델에 대한 릴레이션은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6.124]</a:t>
            </a:r>
            <a:r>
              <a:rPr lang="ko-KR" altLang="en-US" sz="1400" b="1" dirty="0">
                <a:latin typeface="+mn-ea"/>
              </a:rPr>
              <a:t>와 같다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만약 세 번째 인스턴스의 계좌비밀번호를 ‘</a:t>
            </a:r>
            <a:r>
              <a:rPr lang="en-US" altLang="ko-KR" sz="1400" b="1" dirty="0">
                <a:latin typeface="+mn-ea"/>
              </a:rPr>
              <a:t>1000’ </a:t>
            </a:r>
            <a:r>
              <a:rPr lang="ko-KR" altLang="en-US" sz="1400" b="1" dirty="0">
                <a:latin typeface="+mn-ea"/>
              </a:rPr>
              <a:t>으로 정정해야 한다면 </a:t>
            </a:r>
            <a:r>
              <a:rPr lang="en-US" altLang="ko-KR" sz="1400" b="1" dirty="0">
                <a:latin typeface="+mn-ea"/>
              </a:rPr>
              <a:t>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6.125] </a:t>
            </a:r>
            <a:r>
              <a:rPr lang="ko-KR" altLang="en-US" sz="1400" b="1" dirty="0">
                <a:latin typeface="+mn-ea"/>
              </a:rPr>
              <a:t>릴레이션과 같다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정정 대상인 인스턴스 </a:t>
            </a:r>
            <a:r>
              <a:rPr lang="en-US" altLang="ko-KR" sz="1400" b="1" dirty="0">
                <a:latin typeface="+mn-ea"/>
              </a:rPr>
              <a:t>( [</a:t>
            </a:r>
            <a:r>
              <a:rPr lang="ko-KR" altLang="en-US" sz="1400" b="1" dirty="0">
                <a:latin typeface="+mn-ea"/>
              </a:rPr>
              <a:t>그림 </a:t>
            </a:r>
            <a:r>
              <a:rPr lang="en-US" altLang="ko-KR" sz="1400" b="1" dirty="0">
                <a:latin typeface="+mn-ea"/>
              </a:rPr>
              <a:t>6.124] </a:t>
            </a:r>
            <a:r>
              <a:rPr lang="ko-KR" altLang="en-US" sz="1400" b="1" dirty="0">
                <a:latin typeface="+mn-ea"/>
              </a:rPr>
              <a:t>릴레이션의 세 번째 인스턴스</a:t>
            </a:r>
            <a:r>
              <a:rPr lang="en-US" altLang="ko-KR" sz="1400" b="1" dirty="0">
                <a:latin typeface="+mn-ea"/>
              </a:rPr>
              <a:t>)</a:t>
            </a:r>
            <a:r>
              <a:rPr lang="ko-KR" altLang="en-US" sz="1400" b="1" dirty="0">
                <a:latin typeface="+mn-ea"/>
              </a:rPr>
              <a:t>는 그대로 두면서 변경정정구분코드 값만 ‘변경’ 에서 ‘정정’ 으로 업데이트한다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그리고 이 정정 때문에 새롭게 생성될 인스턴스의 변경정정구분코드 속성 값은 변경된 데이터이기 때문에 ‘변경’ 으로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계좌비밀번호 속성 값은 정정 후의 올바른 값인 ‘</a:t>
            </a:r>
            <a:r>
              <a:rPr lang="en-US" altLang="ko-KR" sz="1400" b="1" dirty="0">
                <a:latin typeface="+mn-ea"/>
              </a:rPr>
              <a:t>1000’ </a:t>
            </a:r>
            <a:r>
              <a:rPr lang="ko-KR" altLang="en-US" sz="1400" b="1" dirty="0">
                <a:latin typeface="+mn-ea"/>
              </a:rPr>
              <a:t>으로 생성한다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만약 정정한 일자를 관리해야 한다면 정정일자 속성을 일반 속성으로 추가한다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정정 데이터와 이력 데이터를 혼용해서 사용하면 모델구조가 이상해 져서 가독성이 떨어지거나 모델이 잘못 사용될 수 있으며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더 중요하게 사용되는 이력 데이터가 나쁜 영향을 받을 수 있다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정정 데이터와 이력 데이터는 구분해야 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비록 업무에서 구별해서 사용하지 않더라도 데이터는 구분해서 관리하는 것이 바람직하다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이력 데이터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이력 데이터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(History)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8E8A089-435C-C53D-8F37-16A458FC2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951" y="3235962"/>
            <a:ext cx="2686425" cy="113363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F5CCD5C-047B-4331-E3D6-0EBC30597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169" y="3264541"/>
            <a:ext cx="3162741" cy="110505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E702D9-0EDF-9D05-28A2-3D1DE364E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6703" y="3035909"/>
            <a:ext cx="3172268" cy="1333686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F8A55F5-4A0F-DB3E-7F0E-6C07DB556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301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3030112"/>
      </p:ext>
    </p:extLst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381A9E-2A95-8FF9-CD30-21DF6F283265}"/>
              </a:ext>
            </a:extLst>
          </p:cNvPr>
          <p:cNvSpPr txBox="1"/>
          <p:nvPr/>
        </p:nvSpPr>
        <p:spPr>
          <a:xfrm>
            <a:off x="0" y="2373450"/>
            <a:ext cx="121920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lang="ko-KR" altLang="en-US" sz="6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비정규화</a:t>
            </a:r>
            <a:endParaRPr lang="en-US" altLang="ko-KR" sz="6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en-US" altLang="ko-KR" sz="7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Denormalization</a:t>
            </a:r>
            <a:endParaRPr lang="ko-KR" altLang="en-US" sz="7200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24B7D2-D29D-095D-A59F-457043872A94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비정규화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(Denormalization)</a:t>
            </a:r>
          </a:p>
        </p:txBody>
      </p:sp>
    </p:spTree>
    <p:extLst>
      <p:ext uri="{BB962C8B-B14F-4D97-AF65-F5344CB8AC3E}">
        <p14:creationId xmlns:p14="http://schemas.microsoft.com/office/powerpoint/2010/main" val="3755321353"/>
      </p:ext>
    </p:extLst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7.1. </a:t>
            </a:r>
            <a:r>
              <a:rPr lang="ko-KR" altLang="en-US" sz="2400" dirty="0">
                <a:latin typeface="+mn-ea"/>
              </a:rPr>
              <a:t>비정규화 이야기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354564" y="1496173"/>
            <a:ext cx="1149625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비정규형 모델은 단순히 정규화를 하지 않은 모델이 아니라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정규화를 마친 후에 비정규화를 한 모델이다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정규화가 끝나야 비정규화를 할 수 있다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비정규형 모델은 정규형 모델과 마찬가지로 이론적인 체제에 의해서 만들어진 모델이다</a:t>
            </a:r>
            <a:r>
              <a:rPr lang="en-US" altLang="ko-KR" sz="1400" b="1" dirty="0">
                <a:latin typeface="+mn-ea"/>
              </a:rPr>
              <a:t>. 7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비정규화 이야기</a:t>
            </a:r>
            <a:r>
              <a:rPr lang="en-US" altLang="ko-KR" sz="1400" b="1" dirty="0">
                <a:latin typeface="+mn-ea"/>
              </a:rPr>
              <a:t>)</a:t>
            </a:r>
            <a:r>
              <a:rPr lang="ko-KR" altLang="en-US" sz="1400" b="1" dirty="0">
                <a:latin typeface="+mn-ea"/>
              </a:rPr>
              <a:t>에서 설명할 비정규화의 가장 중요한 점은 정규화를 완료한 후에 비정규화를 한다는 것이다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비정규화</a:t>
            </a:r>
            <a:r>
              <a:rPr lang="en-US" altLang="ko-KR" sz="1400" b="1" dirty="0">
                <a:latin typeface="+mn-ea"/>
              </a:rPr>
              <a:t>(Denormalization)</a:t>
            </a:r>
            <a:r>
              <a:rPr lang="ko-KR" altLang="en-US" sz="1400" b="1" dirty="0">
                <a:latin typeface="+mn-ea"/>
              </a:rPr>
              <a:t>는 조회 성능을 향상시키기 위해 데이터를 중복하거나 </a:t>
            </a:r>
            <a:r>
              <a:rPr lang="ko-KR" altLang="en-US" sz="1400" b="1" dirty="0" err="1">
                <a:latin typeface="+mn-ea"/>
              </a:rPr>
              <a:t>그룹핑하는</a:t>
            </a:r>
            <a:r>
              <a:rPr lang="ko-KR" altLang="en-US" sz="1400" b="1" dirty="0">
                <a:latin typeface="+mn-ea"/>
              </a:rPr>
              <a:t> 과정을 의미한다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비정규화는 사실상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조회 성능만을 향상시키기 위한 기법</a:t>
            </a:r>
            <a:r>
              <a:rPr lang="ko-KR" altLang="en-US" sz="1400" b="1" dirty="0">
                <a:latin typeface="+mn-ea"/>
              </a:rPr>
              <a:t>으로 </a:t>
            </a:r>
            <a:r>
              <a:rPr lang="en-US" altLang="ko-KR" sz="1400" b="1" u="sng" dirty="0">
                <a:latin typeface="+mn-ea"/>
              </a:rPr>
              <a:t>DBMS</a:t>
            </a:r>
            <a:r>
              <a:rPr lang="ko-KR" altLang="en-US" sz="1400" b="1" u="sng" dirty="0">
                <a:latin typeface="+mn-ea"/>
              </a:rPr>
              <a:t>의 물리적인 내용과 밀접하게 연관</a:t>
            </a:r>
            <a:r>
              <a:rPr lang="ko-KR" altLang="en-US" sz="1400" b="1" dirty="0">
                <a:latin typeface="+mn-ea"/>
              </a:rPr>
              <a:t>돼 있다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비정규화를 간단히 표현하면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중복 데이터를 허용하는 것</a:t>
            </a:r>
            <a:r>
              <a:rPr lang="ko-KR" altLang="en-US" sz="1400" b="1" dirty="0">
                <a:latin typeface="+mn-ea"/>
              </a:rPr>
              <a:t>이다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데이터 중복을 허용한다는 의미에는 속성을 중복해서 사용한다는 의미와 </a:t>
            </a:r>
            <a:r>
              <a:rPr lang="ko-KR" altLang="en-US" sz="1400" b="1" dirty="0" err="1">
                <a:latin typeface="+mn-ea"/>
              </a:rPr>
              <a:t>엔터티를</a:t>
            </a:r>
            <a:r>
              <a:rPr lang="ko-KR" altLang="en-US" sz="1400" b="1" dirty="0">
                <a:latin typeface="+mn-ea"/>
              </a:rPr>
              <a:t> 중복해서 사용한다는 의미가 포함돼 있다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일반적으로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비정규화</a:t>
            </a:r>
            <a:r>
              <a:rPr lang="ko-KR" altLang="en-US" sz="1400" b="1" dirty="0">
                <a:latin typeface="+mn-ea"/>
              </a:rPr>
              <a:t>라는 용어보다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반정규화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역정규화</a:t>
            </a:r>
            <a:r>
              <a:rPr lang="ko-KR" altLang="en-US" sz="1400" b="1" dirty="0">
                <a:latin typeface="+mn-ea"/>
              </a:rPr>
              <a:t> 등의 용어로도 많이 사용한다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하지만 정규형이 아닌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非</a:t>
            </a:r>
            <a:r>
              <a:rPr lang="en-US" altLang="ko-KR" sz="1400" b="1" dirty="0">
                <a:latin typeface="+mn-ea"/>
              </a:rPr>
              <a:t>) </a:t>
            </a:r>
            <a:r>
              <a:rPr lang="ko-KR" altLang="en-US" sz="1400" b="1" dirty="0">
                <a:latin typeface="+mn-ea"/>
              </a:rPr>
              <a:t>모델을 만드는 과정</a:t>
            </a:r>
            <a:r>
              <a:rPr lang="en-US" altLang="ko-KR" sz="1400" b="1" dirty="0">
                <a:latin typeface="+mn-ea"/>
              </a:rPr>
              <a:t>(Non-Normalization) </a:t>
            </a:r>
            <a:r>
              <a:rPr lang="ko-KR" altLang="en-US" sz="1400" b="1" dirty="0">
                <a:latin typeface="+mn-ea"/>
              </a:rPr>
              <a:t>이므로 이 책에서는 비정규화</a:t>
            </a:r>
            <a:r>
              <a:rPr lang="en-US" altLang="ko-KR" sz="1400" b="1" dirty="0">
                <a:latin typeface="+mn-ea"/>
              </a:rPr>
              <a:t>•</a:t>
            </a:r>
            <a:r>
              <a:rPr lang="ko-KR" altLang="en-US" sz="1400" b="1" dirty="0">
                <a:latin typeface="+mn-ea"/>
              </a:rPr>
              <a:t>비정규형이라는 용어를 사용할 것이다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비정규화를 정규화를 거꾸로 적용하는 과정</a:t>
            </a:r>
            <a:r>
              <a:rPr lang="en-US" altLang="ko-KR" sz="1400" b="1" dirty="0">
                <a:latin typeface="+mn-ea"/>
              </a:rPr>
              <a:t>(Reverse-Normalization)</a:t>
            </a:r>
            <a:r>
              <a:rPr lang="ko-KR" altLang="en-US" sz="1400" b="1" dirty="0">
                <a:latin typeface="+mn-ea"/>
              </a:rPr>
              <a:t>으로만 생각하면 안된다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단지 정규화를 역으로 적용하는 것 이상의 의미가 내포돼 있다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중복 속성을 채택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하는 것이 대표적</a:t>
            </a:r>
            <a:r>
              <a:rPr lang="ko-KR" altLang="en-US" sz="1400" b="1" dirty="0">
                <a:latin typeface="+mn-ea"/>
              </a:rPr>
              <a:t>이다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+mn-ea"/>
              </a:rPr>
              <a:t>비정규화는 크게 </a:t>
            </a:r>
            <a:r>
              <a:rPr lang="ko-KR" altLang="en-US" sz="1600" b="1" u="sng" dirty="0">
                <a:latin typeface="+mn-ea"/>
              </a:rPr>
              <a:t>두 가지 방법</a:t>
            </a:r>
            <a:r>
              <a:rPr lang="ko-KR" altLang="en-US" sz="1400" b="1" dirty="0">
                <a:latin typeface="+mn-ea"/>
              </a:rPr>
              <a:t>으로 나타난다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400" b="1" dirty="0">
                <a:latin typeface="+mn-ea"/>
              </a:rPr>
              <a:t>하나는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정규화를 거꾸로 적용한 것</a:t>
            </a:r>
            <a:r>
              <a:rPr lang="ko-KR" altLang="en-US" sz="1400" b="1" dirty="0">
                <a:latin typeface="+mn-ea"/>
              </a:rPr>
              <a:t>으로써 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</a:rPr>
              <a:t>역정규화</a:t>
            </a:r>
            <a:r>
              <a:rPr lang="en-US" altLang="ko-KR" sz="2000" b="1" dirty="0">
                <a:solidFill>
                  <a:srgbClr val="FF0000"/>
                </a:solidFill>
                <a:latin typeface="+mn-ea"/>
              </a:rPr>
              <a:t>(Reverse-Normalization)</a:t>
            </a:r>
            <a:r>
              <a:rPr lang="en-US" altLang="ko-KR" sz="1400" b="1" dirty="0">
                <a:latin typeface="+mn-ea"/>
              </a:rPr>
              <a:t> </a:t>
            </a:r>
            <a:r>
              <a:rPr lang="ko-KR" altLang="en-US" sz="1400" b="1" dirty="0">
                <a:latin typeface="+mn-ea"/>
              </a:rPr>
              <a:t>라는 용어가 어울리는 방법이다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400" b="1" dirty="0">
                <a:latin typeface="+mn-ea"/>
              </a:rPr>
              <a:t>다른 하나는 정규형 모델에 </a:t>
            </a:r>
            <a:r>
              <a:rPr lang="ko-KR" altLang="en-US" sz="2000" b="1" u="sng" dirty="0">
                <a:solidFill>
                  <a:srgbClr val="FF0000"/>
                </a:solidFill>
                <a:latin typeface="+mn-ea"/>
              </a:rPr>
              <a:t>중복 속성을 채택하는 것</a:t>
            </a:r>
            <a:r>
              <a:rPr lang="ko-KR" altLang="en-US" sz="1400" b="1" dirty="0">
                <a:latin typeface="+mn-ea"/>
              </a:rPr>
              <a:t>으로써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대부분</a:t>
            </a:r>
            <a:r>
              <a:rPr lang="ko-KR" altLang="en-US" sz="1400" b="1" dirty="0">
                <a:latin typeface="+mn-ea"/>
              </a:rPr>
              <a:t>의 비정규화를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이 방법으로 수행</a:t>
            </a:r>
            <a:r>
              <a:rPr lang="ko-KR" altLang="en-US" sz="1400" b="1" dirty="0">
                <a:latin typeface="+mn-ea"/>
              </a:rPr>
              <a:t>한다</a:t>
            </a:r>
            <a:r>
              <a:rPr lang="en-US" altLang="ko-KR" sz="1400" b="1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비정규화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비정규화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(Denormalization)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616EA0-26EC-38B9-98DA-7E5822B07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303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0172761"/>
      </p:ext>
    </p:extLst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7.1. </a:t>
            </a:r>
            <a:r>
              <a:rPr lang="ko-KR" altLang="en-US" sz="2400" dirty="0">
                <a:latin typeface="+mn-ea"/>
              </a:rPr>
              <a:t>비정규화 이야기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7.1]</a:t>
            </a:r>
            <a:r>
              <a:rPr lang="ko-KR" altLang="en-US" sz="1600" b="1" dirty="0">
                <a:latin typeface="+mn-ea"/>
              </a:rPr>
              <a:t>은 정규형 모델이다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주문의 기본 데이터를 관리하는 주문 </a:t>
            </a:r>
            <a:r>
              <a:rPr lang="ko-KR" altLang="en-US" sz="1600" b="1" dirty="0" err="1">
                <a:latin typeface="+mn-ea"/>
              </a:rPr>
              <a:t>엔터티와</a:t>
            </a:r>
            <a:r>
              <a:rPr lang="ko-KR" altLang="en-US" sz="1600" b="1" dirty="0">
                <a:latin typeface="+mn-ea"/>
              </a:rPr>
              <a:t> 주문 상품을 관리하는 주문상품 </a:t>
            </a:r>
            <a:r>
              <a:rPr lang="ko-KR" altLang="en-US" sz="1600" b="1" dirty="0" err="1">
                <a:latin typeface="+mn-ea"/>
              </a:rPr>
              <a:t>엔터티는</a:t>
            </a:r>
            <a:r>
              <a:rPr lang="ko-KR" altLang="en-US" sz="1600" b="1" dirty="0">
                <a:latin typeface="+mn-ea"/>
              </a:rPr>
              <a:t> 마스터</a:t>
            </a:r>
            <a:r>
              <a:rPr lang="en-US" altLang="ko-KR" sz="1600" b="1" dirty="0">
                <a:latin typeface="+mn-ea"/>
              </a:rPr>
              <a:t>(Master), </a:t>
            </a:r>
            <a:r>
              <a:rPr lang="ko-KR" altLang="en-US" sz="1600" b="1" dirty="0">
                <a:latin typeface="+mn-ea"/>
              </a:rPr>
              <a:t>상세</a:t>
            </a:r>
            <a:r>
              <a:rPr lang="en-US" altLang="ko-KR" sz="1600" b="1" dirty="0">
                <a:latin typeface="+mn-ea"/>
              </a:rPr>
              <a:t>(Detail) </a:t>
            </a:r>
            <a:r>
              <a:rPr lang="ko-KR" altLang="en-US" sz="1600" b="1" dirty="0">
                <a:latin typeface="+mn-ea"/>
              </a:rPr>
              <a:t>관계이면서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일대다</a:t>
            </a:r>
            <a:r>
              <a:rPr lang="en-US" altLang="ko-KR" sz="1600" b="1" dirty="0">
                <a:latin typeface="+mn-ea"/>
              </a:rPr>
              <a:t>(1:M) </a:t>
            </a:r>
            <a:r>
              <a:rPr lang="ko-KR" altLang="en-US" sz="1600" b="1" dirty="0">
                <a:latin typeface="+mn-ea"/>
              </a:rPr>
              <a:t>관계의 모델이다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7.2] </a:t>
            </a:r>
            <a:r>
              <a:rPr lang="ko-KR" altLang="en-US" sz="1600" b="1" dirty="0">
                <a:latin typeface="+mn-ea"/>
              </a:rPr>
              <a:t>모델은 위의 정규형 모델을 역으로 비정규화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>
                <a:latin typeface="+mn-ea"/>
              </a:rPr>
              <a:t>역정규화</a:t>
            </a:r>
            <a:r>
              <a:rPr lang="en-US" altLang="ko-KR" sz="1600" b="1" dirty="0">
                <a:latin typeface="+mn-ea"/>
              </a:rPr>
              <a:t>)</a:t>
            </a:r>
            <a:r>
              <a:rPr lang="ko-KR" altLang="en-US" sz="1600" b="1" dirty="0">
                <a:latin typeface="+mn-ea"/>
              </a:rPr>
              <a:t>한 모델이다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7.2] </a:t>
            </a:r>
            <a:r>
              <a:rPr lang="ko-KR" altLang="en-US" sz="1600" b="1" dirty="0">
                <a:latin typeface="+mn-ea"/>
              </a:rPr>
              <a:t>모델은 </a:t>
            </a: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7.1] </a:t>
            </a:r>
            <a:r>
              <a:rPr lang="ko-KR" altLang="en-US" sz="1600" b="1" dirty="0">
                <a:latin typeface="+mn-ea"/>
              </a:rPr>
              <a:t>주문 </a:t>
            </a: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주문상품 </a:t>
            </a:r>
            <a:r>
              <a:rPr lang="ko-KR" altLang="en-US" sz="1600" b="1" dirty="0" err="1">
                <a:latin typeface="+mn-ea"/>
              </a:rPr>
              <a:t>엔터티에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합쳐서 비정규화를 수행한 모델</a:t>
            </a:r>
            <a:r>
              <a:rPr lang="ko-KR" altLang="en-US" sz="1600" b="1" dirty="0">
                <a:latin typeface="+mn-ea"/>
              </a:rPr>
              <a:t>이다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반면에 실무에서는 대부분 </a:t>
            </a: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7.3]</a:t>
            </a:r>
            <a:r>
              <a:rPr lang="ko-KR" altLang="en-US" sz="1600" b="1" dirty="0">
                <a:latin typeface="+mn-ea"/>
              </a:rPr>
              <a:t>과 같은 모델이 사용된다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즉 정규형 모델을 그대로 사용하면서 필요한 속성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>
                <a:latin typeface="+mn-ea"/>
              </a:rPr>
              <a:t>배송주소</a:t>
            </a:r>
            <a:r>
              <a:rPr lang="en-US" altLang="ko-KR" sz="1600" b="1" dirty="0">
                <a:latin typeface="+mn-ea"/>
              </a:rPr>
              <a:t>)</a:t>
            </a:r>
            <a:r>
              <a:rPr lang="ko-KR" altLang="en-US" sz="1600" b="1" dirty="0">
                <a:latin typeface="+mn-ea"/>
              </a:rPr>
              <a:t>만 중복시키는 것이다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이런 </a:t>
            </a:r>
            <a:r>
              <a:rPr lang="ko-KR" altLang="en-US" sz="2000" b="1" u="sng" dirty="0">
                <a:solidFill>
                  <a:srgbClr val="FF0000"/>
                </a:solidFill>
                <a:latin typeface="+mn-ea"/>
              </a:rPr>
              <a:t>비정규형</a:t>
            </a:r>
            <a:r>
              <a:rPr lang="ko-KR" altLang="en-US" sz="1600" b="1" dirty="0">
                <a:latin typeface="+mn-ea"/>
              </a:rPr>
              <a:t>을 사용하는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유일한 목적</a:t>
            </a:r>
            <a:r>
              <a:rPr lang="ko-KR" altLang="en-US" sz="1600" b="1" dirty="0">
                <a:latin typeface="+mn-ea"/>
              </a:rPr>
              <a:t>은 </a:t>
            </a:r>
            <a:r>
              <a:rPr lang="ko-KR" altLang="en-US" sz="2800" b="1" u="sng" dirty="0">
                <a:solidFill>
                  <a:srgbClr val="FF0000"/>
                </a:solidFill>
                <a:latin typeface="+mn-ea"/>
              </a:rPr>
              <a:t>조회 성능</a:t>
            </a:r>
            <a:r>
              <a:rPr lang="ko-KR" altLang="en-US" sz="2800" b="1" dirty="0">
                <a:solidFill>
                  <a:srgbClr val="FF0000"/>
                </a:solidFill>
                <a:latin typeface="+mn-ea"/>
              </a:rPr>
              <a:t>을 </a:t>
            </a:r>
            <a:r>
              <a:rPr lang="ko-KR" altLang="en-US" sz="2800" b="1" u="sng" dirty="0">
                <a:solidFill>
                  <a:srgbClr val="FF0000"/>
                </a:solidFill>
                <a:latin typeface="+mn-ea"/>
              </a:rPr>
              <a:t>향상</a:t>
            </a:r>
            <a:r>
              <a:rPr lang="ko-KR" altLang="en-US" sz="2800" b="1" dirty="0">
                <a:solidFill>
                  <a:srgbClr val="FF0000"/>
                </a:solidFill>
                <a:latin typeface="+mn-ea"/>
              </a:rPr>
              <a:t>시키기 위해서</a:t>
            </a:r>
            <a:r>
              <a:rPr lang="ko-KR" altLang="en-US" sz="1600" b="1" dirty="0">
                <a:latin typeface="+mn-ea"/>
              </a:rPr>
              <a:t>다</a:t>
            </a:r>
            <a:r>
              <a:rPr lang="en-US" altLang="ko-KR" sz="1600" b="1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비정규화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비정규화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(Denormalization)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D26BAC2-4B3D-16D7-6234-836AED12A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04" y="3210826"/>
            <a:ext cx="2610214" cy="123842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90BC9DA-B9E2-38FD-B03C-8ACB49377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493" y="2763081"/>
            <a:ext cx="2067213" cy="174331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73D1351-4A00-3323-68D0-EC699CD8D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7880" y="3220345"/>
            <a:ext cx="2648320" cy="1286054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1DEEB8E-A871-67C7-3794-E0950A0CB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304</a:t>
            </a:fld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BED89BC-F28B-41FA-8429-B5B5FC54B634}"/>
              </a:ext>
            </a:extLst>
          </p:cNvPr>
          <p:cNvSpPr/>
          <p:nvPr/>
        </p:nvSpPr>
        <p:spPr>
          <a:xfrm>
            <a:off x="5308651" y="3154398"/>
            <a:ext cx="989512" cy="148640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864534F-0244-4343-AB12-7A5D4F10B989}"/>
              </a:ext>
            </a:extLst>
          </p:cNvPr>
          <p:cNvSpPr/>
          <p:nvPr/>
        </p:nvSpPr>
        <p:spPr>
          <a:xfrm>
            <a:off x="5331731" y="3620035"/>
            <a:ext cx="966432" cy="261500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739023"/>
      </p:ext>
    </p:extLst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7.2. </a:t>
            </a:r>
            <a:r>
              <a:rPr lang="ko-KR" altLang="en-US" sz="2400" dirty="0">
                <a:latin typeface="+mn-ea"/>
              </a:rPr>
              <a:t>비정규화 원칙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비정규화에 대한 원칙을 간략하게 정리하면 다음과 같다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600" b="1" dirty="0">
                <a:latin typeface="+mn-ea"/>
              </a:rPr>
              <a:t>최우선적으로 고려할 요소는 데이터 무결성이다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데이터 무결성은 데이터가 복잡하게 얽혀 있지 않은 온전한 상태를 의미한다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흠이 없는 데이터에 대해 무결성이 만족됐다고 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비정규화 뿐만이 아닌 모델링 전반에 걸친 최우선 원칙이다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600" b="1" dirty="0">
                <a:latin typeface="+mn-ea"/>
              </a:rPr>
              <a:t>정규형은 필수이며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성능 문제가 있을 때만 비정규형을 채택한다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일반적으로 데이터 무결성과 조회 성능은 트레이드오프 관계로 알려졌다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하지만 엄밀히 보면 이율배반의 의미보다는 취사선택의 의미가 강하다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즉 때에 따라 비정규형을 선택하는 것이다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조회 성능에 문제가 발생했을 때 비정규화를 고려하는 것이다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800100" lvl="1" indent="-342900">
              <a:buFont typeface="+mj-ea"/>
              <a:buAutoNum type="circleNumDbPlain"/>
            </a:pP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600" b="1" dirty="0">
                <a:latin typeface="+mn-ea"/>
              </a:rPr>
              <a:t>중복 속성은 가능한 사용하지 않으며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추출 속성은 일부 사용할 수 있다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중복 속 성 은 가능한 사용하지 않고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추출 속성은 때에 따라 사용하는 것이다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조인하는 게 불편해서 사용하는 중복 속성은 사용하지 않아야 한다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altLang="ko-KR" sz="1400" b="1" dirty="0">
              <a:latin typeface="+mn-ea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성능 문제를 해결하기 위해서만</a:t>
            </a:r>
            <a:r>
              <a:rPr lang="ko-KR" altLang="en-US" b="1" dirty="0">
                <a:latin typeface="+mn-ea"/>
              </a:rPr>
              <a:t> 비정규형을 사용해야 하며</a:t>
            </a:r>
            <a:r>
              <a:rPr lang="en-US" altLang="ko-KR" b="1" dirty="0">
                <a:latin typeface="+mn-ea"/>
              </a:rPr>
              <a:t>,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비정규화를 할 때는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정규화를 한 상태에서 해야 한다</a:t>
            </a:r>
            <a:r>
              <a:rPr lang="en-US" altLang="ko-KR" b="1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비정규화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비정규화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(Denormalization)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963F164-30E5-8EE3-C42A-1703E9D30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305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7190994"/>
      </p:ext>
    </p:extLst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7.3. </a:t>
            </a:r>
            <a:r>
              <a:rPr lang="ko-KR" altLang="en-US" sz="2400" dirty="0">
                <a:latin typeface="+mn-ea"/>
              </a:rPr>
              <a:t>비정규형의 단점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조회 성능 을 향상 시키는 것이 비정규형의 유일한 장점인 반면 비정규형의 단점은 많다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이번 장에서는 비정규형의 단점에 대해서 자세하게 설명할 것이다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정합성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비정규형의 가장 커다란 단점은 데이터 정합성이 깨질 수 있다는 것이다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데이터를 중복시키는 것이 비정규화의 핵심인데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중복된 데이터는 정합성이 훼손될 가능성이 항상 존재한다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중복이 많을수록 데이터 정합성이 저하돼 궁극적으로 데이터의 품질은 떨어지게 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쓰기 성능 저하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비정규화를 하는 유일한 이유는 읽기</a:t>
            </a:r>
            <a:r>
              <a:rPr lang="en-US" altLang="ko-KR" sz="1400" dirty="0">
                <a:latin typeface="+mn-ea"/>
              </a:rPr>
              <a:t>(Read: Select) </a:t>
            </a:r>
            <a:r>
              <a:rPr lang="ko-KR" altLang="en-US" sz="1400" dirty="0">
                <a:latin typeface="+mn-ea"/>
              </a:rPr>
              <a:t>성능을 향상시키는 것이다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하지만 흔히 간과하는 것 중에는 쓰기</a:t>
            </a:r>
            <a:r>
              <a:rPr lang="en-US" altLang="ko-KR" sz="1400" dirty="0">
                <a:latin typeface="+mn-ea"/>
              </a:rPr>
              <a:t>(Write: Insert • Update • Delete) </a:t>
            </a:r>
            <a:r>
              <a:rPr lang="ko-KR" altLang="en-US" sz="1400" dirty="0">
                <a:latin typeface="+mn-ea"/>
              </a:rPr>
              <a:t>성능이 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드물기는 하지만 쓰기 성능이 심각할 때가 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비록 이슈까지는 아니더라도 읽기 성능과 비교했을 때 무시할 수 없는 경우도 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이때는 쓰기 성능을 포기할 만큼 읽기 성능 문제가 큰지를 따져야 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비정규화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비정규화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(Denormalization)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D4AB236-C5D8-8DB0-2B73-CAF7E0F6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306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4469169"/>
      </p:ext>
    </p:extLst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7.3. </a:t>
            </a:r>
            <a:r>
              <a:rPr lang="ko-KR" altLang="en-US" sz="2400" dirty="0">
                <a:latin typeface="+mn-ea"/>
              </a:rPr>
              <a:t>비정규형의 단점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데이터 성격이 불명확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비정규화의 단점 중에 간과할 수 없는 것이 데이터 성격이 </a:t>
            </a:r>
            <a:r>
              <a:rPr lang="ko-KR" altLang="en-US" sz="1400" dirty="0" err="1">
                <a:latin typeface="+mn-ea"/>
              </a:rPr>
              <a:t>불명확해진다는</a:t>
            </a:r>
            <a:r>
              <a:rPr lang="ko-KR" altLang="en-US" sz="1400" dirty="0">
                <a:latin typeface="+mn-ea"/>
              </a:rPr>
              <a:t> 것이다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정규화를 완전하게 거치지 않은 채 처음부터 비정규형을 사용한 경우는 말할 것도 없고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데이터 성격이 명확해지도록 정규화를 한 후에 비정규화를 한 경우도 결국 데이터 성격이 불명확해질 수 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즉 많은 중복 속성 때문에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성격이 명확하지 않을 수 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모델 확장성 저하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모델의 확장성 측면에서도 비정규형 모델이 정규형 모델보다 불리하다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비정규화를 심하게 수행한 모델일수록 수정하기 어려워진다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데이터 성격에 따라 온전하게 정규화 된 모델은 확장성이 매우 좋다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정규형은 군더더기가 없는 상태다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이미 존재하는 것을 수정하는 것보다 새로 만드는 것이 쉬울 때가 많듯이 군더더기가 많은 비정규형을 수정하는 것은 어려워 확장성이 떨어진다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비정규화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비정규화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(Denormalization)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EE90074-ED2E-2D2F-60AA-9C800DDC2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115" y="2785074"/>
            <a:ext cx="1638529" cy="188621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630E367-9079-B28B-9C65-2FAEEAAF9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098" y="2975600"/>
            <a:ext cx="2553056" cy="1695687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EB69C5E-C87B-4128-6489-3F4EFF17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307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9804297"/>
      </p:ext>
    </p:extLst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7.3. </a:t>
            </a:r>
            <a:r>
              <a:rPr lang="ko-KR" altLang="en-US" sz="2400" dirty="0">
                <a:latin typeface="+mn-ea"/>
              </a:rPr>
              <a:t>비정규형의 단점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개발 어려움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비정규형을 채택하면 개발이 쉽다는 얘기를 자주 듣는다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하지만 정말 그럴지는 의문이다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데이터 정합성을 체크하지 않는다면 그럴 수 있지만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이는 있어서는 안 되는 일이다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중복 속성을 무분별하게 사용하면 아마 개발자는 견딜 수 없을 것이다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공간 차지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중복 데이터를 많이 사용하면 데이터베이스의 저장 공간을 더 많이 차지하게 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인스턴스가 적은 </a:t>
            </a:r>
            <a:r>
              <a:rPr lang="ko-KR" altLang="en-US" sz="1400" dirty="0" err="1">
                <a:latin typeface="+mn-ea"/>
              </a:rPr>
              <a:t>엔터티는</a:t>
            </a:r>
            <a:r>
              <a:rPr lang="ko-KR" altLang="en-US" sz="1400" dirty="0">
                <a:latin typeface="+mn-ea"/>
              </a:rPr>
              <a:t> 큰 문제가 안 될 수 있지만，인스턴스가 수억 건이 되는 </a:t>
            </a:r>
            <a:r>
              <a:rPr lang="ko-KR" altLang="en-US" sz="1400" dirty="0" err="1">
                <a:latin typeface="+mn-ea"/>
              </a:rPr>
              <a:t>엔터티는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20bytes </a:t>
            </a:r>
            <a:r>
              <a:rPr lang="ko-KR" altLang="en-US" sz="1400" dirty="0">
                <a:latin typeface="+mn-ea"/>
              </a:rPr>
              <a:t>문자만 중복돼도 수십 </a:t>
            </a:r>
            <a:r>
              <a:rPr lang="en-US" altLang="ko-KR" sz="1400" dirty="0">
                <a:latin typeface="+mn-ea"/>
              </a:rPr>
              <a:t>Giga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bytes</a:t>
            </a:r>
            <a:r>
              <a:rPr lang="ko-KR" altLang="en-US" sz="1400" dirty="0">
                <a:latin typeface="+mn-ea"/>
              </a:rPr>
              <a:t>의 공간이 필요하게 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데이터베이스 공간을 많이 차지하면 일반적으로 성능에 나쁜 영향을 미친다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일부 조회 성능 저하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저장 공간을 많이 차지하는 것 자체도 바람직하지 않지만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이것이 조회 성능과 연관되면 더욱 좋지 않게 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공간을 많이 사용한다는 것은 특정 요건의 조회 성능을 떨어트린다는 것을 의미한다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데이터를 빨리 조회하기 위해 비정규형을 채택했지만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이 때문에 조회 성능이 나빠질 수도 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2400" b="1" u="sng" dirty="0">
                <a:solidFill>
                  <a:srgbClr val="C00000"/>
                </a:solidFill>
                <a:latin typeface="+mn-ea"/>
              </a:rPr>
              <a:t>결론</a:t>
            </a:r>
            <a:r>
              <a:rPr lang="en-US" altLang="ko-KR" sz="2400" b="1" u="sng" dirty="0">
                <a:solidFill>
                  <a:srgbClr val="C00000"/>
                </a:solidFill>
                <a:latin typeface="+mn-ea"/>
              </a:rPr>
              <a:t>, </a:t>
            </a:r>
            <a:r>
              <a:rPr lang="ko-KR" altLang="en-US" sz="2400" b="1" u="sng" dirty="0">
                <a:solidFill>
                  <a:srgbClr val="C00000"/>
                </a:solidFill>
                <a:latin typeface="+mn-ea"/>
              </a:rPr>
              <a:t>비정규화는 성능 문제가 없다면 하지 말아야 한다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</a:rPr>
              <a:t>물리 모델링 단계라고 기계적으로 비정규화를 해야 하는 것은 아니다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데이터 정합성 문제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데이터 품질 문제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모델의 가독성 문제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모델의 확장성 문제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데이터베이스 공간 문제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쓰기 성능 문제</a:t>
            </a:r>
            <a:r>
              <a:rPr lang="ko-KR" altLang="en-US" sz="1600" dirty="0">
                <a:latin typeface="+mn-ea"/>
              </a:rPr>
              <a:t> 등 많은 단점이 존재하므로 비정규형은 매우 신중하게 선택적으로 사용해야 한다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비정규화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비정규화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(Denormalization)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8C18EC0-DC75-0115-39B1-2EE90FDE2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308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8337640"/>
      </p:ext>
    </p:extLst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7.4. </a:t>
            </a:r>
            <a:r>
              <a:rPr lang="ko-KR" altLang="en-US" sz="2400" dirty="0">
                <a:latin typeface="+mn-ea"/>
              </a:rPr>
              <a:t>비정규화 과정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718457" y="1496173"/>
            <a:ext cx="1113236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비정규형은 중복을 허용하는 체계화된 모델이다</a:t>
            </a:r>
            <a:r>
              <a:rPr lang="en-US" altLang="ko-KR" b="1" dirty="0">
                <a:latin typeface="+mn-ea"/>
              </a:rPr>
              <a:t>. </a:t>
            </a:r>
            <a:r>
              <a:rPr lang="ko-KR" altLang="en-US" b="1" dirty="0">
                <a:latin typeface="+mn-ea"/>
              </a:rPr>
              <a:t>제멋대로 설계한 모델이 아니다</a:t>
            </a:r>
            <a:r>
              <a:rPr lang="en-US" altLang="ko-KR" b="1" dirty="0">
                <a:latin typeface="+mn-ea"/>
              </a:rPr>
              <a:t>. </a:t>
            </a:r>
            <a:r>
              <a:rPr lang="ko-KR" altLang="en-US" b="1" dirty="0">
                <a:latin typeface="+mn-ea"/>
              </a:rPr>
              <a:t>제대로 된 과정을 거쳐 비정규형을 설계한다면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비정규형은 정규형의 장점은 살리면서 정규형을 뛰어넘을 수 있는 모델이다</a:t>
            </a:r>
            <a:r>
              <a:rPr lang="en-US" altLang="ko-KR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좋은 비정규형 모델이 되려면 다음과 같은 과정을 거쳐야 한다</a:t>
            </a:r>
            <a:r>
              <a:rPr lang="en-US" altLang="ko-KR" b="1" dirty="0">
                <a:latin typeface="+mn-ea"/>
              </a:rPr>
              <a:t>.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 함수종속을 적용해 정규화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 성능 문제 발생 요건 도출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 비정규화 외에 다른 방안 검토 </a:t>
            </a:r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– 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인덱스</a:t>
            </a:r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힌트</a:t>
            </a:r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파티션</a:t>
            </a:r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등 검토 후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 비정규화 수행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 정합성 구현 방안 검토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비정규화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비정규화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(Denormalization)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86CF7F5-4FFA-172C-FDED-97D19811D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309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5289690"/>
      </p:ext>
    </p:extLst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7.4. </a:t>
            </a:r>
            <a:r>
              <a:rPr lang="ko-KR" altLang="en-US" sz="2400" dirty="0">
                <a:latin typeface="+mn-ea"/>
              </a:rPr>
              <a:t>비정규화 과정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b="1" dirty="0">
                <a:latin typeface="+mn-ea"/>
              </a:rPr>
              <a:t>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함수 종속을 적용해 정규화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비정규화의 첫 번째 단계는 요구 사항에 따라 정규화를 하는 단계다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어떤 데이터가 필요한지를 분석하고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함수 종속을 사용해 </a:t>
            </a:r>
            <a:r>
              <a:rPr lang="ko-KR" altLang="en-US" sz="1400" dirty="0" err="1">
                <a:latin typeface="+mn-ea"/>
              </a:rPr>
              <a:t>엔터티를</a:t>
            </a:r>
            <a:r>
              <a:rPr lang="ko-KR" altLang="en-US" sz="1400" dirty="0">
                <a:latin typeface="+mn-ea"/>
              </a:rPr>
              <a:t> 설계하고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그 </a:t>
            </a:r>
            <a:r>
              <a:rPr lang="ko-KR" altLang="en-US" sz="1400" dirty="0" err="1">
                <a:latin typeface="+mn-ea"/>
              </a:rPr>
              <a:t>엔터티에</a:t>
            </a:r>
            <a:r>
              <a:rPr lang="ko-KR" altLang="en-US" sz="1400" dirty="0">
                <a:latin typeface="+mn-ea"/>
              </a:rPr>
              <a:t> 속성이 채워진다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이는 모델링을 수행하는 단계로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정규화를 의미한다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+mj-ea"/>
              <a:buAutoNum type="circleNumDbPlain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성능문제 발생 요건 도출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정규형을 사용하면 성능에 문제가 되는 요건이 도출된 것이다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이런 요건은 중요하면서 자주 사용되는 요건이어야 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성능과 관련된 특별한 요건이 있을 때만 비정규화가 수행된다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비정규화 외에 다른 방안 검토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세 번째 단계는 비정규형을 채택하기 전에 대안을 찾는 단 계다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아래와 같은 이런 대안은 주로 데이터베이스 기능과 관련된다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ko-KR" altLang="en-US" sz="1200" dirty="0">
                <a:latin typeface="+mn-ea"/>
              </a:rPr>
              <a:t>뷰를 사용해서 조인 문제를 해결할 수 있는지 검토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ko-KR" altLang="en-US" sz="1200" dirty="0">
                <a:latin typeface="+mn-ea"/>
              </a:rPr>
              <a:t>파티션으로 데이터를 나눠서 해결할 수 있는지 검토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ko-KR" altLang="en-US" sz="1200" dirty="0">
                <a:latin typeface="+mn-ea"/>
              </a:rPr>
              <a:t>클러스터링이나 </a:t>
            </a:r>
            <a:r>
              <a:rPr lang="en-US" altLang="ko-KR" sz="1200" dirty="0">
                <a:latin typeface="+mn-ea"/>
              </a:rPr>
              <a:t>IOT (ln d e x Oriented Table) </a:t>
            </a:r>
            <a:r>
              <a:rPr lang="ko-KR" altLang="en-US" sz="1200" dirty="0">
                <a:latin typeface="+mn-ea"/>
              </a:rPr>
              <a:t>같은 특수 형태의 테이블을 사용해서 해결할 수 있는지 검토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ko-KR" altLang="en-US" sz="1200" dirty="0">
                <a:latin typeface="+mn-ea"/>
              </a:rPr>
              <a:t>인덱스를 조정하거나 힌트</a:t>
            </a:r>
            <a:r>
              <a:rPr lang="en-US" altLang="ko-KR" sz="1200" dirty="0">
                <a:latin typeface="+mn-ea"/>
              </a:rPr>
              <a:t>(Hint) </a:t>
            </a:r>
            <a:r>
              <a:rPr lang="ko-KR" altLang="en-US" sz="1200" dirty="0">
                <a:latin typeface="+mn-ea"/>
              </a:rPr>
              <a:t>등으로 해결할 수 있는지 검토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ko-KR" altLang="en-US" sz="1200" dirty="0">
                <a:latin typeface="+mn-ea"/>
              </a:rPr>
              <a:t>그 밖에 </a:t>
            </a:r>
            <a:r>
              <a:rPr lang="en-US" altLang="ko-KR" sz="1200" dirty="0">
                <a:latin typeface="+mn-ea"/>
              </a:rPr>
              <a:t>DBMS</a:t>
            </a:r>
            <a:r>
              <a:rPr lang="ko-KR" altLang="en-US" sz="1200" dirty="0">
                <a:latin typeface="+mn-ea"/>
              </a:rPr>
              <a:t>의 최신 기술</a:t>
            </a:r>
            <a:r>
              <a:rPr lang="en-US" altLang="ko-KR" sz="1200" dirty="0">
                <a:latin typeface="+mn-ea"/>
              </a:rPr>
              <a:t>)</a:t>
            </a:r>
            <a:r>
              <a:rPr lang="ko-KR" altLang="en-US" sz="1200" dirty="0">
                <a:latin typeface="+mn-ea"/>
              </a:rPr>
              <a:t>을 적용해 해결할 수 있는지 검토</a:t>
            </a:r>
            <a:endParaRPr lang="en-US" altLang="ko-KR" sz="1200" dirty="0">
              <a:latin typeface="+mn-ea"/>
            </a:endParaRPr>
          </a:p>
          <a:p>
            <a:pPr marL="1257300" lvl="2" indent="-342900">
              <a:buFont typeface="Wingdings" panose="05000000000000000000" pitchFamily="2" charset="2"/>
              <a:buChar char="ü"/>
            </a:pPr>
            <a:endParaRPr lang="en-US" altLang="ko-KR" sz="12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b="1" dirty="0">
                <a:latin typeface="+mn-ea"/>
              </a:rPr>
              <a:t>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비정규화 수행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어떠한 대안도 요건을 충분히 해결할 수 없다면 네 번째 단계에서 다양한 종류의 비정규형을 고려해야 한다 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어떤 비정규형이 최적일지에 대해 심도 있게 고민해야 한다 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다양한 비정규화의 방법에 대해서는 이어지는 장부터 자세하게 설명할 것이다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비정규화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비정규화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(Denormalization)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FFA514B-481C-04F7-703A-D33DE4C81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2745314"/>
      </p:ext>
    </p:extLst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7.4. </a:t>
            </a:r>
            <a:r>
              <a:rPr lang="ko-KR" altLang="en-US" sz="2400" dirty="0">
                <a:latin typeface="+mn-ea"/>
              </a:rPr>
              <a:t>비정규화 과정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정합성 구현 방안 검토</a:t>
            </a:r>
            <a:endParaRPr lang="en-US" altLang="ko-KR" sz="1600" b="1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마지막으로 최적의 비정규형이 선택됐다면 데이터 정합성을 어떻게 구현할 수 있는지 방안을 마련해야 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중복된 속성은 무엇이며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원천 데이터는 어디인지를 명확하게 정의해야 하고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양쪽 간에 데이터를 어떻게 맞춰야 하는지를 결정해야 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이런 방안이 문서화돼 관리되기는 쉽지 않지만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 err="1">
                <a:latin typeface="+mn-ea"/>
              </a:rPr>
              <a:t>모델러가</a:t>
            </a:r>
            <a:r>
              <a:rPr lang="ko-KR" altLang="en-US" sz="1400" dirty="0">
                <a:latin typeface="+mn-ea"/>
              </a:rPr>
              <a:t> 지침을 제시해야 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7.6]</a:t>
            </a:r>
            <a:r>
              <a:rPr lang="ko-KR" altLang="en-US" sz="1400" dirty="0">
                <a:latin typeface="+mn-ea"/>
              </a:rPr>
              <a:t>은 함수 종속을 분석하기 전 상태의 </a:t>
            </a:r>
            <a:r>
              <a:rPr lang="ko-KR" altLang="en-US" sz="1400" dirty="0" err="1">
                <a:latin typeface="+mn-ea"/>
              </a:rPr>
              <a:t>엔터티로</a:t>
            </a:r>
            <a:r>
              <a:rPr lang="ko-KR" altLang="en-US" sz="1400" dirty="0">
                <a:latin typeface="+mn-ea"/>
              </a:rPr>
              <a:t> 단지 하나의 릴레이션이다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7.7]</a:t>
            </a:r>
            <a:r>
              <a:rPr lang="ko-KR" altLang="en-US" sz="1400" dirty="0">
                <a:latin typeface="+mn-ea"/>
              </a:rPr>
              <a:t>은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</a:t>
            </a:r>
            <a:r>
              <a:rPr lang="en-US" altLang="ko-KR" sz="1400" dirty="0">
                <a:latin typeface="+mn-ea"/>
              </a:rPr>
              <a:t>7.6] </a:t>
            </a:r>
            <a:r>
              <a:rPr lang="ko-KR" altLang="en-US" sz="1400" dirty="0" err="1">
                <a:latin typeface="+mn-ea"/>
              </a:rPr>
              <a:t>엔터티를</a:t>
            </a:r>
            <a:r>
              <a:rPr lang="ko-KR" altLang="en-US" sz="1400" dirty="0">
                <a:latin typeface="+mn-ea"/>
              </a:rPr>
              <a:t> 정규화 한 모델이다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함수 종 속을 적용하여 계좌번호에 종속된 속성만으로 이루어진 계좌 </a:t>
            </a:r>
            <a:r>
              <a:rPr lang="ko-KR" altLang="en-US" sz="1400" dirty="0" err="1">
                <a:latin typeface="+mn-ea"/>
              </a:rPr>
              <a:t>엔터티를</a:t>
            </a:r>
            <a:r>
              <a:rPr lang="ko-KR" altLang="en-US" sz="1400" dirty="0">
                <a:latin typeface="+mn-ea"/>
              </a:rPr>
              <a:t> 설계하고</a:t>
            </a:r>
            <a:r>
              <a:rPr lang="en-US" altLang="ko-KR" sz="1400" dirty="0">
                <a:latin typeface="+mn-ea"/>
              </a:rPr>
              <a:t>, 3 </a:t>
            </a:r>
            <a:r>
              <a:rPr lang="ko-KR" altLang="en-US" sz="1400" dirty="0">
                <a:latin typeface="+mn-ea"/>
              </a:rPr>
              <a:t>정규화에 의해 고객 </a:t>
            </a:r>
            <a:r>
              <a:rPr lang="ko-KR" altLang="en-US" sz="1400" dirty="0" err="1">
                <a:latin typeface="+mn-ea"/>
              </a:rPr>
              <a:t>엔터티를</a:t>
            </a:r>
            <a:r>
              <a:rPr lang="ko-KR" altLang="en-US" sz="1400" dirty="0">
                <a:latin typeface="+mn-ea"/>
              </a:rPr>
              <a:t> 설계한 모델이다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만약 계좌를 개설한 고객의 이름을 알아야 하는 요건이 있는데，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7.7] </a:t>
            </a:r>
            <a:r>
              <a:rPr lang="ko-KR" altLang="en-US" sz="1400" dirty="0">
                <a:latin typeface="+mn-ea"/>
              </a:rPr>
              <a:t>정규형 모델을 사용하면 성능 문제가 발생하며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비정규화 외의 다른 대안도 적합하지 않다면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그림 </a:t>
            </a:r>
            <a:r>
              <a:rPr lang="en-US" altLang="ko-KR" sz="1400" dirty="0">
                <a:latin typeface="+mn-ea"/>
              </a:rPr>
              <a:t>7.8] </a:t>
            </a:r>
            <a:r>
              <a:rPr lang="ko-KR" altLang="en-US" sz="1400" dirty="0">
                <a:latin typeface="+mn-ea"/>
              </a:rPr>
              <a:t>모델과 같이 비정규화를 수행해야 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2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비정규화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비정규화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(Denormalization)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015A6DF-62F5-883B-D5D5-BD337B195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014" y="2583076"/>
            <a:ext cx="1724266" cy="247684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79032EA-68DE-B696-0C7A-880196989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485" y="3326130"/>
            <a:ext cx="2534004" cy="173379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815E38C-45D7-7222-E3D7-56857CE96C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8401" y="3185139"/>
            <a:ext cx="2524477" cy="1886213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A5E7B45-2E76-0B7D-CEA9-E75DCE400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9672814"/>
      </p:ext>
    </p:extLst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7.5. </a:t>
            </a:r>
            <a:r>
              <a:rPr lang="ko-KR" altLang="en-US" sz="2400" dirty="0">
                <a:latin typeface="+mn-ea"/>
              </a:rPr>
              <a:t>비정규화 방법 </a:t>
            </a:r>
            <a:r>
              <a:rPr lang="en-US" altLang="ko-KR" sz="2400" dirty="0">
                <a:latin typeface="+mn-ea"/>
              </a:rPr>
              <a:t>– </a:t>
            </a:r>
            <a:r>
              <a:rPr lang="ko-KR" altLang="en-US" sz="2400" dirty="0">
                <a:latin typeface="+mn-ea"/>
              </a:rPr>
              <a:t>역정규화  </a:t>
            </a:r>
            <a:r>
              <a:rPr lang="en-US" altLang="ko-KR" sz="2400" dirty="0">
                <a:latin typeface="+mn-ea"/>
              </a:rPr>
              <a:t>(</a:t>
            </a:r>
            <a:r>
              <a:rPr lang="ko-KR" altLang="en-US" sz="2400" dirty="0" err="1">
                <a:latin typeface="+mn-ea"/>
              </a:rPr>
              <a:t>롤다운</a:t>
            </a:r>
            <a:r>
              <a:rPr lang="ko-KR" altLang="en-US" sz="2400" dirty="0">
                <a:latin typeface="+mn-ea"/>
              </a:rPr>
              <a:t> 역정규화 </a:t>
            </a:r>
            <a:r>
              <a:rPr lang="en-US" altLang="ko-KR" sz="2400" dirty="0">
                <a:latin typeface="+mn-ea"/>
                <a:sym typeface="Wingdings" panose="05000000000000000000" pitchFamily="2" charset="2"/>
              </a:rPr>
              <a:t> </a:t>
            </a:r>
            <a:r>
              <a:rPr lang="ko-KR" altLang="en-US" sz="2400" dirty="0" err="1">
                <a:latin typeface="+mn-ea"/>
                <a:sym typeface="Wingdings" panose="05000000000000000000" pitchFamily="2" charset="2"/>
              </a:rPr>
              <a:t>롤업</a:t>
            </a:r>
            <a:r>
              <a:rPr lang="ko-KR" altLang="en-US" sz="2400" dirty="0">
                <a:latin typeface="+mn-ea"/>
                <a:sym typeface="Wingdings" panose="05000000000000000000" pitchFamily="2" charset="2"/>
              </a:rPr>
              <a:t> 역정규화</a:t>
            </a:r>
            <a:r>
              <a:rPr lang="en-US" altLang="ko-KR" sz="2400" dirty="0">
                <a:latin typeface="+mn-ea"/>
              </a:rPr>
              <a:t>)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역정규화</a:t>
            </a:r>
            <a:r>
              <a:rPr lang="en-US" altLang="ko-KR" sz="1600" b="1" dirty="0">
                <a:latin typeface="+mn-ea"/>
              </a:rPr>
              <a:t>(Reverse-Normalization)</a:t>
            </a:r>
            <a:r>
              <a:rPr lang="ko-KR" altLang="en-US" sz="1600" b="1" dirty="0">
                <a:latin typeface="+mn-ea"/>
              </a:rPr>
              <a:t>는 비정규화보다 협소한 의미다</a:t>
            </a:r>
            <a:r>
              <a:rPr lang="en-US" altLang="ko-KR" sz="1600" b="1" dirty="0">
                <a:latin typeface="+mn-ea"/>
              </a:rPr>
              <a:t>.  </a:t>
            </a:r>
            <a:r>
              <a:rPr lang="ko-KR" altLang="en-US" sz="1600" b="1" dirty="0">
                <a:latin typeface="+mn-ea"/>
              </a:rPr>
              <a:t>비정규화의 일부가 역정규화다</a:t>
            </a:r>
            <a:r>
              <a:rPr lang="en-US" altLang="ko-KR" sz="1600" b="1" dirty="0">
                <a:latin typeface="+mn-ea"/>
              </a:rPr>
              <a:t>. 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7.9]</a:t>
            </a:r>
            <a:r>
              <a:rPr lang="ko-KR" altLang="en-US" sz="1600" b="1" dirty="0">
                <a:latin typeface="+mn-ea"/>
              </a:rPr>
              <a:t>는 정규형 모델이다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주문 </a:t>
            </a:r>
            <a:r>
              <a:rPr lang="ko-KR" altLang="en-US" sz="1600" b="1" dirty="0" err="1">
                <a:latin typeface="+mn-ea"/>
              </a:rPr>
              <a:t>엔터티에서는</a:t>
            </a:r>
            <a:r>
              <a:rPr lang="ko-KR" altLang="en-US" sz="1600" b="1" dirty="0">
                <a:latin typeface="+mn-ea"/>
              </a:rPr>
              <a:t> 주문의 기본 데이터를 관리하며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주문상품 </a:t>
            </a:r>
            <a:r>
              <a:rPr lang="ko-KR" altLang="en-US" sz="1600" b="1" dirty="0" err="1">
                <a:latin typeface="+mn-ea"/>
              </a:rPr>
              <a:t>엔터티에서는</a:t>
            </a:r>
            <a:r>
              <a:rPr lang="ko-KR" altLang="en-US" sz="1600" b="1" dirty="0">
                <a:latin typeface="+mn-ea"/>
              </a:rPr>
              <a:t> 하나의 주문에 포함된 주문상품 데이터를 관리한다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주문</a:t>
            </a:r>
            <a:r>
              <a:rPr lang="en-US" altLang="ko-KR" sz="1600" b="1" dirty="0">
                <a:latin typeface="+mn-ea"/>
              </a:rPr>
              <a:t>•</a:t>
            </a:r>
            <a:r>
              <a:rPr lang="ko-KR" altLang="en-US" sz="1600" b="1" dirty="0">
                <a:latin typeface="+mn-ea"/>
              </a:rPr>
              <a:t>주문상품 </a:t>
            </a:r>
            <a:r>
              <a:rPr lang="ko-KR" altLang="en-US" sz="1600" b="1" dirty="0" err="1">
                <a:latin typeface="+mn-ea"/>
              </a:rPr>
              <a:t>엔터티는</a:t>
            </a:r>
            <a:r>
              <a:rPr lang="ko-KR" altLang="en-US" sz="1600" b="1" dirty="0">
                <a:latin typeface="+mn-ea"/>
              </a:rPr>
              <a:t> 종속 관계</a:t>
            </a:r>
            <a:r>
              <a:rPr lang="en-US" altLang="ko-KR" sz="1600" b="1" dirty="0">
                <a:latin typeface="+mn-ea"/>
              </a:rPr>
              <a:t>10</a:t>
            </a:r>
            <a:r>
              <a:rPr lang="ko-KR" altLang="en-US" sz="1600" b="1" dirty="0">
                <a:latin typeface="+mn-ea"/>
              </a:rPr>
              <a:t>엑 </a:t>
            </a:r>
            <a:r>
              <a:rPr lang="ko-KR" altLang="en-US" sz="1600" b="1" dirty="0" err="1">
                <a:latin typeface="+mn-ea"/>
              </a:rPr>
              <a:t>엔터티다</a:t>
            </a:r>
            <a:r>
              <a:rPr lang="en-US" altLang="ko-KR" sz="1600" b="1" dirty="0">
                <a:latin typeface="+mn-ea"/>
              </a:rPr>
              <a:t>. 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7.9] </a:t>
            </a:r>
            <a:r>
              <a:rPr lang="ko-KR" altLang="en-US" sz="1600" b="1" dirty="0">
                <a:latin typeface="+mn-ea"/>
              </a:rPr>
              <a:t>모델에 대한 릴레이션은 </a:t>
            </a: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7.10] </a:t>
            </a:r>
            <a:r>
              <a:rPr lang="ko-KR" altLang="en-US" sz="1600" b="1" dirty="0">
                <a:latin typeface="+mn-ea"/>
              </a:rPr>
              <a:t>과 같다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7.9] </a:t>
            </a:r>
            <a:r>
              <a:rPr lang="ko-KR" altLang="en-US" sz="1600" b="1" dirty="0">
                <a:latin typeface="+mn-ea"/>
              </a:rPr>
              <a:t>정규형 모델을 사용하면 주문한 상품 내역을 빠르게 조회할 수 없어서 </a:t>
            </a:r>
            <a:r>
              <a:rPr lang="ko-KR" altLang="en-US" sz="1600" b="1" dirty="0" err="1">
                <a:latin typeface="+mn-ea"/>
              </a:rPr>
              <a:t>비정규화한</a:t>
            </a:r>
            <a:r>
              <a:rPr lang="ko-KR" altLang="en-US" sz="1600" b="1" dirty="0">
                <a:latin typeface="+mn-ea"/>
              </a:rPr>
              <a:t> 모델은 </a:t>
            </a: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7.11]</a:t>
            </a:r>
            <a:r>
              <a:rPr lang="ko-KR" altLang="en-US" sz="1600" b="1" dirty="0">
                <a:latin typeface="+mn-ea"/>
              </a:rPr>
              <a:t>과 같다</a:t>
            </a:r>
            <a:r>
              <a:rPr lang="en-US" altLang="ko-KR" sz="1600" b="1" dirty="0">
                <a:latin typeface="+mn-ea"/>
              </a:rPr>
              <a:t>.</a:t>
            </a:r>
            <a:endParaRPr lang="en-US" altLang="ko-KR" sz="11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비정규화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비정규화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(Denormalization)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332BFA-2C74-CC65-6D11-1657D0D68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469" y="3486150"/>
            <a:ext cx="2619741" cy="126700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502FD89-3998-6ACE-2CFD-13205E0BE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099" y="3065842"/>
            <a:ext cx="3181794" cy="1800476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217BB41-B4DF-FBC5-CF52-07932CF3A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7584658"/>
      </p:ext>
    </p:extLst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7.5. </a:t>
            </a:r>
            <a:r>
              <a:rPr lang="ko-KR" altLang="en-US" sz="2400" dirty="0">
                <a:latin typeface="+mn-ea"/>
              </a:rPr>
              <a:t>비정규화 방법 </a:t>
            </a:r>
            <a:r>
              <a:rPr lang="en-US" altLang="ko-KR" sz="2400" dirty="0">
                <a:latin typeface="+mn-ea"/>
              </a:rPr>
              <a:t>- </a:t>
            </a:r>
            <a:r>
              <a:rPr lang="ko-KR" altLang="en-US" sz="2400" dirty="0">
                <a:latin typeface="+mn-ea"/>
              </a:rPr>
              <a:t>역정규화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7.9] </a:t>
            </a:r>
            <a:r>
              <a:rPr lang="ko-KR" altLang="en-US" sz="1600" b="1" dirty="0">
                <a:latin typeface="+mn-ea"/>
              </a:rPr>
              <a:t>정규형 모델을 사용하면 주문한 상품 내역을 빠르게 조회할 수 없어서 비정규화 한 모델은 </a:t>
            </a: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7.11]</a:t>
            </a:r>
            <a:r>
              <a:rPr lang="ko-KR" altLang="en-US" sz="1600" b="1" dirty="0">
                <a:latin typeface="+mn-ea"/>
              </a:rPr>
              <a:t>과 같다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7.9] </a:t>
            </a:r>
            <a:r>
              <a:rPr lang="ko-KR" altLang="en-US" sz="1600" b="1" dirty="0">
                <a:latin typeface="+mn-ea"/>
              </a:rPr>
              <a:t>모델에서 내역 성격의 주문상품 </a:t>
            </a: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기준으로 마스터 성격의 데이터인 주문 </a:t>
            </a: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합침으로써 역정규화를 수행한 것이다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즉 두 개의 </a:t>
            </a: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미리 조인한 </a:t>
            </a:r>
            <a:r>
              <a:rPr lang="ko-KR" altLang="en-US" sz="1600" b="1" dirty="0" err="1">
                <a:latin typeface="+mn-ea"/>
              </a:rPr>
              <a:t>엔터티</a:t>
            </a:r>
            <a:r>
              <a:rPr lang="en-US" altLang="ko-KR" sz="1600" b="1" dirty="0">
                <a:latin typeface="+mn-ea"/>
              </a:rPr>
              <a:t>(Pre-Joined Table) </a:t>
            </a:r>
            <a:r>
              <a:rPr lang="ko-KR" altLang="en-US" sz="1600" b="1" dirty="0">
                <a:latin typeface="+mn-ea"/>
              </a:rPr>
              <a:t>와 같다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주문상품 </a:t>
            </a:r>
            <a:r>
              <a:rPr lang="ko-KR" altLang="en-US" sz="1600" b="1" dirty="0" err="1">
                <a:latin typeface="+mn-ea"/>
              </a:rPr>
              <a:t>엔터티의</a:t>
            </a:r>
            <a:r>
              <a:rPr lang="ko-KR" altLang="en-US" sz="1600" b="1" dirty="0">
                <a:latin typeface="+mn-ea"/>
              </a:rPr>
              <a:t> 속성은 그대로 두고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주문 </a:t>
            </a:r>
            <a:r>
              <a:rPr lang="ko-KR" altLang="en-US" sz="1600" b="1" dirty="0" err="1">
                <a:latin typeface="+mn-ea"/>
              </a:rPr>
              <a:t>엔터티의</a:t>
            </a:r>
            <a:r>
              <a:rPr lang="ko-KR" altLang="en-US" sz="1600" b="1" dirty="0">
                <a:latin typeface="+mn-ea"/>
              </a:rPr>
              <a:t> 속성을 모두 주문상품 </a:t>
            </a:r>
            <a:r>
              <a:rPr lang="ko-KR" altLang="en-US" sz="1600" b="1" dirty="0" err="1">
                <a:latin typeface="+mn-ea"/>
              </a:rPr>
              <a:t>엔터티에</a:t>
            </a:r>
            <a:r>
              <a:rPr lang="ko-KR" altLang="en-US" sz="1600" b="1" dirty="0">
                <a:latin typeface="+mn-ea"/>
              </a:rPr>
              <a:t> 포함시키면서 주문 </a:t>
            </a:r>
            <a:r>
              <a:rPr lang="ko-KR" altLang="en-US" sz="1600" b="1" dirty="0" err="1">
                <a:latin typeface="+mn-ea"/>
              </a:rPr>
              <a:t>엔터티는</a:t>
            </a:r>
            <a:r>
              <a:rPr lang="ko-KR" altLang="en-US" sz="1600" b="1" dirty="0">
                <a:latin typeface="+mn-ea"/>
              </a:rPr>
              <a:t> 삭제한다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주문 </a:t>
            </a:r>
            <a:r>
              <a:rPr lang="ko-KR" altLang="en-US" sz="1600" b="1" dirty="0" err="1">
                <a:latin typeface="+mn-ea"/>
              </a:rPr>
              <a:t>엔터티가</a:t>
            </a:r>
            <a:r>
              <a:rPr lang="ko-KR" altLang="en-US" sz="1600" b="1" dirty="0">
                <a:latin typeface="+mn-ea"/>
              </a:rPr>
              <a:t> 삭제 됐지만 역정규화 한 모델이 주문을 관리하기 때문에 </a:t>
            </a:r>
            <a:r>
              <a:rPr lang="ko-KR" altLang="en-US" sz="1600" b="1" dirty="0" err="1">
                <a:latin typeface="+mn-ea"/>
              </a:rPr>
              <a:t>엔터티</a:t>
            </a:r>
            <a:r>
              <a:rPr lang="ko-KR" altLang="en-US" sz="1600" b="1" dirty="0">
                <a:latin typeface="+mn-ea"/>
              </a:rPr>
              <a:t> 명은 ‘주 </a:t>
            </a:r>
            <a:r>
              <a:rPr lang="en-US" altLang="ko-KR" sz="1600" b="1" dirty="0">
                <a:latin typeface="+mn-ea"/>
              </a:rPr>
              <a:t>&amp; </a:t>
            </a:r>
            <a:r>
              <a:rPr lang="ko-KR" altLang="en-US" sz="1600" b="1" dirty="0">
                <a:latin typeface="+mn-ea"/>
              </a:rPr>
              <a:t>상품’ 보다는 ‘주문’ 이 적절하다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7.11] </a:t>
            </a:r>
            <a:r>
              <a:rPr lang="ko-KR" altLang="en-US" sz="1600" b="1" dirty="0">
                <a:latin typeface="+mn-ea"/>
              </a:rPr>
              <a:t>모델에 대한 릴레이션은 </a:t>
            </a: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7.12]</a:t>
            </a:r>
            <a:r>
              <a:rPr lang="ko-KR" altLang="en-US" sz="1600" b="1" dirty="0">
                <a:latin typeface="+mn-ea"/>
              </a:rPr>
              <a:t>와 같다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1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비정규화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비정규화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(Denormalization)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9D8B5EF-BB75-6253-C302-1B2AC65FC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785" y="4328104"/>
            <a:ext cx="1648055" cy="175284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D6713BB-722A-4DFC-B653-4022214DE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7415" y="4966368"/>
            <a:ext cx="4610743" cy="1114581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142754C-F067-1A39-B707-39605A341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313</a:t>
            </a:fld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F4DB854-AD55-420E-9965-A7DDFE2183D1}"/>
              </a:ext>
            </a:extLst>
          </p:cNvPr>
          <p:cNvSpPr/>
          <p:nvPr/>
        </p:nvSpPr>
        <p:spPr>
          <a:xfrm>
            <a:off x="1921732" y="4710611"/>
            <a:ext cx="989512" cy="148640"/>
          </a:xfrm>
          <a:prstGeom prst="roundRect">
            <a:avLst>
              <a:gd name="adj" fmla="val 7165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455672"/>
      </p:ext>
    </p:extLst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7.5. </a:t>
            </a:r>
            <a:r>
              <a:rPr lang="ko-KR" altLang="en-US" sz="2400" dirty="0">
                <a:latin typeface="+mn-ea"/>
              </a:rPr>
              <a:t>비정규화 방법 </a:t>
            </a:r>
            <a:r>
              <a:rPr lang="en-US" altLang="ko-KR" sz="2400" dirty="0">
                <a:latin typeface="+mn-ea"/>
              </a:rPr>
              <a:t>- </a:t>
            </a:r>
            <a:r>
              <a:rPr lang="ko-KR" altLang="en-US" sz="2400" dirty="0">
                <a:latin typeface="+mn-ea"/>
              </a:rPr>
              <a:t>역정규화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7.11] </a:t>
            </a:r>
            <a:r>
              <a:rPr lang="ko-KR" altLang="en-US" sz="1600" b="1" dirty="0">
                <a:latin typeface="+mn-ea"/>
              </a:rPr>
              <a:t>모델은 많은 중 복 데이터가 발생한 점이 문제지만</a:t>
            </a:r>
            <a:r>
              <a:rPr lang="en-US" altLang="ko-KR" sz="1600" b="1" dirty="0">
                <a:latin typeface="+mn-ea"/>
              </a:rPr>
              <a:t>, 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7.13] </a:t>
            </a:r>
            <a:r>
              <a:rPr lang="ko-KR" altLang="en-US" sz="1600" b="1" dirty="0">
                <a:latin typeface="+mn-ea"/>
              </a:rPr>
              <a:t>모델은 중복 데이터가 발생한 것은 아니다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다만 주문상품이 늘어나면 대처하기 어려운 유연하지 않은 모델이다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물론 이 모델은 주문상품의 개수가 정해져 있을 때만 사용할 수 있다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이와 같은 역정규화 과정에서 중요한 점은 </a:t>
            </a:r>
            <a:r>
              <a:rPr lang="ko-KR" altLang="en-US" sz="1600" b="1" dirty="0" err="1">
                <a:latin typeface="+mn-ea"/>
              </a:rPr>
              <a:t>엔터티가</a:t>
            </a:r>
            <a:r>
              <a:rPr lang="ko-KR" altLang="en-US" sz="1600" b="1" dirty="0">
                <a:latin typeface="+mn-ea"/>
              </a:rPr>
              <a:t> 삭제되는 것이다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만약 </a:t>
            </a: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7.14] </a:t>
            </a:r>
            <a:r>
              <a:rPr lang="ko-KR" altLang="en-US" sz="1600" b="1" dirty="0">
                <a:latin typeface="+mn-ea"/>
              </a:rPr>
              <a:t>모델과 같이 주문 </a:t>
            </a:r>
            <a:r>
              <a:rPr lang="ko-KR" altLang="en-US" sz="1600" b="1" dirty="0" err="1">
                <a:latin typeface="+mn-ea"/>
              </a:rPr>
              <a:t>엔터티는</a:t>
            </a:r>
            <a:r>
              <a:rPr lang="ko-KR" altLang="en-US" sz="1600" b="1" dirty="0">
                <a:latin typeface="+mn-ea"/>
              </a:rPr>
              <a:t> 그대로 존재하면서 주문상품 </a:t>
            </a:r>
            <a:r>
              <a:rPr lang="ko-KR" altLang="en-US" sz="1600" b="1" dirty="0" err="1">
                <a:latin typeface="+mn-ea"/>
              </a:rPr>
              <a:t>엔터티에</a:t>
            </a:r>
            <a:r>
              <a:rPr lang="ko-KR" altLang="en-US" sz="1600" b="1" dirty="0">
                <a:latin typeface="+mn-ea"/>
              </a:rPr>
              <a:t> 일부 속성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>
                <a:latin typeface="+mn-ea"/>
              </a:rPr>
              <a:t>주문자명</a:t>
            </a:r>
            <a:r>
              <a:rPr lang="en-US" altLang="ko-KR" sz="1600" b="1" dirty="0">
                <a:latin typeface="+mn-ea"/>
              </a:rPr>
              <a:t>•</a:t>
            </a:r>
            <a:r>
              <a:rPr lang="ko-KR" altLang="en-US" sz="1600" b="1" dirty="0">
                <a:latin typeface="+mn-ea"/>
              </a:rPr>
              <a:t>주문자연락번호만 추가되면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역정규형 모델이 아니라 중복 속성을 사용한 비정규형 모델이다</a:t>
            </a:r>
            <a:r>
              <a:rPr lang="en-US" altLang="ko-KR" sz="1600" b="1" dirty="0">
                <a:latin typeface="+mn-ea"/>
              </a:rPr>
              <a:t>.</a:t>
            </a:r>
            <a:endParaRPr lang="en-US" altLang="ko-KR" sz="11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비정규화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비정규화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(Denormalization)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7C1E711-5D90-B199-C544-42875E090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223" y="3989685"/>
            <a:ext cx="2238687" cy="217200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A680C0D-D6E7-7529-253F-5156D9B93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579" y="4723212"/>
            <a:ext cx="2705478" cy="1438476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59EC82D-ACB7-2755-5DB9-2C5A21ABE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5655262"/>
      </p:ext>
    </p:extLst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7.5. </a:t>
            </a:r>
            <a:r>
              <a:rPr lang="ko-KR" altLang="en-US" sz="2400" dirty="0">
                <a:latin typeface="+mn-ea"/>
              </a:rPr>
              <a:t>비정규화 방법 </a:t>
            </a:r>
            <a:r>
              <a:rPr lang="en-US" altLang="ko-KR" sz="2400" dirty="0">
                <a:latin typeface="+mn-ea"/>
              </a:rPr>
              <a:t>- </a:t>
            </a:r>
            <a:r>
              <a:rPr lang="ko-KR" altLang="en-US" sz="2400" dirty="0">
                <a:latin typeface="+mn-ea"/>
              </a:rPr>
              <a:t>역정규화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위 모델만 봐서는 정확히 역정규화를 한 것인지 알기 어렵다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이에 대한 릴레이션은 </a:t>
            </a: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7.16] </a:t>
            </a:r>
            <a:r>
              <a:rPr lang="ko-KR" altLang="en-US" sz="1600" b="1" dirty="0">
                <a:latin typeface="+mn-ea"/>
              </a:rPr>
              <a:t>과 같다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이 </a:t>
            </a:r>
            <a:r>
              <a:rPr lang="ko-KR" altLang="en-US" sz="1600" b="1" dirty="0" err="1">
                <a:latin typeface="+mn-ea"/>
              </a:rPr>
              <a:t>릴레이션에서</a:t>
            </a:r>
            <a:r>
              <a:rPr lang="ko-KR" altLang="en-US" sz="1600" b="1" dirty="0">
                <a:latin typeface="+mn-ea"/>
              </a:rPr>
              <a:t> 상품유형명이 중복됐다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상품유형명 속성에 대한 결정자 속성은 상품유형번호 속성이므로 </a:t>
            </a:r>
            <a:r>
              <a:rPr lang="en-US" altLang="ko-KR" sz="1600" b="1" dirty="0">
                <a:latin typeface="+mn-ea"/>
              </a:rPr>
              <a:t>3 </a:t>
            </a:r>
            <a:r>
              <a:rPr lang="ko-KR" altLang="en-US" sz="1600" b="1" dirty="0">
                <a:latin typeface="+mn-ea"/>
              </a:rPr>
              <a:t>정규형에 대한 역정규형 모델이다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이에 대한 정규형 모델은 </a:t>
            </a: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7.1 </a:t>
            </a:r>
            <a:r>
              <a:rPr lang="ko-KR" altLang="en-US" sz="1600" b="1" dirty="0">
                <a:latin typeface="+mn-ea"/>
              </a:rPr>
              <a:t>기 모델과 같다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실무에서는 중복 속성을 사용한 </a:t>
            </a: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7.18] </a:t>
            </a:r>
            <a:r>
              <a:rPr lang="ko-KR" altLang="en-US" sz="1600" b="1" dirty="0">
                <a:latin typeface="+mn-ea"/>
              </a:rPr>
              <a:t>과 같은 비정규형 모델을 주로 사용한다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1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비정규화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비정규화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(Denormalization)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04E2797-082A-B88C-62AB-B7E091B6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046" y="2107138"/>
            <a:ext cx="1114581" cy="128605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CC21A92-3858-E819-DD42-421D33B2E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448" y="2059506"/>
            <a:ext cx="3229426" cy="133368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1718EF2-C00A-573F-1413-BEBEF756DF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1009" y="5121616"/>
            <a:ext cx="2705478" cy="111458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9B6FEC6-A95B-DBDF-231A-BF9A06B041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5515" y="4959669"/>
            <a:ext cx="2724530" cy="1276528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746345E-372F-D56C-8AC8-B6D2D695A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0694456"/>
      </p:ext>
    </p:extLst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7.6. </a:t>
            </a:r>
            <a:r>
              <a:rPr lang="ko-KR" altLang="en-US" sz="2400" dirty="0">
                <a:latin typeface="+mn-ea"/>
              </a:rPr>
              <a:t>비정규화 방법 </a:t>
            </a:r>
            <a:r>
              <a:rPr lang="en-US" altLang="ko-KR" sz="2400" dirty="0">
                <a:latin typeface="+mn-ea"/>
              </a:rPr>
              <a:t>- </a:t>
            </a:r>
            <a:r>
              <a:rPr lang="ko-KR" altLang="en-US" sz="2800" dirty="0" err="1">
                <a:solidFill>
                  <a:srgbClr val="FF0000"/>
                </a:solidFill>
                <a:latin typeface="+mn-ea"/>
              </a:rPr>
              <a:t>엔터티</a:t>
            </a:r>
            <a:r>
              <a:rPr lang="ko-KR" altLang="en-US" sz="2800" dirty="0">
                <a:solidFill>
                  <a:srgbClr val="FF0000"/>
                </a:solidFill>
                <a:latin typeface="+mn-ea"/>
              </a:rPr>
              <a:t> 합체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논리 모델링 단계에서 데이터 정체성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>
                <a:latin typeface="+mn-ea"/>
              </a:rPr>
              <a:t>성격</a:t>
            </a:r>
            <a:r>
              <a:rPr lang="en-US" altLang="ko-KR" sz="1600" b="1" dirty="0">
                <a:latin typeface="+mn-ea"/>
              </a:rPr>
              <a:t>)</a:t>
            </a:r>
            <a:r>
              <a:rPr lang="ko-KR" altLang="en-US" sz="1600" b="1" dirty="0">
                <a:latin typeface="+mn-ea"/>
              </a:rPr>
              <a:t>을 파악해 </a:t>
            </a: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도출하면 </a:t>
            </a:r>
            <a:r>
              <a:rPr lang="ko-KR" altLang="en-US" sz="1600" b="1" dirty="0" err="1">
                <a:latin typeface="+mn-ea"/>
              </a:rPr>
              <a:t>엔터티가</a:t>
            </a:r>
            <a:r>
              <a:rPr lang="ko-KR" altLang="en-US" sz="1600" b="1" dirty="0">
                <a:latin typeface="+mn-ea"/>
              </a:rPr>
              <a:t> 많이 생긴다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자연히 </a:t>
            </a:r>
            <a:r>
              <a:rPr lang="ko-KR" altLang="en-US" sz="1600" b="1" dirty="0" err="1">
                <a:latin typeface="+mn-ea"/>
              </a:rPr>
              <a:t>엔터티</a:t>
            </a:r>
            <a:r>
              <a:rPr lang="ko-KR" altLang="en-US" sz="1600" b="1" dirty="0">
                <a:latin typeface="+mn-ea"/>
              </a:rPr>
              <a:t> 간의 조인이 많이 발생해 성능 문제가 발생할 수 있어 </a:t>
            </a: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합체할 필요가 있다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 err="1">
                <a:latin typeface="+mn-ea"/>
              </a:rPr>
              <a:t>엔터티</a:t>
            </a:r>
            <a:r>
              <a:rPr lang="ko-KR" altLang="en-US" sz="1600" b="1" dirty="0">
                <a:latin typeface="+mn-ea"/>
              </a:rPr>
              <a:t> 합체는 두 개 이상의 </a:t>
            </a: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합치는 것이다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 err="1">
                <a:latin typeface="+mn-ea"/>
              </a:rPr>
              <a:t>엔터티</a:t>
            </a:r>
            <a:r>
              <a:rPr lang="ko-KR" altLang="en-US" sz="1600" b="1" dirty="0">
                <a:latin typeface="+mn-ea"/>
              </a:rPr>
              <a:t> 합체 대상에는 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</a:rPr>
              <a:t>일대일</a:t>
            </a:r>
            <a:r>
              <a:rPr lang="en-US" altLang="ko-KR" sz="2000" b="1" dirty="0">
                <a:solidFill>
                  <a:srgbClr val="FF0000"/>
                </a:solidFill>
                <a:latin typeface="+mn-ea"/>
              </a:rPr>
              <a:t>(1:1) 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</a:rPr>
              <a:t>관계의 </a:t>
            </a:r>
            <a:r>
              <a:rPr lang="ko-KR" altLang="en-US" sz="2000" b="1" dirty="0" err="1">
                <a:solidFill>
                  <a:srgbClr val="FF0000"/>
                </a:solidFill>
                <a:latin typeface="+mn-ea"/>
              </a:rPr>
              <a:t>엔터티</a:t>
            </a:r>
            <a:r>
              <a:rPr lang="ko-KR" altLang="en-US" sz="1600" b="1" dirty="0" err="1">
                <a:latin typeface="+mn-ea"/>
              </a:rPr>
              <a:t>가</a:t>
            </a:r>
            <a:r>
              <a:rPr lang="ko-KR" altLang="en-US" sz="1600" b="1" dirty="0">
                <a:latin typeface="+mn-ea"/>
              </a:rPr>
              <a:t> 주를 이루며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간혹 일대다</a:t>
            </a:r>
            <a:r>
              <a:rPr lang="en-US" altLang="ko-KR" sz="1600" b="1" dirty="0">
                <a:latin typeface="+mn-ea"/>
              </a:rPr>
              <a:t>(1:M) </a:t>
            </a:r>
            <a:r>
              <a:rPr lang="ko-KR" altLang="en-US" sz="1600" b="1" dirty="0">
                <a:latin typeface="+mn-ea"/>
              </a:rPr>
              <a:t>관계의 </a:t>
            </a:r>
            <a:r>
              <a:rPr lang="ko-KR" altLang="en-US" sz="1600" b="1" dirty="0" err="1">
                <a:latin typeface="+mn-ea"/>
              </a:rPr>
              <a:t>엔터티도</a:t>
            </a:r>
            <a:r>
              <a:rPr lang="ko-KR" altLang="en-US" sz="1600" b="1" dirty="0">
                <a:latin typeface="+mn-ea"/>
              </a:rPr>
              <a:t> 대상이 된다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일대일</a:t>
            </a:r>
            <a:r>
              <a:rPr lang="en-US" altLang="ko-KR" sz="1600" b="1" dirty="0">
                <a:latin typeface="+mn-ea"/>
              </a:rPr>
              <a:t>(1:1) </a:t>
            </a:r>
            <a:r>
              <a:rPr lang="ko-KR" altLang="en-US" sz="1600" b="1" dirty="0">
                <a:latin typeface="+mn-ea"/>
              </a:rPr>
              <a:t>관계의 </a:t>
            </a: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합체하는 것은 엄밀히 비정규화는 아니다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중복 데이터를 사용한 것이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아니기 때문이다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단지 성능 향상을 위해서 </a:t>
            </a: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합치는 것이지만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넓은 의미에서 비정규화로 볼 수 있다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일대일</a:t>
            </a:r>
            <a:r>
              <a:rPr lang="en-US" altLang="ko-KR" sz="1600" b="1" dirty="0">
                <a:latin typeface="+mn-ea"/>
              </a:rPr>
              <a:t>(1:1) </a:t>
            </a:r>
            <a:r>
              <a:rPr lang="ko-KR" altLang="en-US" sz="1600" b="1" dirty="0">
                <a:latin typeface="+mn-ea"/>
              </a:rPr>
              <a:t>관계 중 에는 </a:t>
            </a: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과도하게 분해한 경우가 있다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이때는 성능 문제가 없더라도 </a:t>
            </a: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합체하는 것이 바람직하다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논리 모델링 단계에서 지나치게 </a:t>
            </a: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분해하지 않도록 주의해야 한다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7.19]</a:t>
            </a:r>
            <a:r>
              <a:rPr lang="ko-KR" altLang="en-US" sz="1600" b="1" dirty="0">
                <a:latin typeface="+mn-ea"/>
              </a:rPr>
              <a:t>는 경합을 없애려고 계좌 </a:t>
            </a:r>
            <a:r>
              <a:rPr lang="ko-KR" altLang="en-US" sz="1600" b="1" dirty="0" err="1">
                <a:latin typeface="+mn-ea"/>
              </a:rPr>
              <a:t>엔터티와</a:t>
            </a:r>
            <a:r>
              <a:rPr lang="ko-KR" altLang="en-US" sz="1600" b="1" dirty="0">
                <a:latin typeface="+mn-ea"/>
              </a:rPr>
              <a:t> 예수금 </a:t>
            </a: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일대일</a:t>
            </a:r>
            <a:r>
              <a:rPr lang="en-US" altLang="ko-KR" sz="1600" b="1" dirty="0">
                <a:latin typeface="+mn-ea"/>
              </a:rPr>
              <a:t>(1:1) </a:t>
            </a:r>
            <a:r>
              <a:rPr lang="ko-KR" altLang="en-US" sz="1600" b="1" dirty="0">
                <a:latin typeface="+mn-ea"/>
              </a:rPr>
              <a:t>관계로 분해한 모델이다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7.20] </a:t>
            </a:r>
            <a:r>
              <a:rPr lang="ko-KR" altLang="en-US" sz="1600" b="1" dirty="0">
                <a:latin typeface="+mn-ea"/>
              </a:rPr>
              <a:t>과 같이 일대다</a:t>
            </a:r>
            <a:r>
              <a:rPr lang="en-US" altLang="ko-KR" sz="1600" b="1" dirty="0">
                <a:latin typeface="+mn-ea"/>
              </a:rPr>
              <a:t>(1:M) </a:t>
            </a:r>
            <a:r>
              <a:rPr lang="ko-KR" altLang="en-US" sz="1600" b="1" dirty="0">
                <a:latin typeface="+mn-ea"/>
              </a:rPr>
              <a:t>관계의 모델도 합체할 수 있다</a:t>
            </a: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1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비정규화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비정규화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(Denormalization)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AA2E5A4-40DD-5BBA-EE87-4949A4A84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115" y="5550028"/>
            <a:ext cx="2486372" cy="84784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19D49AF-9235-913D-6C6B-D696695D7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171" y="5092764"/>
            <a:ext cx="2619741" cy="1305107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F637A78-F9B8-31AA-42E3-5B3C87C0F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0864791"/>
      </p:ext>
    </p:extLst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7.7. </a:t>
            </a:r>
            <a:r>
              <a:rPr lang="ko-KR" altLang="en-US" sz="2400" dirty="0">
                <a:latin typeface="+mn-ea"/>
              </a:rPr>
              <a:t>비정규화 방법 </a:t>
            </a:r>
            <a:r>
              <a:rPr lang="en-US" altLang="ko-KR" sz="2400" dirty="0">
                <a:latin typeface="+mn-ea"/>
              </a:rPr>
              <a:t>- </a:t>
            </a:r>
            <a:r>
              <a:rPr lang="ko-KR" altLang="en-US" sz="2400" dirty="0" err="1">
                <a:solidFill>
                  <a:srgbClr val="FF0000"/>
                </a:solidFill>
                <a:latin typeface="+mn-ea"/>
              </a:rPr>
              <a:t>엔터티</a:t>
            </a:r>
            <a:r>
              <a:rPr lang="ko-KR" altLang="en-US" sz="2400" dirty="0">
                <a:solidFill>
                  <a:srgbClr val="FF0000"/>
                </a:solidFill>
                <a:latin typeface="+mn-ea"/>
              </a:rPr>
              <a:t> 분해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1228521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분해하는 것도 엄밀히 비정규화는 아니지만 넓은 의미에서 비정규화에 포함시킨다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분해하는 이유는 성능이나 관리 효율성을 높이기 위해서다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분해하는 것은 수직 분해와 수평 분해로 나눌 수 있다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400" b="1" dirty="0">
                <a:latin typeface="+mn-ea"/>
              </a:rPr>
              <a:t>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수직 분해</a:t>
            </a:r>
            <a:r>
              <a:rPr lang="ko-KR" altLang="en-US" sz="1400" dirty="0">
                <a:latin typeface="+mn-ea"/>
              </a:rPr>
              <a:t>는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일부 속성을 </a:t>
            </a:r>
            <a:r>
              <a:rPr lang="ko-KR" altLang="en-US" sz="1400" b="1" u="sng" dirty="0">
                <a:solidFill>
                  <a:srgbClr val="FF0000"/>
                </a:solidFill>
                <a:latin typeface="+mn-ea"/>
              </a:rPr>
              <a:t>별도의 </a:t>
            </a:r>
            <a:r>
              <a:rPr lang="ko-KR" altLang="en-US" sz="1400" b="1" u="sng" dirty="0" err="1">
                <a:solidFill>
                  <a:srgbClr val="FF0000"/>
                </a:solidFill>
                <a:latin typeface="+mn-ea"/>
              </a:rPr>
              <a:t>엔터티로</a:t>
            </a:r>
            <a:r>
              <a:rPr lang="ko-KR" altLang="en-US" sz="1400" dirty="0">
                <a:latin typeface="+mn-ea"/>
              </a:rPr>
              <a:t> 분해하는 것이며</a:t>
            </a:r>
            <a:r>
              <a:rPr lang="en-US" altLang="ko-KR" sz="1400" dirty="0">
                <a:latin typeface="+mn-ea"/>
              </a:rPr>
              <a:t>,  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(1:1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분해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400" b="1" dirty="0">
                <a:latin typeface="+mn-ea"/>
              </a:rPr>
              <a:t>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수평 분해</a:t>
            </a:r>
            <a:r>
              <a:rPr lang="ko-KR" altLang="en-US" sz="1400" dirty="0">
                <a:latin typeface="+mn-ea"/>
              </a:rPr>
              <a:t>는 </a:t>
            </a:r>
            <a:r>
              <a:rPr lang="ko-KR" altLang="en-US" sz="1400" dirty="0" err="1">
                <a:latin typeface="+mn-ea"/>
              </a:rPr>
              <a:t>엔터티의</a:t>
            </a:r>
            <a:r>
              <a:rPr lang="ko-KR" altLang="en-US" sz="1400" dirty="0">
                <a:latin typeface="+mn-ea"/>
              </a:rPr>
              <a:t> 특정 인스턴스를 별도의 </a:t>
            </a:r>
            <a:r>
              <a:rPr lang="ko-KR" altLang="en-US" sz="1400" dirty="0" err="1">
                <a:latin typeface="+mn-ea"/>
              </a:rPr>
              <a:t>엔터티로</a:t>
            </a:r>
            <a:r>
              <a:rPr lang="ko-KR" altLang="en-US" sz="1400" dirty="0">
                <a:latin typeface="+mn-ea"/>
              </a:rPr>
              <a:t> 분해하는 것이다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주로 </a:t>
            </a:r>
            <a:r>
              <a:rPr lang="ko-KR" altLang="en-US" sz="1400" b="1" u="sng" dirty="0" err="1">
                <a:solidFill>
                  <a:srgbClr val="FF0000"/>
                </a:solidFill>
                <a:latin typeface="+mn-ea"/>
              </a:rPr>
              <a:t>파티셔닝</a:t>
            </a:r>
            <a:r>
              <a:rPr lang="en-US" altLang="ko-KR" sz="1400" b="1" u="sng" dirty="0">
                <a:solidFill>
                  <a:srgbClr val="FF0000"/>
                </a:solidFill>
                <a:latin typeface="+mn-ea"/>
              </a:rPr>
              <a:t>(Partitioning)</a:t>
            </a:r>
            <a:r>
              <a:rPr lang="ko-KR" altLang="en-US" sz="1400" dirty="0">
                <a:latin typeface="+mn-ea"/>
              </a:rPr>
              <a:t>으로 구현한다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buFont typeface="+mj-ea"/>
              <a:buAutoNum type="circleNumDbPlain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b="1" u="sng" dirty="0" err="1">
                <a:solidFill>
                  <a:srgbClr val="FF0000"/>
                </a:solidFill>
                <a:latin typeface="+mn-ea"/>
              </a:rPr>
              <a:t>엔터티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 수직 분해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400" b="1" dirty="0" err="1">
                <a:latin typeface="+mn-ea"/>
              </a:rPr>
              <a:t>엔터티</a:t>
            </a:r>
            <a:r>
              <a:rPr lang="ko-KR" altLang="en-US" sz="1400" b="1" dirty="0">
                <a:latin typeface="+mn-ea"/>
              </a:rPr>
              <a:t> 수직 분해 </a:t>
            </a:r>
            <a:r>
              <a:rPr lang="en-US" altLang="ko-KR" sz="1400" b="1" dirty="0">
                <a:latin typeface="+mn-ea"/>
              </a:rPr>
              <a:t>(Vertical Split)</a:t>
            </a:r>
            <a:r>
              <a:rPr lang="ko-KR" altLang="en-US" sz="1400" b="1" dirty="0">
                <a:latin typeface="+mn-ea"/>
              </a:rPr>
              <a:t>는 속성의 사용 빈도를 기준으로 하거나 </a:t>
            </a:r>
            <a:r>
              <a:rPr lang="en-US" altLang="ko-KR" sz="1400" b="1" dirty="0">
                <a:latin typeface="+mn-ea"/>
              </a:rPr>
              <a:t>Varchar2 (1000), LOB </a:t>
            </a:r>
            <a:r>
              <a:rPr lang="ko-KR" altLang="en-US" sz="1400" b="1" dirty="0">
                <a:latin typeface="+mn-ea"/>
              </a:rPr>
              <a:t>등과 같은 특별한 데이터 타입을 기준으로 분해한다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또한 널이 발생할 수 있는 속성을 기준으로 분해하기도 한다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반면에 수평 분해의 기준은 주로 기간이다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400" b="1" dirty="0">
                <a:latin typeface="+mn-ea"/>
              </a:rPr>
              <a:t>하나의 </a:t>
            </a:r>
            <a:r>
              <a:rPr lang="ko-KR" altLang="en-US" sz="1400" b="1" dirty="0" err="1">
                <a:latin typeface="+mn-ea"/>
              </a:rPr>
              <a:t>엔터티를</a:t>
            </a:r>
            <a:r>
              <a:rPr lang="ko-KR" altLang="en-US" sz="1400" b="1" dirty="0">
                <a:latin typeface="+mn-ea"/>
              </a:rPr>
              <a:t> 수직 분해하면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일대일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(1:1)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관계</a:t>
            </a:r>
            <a:r>
              <a:rPr lang="ko-KR" altLang="en-US" sz="1400" b="1" dirty="0">
                <a:latin typeface="+mn-ea"/>
              </a:rPr>
              <a:t>의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두 개의 </a:t>
            </a:r>
            <a:r>
              <a:rPr lang="ko-KR" altLang="en-US" sz="1600" b="1" u="sng" dirty="0" err="1">
                <a:solidFill>
                  <a:srgbClr val="FF0000"/>
                </a:solidFill>
                <a:latin typeface="+mn-ea"/>
              </a:rPr>
              <a:t>엔터티가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 생긴다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반면에 하나의 </a:t>
            </a:r>
            <a:r>
              <a:rPr lang="ko-KR" altLang="en-US" sz="1400" b="1" dirty="0" err="1">
                <a:latin typeface="+mn-ea"/>
              </a:rPr>
              <a:t>엔터티를</a:t>
            </a:r>
            <a:r>
              <a:rPr lang="ko-KR" altLang="en-US" sz="1400" b="1" dirty="0">
                <a:latin typeface="+mn-ea"/>
              </a:rPr>
              <a:t> 수평 분해하면 관계가 없는 다수의 </a:t>
            </a:r>
            <a:r>
              <a:rPr lang="ko-KR" altLang="en-US" sz="1400" b="1" dirty="0" err="1">
                <a:latin typeface="+mn-ea"/>
              </a:rPr>
              <a:t>엔터티가</a:t>
            </a:r>
            <a:r>
              <a:rPr lang="ko-KR" altLang="en-US" sz="1400" b="1" dirty="0">
                <a:latin typeface="+mn-ea"/>
              </a:rPr>
              <a:t> 생긴다</a:t>
            </a:r>
            <a:r>
              <a:rPr lang="en-US" altLang="ko-KR" sz="1400" b="1" dirty="0">
                <a:latin typeface="+mn-ea"/>
              </a:rPr>
              <a:t>.</a:t>
            </a:r>
          </a:p>
          <a:p>
            <a:pPr marL="342900" indent="-342900">
              <a:buFont typeface="+mj-ea"/>
              <a:buAutoNum type="circleNumDbPlain"/>
            </a:pPr>
            <a:endParaRPr lang="en-US" altLang="ko-KR" sz="14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7.21] </a:t>
            </a:r>
            <a:r>
              <a:rPr lang="ko-KR" altLang="en-US" sz="1600" b="1" dirty="0">
                <a:latin typeface="+mn-ea"/>
              </a:rPr>
              <a:t>모델에서 거래내역 </a:t>
            </a:r>
            <a:r>
              <a:rPr lang="ko-KR" altLang="en-US" sz="1600" b="1" dirty="0" err="1">
                <a:latin typeface="+mn-ea"/>
              </a:rPr>
              <a:t>엔터티에는</a:t>
            </a:r>
            <a:r>
              <a:rPr lang="ko-KR" altLang="en-US" sz="1600" b="1" dirty="0">
                <a:latin typeface="+mn-ea"/>
              </a:rPr>
              <a:t> 자주 사용하는 속성을 두고 과세내역 </a:t>
            </a:r>
            <a:r>
              <a:rPr lang="ko-KR" altLang="en-US" sz="1600" b="1" dirty="0" err="1">
                <a:latin typeface="+mn-ea"/>
              </a:rPr>
              <a:t>엔터티에는</a:t>
            </a:r>
            <a:r>
              <a:rPr lang="ko-KR" altLang="en-US" sz="1600" b="1" dirty="0">
                <a:latin typeface="+mn-ea"/>
              </a:rPr>
              <a:t> 간혹 사용하는 속성을 두어 일대일 관계로 분리했다</a:t>
            </a:r>
            <a:r>
              <a:rPr lang="en-US" altLang="ko-KR" sz="1600" b="1" dirty="0">
                <a:latin typeface="+mn-ea"/>
              </a:rPr>
              <a:t>.</a:t>
            </a:r>
            <a:endParaRPr lang="en-US" altLang="ko-KR" sz="11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비정규화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비정규화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(Denormalization)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45EC3D5-C578-A2AA-E6CA-85027A15B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426" y="5227034"/>
            <a:ext cx="3620005" cy="127652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69063C6-F346-E8CC-500D-8E43A7AEA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782" y="5531876"/>
            <a:ext cx="3000794" cy="971686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9417D5B-6542-62AF-FF99-465BA271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9992610"/>
      </p:ext>
    </p:extLst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7.7. </a:t>
            </a:r>
            <a:r>
              <a:rPr lang="ko-KR" altLang="en-US" sz="2400" dirty="0">
                <a:latin typeface="+mn-ea"/>
              </a:rPr>
              <a:t>비정규화 방법 </a:t>
            </a:r>
            <a:r>
              <a:rPr lang="en-US" altLang="ko-KR" sz="2400" dirty="0">
                <a:latin typeface="+mn-ea"/>
              </a:rPr>
              <a:t>- </a:t>
            </a:r>
            <a:r>
              <a:rPr lang="ko-KR" altLang="en-US" sz="2400" dirty="0" err="1">
                <a:latin typeface="+mn-ea"/>
              </a:rPr>
              <a:t>엔터티</a:t>
            </a:r>
            <a:r>
              <a:rPr lang="ko-KR" altLang="en-US" sz="2400" dirty="0">
                <a:latin typeface="+mn-ea"/>
              </a:rPr>
              <a:t> 분해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0983914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하나의 </a:t>
            </a: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일대일</a:t>
            </a:r>
            <a:r>
              <a:rPr lang="en-US" altLang="ko-KR" sz="1600" b="1" u="sng" dirty="0">
                <a:solidFill>
                  <a:srgbClr val="FF0000"/>
                </a:solidFill>
                <a:latin typeface="+mn-ea"/>
              </a:rPr>
              <a:t>(1:1)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관계로 수직 분할하는 또 다른 이유</a:t>
            </a:r>
            <a:r>
              <a:rPr lang="ko-KR" altLang="en-US" sz="1600" b="1" dirty="0">
                <a:latin typeface="+mn-ea"/>
              </a:rPr>
              <a:t>는 </a:t>
            </a:r>
            <a:r>
              <a:rPr lang="ko-KR" altLang="en-US" b="1" u="sng" dirty="0" err="1">
                <a:solidFill>
                  <a:srgbClr val="FF0000"/>
                </a:solidFill>
                <a:latin typeface="+mn-ea"/>
              </a:rPr>
              <a:t>락</a:t>
            </a:r>
            <a:r>
              <a:rPr lang="en-US" altLang="ko-KR" b="1" u="sng" dirty="0">
                <a:solidFill>
                  <a:srgbClr val="FF0000"/>
                </a:solidFill>
                <a:latin typeface="+mn-ea"/>
              </a:rPr>
              <a:t>(Lock) 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발생을 최소화</a:t>
            </a:r>
            <a:r>
              <a:rPr lang="ko-KR" altLang="en-US" sz="1600" b="1" dirty="0">
                <a:latin typeface="+mn-ea"/>
              </a:rPr>
              <a:t>하기 위해서다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데이터를 업데이트할 때는 데이터 무결성을 위해 해당 인스턴스에 </a:t>
            </a:r>
            <a:r>
              <a:rPr lang="ko-KR" altLang="en-US" sz="1600" b="1" dirty="0" err="1">
                <a:latin typeface="+mn-ea"/>
              </a:rPr>
              <a:t>락이</a:t>
            </a:r>
            <a:r>
              <a:rPr lang="ko-KR" altLang="en-US" sz="1600" b="1" dirty="0">
                <a:latin typeface="+mn-ea"/>
              </a:rPr>
              <a:t> 걸린다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그러면 해당 인스턴스를 사용하는 다른 작업 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>
                <a:latin typeface="+mn-ea"/>
              </a:rPr>
              <a:t>트랜잭션</a:t>
            </a:r>
            <a:r>
              <a:rPr lang="en-US" altLang="ko-KR" sz="1600" b="1" dirty="0">
                <a:latin typeface="+mn-ea"/>
              </a:rPr>
              <a:t>)</a:t>
            </a:r>
            <a:r>
              <a:rPr lang="ko-KR" altLang="en-US" sz="1600" b="1" dirty="0">
                <a:latin typeface="+mn-ea"/>
              </a:rPr>
              <a:t>은 대기</a:t>
            </a:r>
            <a:r>
              <a:rPr lang="en-US" altLang="ko-KR" sz="1600" b="1" dirty="0">
                <a:latin typeface="+mn-ea"/>
              </a:rPr>
              <a:t>(Wait)</a:t>
            </a:r>
            <a:r>
              <a:rPr lang="ko-KR" altLang="en-US" sz="1600" b="1" dirty="0">
                <a:latin typeface="+mn-ea"/>
              </a:rPr>
              <a:t>해야 한다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많은 속성으로 이루어진 핵심적인 </a:t>
            </a:r>
            <a:r>
              <a:rPr lang="ko-KR" altLang="en-US" sz="1600" b="1" dirty="0" err="1">
                <a:latin typeface="+mn-ea"/>
              </a:rPr>
              <a:t>엔터티는</a:t>
            </a:r>
            <a:r>
              <a:rPr lang="ko-KR" altLang="en-US" sz="1600" b="1" dirty="0">
                <a:latin typeface="+mn-ea"/>
              </a:rPr>
              <a:t> 트랜잭션도 많아 </a:t>
            </a:r>
            <a:r>
              <a:rPr lang="ko-KR" altLang="en-US" sz="1600" b="1" dirty="0" err="1">
                <a:latin typeface="+mn-ea"/>
              </a:rPr>
              <a:t>락으로</a:t>
            </a:r>
            <a:r>
              <a:rPr lang="ko-KR" altLang="en-US" sz="1600" b="1" dirty="0">
                <a:latin typeface="+mn-ea"/>
              </a:rPr>
              <a:t> 인한 경합</a:t>
            </a:r>
            <a:r>
              <a:rPr lang="en-US" altLang="ko-KR" sz="1600" b="1" dirty="0">
                <a:latin typeface="+mn-ea"/>
              </a:rPr>
              <a:t>(Contention)</a:t>
            </a:r>
            <a:r>
              <a:rPr lang="ko-KR" altLang="en-US" sz="1600" b="1" dirty="0">
                <a:latin typeface="+mn-ea"/>
              </a:rPr>
              <a:t>이 발생할 수 있으며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이는 결국 성능 저하로 나타난다</a:t>
            </a:r>
            <a:r>
              <a:rPr lang="en-US" altLang="ko-KR" sz="1600" b="1" dirty="0">
                <a:latin typeface="+mn-ea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따라서 업무에서 같이 사용되는 속성별로 </a:t>
            </a: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분해하면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서로의 트랜잭션에 영향을 미치지 않고 데이터를 수정할 수 있어 대기 현상으로 발생한 성능 문제가 해결될 수 있다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만약 계좌 상 태 와 같은 계좌 데이터와 계좌의 예수금 데이터를 수정하는 트랜잭션이 별도로 존재하면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계좌상태와 예수금은 별도의 </a:t>
            </a:r>
            <a:r>
              <a:rPr lang="ko-KR" altLang="en-US" sz="1600" b="1" dirty="0" err="1">
                <a:latin typeface="+mn-ea"/>
              </a:rPr>
              <a:t>엔터티에서</a:t>
            </a:r>
            <a:r>
              <a:rPr lang="ko-KR" altLang="en-US" sz="1600" b="1" dirty="0">
                <a:latin typeface="+mn-ea"/>
              </a:rPr>
              <a:t> 관리하는 것이 경합을 줄일 수 있다</a:t>
            </a:r>
            <a:r>
              <a:rPr lang="en-US" altLang="ko-KR" sz="1600" b="1" dirty="0">
                <a:latin typeface="+mn-ea"/>
              </a:rPr>
              <a:t>. 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7.23] </a:t>
            </a:r>
            <a:r>
              <a:rPr lang="ko-KR" altLang="en-US" sz="1600" b="1" dirty="0">
                <a:latin typeface="+mn-ea"/>
              </a:rPr>
              <a:t>모델과 같이 계좌 </a:t>
            </a:r>
            <a:r>
              <a:rPr lang="ko-KR" altLang="en-US" sz="1600" b="1" dirty="0" err="1">
                <a:latin typeface="+mn-ea"/>
              </a:rPr>
              <a:t>엔터티에서</a:t>
            </a:r>
            <a:r>
              <a:rPr lang="ko-KR" altLang="en-US" sz="1600" b="1" dirty="0">
                <a:latin typeface="+mn-ea"/>
              </a:rPr>
              <a:t> 예수금도 관리하면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계좌 상태를 업데이트할 때 예수금을 업데이트할 수 없어 거래 트랜잭션이 대기해야 한다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6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반면에 </a:t>
            </a:r>
            <a:r>
              <a:rPr lang="en-US" altLang="ko-KR" sz="1600" b="1" dirty="0">
                <a:latin typeface="+mn-ea"/>
              </a:rPr>
              <a:t>[</a:t>
            </a:r>
            <a:r>
              <a:rPr lang="ko-KR" altLang="en-US" sz="1600" b="1" dirty="0">
                <a:latin typeface="+mn-ea"/>
              </a:rPr>
              <a:t>그림 </a:t>
            </a:r>
            <a:r>
              <a:rPr lang="en-US" altLang="ko-KR" sz="1600" b="1" dirty="0">
                <a:latin typeface="+mn-ea"/>
              </a:rPr>
              <a:t>7.24] </a:t>
            </a:r>
            <a:r>
              <a:rPr lang="ko-KR" altLang="en-US" sz="1600" b="1" dirty="0">
                <a:latin typeface="+mn-ea"/>
              </a:rPr>
              <a:t>모델과 같이 계좌 </a:t>
            </a: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수직 분할하면 계좌 상태에 대한 업데이트와는 무관하게 거래를 처리해 예수금을 업데이트할 수 있다</a:t>
            </a:r>
            <a:r>
              <a:rPr lang="en-US" altLang="ko-KR" sz="1600" b="1" dirty="0">
                <a:latin typeface="+mn-ea"/>
              </a:rPr>
              <a:t>.</a:t>
            </a:r>
            <a:endParaRPr lang="en-US" altLang="ko-KR" sz="11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비정규화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비정규화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(Denormalization)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3A01C44-BD37-A728-74A1-BD1D5EAD5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146" y="4521222"/>
            <a:ext cx="1781424" cy="96215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D6E2CDE-D03C-2C7D-A8EF-9A698AC29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0616" y="4654590"/>
            <a:ext cx="2495898" cy="82879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0CA1210-DFBE-EDE9-E5F6-B1D16762B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5956" y="4197327"/>
            <a:ext cx="2514951" cy="1286054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BCB5B5-4DE8-E893-51A7-9A3469E17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9636670"/>
      </p:ext>
    </p:extLst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7.7. </a:t>
            </a:r>
            <a:r>
              <a:rPr lang="ko-KR" altLang="en-US" sz="2400" dirty="0">
                <a:latin typeface="+mn-ea"/>
              </a:rPr>
              <a:t>비정규화 방법 </a:t>
            </a:r>
            <a:r>
              <a:rPr lang="en-US" altLang="ko-KR" sz="2400" dirty="0">
                <a:latin typeface="+mn-ea"/>
              </a:rPr>
              <a:t>- </a:t>
            </a:r>
            <a:r>
              <a:rPr lang="ko-KR" altLang="en-US" sz="2400" dirty="0" err="1">
                <a:latin typeface="+mn-ea"/>
              </a:rPr>
              <a:t>엔터티</a:t>
            </a:r>
            <a:r>
              <a:rPr lang="ko-KR" altLang="en-US" sz="2400" dirty="0">
                <a:latin typeface="+mn-ea"/>
              </a:rPr>
              <a:t> 분해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0983914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ea"/>
              <a:buAutoNum type="circleNumDbPlain"/>
            </a:pPr>
            <a:endParaRPr lang="en-US" altLang="ko-KR" sz="14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b="1" u="sng" dirty="0" err="1">
                <a:solidFill>
                  <a:srgbClr val="FF0000"/>
                </a:solidFill>
                <a:latin typeface="+mn-ea"/>
              </a:rPr>
              <a:t>엔터티</a:t>
            </a:r>
            <a:r>
              <a:rPr lang="ko-KR" altLang="en-US" b="1" u="sng" dirty="0">
                <a:solidFill>
                  <a:srgbClr val="FF0000"/>
                </a:solidFill>
                <a:latin typeface="+mn-ea"/>
              </a:rPr>
              <a:t> 수평 분해</a:t>
            </a:r>
            <a:endParaRPr lang="en-US" altLang="ko-KR" sz="1600" b="1" u="sng" dirty="0">
              <a:solidFill>
                <a:srgbClr val="FF0000"/>
              </a:solidFill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endParaRPr lang="en-US" altLang="ko-KR" sz="1400" b="1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400" b="1" dirty="0" err="1">
                <a:latin typeface="+mn-ea"/>
              </a:rPr>
              <a:t>엔터티를</a:t>
            </a:r>
            <a:r>
              <a:rPr lang="ko-KR" altLang="en-US" sz="1400" b="1" dirty="0">
                <a:latin typeface="+mn-ea"/>
              </a:rPr>
              <a:t> 수평으로 분해 </a:t>
            </a:r>
            <a:r>
              <a:rPr lang="en-US" altLang="ko-KR" sz="1400" b="1" dirty="0">
                <a:latin typeface="+mn-ea"/>
              </a:rPr>
              <a:t>(Horizontal Split) </a:t>
            </a:r>
            <a:r>
              <a:rPr lang="ko-KR" altLang="en-US" sz="1400" b="1" dirty="0">
                <a:latin typeface="+mn-ea"/>
              </a:rPr>
              <a:t>하는 방법에는 크게 두 가지가 존재한다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400" b="1" dirty="0">
                <a:latin typeface="+mn-ea"/>
              </a:rPr>
              <a:t>한 가지 방법은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파티션을 사용하는 것</a:t>
            </a:r>
            <a:r>
              <a:rPr lang="ko-KR" altLang="en-US" sz="1400" b="1" dirty="0">
                <a:latin typeface="+mn-ea"/>
              </a:rPr>
              <a:t>이다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기간 등의 특정 조건에 파티션을 적용하면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그 조건에 따라 데이터가 물리적으로 분리된다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400" b="1" dirty="0">
                <a:latin typeface="+mn-ea"/>
              </a:rPr>
              <a:t>또 다른 방법은 아예 </a:t>
            </a:r>
            <a:r>
              <a:rPr lang="ko-KR" altLang="en-US" sz="1600" b="1" u="sng" dirty="0">
                <a:solidFill>
                  <a:srgbClr val="FF0000"/>
                </a:solidFill>
                <a:latin typeface="+mn-ea"/>
              </a:rPr>
              <a:t>물리적으로 분리해서 관리하는 것</a:t>
            </a:r>
            <a:r>
              <a:rPr lang="ko-KR" altLang="en-US" sz="1400" b="1" dirty="0">
                <a:latin typeface="+mn-ea"/>
              </a:rPr>
              <a:t>이다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특정 기준에 따라 </a:t>
            </a:r>
            <a:r>
              <a:rPr lang="ko-KR" altLang="en-US" sz="1400" b="1" dirty="0" err="1">
                <a:latin typeface="+mn-ea"/>
              </a:rPr>
              <a:t>엔터티</a:t>
            </a:r>
            <a:r>
              <a:rPr lang="ko-KR" altLang="en-US" sz="1400" b="1" dirty="0">
                <a:latin typeface="+mn-ea"/>
              </a:rPr>
              <a:t> 인스턴스를 분리해서 다른 </a:t>
            </a:r>
            <a:r>
              <a:rPr lang="ko-KR" altLang="en-US" sz="1400" b="1" dirty="0" err="1">
                <a:latin typeface="+mn-ea"/>
              </a:rPr>
              <a:t>엔터티로</a:t>
            </a:r>
            <a:r>
              <a:rPr lang="ko-KR" altLang="en-US" sz="1400" b="1" dirty="0">
                <a:latin typeface="+mn-ea"/>
              </a:rPr>
              <a:t> 이동시키는 것이다</a:t>
            </a:r>
            <a:r>
              <a:rPr lang="en-US" altLang="ko-KR" sz="1400" b="1" dirty="0">
                <a:latin typeface="+mn-ea"/>
              </a:rPr>
              <a:t>. </a:t>
            </a:r>
          </a:p>
          <a:p>
            <a:pPr marL="800100" lvl="1" indent="-342900">
              <a:buFont typeface="+mj-ea"/>
              <a:buAutoNum type="circleNumDbPlain"/>
            </a:pPr>
            <a:endParaRPr lang="en-US" altLang="ko-KR" sz="1400" b="1" dirty="0">
              <a:latin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sz="1400" b="1" dirty="0">
              <a:latin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sz="1400" b="1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수직으로 분해하는 것과 수평으로 분해하는 것은 중복 데이터가 발생하지 않는 비정규화다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이는 데이터 무결성을 저해하는 비정규화가 아니기 때문에 필요하다면 적극적으로 고려하는 것이 좋다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또한 </a:t>
            </a:r>
            <a:r>
              <a:rPr lang="ko-KR" altLang="en-US" sz="1600" b="1" dirty="0" err="1">
                <a:latin typeface="+mn-ea"/>
              </a:rPr>
              <a:t>엔터티</a:t>
            </a:r>
            <a:r>
              <a:rPr lang="ko-KR" altLang="en-US" sz="1600" b="1" dirty="0">
                <a:latin typeface="+mn-ea"/>
              </a:rPr>
              <a:t> 설계 단계에서 성능 문제를 완전하게 분석할 수 없기 때문에 부작용이 적은 </a:t>
            </a:r>
            <a:r>
              <a:rPr lang="ko-KR" altLang="en-US" sz="1600" b="1" dirty="0" err="1">
                <a:latin typeface="+mn-ea"/>
              </a:rPr>
              <a:t>엔터티</a:t>
            </a:r>
            <a:r>
              <a:rPr lang="ko-KR" altLang="en-US" sz="1600" b="1" dirty="0">
                <a:latin typeface="+mn-ea"/>
              </a:rPr>
              <a:t> 분해 방법을 적절하게 사용하면 도움이 된다</a:t>
            </a:r>
            <a:r>
              <a:rPr lang="en-US" altLang="ko-KR" sz="1600" b="1" dirty="0">
                <a:latin typeface="+mn-ea"/>
              </a:rPr>
              <a:t>. </a:t>
            </a:r>
            <a:r>
              <a:rPr lang="ko-KR" altLang="en-US" sz="1600" b="1" dirty="0">
                <a:latin typeface="+mn-ea"/>
              </a:rPr>
              <a:t>특히 로우 </a:t>
            </a:r>
            <a:r>
              <a:rPr lang="ko-KR" altLang="en-US" sz="1600" b="1" dirty="0" err="1">
                <a:latin typeface="+mn-ea"/>
              </a:rPr>
              <a:t>체이닝이나</a:t>
            </a:r>
            <a:r>
              <a:rPr lang="ko-KR" altLang="en-US" sz="1600" b="1" dirty="0">
                <a:latin typeface="+mn-ea"/>
              </a:rPr>
              <a:t> 로우 마이그레이션이 생기지 않는 방향으로 </a:t>
            </a:r>
            <a:r>
              <a:rPr lang="ko-KR" altLang="en-US" sz="1600" b="1" dirty="0" err="1">
                <a:latin typeface="+mn-ea"/>
              </a:rPr>
              <a:t>엔터티를</a:t>
            </a:r>
            <a:r>
              <a:rPr lang="ko-KR" altLang="en-US" sz="1600" b="1" dirty="0">
                <a:latin typeface="+mn-ea"/>
              </a:rPr>
              <a:t> 설계해야 한다</a:t>
            </a:r>
            <a:r>
              <a:rPr lang="en-US" altLang="ko-KR" sz="1600" b="1" dirty="0"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비정규화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비정규화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(Denormalization)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7EDF608-0204-4BD6-6B39-4380BF0BF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7862369"/>
      </p:ext>
    </p:extLst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7.8. </a:t>
            </a:r>
            <a:r>
              <a:rPr lang="ko-KR" altLang="en-US" sz="2400" dirty="0">
                <a:latin typeface="+mn-ea"/>
              </a:rPr>
              <a:t>비정규화 방법 </a:t>
            </a:r>
            <a:r>
              <a:rPr lang="en-US" altLang="ko-KR" sz="2400" dirty="0">
                <a:latin typeface="+mn-ea"/>
              </a:rPr>
              <a:t>- </a:t>
            </a:r>
            <a:r>
              <a:rPr lang="ko-KR" altLang="en-US" sz="2400" dirty="0">
                <a:solidFill>
                  <a:srgbClr val="FF0000"/>
                </a:solidFill>
                <a:latin typeface="+mn-ea"/>
              </a:rPr>
              <a:t>요약 </a:t>
            </a:r>
            <a:r>
              <a:rPr lang="ko-KR" altLang="en-US" sz="2400" dirty="0" err="1">
                <a:solidFill>
                  <a:srgbClr val="FF0000"/>
                </a:solidFill>
                <a:latin typeface="+mn-ea"/>
              </a:rPr>
              <a:t>엔터티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0983914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중복은 많은 시스템에서 심각한 문제를 일으킨다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중복 데이터는 적게는 </a:t>
            </a:r>
            <a:r>
              <a:rPr lang="en-US" altLang="ko-KR" sz="1400" b="1" dirty="0"/>
              <a:t>30% </a:t>
            </a:r>
            <a:r>
              <a:rPr lang="ko-KR" altLang="en-US" sz="1400" b="1" dirty="0"/>
              <a:t>정도 존재하며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많게는 </a:t>
            </a:r>
            <a:r>
              <a:rPr lang="en-US" altLang="ko-KR" sz="1400" b="1" dirty="0"/>
              <a:t>60% </a:t>
            </a:r>
            <a:r>
              <a:rPr lang="ko-KR" altLang="en-US" sz="1400" b="1" dirty="0"/>
              <a:t>까지 존재한다</a:t>
            </a:r>
            <a:r>
              <a:rPr lang="en-US" altLang="ko-KR" sz="1400" b="1" dirty="0"/>
              <a:t>. </a:t>
            </a:r>
            <a:r>
              <a:rPr lang="ko-KR" altLang="en-US" sz="1400" b="1" u="sng" dirty="0">
                <a:solidFill>
                  <a:srgbClr val="FF0000"/>
                </a:solidFill>
              </a:rPr>
              <a:t>중복 데이터</a:t>
            </a:r>
            <a:r>
              <a:rPr lang="ko-KR" altLang="en-US" sz="1400" b="1" dirty="0"/>
              <a:t>가 절반 정도나 되는 </a:t>
            </a:r>
            <a:r>
              <a:rPr lang="ko-KR" altLang="en-US" sz="1400" b="1" u="sng" dirty="0">
                <a:solidFill>
                  <a:srgbClr val="FF0000"/>
                </a:solidFill>
              </a:rPr>
              <a:t>이유</a:t>
            </a:r>
            <a:r>
              <a:rPr lang="ko-KR" altLang="en-US" sz="1400" b="1" dirty="0"/>
              <a:t> 중에 가장 많은 부분을 차지하는 것이 </a:t>
            </a:r>
            <a:r>
              <a:rPr lang="ko-KR" altLang="en-US" sz="1400" b="1" u="sng" dirty="0">
                <a:solidFill>
                  <a:srgbClr val="FF0000"/>
                </a:solidFill>
              </a:rPr>
              <a:t>요약</a:t>
            </a:r>
            <a:r>
              <a:rPr lang="en-US" altLang="ko-KR" sz="1400" b="1" u="sng" dirty="0">
                <a:solidFill>
                  <a:srgbClr val="FF0000"/>
                </a:solidFill>
              </a:rPr>
              <a:t>(Summary) </a:t>
            </a:r>
            <a:r>
              <a:rPr lang="ko-KR" altLang="en-US" sz="1400" b="1" u="sng" dirty="0" err="1">
                <a:solidFill>
                  <a:srgbClr val="FF0000"/>
                </a:solidFill>
              </a:rPr>
              <a:t>엔터티다</a:t>
            </a:r>
            <a:r>
              <a:rPr lang="en-US" altLang="ko-KR" sz="1400" b="1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요약 </a:t>
            </a:r>
            <a:r>
              <a:rPr lang="ko-KR" altLang="en-US" sz="1400" b="1" dirty="0" err="1"/>
              <a:t>엔터티는</a:t>
            </a:r>
            <a:r>
              <a:rPr lang="ko-KR" altLang="en-US" sz="1400" b="1" dirty="0"/>
              <a:t> 원천 </a:t>
            </a:r>
            <a:r>
              <a:rPr lang="ko-KR" altLang="en-US" sz="1400" b="1" dirty="0" err="1"/>
              <a:t>엔터티를</a:t>
            </a:r>
            <a:r>
              <a:rPr lang="ko-KR" altLang="en-US" sz="1400" b="1" dirty="0"/>
              <a:t> 대상으로 합계나 집계 등 미리 계산한 데이터를 저장한 </a:t>
            </a:r>
            <a:r>
              <a:rPr lang="ko-KR" altLang="en-US" sz="1400" b="1" dirty="0" err="1"/>
              <a:t>엔터티다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다른 비정규화 방법과 마찬가지로 조회 성능을 극적으로 향상시킬 수 있다</a:t>
            </a:r>
            <a:r>
              <a:rPr lang="en-US" altLang="ko-KR" sz="1400" b="1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요약 </a:t>
            </a:r>
            <a:r>
              <a:rPr lang="ko-KR" altLang="en-US" sz="1400" b="1" dirty="0" err="1"/>
              <a:t>엔터티는</a:t>
            </a:r>
            <a:r>
              <a:rPr lang="ko-KR" altLang="en-US" sz="1400" b="1" dirty="0"/>
              <a:t> 광범위하게 사용되는데 유</a:t>
            </a:r>
            <a:r>
              <a:rPr lang="en-US" altLang="ko-KR" sz="1400" b="1" dirty="0"/>
              <a:t>•</a:t>
            </a:r>
            <a:r>
              <a:rPr lang="ko-KR" altLang="en-US" sz="1400" b="1" dirty="0"/>
              <a:t>불리를 판단하기가 쉽지 않다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모든 요약 </a:t>
            </a:r>
            <a:r>
              <a:rPr lang="ko-KR" altLang="en-US" sz="1400" b="1" dirty="0" err="1"/>
              <a:t>엔터티를</a:t>
            </a:r>
            <a:r>
              <a:rPr lang="ko-KR" altLang="en-US" sz="1400" b="1" dirty="0"/>
              <a:t> 중복 데이터라고 판단하는 것도 바람직하지 않다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무용하다고 판단돼도 </a:t>
            </a:r>
            <a:r>
              <a:rPr lang="ko-KR" altLang="en-US" sz="1400" b="1" u="sng" dirty="0">
                <a:solidFill>
                  <a:srgbClr val="FF0000"/>
                </a:solidFill>
              </a:rPr>
              <a:t>이미 관용적으로 사용하고 있는 요약 데이터</a:t>
            </a:r>
            <a:r>
              <a:rPr lang="ko-KR" altLang="en-US" sz="1400" b="1" dirty="0"/>
              <a:t>를 없애기는 쉽지 않다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자원이 허락되지 않는 환경을 탓하며 엄두도 못 내지만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항상 안타깝게 생각하는 부분 중의 하나가 </a:t>
            </a:r>
            <a:r>
              <a:rPr lang="ko-KR" altLang="en-US" sz="1400" b="1" u="sng" dirty="0">
                <a:solidFill>
                  <a:srgbClr val="FF0000"/>
                </a:solidFill>
              </a:rPr>
              <a:t>요약 </a:t>
            </a:r>
            <a:r>
              <a:rPr lang="ko-KR" altLang="en-US" sz="1400" b="1" u="sng" dirty="0" err="1">
                <a:solidFill>
                  <a:srgbClr val="FF0000"/>
                </a:solidFill>
              </a:rPr>
              <a:t>엔터티를</a:t>
            </a:r>
            <a:r>
              <a:rPr lang="ko-KR" altLang="en-US" sz="1400" b="1" u="sng" dirty="0">
                <a:solidFill>
                  <a:srgbClr val="FF0000"/>
                </a:solidFill>
              </a:rPr>
              <a:t> 정제하는 것</a:t>
            </a:r>
            <a:r>
              <a:rPr lang="ko-KR" altLang="en-US" sz="1400" b="1" dirty="0"/>
              <a:t>이다</a:t>
            </a:r>
            <a:r>
              <a:rPr lang="en-US" altLang="ko-KR" sz="1400" b="1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이렇게 미리 계산해 놓은 것도 데이터를 중복해서 관리하는 방법이어서 데이터 정합성을 주의해야 한다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원천 데이터를 사용해서 계산</a:t>
            </a:r>
            <a:r>
              <a:rPr lang="en-US" altLang="ko-KR" sz="1400" b="1" dirty="0"/>
              <a:t>(Summary)</a:t>
            </a:r>
            <a:r>
              <a:rPr lang="ko-KR" altLang="en-US" sz="1400" b="1" dirty="0"/>
              <a:t>한 것이므로 원천 </a:t>
            </a:r>
            <a:r>
              <a:rPr lang="ko-KR" altLang="en-US" sz="1400" b="1" u="sng" dirty="0">
                <a:solidFill>
                  <a:srgbClr val="FF0000"/>
                </a:solidFill>
              </a:rPr>
              <a:t>데이터가 수정</a:t>
            </a:r>
            <a:r>
              <a:rPr lang="ko-KR" altLang="en-US" sz="1400" b="1" dirty="0"/>
              <a:t>되면 요약 </a:t>
            </a:r>
            <a:r>
              <a:rPr lang="ko-KR" altLang="en-US" sz="1400" b="1" dirty="0" err="1"/>
              <a:t>엔터티도</a:t>
            </a:r>
            <a:r>
              <a:rPr lang="ko-KR" altLang="en-US" sz="1400" b="1" dirty="0"/>
              <a:t> 어떤 식으로 든 처리돼야 한다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따라서 원천 </a:t>
            </a:r>
            <a:r>
              <a:rPr lang="ko-KR" altLang="en-US" sz="1400" b="1" dirty="0" err="1"/>
              <a:t>엔터티</a:t>
            </a:r>
            <a:r>
              <a:rPr lang="ko-KR" altLang="en-US" sz="1400" b="1" dirty="0"/>
              <a:t> 하나에 대해서 가능한 </a:t>
            </a:r>
            <a:r>
              <a:rPr lang="ko-KR" altLang="en-US" sz="1400" b="1" u="sng" dirty="0">
                <a:solidFill>
                  <a:srgbClr val="FF0000"/>
                </a:solidFill>
              </a:rPr>
              <a:t>하나의 요약 </a:t>
            </a:r>
            <a:r>
              <a:rPr lang="ko-KR" altLang="en-US" sz="1400" b="1" u="sng" dirty="0" err="1">
                <a:solidFill>
                  <a:srgbClr val="FF0000"/>
                </a:solidFill>
              </a:rPr>
              <a:t>엔터티</a:t>
            </a:r>
            <a:r>
              <a:rPr lang="ko-KR" altLang="en-US" sz="1400" b="1" u="sng" dirty="0">
                <a:solidFill>
                  <a:srgbClr val="FF0000"/>
                </a:solidFill>
              </a:rPr>
              <a:t> 만</a:t>
            </a:r>
            <a:r>
              <a:rPr lang="ko-KR" altLang="en-US" sz="1400" b="1" dirty="0"/>
              <a:t>을 사용하는 것이 바람직하다</a:t>
            </a:r>
            <a:r>
              <a:rPr lang="en-US" altLang="ko-KR" sz="1400" b="1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비정규화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비정규화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(Denormalization)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03537EA-95C2-EF7A-4951-E5B79CD9B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813" y="4330255"/>
            <a:ext cx="2124371" cy="128605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047E2DB-97D4-F167-0C57-4F3364653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434" y="3510990"/>
            <a:ext cx="4467849" cy="2105319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6A9B9B4-2CB4-88BF-0A8B-EC6D680DB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4050368"/>
      </p:ext>
    </p:extLst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7.9. </a:t>
            </a:r>
            <a:r>
              <a:rPr lang="ko-KR" altLang="en-US" sz="2400" dirty="0">
                <a:latin typeface="+mn-ea"/>
              </a:rPr>
              <a:t>비정규화 방법 </a:t>
            </a:r>
            <a:r>
              <a:rPr lang="en-US" altLang="ko-KR" sz="2400" dirty="0">
                <a:latin typeface="+mn-ea"/>
              </a:rPr>
              <a:t>- </a:t>
            </a:r>
            <a:r>
              <a:rPr lang="ko-KR" altLang="en-US" sz="2400" dirty="0">
                <a:solidFill>
                  <a:srgbClr val="FF0000"/>
                </a:solidFill>
                <a:latin typeface="+mn-ea"/>
              </a:rPr>
              <a:t>추출 속성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0983914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추출 속성</a:t>
            </a:r>
            <a:r>
              <a:rPr lang="en-US" altLang="ko-KR" sz="1400" b="1" dirty="0"/>
              <a:t>(Derived Attribute)20)</a:t>
            </a:r>
            <a:r>
              <a:rPr lang="ko-KR" altLang="en-US" sz="1400" b="1" dirty="0"/>
              <a:t>은 기존에 존재하는 속성의 값을 추출하여 저장한 속성을 말한다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기존 속성의 값을 </a:t>
            </a:r>
            <a:r>
              <a:rPr lang="ko-KR" altLang="en-US" sz="1600" b="1" u="sng" dirty="0">
                <a:solidFill>
                  <a:srgbClr val="FF0000"/>
                </a:solidFill>
              </a:rPr>
              <a:t>더한 값</a:t>
            </a:r>
            <a:r>
              <a:rPr lang="en-US" altLang="ko-KR" sz="1600" b="1" u="sng" dirty="0">
                <a:solidFill>
                  <a:srgbClr val="FF0000"/>
                </a:solidFill>
              </a:rPr>
              <a:t>, </a:t>
            </a:r>
            <a:r>
              <a:rPr lang="ko-KR" altLang="en-US" sz="1600" b="1" u="sng" dirty="0">
                <a:solidFill>
                  <a:srgbClr val="FF0000"/>
                </a:solidFill>
              </a:rPr>
              <a:t>카운트한 값</a:t>
            </a:r>
            <a:r>
              <a:rPr lang="en-US" altLang="ko-KR" sz="1600" b="1" u="sng" dirty="0">
                <a:solidFill>
                  <a:srgbClr val="FF0000"/>
                </a:solidFill>
              </a:rPr>
              <a:t>, </a:t>
            </a:r>
            <a:r>
              <a:rPr lang="ko-KR" altLang="en-US" sz="1600" b="1" u="sng" dirty="0">
                <a:solidFill>
                  <a:srgbClr val="FF0000"/>
                </a:solidFill>
              </a:rPr>
              <a:t>최근 값</a:t>
            </a:r>
            <a:r>
              <a:rPr lang="en-US" altLang="ko-KR" sz="1600" b="1" u="sng" dirty="0">
                <a:solidFill>
                  <a:srgbClr val="FF0000"/>
                </a:solidFill>
              </a:rPr>
              <a:t>, </a:t>
            </a:r>
            <a:r>
              <a:rPr lang="ko-KR" altLang="en-US" sz="1600" b="1" u="sng" dirty="0">
                <a:solidFill>
                  <a:srgbClr val="FF0000"/>
                </a:solidFill>
              </a:rPr>
              <a:t>이전 값</a:t>
            </a:r>
            <a:r>
              <a:rPr lang="en-US" altLang="ko-KR" sz="1600" b="1" u="sng" dirty="0">
                <a:solidFill>
                  <a:srgbClr val="FF0000"/>
                </a:solidFill>
              </a:rPr>
              <a:t>, </a:t>
            </a:r>
            <a:r>
              <a:rPr lang="ko-KR" altLang="en-US" sz="1600" b="1" u="sng" dirty="0">
                <a:solidFill>
                  <a:srgbClr val="FF0000"/>
                </a:solidFill>
              </a:rPr>
              <a:t>최대 값</a:t>
            </a:r>
            <a:r>
              <a:rPr lang="en-US" altLang="ko-KR" sz="1600" b="1" u="sng" dirty="0">
                <a:solidFill>
                  <a:srgbClr val="FF0000"/>
                </a:solidFill>
              </a:rPr>
              <a:t>, </a:t>
            </a:r>
            <a:r>
              <a:rPr lang="ko-KR" altLang="en-US" sz="1600" b="1" u="sng" dirty="0">
                <a:solidFill>
                  <a:srgbClr val="FF0000"/>
                </a:solidFill>
              </a:rPr>
              <a:t>최소 값</a:t>
            </a:r>
            <a:r>
              <a:rPr lang="en-US" altLang="ko-KR" sz="1600" b="1" u="sng" dirty="0">
                <a:solidFill>
                  <a:srgbClr val="FF0000"/>
                </a:solidFill>
              </a:rPr>
              <a:t>, </a:t>
            </a:r>
            <a:r>
              <a:rPr lang="ko-KR" altLang="en-US" sz="1600" b="1" u="sng" dirty="0">
                <a:solidFill>
                  <a:srgbClr val="FF0000"/>
                </a:solidFill>
              </a:rPr>
              <a:t>평균한 값</a:t>
            </a:r>
            <a:r>
              <a:rPr lang="en-US" altLang="ko-KR" sz="1600" b="1" u="sng" dirty="0">
                <a:solidFill>
                  <a:srgbClr val="FF0000"/>
                </a:solidFill>
              </a:rPr>
              <a:t>, </a:t>
            </a:r>
            <a:r>
              <a:rPr lang="ko-KR" altLang="en-US" sz="1600" b="1" u="sng" dirty="0">
                <a:solidFill>
                  <a:srgbClr val="FF0000"/>
                </a:solidFill>
              </a:rPr>
              <a:t>여부 값</a:t>
            </a:r>
            <a:r>
              <a:rPr lang="ko-KR" altLang="en-US" sz="1400" b="1" dirty="0"/>
              <a:t> 등을 관리하는 속성이 추출 속성이다</a:t>
            </a:r>
            <a:r>
              <a:rPr lang="en-US" altLang="ko-KR" sz="1400" b="1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기존 값을 그대로 복사해서 사용하는 중복 속성도 추출 속성에 속한다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추출 속성이든 중복 속성이든 이미 존재하는 속성의 값을 재사용하는 것이므로 같은 개념이다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하지만 추출 속성보다는 중복 속성이 더 문제가 되기 때문에 필자는 추출 속성을 중복 속성과 구별한다</a:t>
            </a:r>
            <a:r>
              <a:rPr lang="en-US" altLang="ko-KR" sz="1400" b="1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추출 속성을 사용하는 목적은 미리 추출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계산</a:t>
            </a:r>
            <a:r>
              <a:rPr lang="en-US" altLang="ko-KR" sz="1400" b="1" dirty="0"/>
              <a:t>)</a:t>
            </a:r>
            <a:r>
              <a:rPr lang="ko-KR" altLang="en-US" sz="1400" b="1" dirty="0"/>
              <a:t>해서 보관한 값을 필요한 시점에 사용하기 위해서다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필요할 때마다 계산하지 않기 위함이다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인서트와 비교하면 조회는 훨씬 많이 실행되므로 연산할 대상의 범위가 넓거나 연산이 복잡할 때 미리 계산해서 저장해 놓고 조회 할 때마다 사용하면 효과적일 수 있다</a:t>
            </a:r>
            <a:r>
              <a:rPr lang="en-US" altLang="ko-KR" sz="1400" b="1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이 모델을 사용할 때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주문번호에 대한 주문상품 </a:t>
            </a:r>
            <a:r>
              <a:rPr lang="ko-KR" altLang="en-US" sz="1400" b="1" dirty="0" err="1"/>
              <a:t>엔터티의</a:t>
            </a:r>
            <a:r>
              <a:rPr lang="ko-KR" altLang="en-US" sz="1400" b="1" dirty="0"/>
              <a:t> 주문단가*주문수량을 전부 더한 금액이 주문 </a:t>
            </a:r>
            <a:r>
              <a:rPr lang="ko-KR" altLang="en-US" sz="1400" b="1" dirty="0" err="1"/>
              <a:t>엔터티의</a:t>
            </a:r>
            <a:r>
              <a:rPr lang="ko-KR" altLang="en-US" sz="1400" b="1" dirty="0"/>
              <a:t> 총주문금액 속성과 다르면 안 된다</a:t>
            </a:r>
            <a:r>
              <a:rPr lang="en-US" altLang="ko-KR" sz="1400" b="1" dirty="0"/>
              <a:t>. [</a:t>
            </a:r>
            <a:r>
              <a:rPr lang="ko-KR" altLang="en-US" sz="1400" b="1" dirty="0"/>
              <a:t>그림 </a:t>
            </a:r>
            <a:r>
              <a:rPr lang="en-US" altLang="ko-KR" sz="1400" b="1" dirty="0"/>
              <a:t>7.29] </a:t>
            </a:r>
            <a:r>
              <a:rPr lang="ko-KR" altLang="en-US" sz="1400" b="1" dirty="0"/>
              <a:t>모델에는 발생한 총 횟수가 사용됐다</a:t>
            </a:r>
            <a:r>
              <a:rPr lang="en-US" altLang="ko-KR" sz="1400" b="1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비정규화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비정규화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(Denormalization)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F3BC13-36CA-542F-06DA-B990CB3CC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978" y="4024014"/>
            <a:ext cx="2581635" cy="123842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F427F35-537B-9E83-D9E0-C16A1BC31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388" y="4157383"/>
            <a:ext cx="3305636" cy="1105054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A8127A7-E41A-DBF2-E8F7-CD7AC55B6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8555994"/>
      </p:ext>
    </p:extLst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7.9. </a:t>
            </a:r>
            <a:r>
              <a:rPr lang="ko-KR" altLang="en-US" sz="2400" dirty="0">
                <a:latin typeface="+mn-ea"/>
              </a:rPr>
              <a:t>비정규화 방법 </a:t>
            </a:r>
            <a:r>
              <a:rPr lang="en-US" altLang="ko-KR" sz="2400" dirty="0">
                <a:latin typeface="+mn-ea"/>
              </a:rPr>
              <a:t>- </a:t>
            </a:r>
            <a:r>
              <a:rPr lang="ko-KR" altLang="en-US" sz="2400" dirty="0">
                <a:latin typeface="+mn-ea"/>
              </a:rPr>
              <a:t>추출 속성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0983914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/>
              <a:t>[</a:t>
            </a:r>
            <a:r>
              <a:rPr lang="ko-KR" altLang="en-US" sz="1400" b="1" dirty="0"/>
              <a:t>그림 </a:t>
            </a:r>
            <a:r>
              <a:rPr lang="en-US" altLang="ko-KR" sz="1400" b="1" dirty="0"/>
              <a:t>7.30]</a:t>
            </a:r>
            <a:r>
              <a:rPr lang="ko-KR" altLang="en-US" sz="1400" b="1" dirty="0"/>
              <a:t> 보험계약 </a:t>
            </a:r>
            <a:r>
              <a:rPr lang="ko-KR" altLang="en-US" sz="1400" b="1" dirty="0" err="1"/>
              <a:t>엔터티의</a:t>
            </a:r>
            <a:r>
              <a:rPr lang="ko-KR" altLang="en-US" sz="1400" b="1" dirty="0"/>
              <a:t> 최초보험료납입일자 속성은 보험료를 납입한 내역을 관리하는 보험료납입 </a:t>
            </a:r>
            <a:r>
              <a:rPr lang="ko-KR" altLang="en-US" sz="1400" b="1" dirty="0" err="1"/>
              <a:t>엔터티에서</a:t>
            </a:r>
            <a:r>
              <a:rPr lang="ko-KR" altLang="en-US" sz="1400" b="1" dirty="0"/>
              <a:t> 추출한 값을 관리하는 속성이다</a:t>
            </a:r>
            <a:r>
              <a:rPr lang="en-US" altLang="ko-KR" sz="1400" b="1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보험료납입 </a:t>
            </a:r>
            <a:r>
              <a:rPr lang="ko-KR" altLang="en-US" sz="1400" b="1" dirty="0" err="1"/>
              <a:t>엔터티에서</a:t>
            </a:r>
            <a:r>
              <a:rPr lang="ko-KR" altLang="en-US" sz="1400" b="1" dirty="0"/>
              <a:t> 해당 보험에 대한 인스턴스 중에서 납 입 일 자 가 가장 빠른 것 </a:t>
            </a:r>
            <a:r>
              <a:rPr lang="en-US" altLang="ko-KR" sz="1400" b="1" dirty="0"/>
              <a:t>(First) </a:t>
            </a:r>
            <a:r>
              <a:rPr lang="ko-KR" altLang="en-US" sz="1400" b="1" dirty="0"/>
              <a:t>을 관리한다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처음으로 보험료를 납입할 때의 일자를 저장하면 되므로 최초보험료납입일자 속성에 값을 생성하기는 어렵지 않지만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보험료납입 </a:t>
            </a:r>
            <a:r>
              <a:rPr lang="ko-KR" altLang="en-US" sz="1400" b="1" dirty="0" err="1"/>
              <a:t>엔터티의</a:t>
            </a:r>
            <a:r>
              <a:rPr lang="ko-KR" altLang="en-US" sz="1400" b="1" dirty="0"/>
              <a:t> 납입일자와 일치하지 않으면 안 된다</a:t>
            </a:r>
            <a:r>
              <a:rPr lang="en-US" altLang="ko-KR" sz="1400" b="1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/>
              <a:t>[</a:t>
            </a:r>
            <a:r>
              <a:rPr lang="ko-KR" altLang="en-US" sz="1400" b="1" dirty="0"/>
              <a:t>그림 </a:t>
            </a:r>
            <a:r>
              <a:rPr lang="en-US" altLang="ko-KR" sz="1400" b="1" dirty="0"/>
              <a:t>7.31] </a:t>
            </a:r>
            <a:r>
              <a:rPr lang="ko-KR" altLang="en-US" sz="1400" b="1" dirty="0"/>
              <a:t>계좌 </a:t>
            </a:r>
            <a:r>
              <a:rPr lang="ko-KR" altLang="en-US" sz="1400" b="1" dirty="0" err="1"/>
              <a:t>엔터티의</a:t>
            </a:r>
            <a:r>
              <a:rPr lang="ko-KR" altLang="en-US" sz="1400" b="1" dirty="0"/>
              <a:t> 최종거래일자 속성은 거래내역 </a:t>
            </a:r>
            <a:r>
              <a:rPr lang="ko-KR" altLang="en-US" sz="1400" b="1" dirty="0" err="1"/>
              <a:t>엔터티의</a:t>
            </a:r>
            <a:r>
              <a:rPr lang="ko-KR" altLang="en-US" sz="1400" b="1" dirty="0"/>
              <a:t> 인스턴스 중에서 해당 계좌의 가장 최근</a:t>
            </a:r>
            <a:r>
              <a:rPr lang="en-US" altLang="ko-KR" sz="1400" b="1" dirty="0"/>
              <a:t>(Last) </a:t>
            </a:r>
            <a:r>
              <a:rPr lang="ko-KR" altLang="en-US" sz="1400" b="1" dirty="0"/>
              <a:t>거래일자를 추출해서 관리하는 속성이다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이렇게 최종 값을 추출 값으로 관리하는 예는 빈번하다</a:t>
            </a:r>
            <a:r>
              <a:rPr lang="en-US" altLang="ko-KR" sz="1400" b="1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최종거래일자는 </a:t>
            </a:r>
            <a:r>
              <a:rPr lang="en-US" altLang="ko-KR" sz="1400" b="1" dirty="0"/>
              <a:t>[</a:t>
            </a:r>
            <a:r>
              <a:rPr lang="ko-KR" altLang="en-US" sz="1400" b="1" dirty="0"/>
              <a:t>그림 </a:t>
            </a:r>
            <a:r>
              <a:rPr lang="en-US" altLang="ko-KR" sz="1400" b="1" dirty="0"/>
              <a:t>7.31] </a:t>
            </a:r>
            <a:r>
              <a:rPr lang="ko-KR" altLang="en-US" sz="1400" b="1" dirty="0"/>
              <a:t>모델과 같이 추출 속성으로 관리하지 않고，</a:t>
            </a:r>
            <a:r>
              <a:rPr lang="en-US" altLang="ko-KR" sz="1400" b="1" dirty="0"/>
              <a:t>[</a:t>
            </a:r>
            <a:r>
              <a:rPr lang="ko-KR" altLang="en-US" sz="1400" b="1" dirty="0"/>
              <a:t>그림 </a:t>
            </a:r>
            <a:r>
              <a:rPr lang="en-US" altLang="ko-KR" sz="1400" b="1" dirty="0"/>
              <a:t>7.32] </a:t>
            </a:r>
            <a:r>
              <a:rPr lang="ko-KR" altLang="en-US" sz="1400" b="1" dirty="0"/>
              <a:t>모델과 같이 추출 관계로 관리할 수도 있다</a:t>
            </a:r>
            <a:r>
              <a:rPr lang="en-US" altLang="ko-KR" sz="1400" b="1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추출 관계로 최종거래번호를 관리하면 결국 최종거래일자도 알 수 있고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해당 거래와 관련된 다른 데이터도 알 수 있다</a:t>
            </a:r>
            <a:r>
              <a:rPr lang="en-US" altLang="ko-KR" sz="1400" b="1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비정규화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비정규화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(Denormalization)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B06421-EADE-3147-133A-941064BC8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628" y="3796648"/>
            <a:ext cx="2848373" cy="126700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B0BC64F-A36A-ED8B-E4AF-2EB71CF7E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9633" y="3958596"/>
            <a:ext cx="2505425" cy="110505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457F3AC-3B94-C151-6DF4-FD8CE2CD8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691" y="3968122"/>
            <a:ext cx="2991267" cy="1095528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620F40-138E-9256-A3AB-248CE0E2D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964989"/>
      </p:ext>
    </p:extLst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7.9. </a:t>
            </a:r>
            <a:r>
              <a:rPr lang="ko-KR" altLang="en-US" sz="2400" dirty="0">
                <a:latin typeface="+mn-ea"/>
              </a:rPr>
              <a:t>비정규화 방법 </a:t>
            </a:r>
            <a:r>
              <a:rPr lang="en-US" altLang="ko-KR" sz="2400" dirty="0">
                <a:latin typeface="+mn-ea"/>
              </a:rPr>
              <a:t>- </a:t>
            </a:r>
            <a:r>
              <a:rPr lang="ko-KR" altLang="en-US" sz="2400" dirty="0">
                <a:latin typeface="+mn-ea"/>
              </a:rPr>
              <a:t>추출 속성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0983914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최종 값과 유사하게 현재 값을 관리할 때도 추출 속성을 많이 사용한다</a:t>
            </a:r>
            <a:r>
              <a:rPr lang="en-US" altLang="ko-KR" sz="1400" b="1" dirty="0"/>
              <a:t>. [</a:t>
            </a:r>
            <a:r>
              <a:rPr lang="ko-KR" altLang="en-US" sz="1400" b="1" dirty="0"/>
              <a:t>그림 </a:t>
            </a:r>
            <a:r>
              <a:rPr lang="en-US" altLang="ko-KR" sz="1400" b="1" dirty="0"/>
              <a:t>7.33] </a:t>
            </a:r>
            <a:r>
              <a:rPr lang="ko-KR" altLang="en-US" sz="1400" b="1" dirty="0"/>
              <a:t>고객 </a:t>
            </a:r>
            <a:r>
              <a:rPr lang="ko-KR" altLang="en-US" sz="1400" b="1" dirty="0" err="1"/>
              <a:t>엔터티의</a:t>
            </a:r>
            <a:r>
              <a:rPr lang="ko-KR" altLang="en-US" sz="1400" b="1" dirty="0"/>
              <a:t> 현재주소 속성은 고객의 현재 주소를 의미한다</a:t>
            </a:r>
            <a:r>
              <a:rPr lang="en-US" altLang="ko-KR" sz="1400" b="1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고객주소 </a:t>
            </a:r>
            <a:r>
              <a:rPr lang="ko-KR" altLang="en-US" sz="1400" b="1" dirty="0" err="1"/>
              <a:t>엔터티에서</a:t>
            </a:r>
            <a:r>
              <a:rPr lang="ko-KR" altLang="en-US" sz="1400" b="1" dirty="0"/>
              <a:t> 고객의 주소를 관리하면서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해당 고객의 현재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최종</a:t>
            </a:r>
            <a:r>
              <a:rPr lang="en-US" altLang="ko-KR" sz="1400" b="1" dirty="0"/>
              <a:t>) </a:t>
            </a:r>
            <a:r>
              <a:rPr lang="ko-KR" altLang="en-US" sz="1400" b="1" dirty="0"/>
              <a:t>주소를 고객 </a:t>
            </a:r>
            <a:r>
              <a:rPr lang="ko-KR" altLang="en-US" sz="1400" b="1" dirty="0" err="1"/>
              <a:t>엔터티에</a:t>
            </a:r>
            <a:r>
              <a:rPr lang="ko-KR" altLang="en-US" sz="1400" b="1" dirty="0"/>
              <a:t> 추출 속성으로 관리한다</a:t>
            </a:r>
            <a:r>
              <a:rPr lang="en-US" altLang="ko-KR" sz="1400" b="1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/>
              <a:t>[</a:t>
            </a:r>
            <a:r>
              <a:rPr lang="ko-KR" altLang="en-US" sz="1400" b="1" dirty="0"/>
              <a:t>그림 </a:t>
            </a:r>
            <a:r>
              <a:rPr lang="en-US" altLang="ko-KR" sz="1400" b="1" dirty="0"/>
              <a:t>7.34]</a:t>
            </a:r>
            <a:r>
              <a:rPr lang="ko-KR" altLang="en-US" sz="1400" b="1" dirty="0"/>
              <a:t> 보험계약이력 </a:t>
            </a:r>
            <a:r>
              <a:rPr lang="ko-KR" altLang="en-US" sz="1400" b="1" dirty="0" err="1"/>
              <a:t>엔터티의</a:t>
            </a:r>
            <a:r>
              <a:rPr lang="ko-KR" altLang="en-US" sz="1400" b="1" dirty="0"/>
              <a:t> 이전 속성값 속성은 말 그대로 바로 이전</a:t>
            </a:r>
            <a:r>
              <a:rPr lang="en-US" altLang="ko-KR" sz="1400" b="1" dirty="0"/>
              <a:t>(Previous)</a:t>
            </a:r>
            <a:r>
              <a:rPr lang="ko-KR" altLang="en-US" sz="1400" b="1" dirty="0"/>
              <a:t>에 해당하는 값을 관리하는 속성이다</a:t>
            </a:r>
            <a:r>
              <a:rPr lang="en-US" altLang="ko-KR" sz="1400" b="1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이전 값이 필요하면 이전 인스턴스를 조회해 찾으면 되지만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성능 향상을 위해 이전 속성값 속성에 추출 값을 저장해 사용한다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이전 값을 구하는 방법에 대해서는 이어지는 장에서 간략하게 설명할 것이다</a:t>
            </a:r>
            <a:r>
              <a:rPr lang="en-US" altLang="ko-KR" sz="1400" b="1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/>
              <a:t>[</a:t>
            </a:r>
            <a:r>
              <a:rPr lang="ko-KR" altLang="en-US" sz="1400" b="1" dirty="0"/>
              <a:t>그림 </a:t>
            </a:r>
            <a:r>
              <a:rPr lang="en-US" altLang="ko-KR" sz="1400" b="1" dirty="0"/>
              <a:t>7.35] </a:t>
            </a:r>
            <a:r>
              <a:rPr lang="ko-KR" altLang="en-US" sz="1400" b="1" dirty="0"/>
              <a:t>주문 </a:t>
            </a:r>
            <a:r>
              <a:rPr lang="ko-KR" altLang="en-US" sz="1400" b="1" dirty="0" err="1"/>
              <a:t>엔터티의</a:t>
            </a:r>
            <a:r>
              <a:rPr lang="ko-KR" altLang="en-US" sz="1400" b="1" dirty="0"/>
              <a:t> 이전주소 속성은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이전 값을 관리하는</a:t>
            </a:r>
            <a:r>
              <a:rPr lang="en-US" altLang="ko-KR" sz="1400" b="1" dirty="0"/>
              <a:t>  </a:t>
            </a:r>
            <a:r>
              <a:rPr lang="ko-KR" altLang="en-US" sz="1400" b="1" dirty="0"/>
              <a:t>추출 속성과는 성격이 다르기 때문에 주의해야 한다</a:t>
            </a:r>
            <a:r>
              <a:rPr lang="en-US" altLang="ko-KR" sz="1400" b="1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/>
              <a:t>[</a:t>
            </a:r>
            <a:r>
              <a:rPr lang="ko-KR" altLang="en-US" sz="1400" b="1" dirty="0"/>
              <a:t>그림 </a:t>
            </a:r>
            <a:r>
              <a:rPr lang="en-US" altLang="ko-KR" sz="1400" b="1" dirty="0"/>
              <a:t>7.36] </a:t>
            </a:r>
            <a:r>
              <a:rPr lang="ko-KR" altLang="en-US" sz="1400" b="1" dirty="0"/>
              <a:t>계좌 </a:t>
            </a:r>
            <a:r>
              <a:rPr lang="ko-KR" altLang="en-US" sz="1400" b="1" dirty="0" err="1"/>
              <a:t>엔터티에는</a:t>
            </a:r>
            <a:r>
              <a:rPr lang="ko-KR" altLang="en-US" sz="1400" b="1" dirty="0"/>
              <a:t> 다음 이자지급일자 추출 속성을 관리한다</a:t>
            </a:r>
            <a:r>
              <a:rPr lang="en-US" altLang="ko-KR" sz="1400" b="1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비정규화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비정규화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(Denormalization)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D34710C-6AB9-4A8E-F681-AB572D785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925" y="3299505"/>
            <a:ext cx="1924319" cy="113363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8F8DAC-D1B2-DB22-338F-4B62F0A2F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676" y="3166136"/>
            <a:ext cx="2838846" cy="126700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84512C9-0768-079D-25F0-64087F3BB9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924" y="3137557"/>
            <a:ext cx="2105319" cy="129558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2C505B7-11EB-1583-C9A8-BF30418549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4893" y="3299505"/>
            <a:ext cx="1943371" cy="1124107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04D400E-330F-DC28-9FEA-BDE0FCE31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1252821"/>
      </p:ext>
    </p:extLst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7.9. </a:t>
            </a:r>
            <a:r>
              <a:rPr lang="ko-KR" altLang="en-US" sz="2400" dirty="0">
                <a:latin typeface="+mn-ea"/>
              </a:rPr>
              <a:t>비정규화 방법 </a:t>
            </a:r>
            <a:r>
              <a:rPr lang="en-US" altLang="ko-KR" sz="2400" dirty="0">
                <a:latin typeface="+mn-ea"/>
              </a:rPr>
              <a:t>- </a:t>
            </a:r>
            <a:r>
              <a:rPr lang="ko-KR" altLang="en-US" sz="2400" dirty="0">
                <a:latin typeface="+mn-ea"/>
              </a:rPr>
              <a:t>추출 속성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099313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b="1" dirty="0"/>
              <a:t>계좌사고 </a:t>
            </a:r>
            <a:r>
              <a:rPr lang="ko-KR" altLang="en-US" sz="1200" b="1" dirty="0" err="1"/>
              <a:t>엔터티를</a:t>
            </a:r>
            <a:r>
              <a:rPr lang="ko-KR" altLang="en-US" sz="1200" b="1" dirty="0"/>
              <a:t> 조회해서 해당 계좌의 사고 데이터가 존재하면 사고 계좌라고 판단할 수 있지만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계좌사고 </a:t>
            </a:r>
            <a:r>
              <a:rPr lang="ko-KR" altLang="en-US" sz="1200" b="1" dirty="0" err="1"/>
              <a:t>엔터티를</a:t>
            </a:r>
            <a:r>
              <a:rPr lang="ko-KR" altLang="en-US" sz="1200" b="1" dirty="0"/>
              <a:t> 조회하지 않으려 계좌 </a:t>
            </a:r>
            <a:r>
              <a:rPr lang="ko-KR" altLang="en-US" sz="1200" b="1" dirty="0" err="1"/>
              <a:t>엔터티에</a:t>
            </a:r>
            <a:r>
              <a:rPr lang="ko-KR" altLang="en-US" sz="1200" b="1" dirty="0"/>
              <a:t> 사고계좌여부 속성을 관리한다</a:t>
            </a:r>
            <a:r>
              <a:rPr lang="en-US" altLang="ko-KR" sz="1200" b="1" dirty="0"/>
              <a:t>. </a:t>
            </a:r>
            <a:r>
              <a:rPr lang="ko-KR" altLang="en-US" sz="1200" b="1" dirty="0"/>
              <a:t>이처럼 내역 데이터를 조회해 알아낼 수 있는 값을 마스터 성격의 </a:t>
            </a:r>
            <a:r>
              <a:rPr lang="ko-KR" altLang="en-US" sz="1200" b="1" dirty="0" err="1"/>
              <a:t>엔터티에</a:t>
            </a:r>
            <a:r>
              <a:rPr lang="ko-KR" altLang="en-US" sz="1200" b="1" dirty="0"/>
              <a:t> 이중으로 관리하는 예는 매우 흔하다</a:t>
            </a:r>
            <a:r>
              <a:rPr lang="en-US" altLang="ko-KR" sz="1200" b="1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b="1" dirty="0"/>
              <a:t>여부 속성은 우선 추출 속성인지를 판별할 수 있어야 한다</a:t>
            </a:r>
            <a:r>
              <a:rPr lang="en-US" altLang="ko-KR" sz="1200" b="1" dirty="0"/>
              <a:t>. </a:t>
            </a:r>
            <a:r>
              <a:rPr lang="ko-KR" altLang="en-US" sz="1200" b="1" dirty="0"/>
              <a:t>즉 내역 데이터 등에서 연산할 수 있는 추출 속성인지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순수하게 해당 </a:t>
            </a:r>
            <a:r>
              <a:rPr lang="ko-KR" altLang="en-US" sz="1200" b="1" dirty="0" err="1"/>
              <a:t>엔터티에서</a:t>
            </a:r>
            <a:r>
              <a:rPr lang="ko-KR" altLang="en-US" sz="1200" b="1" dirty="0"/>
              <a:t> 관리되는 업무 속성인지를 구별할 수 있어야 한다</a:t>
            </a:r>
            <a:r>
              <a:rPr lang="en-US" altLang="ko-KR" sz="1200" b="1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b="1" dirty="0"/>
              <a:t>추출 속성일 때는 당연히 내역 데이터와 정합성을 맞춰야 한다</a:t>
            </a:r>
            <a:r>
              <a:rPr lang="en-US" altLang="ko-KR" sz="1200" b="1" dirty="0"/>
              <a:t>. </a:t>
            </a:r>
          </a:p>
          <a:p>
            <a:r>
              <a:rPr lang="en-US" altLang="ko-KR" sz="1200" b="1" dirty="0"/>
              <a:t>    </a:t>
            </a:r>
            <a:r>
              <a:rPr lang="ko-KR" altLang="en-US" sz="1200" b="1" dirty="0"/>
              <a:t>내역 데이터에는 해당 계좌의 사고가 존재하지 않는데，</a:t>
            </a:r>
            <a:endParaRPr lang="en-US" altLang="ko-KR" sz="1200" b="1" dirty="0"/>
          </a:p>
          <a:p>
            <a:r>
              <a:rPr lang="ko-KR" altLang="en-US" sz="1200" b="1" dirty="0"/>
              <a:t>   계좌 </a:t>
            </a:r>
            <a:r>
              <a:rPr lang="ko-KR" altLang="en-US" sz="1200" b="1" dirty="0" err="1"/>
              <a:t>엔터티의</a:t>
            </a:r>
            <a:r>
              <a:rPr lang="ko-KR" altLang="en-US" sz="1200" b="1" dirty="0"/>
              <a:t> 사고계좌여부 속성 값이  ‘</a:t>
            </a:r>
            <a:r>
              <a:rPr lang="en-US" altLang="ko-KR" sz="1200" b="1" dirty="0"/>
              <a:t>Y ’ </a:t>
            </a:r>
            <a:r>
              <a:rPr lang="ko-KR" altLang="en-US" sz="1200" b="1" dirty="0"/>
              <a:t>면 안 된다</a:t>
            </a:r>
            <a:r>
              <a:rPr lang="en-US" altLang="ko-KR" sz="1200" b="1" dirty="0"/>
              <a:t>. </a:t>
            </a:r>
          </a:p>
          <a:p>
            <a:r>
              <a:rPr lang="ko-KR" altLang="en-US" sz="1200" b="1" dirty="0"/>
              <a:t>   여부 속성은 생각보다 정합성을 맞추기 어려워서 가능하면 </a:t>
            </a:r>
            <a:endParaRPr lang="en-US" altLang="ko-KR" sz="1200" b="1" dirty="0"/>
          </a:p>
          <a:p>
            <a:r>
              <a:rPr lang="ko-KR" altLang="en-US" sz="1200" b="1" dirty="0"/>
              <a:t>   추출 속성으로 사용하지 않는 것이 바람직하다</a:t>
            </a:r>
            <a:r>
              <a:rPr lang="en-US" altLang="ko-KR" sz="1200" b="1" dirty="0"/>
              <a:t>.</a:t>
            </a:r>
          </a:p>
          <a:p>
            <a:endParaRPr lang="en-US" altLang="ko-KR" sz="1200" b="1" dirty="0"/>
          </a:p>
          <a:p>
            <a:endParaRPr lang="en-US" altLang="ko-KR" sz="12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200" b="1" dirty="0"/>
              <a:t>추출 속성 중에는 관계 속성도 존재한다</a:t>
            </a:r>
            <a:r>
              <a:rPr lang="en-US" altLang="ko-KR" sz="1200" b="1" dirty="0"/>
              <a:t>. </a:t>
            </a:r>
            <a:r>
              <a:rPr lang="ko-KR" altLang="en-US" sz="1200" b="1" dirty="0"/>
              <a:t>여러 단계를 거쳐 상위 </a:t>
            </a:r>
            <a:endParaRPr lang="en-US" altLang="ko-KR" sz="1200" b="1" dirty="0"/>
          </a:p>
          <a:p>
            <a:r>
              <a:rPr lang="ko-KR" altLang="en-US" sz="1200" b="1" dirty="0"/>
              <a:t>    </a:t>
            </a:r>
            <a:r>
              <a:rPr lang="ko-KR" altLang="en-US" sz="1200" b="1" dirty="0" err="1"/>
              <a:t>엔터티를</a:t>
            </a:r>
            <a:r>
              <a:rPr lang="ko-KR" altLang="en-US" sz="1200" b="1" dirty="0"/>
              <a:t> 조인하면 성능이 저하될 수 있으므로 해당 </a:t>
            </a:r>
            <a:r>
              <a:rPr lang="ko-KR" altLang="en-US" sz="1200" b="1" dirty="0" err="1"/>
              <a:t>엔터티와</a:t>
            </a:r>
            <a:r>
              <a:rPr lang="ko-KR" altLang="en-US" sz="1200" b="1" dirty="0"/>
              <a:t> 직접 </a:t>
            </a:r>
            <a:endParaRPr lang="en-US" altLang="ko-KR" sz="1200" b="1" dirty="0"/>
          </a:p>
          <a:p>
            <a:r>
              <a:rPr lang="ko-KR" altLang="en-US" sz="1200" b="1" dirty="0"/>
              <a:t>    관계를 관리한다</a:t>
            </a:r>
            <a:r>
              <a:rPr lang="en-US" altLang="ko-KR" sz="1200" b="1" dirty="0"/>
              <a:t>. [</a:t>
            </a:r>
            <a:r>
              <a:rPr lang="ko-KR" altLang="en-US" sz="1200" b="1" dirty="0"/>
              <a:t>그림 </a:t>
            </a:r>
            <a:r>
              <a:rPr lang="en-US" altLang="ko-KR" sz="1200" b="1" dirty="0"/>
              <a:t>7.38] </a:t>
            </a:r>
            <a:r>
              <a:rPr lang="ko-KR" altLang="en-US" sz="1200" b="1" dirty="0"/>
              <a:t>모델에서 </a:t>
            </a:r>
            <a:r>
              <a:rPr lang="en-US" altLang="ko-KR" sz="1200" b="1" dirty="0"/>
              <a:t>E </a:t>
            </a:r>
            <a:r>
              <a:rPr lang="ko-KR" altLang="en-US" sz="1200" b="1" dirty="0" err="1"/>
              <a:t>엔터티의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a </a:t>
            </a:r>
            <a:r>
              <a:rPr lang="ko-KR" altLang="en-US" sz="1200" b="1" dirty="0"/>
              <a:t>속성은 </a:t>
            </a:r>
            <a:endParaRPr lang="en-US" altLang="ko-KR" sz="1200" b="1" dirty="0"/>
          </a:p>
          <a:p>
            <a:r>
              <a:rPr lang="en-US" altLang="ko-KR" sz="1200" b="1" dirty="0"/>
              <a:t>    </a:t>
            </a:r>
            <a:r>
              <a:rPr lang="ko-KR" altLang="en-US" sz="1200" b="1" dirty="0"/>
              <a:t>추출 관계 속성이다</a:t>
            </a:r>
            <a:r>
              <a:rPr lang="en-US" altLang="ko-KR" sz="1200" b="1" dirty="0"/>
              <a:t>.</a:t>
            </a:r>
          </a:p>
          <a:p>
            <a:endParaRPr lang="en-US" altLang="ko-KR" sz="12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200" b="1" dirty="0"/>
              <a:t>[</a:t>
            </a:r>
            <a:r>
              <a:rPr lang="ko-KR" altLang="en-US" sz="1200" b="1" dirty="0"/>
              <a:t>그림 </a:t>
            </a:r>
            <a:r>
              <a:rPr lang="en-US" altLang="ko-KR" sz="1200" b="1" dirty="0"/>
              <a:t>7.39] </a:t>
            </a:r>
            <a:r>
              <a:rPr lang="ko-KR" altLang="en-US" sz="1200" b="1" dirty="0"/>
              <a:t>계좌 </a:t>
            </a:r>
            <a:r>
              <a:rPr lang="ko-KR" altLang="en-US" sz="1200" b="1" dirty="0" err="1"/>
              <a:t>엔터티의</a:t>
            </a:r>
            <a:r>
              <a:rPr lang="ko-KR" altLang="en-US" sz="1200" b="1" dirty="0"/>
              <a:t> 주 식별자인 계좌번호 속성에는 체계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의미</a:t>
            </a:r>
            <a:r>
              <a:rPr lang="en-US" altLang="ko-KR" sz="1200" b="1" dirty="0"/>
              <a:t>)</a:t>
            </a:r>
            <a:r>
              <a:rPr lang="ko-KR" altLang="en-US" sz="1200" b="1" dirty="0"/>
              <a:t>가</a:t>
            </a:r>
            <a:endParaRPr lang="en-US" altLang="ko-KR" sz="1200" b="1" dirty="0"/>
          </a:p>
          <a:p>
            <a:r>
              <a:rPr lang="en-US" altLang="ko-KR" sz="1200" b="1" dirty="0"/>
              <a:t>    </a:t>
            </a:r>
            <a:r>
              <a:rPr lang="ko-KR" altLang="en-US" sz="1200" b="1" dirty="0"/>
              <a:t>존재한다</a:t>
            </a:r>
            <a:r>
              <a:rPr lang="en-US" altLang="ko-KR" sz="1200" b="1" dirty="0"/>
              <a:t>. 10</a:t>
            </a:r>
            <a:r>
              <a:rPr lang="ko-KR" altLang="en-US" sz="1200" b="1" dirty="0"/>
              <a:t>자리 중 앞의 </a:t>
            </a:r>
            <a:r>
              <a:rPr lang="en-US" altLang="ko-KR" sz="1200" b="1" dirty="0"/>
              <a:t>4 </a:t>
            </a:r>
            <a:r>
              <a:rPr lang="ko-KR" altLang="en-US" sz="1200" b="1" dirty="0"/>
              <a:t>자리는 계좌 </a:t>
            </a:r>
            <a:r>
              <a:rPr lang="ko-KR" altLang="en-US" sz="1200" b="1" dirty="0" err="1"/>
              <a:t>개설년도를</a:t>
            </a:r>
            <a:r>
              <a:rPr lang="ko-KR" altLang="en-US" sz="1200" b="1" dirty="0"/>
              <a:t> 의미하고 </a:t>
            </a:r>
            <a:endParaRPr lang="en-US" altLang="ko-KR" sz="1200" b="1" dirty="0"/>
          </a:p>
          <a:p>
            <a:r>
              <a:rPr lang="ko-KR" altLang="en-US" sz="1200" b="1" dirty="0"/>
              <a:t>    중간 </a:t>
            </a:r>
            <a:r>
              <a:rPr lang="en-US" altLang="ko-KR" sz="1200" b="1" dirty="0"/>
              <a:t>3</a:t>
            </a:r>
            <a:r>
              <a:rPr lang="ko-KR" altLang="en-US" sz="1200" b="1" dirty="0"/>
              <a:t>자리는 계좌 개설지점을 의미하며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뒤 </a:t>
            </a:r>
            <a:r>
              <a:rPr lang="en-US" altLang="ko-KR" sz="1200" b="1" dirty="0"/>
              <a:t>3</a:t>
            </a:r>
            <a:r>
              <a:rPr lang="ko-KR" altLang="en-US" sz="1200" b="1" dirty="0"/>
              <a:t>자리는 </a:t>
            </a:r>
            <a:r>
              <a:rPr lang="ko-KR" altLang="en-US" sz="1200" b="1" dirty="0" err="1"/>
              <a:t>개설지점별순번을</a:t>
            </a:r>
            <a:endParaRPr lang="en-US" altLang="ko-KR" sz="1200" b="1" dirty="0"/>
          </a:p>
          <a:p>
            <a:r>
              <a:rPr lang="en-US" altLang="ko-KR" sz="1200" b="1" dirty="0"/>
              <a:t>    </a:t>
            </a:r>
            <a:r>
              <a:rPr lang="ko-KR" altLang="en-US" sz="1200" b="1" dirty="0"/>
              <a:t>의미한다</a:t>
            </a:r>
            <a:r>
              <a:rPr lang="en-US" altLang="ko-KR" sz="1200" b="1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비정규화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비정규화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(Denormalization)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E8866C0-E7C8-CCF0-07F3-BE531A169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116" y="3159664"/>
            <a:ext cx="2524477" cy="112410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77BF84C-4904-17E6-DA05-32B91B4B2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0460" y="3089833"/>
            <a:ext cx="2019582" cy="292458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B395A57-F390-166C-834C-1D595A3E8F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406" y="4910187"/>
            <a:ext cx="2857899" cy="1124107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EE61994-7B39-0DD0-B472-B3494E861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0445058"/>
      </p:ext>
    </p:extLst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7.9. </a:t>
            </a:r>
            <a:r>
              <a:rPr lang="ko-KR" altLang="en-US" sz="2400" dirty="0">
                <a:latin typeface="+mn-ea"/>
              </a:rPr>
              <a:t>비정규화 방법 </a:t>
            </a:r>
            <a:r>
              <a:rPr lang="en-US" altLang="ko-KR" sz="2400" dirty="0">
                <a:latin typeface="+mn-ea"/>
              </a:rPr>
              <a:t>- </a:t>
            </a:r>
            <a:r>
              <a:rPr lang="ko-KR" altLang="en-US" sz="2400" dirty="0">
                <a:latin typeface="+mn-ea"/>
              </a:rPr>
              <a:t>추출 속성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098391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계좌를 개설할 당시의 시점 데이터인 계좌 </a:t>
            </a:r>
            <a:r>
              <a:rPr lang="ko-KR" altLang="en-US" sz="1400" b="1" dirty="0" err="1"/>
              <a:t>엔터티의</a:t>
            </a:r>
            <a:r>
              <a:rPr lang="ko-KR" altLang="en-US" sz="1400" b="1" dirty="0"/>
              <a:t> 고객명 속성은 이력 </a:t>
            </a:r>
            <a:r>
              <a:rPr lang="ko-KR" altLang="en-US" sz="1400" b="1" dirty="0" err="1"/>
              <a:t>엔터티에서</a:t>
            </a:r>
            <a:r>
              <a:rPr lang="ko-KR" altLang="en-US" sz="1400" b="1" dirty="0"/>
              <a:t> 가져올 수 있기 때문에 추출 속성이다</a:t>
            </a:r>
            <a:r>
              <a:rPr lang="en-US" altLang="ko-KR" sz="1400" b="1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지금까지 설명한 모든 종류의 추출 속성은 원천 데이터가 변경될 때마다 추출 속성 값도 업데이트 해야 하므로 데이터 정합성을 맞추기가 쉽지 않다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다시 한 번 강조하지만 심각한 성능 문제가 없다면 추출 속성은 사용하지 않는 것이 바람직하다</a:t>
            </a:r>
            <a:r>
              <a:rPr lang="en-US" altLang="ko-KR" sz="1400" b="1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만약 추출 속성을 사용하면 원천 데이터와 값을 동일하게 유지하기 위한 대책을 마련해야 한다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애플리케이션에서 정합성을 맞추는 로직을 구현하는 것은 한계가 있어</a:t>
            </a:r>
            <a:r>
              <a:rPr lang="en-US" altLang="ko-KR" sz="1400" b="1" dirty="0"/>
              <a:t>, D B </a:t>
            </a:r>
            <a:r>
              <a:rPr lang="ko-KR" altLang="en-US" sz="1400" b="1" dirty="0"/>
              <a:t>의 기능인 트리거를 사용하기도 한다</a:t>
            </a:r>
            <a:r>
              <a:rPr lang="en-US" altLang="ko-KR" sz="1400" b="1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추출 속성을 사용했을 때는 또한 데이터 품질 점검을 주기적으로 실시해야 한다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만약 정합성이 깨진 데이터가 있다면 원인을 찾아서 근본 문제를 해결해야 한다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추출 속성은 지속적으로 모니터링하는 것이 좋다</a:t>
            </a:r>
            <a:r>
              <a:rPr lang="en-US" altLang="ko-KR" sz="1400" b="1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비정규화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비정규화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(Denormalization)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9EBA486-33DC-9E2A-E5F3-914796629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471" y="4155730"/>
            <a:ext cx="3639058" cy="971686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2E7C204-892C-F152-70A6-BE9F2228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2859961"/>
      </p:ext>
    </p:extLst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7.10. </a:t>
            </a:r>
            <a:r>
              <a:rPr lang="ko-KR" altLang="en-US" sz="2400" dirty="0">
                <a:latin typeface="+mn-ea"/>
              </a:rPr>
              <a:t>이전 값을 관리하는 모델을 설계하는 방법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0983914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데이터를 이력 관리할 때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이전 값을 관리하는 방법은 몇 가지가 있다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이전 값을 조회하는 요건의 중요도에 따라 적절한 방법을 사용해야 한다</a:t>
            </a:r>
            <a:r>
              <a:rPr lang="en-US" altLang="ko-KR" sz="1400" b="1" dirty="0"/>
              <a:t>. [</a:t>
            </a:r>
            <a:r>
              <a:rPr lang="ko-KR" altLang="en-US" sz="1400" b="1" dirty="0"/>
              <a:t>그림 </a:t>
            </a:r>
            <a:r>
              <a:rPr lang="en-US" altLang="ko-KR" sz="1400" b="1" dirty="0"/>
              <a:t>7.41]</a:t>
            </a:r>
            <a:r>
              <a:rPr lang="ko-KR" altLang="en-US" sz="1400" b="1" dirty="0"/>
              <a:t>은 이력 데이터를 관리하는 일반적인 모델이다</a:t>
            </a:r>
            <a:r>
              <a:rPr lang="en-US" altLang="ko-KR" sz="1400" b="1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고객명이 변경되면 변경 전의 값은 고객명이력 </a:t>
            </a:r>
            <a:r>
              <a:rPr lang="ko-KR" altLang="en-US" sz="1400" b="1" dirty="0" err="1"/>
              <a:t>엔터티에서</a:t>
            </a:r>
            <a:r>
              <a:rPr lang="ko-KR" altLang="en-US" sz="1400" b="1" dirty="0"/>
              <a:t> 관리하며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변경된 현재 값은 고객 </a:t>
            </a:r>
            <a:r>
              <a:rPr lang="ko-KR" altLang="en-US" sz="1400" b="1" dirty="0" err="1"/>
              <a:t>엔터티에서</a:t>
            </a:r>
            <a:r>
              <a:rPr lang="ko-KR" altLang="en-US" sz="1400" b="1" dirty="0"/>
              <a:t> 관리한다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이때 고객명이력 </a:t>
            </a:r>
            <a:r>
              <a:rPr lang="ko-KR" altLang="en-US" sz="1400" b="1" dirty="0" err="1"/>
              <a:t>엔터티의</a:t>
            </a:r>
            <a:r>
              <a:rPr lang="ko-KR" altLang="en-US" sz="1400" b="1" dirty="0"/>
              <a:t> 고객명 속 성은 이전 고객명을 의미한다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만약 고객명이력 </a:t>
            </a:r>
            <a:r>
              <a:rPr lang="ko-KR" altLang="en-US" sz="1400" b="1" dirty="0" err="1"/>
              <a:t>엔터티의</a:t>
            </a:r>
            <a:r>
              <a:rPr lang="ko-KR" altLang="en-US" sz="1400" b="1" dirty="0"/>
              <a:t> 특정 고객명에 대한 이전 고객명을 알려면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이전 인스턴스를 찾으면 된다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해당 인스턴스보다 변경일자 속성 값이 앞선 인스턴스를 찾으면 이전 고객명을 알 수 있다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하지만 고객명이력 </a:t>
            </a:r>
            <a:r>
              <a:rPr lang="ko-KR" altLang="en-US" sz="1400" b="1" dirty="0" err="1"/>
              <a:t>엔터티만으로는</a:t>
            </a:r>
            <a:r>
              <a:rPr lang="ko-KR" altLang="en-US" sz="1400" b="1" dirty="0"/>
              <a:t> 현재 고객명을 알 수 없다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현재 고객명을 알기 위해 고객명이력 </a:t>
            </a:r>
            <a:r>
              <a:rPr lang="ko-KR" altLang="en-US" sz="1400" b="1" dirty="0" err="1"/>
              <a:t>엔터티에</a:t>
            </a:r>
            <a:r>
              <a:rPr lang="ko-KR" altLang="en-US" sz="1400" b="1" dirty="0"/>
              <a:t> 중복 데이터를 사용할 수 있다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고객명이력 </a:t>
            </a:r>
            <a:r>
              <a:rPr lang="ko-KR" altLang="en-US" sz="1400" b="1" dirty="0" err="1"/>
              <a:t>엔터티에</a:t>
            </a:r>
            <a:r>
              <a:rPr lang="ko-KR" altLang="en-US" sz="1400" b="1" dirty="0"/>
              <a:t> 현재 유 효 한 데이터를 중복으로 관리하면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이전 인스턴스를 찾음으로써 현재 고객명과 이전 고객명을 알 수 있다</a:t>
            </a:r>
            <a:r>
              <a:rPr lang="en-US" altLang="ko-KR" sz="1400" b="1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이와 같은 방법으로 이전 고객명을 알기 위해서는 연속된 두 개의 인스턴스를 조회해야 한다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이는 조회 성능 문제가 있는 요건에서는 문제가 될 수도 있다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또 다른 방법인 </a:t>
            </a:r>
            <a:r>
              <a:rPr lang="en-US" altLang="ko-KR" sz="1400" b="1" dirty="0"/>
              <a:t>[</a:t>
            </a:r>
            <a:r>
              <a:rPr lang="ko-KR" altLang="en-US" sz="1400" b="1" dirty="0"/>
              <a:t>그림 </a:t>
            </a:r>
            <a:r>
              <a:rPr lang="en-US" altLang="ko-KR" sz="1400" b="1" dirty="0"/>
              <a:t>7.42]</a:t>
            </a:r>
            <a:r>
              <a:rPr lang="ko-KR" altLang="en-US" sz="1400" b="1" dirty="0"/>
              <a:t>는 조회 성능 문제를 해결하기 위해 중복 속성을 사용한 모델이다</a:t>
            </a:r>
            <a:r>
              <a:rPr lang="en-US" altLang="ko-KR" sz="1400" b="1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/>
              <a:t>[</a:t>
            </a:r>
            <a:r>
              <a:rPr lang="ko-KR" altLang="en-US" sz="1400" b="1" dirty="0"/>
              <a:t>그림 </a:t>
            </a:r>
            <a:r>
              <a:rPr lang="en-US" altLang="ko-KR" sz="1400" b="1" dirty="0"/>
              <a:t>7.42] </a:t>
            </a:r>
            <a:r>
              <a:rPr lang="ko-KR" altLang="en-US" sz="1400" b="1" dirty="0"/>
              <a:t>모델은 변경된 값과 그 이전 값을 같은 인스턴스에서 관리하기 때문에 이전 값에 대한 조회가 수월하다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두 개의 인스턴스를 조회해서 이전 값을 찾지 않아도 된다</a:t>
            </a:r>
            <a:r>
              <a:rPr lang="en-US" altLang="ko-KR" sz="1400" b="1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이처럼 이전 값을 설계하는 방법은 크게 두 가지가 있다</a:t>
            </a:r>
            <a:r>
              <a:rPr lang="en-US" altLang="ko-KR" sz="1400" b="1" dirty="0"/>
              <a:t>. [</a:t>
            </a:r>
            <a:r>
              <a:rPr lang="ko-KR" altLang="en-US" sz="1400" b="1" dirty="0"/>
              <a:t>그림 </a:t>
            </a:r>
            <a:r>
              <a:rPr lang="en-US" altLang="ko-KR" sz="1400" b="1" dirty="0"/>
              <a:t>7.42] </a:t>
            </a:r>
            <a:r>
              <a:rPr lang="ko-KR" altLang="en-US" sz="1400" b="1" dirty="0"/>
              <a:t>모델은 중복 속성을 사용했기 때문에 바람직하지 않다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성능 관련된 특별한 요건이 있을 때만 사용해야 한다</a:t>
            </a:r>
            <a:endParaRPr lang="en-US" altLang="ko-KR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비정규화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비정규화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(Denormalization)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3C8BEEE-A102-1810-9CCA-DF2A0B172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441" y="4231308"/>
            <a:ext cx="2324424" cy="101931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F9BA75F-C853-5534-353E-967F3AF2B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467" y="4155097"/>
            <a:ext cx="2324424" cy="1095528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8204E48-3271-7E39-EE23-F012D3E1D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8835721"/>
      </p:ext>
    </p:extLst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7.11. </a:t>
            </a:r>
            <a:r>
              <a:rPr lang="ko-KR" altLang="en-US" sz="2400" dirty="0">
                <a:latin typeface="+mn-ea"/>
              </a:rPr>
              <a:t>비정규화 방법 </a:t>
            </a:r>
            <a:r>
              <a:rPr lang="en-US" altLang="ko-KR" sz="2400" dirty="0">
                <a:latin typeface="+mn-ea"/>
              </a:rPr>
              <a:t>- </a:t>
            </a:r>
            <a:r>
              <a:rPr lang="ko-KR" altLang="en-US" sz="2400" dirty="0">
                <a:solidFill>
                  <a:srgbClr val="FF0000"/>
                </a:solidFill>
                <a:latin typeface="+mn-ea"/>
              </a:rPr>
              <a:t>추출 </a:t>
            </a:r>
            <a:r>
              <a:rPr lang="ko-KR" altLang="en-US" sz="2400" dirty="0" err="1">
                <a:solidFill>
                  <a:srgbClr val="FF0000"/>
                </a:solidFill>
                <a:latin typeface="+mn-ea"/>
              </a:rPr>
              <a:t>엔터티</a:t>
            </a:r>
            <a:r>
              <a:rPr lang="ko-KR" altLang="en-US" sz="2400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24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2400" dirty="0">
                <a:solidFill>
                  <a:srgbClr val="FF0000"/>
                </a:solidFill>
                <a:latin typeface="+mn-ea"/>
              </a:rPr>
              <a:t>원천 </a:t>
            </a:r>
            <a:r>
              <a:rPr lang="ko-KR" altLang="en-US" sz="2400" dirty="0" err="1">
                <a:solidFill>
                  <a:srgbClr val="FF0000"/>
                </a:solidFill>
                <a:latin typeface="+mn-ea"/>
              </a:rPr>
              <a:t>엔터티에서</a:t>
            </a:r>
            <a:r>
              <a:rPr lang="ko-KR" altLang="en-US" sz="2400" dirty="0">
                <a:solidFill>
                  <a:srgbClr val="FF0000"/>
                </a:solidFill>
                <a:latin typeface="+mn-ea"/>
              </a:rPr>
              <a:t> 일부만 따로 관리</a:t>
            </a:r>
            <a:r>
              <a:rPr lang="en-US" altLang="ko-KR" sz="2400" dirty="0">
                <a:solidFill>
                  <a:srgbClr val="FF0000"/>
                </a:solidFill>
                <a:latin typeface="+mn-ea"/>
              </a:rPr>
              <a:t>!)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098391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추출 속성을 사용하는 방법과 유사한 방법이 추출 </a:t>
            </a:r>
            <a:r>
              <a:rPr lang="ko-KR" altLang="en-US" sz="1400" b="1" dirty="0" err="1"/>
              <a:t>엔터티를</a:t>
            </a:r>
            <a:r>
              <a:rPr lang="ko-KR" altLang="en-US" sz="1400" b="1" dirty="0"/>
              <a:t> 사용하는 것이다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추출 </a:t>
            </a:r>
            <a:r>
              <a:rPr lang="ko-KR" altLang="en-US" sz="1400" b="1" dirty="0" err="1"/>
              <a:t>엔터티는</a:t>
            </a:r>
            <a:r>
              <a:rPr lang="ko-KR" altLang="en-US" sz="1400" b="1" dirty="0"/>
              <a:t> 추출 속성을 묶어서 사용하는 개념이다</a:t>
            </a:r>
            <a:r>
              <a:rPr lang="en-US" altLang="ko-KR" sz="1400" b="1" dirty="0"/>
              <a:t>. [</a:t>
            </a:r>
            <a:r>
              <a:rPr lang="ko-KR" altLang="en-US" sz="1400" b="1" dirty="0"/>
              <a:t>그림 </a:t>
            </a:r>
            <a:r>
              <a:rPr lang="en-US" altLang="ko-KR" sz="1400" b="1" dirty="0"/>
              <a:t>7.43]</a:t>
            </a:r>
            <a:r>
              <a:rPr lang="ko-KR" altLang="en-US" sz="1400" b="1" dirty="0"/>
              <a:t>은 고객에게 발급한 보안카드를 관리하는 </a:t>
            </a:r>
            <a:r>
              <a:rPr lang="ko-KR" altLang="en-US" sz="1400" b="1" dirty="0" err="1"/>
              <a:t>엔터티다</a:t>
            </a:r>
            <a:r>
              <a:rPr lang="en-US" altLang="ko-KR" sz="1400" b="1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고객이 사용할 수 있는 보안카드는 한 개 뿐이지만 여러 번 발급받을 수 있다</a:t>
            </a:r>
            <a:r>
              <a:rPr lang="en-US" altLang="ko-KR" sz="1400" b="1" dirty="0"/>
              <a:t>. </a:t>
            </a:r>
            <a:r>
              <a:rPr lang="ko-KR" altLang="en-US" sz="1400" b="1" dirty="0" err="1"/>
              <a:t>고객보안카드발급내역</a:t>
            </a:r>
            <a:r>
              <a:rPr lang="ko-KR" altLang="en-US" sz="1400" b="1" dirty="0"/>
              <a:t> </a:t>
            </a:r>
            <a:r>
              <a:rPr lang="ko-KR" altLang="en-US" sz="1400" b="1" dirty="0" err="1"/>
              <a:t>엔터티에서</a:t>
            </a:r>
            <a:r>
              <a:rPr lang="ko-KR" altLang="en-US" sz="1400" b="1" dirty="0"/>
              <a:t> 발급일자 속성 값이 최종일인 보안카드가 현재 유효한 보안카드이다</a:t>
            </a:r>
            <a:r>
              <a:rPr lang="en-US" altLang="ko-KR" sz="1400" b="1" dirty="0"/>
              <a:t>. [</a:t>
            </a:r>
            <a:r>
              <a:rPr lang="ko-KR" altLang="en-US" sz="1400" b="1" dirty="0"/>
              <a:t>그림 </a:t>
            </a:r>
            <a:r>
              <a:rPr lang="en-US" altLang="ko-KR" sz="1400" b="1" dirty="0"/>
              <a:t>7.44] </a:t>
            </a:r>
            <a:r>
              <a:rPr lang="ko-KR" altLang="en-US" sz="1400" b="1" dirty="0"/>
              <a:t>고객보안카드 </a:t>
            </a:r>
            <a:r>
              <a:rPr lang="ko-KR" altLang="en-US" sz="1400" b="1" dirty="0" err="1"/>
              <a:t>엔터티는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[</a:t>
            </a:r>
            <a:r>
              <a:rPr lang="ko-KR" altLang="en-US" sz="1400" b="1" dirty="0"/>
              <a:t>그림 </a:t>
            </a:r>
            <a:r>
              <a:rPr lang="en-US" altLang="ko-KR" sz="1400" b="1" dirty="0"/>
              <a:t>7.43] </a:t>
            </a:r>
            <a:r>
              <a:rPr lang="ko-KR" altLang="en-US" sz="1400" b="1" dirty="0" err="1"/>
              <a:t>고객보안카드발급내역</a:t>
            </a:r>
            <a:r>
              <a:rPr lang="ko-KR" altLang="en-US" sz="1400" b="1" dirty="0"/>
              <a:t> </a:t>
            </a:r>
            <a:r>
              <a:rPr lang="ko-KR" altLang="en-US" sz="1400" b="1" dirty="0" err="1"/>
              <a:t>엔터티의</a:t>
            </a:r>
            <a:r>
              <a:rPr lang="ko-KR" altLang="en-US" sz="1400" b="1" dirty="0"/>
              <a:t> 인스턴스 중에서 현재 유효한 보안카드만을 별도로 저장한 비정규형 </a:t>
            </a:r>
            <a:r>
              <a:rPr lang="ko-KR" altLang="en-US" sz="1400" b="1" dirty="0" err="1"/>
              <a:t>엔터티다</a:t>
            </a:r>
            <a:r>
              <a:rPr lang="en-US" altLang="ko-KR" sz="1400" b="1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/>
              <a:t>[</a:t>
            </a:r>
            <a:r>
              <a:rPr lang="ko-KR" altLang="en-US" sz="1400" b="1" dirty="0"/>
              <a:t>그림 </a:t>
            </a:r>
            <a:r>
              <a:rPr lang="en-US" altLang="ko-KR" sz="1400" b="1" dirty="0"/>
              <a:t>7.44] </a:t>
            </a:r>
            <a:r>
              <a:rPr lang="ko-KR" altLang="en-US" sz="1400" b="1" dirty="0" err="1"/>
              <a:t>엔터티에</a:t>
            </a:r>
            <a:r>
              <a:rPr lang="ko-KR" altLang="en-US" sz="1400" b="1" dirty="0"/>
              <a:t> 존재하는 데이터는 </a:t>
            </a:r>
            <a:r>
              <a:rPr lang="en-US" altLang="ko-KR" sz="1400" b="1" dirty="0"/>
              <a:t>[</a:t>
            </a:r>
            <a:r>
              <a:rPr lang="ko-KR" altLang="en-US" sz="1400" b="1" dirty="0"/>
              <a:t>그림 </a:t>
            </a:r>
            <a:r>
              <a:rPr lang="en-US" altLang="ko-KR" sz="1400" b="1" dirty="0"/>
              <a:t>7.43] </a:t>
            </a:r>
            <a:r>
              <a:rPr lang="ko-KR" altLang="en-US" sz="1400" b="1" dirty="0" err="1"/>
              <a:t>엔터티에도</a:t>
            </a:r>
            <a:r>
              <a:rPr lang="ko-KR" altLang="en-US" sz="1400" b="1" dirty="0"/>
              <a:t> 존재한다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거래할 때마다 보안카드 데이터를 확인해야 하는데</a:t>
            </a:r>
            <a:r>
              <a:rPr lang="en-US" altLang="ko-KR" sz="1400" b="1" dirty="0"/>
              <a:t>, </a:t>
            </a:r>
            <a:r>
              <a:rPr lang="ko-KR" altLang="en-US" sz="1400" b="1" dirty="0" err="1"/>
              <a:t>고객보안카드발급내역</a:t>
            </a:r>
            <a:r>
              <a:rPr lang="ko-KR" altLang="en-US" sz="1400" b="1" dirty="0"/>
              <a:t> </a:t>
            </a:r>
            <a:r>
              <a:rPr lang="ko-KR" altLang="en-US" sz="1400" b="1" dirty="0" err="1"/>
              <a:t>엔터티를</a:t>
            </a:r>
            <a:r>
              <a:rPr lang="ko-KR" altLang="en-US" sz="1400" b="1" dirty="0"/>
              <a:t> 사용하면 성능 문제가 생길 수 있기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때문에 고객보안카드 </a:t>
            </a:r>
            <a:r>
              <a:rPr lang="ko-KR" altLang="en-US" sz="1400" b="1" dirty="0" err="1"/>
              <a:t>엔터티에서</a:t>
            </a:r>
            <a:r>
              <a:rPr lang="ko-KR" altLang="en-US" sz="1400" b="1" dirty="0"/>
              <a:t> 유효한 보안카드만 관리한다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게다가 거래할 때 필요한 속성만을 사용한다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즉 </a:t>
            </a:r>
            <a:r>
              <a:rPr lang="ko-KR" altLang="en-US" sz="1400" b="1" dirty="0" err="1"/>
              <a:t>고객보안카드발급내역</a:t>
            </a:r>
            <a:r>
              <a:rPr lang="ko-KR" altLang="en-US" sz="1400" b="1" dirty="0"/>
              <a:t> </a:t>
            </a:r>
            <a:r>
              <a:rPr lang="ko-KR" altLang="en-US" sz="1400" b="1" dirty="0" err="1"/>
              <a:t>엔터티의</a:t>
            </a:r>
            <a:r>
              <a:rPr lang="ko-KR" altLang="en-US" sz="1400" b="1" dirty="0"/>
              <a:t> 속성 중에 필요한 일부 속성 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보안카드번호</a:t>
            </a:r>
            <a:r>
              <a:rPr lang="en-US" altLang="ko-KR" sz="1400" b="1" dirty="0"/>
              <a:t>)</a:t>
            </a:r>
            <a:r>
              <a:rPr lang="ko-KR" altLang="en-US" sz="1400" b="1" dirty="0"/>
              <a:t>과 거래 시 필요한 별도의 속성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최종사용일자</a:t>
            </a:r>
            <a:r>
              <a:rPr lang="en-US" altLang="ko-KR" sz="1400" b="1" dirty="0"/>
              <a:t>•</a:t>
            </a:r>
            <a:r>
              <a:rPr lang="ko-KR" altLang="en-US" sz="1400" b="1" dirty="0"/>
              <a:t>사용실명확인번호</a:t>
            </a:r>
            <a:r>
              <a:rPr lang="en-US" altLang="ko-KR" sz="1400" b="1" dirty="0"/>
              <a:t>)</a:t>
            </a:r>
            <a:r>
              <a:rPr lang="ko-KR" altLang="en-US" sz="1400" b="1" dirty="0"/>
              <a:t>을 관리한다</a:t>
            </a:r>
            <a:r>
              <a:rPr lang="en-US" altLang="ko-KR" sz="1400" b="1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비정규화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비정규화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(Denormalization)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1A54752-E5E0-3A6A-7E4C-A7EC6D4E5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834" y="3127619"/>
            <a:ext cx="1609950" cy="145752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0BC37FB-56ED-4BF7-361C-733A4BC76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1118" y="3422522"/>
            <a:ext cx="2105319" cy="1152686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A11F230-4738-4C4E-1706-0353640D3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5523498"/>
      </p:ext>
    </p:extLst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7.11. </a:t>
            </a:r>
            <a:r>
              <a:rPr lang="ko-KR" altLang="en-US" sz="2400" dirty="0">
                <a:latin typeface="+mn-ea"/>
              </a:rPr>
              <a:t>비정규화 방법 </a:t>
            </a:r>
            <a:r>
              <a:rPr lang="en-US" altLang="ko-KR" sz="2400" dirty="0">
                <a:latin typeface="+mn-ea"/>
              </a:rPr>
              <a:t>- </a:t>
            </a:r>
            <a:r>
              <a:rPr lang="ko-KR" altLang="en-US" sz="2400" dirty="0">
                <a:latin typeface="+mn-ea"/>
              </a:rPr>
              <a:t>추출 </a:t>
            </a:r>
            <a:r>
              <a:rPr lang="ko-KR" altLang="en-US" sz="2400" dirty="0" err="1">
                <a:latin typeface="+mn-ea"/>
              </a:rPr>
              <a:t>엔터티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0983914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/>
              <a:t>[</a:t>
            </a:r>
            <a:r>
              <a:rPr lang="ko-KR" altLang="en-US" sz="1400" b="1" dirty="0"/>
              <a:t>그림 </a:t>
            </a:r>
            <a:r>
              <a:rPr lang="en-US" altLang="ko-KR" sz="1400" b="1" dirty="0"/>
              <a:t>7.44] </a:t>
            </a:r>
            <a:r>
              <a:rPr lang="ko-KR" altLang="en-US" sz="1400" b="1" dirty="0" err="1"/>
              <a:t>엔터티와</a:t>
            </a:r>
            <a:r>
              <a:rPr lang="ko-KR" altLang="en-US" sz="1400" b="1" dirty="0"/>
              <a:t> 같이 이미 존재하는 </a:t>
            </a:r>
            <a:r>
              <a:rPr lang="ko-KR" altLang="en-US" sz="1400" b="1" dirty="0" err="1"/>
              <a:t>엔터티에서</a:t>
            </a:r>
            <a:r>
              <a:rPr lang="ko-KR" altLang="en-US" sz="1400" b="1" dirty="0"/>
              <a:t> 현재 유 효 한 인스턴스와 속성만 추출해서 관리하는 </a:t>
            </a:r>
            <a:r>
              <a:rPr lang="ko-KR" altLang="en-US" sz="1400" b="1" dirty="0" err="1"/>
              <a:t>엔터티가</a:t>
            </a:r>
            <a:r>
              <a:rPr lang="ko-KR" altLang="en-US" sz="1400" b="1" dirty="0"/>
              <a:t> 추출 </a:t>
            </a:r>
            <a:r>
              <a:rPr lang="ko-KR" altLang="en-US" sz="1400" b="1" dirty="0" err="1"/>
              <a:t>엔터티다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고객보안카드 </a:t>
            </a:r>
            <a:r>
              <a:rPr lang="ko-KR" altLang="en-US" sz="1400" b="1" dirty="0" err="1"/>
              <a:t>엔터티가</a:t>
            </a:r>
            <a:r>
              <a:rPr lang="ko-KR" altLang="en-US" sz="1400" b="1" dirty="0"/>
              <a:t> 없더라도 고객 보안카드발급내역 </a:t>
            </a:r>
            <a:r>
              <a:rPr lang="ko-KR" altLang="en-US" sz="1400" b="1" dirty="0" err="1"/>
              <a:t>엔터티를</a:t>
            </a:r>
            <a:r>
              <a:rPr lang="ko-KR" altLang="en-US" sz="1400" b="1" dirty="0"/>
              <a:t> 사용하면 거래를 처리할 수 있다</a:t>
            </a:r>
            <a:r>
              <a:rPr lang="en-US" altLang="ko-KR" sz="1400" b="1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고객보안카드 </a:t>
            </a:r>
            <a:r>
              <a:rPr lang="ko-KR" altLang="en-US" sz="1400" b="1" dirty="0" err="1"/>
              <a:t>엔터티를</a:t>
            </a:r>
            <a:r>
              <a:rPr lang="ko-KR" altLang="en-US" sz="1400" b="1" dirty="0"/>
              <a:t> 사용하지 않고 계좌와 같은 마스터 성격의 </a:t>
            </a:r>
            <a:r>
              <a:rPr lang="ko-KR" altLang="en-US" sz="1400" b="1" dirty="0" err="1"/>
              <a:t>엔터티에서</a:t>
            </a:r>
            <a:r>
              <a:rPr lang="ko-KR" altLang="en-US" sz="1400" b="1" dirty="0"/>
              <a:t> 관리하는 방법도 있다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일반적으로 각종 추출 성격의 속성을 원장이나 마스터 성격의 </a:t>
            </a:r>
            <a:r>
              <a:rPr lang="ko-KR" altLang="en-US" sz="1400" b="1" dirty="0" err="1"/>
              <a:t>엔터티에서</a:t>
            </a:r>
            <a:r>
              <a:rPr lang="ko-KR" altLang="en-US" sz="1400" b="1" dirty="0"/>
              <a:t> 관리하기 때문에 해당 </a:t>
            </a:r>
            <a:r>
              <a:rPr lang="ko-KR" altLang="en-US" sz="1400" b="1" dirty="0" err="1"/>
              <a:t>엔터티의</a:t>
            </a:r>
            <a:r>
              <a:rPr lang="ko-KR" altLang="en-US" sz="1400" b="1" dirty="0"/>
              <a:t> 속성은 상당히 많아진다</a:t>
            </a:r>
            <a:r>
              <a:rPr lang="en-US" altLang="ko-KR" sz="1400" b="1" dirty="0"/>
              <a:t>. [</a:t>
            </a:r>
            <a:r>
              <a:rPr lang="ko-KR" altLang="en-US" sz="1400" b="1" dirty="0"/>
              <a:t>그림 </a:t>
            </a:r>
            <a:r>
              <a:rPr lang="en-US" altLang="ko-KR" sz="1400" b="1" dirty="0"/>
              <a:t>7.45] </a:t>
            </a:r>
            <a:r>
              <a:rPr lang="ko-KR" altLang="en-US" sz="1400" b="1" dirty="0"/>
              <a:t>외국인고객 </a:t>
            </a:r>
            <a:r>
              <a:rPr lang="ko-KR" altLang="en-US" sz="1400" b="1" dirty="0" err="1"/>
              <a:t>엔터티도</a:t>
            </a:r>
            <a:r>
              <a:rPr lang="ko-KR" altLang="en-US" sz="1400" b="1" dirty="0"/>
              <a:t> 추출 </a:t>
            </a:r>
            <a:r>
              <a:rPr lang="ko-KR" altLang="en-US" sz="1400" b="1" dirty="0" err="1"/>
              <a:t>엔터티다</a:t>
            </a:r>
            <a:r>
              <a:rPr lang="en-US" altLang="ko-KR" sz="1400" b="1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외국인 고 객 은 고객 </a:t>
            </a:r>
            <a:r>
              <a:rPr lang="ko-KR" altLang="en-US" sz="1400" b="1" dirty="0" err="1"/>
              <a:t>엔터티에</a:t>
            </a:r>
            <a:r>
              <a:rPr lang="ko-KR" altLang="en-US" sz="1400" b="1" dirty="0"/>
              <a:t> 이미 통합돼 있지만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외국인 고객 데이터를 자주 사용하는  애플리케이션 때문에 고객 </a:t>
            </a:r>
            <a:r>
              <a:rPr lang="ko-KR" altLang="en-US" sz="1400" b="1" dirty="0" err="1"/>
              <a:t>엔터티에서</a:t>
            </a:r>
            <a:r>
              <a:rPr lang="ko-KR" altLang="en-US" sz="1400" b="1" dirty="0"/>
              <a:t> 외국인 인스턴스만 추출해서 별도의 </a:t>
            </a:r>
            <a:r>
              <a:rPr lang="ko-KR" altLang="en-US" sz="1400" b="1" dirty="0" err="1"/>
              <a:t>엔터티에서</a:t>
            </a:r>
            <a:r>
              <a:rPr lang="ko-KR" altLang="en-US" sz="1400" b="1" dirty="0"/>
              <a:t> 중복으로 관리한다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속성 또한 자주 사용하는 속성만으로 설계한다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이에 대한 릴레이션은 </a:t>
            </a:r>
            <a:r>
              <a:rPr lang="en-US" altLang="ko-KR" sz="1400" b="1" dirty="0"/>
              <a:t>[</a:t>
            </a:r>
            <a:r>
              <a:rPr lang="ko-KR" altLang="en-US" sz="1400" b="1" dirty="0"/>
              <a:t>그림 </a:t>
            </a:r>
            <a:r>
              <a:rPr lang="en-US" altLang="ko-KR" sz="1400" b="1" dirty="0"/>
              <a:t>7.46]</a:t>
            </a:r>
            <a:r>
              <a:rPr lang="ko-KR" altLang="en-US" sz="1400" b="1" dirty="0"/>
              <a:t>과 같다</a:t>
            </a:r>
            <a:r>
              <a:rPr lang="en-US" altLang="ko-KR" sz="1400" b="1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비정규화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비정규화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(Denormalization)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3BFA623-44AA-2E85-F3C7-C3EA03940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180" y="3310487"/>
            <a:ext cx="2534004" cy="12479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CF5846B-BA78-9BBD-8FC1-FAFA0D1EE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929" y="2980279"/>
            <a:ext cx="3581900" cy="215295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09FDF51-6505-D6A2-0D1C-A997993D3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5664211"/>
      </p:ext>
    </p:extLst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7.12. </a:t>
            </a:r>
            <a:r>
              <a:rPr lang="ko-KR" altLang="en-US" sz="2400" dirty="0">
                <a:latin typeface="+mn-ea"/>
              </a:rPr>
              <a:t>비정규화 방법 </a:t>
            </a:r>
            <a:r>
              <a:rPr lang="en-US" altLang="ko-KR" sz="2400" dirty="0">
                <a:latin typeface="+mn-ea"/>
              </a:rPr>
              <a:t>- </a:t>
            </a:r>
            <a:r>
              <a:rPr lang="ko-KR" altLang="en-US" sz="2400" dirty="0">
                <a:latin typeface="+mn-ea"/>
              </a:rPr>
              <a:t>반복 속성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098391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b="1" dirty="0"/>
              <a:t>반복 속성을 사용한 </a:t>
            </a:r>
            <a:r>
              <a:rPr lang="ko-KR" altLang="en-US" sz="1200" b="1" dirty="0" err="1"/>
              <a:t>엔터티는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1</a:t>
            </a:r>
            <a:r>
              <a:rPr lang="ko-KR" altLang="en-US" sz="1200" b="1" dirty="0"/>
              <a:t>정규형을 위반한 </a:t>
            </a:r>
            <a:r>
              <a:rPr lang="ko-KR" altLang="en-US" sz="1200" b="1" dirty="0" err="1"/>
              <a:t>엔터티다</a:t>
            </a:r>
            <a:r>
              <a:rPr lang="en-US" altLang="ko-KR" sz="1200" b="1" dirty="0"/>
              <a:t>. </a:t>
            </a:r>
            <a:r>
              <a:rPr lang="ko-KR" altLang="en-US" sz="1200" b="1" dirty="0"/>
              <a:t>따라서 정규화를 검토하는 것이 우선이지만 비정규화를 할 때도 있다</a:t>
            </a:r>
            <a:r>
              <a:rPr lang="en-US" altLang="ko-KR" sz="1200" b="1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b="1" dirty="0"/>
              <a:t>반복 속성을 사용한 비정규형에는 두 가지 종류가 있다</a:t>
            </a:r>
            <a:r>
              <a:rPr lang="en-US" altLang="ko-KR" sz="1200" b="1" dirty="0"/>
              <a:t>. 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200" b="1" dirty="0" err="1"/>
              <a:t>롤업</a:t>
            </a:r>
            <a:r>
              <a:rPr lang="ko-KR" altLang="en-US" sz="1200" b="1" dirty="0"/>
              <a:t> 역정규화가 있고</a:t>
            </a:r>
            <a:r>
              <a:rPr lang="en-US" altLang="ko-KR" sz="1200" b="1" dirty="0"/>
              <a:t>, 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200" b="1" dirty="0"/>
              <a:t>단순한 비정규화가 있다</a:t>
            </a:r>
            <a:r>
              <a:rPr lang="en-US" altLang="ko-KR" sz="1200" b="1" dirty="0"/>
              <a:t>. [</a:t>
            </a:r>
            <a:r>
              <a:rPr lang="ko-KR" altLang="en-US" sz="1200" b="1" dirty="0"/>
              <a:t>그림 </a:t>
            </a:r>
            <a:r>
              <a:rPr lang="en-US" altLang="ko-KR" sz="1200" b="1" dirty="0"/>
              <a:t>7.47] </a:t>
            </a:r>
            <a:r>
              <a:rPr lang="ko-KR" altLang="en-US" sz="1200" b="1" dirty="0"/>
              <a:t>은 </a:t>
            </a:r>
            <a:r>
              <a:rPr lang="ko-KR" altLang="en-US" sz="1200" b="1" dirty="0" err="1"/>
              <a:t>롤업</a:t>
            </a:r>
            <a:r>
              <a:rPr lang="ko-KR" altLang="en-US" sz="1200" b="1" dirty="0"/>
              <a:t> 역정규화를 한 비정규형 모델이다</a:t>
            </a:r>
            <a:r>
              <a:rPr lang="en-US" altLang="ko-KR" sz="1200" b="1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200" b="1" dirty="0"/>
              <a:t>[</a:t>
            </a:r>
            <a:r>
              <a:rPr lang="ko-KR" altLang="en-US" sz="1200" b="1" dirty="0"/>
              <a:t>그림 </a:t>
            </a:r>
            <a:r>
              <a:rPr lang="en-US" altLang="ko-KR" sz="1200" b="1" dirty="0"/>
              <a:t>7.47]</a:t>
            </a:r>
            <a:r>
              <a:rPr lang="ko-KR" altLang="en-US" sz="1200" b="1" dirty="0"/>
              <a:t> 주문 </a:t>
            </a:r>
            <a:r>
              <a:rPr lang="ko-KR" altLang="en-US" sz="1200" b="1" dirty="0" err="1"/>
              <a:t>엔터티는</a:t>
            </a:r>
            <a:r>
              <a:rPr lang="ko-KR" altLang="en-US" sz="1200" b="1" dirty="0"/>
              <a:t> 일대다</a:t>
            </a:r>
            <a:r>
              <a:rPr lang="en-US" altLang="ko-KR" sz="1200" b="1" dirty="0"/>
              <a:t>(1:M) </a:t>
            </a:r>
            <a:r>
              <a:rPr lang="ko-KR" altLang="en-US" sz="1200" b="1" dirty="0"/>
              <a:t>관계의 주문 </a:t>
            </a:r>
            <a:r>
              <a:rPr lang="ko-KR" altLang="en-US" sz="1200" b="1" dirty="0" err="1"/>
              <a:t>엔터티와</a:t>
            </a:r>
            <a:r>
              <a:rPr lang="ko-KR" altLang="en-US" sz="1200" b="1" dirty="0"/>
              <a:t> 주문상품 </a:t>
            </a:r>
            <a:r>
              <a:rPr lang="ko-KR" altLang="en-US" sz="1200" b="1" dirty="0" err="1"/>
              <a:t>엔터티를</a:t>
            </a:r>
            <a:r>
              <a:rPr lang="ko-KR" altLang="en-US" sz="1200" b="1" dirty="0"/>
              <a:t> 합친 </a:t>
            </a:r>
            <a:r>
              <a:rPr lang="ko-KR" altLang="en-US" sz="1200" b="1" dirty="0" err="1"/>
              <a:t>엔터티다</a:t>
            </a:r>
            <a:r>
              <a:rPr lang="en-US" altLang="ko-KR" sz="1200" b="1" dirty="0"/>
              <a:t>. </a:t>
            </a:r>
            <a:r>
              <a:rPr lang="ko-KR" altLang="en-US" sz="1200" b="1" dirty="0"/>
              <a:t>주문상품의 개수가 한정돼 있을 때 사용할 수 있다</a:t>
            </a:r>
            <a:r>
              <a:rPr lang="en-US" altLang="ko-KR" sz="1200" b="1" dirty="0"/>
              <a:t>. </a:t>
            </a:r>
            <a:r>
              <a:rPr lang="ko-KR" altLang="en-US" sz="1200" b="1" dirty="0"/>
              <a:t>이를 단순 반복 속성과 비교할 수 있다</a:t>
            </a:r>
            <a:r>
              <a:rPr lang="en-US" altLang="ko-KR" sz="1200" b="1" dirty="0"/>
              <a:t>. [</a:t>
            </a:r>
            <a:r>
              <a:rPr lang="ko-KR" altLang="en-US" sz="1200" b="1" dirty="0"/>
              <a:t>그림 </a:t>
            </a:r>
            <a:r>
              <a:rPr lang="en-US" altLang="ko-KR" sz="1200" b="1" dirty="0"/>
              <a:t>7.48] </a:t>
            </a:r>
            <a:r>
              <a:rPr lang="ko-KR" altLang="en-US" sz="1200" b="1" dirty="0"/>
              <a:t>고객 </a:t>
            </a:r>
            <a:r>
              <a:rPr lang="ko-KR" altLang="en-US" sz="1200" b="1" dirty="0" err="1"/>
              <a:t>엔터티에</a:t>
            </a:r>
            <a:r>
              <a:rPr lang="ko-KR" altLang="en-US" sz="1200" b="1" dirty="0"/>
              <a:t> 있는 두 개의 이메일 속성은 단순 반복 속성이다</a:t>
            </a:r>
            <a:r>
              <a:rPr lang="en-US" altLang="ko-KR" sz="1200" b="1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b="1" dirty="0"/>
              <a:t>반복 속성을 사용하는 것에 대한 판단은 간단하지 않다</a:t>
            </a:r>
            <a:r>
              <a:rPr lang="en-US" altLang="ko-KR" sz="1200" b="1" dirty="0"/>
              <a:t>. </a:t>
            </a:r>
            <a:r>
              <a:rPr lang="ko-KR" altLang="en-US" sz="1200" b="1" dirty="0"/>
              <a:t>가장 중요한 판단 기준은 반복 개수가 고정돼 있는지 이다</a:t>
            </a:r>
            <a:r>
              <a:rPr lang="en-US" altLang="ko-KR" sz="1200" b="1" dirty="0"/>
              <a:t>. </a:t>
            </a:r>
            <a:r>
              <a:rPr lang="ko-KR" altLang="en-US" sz="1200" b="1" dirty="0"/>
              <a:t>반복 속성의 개수가 고정돼 있지 않다면 확장성을 고려해서 정규화해야 한다</a:t>
            </a:r>
            <a:r>
              <a:rPr lang="en-US" altLang="ko-KR" sz="1200" b="1" dirty="0"/>
              <a:t>. </a:t>
            </a:r>
            <a:r>
              <a:rPr lang="ko-KR" altLang="en-US" sz="1200" b="1" dirty="0"/>
              <a:t>물론 개수가 고정돼 있더라도 반복 개수가 많거나，</a:t>
            </a:r>
            <a:r>
              <a:rPr lang="en-US" altLang="ko-KR" sz="1200" b="1" dirty="0"/>
              <a:t>[</a:t>
            </a:r>
            <a:r>
              <a:rPr lang="ko-KR" altLang="en-US" sz="1200" b="1" dirty="0"/>
              <a:t>그림 </a:t>
            </a:r>
            <a:r>
              <a:rPr lang="en-US" altLang="ko-KR" sz="1200" b="1" dirty="0"/>
              <a:t>7 .47]</a:t>
            </a:r>
            <a:r>
              <a:rPr lang="ko-KR" altLang="en-US" sz="1200" b="1" dirty="0"/>
              <a:t> 모델과 같이 속성 묶음으로 반복된다면 정규화 하는 것이 좋다</a:t>
            </a:r>
            <a:r>
              <a:rPr lang="en-US" altLang="ko-KR" sz="1200" b="1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b="1" dirty="0"/>
              <a:t>반복 속성을 사용해야 하는지를 판단할 수 있는 또 다른 기준은 조회 화면이다</a:t>
            </a:r>
            <a:r>
              <a:rPr lang="en-US" altLang="ko-KR" sz="1200" b="1" dirty="0"/>
              <a:t>. [</a:t>
            </a:r>
            <a:r>
              <a:rPr lang="ko-KR" altLang="en-US" sz="1200" b="1" dirty="0"/>
              <a:t>그림 </a:t>
            </a:r>
            <a:r>
              <a:rPr lang="en-US" altLang="ko-KR" sz="1200" b="1" dirty="0"/>
              <a:t>7.49] </a:t>
            </a:r>
            <a:r>
              <a:rPr lang="ko-KR" altLang="en-US" sz="1200" b="1" dirty="0"/>
              <a:t>모델과 같은 반복 속성을 사용하는 것은 조회 화면과 연관돼 있다</a:t>
            </a:r>
            <a:r>
              <a:rPr lang="en-US" altLang="ko-KR" sz="1200" b="1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비정규화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비정규화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(Denormalization)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951503B-51D5-AC91-843C-50253D834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997" y="2372062"/>
            <a:ext cx="1829055" cy="218152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32A0C12-D11F-F53D-F127-5143D3F33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3719" y="3115115"/>
            <a:ext cx="2010056" cy="143847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42E1F2B-E8D5-9F87-9A3A-D374A7D264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1442" y="2372062"/>
            <a:ext cx="2076740" cy="2172003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51A1C3F-6738-948F-4501-3E0226805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9339334"/>
      </p:ext>
    </p:extLst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7.12. </a:t>
            </a:r>
            <a:r>
              <a:rPr lang="ko-KR" altLang="en-US" sz="2400" dirty="0">
                <a:latin typeface="+mn-ea"/>
              </a:rPr>
              <a:t>비정규화 방법 </a:t>
            </a:r>
            <a:r>
              <a:rPr lang="en-US" altLang="ko-KR" sz="2400" dirty="0">
                <a:latin typeface="+mn-ea"/>
              </a:rPr>
              <a:t>- </a:t>
            </a:r>
            <a:r>
              <a:rPr lang="ko-KR" altLang="en-US" sz="2400" dirty="0">
                <a:latin typeface="+mn-ea"/>
              </a:rPr>
              <a:t>반복 속성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098391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b="1" dirty="0"/>
              <a:t>이 </a:t>
            </a:r>
            <a:r>
              <a:rPr lang="ko-KR" altLang="en-US" sz="1200" b="1" dirty="0" err="1"/>
              <a:t>엔터티에서</a:t>
            </a:r>
            <a:r>
              <a:rPr lang="ko-KR" altLang="en-US" sz="1200" b="1" dirty="0"/>
              <a:t> 판매량 </a:t>
            </a:r>
            <a:r>
              <a:rPr lang="en-US" altLang="ko-KR" sz="1200" b="1" dirty="0"/>
              <a:t>• </a:t>
            </a:r>
            <a:r>
              <a:rPr lang="ko-KR" altLang="en-US" sz="1200" b="1" dirty="0"/>
              <a:t>판매금액 </a:t>
            </a:r>
            <a:r>
              <a:rPr lang="en-US" altLang="ko-KR" sz="1200" b="1" dirty="0"/>
              <a:t>• </a:t>
            </a:r>
            <a:r>
              <a:rPr lang="ko-KR" altLang="en-US" sz="1200" b="1" dirty="0"/>
              <a:t>원가</a:t>
            </a:r>
            <a:r>
              <a:rPr lang="en-US" altLang="ko-KR" sz="1200" b="1" dirty="0"/>
              <a:t> • </a:t>
            </a:r>
            <a:r>
              <a:rPr lang="ko-KR" altLang="en-US" sz="1200" b="1" dirty="0"/>
              <a:t>순익 속성이 </a:t>
            </a:r>
            <a:r>
              <a:rPr lang="en-US" altLang="ko-KR" sz="1200" b="1" dirty="0"/>
              <a:t>12</a:t>
            </a:r>
            <a:r>
              <a:rPr lang="ko-KR" altLang="en-US" sz="1200" b="1" dirty="0"/>
              <a:t>회 반복됐다</a:t>
            </a:r>
            <a:r>
              <a:rPr lang="en-US" altLang="ko-KR" sz="1200" b="1" dirty="0"/>
              <a:t>. </a:t>
            </a:r>
            <a:r>
              <a:rPr lang="ko-KR" altLang="en-US" sz="1200" b="1" dirty="0"/>
              <a:t>반복 개수가 고정돼 있어 확장성을 고려할 필요는 없지만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정규화 대상이다</a:t>
            </a:r>
            <a:r>
              <a:rPr lang="en-US" altLang="ko-KR" sz="1200" b="1" dirty="0"/>
              <a:t>. </a:t>
            </a:r>
            <a:r>
              <a:rPr lang="ko-KR" altLang="en-US" sz="1200" b="1" dirty="0"/>
              <a:t>더군다나 </a:t>
            </a:r>
            <a:r>
              <a:rPr lang="en-US" altLang="ko-KR" sz="1200" b="1" dirty="0"/>
              <a:t>[</a:t>
            </a:r>
            <a:r>
              <a:rPr lang="ko-KR" altLang="en-US" sz="1200" b="1" dirty="0"/>
              <a:t>그림 </a:t>
            </a:r>
            <a:r>
              <a:rPr lang="en-US" altLang="ko-KR" sz="1200" b="1" dirty="0"/>
              <a:t>7.4</a:t>
            </a:r>
            <a:r>
              <a:rPr lang="ko-KR" altLang="en-US" sz="1200" b="1" dirty="0"/>
              <a:t>기 모델과 같이 속성 묶음으로 반복이 발생하는 </a:t>
            </a:r>
            <a:r>
              <a:rPr lang="ko-KR" altLang="en-US" sz="1200" b="1" dirty="0" err="1"/>
              <a:t>롤업</a:t>
            </a:r>
            <a:r>
              <a:rPr lang="ko-KR" altLang="en-US" sz="1200" b="1" dirty="0"/>
              <a:t> 역정규형이다</a:t>
            </a:r>
            <a:r>
              <a:rPr lang="en-US" altLang="ko-KR" sz="1200" b="1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b="1" dirty="0"/>
              <a:t>만약 연간실적 </a:t>
            </a:r>
            <a:r>
              <a:rPr lang="ko-KR" altLang="en-US" sz="1200" b="1" dirty="0" err="1"/>
              <a:t>엔터티를</a:t>
            </a:r>
            <a:r>
              <a:rPr lang="ko-KR" altLang="en-US" sz="1200" b="1" dirty="0"/>
              <a:t> 사용하는 주요 화면이 해당 년 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年</a:t>
            </a:r>
            <a:r>
              <a:rPr lang="en-US" altLang="ko-KR" sz="1200" b="1" dirty="0"/>
              <a:t>)</a:t>
            </a:r>
            <a:r>
              <a:rPr lang="ko-KR" altLang="en-US" sz="1200" b="1" dirty="0"/>
              <a:t>의 전체 월 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月</a:t>
            </a:r>
            <a:r>
              <a:rPr lang="en-US" altLang="ko-KR" sz="1200" b="1" dirty="0"/>
              <a:t>) </a:t>
            </a:r>
            <a:r>
              <a:rPr lang="ko-KR" altLang="en-US" sz="1200" b="1" dirty="0"/>
              <a:t>정보를 한 로우에서 보여주는 형식이라면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즉 </a:t>
            </a:r>
            <a:r>
              <a:rPr lang="en-US" altLang="ko-KR" sz="1200" b="1" dirty="0"/>
              <a:t>[</a:t>
            </a:r>
            <a:r>
              <a:rPr lang="ko-KR" altLang="en-US" sz="1200" b="1" dirty="0"/>
              <a:t>그림 </a:t>
            </a:r>
            <a:r>
              <a:rPr lang="en-US" altLang="ko-KR" sz="1200" b="1" dirty="0"/>
              <a:t>7.5</a:t>
            </a:r>
            <a:r>
              <a:rPr lang="ko-KR" altLang="en-US" sz="1200" b="1" dirty="0"/>
              <a:t>이의 </a:t>
            </a:r>
            <a:r>
              <a:rPr lang="en-US" altLang="ko-KR" sz="1200" b="1" dirty="0"/>
              <a:t>[1-Row] </a:t>
            </a:r>
            <a:r>
              <a:rPr lang="ko-KR" altLang="en-US" sz="1200" b="1" dirty="0"/>
              <a:t>와 같은 형식이라면 </a:t>
            </a:r>
            <a:r>
              <a:rPr lang="ko-KR" altLang="en-US" sz="1200" b="1" dirty="0" err="1"/>
              <a:t>비정규형인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[</a:t>
            </a:r>
            <a:r>
              <a:rPr lang="ko-KR" altLang="en-US" sz="1200" b="1" dirty="0"/>
              <a:t>그림 </a:t>
            </a:r>
            <a:r>
              <a:rPr lang="en-US" altLang="ko-KR" sz="1200" b="1" dirty="0"/>
              <a:t>7.49] </a:t>
            </a:r>
            <a:r>
              <a:rPr lang="ko-KR" altLang="en-US" sz="1200" b="1" dirty="0"/>
              <a:t>모델을 선택하는 것이 좋다</a:t>
            </a:r>
            <a:r>
              <a:rPr lang="en-US" altLang="ko-KR" sz="1200" b="1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b="1" dirty="0"/>
              <a:t>하지만 </a:t>
            </a:r>
            <a:r>
              <a:rPr lang="en-US" altLang="ko-KR" sz="1200" b="1" dirty="0"/>
              <a:t>[1-Row]</a:t>
            </a:r>
            <a:r>
              <a:rPr lang="ko-KR" altLang="en-US" sz="1200" b="1" dirty="0"/>
              <a:t>와 같은 화면이 없거나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중요하게 사용되지 않는다면 반복 속성을 사용한 비정규형을 사용하지 않아야 한다</a:t>
            </a:r>
            <a:r>
              <a:rPr lang="en-US" altLang="ko-KR" sz="1200" b="1" dirty="0"/>
              <a:t>. </a:t>
            </a:r>
            <a:r>
              <a:rPr lang="ko-KR" altLang="en-US" sz="1200" b="1" dirty="0"/>
              <a:t>만약 조회 화면이 </a:t>
            </a:r>
            <a:r>
              <a:rPr lang="en-US" altLang="ko-KR" sz="1200" b="1" dirty="0"/>
              <a:t>[N-Rows]</a:t>
            </a:r>
            <a:r>
              <a:rPr lang="ko-KR" altLang="en-US" sz="1200" b="1" dirty="0"/>
              <a:t>과 같은 형태라면 당연히 정규형을 사용해야 한다</a:t>
            </a:r>
            <a:r>
              <a:rPr lang="en-US" altLang="ko-KR" sz="1200" b="1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b="1" dirty="0"/>
              <a:t>정규형을 </a:t>
            </a:r>
            <a:r>
              <a:rPr lang="en-US" altLang="ko-KR" sz="1200" b="1" dirty="0"/>
              <a:t>[1-Row]</a:t>
            </a:r>
            <a:r>
              <a:rPr lang="ko-KR" altLang="en-US" sz="1200" b="1" dirty="0"/>
              <a:t>와 같이 보이도록 쿼리를 작성하는 것보다 비정규형을 </a:t>
            </a:r>
            <a:r>
              <a:rPr lang="en-US" altLang="ko-KR" sz="1200" b="1" dirty="0"/>
              <a:t>[N-Rows]</a:t>
            </a:r>
            <a:r>
              <a:rPr lang="ko-KR" altLang="en-US" sz="1200" b="1" dirty="0"/>
              <a:t>와 같이 보이도록 쿼리를 작성하는 것이 더욱 어려우므로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화면의 중요도나 빈도가 크게 차이 나지 않는다면 정규형 </a:t>
            </a:r>
            <a:r>
              <a:rPr lang="ko-KR" altLang="en-US" sz="1200" b="1" dirty="0" err="1"/>
              <a:t>엔터티를</a:t>
            </a:r>
            <a:r>
              <a:rPr lang="ko-KR" altLang="en-US" sz="1200" b="1" dirty="0"/>
              <a:t> 사용하는 것이 유리하다</a:t>
            </a:r>
            <a:r>
              <a:rPr lang="en-US" altLang="ko-KR" sz="1200" b="1" dirty="0"/>
              <a:t>. </a:t>
            </a:r>
            <a:r>
              <a:rPr lang="ko-KR" altLang="en-US" sz="1200" b="1" dirty="0"/>
              <a:t>만약 대부분의 조회 화면은 </a:t>
            </a:r>
            <a:r>
              <a:rPr lang="en-US" altLang="ko-KR" sz="1200" b="1" dirty="0"/>
              <a:t>[N-Rows] </a:t>
            </a:r>
            <a:r>
              <a:rPr lang="ko-KR" altLang="en-US" sz="1200" b="1" dirty="0"/>
              <a:t>와 같은데 하나의 화면이 </a:t>
            </a:r>
            <a:r>
              <a:rPr lang="en-US" altLang="ko-KR" sz="1200" b="1" dirty="0"/>
              <a:t>[1-Row] </a:t>
            </a:r>
            <a:r>
              <a:rPr lang="ko-KR" altLang="en-US" sz="1200" b="1" dirty="0"/>
              <a:t>와 같고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그 한 개의 화면 때문에 성능 문제가 발생하면 비정규형을 선택하는 것이 바람직할 것이다</a:t>
            </a:r>
            <a:r>
              <a:rPr lang="en-US" altLang="ko-KR" sz="1200" b="1" dirty="0"/>
              <a:t>. </a:t>
            </a:r>
            <a:r>
              <a:rPr lang="ko-KR" altLang="en-US" sz="1200" b="1" dirty="0"/>
              <a:t>조회 화면이 다양한 형태로 여러 개 존재할 때는 중요도와 빈도에 따라 전략적으로 선택해야 한다</a:t>
            </a:r>
            <a:r>
              <a:rPr lang="en-US" altLang="ko-KR" sz="1200" b="1" dirty="0"/>
              <a:t>. </a:t>
            </a:r>
            <a:r>
              <a:rPr lang="ko-KR" altLang="en-US" sz="1200" b="1" dirty="0"/>
              <a:t>중요한 화면을 기준으로 선택할지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빈번하게 사용하는 화면을 기준으로 선택할지를 판단해야 한다</a:t>
            </a:r>
            <a:r>
              <a:rPr lang="en-US" altLang="ko-KR" sz="1200" b="1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비정규화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비정규화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(Denormalization)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D22E49C-504B-F29A-B1BE-AB2DB5F5C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808" y="2718432"/>
            <a:ext cx="3934374" cy="1838582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48B3BDB-8484-7F7B-B4BD-F1DAD40BE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7658373"/>
      </p:ext>
    </p:extLst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7.13. </a:t>
            </a:r>
            <a:r>
              <a:rPr lang="ko-KR" altLang="en-US" sz="2400" dirty="0">
                <a:latin typeface="+mn-ea"/>
              </a:rPr>
              <a:t>비정규화 방법 </a:t>
            </a:r>
            <a:r>
              <a:rPr lang="en-US" altLang="ko-KR" sz="2400" dirty="0">
                <a:latin typeface="+mn-ea"/>
              </a:rPr>
              <a:t>– </a:t>
            </a:r>
            <a:r>
              <a:rPr lang="ko-KR" altLang="en-US" sz="2400" dirty="0">
                <a:latin typeface="+mn-ea"/>
              </a:rPr>
              <a:t>중복 데이터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8" y="1496173"/>
            <a:ext cx="10983913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b="1" dirty="0"/>
              <a:t>중복 데이터를 사용하는 방법은 크게 두 가지다</a:t>
            </a:r>
            <a:r>
              <a:rPr lang="en-US" altLang="ko-KR" sz="1200" b="1" dirty="0"/>
              <a:t>. </a:t>
            </a:r>
            <a:r>
              <a:rPr lang="ko-KR" altLang="en-US" sz="1200" b="1" dirty="0" err="1"/>
              <a:t>엔터티를</a:t>
            </a:r>
            <a:r>
              <a:rPr lang="ko-KR" altLang="en-US" sz="1200" b="1" dirty="0"/>
              <a:t> 복사한 후 데이터까지 복사해서 중복  데이터를 사용할 수 있으며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모델 구조에는 변함없이 중복 데이터를 사용할 수 있다</a:t>
            </a:r>
            <a:r>
              <a:rPr lang="en-US" altLang="ko-KR" sz="1200" b="1" dirty="0"/>
              <a:t>. </a:t>
            </a:r>
            <a:r>
              <a:rPr lang="ko-KR" altLang="en-US" sz="1200" b="1" dirty="0"/>
              <a:t>전자는 다양한 방법으로 많이 사용하고 있는 방법이다</a:t>
            </a:r>
            <a:r>
              <a:rPr lang="en-US" altLang="ko-KR" sz="1200" b="1" dirty="0"/>
              <a:t>. </a:t>
            </a:r>
            <a:r>
              <a:rPr lang="ko-KR" altLang="en-US" sz="1200" b="1" dirty="0"/>
              <a:t>후자는 모델 구 조 는 달라지는 것이 없지만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데이터를 중복해서 사용하기 때문에 넓은 의미에서 비정규화에 포함된다</a:t>
            </a:r>
            <a:r>
              <a:rPr lang="en-US" altLang="ko-KR" sz="1200" b="1" dirty="0"/>
              <a:t>. [</a:t>
            </a:r>
            <a:r>
              <a:rPr lang="ko-KR" altLang="en-US" sz="1200" b="1" dirty="0"/>
              <a:t>그림 </a:t>
            </a:r>
            <a:r>
              <a:rPr lang="en-US" altLang="ko-KR" sz="1200" b="1" dirty="0"/>
              <a:t>7.51] </a:t>
            </a:r>
            <a:r>
              <a:rPr lang="ko-KR" altLang="en-US" sz="1200" b="1" dirty="0"/>
              <a:t>계좌 </a:t>
            </a:r>
            <a:r>
              <a:rPr lang="ko-KR" altLang="en-US" sz="1200" b="1" dirty="0" err="1"/>
              <a:t>엔터티에서는</a:t>
            </a:r>
            <a:r>
              <a:rPr lang="ko-KR" altLang="en-US" sz="1200" b="1" dirty="0"/>
              <a:t> 현재의 계좌관리사원을 관리하고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계좌관리사원이력 </a:t>
            </a:r>
            <a:r>
              <a:rPr lang="ko-KR" altLang="en-US" sz="1200" b="1" dirty="0" err="1"/>
              <a:t>엔터티에서는</a:t>
            </a:r>
            <a:r>
              <a:rPr lang="ko-KR" altLang="en-US" sz="1200" b="1" dirty="0"/>
              <a:t> 과거의 계좌관리사원을 관리한다</a:t>
            </a:r>
            <a:r>
              <a:rPr lang="en-US" altLang="ko-KR" sz="1200" b="1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200" b="1" dirty="0"/>
              <a:t>만약 현재와 과거의 관리 사원 데이터를 동시에 추 출 하 는 요건이 많다면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조회 효율을 위해 계좌관리사원이력 </a:t>
            </a:r>
            <a:r>
              <a:rPr lang="ko-KR" altLang="en-US" sz="1200" b="1" dirty="0" err="1"/>
              <a:t>엔터티에서</a:t>
            </a:r>
            <a:r>
              <a:rPr lang="ko-KR" altLang="en-US" sz="1200" b="1" dirty="0"/>
              <a:t> 현재 시점의 관리 사원도 관리할 수 있다</a:t>
            </a:r>
            <a:r>
              <a:rPr lang="en-US" altLang="ko-KR" sz="1200" b="1" dirty="0"/>
              <a:t>. </a:t>
            </a:r>
            <a:r>
              <a:rPr lang="ko-KR" altLang="en-US" sz="1200" b="1" dirty="0"/>
              <a:t>그러면 현재 관리 사원은 계좌</a:t>
            </a:r>
            <a:r>
              <a:rPr lang="en-US" altLang="ko-KR" sz="1200" b="1" dirty="0"/>
              <a:t>•</a:t>
            </a:r>
            <a:r>
              <a:rPr lang="ko-KR" altLang="en-US" sz="1200" b="1" dirty="0"/>
              <a:t>계좌관리사원이력 </a:t>
            </a:r>
            <a:r>
              <a:rPr lang="ko-KR" altLang="en-US" sz="1200" b="1" dirty="0" err="1"/>
              <a:t>엔터티에</a:t>
            </a:r>
            <a:r>
              <a:rPr lang="ko-KR" altLang="en-US" sz="1200" b="1" dirty="0"/>
              <a:t> 동시에 존재하게 된다</a:t>
            </a:r>
            <a:r>
              <a:rPr lang="en-US" altLang="ko-KR" sz="1200" b="1" dirty="0"/>
              <a:t>. [</a:t>
            </a:r>
            <a:r>
              <a:rPr lang="ko-KR" altLang="en-US" sz="1200" b="1" dirty="0"/>
              <a:t>그림 </a:t>
            </a:r>
            <a:r>
              <a:rPr lang="en-US" altLang="ko-KR" sz="1200" b="1" dirty="0"/>
              <a:t>7.52] </a:t>
            </a:r>
            <a:r>
              <a:rPr lang="ko-KR" altLang="en-US" sz="1200" b="1" dirty="0"/>
              <a:t>의 </a:t>
            </a:r>
            <a:r>
              <a:rPr lang="en-US" altLang="ko-KR" sz="1200" b="1" dirty="0"/>
              <a:t>[</a:t>
            </a:r>
            <a:r>
              <a:rPr lang="ko-KR" altLang="en-US" sz="1200" b="1" dirty="0"/>
              <a:t>릴레이션 </a:t>
            </a:r>
            <a:r>
              <a:rPr lang="en-US" altLang="ko-KR" sz="1200" b="1" dirty="0"/>
              <a:t>1]</a:t>
            </a:r>
            <a:r>
              <a:rPr lang="ko-KR" altLang="en-US" sz="1200" b="1" dirty="0"/>
              <a:t>은 중복 데이터가 존재하지 않을 때의 계좌관리사원이력 </a:t>
            </a:r>
            <a:r>
              <a:rPr lang="ko-KR" altLang="en-US" sz="1200" b="1" dirty="0" err="1"/>
              <a:t>릴레이션이고</a:t>
            </a:r>
            <a:r>
              <a:rPr lang="en-US" altLang="ko-KR" sz="1200" b="1" dirty="0"/>
              <a:t>, [</a:t>
            </a:r>
            <a:r>
              <a:rPr lang="ko-KR" altLang="en-US" sz="1200" b="1" dirty="0"/>
              <a:t>릴레이션</a:t>
            </a:r>
            <a:r>
              <a:rPr lang="en-US" altLang="ko-KR" sz="1200" b="1" dirty="0"/>
              <a:t>2] </a:t>
            </a:r>
            <a:r>
              <a:rPr lang="ko-KR" altLang="en-US" sz="1200" b="1" dirty="0"/>
              <a:t>는 중복 데이터가 존재할 때의 계좌관리사원이력 릴레이션이다</a:t>
            </a:r>
            <a:r>
              <a:rPr lang="en-US" altLang="ko-KR" sz="1200" b="1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비정규화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비정규화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(Denormalization)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4F74EA3-37BF-4D42-1971-05BE2A569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242" y="3649533"/>
            <a:ext cx="2819794" cy="109552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AC5F3E7-C74B-2322-4BF9-15F61F162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939" y="2411110"/>
            <a:ext cx="4744112" cy="2333951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7AA0F8-21BB-2BB0-F715-E623A7285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9750026"/>
      </p:ext>
    </p:extLst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8227BB-9091-74DE-8E0A-B38AA43DD2E9}"/>
              </a:ext>
            </a:extLst>
          </p:cNvPr>
          <p:cNvSpPr txBox="1"/>
          <p:nvPr/>
        </p:nvSpPr>
        <p:spPr>
          <a:xfrm>
            <a:off x="506555" y="992702"/>
            <a:ext cx="106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400" b="1"/>
            </a:lvl1pPr>
          </a:lstStyle>
          <a:p>
            <a:r>
              <a:rPr lang="en-US" altLang="ko-KR" sz="2400" dirty="0">
                <a:latin typeface="+mn-ea"/>
              </a:rPr>
              <a:t>7.13. </a:t>
            </a:r>
            <a:r>
              <a:rPr lang="ko-KR" altLang="en-US" sz="2400" dirty="0">
                <a:latin typeface="+mn-ea"/>
              </a:rPr>
              <a:t>비정규화 방법 </a:t>
            </a:r>
            <a:r>
              <a:rPr lang="en-US" altLang="ko-KR" sz="2400" dirty="0">
                <a:latin typeface="+mn-ea"/>
              </a:rPr>
              <a:t>– </a:t>
            </a:r>
            <a:r>
              <a:rPr lang="ko-KR" altLang="en-US" sz="2400" dirty="0">
                <a:latin typeface="+mn-ea"/>
              </a:rPr>
              <a:t>중복 데이터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5D71-9D51-26E6-FBA9-4297F49574A9}"/>
              </a:ext>
            </a:extLst>
          </p:cNvPr>
          <p:cNvSpPr txBox="1"/>
          <p:nvPr/>
        </p:nvSpPr>
        <p:spPr>
          <a:xfrm>
            <a:off x="866909" y="1496173"/>
            <a:ext cx="10983914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1400" b="1" dirty="0"/>
              <a:t>[</a:t>
            </a:r>
            <a:r>
              <a:rPr lang="ko-KR" altLang="en-US" sz="1400" b="1" dirty="0"/>
              <a:t>릴레이션</a:t>
            </a:r>
            <a:r>
              <a:rPr lang="en-US" altLang="ko-KR" sz="1400" b="1" dirty="0"/>
              <a:t>2 ] </a:t>
            </a:r>
            <a:r>
              <a:rPr lang="ko-KR" altLang="en-US" sz="1400" b="1" dirty="0"/>
              <a:t>처럼 과거 데이터만을 관리하는 </a:t>
            </a:r>
            <a:r>
              <a:rPr lang="ko-KR" altLang="en-US" sz="1400" b="1" dirty="0" err="1"/>
              <a:t>엔터티에</a:t>
            </a:r>
            <a:r>
              <a:rPr lang="ko-KR" altLang="en-US" sz="1400" b="1" dirty="0"/>
              <a:t> 현재의 데이터도 중복해서 관리하는 방법은 때에 따라 유용하게 사용된다</a:t>
            </a:r>
            <a:r>
              <a:rPr lang="en-US" altLang="ko-KR" sz="1400" b="1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또 다른 방법인 </a:t>
            </a:r>
            <a:r>
              <a:rPr lang="ko-KR" altLang="en-US" sz="1400" b="1" dirty="0" err="1"/>
              <a:t>엔터티를</a:t>
            </a:r>
            <a:r>
              <a:rPr lang="ko-KR" altLang="en-US" sz="1400" b="1" dirty="0"/>
              <a:t> 복사해서 사용하는 방법은 다양하게 사용된다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원천 </a:t>
            </a:r>
            <a:r>
              <a:rPr lang="ko-KR" altLang="en-US" sz="1400" b="1" dirty="0" err="1"/>
              <a:t>엔터티에서</a:t>
            </a:r>
            <a:r>
              <a:rPr lang="ko-KR" altLang="en-US" sz="1400" b="1" dirty="0"/>
              <a:t> 업무를 처리하기 위한 대상을 뽑아서 저장해 놓을 수도 있고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업무를 잘못 처리했을 때를 대비해서 복구 용으로 데이터를 중복으로 관리할 수도 있다</a:t>
            </a:r>
            <a:r>
              <a:rPr lang="en-US" altLang="ko-KR" sz="1400" b="1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서버가 다를 때 원격 조인을 피하려고 </a:t>
            </a:r>
            <a:r>
              <a:rPr lang="ko-KR" altLang="en-US" sz="1400" b="1" dirty="0" err="1"/>
              <a:t>엔터티를</a:t>
            </a:r>
            <a:r>
              <a:rPr lang="ko-KR" altLang="en-US" sz="1400" b="1" dirty="0"/>
              <a:t> 그대로 복제하여 중복으로 관리할 수도 있다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같은 서버에 존재하더라도 많이 조회되는 </a:t>
            </a:r>
            <a:r>
              <a:rPr lang="ko-KR" altLang="en-US" sz="1400" b="1" dirty="0" err="1"/>
              <a:t>엔터티가</a:t>
            </a:r>
            <a:r>
              <a:rPr lang="ko-KR" altLang="en-US" sz="1400" b="1" dirty="0"/>
              <a:t> 있다면 조회 성능을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향상시키기 위해 </a:t>
            </a:r>
            <a:r>
              <a:rPr lang="ko-KR" altLang="en-US" sz="1400" b="1" dirty="0" err="1"/>
              <a:t>엔터티를</a:t>
            </a:r>
            <a:r>
              <a:rPr lang="ko-KR" altLang="en-US" sz="1400" b="1" dirty="0"/>
              <a:t> 복사해  사용할 수도 있다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전자는 </a:t>
            </a:r>
            <a:r>
              <a:rPr lang="en-US" altLang="ko-KR" sz="1400" b="1" dirty="0"/>
              <a:t>EAI(Enterprise Application Integration) </a:t>
            </a:r>
            <a:r>
              <a:rPr lang="ko-KR" altLang="en-US" sz="1400" b="1" dirty="0"/>
              <a:t>솔루션을 통해 많이 사용하는 방법이며， 후자는 메모리의 대기</a:t>
            </a:r>
            <a:r>
              <a:rPr lang="en-US" altLang="ko-KR" sz="1400" b="1" dirty="0"/>
              <a:t>(Wait) </a:t>
            </a:r>
            <a:r>
              <a:rPr lang="ko-KR" altLang="en-US" sz="1400" b="1" dirty="0"/>
              <a:t>현상 때문에 사용하기는 하지만 조회가 그렇게 많이 발생하는 </a:t>
            </a:r>
            <a:r>
              <a:rPr lang="ko-KR" altLang="en-US" sz="1400" b="1" dirty="0" err="1"/>
              <a:t>엔터티는</a:t>
            </a:r>
            <a:r>
              <a:rPr lang="ko-KR" altLang="en-US" sz="1400" b="1" dirty="0"/>
              <a:t> 흔치 않아 정확한 근거를 기반으로 채택해야 한다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데이터를 그대로 복사해 사용하는 기법은 솔루션 차원에서 검토돼야 할 요소다</a:t>
            </a:r>
            <a:r>
              <a:rPr lang="en-US" altLang="ko-KR" sz="1400" b="1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중복</a:t>
            </a:r>
            <a:r>
              <a:rPr lang="en-US" altLang="ko-KR" sz="1400" b="1" dirty="0"/>
              <a:t>•</a:t>
            </a:r>
            <a:r>
              <a:rPr lang="ko-KR" altLang="en-US" sz="1400" b="1" dirty="0"/>
              <a:t>추출 속성과 마찬가지로 중복 데이터를 적절하게 사용할 수 있는 능력 또한 </a:t>
            </a:r>
            <a:r>
              <a:rPr lang="ko-KR" altLang="en-US" sz="1400" b="1" dirty="0" err="1"/>
              <a:t>모델러가</a:t>
            </a:r>
            <a:r>
              <a:rPr lang="ko-KR" altLang="en-US" sz="1400" b="1" dirty="0"/>
              <a:t> 갖춰야 하는 주요한 능력이다</a:t>
            </a:r>
            <a:r>
              <a:rPr lang="en-US" altLang="ko-KR" sz="1400" b="1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그 밖의 비정규화 방법에는 성능 향상이 최우선인 </a:t>
            </a:r>
            <a:r>
              <a:rPr lang="ko-KR" altLang="en-US" sz="1400" b="1" dirty="0" err="1"/>
              <a:t>엔터티에</a:t>
            </a:r>
            <a:r>
              <a:rPr lang="ko-KR" altLang="en-US" sz="1400" b="1" dirty="0"/>
              <a:t> 대해서 시스템 속성을 삭제하는 것이다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시스템 속성이 많을 경우 </a:t>
            </a:r>
            <a:r>
              <a:rPr lang="en-US" altLang="ko-KR" sz="1400" b="1" dirty="0"/>
              <a:t>10</a:t>
            </a:r>
            <a:r>
              <a:rPr lang="ko-KR" altLang="en-US" sz="1400" b="1" dirty="0"/>
              <a:t>개 가까이 되므로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이 속성만 삭제해도 성능 향상 효과가 있다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그리고 성능 목적에 의해 슈퍼타입 </a:t>
            </a:r>
            <a:r>
              <a:rPr lang="ko-KR" altLang="en-US" sz="1400" b="1" dirty="0" err="1"/>
              <a:t>엔터티의</a:t>
            </a:r>
            <a:r>
              <a:rPr lang="ko-KR" altLang="en-US" sz="1400" b="1" dirty="0"/>
              <a:t> 속성과 서브타입 </a:t>
            </a:r>
            <a:r>
              <a:rPr lang="ko-KR" altLang="en-US" sz="1400" b="1" dirty="0" err="1"/>
              <a:t>엔터티의</a:t>
            </a:r>
            <a:r>
              <a:rPr lang="ko-KR" altLang="en-US" sz="1400" b="1" dirty="0"/>
              <a:t> 속성을 이동하는 것도 비정규화의 일종이다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슈퍼타입 </a:t>
            </a:r>
            <a:r>
              <a:rPr lang="ko-KR" altLang="en-US" sz="1400" b="1" dirty="0" err="1"/>
              <a:t>엔터티의</a:t>
            </a:r>
            <a:r>
              <a:rPr lang="ko-KR" altLang="en-US" sz="1400" b="1" dirty="0"/>
              <a:t> 속성이 자주 사용되지 않으며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슈퍼타입 </a:t>
            </a:r>
            <a:r>
              <a:rPr lang="ko-KR" altLang="en-US" sz="1400" b="1" dirty="0" err="1"/>
              <a:t>엔터티의</a:t>
            </a:r>
            <a:r>
              <a:rPr lang="ko-KR" altLang="en-US" sz="1400" b="1" dirty="0"/>
              <a:t> 속성 개수를 줄일 필요가 있을 때 해당 속성을 서브타입 </a:t>
            </a:r>
            <a:r>
              <a:rPr lang="ko-KR" altLang="en-US" sz="1400" b="1" dirty="0" err="1"/>
              <a:t>엔터티로</a:t>
            </a:r>
            <a:r>
              <a:rPr lang="ko-KR" altLang="en-US" sz="1400" b="1" dirty="0"/>
              <a:t> 이동하고 서브타입 </a:t>
            </a:r>
            <a:r>
              <a:rPr lang="ko-KR" altLang="en-US" sz="1400" b="1" dirty="0" err="1"/>
              <a:t>엔터티의</a:t>
            </a:r>
            <a:r>
              <a:rPr lang="ko-KR" altLang="en-US" sz="1400" b="1" dirty="0"/>
              <a:t> 속성이 자주 사용될 때는 슈퍼타입 </a:t>
            </a:r>
            <a:r>
              <a:rPr lang="ko-KR" altLang="en-US" sz="1400" b="1" dirty="0" err="1"/>
              <a:t>엔터티로</a:t>
            </a:r>
            <a:r>
              <a:rPr lang="ko-KR" altLang="en-US" sz="1400" b="1" dirty="0"/>
              <a:t> 이동시켜 서브타입 </a:t>
            </a:r>
            <a:r>
              <a:rPr lang="ko-KR" altLang="en-US" sz="1400" b="1" dirty="0" err="1"/>
              <a:t>엔터티와</a:t>
            </a:r>
            <a:r>
              <a:rPr lang="ko-KR" altLang="en-US" sz="1400" b="1" dirty="0"/>
              <a:t> 조인이 발생하지 않도록 하는 방법이다</a:t>
            </a:r>
            <a:r>
              <a:rPr lang="en-US" altLang="ko-KR" sz="1400" b="1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비정규화는 성능 향상을 위해 사용하는 방법임을 잊어서는 안 된다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반드시 정규화를 한 후에 반영해야 하며，무분별하게 사용하면 안 된다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적재적소에 사용해야 부작용은 억제하고 효과를 극대화할 수 있다</a:t>
            </a:r>
            <a:r>
              <a:rPr lang="en-US" altLang="ko-KR" sz="1400" b="1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BF2B-1513-9DCA-BE89-0718C74DDCBD}"/>
              </a:ext>
            </a:extLst>
          </p:cNvPr>
          <p:cNvSpPr txBox="1"/>
          <p:nvPr/>
        </p:nvSpPr>
        <p:spPr>
          <a:xfrm>
            <a:off x="866911" y="267133"/>
            <a:ext cx="101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비정규화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Denormalization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BB6D-9D4A-BE27-CA16-09D4C74E8963}"/>
              </a:ext>
            </a:extLst>
          </p:cNvPr>
          <p:cNvSpPr txBox="1"/>
          <p:nvPr/>
        </p:nvSpPr>
        <p:spPr>
          <a:xfrm>
            <a:off x="7128927" y="253481"/>
            <a:ext cx="472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관계형 데이터 모델링 노트</a:t>
            </a:r>
          </a:p>
          <a:p>
            <a:pPr algn="r"/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lang="ko-KR" altLang="en-US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비정규화 </a:t>
            </a:r>
            <a:r>
              <a:rPr lang="en-US" altLang="ko-KR" sz="1600" dirty="0">
                <a:solidFill>
                  <a:schemeClr val="tx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(Denormalization)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D2D3987-7441-CA84-A2F2-48B66B4AF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2907616"/>
      </p:ext>
    </p:extLst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2F59C25-E91C-565E-1DF4-8ECBAF05EA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483" b="1048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2D89CB3-A7F2-5B28-13E3-D42CB8718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D9B4-A085-4D58-9827-DD73C3602634}" type="slidenum">
              <a:rPr lang="ko-KR" altLang="en-US" smtClean="0"/>
              <a:pPr/>
              <a:t>333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2586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16618</TotalTime>
  <Words>43600</Words>
  <Application>Microsoft Office PowerPoint</Application>
  <PresentationFormat>와이드스크린</PresentationFormat>
  <Paragraphs>6271</Paragraphs>
  <Slides>333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333</vt:i4>
      </vt:variant>
    </vt:vector>
  </HeadingPairs>
  <TitlesOfParts>
    <vt:vector size="342" baseType="lpstr">
      <vt:lpstr>ADLaM Display</vt:lpstr>
      <vt:lpstr>-apple-system</vt:lpstr>
      <vt:lpstr>HY헤드라인M</vt:lpstr>
      <vt:lpstr>나눔고딕</vt:lpstr>
      <vt:lpstr>맑은 고딕</vt:lpstr>
      <vt:lpstr>Arial</vt:lpstr>
      <vt:lpstr>Consolas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모델링 실습예제</vt:lpstr>
      <vt:lpstr>PowerPoint 프레젠테이션</vt:lpstr>
      <vt:lpstr>PowerPoint 프레젠테이션</vt:lpstr>
      <vt:lpstr>PowerPoint 프레젠테이션</vt:lpstr>
      <vt:lpstr>함수종속</vt:lpstr>
      <vt:lpstr>엔터티 도출방법 (57페이지)</vt:lpstr>
      <vt:lpstr>함수종속과 페포(Closure)  RDB의 이론적인 개념</vt:lpstr>
      <vt:lpstr>그냥 릴레이션(NFNF, Non First Normal Form, NF2)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종속관계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anakin won</dc:creator>
  <cp:lastModifiedBy>원용준</cp:lastModifiedBy>
  <cp:revision>390</cp:revision>
  <dcterms:created xsi:type="dcterms:W3CDTF">2023-10-20T02:18:31Z</dcterms:created>
  <dcterms:modified xsi:type="dcterms:W3CDTF">2024-06-01T03:37:04Z</dcterms:modified>
</cp:coreProperties>
</file>