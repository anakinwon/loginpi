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904" r:id="rId2"/>
    <p:sldId id="1905" r:id="rId3"/>
    <p:sldId id="1906" r:id="rId4"/>
    <p:sldId id="1907" r:id="rId5"/>
    <p:sldId id="1908" r:id="rId6"/>
    <p:sldId id="1909" r:id="rId7"/>
    <p:sldId id="1910" r:id="rId8"/>
    <p:sldId id="1911" r:id="rId9"/>
  </p:sldIdLst>
  <p:sldSz cx="9906000" cy="6858000" type="A4"/>
  <p:notesSz cx="6669088" cy="9928225"/>
  <p:defaultTextStyle>
    <a:defPPr>
      <a:defRPr lang="en-US"/>
    </a:defPPr>
    <a:lvl1pPr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1pPr>
    <a:lvl2pPr marL="4572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2pPr>
    <a:lvl3pPr marL="9144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3pPr>
    <a:lvl4pPr marL="13716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4pPr>
    <a:lvl5pPr marL="1828800" algn="ctr" rtl="0" eaLnBrk="0" fontAlgn="base" hangingPunct="0">
      <a:lnSpc>
        <a:spcPct val="85000"/>
      </a:lnSpc>
      <a:spcBef>
        <a:spcPct val="50000"/>
      </a:spcBef>
      <a:spcAft>
        <a:spcPct val="0"/>
      </a:spcAft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rgbClr val="000000"/>
        </a:solidFill>
        <a:latin typeface="Arial" charset="0"/>
        <a:ea typeface="돋움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3FEFF"/>
    <a:srgbClr val="BEF8FE"/>
    <a:srgbClr val="FFFFCC"/>
    <a:srgbClr val="FFFF85"/>
    <a:srgbClr val="CCFF66"/>
    <a:srgbClr val="969696"/>
    <a:srgbClr val="C0C0C0"/>
    <a:srgbClr val="E8E8E8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8896" autoAdjust="0"/>
  </p:normalViewPr>
  <p:slideViewPr>
    <p:cSldViewPr snapToGrid="0">
      <p:cViewPr>
        <p:scale>
          <a:sx n="75" d="100"/>
          <a:sy n="75" d="100"/>
        </p:scale>
        <p:origin x="-1579" y="-240"/>
      </p:cViewPr>
      <p:guideLst>
        <p:guide orient="horz" pos="325"/>
        <p:guide orient="horz" pos="4272"/>
        <p:guide orient="horz" pos="1136"/>
        <p:guide pos="5982"/>
        <p:guide pos="221"/>
        <p:guide pos="31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39120"/>
    </p:cViewPr>
  </p:sorterViewPr>
  <p:notesViewPr>
    <p:cSldViewPr snapToGrid="0">
      <p:cViewPr varScale="1">
        <p:scale>
          <a:sx n="54" d="100"/>
          <a:sy n="54" d="100"/>
        </p:scale>
        <p:origin x="-1818" y="-90"/>
      </p:cViewPr>
      <p:guideLst>
        <p:guide orient="horz" pos="3128"/>
        <p:guide pos="2101"/>
      </p:guideLst>
    </p:cSldViewPr>
  </p:notesViewPr>
  <p:gridSpacing cx="60128" cy="6012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fld id="{3EE6C399-C98C-4936-ACAF-31E5223556C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5457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420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47700" y="744538"/>
            <a:ext cx="5376863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l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6575"/>
            <a:ext cx="288925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1" tIns="45380" rIns="90761" bIns="45380" numCol="1" anchor="b" anchorCtr="0" compatLnSpc="1">
            <a:prstTxWarp prst="textNoShape">
              <a:avLst/>
            </a:prstTxWarp>
          </a:bodyPr>
          <a:lstStyle>
            <a:lvl1pPr algn="r" defTabSz="909638" eaLnBrk="1" hangingPunct="1">
              <a:lnSpc>
                <a:spcPct val="100000"/>
              </a:lnSpc>
              <a:spcBef>
                <a:spcPct val="0"/>
              </a:spcBef>
              <a:defRPr kumimoji="0" b="0">
                <a:solidFill>
                  <a:schemeClr val="tx1"/>
                </a:solidFill>
                <a:ea typeface="굴림" charset="-127"/>
              </a:defRPr>
            </a:lvl1pPr>
          </a:lstStyle>
          <a:p>
            <a:pPr>
              <a:defRPr/>
            </a:pPr>
            <a:fld id="{D5541A6A-481C-4701-8C7A-5179998E55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47491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ChangeArrowheads="1"/>
          </p:cNvSpPr>
          <p:nvPr/>
        </p:nvSpPr>
        <p:spPr bwMode="gray">
          <a:xfrm>
            <a:off x="373063" y="3462338"/>
            <a:ext cx="9126537" cy="25400"/>
          </a:xfrm>
          <a:prstGeom prst="rect">
            <a:avLst/>
          </a:prstGeom>
          <a:gradFill rotWithShape="1">
            <a:gsLst>
              <a:gs pos="0">
                <a:srgbClr val="000066"/>
              </a:gs>
              <a:gs pos="100000">
                <a:srgbClr val="9999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54000" tIns="46800" rIns="54000" bIns="46800" anchor="ctr"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2588" y="661988"/>
            <a:ext cx="4483100" cy="24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8088" y="661988"/>
            <a:ext cx="4483100" cy="24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21538" y="203200"/>
            <a:ext cx="2279650" cy="7032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2588" y="203200"/>
            <a:ext cx="6686550" cy="7032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88" y="203200"/>
            <a:ext cx="9118600" cy="27463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2588" y="661988"/>
            <a:ext cx="4483100" cy="2444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8088" y="661988"/>
            <a:ext cx="4483100" cy="2444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588" y="203200"/>
            <a:ext cx="9118600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ko-KR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661988"/>
            <a:ext cx="91186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smtClean="0"/>
              <a:t>마스터 제목</a:t>
            </a:r>
          </a:p>
        </p:txBody>
      </p:sp>
      <p:sp>
        <p:nvSpPr>
          <p:cNvPr id="1056" name="Text Box 32"/>
          <p:cNvSpPr txBox="1">
            <a:spLocks noChangeArrowheads="1"/>
          </p:cNvSpPr>
          <p:nvPr/>
        </p:nvSpPr>
        <p:spPr bwMode="auto">
          <a:xfrm>
            <a:off x="4627563" y="6630988"/>
            <a:ext cx="611187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eaLnBrk="1" hangingPunct="1">
              <a:lnSpc>
                <a:spcPct val="100000"/>
              </a:lnSpc>
              <a:defRPr/>
            </a:pPr>
            <a:fld id="{201C1F96-8BC6-4D03-8EA8-92C51122A982}" type="slidenum">
              <a:rPr kumimoji="0" lang="ko-KR" altLang="en-US" sz="1000" b="0">
                <a:solidFill>
                  <a:schemeClr val="tx1"/>
                </a:solidFill>
                <a:latin typeface="Lucida Sans Unicode" pitchFamily="34" charset="0"/>
                <a:ea typeface="HY그래픽M" pitchFamily="18" charset="-127"/>
              </a:rPr>
              <a:pPr eaLnBrk="1" hangingPunct="1">
                <a:lnSpc>
                  <a:spcPct val="100000"/>
                </a:lnSpc>
                <a:defRPr/>
              </a:pPr>
              <a:t>‹#›</a:t>
            </a:fld>
            <a:endParaRPr kumimoji="0" lang="en-US" altLang="ko-KR" sz="1000" b="0">
              <a:solidFill>
                <a:schemeClr val="tx1"/>
              </a:solidFill>
              <a:latin typeface="Lucida Sans Unicode" pitchFamily="34" charset="0"/>
              <a:ea typeface="HY그래픽M" pitchFamily="18" charset="-127"/>
            </a:endParaRPr>
          </a:p>
        </p:txBody>
      </p:sp>
      <p:sp>
        <p:nvSpPr>
          <p:cNvPr id="1061" name="Rectangle 37"/>
          <p:cNvSpPr>
            <a:spLocks noChangeArrowheads="1"/>
          </p:cNvSpPr>
          <p:nvPr/>
        </p:nvSpPr>
        <p:spPr bwMode="gray">
          <a:xfrm>
            <a:off x="373063" y="566738"/>
            <a:ext cx="9126537" cy="25400"/>
          </a:xfrm>
          <a:prstGeom prst="rect">
            <a:avLst/>
          </a:prstGeom>
          <a:gradFill rotWithShape="1">
            <a:gsLst>
              <a:gs pos="0">
                <a:srgbClr val="000066"/>
              </a:gs>
              <a:gs pos="100000">
                <a:srgbClr val="9999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54000" tIns="46800" rIns="54000" bIns="46800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7956550" y="6659563"/>
            <a:ext cx="1404938" cy="1539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kumimoji="0" lang="ko-KR" altLang="en-US" sz="1000" b="0" dirty="0" err="1" smtClean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위즈덤마인드</a:t>
            </a:r>
            <a:r>
              <a:rPr kumimoji="0" lang="ko-KR" altLang="en-US" sz="1000" b="0" dirty="0" smtClean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주식회사</a:t>
            </a:r>
            <a:endParaRPr kumimoji="0" lang="en-US" altLang="ko-KR" sz="1000" b="0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6pPr>
      <a:lvl7pPr marL="9144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Lucida Sans Unicode" pitchFamily="34" charset="0"/>
          <a:ea typeface="HY그래픽M" pitchFamily="18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</a:t>
            </a:r>
            <a:r>
              <a:rPr lang="ko-KR" altLang="en-US" sz="1800" dirty="0" smtClean="0"/>
              <a:t>규칙 </a:t>
            </a:r>
            <a:r>
              <a:rPr lang="en-US" altLang="ko-KR" sz="1800" dirty="0" smtClean="0"/>
              <a:t>(1/8)</a:t>
            </a:r>
            <a:endParaRPr lang="ko-KR" altLang="en-US" sz="1800" dirty="0" smtClean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92637" y="797244"/>
            <a:ext cx="8822038" cy="12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표준 용어는 최소한 두 개 이상의 표준 단어의 조합으로 사용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(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속성 도메인 등 예외 존재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)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표준 단어와 표준 도메인이 조합돼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수식어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(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표준 단어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)+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도메인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(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표준 도메인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)’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형태로 구성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수식어 자리에는 최소한 한 개 이상의 표준 단어가 사용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분류어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자리에는 한 개의 도메인만 사용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</p:txBody>
      </p:sp>
      <p:sp>
        <p:nvSpPr>
          <p:cNvPr id="2" name="직사각형 1"/>
          <p:cNvSpPr/>
          <p:nvPr/>
        </p:nvSpPr>
        <p:spPr bwMode="auto">
          <a:xfrm>
            <a:off x="912632" y="2662331"/>
            <a:ext cx="1312333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</a:p>
        </p:txBody>
      </p:sp>
      <p:sp>
        <p:nvSpPr>
          <p:cNvPr id="5" name="직사각형 4"/>
          <p:cNvSpPr/>
          <p:nvPr/>
        </p:nvSpPr>
        <p:spPr bwMode="auto">
          <a:xfrm>
            <a:off x="2650925" y="2662331"/>
            <a:ext cx="1329266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대상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4404245" y="2662330"/>
            <a:ext cx="1312317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행</a:t>
            </a:r>
            <a:r>
              <a:rPr lang="ko-KR" altLang="en-US" dirty="0"/>
              <a:t>위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6108478" y="2662329"/>
            <a:ext cx="2205959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도메인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(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기본 도메인 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or </a:t>
            </a:r>
            <a:r>
              <a:rPr lang="ko-KR" altLang="en-US" dirty="0" smtClean="0"/>
              <a:t>속성 도메인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966964"/>
              </p:ext>
            </p:extLst>
          </p:nvPr>
        </p:nvGraphicFramePr>
        <p:xfrm>
          <a:off x="921332" y="4898117"/>
          <a:ext cx="8104987" cy="1627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84"/>
                <a:gridCol w="7061703"/>
              </a:tblGrid>
              <a:tr h="325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구분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설명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주체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주체를 의미하여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’, 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붙여 의미가 통하는 단어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회사 등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대상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대상을 의미하여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’, 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붙여 의미가 통하는 단어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신용카드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계좌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대출 등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행위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자체를 의미하여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붙여 의미가 통하는 단어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주문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매입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대출 등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도메인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 도메인과 속성 도메인을 의미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오른쪽 중괄호 3"/>
          <p:cNvSpPr/>
          <p:nvPr/>
        </p:nvSpPr>
        <p:spPr bwMode="auto">
          <a:xfrm rot="16200000">
            <a:off x="3168449" y="-14110"/>
            <a:ext cx="311152" cy="4803930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35800" y="2026475"/>
            <a:ext cx="138531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수식어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표준 단어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9" name="오른쪽 중괄호 18"/>
          <p:cNvSpPr/>
          <p:nvPr/>
        </p:nvSpPr>
        <p:spPr bwMode="auto">
          <a:xfrm rot="16200000">
            <a:off x="7010577" y="1311327"/>
            <a:ext cx="364064" cy="2205964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9664" y="2012145"/>
            <a:ext cx="153599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분류어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표준 도메인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4027885" y="2848525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750443" y="2823725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253246" y="2819795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77869" y="3380433"/>
            <a:ext cx="71686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4698274" y="3380433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주</a:t>
            </a:r>
            <a:r>
              <a:rPr lang="ko-KR" altLang="en-US" dirty="0"/>
              <a:t>문</a:t>
            </a:r>
            <a:r>
              <a:rPr lang="en-US" altLang="ko-KR" dirty="0" smtClean="0"/>
              <a:t>’</a:t>
            </a:r>
            <a:r>
              <a:rPr lang="ko-KR" altLang="en-US" dirty="0"/>
              <a:t>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62482" y="3375726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금</a:t>
            </a:r>
            <a:r>
              <a:rPr lang="ko-KR" altLang="en-US" dirty="0"/>
              <a:t>액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8182399" y="3351035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mtClean="0"/>
              <a:t>고객주문금액</a:t>
            </a:r>
            <a:endParaRPr lang="ko-KR" alt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7668450" y="3337954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66" name="TextBox 65"/>
          <p:cNvSpPr txBox="1"/>
          <p:nvPr/>
        </p:nvSpPr>
        <p:spPr>
          <a:xfrm>
            <a:off x="4723669" y="3651371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연체</a:t>
            </a:r>
            <a:r>
              <a:rPr lang="en-US" altLang="ko-KR" dirty="0" smtClean="0"/>
              <a:t>’</a:t>
            </a:r>
            <a:r>
              <a:rPr lang="ko-KR" altLang="en-US" dirty="0"/>
              <a:t>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87877" y="3646664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금</a:t>
            </a:r>
            <a:r>
              <a:rPr lang="ko-KR" altLang="en-US" dirty="0"/>
              <a:t>액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8207795" y="3621973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 smtClean="0"/>
              <a:t>대출연체금액</a:t>
            </a:r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7693845" y="3608892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70" name="TextBox 69"/>
          <p:cNvSpPr txBox="1"/>
          <p:nvPr/>
        </p:nvSpPr>
        <p:spPr>
          <a:xfrm>
            <a:off x="2877513" y="3635053"/>
            <a:ext cx="72327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대출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을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4723670" y="3938448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주</a:t>
            </a:r>
            <a:r>
              <a:rPr lang="ko-KR" altLang="en-US" dirty="0"/>
              <a:t>문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687879" y="3933741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번</a:t>
            </a:r>
            <a:r>
              <a:rPr lang="ko-KR" altLang="en-US" dirty="0"/>
              <a:t>호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8249842" y="3909050"/>
            <a:ext cx="78739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 smtClean="0"/>
              <a:t>주문번호</a:t>
            </a:r>
            <a:endParaRPr lang="ko-KR" alt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693845" y="3895969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76" name="Rectangle 3"/>
          <p:cNvSpPr>
            <a:spLocks noChangeArrowheads="1"/>
          </p:cNvSpPr>
          <p:nvPr/>
        </p:nvSpPr>
        <p:spPr bwMode="auto">
          <a:xfrm>
            <a:off x="580300" y="4253672"/>
            <a:ext cx="8745838" cy="62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latin typeface="돋움" pitchFamily="50" charset="-127"/>
              </a:rPr>
              <a:t> 수식어 </a:t>
            </a:r>
            <a:r>
              <a:rPr lang="ko-KR" altLang="en-US" b="0" dirty="0">
                <a:latin typeface="돋움" pitchFamily="50" charset="-127"/>
              </a:rPr>
              <a:t>위치에 해당하는 주체</a:t>
            </a:r>
            <a:r>
              <a:rPr lang="en-US" altLang="ko-KR" b="0" dirty="0">
                <a:latin typeface="돋움" pitchFamily="50" charset="-127"/>
              </a:rPr>
              <a:t>, </a:t>
            </a:r>
            <a:r>
              <a:rPr lang="ko-KR" altLang="en-US" b="0" dirty="0">
                <a:latin typeface="돋움" pitchFamily="50" charset="-127"/>
              </a:rPr>
              <a:t>대상</a:t>
            </a:r>
            <a:r>
              <a:rPr lang="en-US" altLang="ko-KR" b="0" dirty="0">
                <a:latin typeface="돋움" pitchFamily="50" charset="-127"/>
              </a:rPr>
              <a:t>, </a:t>
            </a:r>
            <a:r>
              <a:rPr lang="ko-KR" altLang="en-US" b="0" dirty="0">
                <a:latin typeface="돋움" pitchFamily="50" charset="-127"/>
              </a:rPr>
              <a:t>행위 요소를 사용해서 의미가 통하도록 표준 용어를 정의</a:t>
            </a:r>
            <a:endParaRPr lang="en-US" altLang="ko-KR" b="0" dirty="0"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주체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대상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행위 수식어는 가능한 모두 사용해서 명확하게 정의하는 게 원칙이며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없어도 의미가 통하는 요소는 생략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180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규칙 </a:t>
            </a:r>
            <a:r>
              <a:rPr lang="en-US" altLang="ko-KR" sz="1800" dirty="0" smtClean="0"/>
              <a:t>(2/8)</a:t>
            </a:r>
            <a:endParaRPr lang="ko-KR" altLang="en-US" sz="1800" dirty="0" smtClean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92637" y="797244"/>
            <a:ext cx="8822038" cy="406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 주체</a:t>
            </a: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대상</a:t>
            </a: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행위 요소 앞에는 다시 수식어를 사용할 수 있음</a:t>
            </a:r>
            <a:endParaRPr lang="en-US" altLang="ko-KR" b="0" dirty="0">
              <a:solidFill>
                <a:schemeClr val="tx1"/>
              </a:solidFill>
              <a:latin typeface="돋움" pitchFamily="50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603836" y="2827122"/>
            <a:ext cx="656166" cy="44873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수식어</a:t>
            </a:r>
          </a:p>
        </p:txBody>
      </p:sp>
      <p:sp>
        <p:nvSpPr>
          <p:cNvPr id="54" name="직사각형 53"/>
          <p:cNvSpPr/>
          <p:nvPr/>
        </p:nvSpPr>
        <p:spPr bwMode="auto">
          <a:xfrm>
            <a:off x="1285402" y="2827122"/>
            <a:ext cx="630767" cy="448733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</a:p>
        </p:txBody>
      </p:sp>
      <p:sp>
        <p:nvSpPr>
          <p:cNvPr id="55" name="직사각형 54"/>
          <p:cNvSpPr/>
          <p:nvPr/>
        </p:nvSpPr>
        <p:spPr bwMode="auto">
          <a:xfrm>
            <a:off x="2216822" y="2827123"/>
            <a:ext cx="656166" cy="44873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수식어</a:t>
            </a:r>
          </a:p>
        </p:txBody>
      </p:sp>
      <p:sp>
        <p:nvSpPr>
          <p:cNvPr id="75" name="직사각형 74"/>
          <p:cNvSpPr/>
          <p:nvPr/>
        </p:nvSpPr>
        <p:spPr bwMode="auto">
          <a:xfrm>
            <a:off x="2898388" y="2827123"/>
            <a:ext cx="630767" cy="448733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</a:p>
        </p:txBody>
      </p:sp>
      <p:sp>
        <p:nvSpPr>
          <p:cNvPr id="76" name="직사각형 75"/>
          <p:cNvSpPr/>
          <p:nvPr/>
        </p:nvSpPr>
        <p:spPr bwMode="auto">
          <a:xfrm>
            <a:off x="3851594" y="2827123"/>
            <a:ext cx="656166" cy="44873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수식어</a:t>
            </a:r>
          </a:p>
        </p:txBody>
      </p:sp>
      <p:sp>
        <p:nvSpPr>
          <p:cNvPr id="77" name="직사각형 76"/>
          <p:cNvSpPr/>
          <p:nvPr/>
        </p:nvSpPr>
        <p:spPr bwMode="auto">
          <a:xfrm>
            <a:off x="4533160" y="2827123"/>
            <a:ext cx="630767" cy="448733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77"/>
          <p:cNvSpPr/>
          <p:nvPr/>
        </p:nvSpPr>
        <p:spPr bwMode="auto">
          <a:xfrm>
            <a:off x="5476256" y="2827123"/>
            <a:ext cx="1070389" cy="44873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수식어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6592366" y="2827123"/>
            <a:ext cx="1090955" cy="448733"/>
          </a:xfrm>
          <a:prstGeom prst="rect">
            <a:avLst/>
          </a:prstGeom>
          <a:solidFill>
            <a:srgbClr val="92D050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도메인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51336" y="3467445"/>
            <a:ext cx="5790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26585" y="3450908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9503" y="3450143"/>
            <a:ext cx="1415772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개인고객주문금액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51336" y="3802277"/>
            <a:ext cx="5790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410648" y="3465715"/>
            <a:ext cx="73289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28079" y="3770457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96398" y="3790012"/>
            <a:ext cx="1415772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고객대출연체금액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958590" y="4133852"/>
            <a:ext cx="118173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29772" y="4109546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02232" y="4139261"/>
            <a:ext cx="110799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결제고객번호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169115" y="3813551"/>
            <a:ext cx="1335622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대출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8669" y="3457724"/>
            <a:ext cx="1335622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05294" y="3812906"/>
            <a:ext cx="73289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연체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02114" y="4156207"/>
            <a:ext cx="73289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</a:p>
        </p:txBody>
      </p:sp>
      <p:sp>
        <p:nvSpPr>
          <p:cNvPr id="94" name="직사각형 93"/>
          <p:cNvSpPr/>
          <p:nvPr/>
        </p:nvSpPr>
        <p:spPr bwMode="auto">
          <a:xfrm>
            <a:off x="606153" y="2225024"/>
            <a:ext cx="1312333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주체</a:t>
            </a:r>
          </a:p>
        </p:txBody>
      </p:sp>
      <p:sp>
        <p:nvSpPr>
          <p:cNvPr id="95" name="직사각형 94"/>
          <p:cNvSpPr/>
          <p:nvPr/>
        </p:nvSpPr>
        <p:spPr bwMode="auto">
          <a:xfrm>
            <a:off x="2202206" y="2225024"/>
            <a:ext cx="1329266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</a:p>
        </p:txBody>
      </p:sp>
      <p:sp>
        <p:nvSpPr>
          <p:cNvPr id="96" name="직사각형 95"/>
          <p:cNvSpPr/>
          <p:nvPr/>
        </p:nvSpPr>
        <p:spPr bwMode="auto">
          <a:xfrm>
            <a:off x="3853926" y="2225023"/>
            <a:ext cx="1312317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행위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5487039" y="2225022"/>
            <a:ext cx="2205959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도메인</a:t>
            </a:r>
            <a:endParaRPr kumimoji="1" lang="en-US" altLang="ko-KR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기본 도메인 </a:t>
            </a: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속성 도메인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오른쪽 중괄호 97"/>
          <p:cNvSpPr/>
          <p:nvPr/>
        </p:nvSpPr>
        <p:spPr bwMode="auto">
          <a:xfrm rot="16200000">
            <a:off x="2727754" y="-421489"/>
            <a:ext cx="324000" cy="4548346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309284" y="1391958"/>
            <a:ext cx="142539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수식어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오른쪽 중괄호 99"/>
          <p:cNvSpPr/>
          <p:nvPr/>
        </p:nvSpPr>
        <p:spPr bwMode="auto">
          <a:xfrm rot="16200000">
            <a:off x="6388850" y="749702"/>
            <a:ext cx="324000" cy="2205964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776265" y="1391958"/>
            <a:ext cx="1579279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분류어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 도메인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509130" y="2411218"/>
            <a:ext cx="3690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5140248" y="2386418"/>
            <a:ext cx="3690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866571" y="2382488"/>
            <a:ext cx="3690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B523F975-D6BA-28BD-C47C-1BF6EF4C52EB}"/>
              </a:ext>
            </a:extLst>
          </p:cNvPr>
          <p:cNvSpPr txBox="1"/>
          <p:nvPr/>
        </p:nvSpPr>
        <p:spPr>
          <a:xfrm>
            <a:off x="6603866" y="4474735"/>
            <a:ext cx="5790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C394E5E0-71A4-1A4B-4B91-7538702508CD}"/>
              </a:ext>
            </a:extLst>
          </p:cNvPr>
          <p:cNvSpPr txBox="1"/>
          <p:nvPr/>
        </p:nvSpPr>
        <p:spPr>
          <a:xfrm>
            <a:off x="7453480" y="4421000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13E681D4-AC51-4C45-EC19-40AAF78D68D5}"/>
              </a:ext>
            </a:extLst>
          </p:cNvPr>
          <p:cNvSpPr txBox="1"/>
          <p:nvPr/>
        </p:nvSpPr>
        <p:spPr>
          <a:xfrm>
            <a:off x="7696398" y="4441320"/>
            <a:ext cx="1723549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국내신용카드사용금액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3A4A5C8F-1BE4-FE54-1559-77722B8CD907}"/>
              </a:ext>
            </a:extLst>
          </p:cNvPr>
          <p:cNvSpPr txBox="1"/>
          <p:nvPr/>
        </p:nvSpPr>
        <p:spPr>
          <a:xfrm>
            <a:off x="4458168" y="4431161"/>
            <a:ext cx="7328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3B6D65B2-0A91-B7F5-45E2-158D278D3BDD}"/>
              </a:ext>
            </a:extLst>
          </p:cNvPr>
          <p:cNvSpPr txBox="1"/>
          <p:nvPr/>
        </p:nvSpPr>
        <p:spPr>
          <a:xfrm>
            <a:off x="2196505" y="4443811"/>
            <a:ext cx="164340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신용카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</a:p>
        </p:txBody>
      </p:sp>
    </p:spTree>
    <p:extLst>
      <p:ext uri="{BB962C8B-B14F-4D97-AF65-F5344CB8AC3E}">
        <p14:creationId xmlns:p14="http://schemas.microsoft.com/office/powerpoint/2010/main" val="369115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규칙 </a:t>
            </a:r>
            <a:r>
              <a:rPr lang="en-US" altLang="ko-KR" sz="1800" dirty="0" smtClean="0"/>
              <a:t>(3/8)</a:t>
            </a:r>
            <a:endParaRPr lang="ko-KR" altLang="en-US" sz="1800" dirty="0" smtClean="0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697334"/>
              </p:ext>
            </p:extLst>
          </p:nvPr>
        </p:nvGraphicFramePr>
        <p:xfrm>
          <a:off x="919819" y="2421143"/>
          <a:ext cx="2111689" cy="34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1977"/>
                <a:gridCol w="1089712"/>
              </a:tblGrid>
              <a:tr h="347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직사각형 43"/>
          <p:cNvSpPr/>
          <p:nvPr/>
        </p:nvSpPr>
        <p:spPr bwMode="auto">
          <a:xfrm>
            <a:off x="621423" y="2930371"/>
            <a:ext cx="1226338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</a:p>
        </p:txBody>
      </p:sp>
      <p:sp>
        <p:nvSpPr>
          <p:cNvPr id="45" name="직사각형 44"/>
          <p:cNvSpPr/>
          <p:nvPr/>
        </p:nvSpPr>
        <p:spPr bwMode="auto">
          <a:xfrm>
            <a:off x="1914237" y="2942155"/>
            <a:ext cx="1200132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대상</a:t>
            </a:r>
          </a:p>
        </p:txBody>
      </p:sp>
      <p:sp>
        <p:nvSpPr>
          <p:cNvPr id="46" name="직사각형 45"/>
          <p:cNvSpPr/>
          <p:nvPr/>
        </p:nvSpPr>
        <p:spPr bwMode="auto">
          <a:xfrm>
            <a:off x="4498395" y="2928257"/>
            <a:ext cx="118081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도메인 그룹</a:t>
            </a:r>
          </a:p>
        </p:txBody>
      </p:sp>
      <p:sp>
        <p:nvSpPr>
          <p:cNvPr id="47" name="직사각형 46"/>
          <p:cNvSpPr/>
          <p:nvPr/>
        </p:nvSpPr>
        <p:spPr bwMode="auto">
          <a:xfrm>
            <a:off x="3195049" y="2933688"/>
            <a:ext cx="1214458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행위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6443" y="3663977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일</a:t>
            </a:r>
            <a:r>
              <a:rPr lang="ko-KR" altLang="en-US" dirty="0"/>
              <a:t>시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691023" y="3656570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5971973" y="3655805"/>
            <a:ext cx="13901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고객상품반품일시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4798839" y="4018035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일자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3370481" y="3674935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반</a:t>
            </a:r>
            <a:r>
              <a:rPr lang="ko-KR" altLang="en-US" dirty="0"/>
              <a:t>품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5698002" y="4006031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6155035" y="4005266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대출연체일자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2108603" y="4005297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대</a:t>
            </a:r>
            <a:r>
              <a:rPr lang="ko-KR" altLang="en-US" dirty="0"/>
              <a:t>출</a:t>
            </a:r>
            <a:r>
              <a:rPr lang="en-US" altLang="ko-KR" dirty="0" smtClean="0"/>
              <a:t>’</a:t>
            </a:r>
            <a:r>
              <a:rPr lang="ko-KR" altLang="en-US" dirty="0"/>
              <a:t>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889" y="3672379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3399903" y="4005737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연</a:t>
            </a:r>
            <a:r>
              <a:rPr lang="ko-KR" altLang="en-US" dirty="0"/>
              <a:t>체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798839" y="4348837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내용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698002" y="4336833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6155036" y="4336068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배송요청내용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936283" y="4336099"/>
            <a:ext cx="106792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배송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에 대해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399903" y="4336539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요</a:t>
            </a:r>
            <a:r>
              <a:rPr lang="ko-KR" altLang="en-US" dirty="0"/>
              <a:t>청</a:t>
            </a:r>
            <a:r>
              <a:rPr lang="en-US" altLang="ko-KR" dirty="0" smtClean="0"/>
              <a:t>’</a:t>
            </a:r>
            <a:r>
              <a:rPr lang="ko-KR" altLang="en-US" dirty="0" smtClean="0"/>
              <a:t>한</a:t>
            </a:r>
            <a:endParaRPr lang="ko-KR" altLang="en-US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19303"/>
              </p:ext>
            </p:extLst>
          </p:nvPr>
        </p:nvGraphicFramePr>
        <p:xfrm>
          <a:off x="631636" y="4717648"/>
          <a:ext cx="8104987" cy="1627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84"/>
                <a:gridCol w="7061703"/>
              </a:tblGrid>
              <a:tr h="325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구분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설명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주체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주체를 의미하여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’, 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붙여 의미가 통하는 단어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회사 등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대상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대상을 의미하여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’, 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붙여 의미가 통하는 단어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신용카드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계좌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대출 등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행위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행위의 자체를 의미하여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‘~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붙여 의미가 통하는 단어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주문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거래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매입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대출 등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도메인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 도메인과 속성 도메인을 의미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28009" y="2334867"/>
            <a:ext cx="33534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101865" y="3652820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상</a:t>
            </a:r>
            <a:r>
              <a:rPr lang="ko-KR" altLang="en-US" dirty="0"/>
              <a:t>품</a:t>
            </a:r>
            <a:r>
              <a:rPr lang="en-US" altLang="ko-KR" dirty="0" smtClean="0"/>
              <a:t>’</a:t>
            </a:r>
            <a:r>
              <a:rPr lang="ko-KR" altLang="en-US" dirty="0"/>
              <a:t>을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557055"/>
              </p:ext>
            </p:extLst>
          </p:nvPr>
        </p:nvGraphicFramePr>
        <p:xfrm>
          <a:off x="619409" y="1355796"/>
          <a:ext cx="5432611" cy="6655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481"/>
                <a:gridCol w="1021977"/>
                <a:gridCol w="1084729"/>
                <a:gridCol w="1084244"/>
                <a:gridCol w="1094180"/>
              </a:tblGrid>
              <a:tr h="347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70909" y="1098059"/>
            <a:ext cx="939681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[</a:t>
            </a:r>
            <a:r>
              <a:rPr lang="ko-KR" altLang="en-US" sz="1000" dirty="0" smtClean="0"/>
              <a:t>도메인 그룹</a:t>
            </a:r>
            <a:r>
              <a:rPr lang="en-US" altLang="ko-KR" sz="1000" dirty="0" smtClean="0"/>
              <a:t>]</a:t>
            </a:r>
            <a:endParaRPr lang="ko-KR" altLang="en-US" sz="1000" dirty="0"/>
          </a:p>
        </p:txBody>
      </p:sp>
      <p:sp>
        <p:nvSpPr>
          <p:cNvPr id="39" name="Rectangle 82"/>
          <p:cNvSpPr txBox="1">
            <a:spLocks noChangeArrowheads="1"/>
          </p:cNvSpPr>
          <p:nvPr/>
        </p:nvSpPr>
        <p:spPr bwMode="auto">
          <a:xfrm>
            <a:off x="382588" y="661988"/>
            <a:ext cx="9118600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algn="l" eaLnBrk="1" latinLnBrk="1" hangingPunct="1">
              <a:lnSpc>
                <a:spcPct val="100000"/>
              </a:lnSpc>
              <a:spcBef>
                <a:spcPct val="20000"/>
              </a:spcBef>
            </a:pPr>
            <a:r>
              <a:rPr lang="ko-KR" altLang="en-US" sz="1600" kern="0" dirty="0" smtClean="0">
                <a:solidFill>
                  <a:schemeClr val="tx1"/>
                </a:solidFill>
                <a:latin typeface="+mn-lt"/>
                <a:ea typeface="+mn-ea"/>
              </a:rPr>
              <a:t>도메인 그룹 별 수식어 부분에 대한 명명 방법은 아래와 같다</a:t>
            </a:r>
            <a:r>
              <a:rPr lang="en-US" altLang="ko-KR" sz="1600" kern="0" dirty="0" smtClean="0">
                <a:solidFill>
                  <a:schemeClr val="tx1"/>
                </a:solidFill>
                <a:latin typeface="+mn-lt"/>
                <a:ea typeface="+mn-ea"/>
              </a:rPr>
              <a:t>.</a:t>
            </a:r>
            <a:endParaRPr kumimoji="1" lang="en-US" altLang="ko-KR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99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규칙 </a:t>
            </a:r>
            <a:r>
              <a:rPr lang="en-US" altLang="ko-KR" sz="1800" dirty="0" smtClean="0"/>
              <a:t>(4/8)</a:t>
            </a:r>
            <a:endParaRPr lang="ko-KR" altLang="en-US" sz="1800" dirty="0" smtClean="0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366658"/>
              </p:ext>
            </p:extLst>
          </p:nvPr>
        </p:nvGraphicFramePr>
        <p:xfrm>
          <a:off x="919819" y="1039383"/>
          <a:ext cx="1147481" cy="34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481"/>
              </a:tblGrid>
              <a:tr h="347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28009" y="953107"/>
            <a:ext cx="33534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520581" y="4347948"/>
            <a:ext cx="8904865" cy="645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계산이 필요한 도메인인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금액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과 연관된 표준 용어는 주체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대상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행위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도메인 요소 외에 기간을 의미하는 수식어가 맨 앞에 위치하며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계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산을 의미하는 수식어는 도메인 바로 앞에 위치함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485792"/>
              </p:ext>
            </p:extLst>
          </p:nvPr>
        </p:nvGraphicFramePr>
        <p:xfrm>
          <a:off x="863357" y="5287035"/>
          <a:ext cx="5329764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8430"/>
                <a:gridCol w="3721334"/>
              </a:tblGrid>
              <a:tr h="2462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구분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예제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5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기간 수식어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최근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최종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이후 등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계산 수식어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누계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집계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총 등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Box 4"/>
          <p:cNvSpPr txBox="1">
            <a:spLocks noChangeArrowheads="1"/>
          </p:cNvSpPr>
          <p:nvPr/>
        </p:nvSpPr>
        <p:spPr bwMode="gray">
          <a:xfrm>
            <a:off x="799841" y="4993554"/>
            <a:ext cx="5133509" cy="3139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 algn="l" latinLnBrk="0">
              <a:lnSpc>
                <a:spcPct val="120000"/>
              </a:lnSpc>
              <a:spcBef>
                <a:spcPct val="50000"/>
              </a:spcBef>
              <a:defRPr/>
            </a:pPr>
            <a:r>
              <a:rPr lang="ko-KR" altLang="en-US" b="1" dirty="0" err="1" smtClean="0">
                <a:solidFill>
                  <a:schemeClr val="tx1"/>
                </a:solidFill>
                <a:latin typeface="돋움" panose="020B0600000101010101" pitchFamily="50" charset="-127"/>
              </a:rPr>
              <a:t>ㅁ</a:t>
            </a:r>
            <a:r>
              <a:rPr lang="ko-KR" altLang="en-US" b="1" dirty="0" smtClean="0">
                <a:solidFill>
                  <a:schemeClr val="tx1"/>
                </a:solidFill>
                <a:latin typeface="돋움" panose="020B0600000101010101" pitchFamily="50" charset="-127"/>
              </a:rPr>
              <a:t> 기간</a:t>
            </a:r>
            <a:r>
              <a:rPr lang="en-US" altLang="ko-KR" b="1" dirty="0" smtClean="0">
                <a:solidFill>
                  <a:schemeClr val="tx1"/>
                </a:solidFill>
                <a:latin typeface="돋움" panose="020B0600000101010101" pitchFamily="50" charset="-127"/>
              </a:rPr>
              <a:t>/</a:t>
            </a:r>
            <a:r>
              <a:rPr lang="ko-KR" altLang="en-US" b="1" dirty="0" smtClean="0">
                <a:solidFill>
                  <a:schemeClr val="tx1"/>
                </a:solidFill>
                <a:latin typeface="돋움" panose="020B0600000101010101" pitchFamily="50" charset="-127"/>
              </a:rPr>
              <a:t>계산 수식어</a:t>
            </a:r>
            <a:endParaRPr lang="en-US" altLang="ko-KR" b="1" dirty="0" smtClean="0">
              <a:solidFill>
                <a:schemeClr val="tx1"/>
              </a:solidFill>
              <a:latin typeface="돋움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B523F975-D6BA-28BD-C47C-1BF6EF4C52EB}"/>
              </a:ext>
            </a:extLst>
          </p:cNvPr>
          <p:cNvSpPr txBox="1"/>
          <p:nvPr/>
        </p:nvSpPr>
        <p:spPr>
          <a:xfrm>
            <a:off x="6825783" y="3843902"/>
            <a:ext cx="5790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C394E5E0-71A4-1A4B-4B91-7538702508CD}"/>
              </a:ext>
            </a:extLst>
          </p:cNvPr>
          <p:cNvSpPr txBox="1"/>
          <p:nvPr/>
        </p:nvSpPr>
        <p:spPr>
          <a:xfrm>
            <a:off x="7325890" y="3823582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13E681D4-AC51-4C45-EC19-40AAF78D68D5}"/>
              </a:ext>
            </a:extLst>
          </p:cNvPr>
          <p:cNvSpPr txBox="1"/>
          <p:nvPr/>
        </p:nvSpPr>
        <p:spPr>
          <a:xfrm>
            <a:off x="7589128" y="3823582"/>
            <a:ext cx="1723549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연간고객주문합계금액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3A4A5C8F-1BE4-FE54-1559-77722B8CD907}"/>
              </a:ext>
            </a:extLst>
          </p:cNvPr>
          <p:cNvSpPr txBox="1"/>
          <p:nvPr/>
        </p:nvSpPr>
        <p:spPr>
          <a:xfrm>
            <a:off x="4398085" y="3843902"/>
            <a:ext cx="73289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353BE261-A90A-04D3-4638-57E06C0FDE91}"/>
              </a:ext>
            </a:extLst>
          </p:cNvPr>
          <p:cNvSpPr txBox="1"/>
          <p:nvPr/>
        </p:nvSpPr>
        <p:spPr>
          <a:xfrm>
            <a:off x="1368172" y="3834930"/>
            <a:ext cx="5790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연간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="" xmlns:a16="http://schemas.microsoft.com/office/drawing/2014/main" id="{3B6D65B2-0A91-B7F5-45E2-158D278D3BDD}"/>
              </a:ext>
            </a:extLst>
          </p:cNvPr>
          <p:cNvSpPr txBox="1"/>
          <p:nvPr/>
        </p:nvSpPr>
        <p:spPr>
          <a:xfrm>
            <a:off x="2248452" y="3849576"/>
            <a:ext cx="7328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="" xmlns:a16="http://schemas.microsoft.com/office/drawing/2014/main" id="{02D2A2A2-3745-3845-23DA-9E7F6C818809}"/>
              </a:ext>
            </a:extLst>
          </p:cNvPr>
          <p:cNvSpPr txBox="1"/>
          <p:nvPr/>
        </p:nvSpPr>
        <p:spPr>
          <a:xfrm>
            <a:off x="5812832" y="3843902"/>
            <a:ext cx="57900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직사각형 107"/>
          <p:cNvSpPr/>
          <p:nvPr/>
        </p:nvSpPr>
        <p:spPr bwMode="auto">
          <a:xfrm>
            <a:off x="2126017" y="2003274"/>
            <a:ext cx="840395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</a:p>
        </p:txBody>
      </p:sp>
      <p:sp>
        <p:nvSpPr>
          <p:cNvPr id="109" name="직사각형 108"/>
          <p:cNvSpPr/>
          <p:nvPr/>
        </p:nvSpPr>
        <p:spPr bwMode="auto">
          <a:xfrm>
            <a:off x="3183591" y="2003274"/>
            <a:ext cx="851238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대상</a:t>
            </a:r>
          </a:p>
        </p:txBody>
      </p:sp>
      <p:sp>
        <p:nvSpPr>
          <p:cNvPr id="110" name="직사각형 109"/>
          <p:cNvSpPr/>
          <p:nvPr/>
        </p:nvSpPr>
        <p:spPr bwMode="auto">
          <a:xfrm>
            <a:off x="4266351" y="2003273"/>
            <a:ext cx="840384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행</a:t>
            </a:r>
            <a:r>
              <a:rPr lang="ko-KR" altLang="en-US" dirty="0"/>
              <a:t>위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11" name="직사각형 110"/>
          <p:cNvSpPr/>
          <p:nvPr/>
        </p:nvSpPr>
        <p:spPr bwMode="auto">
          <a:xfrm>
            <a:off x="6864663" y="2003272"/>
            <a:ext cx="888571" cy="558806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도메인</a:t>
            </a:r>
          </a:p>
        </p:txBody>
      </p:sp>
      <p:sp>
        <p:nvSpPr>
          <p:cNvPr id="112" name="오른쪽 중괄호 111"/>
          <p:cNvSpPr/>
          <p:nvPr/>
        </p:nvSpPr>
        <p:spPr bwMode="auto">
          <a:xfrm rot="16200000">
            <a:off x="3453055" y="-1250482"/>
            <a:ext cx="311152" cy="5958559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660465" y="1367418"/>
            <a:ext cx="138531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수식어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표준 단어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14" name="오른쪽 중괄호 113"/>
          <p:cNvSpPr/>
          <p:nvPr/>
        </p:nvSpPr>
        <p:spPr bwMode="auto">
          <a:xfrm rot="16200000">
            <a:off x="7117491" y="1301541"/>
            <a:ext cx="364064" cy="907422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974930" y="1353088"/>
            <a:ext cx="63671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분류어</a:t>
            </a:r>
            <a:endParaRPr lang="ko-KR" alt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3981430" y="213866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587908" y="213418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907831" y="216073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 bwMode="auto">
          <a:xfrm>
            <a:off x="629351" y="2000479"/>
            <a:ext cx="1272413" cy="558806"/>
          </a:xfrm>
          <a:prstGeom prst="rect">
            <a:avLst/>
          </a:prstGeom>
          <a:solidFill>
            <a:schemeClr val="accent1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기간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50964" y="2141327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21" name="직사각형 120"/>
          <p:cNvSpPr/>
          <p:nvPr/>
        </p:nvSpPr>
        <p:spPr bwMode="auto">
          <a:xfrm>
            <a:off x="5363630" y="1993113"/>
            <a:ext cx="1264918" cy="558806"/>
          </a:xfrm>
          <a:prstGeom prst="rect">
            <a:avLst/>
          </a:prstGeom>
          <a:solidFill>
            <a:schemeClr val="accent1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계산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078710" y="2128508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돋움"/>
                <a:ea typeface="돋움"/>
              </a:rPr>
              <a:t>+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 bwMode="auto">
          <a:xfrm>
            <a:off x="610992" y="2603602"/>
            <a:ext cx="656166" cy="44873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수식어</a:t>
            </a:r>
          </a:p>
        </p:txBody>
      </p:sp>
      <p:sp>
        <p:nvSpPr>
          <p:cNvPr id="124" name="직사각형 123"/>
          <p:cNvSpPr/>
          <p:nvPr/>
        </p:nvSpPr>
        <p:spPr bwMode="auto">
          <a:xfrm>
            <a:off x="1292559" y="2603602"/>
            <a:ext cx="609206" cy="448733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="" xmlns:a16="http://schemas.microsoft.com/office/drawing/2014/main" id="{B523F975-D6BA-28BD-C47C-1BF6EF4C52EB}"/>
              </a:ext>
            </a:extLst>
          </p:cNvPr>
          <p:cNvSpPr txBox="1"/>
          <p:nvPr/>
        </p:nvSpPr>
        <p:spPr>
          <a:xfrm>
            <a:off x="6837168" y="3235215"/>
            <a:ext cx="5790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C394E5E0-71A4-1A4B-4B91-7538702508CD}"/>
              </a:ext>
            </a:extLst>
          </p:cNvPr>
          <p:cNvSpPr txBox="1"/>
          <p:nvPr/>
        </p:nvSpPr>
        <p:spPr>
          <a:xfrm>
            <a:off x="7344750" y="3217786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="" xmlns:a16="http://schemas.microsoft.com/office/drawing/2014/main" id="{13E681D4-AC51-4C45-EC19-40AAF78D68D5}"/>
              </a:ext>
            </a:extLst>
          </p:cNvPr>
          <p:cNvSpPr txBox="1"/>
          <p:nvPr/>
        </p:nvSpPr>
        <p:spPr>
          <a:xfrm>
            <a:off x="7607988" y="3238106"/>
            <a:ext cx="19672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개월상품주문총금액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="" xmlns:a16="http://schemas.microsoft.com/office/drawing/2014/main" id="{3A4A5C8F-1BE4-FE54-1559-77722B8CD907}"/>
              </a:ext>
            </a:extLst>
          </p:cNvPr>
          <p:cNvSpPr txBox="1"/>
          <p:nvPr/>
        </p:nvSpPr>
        <p:spPr>
          <a:xfrm>
            <a:off x="4345816" y="3245297"/>
            <a:ext cx="73289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="" xmlns:a16="http://schemas.microsoft.com/office/drawing/2014/main" id="{353BE261-A90A-04D3-4638-57E06C0FDE91}"/>
              </a:ext>
            </a:extLst>
          </p:cNvPr>
          <p:cNvSpPr txBox="1"/>
          <p:nvPr/>
        </p:nvSpPr>
        <p:spPr>
          <a:xfrm>
            <a:off x="665203" y="3237867"/>
            <a:ext cx="57900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="" xmlns:a16="http://schemas.microsoft.com/office/drawing/2014/main" id="{3B6D65B2-0A91-B7F5-45E2-158D278D3BDD}"/>
              </a:ext>
            </a:extLst>
          </p:cNvPr>
          <p:cNvSpPr txBox="1"/>
          <p:nvPr/>
        </p:nvSpPr>
        <p:spPr>
          <a:xfrm>
            <a:off x="3248537" y="3234771"/>
            <a:ext cx="7328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353BE261-A90A-04D3-4638-57E06C0FDE91}"/>
              </a:ext>
            </a:extLst>
          </p:cNvPr>
          <p:cNvSpPr txBox="1"/>
          <p:nvPr/>
        </p:nvSpPr>
        <p:spPr>
          <a:xfrm>
            <a:off x="1313128" y="3249054"/>
            <a:ext cx="66877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‘6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="" xmlns:a16="http://schemas.microsoft.com/office/drawing/2014/main" id="{02D2A2A2-3745-3845-23DA-9E7F6C818809}"/>
              </a:ext>
            </a:extLst>
          </p:cNvPr>
          <p:cNvSpPr txBox="1"/>
          <p:nvPr/>
        </p:nvSpPr>
        <p:spPr>
          <a:xfrm>
            <a:off x="5868680" y="3245375"/>
            <a:ext cx="42511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="" xmlns:a16="http://schemas.microsoft.com/office/drawing/2014/main" id="{B523F975-D6BA-28BD-C47C-1BF6EF4C52EB}"/>
              </a:ext>
            </a:extLst>
          </p:cNvPr>
          <p:cNvSpPr txBox="1"/>
          <p:nvPr/>
        </p:nvSpPr>
        <p:spPr>
          <a:xfrm>
            <a:off x="6816848" y="3509535"/>
            <a:ext cx="57900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C394E5E0-71A4-1A4B-4B91-7538702508CD}"/>
              </a:ext>
            </a:extLst>
          </p:cNvPr>
          <p:cNvSpPr txBox="1"/>
          <p:nvPr/>
        </p:nvSpPr>
        <p:spPr>
          <a:xfrm>
            <a:off x="7324430" y="3492106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="" xmlns:a16="http://schemas.microsoft.com/office/drawing/2014/main" id="{13E681D4-AC51-4C45-EC19-40AAF78D68D5}"/>
              </a:ext>
            </a:extLst>
          </p:cNvPr>
          <p:cNvSpPr txBox="1"/>
          <p:nvPr/>
        </p:nvSpPr>
        <p:spPr>
          <a:xfrm>
            <a:off x="7587668" y="3512426"/>
            <a:ext cx="20313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전월신용카드사용합계금액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="" xmlns:a16="http://schemas.microsoft.com/office/drawing/2014/main" id="{3A4A5C8F-1BE4-FE54-1559-77722B8CD907}"/>
              </a:ext>
            </a:extLst>
          </p:cNvPr>
          <p:cNvSpPr txBox="1"/>
          <p:nvPr/>
        </p:nvSpPr>
        <p:spPr>
          <a:xfrm>
            <a:off x="4355976" y="3519617"/>
            <a:ext cx="7328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="" xmlns:a16="http://schemas.microsoft.com/office/drawing/2014/main" id="{3B6D65B2-0A91-B7F5-45E2-158D278D3BDD}"/>
              </a:ext>
            </a:extLst>
          </p:cNvPr>
          <p:cNvSpPr txBox="1"/>
          <p:nvPr/>
        </p:nvSpPr>
        <p:spPr>
          <a:xfrm>
            <a:off x="3104808" y="3509091"/>
            <a:ext cx="104067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신용카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="" xmlns:a16="http://schemas.microsoft.com/office/drawing/2014/main" id="{353BE261-A90A-04D3-4638-57E06C0FDE91}"/>
              </a:ext>
            </a:extLst>
          </p:cNvPr>
          <p:cNvSpPr txBox="1"/>
          <p:nvPr/>
        </p:nvSpPr>
        <p:spPr>
          <a:xfrm>
            <a:off x="1368172" y="3523374"/>
            <a:ext cx="57900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전월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="" xmlns:a16="http://schemas.microsoft.com/office/drawing/2014/main" id="{02D2A2A2-3745-3845-23DA-9E7F6C818809}"/>
              </a:ext>
            </a:extLst>
          </p:cNvPr>
          <p:cNvSpPr txBox="1"/>
          <p:nvPr/>
        </p:nvSpPr>
        <p:spPr>
          <a:xfrm>
            <a:off x="5801896" y="3519695"/>
            <a:ext cx="57900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합계</a:t>
            </a:r>
            <a:r>
              <a:rPr lang="en-US" altLang="ko-KR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69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규칙 </a:t>
            </a:r>
            <a:r>
              <a:rPr lang="en-US" altLang="ko-KR" sz="1800" dirty="0" smtClean="0"/>
              <a:t>(5/8)</a:t>
            </a:r>
            <a:endParaRPr lang="ko-KR" altLang="en-US" sz="1800" dirty="0" smtClean="0"/>
          </a:p>
        </p:txBody>
      </p:sp>
      <p:sp>
        <p:nvSpPr>
          <p:cNvPr id="44" name="직사각형 43"/>
          <p:cNvSpPr/>
          <p:nvPr/>
        </p:nvSpPr>
        <p:spPr bwMode="auto">
          <a:xfrm>
            <a:off x="613583" y="1576667"/>
            <a:ext cx="1226338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</a:p>
        </p:txBody>
      </p:sp>
      <p:sp>
        <p:nvSpPr>
          <p:cNvPr id="45" name="직사각형 44"/>
          <p:cNvSpPr/>
          <p:nvPr/>
        </p:nvSpPr>
        <p:spPr bwMode="auto">
          <a:xfrm>
            <a:off x="3219632" y="1576667"/>
            <a:ext cx="1200132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대상</a:t>
            </a:r>
          </a:p>
        </p:txBody>
      </p:sp>
      <p:sp>
        <p:nvSpPr>
          <p:cNvPr id="46" name="직사각형 45"/>
          <p:cNvSpPr/>
          <p:nvPr/>
        </p:nvSpPr>
        <p:spPr bwMode="auto">
          <a:xfrm>
            <a:off x="4490555" y="1574553"/>
            <a:ext cx="118081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/>
              <a:t>도메인 그룹</a:t>
            </a:r>
          </a:p>
        </p:txBody>
      </p:sp>
      <p:sp>
        <p:nvSpPr>
          <p:cNvPr id="47" name="직사각형 46"/>
          <p:cNvSpPr/>
          <p:nvPr/>
        </p:nvSpPr>
        <p:spPr bwMode="auto">
          <a:xfrm>
            <a:off x="1922547" y="1567774"/>
            <a:ext cx="1214458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행위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3944" y="2310273"/>
            <a:ext cx="42191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명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83183" y="2302866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27596" y="2302101"/>
            <a:ext cx="93807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주문고객명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90999" y="2664331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번호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097979" y="2300056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주</a:t>
            </a:r>
            <a:r>
              <a:rPr lang="ko-KR" altLang="en-US" dirty="0">
                <a:solidFill>
                  <a:schemeClr val="tx1"/>
                </a:solidFill>
              </a:rPr>
              <a:t>문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690162" y="2652327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968422" y="2651562"/>
            <a:ext cx="13901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고객연체대출번호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3998" y="2630844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대</a:t>
            </a:r>
            <a:r>
              <a:rPr lang="ko-KR" altLang="en-US" dirty="0">
                <a:solidFill>
                  <a:schemeClr val="tx1"/>
                </a:solidFill>
              </a:rPr>
              <a:t>출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8637" y="2630857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고객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127401" y="2630858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연</a:t>
            </a:r>
            <a:r>
              <a:rPr lang="ko-KR" altLang="en-US" dirty="0">
                <a:solidFill>
                  <a:schemeClr val="tx1"/>
                </a:solidFill>
              </a:rPr>
              <a:t>체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66340" y="2995133"/>
            <a:ext cx="42191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율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90162" y="2983129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15152" y="2982364"/>
            <a:ext cx="93807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계약펀드율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13998" y="2970611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펀드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27401" y="2961660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계약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036434"/>
              </p:ext>
            </p:extLst>
          </p:nvPr>
        </p:nvGraphicFramePr>
        <p:xfrm>
          <a:off x="856000" y="1044512"/>
          <a:ext cx="5432611" cy="34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481"/>
                <a:gridCol w="1021977"/>
                <a:gridCol w="1084729"/>
                <a:gridCol w="1084244"/>
                <a:gridCol w="1094180"/>
              </a:tblGrid>
              <a:tr h="347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394407" y="2310272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고객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84266" y="3308900"/>
            <a:ext cx="42191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수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08088" y="3296896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09115" y="3296131"/>
            <a:ext cx="102464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  </a:t>
            </a:r>
            <a:r>
              <a:rPr lang="ko-KR" altLang="en-US" dirty="0" err="1" smtClean="0">
                <a:solidFill>
                  <a:schemeClr val="tx1"/>
                </a:solidFill>
              </a:rPr>
              <a:t>주문상품수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31924" y="3284378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상품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45327" y="3275427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주문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1948708" y="4319612"/>
            <a:ext cx="1377197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 smtClean="0">
                <a:solidFill>
                  <a:srgbClr val="FF0000"/>
                </a:solidFill>
              </a:rPr>
              <a:t>본의미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(~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인지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, </a:t>
            </a:r>
            <a:r>
              <a:rPr lang="en-US" altLang="ko-KR" dirty="0" smtClean="0">
                <a:solidFill>
                  <a:srgbClr val="FF0000"/>
                </a:solidFill>
              </a:rPr>
              <a:t>~</a:t>
            </a:r>
            <a:r>
              <a:rPr lang="ko-KR" altLang="en-US" dirty="0" smtClean="0">
                <a:solidFill>
                  <a:srgbClr val="FF0000"/>
                </a:solidFill>
              </a:rPr>
              <a:t>했는지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3425820" y="4317498"/>
            <a:ext cx="1180810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/>
              <a:t>도메인 </a:t>
            </a:r>
            <a:r>
              <a:rPr lang="ko-KR" altLang="en-US" dirty="0" smtClean="0"/>
              <a:t>그룹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703868" y="5053218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여부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618448" y="5045811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04805" y="5043001"/>
            <a:ext cx="1088760" cy="498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법</a:t>
            </a:r>
            <a:r>
              <a:rPr lang="ko-KR" altLang="en-US" dirty="0" smtClean="0">
                <a:solidFill>
                  <a:schemeClr val="tx1"/>
                </a:solidFill>
              </a:rPr>
              <a:t>인고객여부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계</a:t>
            </a:r>
            <a:r>
              <a:rPr lang="ko-KR" altLang="en-US" dirty="0">
                <a:solidFill>
                  <a:schemeClr val="tx1"/>
                </a:solidFill>
              </a:rPr>
              <a:t>좌</a:t>
            </a:r>
            <a:r>
              <a:rPr lang="ko-KR" altLang="en-US" dirty="0" smtClean="0">
                <a:solidFill>
                  <a:schemeClr val="tx1"/>
                </a:solidFill>
              </a:rPr>
              <a:t>삭제여부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5" name="표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728608"/>
              </p:ext>
            </p:extLst>
          </p:nvPr>
        </p:nvGraphicFramePr>
        <p:xfrm>
          <a:off x="871852" y="3859433"/>
          <a:ext cx="1147481" cy="34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481"/>
              </a:tblGrid>
              <a:tr h="347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2177350" y="5053217"/>
            <a:ext cx="87395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고</a:t>
            </a:r>
            <a:r>
              <a:rPr lang="ko-KR" altLang="en-US" dirty="0">
                <a:solidFill>
                  <a:schemeClr val="tx1"/>
                </a:solidFill>
              </a:rPr>
              <a:t>객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인</a:t>
            </a:r>
            <a:r>
              <a:rPr lang="ko-KR" altLang="en-US" dirty="0">
                <a:solidFill>
                  <a:schemeClr val="tx1"/>
                </a:solidFill>
              </a:rPr>
              <a:t>지</a:t>
            </a:r>
          </a:p>
        </p:txBody>
      </p:sp>
      <p:sp>
        <p:nvSpPr>
          <p:cNvPr id="83" name="Rectangle 3"/>
          <p:cNvSpPr>
            <a:spLocks noChangeArrowheads="1"/>
          </p:cNvSpPr>
          <p:nvPr/>
        </p:nvSpPr>
        <p:spPr bwMode="auto">
          <a:xfrm>
            <a:off x="645092" y="5672871"/>
            <a:ext cx="8617493" cy="62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여부 속성의 경우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＇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여부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분류어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앞에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‘~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인지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‘, ‘~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했는지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＇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를 붙여 의미가 통하면 됨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 </a:t>
            </a:r>
            <a:r>
              <a:rPr lang="ko-KR" altLang="en-US" b="0" dirty="0" err="1" smtClean="0">
                <a:solidFill>
                  <a:schemeClr val="tx1"/>
                </a:solidFill>
                <a:latin typeface="돋움" pitchFamily="50" charset="-127"/>
              </a:rPr>
              <a:t>본의미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앞에는 다수의 수식어 사용 가능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631849" y="4307859"/>
            <a:ext cx="1226338" cy="609600"/>
          </a:xfrm>
          <a:prstGeom prst="rect">
            <a:avLst/>
          </a:prstGeom>
          <a:solidFill>
            <a:srgbClr val="DDDDDD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수식어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637" y="5048094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법</a:t>
            </a:r>
            <a:r>
              <a:rPr lang="ko-KR" altLang="en-US" dirty="0">
                <a:solidFill>
                  <a:schemeClr val="tx1"/>
                </a:solidFill>
              </a:rPr>
              <a:t>인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726845" y="5312313"/>
            <a:ext cx="5725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여부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641425" y="5304906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1"/>
                </a:solidFill>
                <a:latin typeface="돋움"/>
                <a:ea typeface="돋움"/>
              </a:rPr>
              <a:t>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124988" y="5312312"/>
            <a:ext cx="1024639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삭</a:t>
            </a:r>
            <a:r>
              <a:rPr lang="ko-KR" altLang="en-US" dirty="0">
                <a:solidFill>
                  <a:schemeClr val="tx1"/>
                </a:solidFill>
              </a:rPr>
              <a:t>제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 smtClean="0">
                <a:solidFill>
                  <a:schemeClr val="tx1"/>
                </a:solidFill>
              </a:rPr>
              <a:t>했</a:t>
            </a:r>
            <a:r>
              <a:rPr lang="ko-KR" altLang="en-US" dirty="0">
                <a:solidFill>
                  <a:schemeClr val="tx1"/>
                </a:solidFill>
              </a:rPr>
              <a:t>는</a:t>
            </a:r>
            <a:r>
              <a:rPr lang="ko-KR" altLang="en-US" dirty="0" smtClean="0">
                <a:solidFill>
                  <a:schemeClr val="tx1"/>
                </a:solidFill>
              </a:rPr>
              <a:t>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1614" y="5307189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‘</a:t>
            </a:r>
            <a:r>
              <a:rPr lang="ko-KR" altLang="en-US" dirty="0" smtClean="0">
                <a:solidFill>
                  <a:schemeClr val="tx1"/>
                </a:solidFill>
              </a:rPr>
              <a:t>계</a:t>
            </a:r>
            <a:r>
              <a:rPr lang="ko-KR" altLang="en-US" dirty="0">
                <a:solidFill>
                  <a:schemeClr val="tx1"/>
                </a:solidFill>
              </a:rPr>
              <a:t>좌</a:t>
            </a:r>
            <a:r>
              <a:rPr lang="en-US" altLang="ko-KR" dirty="0" smtClean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9903" y="981993"/>
            <a:ext cx="33534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509903" y="3805161"/>
            <a:ext cx="33534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754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규칙 </a:t>
            </a:r>
            <a:r>
              <a:rPr lang="en-US" altLang="ko-KR" sz="1800" dirty="0" smtClean="0"/>
              <a:t>(6/8)</a:t>
            </a:r>
            <a:endParaRPr lang="ko-KR" altLang="en-US" sz="1800" dirty="0" smtClean="0"/>
          </a:p>
        </p:txBody>
      </p:sp>
      <p:sp>
        <p:nvSpPr>
          <p:cNvPr id="28" name="Rectangle 82"/>
          <p:cNvSpPr txBox="1">
            <a:spLocks noChangeArrowheads="1"/>
          </p:cNvSpPr>
          <p:nvPr/>
        </p:nvSpPr>
        <p:spPr bwMode="auto">
          <a:xfrm>
            <a:off x="382588" y="661988"/>
            <a:ext cx="9118600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algn="l" eaLnBrk="1" latinLnBrk="1" hangingPunct="1">
              <a:lnSpc>
                <a:spcPct val="100000"/>
              </a:lnSpc>
              <a:spcBef>
                <a:spcPct val="20000"/>
              </a:spcBef>
            </a:pPr>
            <a:r>
              <a:rPr lang="ko-KR" altLang="en-US" sz="1600" kern="0" dirty="0" smtClean="0">
                <a:solidFill>
                  <a:schemeClr val="tx1"/>
                </a:solidFill>
                <a:latin typeface="+mn-lt"/>
                <a:ea typeface="+mn-ea"/>
              </a:rPr>
              <a:t>도메인 그룹 중 코드 속성에 대한 명명 방법은 아래와 같다</a:t>
            </a:r>
            <a:r>
              <a:rPr lang="en-US" altLang="ko-KR" sz="1600" kern="0" dirty="0" smtClean="0">
                <a:solidFill>
                  <a:schemeClr val="tx1"/>
                </a:solidFill>
                <a:latin typeface="+mn-lt"/>
                <a:ea typeface="+mn-ea"/>
              </a:rPr>
              <a:t>.</a:t>
            </a:r>
            <a:endParaRPr kumimoji="1" lang="en-US" altLang="ko-KR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130381"/>
              </p:ext>
            </p:extLst>
          </p:nvPr>
        </p:nvGraphicFramePr>
        <p:xfrm>
          <a:off x="638609" y="1513352"/>
          <a:ext cx="5432611" cy="6655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481"/>
                <a:gridCol w="1021977"/>
                <a:gridCol w="1084729"/>
                <a:gridCol w="1084244"/>
                <a:gridCol w="1094180"/>
              </a:tblGrid>
              <a:tr h="347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3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90109" y="1255615"/>
            <a:ext cx="939681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[</a:t>
            </a:r>
            <a:r>
              <a:rPr lang="ko-KR" altLang="en-US" sz="1000" dirty="0" smtClean="0"/>
              <a:t>도메인 그룹</a:t>
            </a:r>
            <a:r>
              <a:rPr lang="en-US" altLang="ko-KR" sz="1000" dirty="0" smtClean="0"/>
              <a:t>]</a:t>
            </a:r>
            <a:endParaRPr lang="ko-KR" altLang="en-US" sz="1000" dirty="0"/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520213" y="3028048"/>
            <a:ext cx="8325680" cy="686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>
                <a:latin typeface="돋움" pitchFamily="50" charset="-127"/>
              </a:rPr>
              <a:t> </a:t>
            </a:r>
            <a:r>
              <a:rPr lang="ko-KR" altLang="en-US" b="0" dirty="0" smtClean="0">
                <a:latin typeface="돋움" pitchFamily="50" charset="-127"/>
              </a:rPr>
              <a:t>표준 코드 속성 명은 </a:t>
            </a:r>
            <a:r>
              <a:rPr lang="en-US" altLang="ko-KR" b="0" dirty="0" smtClean="0">
                <a:latin typeface="돋움" pitchFamily="50" charset="-127"/>
              </a:rPr>
              <a:t>‘</a:t>
            </a:r>
            <a:r>
              <a:rPr lang="ko-KR" altLang="en-US" dirty="0" smtClean="0">
                <a:latin typeface="돋움" pitchFamily="50" charset="-127"/>
              </a:rPr>
              <a:t>수식어</a:t>
            </a:r>
            <a:r>
              <a:rPr lang="en-US" altLang="ko-KR" dirty="0" smtClean="0">
                <a:latin typeface="돋움" pitchFamily="50" charset="-127"/>
              </a:rPr>
              <a:t>+</a:t>
            </a:r>
            <a:r>
              <a:rPr lang="ko-KR" altLang="en-US" dirty="0" err="1" smtClean="0">
                <a:latin typeface="돋움" pitchFamily="50" charset="-127"/>
              </a:rPr>
              <a:t>분류</a:t>
            </a:r>
            <a:r>
              <a:rPr lang="ko-KR" altLang="en-US" dirty="0" err="1">
                <a:latin typeface="돋움" pitchFamily="50" charset="-127"/>
              </a:rPr>
              <a:t>어</a:t>
            </a:r>
            <a:r>
              <a:rPr lang="en-US" altLang="ko-KR" b="0" dirty="0" smtClean="0">
                <a:latin typeface="돋움" pitchFamily="50" charset="-127"/>
              </a:rPr>
              <a:t>’ </a:t>
            </a:r>
            <a:r>
              <a:rPr lang="ko-KR" altLang="en-US" b="0" dirty="0" smtClean="0">
                <a:latin typeface="돋움" pitchFamily="50" charset="-127"/>
              </a:rPr>
              <a:t>형식으로 정의하며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err="1" smtClean="0">
                <a:latin typeface="돋움" pitchFamily="50" charset="-127"/>
              </a:rPr>
              <a:t>분류어</a:t>
            </a:r>
            <a:r>
              <a:rPr lang="ko-KR" altLang="en-US" b="0" dirty="0" smtClean="0">
                <a:latin typeface="돋움" pitchFamily="50" charset="-127"/>
              </a:rPr>
              <a:t> 부분은 </a:t>
            </a:r>
            <a:r>
              <a:rPr lang="en-US" altLang="ko-KR" b="0" dirty="0" smtClean="0">
                <a:latin typeface="돋움" pitchFamily="50" charset="-127"/>
              </a:rPr>
              <a:t>‘</a:t>
            </a:r>
            <a:r>
              <a:rPr lang="ko-KR" altLang="en-US" b="0" dirty="0" err="1" smtClean="0">
                <a:latin typeface="돋움" pitchFamily="50" charset="-127"/>
              </a:rPr>
              <a:t>구분자</a:t>
            </a:r>
            <a:r>
              <a:rPr lang="en-US" altLang="ko-KR" b="0" dirty="0" smtClean="0">
                <a:latin typeface="돋움" pitchFamily="50" charset="-127"/>
              </a:rPr>
              <a:t>+</a:t>
            </a:r>
            <a:r>
              <a:rPr lang="ko-KR" altLang="en-US" b="0" dirty="0" smtClean="0">
                <a:latin typeface="돋움" pitchFamily="50" charset="-127"/>
              </a:rPr>
              <a:t>코드</a:t>
            </a:r>
            <a:r>
              <a:rPr lang="en-US" altLang="ko-KR" b="0" dirty="0" smtClean="0">
                <a:latin typeface="돋움" pitchFamily="50" charset="-127"/>
              </a:rPr>
              <a:t>’</a:t>
            </a:r>
            <a:r>
              <a:rPr lang="ko-KR" altLang="en-US" b="0" dirty="0" smtClean="0">
                <a:latin typeface="돋움" pitchFamily="50" charset="-127"/>
              </a:rPr>
              <a:t>로 구성한다</a:t>
            </a:r>
            <a:r>
              <a:rPr lang="en-US" altLang="ko-KR" b="0" dirty="0" smtClean="0">
                <a:latin typeface="돋움" pitchFamily="50" charset="-127"/>
              </a:rPr>
              <a:t>.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latin typeface="돋움" pitchFamily="50" charset="-127"/>
              </a:rPr>
              <a:t> </a:t>
            </a: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수식어의 주체</a:t>
            </a: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대상</a:t>
            </a:r>
            <a:r>
              <a:rPr lang="en-US" altLang="ko-KR" b="0" dirty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돋움" pitchFamily="50" charset="-127"/>
              </a:rPr>
              <a:t>목적 중 하나는 필수로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정의한다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.</a:t>
            </a:r>
            <a:endParaRPr lang="en-US" altLang="ko-KR" b="0" dirty="0" smtClean="0">
              <a:latin typeface="돋움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764446" y="4408657"/>
            <a:ext cx="1312333" cy="599019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의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2144513" y="4408657"/>
            <a:ext cx="1329266" cy="599019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대상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에 대한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3558461" y="4408656"/>
            <a:ext cx="1312317" cy="599019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목적</a:t>
            </a:r>
            <a:endParaRPr lang="en-US" altLang="ko-KR" dirty="0" smtClean="0"/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을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4989312" y="4408655"/>
            <a:ext cx="1033994" cy="599019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구분자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</a:t>
            </a:r>
            <a:r>
              <a:rPr lang="ko-KR" altLang="en-US" dirty="0" smtClean="0"/>
              <a:t>구분한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1" name="오른쪽 중괄호 40"/>
          <p:cNvSpPr/>
          <p:nvPr/>
        </p:nvSpPr>
        <p:spPr bwMode="auto">
          <a:xfrm rot="16200000">
            <a:off x="2662038" y="2036931"/>
            <a:ext cx="311152" cy="4106334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92284" y="3746824"/>
            <a:ext cx="104067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수식어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3" name="오른쪽 중괄호 42"/>
          <p:cNvSpPr/>
          <p:nvPr/>
        </p:nvSpPr>
        <p:spPr bwMode="auto">
          <a:xfrm rot="16200000">
            <a:off x="5791003" y="3096618"/>
            <a:ext cx="364064" cy="1967444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30948" y="3714388"/>
            <a:ext cx="104067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분류어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 bwMode="auto">
          <a:xfrm>
            <a:off x="6106383" y="4408654"/>
            <a:ext cx="850372" cy="599019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코드</a:t>
            </a:r>
          </a:p>
        </p:txBody>
      </p:sp>
      <p:graphicFrame>
        <p:nvGraphicFramePr>
          <p:cNvPr id="90" name="표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589913"/>
              </p:ext>
            </p:extLst>
          </p:nvPr>
        </p:nvGraphicFramePr>
        <p:xfrm>
          <a:off x="897185" y="2539534"/>
          <a:ext cx="1147481" cy="34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481"/>
              </a:tblGrid>
              <a:tr h="347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509903" y="2511950"/>
            <a:ext cx="33534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046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규칙 </a:t>
            </a:r>
            <a:r>
              <a:rPr lang="en-US" altLang="ko-KR" sz="1800" dirty="0" smtClean="0"/>
              <a:t>(7/8)</a:t>
            </a:r>
            <a:endParaRPr lang="ko-KR" altLang="en-US" sz="1800" dirty="0" smtClean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47372" y="755746"/>
            <a:ext cx="8325680" cy="394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>
                <a:latin typeface="돋움" pitchFamily="50" charset="-127"/>
              </a:rPr>
              <a:t> </a:t>
            </a:r>
            <a:r>
              <a:rPr lang="ko-KR" altLang="en-US" b="0" dirty="0" smtClean="0">
                <a:latin typeface="돋움" pitchFamily="50" charset="-127"/>
              </a:rPr>
              <a:t>코드 속성 명은 </a:t>
            </a:r>
            <a:r>
              <a:rPr lang="en-US" altLang="ko-KR" b="0" dirty="0" smtClean="0">
                <a:latin typeface="돋움" pitchFamily="50" charset="-127"/>
              </a:rPr>
              <a:t>‘</a:t>
            </a:r>
            <a:r>
              <a:rPr lang="ko-KR" altLang="en-US" dirty="0" smtClean="0">
                <a:latin typeface="돋움" pitchFamily="50" charset="-127"/>
              </a:rPr>
              <a:t>수식어</a:t>
            </a:r>
            <a:r>
              <a:rPr lang="en-US" altLang="ko-KR" dirty="0" smtClean="0">
                <a:latin typeface="돋움" pitchFamily="50" charset="-127"/>
              </a:rPr>
              <a:t>+</a:t>
            </a:r>
            <a:r>
              <a:rPr lang="ko-KR" altLang="en-US" dirty="0" err="1" smtClean="0">
                <a:latin typeface="돋움" pitchFamily="50" charset="-127"/>
              </a:rPr>
              <a:t>분류어</a:t>
            </a:r>
            <a:r>
              <a:rPr lang="en-US" altLang="ko-KR" b="0" dirty="0" smtClean="0">
                <a:latin typeface="돋움" pitchFamily="50" charset="-127"/>
              </a:rPr>
              <a:t>’ </a:t>
            </a:r>
            <a:r>
              <a:rPr lang="ko-KR" altLang="en-US" b="0" dirty="0" smtClean="0">
                <a:latin typeface="돋움" pitchFamily="50" charset="-127"/>
              </a:rPr>
              <a:t>형식으로 정의하며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err="1" smtClean="0">
                <a:latin typeface="돋움" pitchFamily="50" charset="-127"/>
              </a:rPr>
              <a:t>분류</a:t>
            </a:r>
            <a:r>
              <a:rPr lang="ko-KR" altLang="en-US" b="0" dirty="0" err="1">
                <a:latin typeface="돋움" pitchFamily="50" charset="-127"/>
              </a:rPr>
              <a:t>어</a:t>
            </a:r>
            <a:r>
              <a:rPr lang="ko-KR" altLang="en-US" b="0" dirty="0" smtClean="0">
                <a:latin typeface="돋움" pitchFamily="50" charset="-127"/>
              </a:rPr>
              <a:t> 부분은 </a:t>
            </a:r>
            <a:r>
              <a:rPr lang="en-US" altLang="ko-KR" b="0" dirty="0" smtClean="0">
                <a:latin typeface="돋움" pitchFamily="50" charset="-127"/>
              </a:rPr>
              <a:t>‘</a:t>
            </a:r>
            <a:r>
              <a:rPr lang="ko-KR" altLang="en-US" b="0" dirty="0" err="1" smtClean="0">
                <a:latin typeface="돋움" pitchFamily="50" charset="-127"/>
              </a:rPr>
              <a:t>구분자</a:t>
            </a:r>
            <a:r>
              <a:rPr lang="en-US" altLang="ko-KR" b="0" dirty="0" smtClean="0">
                <a:latin typeface="돋움" pitchFamily="50" charset="-127"/>
              </a:rPr>
              <a:t>+</a:t>
            </a:r>
            <a:r>
              <a:rPr lang="ko-KR" altLang="en-US" b="0" dirty="0" smtClean="0">
                <a:latin typeface="돋움" pitchFamily="50" charset="-127"/>
              </a:rPr>
              <a:t>코드</a:t>
            </a:r>
            <a:r>
              <a:rPr lang="en-US" altLang="ko-KR" b="0" dirty="0" smtClean="0">
                <a:latin typeface="돋움" pitchFamily="50" charset="-127"/>
              </a:rPr>
              <a:t>’</a:t>
            </a:r>
            <a:r>
              <a:rPr lang="ko-KR" altLang="en-US" b="0" dirty="0" smtClean="0">
                <a:latin typeface="돋움" pitchFamily="50" charset="-127"/>
              </a:rPr>
              <a:t>로 구성한다</a:t>
            </a:r>
            <a:r>
              <a:rPr lang="en-US" altLang="ko-KR" b="0" dirty="0" smtClean="0">
                <a:latin typeface="돋움" pitchFamily="50" charset="-127"/>
              </a:rPr>
              <a:t>.</a:t>
            </a:r>
          </a:p>
        </p:txBody>
      </p:sp>
      <p:sp>
        <p:nvSpPr>
          <p:cNvPr id="16" name="오른쪽 중괄호 15"/>
          <p:cNvSpPr/>
          <p:nvPr/>
        </p:nvSpPr>
        <p:spPr bwMode="auto">
          <a:xfrm rot="16200000">
            <a:off x="2950611" y="-813545"/>
            <a:ext cx="263919" cy="4506017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27697" y="1140433"/>
            <a:ext cx="104067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수식어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8" name="오른쪽 중괄호 17"/>
          <p:cNvSpPr/>
          <p:nvPr/>
        </p:nvSpPr>
        <p:spPr bwMode="auto">
          <a:xfrm rot="16200000">
            <a:off x="6555736" y="287256"/>
            <a:ext cx="269692" cy="2310193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9178" y="1115554"/>
            <a:ext cx="104067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분류어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608562" y="3742850"/>
            <a:ext cx="8626248" cy="88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수식어에는 주로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‘~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의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를 나타내는 주체와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‘~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에 대한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을 나타내는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대상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’, ‘~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을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을 나타내는 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‘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목적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으로 구성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수식어를 정하는 방법은 일반 속성과 유사</a:t>
            </a:r>
            <a:endParaRPr lang="en-US" altLang="ko-KR" b="0" dirty="0" smtClean="0">
              <a:solidFill>
                <a:schemeClr val="tx1"/>
              </a:solidFill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latin typeface="돋움" pitchFamily="50" charset="-127"/>
              </a:rPr>
              <a:t> </a:t>
            </a:r>
            <a:r>
              <a:rPr lang="ko-KR" altLang="en-US" b="0" dirty="0" smtClean="0">
                <a:latin typeface="돋움" pitchFamily="50" charset="-127"/>
              </a:rPr>
              <a:t>코드의 의미를 나타내는 수식어는 의미가 통하면 </a:t>
            </a:r>
            <a:r>
              <a:rPr lang="en-US" altLang="ko-KR" b="0" dirty="0" smtClean="0">
                <a:latin typeface="돋움" pitchFamily="50" charset="-127"/>
              </a:rPr>
              <a:t>‘</a:t>
            </a:r>
            <a:r>
              <a:rPr lang="ko-KR" altLang="en-US" b="0" dirty="0" smtClean="0">
                <a:latin typeface="돋움" pitchFamily="50" charset="-127"/>
              </a:rPr>
              <a:t>주체</a:t>
            </a:r>
            <a:r>
              <a:rPr lang="en-US" altLang="ko-KR" b="0" dirty="0" smtClean="0">
                <a:latin typeface="돋움" pitchFamily="50" charset="-127"/>
              </a:rPr>
              <a:t>’</a:t>
            </a:r>
            <a:r>
              <a:rPr lang="ko-KR" altLang="en-US" b="0" dirty="0" smtClean="0">
                <a:latin typeface="돋움" pitchFamily="50" charset="-127"/>
              </a:rPr>
              <a:t>와 </a:t>
            </a:r>
            <a:r>
              <a:rPr lang="en-US" altLang="ko-KR" b="0" dirty="0" smtClean="0">
                <a:latin typeface="돋움" pitchFamily="50" charset="-127"/>
              </a:rPr>
              <a:t>‘</a:t>
            </a:r>
            <a:r>
              <a:rPr lang="ko-KR" altLang="en-US" b="0" dirty="0" smtClean="0">
                <a:latin typeface="돋움" pitchFamily="50" charset="-127"/>
              </a:rPr>
              <a:t>대상</a:t>
            </a:r>
            <a:r>
              <a:rPr lang="en-US" altLang="ko-KR" b="0" dirty="0" smtClean="0">
                <a:latin typeface="돋움" pitchFamily="50" charset="-127"/>
              </a:rPr>
              <a:t>’, ‘</a:t>
            </a:r>
            <a:r>
              <a:rPr lang="ko-KR" altLang="en-US" b="0" dirty="0" smtClean="0">
                <a:latin typeface="돋움" pitchFamily="50" charset="-127"/>
              </a:rPr>
              <a:t>목적</a:t>
            </a:r>
            <a:r>
              <a:rPr lang="en-US" altLang="ko-KR" b="0" dirty="0" smtClean="0">
                <a:latin typeface="돋움" pitchFamily="50" charset="-127"/>
              </a:rPr>
              <a:t>’ </a:t>
            </a:r>
            <a:r>
              <a:rPr lang="ko-KR" altLang="en-US" b="0" dirty="0" smtClean="0">
                <a:latin typeface="돋움" pitchFamily="50" charset="-127"/>
              </a:rPr>
              <a:t>중 일부를 생략할 수 있음</a:t>
            </a:r>
            <a:endParaRPr lang="en-US" altLang="ko-KR" b="0" dirty="0" smtClean="0">
              <a:latin typeface="돋움" pitchFamily="50" charset="-127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627416" y="1596864"/>
            <a:ext cx="1563814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의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2242861" y="1596864"/>
            <a:ext cx="1583992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대상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에 대한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883134" y="1596863"/>
            <a:ext cx="1563795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목적</a:t>
            </a:r>
            <a:endParaRPr lang="en-US" altLang="ko-KR" dirty="0" smtClean="0"/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을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5513150" y="1596862"/>
            <a:ext cx="1232137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구분자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</a:t>
            </a:r>
            <a:r>
              <a:rPr lang="ko-KR" altLang="en-US" dirty="0" smtClean="0"/>
              <a:t>구분한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6829388" y="1596861"/>
            <a:ext cx="1050730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코드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</a:t>
            </a:r>
            <a:r>
              <a:rPr lang="ko-KR" altLang="en-US" dirty="0" smtClean="0"/>
              <a:t>도메인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20780" y="2135111"/>
            <a:ext cx="106792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에 대해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731005" y="2393111"/>
            <a:ext cx="164340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종류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로 구분한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코드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673033" y="2119583"/>
            <a:ext cx="18004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유형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으로 구분한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코드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043326" y="2097013"/>
            <a:ext cx="108876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고객유형코드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725027" y="2102038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8035729" y="2367951"/>
            <a:ext cx="13901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고객등급종류코드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699620" y="2354870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4335706" y="2408311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등</a:t>
            </a:r>
            <a:r>
              <a:rPr lang="ko-KR" altLang="en-US" dirty="0"/>
              <a:t>급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을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8035731" y="2655028"/>
            <a:ext cx="13901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보험상태유형코드</a:t>
            </a:r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699620" y="2641947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2325908" y="2383938"/>
            <a:ext cx="106792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에 대한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746850" y="2640761"/>
            <a:ext cx="164981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유</a:t>
            </a:r>
            <a:r>
              <a:rPr lang="ko-KR" altLang="en-US" dirty="0"/>
              <a:t>형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로 구분한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코드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354756" y="2655961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상</a:t>
            </a:r>
            <a:r>
              <a:rPr lang="ko-KR" altLang="en-US" dirty="0"/>
              <a:t>태</a:t>
            </a:r>
            <a:r>
              <a:rPr lang="en-US" altLang="ko-KR" dirty="0" smtClean="0"/>
              <a:t>’</a:t>
            </a:r>
            <a:r>
              <a:rPr lang="ko-KR" altLang="en-US" dirty="0"/>
              <a:t>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44958" y="2631588"/>
            <a:ext cx="106792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보</a:t>
            </a:r>
            <a:r>
              <a:rPr lang="ko-KR" altLang="en-US" dirty="0"/>
              <a:t>험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에 대한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029427" y="2912203"/>
            <a:ext cx="1691489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고객거래방법종류코드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690095" y="2899122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5737325" y="2897936"/>
            <a:ext cx="164981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종</a:t>
            </a:r>
            <a:r>
              <a:rPr lang="ko-KR" altLang="en-US" dirty="0"/>
              <a:t>류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로 구분한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코드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345231" y="2913136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방</a:t>
            </a:r>
            <a:r>
              <a:rPr lang="ko-KR" altLang="en-US" dirty="0"/>
              <a:t>법</a:t>
            </a:r>
            <a:r>
              <a:rPr lang="en-US" altLang="ko-KR" dirty="0" smtClean="0"/>
              <a:t>’</a:t>
            </a:r>
            <a:r>
              <a:rPr lang="ko-KR" altLang="en-US" dirty="0"/>
              <a:t>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5433" y="2888763"/>
            <a:ext cx="106792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거</a:t>
            </a:r>
            <a:r>
              <a:rPr lang="ko-KR" altLang="en-US" dirty="0"/>
              <a:t>래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에 대한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111885" y="2888763"/>
            <a:ext cx="72327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고</a:t>
            </a:r>
            <a:r>
              <a:rPr lang="ko-KR" altLang="en-US" dirty="0"/>
              <a:t>객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의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026209" y="3169378"/>
            <a:ext cx="1390125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개인법인구분코드</a:t>
            </a:r>
            <a:endParaRPr lang="ko-KR" alt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690095" y="3156297"/>
            <a:ext cx="3609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돋움"/>
                <a:ea typeface="돋움"/>
              </a:rPr>
              <a:t>⇒</a:t>
            </a:r>
            <a:endParaRPr lang="ko-KR" alt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5661984" y="3155111"/>
            <a:ext cx="180049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구</a:t>
            </a:r>
            <a:r>
              <a:rPr lang="ko-KR" altLang="en-US" dirty="0"/>
              <a:t>분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으로 구분한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코드</a:t>
            </a:r>
            <a:r>
              <a:rPr lang="en-US" altLang="ko-KR" dirty="0" smtClean="0"/>
              <a:t>’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2044490" y="3145938"/>
            <a:ext cx="1649811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개인</a:t>
            </a:r>
            <a:r>
              <a:rPr lang="en-US" altLang="ko-KR" dirty="0" smtClean="0"/>
              <a:t>’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법인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에 대해</a:t>
            </a:r>
            <a:endParaRPr lang="ko-KR" altLang="en-US" dirty="0"/>
          </a:p>
        </p:txBody>
      </p:sp>
      <p:sp>
        <p:nvSpPr>
          <p:cNvPr id="59" name="TextBox 23"/>
          <p:cNvSpPr txBox="1">
            <a:spLocks noChangeArrowheads="1"/>
          </p:cNvSpPr>
          <p:nvPr/>
        </p:nvSpPr>
        <p:spPr bwMode="auto">
          <a:xfrm>
            <a:off x="516875" y="3473349"/>
            <a:ext cx="989373" cy="249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ko-KR" altLang="en-US" u="sng" dirty="0" smtClean="0">
                <a:latin typeface="돋움" pitchFamily="50" charset="-127"/>
              </a:rPr>
              <a:t>수식어 영역</a:t>
            </a:r>
            <a:endParaRPr lang="ko-KR" altLang="en-US" u="sng" dirty="0">
              <a:latin typeface="돋움" pitchFamily="50" charset="-127"/>
            </a:endParaRPr>
          </a:p>
        </p:txBody>
      </p:sp>
      <p:sp>
        <p:nvSpPr>
          <p:cNvPr id="61" name="TextBox 23"/>
          <p:cNvSpPr txBox="1">
            <a:spLocks noChangeArrowheads="1"/>
          </p:cNvSpPr>
          <p:nvPr/>
        </p:nvSpPr>
        <p:spPr bwMode="auto">
          <a:xfrm>
            <a:off x="567221" y="5303478"/>
            <a:ext cx="989373" cy="249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ko-KR" altLang="en-US" u="sng" dirty="0" smtClean="0">
                <a:latin typeface="돋움" pitchFamily="50" charset="-127"/>
              </a:rPr>
              <a:t>구분자 영역</a:t>
            </a:r>
            <a:endParaRPr lang="ko-KR" altLang="en-US" u="sng" dirty="0">
              <a:latin typeface="돋움" pitchFamily="50" charset="-127"/>
            </a:endParaRPr>
          </a:p>
        </p:txBody>
      </p:sp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627416" y="4896578"/>
            <a:ext cx="8626248" cy="313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 분류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방법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상태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조건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특성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사유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등급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기준</a:t>
            </a:r>
            <a:r>
              <a:rPr lang="en-US" altLang="ko-KR" b="0" dirty="0" smtClean="0">
                <a:solidFill>
                  <a:schemeClr val="tx1"/>
                </a:solidFill>
                <a:latin typeface="돋움" pitchFamily="50" charset="-127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돋움" pitchFamily="50" charset="-127"/>
              </a:rPr>
              <a:t>단위</a:t>
            </a:r>
            <a:endParaRPr lang="en-US" altLang="ko-KR" b="0" dirty="0" smtClean="0">
              <a:latin typeface="돋움" pitchFamily="50" charset="-127"/>
            </a:endParaRPr>
          </a:p>
        </p:txBody>
      </p:sp>
      <p:sp>
        <p:nvSpPr>
          <p:cNvPr id="63" name="TextBox 23"/>
          <p:cNvSpPr txBox="1">
            <a:spLocks noChangeArrowheads="1"/>
          </p:cNvSpPr>
          <p:nvPr/>
        </p:nvSpPr>
        <p:spPr bwMode="auto">
          <a:xfrm>
            <a:off x="535729" y="4663289"/>
            <a:ext cx="838691" cy="249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ko-KR" altLang="en-US" u="sng" dirty="0" smtClean="0">
                <a:latin typeface="돋움" pitchFamily="50" charset="-127"/>
              </a:rPr>
              <a:t>목적 영역</a:t>
            </a:r>
            <a:endParaRPr lang="ko-KR" altLang="en-US" u="sng" dirty="0">
              <a:latin typeface="돋움" pitchFamily="50" charset="-127"/>
            </a:endParaRPr>
          </a:p>
        </p:txBody>
      </p:sp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681544" y="5555246"/>
            <a:ext cx="8674350" cy="10271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anchor="ctr"/>
          <a:lstStyle/>
          <a:p>
            <a:pPr marL="177800" indent="-825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  <a:defRPr/>
            </a:pPr>
            <a:r>
              <a:rPr lang="ko-KR" altLang="en-US" b="0" dirty="0">
                <a:latin typeface="돋움" pitchFamily="50" charset="-127"/>
              </a:rPr>
              <a:t> 구분코드</a:t>
            </a:r>
            <a:r>
              <a:rPr lang="en-US" altLang="ko-KR" b="0" dirty="0">
                <a:latin typeface="돋움" pitchFamily="50" charset="-127"/>
              </a:rPr>
              <a:t>: </a:t>
            </a:r>
            <a:r>
              <a:rPr lang="ko-KR" altLang="en-US" b="0" dirty="0">
                <a:latin typeface="돋움" pitchFamily="50" charset="-127"/>
              </a:rPr>
              <a:t>코드명이 더 이상 늘어나지 않고 고정적일 때 사용</a:t>
            </a:r>
            <a:r>
              <a:rPr lang="en-US" altLang="ko-KR" b="0" dirty="0">
                <a:latin typeface="돋움" pitchFamily="50" charset="-127"/>
              </a:rPr>
              <a:t>. </a:t>
            </a:r>
            <a:r>
              <a:rPr lang="ko-KR" altLang="en-US" b="0" dirty="0">
                <a:latin typeface="돋움" pitchFamily="50" charset="-127"/>
              </a:rPr>
              <a:t>예</a:t>
            </a:r>
            <a:r>
              <a:rPr lang="en-US" altLang="ko-KR" b="0" dirty="0">
                <a:latin typeface="돋움" pitchFamily="50" charset="-127"/>
              </a:rPr>
              <a:t>) </a:t>
            </a:r>
            <a:r>
              <a:rPr lang="ko-KR" altLang="en-US" b="0" dirty="0">
                <a:latin typeface="돋움" pitchFamily="50" charset="-127"/>
              </a:rPr>
              <a:t>남녀구분코드</a:t>
            </a:r>
            <a:endParaRPr lang="en-US" altLang="ko-KR" b="0" dirty="0">
              <a:latin typeface="돋움" pitchFamily="50" charset="-127"/>
            </a:endParaRPr>
          </a:p>
          <a:p>
            <a:pPr marL="177800" indent="-825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  <a:defRPr/>
            </a:pPr>
            <a:r>
              <a:rPr lang="en-US" altLang="ko-KR" b="0" dirty="0">
                <a:latin typeface="돋움" pitchFamily="50" charset="-127"/>
              </a:rPr>
              <a:t> </a:t>
            </a:r>
            <a:r>
              <a:rPr lang="ko-KR" altLang="en-US" b="0" dirty="0">
                <a:latin typeface="돋움" pitchFamily="50" charset="-127"/>
              </a:rPr>
              <a:t>종류코드</a:t>
            </a:r>
            <a:r>
              <a:rPr lang="en-US" altLang="ko-KR" b="0" dirty="0">
                <a:latin typeface="돋움" pitchFamily="50" charset="-127"/>
              </a:rPr>
              <a:t>: </a:t>
            </a:r>
            <a:r>
              <a:rPr lang="ko-KR" altLang="en-US" b="0" dirty="0">
                <a:latin typeface="돋움" pitchFamily="50" charset="-127"/>
              </a:rPr>
              <a:t>고정적이지 않고 지속적으로 늘어날 수 있는 코드명을 나열할 때 사용</a:t>
            </a:r>
            <a:r>
              <a:rPr lang="en-US" altLang="ko-KR" b="0" dirty="0">
                <a:latin typeface="돋움" pitchFamily="50" charset="-127"/>
              </a:rPr>
              <a:t>. </a:t>
            </a:r>
            <a:r>
              <a:rPr lang="ko-KR" altLang="en-US" b="0" dirty="0">
                <a:latin typeface="돋움" pitchFamily="50" charset="-127"/>
              </a:rPr>
              <a:t>예</a:t>
            </a:r>
            <a:r>
              <a:rPr lang="en-US" altLang="ko-KR" b="0" dirty="0">
                <a:latin typeface="돋움" pitchFamily="50" charset="-127"/>
              </a:rPr>
              <a:t>) </a:t>
            </a:r>
            <a:r>
              <a:rPr lang="ko-KR" altLang="en-US" b="0" dirty="0">
                <a:latin typeface="돋움" pitchFamily="50" charset="-127"/>
              </a:rPr>
              <a:t>서비스종류코드</a:t>
            </a:r>
            <a:r>
              <a:rPr lang="en-US" altLang="ko-KR" b="0" dirty="0">
                <a:latin typeface="돋움" pitchFamily="50" charset="-127"/>
              </a:rPr>
              <a:t>, </a:t>
            </a:r>
            <a:r>
              <a:rPr lang="ko-KR" altLang="en-US" b="0" dirty="0">
                <a:latin typeface="돋움" pitchFamily="50" charset="-127"/>
              </a:rPr>
              <a:t>지불수단종류코드</a:t>
            </a:r>
            <a:endParaRPr lang="en-US" altLang="ko-KR" b="0" dirty="0">
              <a:latin typeface="돋움" pitchFamily="50" charset="-127"/>
            </a:endParaRPr>
          </a:p>
          <a:p>
            <a:pPr marL="177800" indent="-825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  <a:defRPr/>
            </a:pPr>
            <a:r>
              <a:rPr lang="en-US" altLang="ko-KR" b="0" dirty="0">
                <a:latin typeface="돋움" pitchFamily="50" charset="-127"/>
              </a:rPr>
              <a:t> </a:t>
            </a:r>
            <a:r>
              <a:rPr lang="ko-KR" altLang="en-US" b="0" dirty="0">
                <a:latin typeface="돋움" pitchFamily="50" charset="-127"/>
              </a:rPr>
              <a:t>유형코드</a:t>
            </a:r>
            <a:r>
              <a:rPr lang="en-US" altLang="ko-KR" b="0" dirty="0">
                <a:latin typeface="돋움" pitchFamily="50" charset="-127"/>
              </a:rPr>
              <a:t>: </a:t>
            </a:r>
            <a:r>
              <a:rPr lang="ko-KR" altLang="en-US" b="0" dirty="0">
                <a:latin typeface="돋움" pitchFamily="50" charset="-127"/>
              </a:rPr>
              <a:t>성질이나 특징이 유사한 것끼리 묶을 때 사용</a:t>
            </a:r>
            <a:r>
              <a:rPr lang="en-US" altLang="ko-KR" b="0" dirty="0">
                <a:latin typeface="돋움" pitchFamily="50" charset="-127"/>
              </a:rPr>
              <a:t>. </a:t>
            </a:r>
            <a:r>
              <a:rPr lang="ko-KR" altLang="en-US" b="0" dirty="0">
                <a:latin typeface="돋움" pitchFamily="50" charset="-127"/>
              </a:rPr>
              <a:t>예</a:t>
            </a:r>
            <a:r>
              <a:rPr lang="en-US" altLang="ko-KR" b="0" dirty="0">
                <a:latin typeface="돋움" pitchFamily="50" charset="-127"/>
              </a:rPr>
              <a:t>) </a:t>
            </a:r>
            <a:r>
              <a:rPr lang="ko-KR" altLang="en-US" b="0" dirty="0">
                <a:latin typeface="돋움" pitchFamily="50" charset="-127"/>
              </a:rPr>
              <a:t>지불수단유형코드</a:t>
            </a:r>
            <a:r>
              <a:rPr lang="en-US" altLang="ko-KR" b="0" dirty="0">
                <a:latin typeface="돋움" pitchFamily="50" charset="-127"/>
              </a:rPr>
              <a:t>, </a:t>
            </a:r>
            <a:r>
              <a:rPr lang="ko-KR" altLang="en-US" b="0" dirty="0">
                <a:latin typeface="돋움" pitchFamily="50" charset="-127"/>
              </a:rPr>
              <a:t>거래유형코드</a:t>
            </a:r>
          </a:p>
        </p:txBody>
      </p:sp>
    </p:spTree>
    <p:extLst>
      <p:ext uri="{BB962C8B-B14F-4D97-AF65-F5344CB8AC3E}">
        <p14:creationId xmlns:p14="http://schemas.microsoft.com/office/powerpoint/2010/main" val="353961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81"/>
          <p:cNvSpPr>
            <a:spLocks noGrp="1" noChangeArrowheads="1"/>
          </p:cNvSpPr>
          <p:nvPr>
            <p:ph type="title"/>
          </p:nvPr>
        </p:nvSpPr>
        <p:spPr>
          <a:xfrm>
            <a:off x="382588" y="203200"/>
            <a:ext cx="9118600" cy="276225"/>
          </a:xfrm>
        </p:spPr>
        <p:txBody>
          <a:bodyPr/>
          <a:lstStyle/>
          <a:p>
            <a:pPr eaLnBrk="1" hangingPunct="1"/>
            <a:r>
              <a:rPr lang="ko-KR" altLang="en-US" sz="1800" dirty="0"/>
              <a:t>속성 명명 규칙 </a:t>
            </a:r>
            <a:r>
              <a:rPr lang="en-US" altLang="ko-KR" sz="1800" dirty="0" smtClean="0"/>
              <a:t>(8/8)</a:t>
            </a:r>
            <a:endParaRPr lang="ko-KR" altLang="en-US" sz="1800" dirty="0" smtClean="0"/>
          </a:p>
        </p:txBody>
      </p:sp>
      <p:sp>
        <p:nvSpPr>
          <p:cNvPr id="236550" name="TextBox 23"/>
          <p:cNvSpPr txBox="1">
            <a:spLocks noChangeArrowheads="1"/>
          </p:cNvSpPr>
          <p:nvPr/>
        </p:nvSpPr>
        <p:spPr bwMode="auto">
          <a:xfrm>
            <a:off x="532487" y="922817"/>
            <a:ext cx="2291012" cy="275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algn="l">
              <a:defRPr sz="1400" u="sng">
                <a:latin typeface="돋움" pitchFamily="50" charset="-127"/>
              </a:defRPr>
            </a:lvl1pPr>
          </a:lstStyle>
          <a:p>
            <a:r>
              <a:rPr lang="en-US" altLang="ko-KR" dirty="0" smtClean="0"/>
              <a:t>cf. </a:t>
            </a:r>
            <a:r>
              <a:rPr lang="ko-KR" altLang="en-US" dirty="0" smtClean="0"/>
              <a:t>개별 코드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공통</a:t>
            </a:r>
            <a:r>
              <a:rPr lang="en-US" altLang="ko-KR" dirty="0" smtClean="0"/>
              <a:t> </a:t>
            </a:r>
            <a:r>
              <a:rPr lang="ko-KR" altLang="en-US" dirty="0" smtClean="0"/>
              <a:t>코드</a:t>
            </a:r>
            <a:endParaRPr lang="ko-KR" altLang="en-US" dirty="0"/>
          </a:p>
        </p:txBody>
      </p:sp>
      <p:sp>
        <p:nvSpPr>
          <p:cNvPr id="236551" name="Rectangle 3"/>
          <p:cNvSpPr>
            <a:spLocks noChangeArrowheads="1"/>
          </p:cNvSpPr>
          <p:nvPr/>
        </p:nvSpPr>
        <p:spPr bwMode="auto">
          <a:xfrm>
            <a:off x="615037" y="1340372"/>
            <a:ext cx="8653463" cy="1040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latin typeface="돋움" pitchFamily="50" charset="-127"/>
              </a:rPr>
              <a:t> 개별 </a:t>
            </a:r>
            <a:r>
              <a:rPr lang="ko-KR" altLang="en-US" b="0" dirty="0">
                <a:latin typeface="돋움" pitchFamily="50" charset="-127"/>
              </a:rPr>
              <a:t>코드는 하나의 인스턴스가 하나의 개체</a:t>
            </a:r>
            <a:r>
              <a:rPr lang="en-US" altLang="ko-KR" b="0" dirty="0">
                <a:latin typeface="돋움" pitchFamily="50" charset="-127"/>
              </a:rPr>
              <a:t>(</a:t>
            </a:r>
            <a:r>
              <a:rPr lang="ko-KR" altLang="en-US" b="0" dirty="0">
                <a:latin typeface="돋움" pitchFamily="50" charset="-127"/>
              </a:rPr>
              <a:t>실체</a:t>
            </a:r>
            <a:r>
              <a:rPr lang="en-US" altLang="ko-KR" b="0" dirty="0">
                <a:latin typeface="돋움" pitchFamily="50" charset="-127"/>
              </a:rPr>
              <a:t>)</a:t>
            </a:r>
            <a:r>
              <a:rPr lang="ko-KR" altLang="en-US" b="0" dirty="0">
                <a:latin typeface="돋움" pitchFamily="50" charset="-127"/>
              </a:rPr>
              <a:t>를 의미하므로 </a:t>
            </a:r>
            <a:r>
              <a:rPr lang="ko-KR" altLang="en-US" b="0" dirty="0" smtClean="0">
                <a:latin typeface="돋움" pitchFamily="50" charset="-127"/>
              </a:rPr>
              <a:t>묶음을 의미하는 구분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유형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종류 </a:t>
            </a:r>
            <a:r>
              <a:rPr lang="ko-KR" altLang="en-US" b="0" dirty="0">
                <a:latin typeface="돋움" pitchFamily="50" charset="-127"/>
              </a:rPr>
              <a:t>등을 사용하는 것이 적절하지 </a:t>
            </a:r>
            <a:r>
              <a:rPr lang="ko-KR" altLang="en-US" b="0" dirty="0" smtClean="0">
                <a:latin typeface="돋움" pitchFamily="50" charset="-127"/>
              </a:rPr>
              <a:t>않음</a:t>
            </a:r>
            <a:endParaRPr lang="en-US" altLang="ko-KR" b="0" dirty="0" smtClean="0"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 smtClean="0">
                <a:latin typeface="돋움" pitchFamily="50" charset="-127"/>
              </a:rPr>
              <a:t> </a:t>
            </a:r>
            <a:r>
              <a:rPr lang="ko-KR" altLang="en-US" b="0" dirty="0" smtClean="0">
                <a:latin typeface="돋움" pitchFamily="50" charset="-127"/>
              </a:rPr>
              <a:t>공통 </a:t>
            </a:r>
            <a:r>
              <a:rPr lang="ko-KR" altLang="en-US" b="0" dirty="0">
                <a:latin typeface="돋움" pitchFamily="50" charset="-127"/>
              </a:rPr>
              <a:t>코드는 하나의 개체를 의미하는 것이 아니라 범주를 의미하므로 구분</a:t>
            </a:r>
            <a:r>
              <a:rPr lang="en-US" altLang="ko-KR" b="0" dirty="0">
                <a:latin typeface="돋움" pitchFamily="50" charset="-127"/>
              </a:rPr>
              <a:t>, </a:t>
            </a:r>
            <a:r>
              <a:rPr lang="ko-KR" altLang="en-US" b="0" dirty="0">
                <a:latin typeface="돋움" pitchFamily="50" charset="-127"/>
              </a:rPr>
              <a:t>유형</a:t>
            </a:r>
            <a:r>
              <a:rPr lang="en-US" altLang="ko-KR" b="0" dirty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종류 등과 같이 </a:t>
            </a:r>
            <a:r>
              <a:rPr lang="ko-KR" altLang="en-US" b="0" dirty="0">
                <a:latin typeface="돋움" pitchFamily="50" charset="-127"/>
              </a:rPr>
              <a:t>구분자</a:t>
            </a:r>
            <a:r>
              <a:rPr lang="en-US" altLang="ko-KR" b="0" dirty="0">
                <a:latin typeface="돋움" pitchFamily="50" charset="-127"/>
              </a:rPr>
              <a:t>(Discriminator) </a:t>
            </a:r>
            <a:r>
              <a:rPr lang="ko-KR" altLang="en-US" b="0" dirty="0">
                <a:latin typeface="돋움" pitchFamily="50" charset="-127"/>
              </a:rPr>
              <a:t>역할을 하는 용어와 함께 사용하는 것이 </a:t>
            </a:r>
            <a:r>
              <a:rPr lang="ko-KR" altLang="en-US" b="0" dirty="0" smtClean="0">
                <a:latin typeface="돋움" pitchFamily="50" charset="-127"/>
              </a:rPr>
              <a:t>적절</a:t>
            </a:r>
            <a:endParaRPr lang="ko-KR" altLang="en-US" b="0" dirty="0">
              <a:latin typeface="돋움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2154" y="4565684"/>
            <a:ext cx="1694695" cy="249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algn="l">
              <a:defRPr u="sng">
                <a:latin typeface="돋움" pitchFamily="50" charset="-127"/>
              </a:defRPr>
            </a:lvl1pPr>
          </a:lstStyle>
          <a:p>
            <a:r>
              <a:rPr lang="ko-KR" altLang="en-US" dirty="0" smtClean="0">
                <a:solidFill>
                  <a:schemeClr val="tx1"/>
                </a:solidFill>
              </a:rPr>
              <a:t>개별 코드의 명명 규칙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639592" y="4899785"/>
            <a:ext cx="8653463" cy="1039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latin typeface="돋움" pitchFamily="50" charset="-127"/>
              </a:rPr>
              <a:t> 인스턴스를 </a:t>
            </a:r>
            <a:r>
              <a:rPr lang="ko-KR" altLang="en-US" b="0" dirty="0">
                <a:latin typeface="돋움" pitchFamily="50" charset="-127"/>
              </a:rPr>
              <a:t>식별하는 역할을 </a:t>
            </a:r>
            <a:r>
              <a:rPr lang="ko-KR" altLang="en-US" b="0" dirty="0" smtClean="0">
                <a:latin typeface="돋움" pitchFamily="50" charset="-127"/>
              </a:rPr>
              <a:t>하는 개별 코드는 부서번호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상품번호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화면번호 </a:t>
            </a:r>
            <a:r>
              <a:rPr lang="ko-KR" altLang="en-US" b="0" dirty="0">
                <a:latin typeface="돋움" pitchFamily="50" charset="-127"/>
              </a:rPr>
              <a:t>등과 같이 인조 식별자인 ‘</a:t>
            </a:r>
            <a:r>
              <a:rPr lang="en-US" altLang="ko-KR" b="0" dirty="0">
                <a:latin typeface="돋움" pitchFamily="50" charset="-127"/>
              </a:rPr>
              <a:t>~</a:t>
            </a:r>
            <a:r>
              <a:rPr lang="ko-KR" altLang="en-US" b="0" dirty="0">
                <a:latin typeface="돋움" pitchFamily="50" charset="-127"/>
              </a:rPr>
              <a:t>번호’</a:t>
            </a:r>
            <a:r>
              <a:rPr lang="ko-KR" altLang="en-US" b="0" dirty="0" err="1">
                <a:latin typeface="돋움" pitchFamily="50" charset="-127"/>
              </a:rPr>
              <a:t>로</a:t>
            </a:r>
            <a:r>
              <a:rPr lang="ko-KR" altLang="en-US" b="0" dirty="0">
                <a:latin typeface="돋움" pitchFamily="50" charset="-127"/>
              </a:rPr>
              <a:t> 사용</a:t>
            </a: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b="0" dirty="0" smtClean="0">
                <a:latin typeface="돋움" pitchFamily="50" charset="-127"/>
              </a:rPr>
              <a:t> 개별 </a:t>
            </a:r>
            <a:r>
              <a:rPr lang="ko-KR" altLang="en-US" b="0" dirty="0">
                <a:latin typeface="돋움" pitchFamily="50" charset="-127"/>
              </a:rPr>
              <a:t>코드의 </a:t>
            </a:r>
            <a:r>
              <a:rPr lang="ko-KR" altLang="en-US" b="0" dirty="0" smtClean="0">
                <a:latin typeface="돋움" pitchFamily="50" charset="-127"/>
              </a:rPr>
              <a:t>속성 명에는 </a:t>
            </a:r>
            <a:r>
              <a:rPr lang="ko-KR" altLang="en-US" b="0" dirty="0">
                <a:latin typeface="돋움" pitchFamily="50" charset="-127"/>
              </a:rPr>
              <a:t>구분자</a:t>
            </a:r>
            <a:r>
              <a:rPr lang="en-US" altLang="ko-KR" b="0" dirty="0" smtClean="0">
                <a:latin typeface="돋움" pitchFamily="50" charset="-127"/>
              </a:rPr>
              <a:t>(</a:t>
            </a:r>
            <a:r>
              <a:rPr lang="ko-KR" altLang="en-US" b="0" dirty="0" smtClean="0">
                <a:latin typeface="돋움" pitchFamily="50" charset="-127"/>
              </a:rPr>
              <a:t>유형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종류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구분</a:t>
            </a:r>
            <a:r>
              <a:rPr lang="en-US" altLang="ko-KR" b="0" dirty="0" smtClean="0">
                <a:latin typeface="돋움" pitchFamily="50" charset="-127"/>
              </a:rPr>
              <a:t>)</a:t>
            </a:r>
            <a:r>
              <a:rPr lang="ko-KR" altLang="en-US" b="0" dirty="0">
                <a:latin typeface="돋움" pitchFamily="50" charset="-127"/>
              </a:rPr>
              <a:t>를 사용하지 </a:t>
            </a:r>
            <a:r>
              <a:rPr lang="ko-KR" altLang="en-US" b="0" dirty="0" smtClean="0">
                <a:latin typeface="돋움" pitchFamily="50" charset="-127"/>
              </a:rPr>
              <a:t>않으며</a:t>
            </a:r>
            <a:r>
              <a:rPr lang="en-US" altLang="ko-KR" b="0" dirty="0" smtClean="0">
                <a:latin typeface="돋움" pitchFamily="50" charset="-127"/>
              </a:rPr>
              <a:t>, </a:t>
            </a:r>
            <a:r>
              <a:rPr lang="ko-KR" altLang="en-US" b="0" dirty="0" smtClean="0">
                <a:latin typeface="돋움" pitchFamily="50" charset="-127"/>
              </a:rPr>
              <a:t>목적에 해당하는 단어는 사용할 수 있음</a:t>
            </a:r>
            <a:endParaRPr lang="en-US" altLang="ko-KR" b="0" dirty="0" smtClean="0">
              <a:latin typeface="돋움" pitchFamily="50" charset="-127"/>
            </a:endParaRPr>
          </a:p>
          <a:p>
            <a:pPr marL="95250" indent="-95250" algn="l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b="0" dirty="0">
                <a:latin typeface="돋움" pitchFamily="50" charset="-127"/>
              </a:rPr>
              <a:t> </a:t>
            </a:r>
            <a:r>
              <a:rPr lang="ko-KR" altLang="en-US" b="0" dirty="0" smtClean="0">
                <a:latin typeface="돋움" pitchFamily="50" charset="-127"/>
              </a:rPr>
              <a:t>개별 코드와 공통 코드가 속성 명에서 구분돼 개념이 명확해지고 </a:t>
            </a:r>
            <a:r>
              <a:rPr lang="ko-KR" altLang="en-US" b="0" dirty="0" err="1" smtClean="0">
                <a:latin typeface="돋움" pitchFamily="50" charset="-127"/>
              </a:rPr>
              <a:t>가독성이</a:t>
            </a:r>
            <a:r>
              <a:rPr lang="ko-KR" altLang="en-US" b="0" dirty="0" smtClean="0">
                <a:latin typeface="돋움" pitchFamily="50" charset="-127"/>
              </a:rPr>
              <a:t> 높아짐</a:t>
            </a:r>
            <a:endParaRPr lang="ko-KR" altLang="en-US" b="0" dirty="0">
              <a:latin typeface="돋움" pitchFamily="50" charset="-127"/>
            </a:endParaRPr>
          </a:p>
        </p:txBody>
      </p:sp>
      <p:sp>
        <p:nvSpPr>
          <p:cNvPr id="14" name="오른쪽 중괄호 13"/>
          <p:cNvSpPr/>
          <p:nvPr/>
        </p:nvSpPr>
        <p:spPr bwMode="auto">
          <a:xfrm rot="16200000">
            <a:off x="3152756" y="1266973"/>
            <a:ext cx="263919" cy="4506017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29842" y="3220951"/>
            <a:ext cx="104067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수식어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오른쪽 중괄호 16"/>
          <p:cNvSpPr/>
          <p:nvPr/>
        </p:nvSpPr>
        <p:spPr bwMode="auto">
          <a:xfrm rot="16200000">
            <a:off x="6757881" y="2367774"/>
            <a:ext cx="269692" cy="2310193"/>
          </a:xfrm>
          <a:prstGeom prst="rightBrace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1323" y="3196072"/>
            <a:ext cx="104067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분류어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 bwMode="auto">
          <a:xfrm>
            <a:off x="829561" y="3677382"/>
            <a:ext cx="1563814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주체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의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2445006" y="3677382"/>
            <a:ext cx="1583992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대상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에 대한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085279" y="3677381"/>
            <a:ext cx="1563795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/>
              <a:t>목적</a:t>
            </a:r>
            <a:endParaRPr lang="en-US" altLang="ko-KR" dirty="0" smtClean="0"/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(~</a:t>
            </a:r>
            <a:r>
              <a:rPr lang="ko-KR" altLang="en-US" dirty="0" smtClean="0"/>
              <a:t>을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5715295" y="3677380"/>
            <a:ext cx="1232137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구분자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</a:t>
            </a:r>
            <a:r>
              <a:rPr lang="ko-KR" altLang="en-US" dirty="0" smtClean="0"/>
              <a:t>구분한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7031533" y="3677379"/>
            <a:ext cx="1050730" cy="503784"/>
          </a:xfrm>
          <a:prstGeom prst="rect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돋움" pitchFamily="50" charset="-127"/>
              </a:rPr>
              <a:t>코드</a:t>
            </a:r>
            <a:endParaRPr kumimoji="1" lang="en-US" altLang="ko-KR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 smtClean="0"/>
              <a:t>(</a:t>
            </a:r>
            <a:r>
              <a:rPr lang="ko-KR" altLang="en-US" dirty="0" smtClean="0"/>
              <a:t>도메인</a:t>
            </a:r>
            <a:r>
              <a:rPr lang="en-US" altLang="ko-KR" dirty="0" smtClean="0"/>
              <a:t>)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0290" y="2798746"/>
            <a:ext cx="1896673" cy="249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algn="l">
              <a:defRPr u="sng">
                <a:latin typeface="돋움" pitchFamily="50" charset="-127"/>
              </a:defRPr>
            </a:lvl1pPr>
          </a:lstStyle>
          <a:p>
            <a:r>
              <a:rPr lang="ko-KR" altLang="en-US" u="none" dirty="0" err="1" smtClean="0">
                <a:solidFill>
                  <a:schemeClr val="tx1"/>
                </a:solidFill>
              </a:rPr>
              <a:t>ㅁ</a:t>
            </a:r>
            <a:r>
              <a:rPr lang="ko-KR" altLang="en-US" u="none" dirty="0" smtClean="0">
                <a:solidFill>
                  <a:schemeClr val="tx1"/>
                </a:solidFill>
              </a:rPr>
              <a:t> 공통 코드의 명명 규칙</a:t>
            </a:r>
            <a:endParaRPr lang="ko-KR" altLang="en-US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2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72000" tIns="72000" rIns="72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72000" tIns="72000" rIns="72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382820</TotalTime>
  <Words>1353</Words>
  <Application>Microsoft Office PowerPoint</Application>
  <PresentationFormat>A4 용지(210x297mm)</PresentationFormat>
  <Paragraphs>321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기본 디자인</vt:lpstr>
      <vt:lpstr>속성 명명 규칙 (1/8)</vt:lpstr>
      <vt:lpstr>속성 명명 규칙 (2/8)</vt:lpstr>
      <vt:lpstr>속성 명명 규칙 (3/8)</vt:lpstr>
      <vt:lpstr>속성 명명 규칙 (4/8)</vt:lpstr>
      <vt:lpstr>속성 명명 규칙 (5/8)</vt:lpstr>
      <vt:lpstr>속성 명명 규칙 (6/8)</vt:lpstr>
      <vt:lpstr>속성 명명 규칙 (7/8)</vt:lpstr>
      <vt:lpstr>속성 명명 규칙 (8/8)</vt:lpstr>
    </vt:vector>
  </TitlesOfParts>
  <Company>Deloitte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Administrator</dc:creator>
  <cp:lastModifiedBy>bluepupil</cp:lastModifiedBy>
  <cp:revision>6090</cp:revision>
  <dcterms:created xsi:type="dcterms:W3CDTF">2003-05-21T01:08:04Z</dcterms:created>
  <dcterms:modified xsi:type="dcterms:W3CDTF">2023-08-30T08:43:53Z</dcterms:modified>
</cp:coreProperties>
</file>