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9" d="100"/>
          <a:sy n="79" d="100"/>
        </p:scale>
        <p:origin x="763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87593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3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828800"/>
            <a:ext cx="5120640" cy="5120640"/>
          </a:xfrm>
          <a:prstGeom prst="ellipse">
            <a:avLst/>
          </a:prstGeom>
          <a:solidFill>
            <a:srgbClr val="4C1D95">
              <a:alpha val="4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0332720" y="1097280"/>
            <a:ext cx="2377440" cy="2377440"/>
          </a:xfrm>
          <a:prstGeom prst="ellipse">
            <a:avLst/>
          </a:prstGeom>
          <a:solidFill>
            <a:srgbClr val="F5A623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1280160" y="4572000"/>
            <a:ext cx="3840480" cy="3840480"/>
          </a:xfrm>
          <a:prstGeom prst="ellipse">
            <a:avLst/>
          </a:prstGeom>
          <a:solidFill>
            <a:srgbClr val="7C3AED">
              <a:alpha val="3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822960" y="14173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kern="0" spc="200" dirty="0">
                <a:solidFill>
                  <a:srgbClr val="FBD3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NETWORK 풀스택 플랫폼 · 인큐베이팅 제안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2880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</a:t>
            </a:r>
            <a:r>
              <a:rPr lang="en-US" sz="7600" b="1" dirty="0">
                <a:solidFill>
                  <a:srgbClr val="F5A6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.pi</a:t>
            </a:r>
            <a:endParaRPr lang="en-US" sz="7600" dirty="0"/>
          </a:p>
        </p:txBody>
      </p:sp>
      <p:sp>
        <p:nvSpPr>
          <p:cNvPr id="7" name="Text 5"/>
          <p:cNvSpPr/>
          <p:nvPr/>
        </p:nvSpPr>
        <p:spPr>
          <a:xfrm>
            <a:off x="822960" y="324612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D9D2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검증된 Pi 앱 모듈을 그대로 이식하는, 가장 빠른 출시 경로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822960" y="4069080"/>
            <a:ext cx="2258568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822960" y="4069080"/>
            <a:ext cx="2258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글로벌 커뮤니케이션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310128" y="4069080"/>
            <a:ext cx="1883664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3310128" y="406908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경제 엔진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22392" y="4069080"/>
            <a:ext cx="1883664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422392" y="406908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위치기반 O2O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534656" y="4069080"/>
            <a:ext cx="150876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7534656" y="406908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기업형 표준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5806440"/>
            <a:ext cx="10515600" cy="0"/>
          </a:xfrm>
          <a:prstGeom prst="line">
            <a:avLst/>
          </a:prstGeom>
          <a:noFill/>
          <a:ln w="9525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loginpi.vercel.app</a:t>
            </a:r>
            <a:r>
              <a:rPr lang="en-US" sz="1250" dirty="0">
                <a:solidFill>
                  <a:srgbClr val="B7AE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18개 Phase 구현 완료 · 203개 locale 글로벌 배포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3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2011680"/>
            <a:ext cx="4937760" cy="4937760"/>
          </a:xfrm>
          <a:prstGeom prst="ellipse">
            <a:avLst/>
          </a:prstGeom>
          <a:solidFill>
            <a:srgbClr val="4C1D95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822960" y="640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BD3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INCUBATING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6766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처음부터 만들지 않는다.</a:t>
            </a:r>
            <a:endParaRPr lang="en-US" sz="3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검증된 자산을 이식한다.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FC8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Browser의 쿠키 미저장·결제 트랩·다국어 배포 같은 함정을 이미 통과한 18개 Phase의 코드가 그대로 출발점이 됩니다. 새 Pi 앱은 0에서가 아니라, 실증된 아키텍처에서 시작합니다.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4526280"/>
            <a:ext cx="64008" cy="1051560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24128" y="4553712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FBD3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“로그인되고 결제된다”</a:t>
            </a:r>
            <a:r>
              <a:rPr lang="en-US" sz="1550" dirty="0">
                <a:solidFill>
                  <a:srgbClr val="E4DE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두 가지 절대 가치 위에,</a:t>
            </a:r>
            <a:endParaRPr lang="en-US" sz="15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E4DE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기능이 실기기 검증을 거쳐 쌓였습니다.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818120" y="868680"/>
            <a:ext cx="3657600" cy="1627632"/>
          </a:xfrm>
          <a:prstGeom prst="roundRect">
            <a:avLst>
              <a:gd name="adj" fmla="val 4494"/>
            </a:avLst>
          </a:prstGeom>
          <a:solidFill>
            <a:srgbClr val="241A52"/>
          </a:solidFill>
          <a:ln w="12700">
            <a:solidFill>
              <a:srgbClr val="4C1D9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818120" y="868680"/>
            <a:ext cx="82296" cy="1627632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8092440" y="978408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r>
              <a:rPr lang="en-US" sz="16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개 Phase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8092440" y="1783080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9B1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인증·결제·카페·번역·커머스·LBS 전 영역 구현 완료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818120" y="2651760"/>
            <a:ext cx="3657600" cy="1627632"/>
          </a:xfrm>
          <a:prstGeom prst="roundRect">
            <a:avLst>
              <a:gd name="adj" fmla="val 4494"/>
            </a:avLst>
          </a:prstGeom>
          <a:solidFill>
            <a:srgbClr val="241A52"/>
          </a:solidFill>
          <a:ln w="12700">
            <a:solidFill>
              <a:srgbClr val="4C1D9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7818120" y="2651760"/>
            <a:ext cx="82296" cy="1627632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8092440" y="2761488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203</a:t>
            </a:r>
            <a:r>
              <a:rPr lang="en-US" sz="16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개 locale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8092440" y="3566160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9B1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통화·국가 자동 매핑, 재배포 없이 활성화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818120" y="4434840"/>
            <a:ext cx="3657600" cy="1627632"/>
          </a:xfrm>
          <a:prstGeom prst="roundRect">
            <a:avLst>
              <a:gd name="adj" fmla="val 4494"/>
            </a:avLst>
          </a:prstGeom>
          <a:solidFill>
            <a:srgbClr val="241A52"/>
          </a:solidFill>
          <a:ln w="12700">
            <a:solidFill>
              <a:srgbClr val="4C1D9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7818120" y="4434840"/>
            <a:ext cx="82296" cy="1627632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8092440" y="4544568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&lt;1</a:t>
            </a:r>
            <a:r>
              <a:rPr lang="en-US" sz="16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초 번역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8092440" y="5349240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9B1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Gemini Flash + Claude Haiku 하이브리드 동시통역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64008" cy="841248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749808" y="5486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특장점 한눈에  ·  4 PILLARS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10972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018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개의 축으로 완성되는 Pi 생태계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1783080"/>
            <a:ext cx="5349240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E2F0"/>
            </a:solidFill>
            <a:prstDash val="solid"/>
          </a:ln>
          <a:effectLst>
            <a:outerShdw blurRad="114300" dist="38100" dir="5400000" algn="bl" rotWithShape="0">
              <a:srgbClr val="1A134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31520" y="1783080"/>
            <a:ext cx="91440" cy="212140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115568" y="2194560"/>
            <a:ext cx="914400" cy="914400"/>
          </a:xfrm>
          <a:prstGeom prst="ellipse">
            <a:avLst/>
          </a:prstGeom>
          <a:solidFill>
            <a:srgbClr val="7C3AED"/>
          </a:solidFill>
          <a:ln/>
          <a:effectLst>
            <a:outerShdw blurRad="114300" dist="38100" dir="5400000" algn="bl" rotWithShape="0">
              <a:srgbClr val="1A134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2456" y="2441448"/>
            <a:ext cx="420624" cy="4206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892040" y="2039112"/>
            <a:ext cx="960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E6E2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2286000" y="216712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50" b="1" dirty="0">
                <a:solidFill>
                  <a:srgbClr val="2018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글로벌 커뮤니케이션</a:t>
            </a:r>
            <a:endParaRPr lang="en-US" sz="1850" dirty="0"/>
          </a:p>
        </p:txBody>
      </p:sp>
      <p:sp>
        <p:nvSpPr>
          <p:cNvPr id="11" name="Text 8"/>
          <p:cNvSpPr/>
          <p:nvPr/>
        </p:nvSpPr>
        <p:spPr>
          <a:xfrm>
            <a:off x="2286000" y="2679192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계정통합 · 다국어 페이지 · 채팅 실시간 번역으로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언어 장벽 없는 글로벌 커뮤니티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656832" y="1783080"/>
            <a:ext cx="5349240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E2F0"/>
            </a:solidFill>
            <a:prstDash val="solid"/>
          </a:ln>
          <a:effectLst>
            <a:outerShdw blurRad="114300" dist="38100" dir="5400000" algn="bl" rotWithShape="0">
              <a:srgbClr val="1A134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6656832" y="1783080"/>
            <a:ext cx="91440" cy="2121408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7040880" y="2194560"/>
            <a:ext cx="914400" cy="914400"/>
          </a:xfrm>
          <a:prstGeom prst="ellipse">
            <a:avLst/>
          </a:prstGeom>
          <a:solidFill>
            <a:srgbClr val="F5A623"/>
          </a:solidFill>
          <a:ln/>
          <a:effectLst>
            <a:outerShdw blurRad="114300" dist="38100" dir="5400000" algn="bl" rotWithShape="0">
              <a:srgbClr val="1A134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7768" y="2441448"/>
            <a:ext cx="420624" cy="42062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0817352" y="2039112"/>
            <a:ext cx="960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E6E2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3600" dirty="0"/>
          </a:p>
        </p:txBody>
      </p:sp>
      <p:sp>
        <p:nvSpPr>
          <p:cNvPr id="17" name="Text 13"/>
          <p:cNvSpPr/>
          <p:nvPr/>
        </p:nvSpPr>
        <p:spPr>
          <a:xfrm>
            <a:off x="8211312" y="216712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50" b="1" dirty="0">
                <a:solidFill>
                  <a:srgbClr val="2018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경제 엔진</a:t>
            </a:r>
            <a:endParaRPr lang="en-US" sz="1850" dirty="0"/>
          </a:p>
        </p:txBody>
      </p:sp>
      <p:sp>
        <p:nvSpPr>
          <p:cNvPr id="18" name="Text 14"/>
          <p:cNvSpPr/>
          <p:nvPr/>
        </p:nvSpPr>
        <p:spPr>
          <a:xfrm>
            <a:off x="8211312" y="2679192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결제·송금(PiRC1) · 구독(PiRC2) · 에스크로(PiRC3)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Coin 트랜잭션 풀스택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731520" y="4270248"/>
            <a:ext cx="5349240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E2F0"/>
            </a:solidFill>
            <a:prstDash val="solid"/>
          </a:ln>
          <a:effectLst>
            <a:outerShdw blurRad="114300" dist="38100" dir="5400000" algn="bl" rotWithShape="0">
              <a:srgbClr val="1A134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731520" y="4270248"/>
            <a:ext cx="91440" cy="2121408"/>
          </a:xfrm>
          <a:prstGeom prst="rect">
            <a:avLst/>
          </a:prstGeom>
          <a:solidFill>
            <a:srgbClr val="4C1D9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7"/>
          <p:cNvSpPr/>
          <p:nvPr/>
        </p:nvSpPr>
        <p:spPr>
          <a:xfrm>
            <a:off x="1115568" y="4681728"/>
            <a:ext cx="914400" cy="914400"/>
          </a:xfrm>
          <a:prstGeom prst="ellipse">
            <a:avLst/>
          </a:prstGeom>
          <a:solidFill>
            <a:srgbClr val="4C1D95"/>
          </a:solidFill>
          <a:ln/>
          <a:effectLst>
            <a:outerShdw blurRad="114300" dist="38100" dir="5400000" algn="bl" rotWithShape="0">
              <a:srgbClr val="1A134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2456" y="4928616"/>
            <a:ext cx="420624" cy="42062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4892040" y="4526280"/>
            <a:ext cx="960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E6E2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3600" dirty="0"/>
          </a:p>
        </p:txBody>
      </p:sp>
      <p:sp>
        <p:nvSpPr>
          <p:cNvPr id="24" name="Text 19"/>
          <p:cNvSpPr/>
          <p:nvPr/>
        </p:nvSpPr>
        <p:spPr>
          <a:xfrm>
            <a:off x="2286000" y="465429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50" b="1" dirty="0">
                <a:solidFill>
                  <a:srgbClr val="2018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위치기반 O2O</a:t>
            </a:r>
            <a:endParaRPr lang="en-US" sz="1850" dirty="0"/>
          </a:p>
        </p:txBody>
      </p:sp>
      <p:sp>
        <p:nvSpPr>
          <p:cNvPr id="25" name="Text 20"/>
          <p:cNvSpPr/>
          <p:nvPr/>
        </p:nvSpPr>
        <p:spPr>
          <a:xfrm>
            <a:off x="2286000" y="516636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커뮤니티 · 중고 직거래 · 오프라인 매장 활성화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온라인에서 실물경제로 연결</a:t>
            </a:r>
            <a:endParaRPr lang="en-US" sz="1250" dirty="0"/>
          </a:p>
        </p:txBody>
      </p:sp>
      <p:sp>
        <p:nvSpPr>
          <p:cNvPr id="26" name="Shape 21"/>
          <p:cNvSpPr/>
          <p:nvPr/>
        </p:nvSpPr>
        <p:spPr>
          <a:xfrm>
            <a:off x="6656832" y="4270248"/>
            <a:ext cx="5349240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E6E2F0"/>
            </a:solidFill>
            <a:prstDash val="solid"/>
          </a:ln>
          <a:effectLst>
            <a:outerShdw blurRad="114300" dist="38100" dir="5400000" algn="bl" rotWithShape="0">
              <a:srgbClr val="1A134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2"/>
          <p:cNvSpPr/>
          <p:nvPr/>
        </p:nvSpPr>
        <p:spPr>
          <a:xfrm>
            <a:off x="6656832" y="4270248"/>
            <a:ext cx="91440" cy="212140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3"/>
          <p:cNvSpPr/>
          <p:nvPr/>
        </p:nvSpPr>
        <p:spPr>
          <a:xfrm>
            <a:off x="7040880" y="4681728"/>
            <a:ext cx="914400" cy="914400"/>
          </a:xfrm>
          <a:prstGeom prst="ellipse">
            <a:avLst/>
          </a:prstGeom>
          <a:solidFill>
            <a:srgbClr val="1C7293"/>
          </a:solidFill>
          <a:ln/>
          <a:effectLst>
            <a:outerShdw blurRad="114300" dist="38100" dir="5400000" algn="bl" rotWithShape="0">
              <a:srgbClr val="1A134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7768" y="4928616"/>
            <a:ext cx="420624" cy="420624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10817352" y="4526280"/>
            <a:ext cx="960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E6E2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3600" dirty="0"/>
          </a:p>
        </p:txBody>
      </p:sp>
      <p:sp>
        <p:nvSpPr>
          <p:cNvPr id="31" name="Text 25"/>
          <p:cNvSpPr/>
          <p:nvPr/>
        </p:nvSpPr>
        <p:spPr>
          <a:xfrm>
            <a:off x="8211312" y="465429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50" b="1" dirty="0">
                <a:solidFill>
                  <a:srgbClr val="2018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기업형 프로그램 표준</a:t>
            </a:r>
            <a:endParaRPr lang="en-US" sz="1850" dirty="0"/>
          </a:p>
        </p:txBody>
      </p:sp>
      <p:sp>
        <p:nvSpPr>
          <p:cNvPr id="32" name="Text 26"/>
          <p:cNvSpPr/>
          <p:nvPr/>
        </p:nvSpPr>
        <p:spPr>
          <a:xfrm>
            <a:off x="8211312" y="516636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 err="1">
                <a:solidFill>
                  <a:srgbClr val="6B6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로그인·권한·관리자</a:t>
            </a:r>
            <a:r>
              <a:rPr lang="en-US" sz="1250" dirty="0">
                <a:solidFill>
                  <a:srgbClr val="6B6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50" dirty="0">
                <a:solidFill>
                  <a:srgbClr val="6B6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</a:t>
            </a:r>
            <a:r>
              <a:rPr lang="en-US" sz="1250" dirty="0" err="1">
                <a:solidFill>
                  <a:srgbClr val="6B6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</a:t>
            </a:r>
            <a:r>
              <a:rPr lang="en-US" sz="1250" dirty="0">
                <a:solidFill>
                  <a:srgbClr val="6B6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DB 표준안(표준·모델·품질)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엔터프라이즈 거버넌스</a:t>
            </a:r>
            <a:endParaRPr lang="en-US" sz="1250" dirty="0"/>
          </a:p>
        </p:txBody>
      </p:sp>
      <p:sp>
        <p:nvSpPr>
          <p:cNvPr id="33" name="Text 27"/>
          <p:cNvSpPr/>
          <p:nvPr/>
        </p:nvSpPr>
        <p:spPr>
          <a:xfrm>
            <a:off x="73152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  ·  Pi Network 풀스택 인큐베이팅 플랫폼</a:t>
            </a:r>
            <a:endParaRPr lang="en-US" sz="900" dirty="0"/>
          </a:p>
        </p:txBody>
      </p:sp>
      <p:sp>
        <p:nvSpPr>
          <p:cNvPr id="34" name="Text 28"/>
          <p:cNvSpPr/>
          <p:nvPr/>
        </p:nvSpPr>
        <p:spPr>
          <a:xfrm>
            <a:off x="1115568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64008" cy="841248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749808" y="5486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 ①  ·  GLOBAL COMMUNICATION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10972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018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계정통합 · 다국어 · 실시간 번역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1828800"/>
            <a:ext cx="10725912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6E2F0"/>
            </a:solidFill>
            <a:prstDash val="solid"/>
          </a:ln>
          <a:effectLst>
            <a:outerShdw blurRad="114300" dist="38100" dir="5400000" algn="bl" rotWithShape="0">
              <a:srgbClr val="1A134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51560" y="2139696"/>
            <a:ext cx="731520" cy="731520"/>
          </a:xfrm>
          <a:prstGeom prst="ellipse">
            <a:avLst/>
          </a:prstGeom>
          <a:solidFill>
            <a:srgbClr val="7C3AED"/>
          </a:solidFill>
          <a:ln/>
          <a:effectLst>
            <a:outerShdw blurRad="114300" dist="38100" dir="5400000" algn="bl" rotWithShape="0">
              <a:srgbClr val="1A134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9070" y="2337206"/>
            <a:ext cx="336499" cy="33649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57400" y="20299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018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계정통합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2057400" y="254203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HMAC 세션 · 크로스 브라우저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257800" y="2066544"/>
            <a:ext cx="0" cy="877824"/>
          </a:xfrm>
          <a:prstGeom prst="line">
            <a:avLst/>
          </a:prstGeom>
          <a:noFill/>
          <a:ln w="12700">
            <a:solidFill>
              <a:srgbClr val="E6E2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5532120" y="2011680"/>
            <a:ext cx="57150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018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계정 + Google 계정을 6자리 OTP로 안전하게 연동. Pi Browser 쿠키 미저장 문제를 X-Pi-Token 이중 경로로 완벽 우회.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31520" y="3438144"/>
            <a:ext cx="10725912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6E2F0"/>
            </a:solidFill>
            <a:prstDash val="solid"/>
          </a:ln>
          <a:effectLst>
            <a:outerShdw blurRad="114300" dist="38100" dir="5400000" algn="bl" rotWithShape="0">
              <a:srgbClr val="1A134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1051560" y="3749040"/>
            <a:ext cx="731520" cy="731520"/>
          </a:xfrm>
          <a:prstGeom prst="ellipse">
            <a:avLst/>
          </a:prstGeom>
          <a:solidFill>
            <a:srgbClr val="1C7293"/>
          </a:solidFill>
          <a:ln/>
          <a:effectLst>
            <a:outerShdw blurRad="114300" dist="38100" dir="5400000" algn="bl" rotWithShape="0">
              <a:srgbClr val="1A134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9070" y="3946550"/>
            <a:ext cx="336499" cy="336499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057400" y="363931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018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페이지 다국어 처리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2057400" y="415137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next-intl v4 · 22개 언어 기본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257800" y="3675888"/>
            <a:ext cx="0" cy="877824"/>
          </a:xfrm>
          <a:prstGeom prst="line">
            <a:avLst/>
          </a:prstGeom>
          <a:noFill/>
          <a:ln w="12700">
            <a:solidFill>
              <a:srgbClr val="E6E2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4"/>
          <p:cNvSpPr/>
          <p:nvPr/>
        </p:nvSpPr>
        <p:spPr>
          <a:xfrm>
            <a:off x="5532120" y="3621024"/>
            <a:ext cx="57150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018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203개 locale 선점 등록, 통화·국가 자동 매핑. ko 정본 기준 AI 자동번역(Gemini 2.5 Flash)으로 재배포 없이 언어 확장.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731520" y="5047488"/>
            <a:ext cx="10725912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6E2F0"/>
            </a:solidFill>
            <a:prstDash val="solid"/>
          </a:ln>
          <a:effectLst>
            <a:outerShdw blurRad="114300" dist="38100" dir="5400000" algn="bl" rotWithShape="0">
              <a:srgbClr val="1A134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1051560" y="5358384"/>
            <a:ext cx="731520" cy="731520"/>
          </a:xfrm>
          <a:prstGeom prst="ellipse">
            <a:avLst/>
          </a:prstGeom>
          <a:solidFill>
            <a:srgbClr val="F5A623"/>
          </a:solidFill>
          <a:ln/>
          <a:effectLst>
            <a:outerShdw blurRad="114300" dist="38100" dir="5400000" algn="bl" rotWithShape="0">
              <a:srgbClr val="1A134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9070" y="5555894"/>
            <a:ext cx="336499" cy="336499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2057400" y="524865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018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채팅 실시간 번역</a:t>
            </a:r>
            <a:endParaRPr lang="en-US" sz="1700" dirty="0"/>
          </a:p>
        </p:txBody>
      </p:sp>
      <p:sp>
        <p:nvSpPr>
          <p:cNvPr id="23" name="Text 18"/>
          <p:cNvSpPr/>
          <p:nvPr/>
        </p:nvSpPr>
        <p:spPr>
          <a:xfrm>
            <a:off x="2057400" y="57607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5A6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Gemini Flash + Claude Haiku 하이브리드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5257800" y="5285232"/>
            <a:ext cx="0" cy="877824"/>
          </a:xfrm>
          <a:prstGeom prst="line">
            <a:avLst/>
          </a:prstGeom>
          <a:noFill/>
          <a:ln w="12700">
            <a:solidFill>
              <a:srgbClr val="E6E2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0"/>
          <p:cNvSpPr/>
          <p:nvPr/>
        </p:nvSpPr>
        <p:spPr>
          <a:xfrm>
            <a:off x="5532120" y="5230368"/>
            <a:ext cx="57150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018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PiTranslate™ — 어떤 언어로 채팅해도 상대의 선택 언어로 1초 내 동시통역. 캐시·중복 제거로 비용 약 76% 절감.</a:t>
            </a:r>
            <a:endParaRPr lang="en-US" sz="1300" dirty="0"/>
          </a:p>
        </p:txBody>
      </p:sp>
      <p:sp>
        <p:nvSpPr>
          <p:cNvPr id="26" name="Text 21"/>
          <p:cNvSpPr/>
          <p:nvPr/>
        </p:nvSpPr>
        <p:spPr>
          <a:xfrm>
            <a:off x="73152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  ·  Pi Network 풀스택 인큐베이팅 플랫폼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1115568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64008" cy="841248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749808" y="5486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 ②  ·  PI ECONOMY ENGINE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10972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018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결제·송금 · 구독 · 에스크로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1783080"/>
            <a:ext cx="3465576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2F0"/>
            </a:solidFill>
            <a:prstDash val="solid"/>
          </a:ln>
          <a:effectLst>
            <a:outerShdw blurRad="114300" dist="38100" dir="5400000" algn="bl" rotWithShape="0">
              <a:srgbClr val="1A134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31520" y="1783080"/>
            <a:ext cx="3465576" cy="109728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097280" y="2167128"/>
            <a:ext cx="841248" cy="841248"/>
          </a:xfrm>
          <a:prstGeom prst="ellipse">
            <a:avLst/>
          </a:prstGeom>
          <a:solidFill>
            <a:srgbClr val="F5A623"/>
          </a:solidFill>
          <a:ln/>
          <a:effectLst>
            <a:outerShdw blurRad="114300" dist="38100" dir="5400000" algn="bl" rotWithShape="0">
              <a:srgbClr val="1A134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4417" y="2394265"/>
            <a:ext cx="386974" cy="38697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2779776" y="2240280"/>
            <a:ext cx="1097280" cy="38404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2779776" y="224028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PiRC1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1097280" y="3200400"/>
            <a:ext cx="27340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018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· 송금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097280" y="3657600"/>
            <a:ext cx="28254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6B6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Coin U2A 3단계 결제 흐름. 미완료 결제 자동 복구로 영구 차단 트랩 방지.</a:t>
            </a:r>
            <a:endParaRPr lang="en-US" sz="12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568" y="4690872"/>
            <a:ext cx="164592" cy="16459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353312" y="4626864"/>
            <a:ext cx="2551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018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메타데이터 7종 분기</a:t>
            </a:r>
            <a:endParaRPr lang="en-US" sz="115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568" y="5056632"/>
            <a:ext cx="164592" cy="16459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53312" y="4992624"/>
            <a:ext cx="2551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018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A2U 자동 송금·환불</a:t>
            </a:r>
            <a:endParaRPr lang="en-US" sz="115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568" y="5422392"/>
            <a:ext cx="164592" cy="16459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353312" y="5358384"/>
            <a:ext cx="2551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018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측 금액 재검증</a:t>
            </a:r>
            <a:endParaRPr lang="en-US" sz="1150" dirty="0"/>
          </a:p>
        </p:txBody>
      </p:sp>
      <p:sp>
        <p:nvSpPr>
          <p:cNvPr id="19" name="Shape 13"/>
          <p:cNvSpPr/>
          <p:nvPr/>
        </p:nvSpPr>
        <p:spPr>
          <a:xfrm>
            <a:off x="4361688" y="1783080"/>
            <a:ext cx="3465576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2F0"/>
            </a:solidFill>
            <a:prstDash val="solid"/>
          </a:ln>
          <a:effectLst>
            <a:outerShdw blurRad="114300" dist="38100" dir="5400000" algn="bl" rotWithShape="0">
              <a:srgbClr val="1A134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4"/>
          <p:cNvSpPr/>
          <p:nvPr/>
        </p:nvSpPr>
        <p:spPr>
          <a:xfrm>
            <a:off x="4361688" y="1783080"/>
            <a:ext cx="3465576" cy="10972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5"/>
          <p:cNvSpPr/>
          <p:nvPr/>
        </p:nvSpPr>
        <p:spPr>
          <a:xfrm>
            <a:off x="4727448" y="2167128"/>
            <a:ext cx="841248" cy="841248"/>
          </a:xfrm>
          <a:prstGeom prst="ellipse">
            <a:avLst/>
          </a:prstGeom>
          <a:solidFill>
            <a:srgbClr val="7C3AED"/>
          </a:solidFill>
          <a:ln/>
          <a:effectLst>
            <a:outerShdw blurRad="114300" dist="38100" dir="5400000" algn="bl" rotWithShape="0">
              <a:srgbClr val="1A134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4585" y="2394265"/>
            <a:ext cx="386974" cy="386974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6409944" y="2240280"/>
            <a:ext cx="1097280" cy="38404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7"/>
          <p:cNvSpPr/>
          <p:nvPr/>
        </p:nvSpPr>
        <p:spPr>
          <a:xfrm>
            <a:off x="6409944" y="224028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PiRC2</a:t>
            </a:r>
            <a:endParaRPr lang="en-US" sz="1250" dirty="0"/>
          </a:p>
        </p:txBody>
      </p:sp>
      <p:sp>
        <p:nvSpPr>
          <p:cNvPr id="25" name="Text 18"/>
          <p:cNvSpPr/>
          <p:nvPr/>
        </p:nvSpPr>
        <p:spPr>
          <a:xfrm>
            <a:off x="4727448" y="3200400"/>
            <a:ext cx="27340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018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구독 서비스</a:t>
            </a:r>
            <a:endParaRPr lang="en-US" sz="1800" dirty="0"/>
          </a:p>
        </p:txBody>
      </p:sp>
      <p:sp>
        <p:nvSpPr>
          <p:cNvPr id="26" name="Text 19"/>
          <p:cNvSpPr/>
          <p:nvPr/>
        </p:nvSpPr>
        <p:spPr>
          <a:xfrm>
            <a:off x="4727448" y="3657600"/>
            <a:ext cx="28254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6B6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Soroban 스마트 컨트랙트 기반 반복 결제. 플랜·자동갱신·체험기간 관리.</a:t>
            </a:r>
            <a:endParaRPr lang="en-US" sz="12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5736" y="4690872"/>
            <a:ext cx="164592" cy="164592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4983480" y="4626864"/>
            <a:ext cx="2551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018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register / subscribe / process</a:t>
            </a:r>
            <a:endParaRPr lang="en-US" sz="1150" dirty="0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5736" y="5056632"/>
            <a:ext cx="164592" cy="164592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4983480" y="4992624"/>
            <a:ext cx="2551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018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월·연 구독 플랜</a:t>
            </a:r>
            <a:endParaRPr lang="en-US" sz="1150" dirty="0"/>
          </a:p>
        </p:txBody>
      </p:sp>
      <p:pic>
        <p:nvPicPr>
          <p:cNvPr id="31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5736" y="5422392"/>
            <a:ext cx="164592" cy="164592"/>
          </a:xfrm>
          <a:prstGeom prst="rect">
            <a:avLst/>
          </a:prstGeom>
        </p:spPr>
      </p:pic>
      <p:sp>
        <p:nvSpPr>
          <p:cNvPr id="32" name="Text 22"/>
          <p:cNvSpPr/>
          <p:nvPr/>
        </p:nvSpPr>
        <p:spPr>
          <a:xfrm>
            <a:off x="4983480" y="5358384"/>
            <a:ext cx="2551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018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자동갱신 토글</a:t>
            </a:r>
            <a:endParaRPr lang="en-US" sz="1150" dirty="0"/>
          </a:p>
        </p:txBody>
      </p:sp>
      <p:sp>
        <p:nvSpPr>
          <p:cNvPr id="33" name="Shape 23"/>
          <p:cNvSpPr/>
          <p:nvPr/>
        </p:nvSpPr>
        <p:spPr>
          <a:xfrm>
            <a:off x="7991856" y="1783080"/>
            <a:ext cx="3465576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2F0"/>
            </a:solidFill>
            <a:prstDash val="solid"/>
          </a:ln>
          <a:effectLst>
            <a:outerShdw blurRad="114300" dist="38100" dir="5400000" algn="bl" rotWithShape="0">
              <a:srgbClr val="1A134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4"/>
          <p:cNvSpPr/>
          <p:nvPr/>
        </p:nvSpPr>
        <p:spPr>
          <a:xfrm>
            <a:off x="7991856" y="1783080"/>
            <a:ext cx="3465576" cy="10972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5"/>
          <p:cNvSpPr/>
          <p:nvPr/>
        </p:nvSpPr>
        <p:spPr>
          <a:xfrm>
            <a:off x="8357616" y="2167128"/>
            <a:ext cx="841248" cy="841248"/>
          </a:xfrm>
          <a:prstGeom prst="ellipse">
            <a:avLst/>
          </a:prstGeom>
          <a:solidFill>
            <a:srgbClr val="1C7293"/>
          </a:solidFill>
          <a:ln/>
          <a:effectLst>
            <a:outerShdw blurRad="114300" dist="38100" dir="5400000" algn="bl" rotWithShape="0">
              <a:srgbClr val="1A134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84753" y="2394265"/>
            <a:ext cx="386974" cy="386974"/>
          </a:xfrm>
          <a:prstGeom prst="rect">
            <a:avLst/>
          </a:prstGeom>
        </p:spPr>
      </p:pic>
      <p:sp>
        <p:nvSpPr>
          <p:cNvPr id="37" name="Shape 26"/>
          <p:cNvSpPr/>
          <p:nvPr/>
        </p:nvSpPr>
        <p:spPr>
          <a:xfrm>
            <a:off x="10040112" y="2240280"/>
            <a:ext cx="1097280" cy="384048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Text 27"/>
          <p:cNvSpPr/>
          <p:nvPr/>
        </p:nvSpPr>
        <p:spPr>
          <a:xfrm>
            <a:off x="10040112" y="224028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PiRC3</a:t>
            </a:r>
            <a:endParaRPr lang="en-US" sz="1250" dirty="0"/>
          </a:p>
        </p:txBody>
      </p:sp>
      <p:sp>
        <p:nvSpPr>
          <p:cNvPr id="39" name="Text 28"/>
          <p:cNvSpPr/>
          <p:nvPr/>
        </p:nvSpPr>
        <p:spPr>
          <a:xfrm>
            <a:off x="8357616" y="3200400"/>
            <a:ext cx="27340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018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에스크로 서비스</a:t>
            </a:r>
            <a:endParaRPr lang="en-US" sz="1800" dirty="0"/>
          </a:p>
        </p:txBody>
      </p:sp>
      <p:sp>
        <p:nvSpPr>
          <p:cNvPr id="40" name="Text 29"/>
          <p:cNvSpPr/>
          <p:nvPr/>
        </p:nvSpPr>
        <p:spPr>
          <a:xfrm>
            <a:off x="8357616" y="3657600"/>
            <a:ext cx="28254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6B6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P2P 직거래 대금을 플랫폼이 보관·정산. 분쟁 조정으로 거래 신뢰 확보.</a:t>
            </a:r>
            <a:endParaRPr lang="en-US" sz="1200" dirty="0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5904" y="4690872"/>
            <a:ext cx="164592" cy="164592"/>
          </a:xfrm>
          <a:prstGeom prst="rect">
            <a:avLst/>
          </a:prstGeom>
        </p:spPr>
      </p:pic>
      <p:sp>
        <p:nvSpPr>
          <p:cNvPr id="42" name="Text 30"/>
          <p:cNvSpPr/>
          <p:nvPr/>
        </p:nvSpPr>
        <p:spPr>
          <a:xfrm>
            <a:off x="8613648" y="4626864"/>
            <a:ext cx="2551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018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 상태머신</a:t>
            </a:r>
            <a:endParaRPr lang="en-US" sz="1150" dirty="0"/>
          </a:p>
        </p:txBody>
      </p:sp>
      <p:pic>
        <p:nvPicPr>
          <p:cNvPr id="43" name="Image 1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5904" y="5056632"/>
            <a:ext cx="164592" cy="164592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8613648" y="4992624"/>
            <a:ext cx="2551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018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취소수수료·역할 판정</a:t>
            </a:r>
            <a:endParaRPr lang="en-US" sz="1150" dirty="0"/>
          </a:p>
        </p:txBody>
      </p:sp>
      <p:pic>
        <p:nvPicPr>
          <p:cNvPr id="45" name="Image 1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5904" y="5422392"/>
            <a:ext cx="164592" cy="164592"/>
          </a:xfrm>
          <a:prstGeom prst="rect">
            <a:avLst/>
          </a:prstGeom>
        </p:spPr>
      </p:pic>
      <p:sp>
        <p:nvSpPr>
          <p:cNvPr id="46" name="Text 32"/>
          <p:cNvSpPr/>
          <p:nvPr/>
        </p:nvSpPr>
        <p:spPr>
          <a:xfrm>
            <a:off x="8613648" y="5358384"/>
            <a:ext cx="2551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018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 에스크로 정산</a:t>
            </a:r>
            <a:endParaRPr lang="en-US" sz="1150" dirty="0"/>
          </a:p>
        </p:txBody>
      </p:sp>
      <p:sp>
        <p:nvSpPr>
          <p:cNvPr id="47" name="Text 33"/>
          <p:cNvSpPr/>
          <p:nvPr/>
        </p:nvSpPr>
        <p:spPr>
          <a:xfrm>
            <a:off x="73152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  ·  Pi Network 풀스택 인큐베이팅 플랫폼</a:t>
            </a:r>
            <a:endParaRPr lang="en-US" sz="900" dirty="0"/>
          </a:p>
        </p:txBody>
      </p:sp>
      <p:sp>
        <p:nvSpPr>
          <p:cNvPr id="48" name="Text 34"/>
          <p:cNvSpPr/>
          <p:nvPr/>
        </p:nvSpPr>
        <p:spPr>
          <a:xfrm>
            <a:off x="1115568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64008" cy="841248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749808" y="5486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 ③  ·  LOCATION-BASED O2O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10972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018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위치기반 커뮤니티 · 중고 직거래 · 오프라인 매장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169164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6B6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온라인 커뮤니티에서 시작해 실물경제로 흐르는 완전 순환 — 동의 기반 위치 수집으로 거리 가까운 사용자·상품·매장을 연결합니다.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31520" y="2395728"/>
            <a:ext cx="33832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2F0"/>
            </a:solidFill>
            <a:prstDash val="solid"/>
          </a:ln>
          <a:effectLst>
            <a:outerShdw blurRad="114300" dist="38100" dir="5400000" algn="bl" rotWithShape="0">
              <a:srgbClr val="1A134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874520" y="2779776"/>
            <a:ext cx="1097280" cy="1097280"/>
          </a:xfrm>
          <a:prstGeom prst="ellipse">
            <a:avLst/>
          </a:prstGeom>
          <a:solidFill>
            <a:srgbClr val="7C3AED"/>
          </a:solidFill>
          <a:ln/>
          <a:effectLst>
            <a:outerShdw blurRad="114300" dist="38100" dir="5400000" algn="bl" rotWithShape="0">
              <a:srgbClr val="1A134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0786" y="3076042"/>
            <a:ext cx="504749" cy="50474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60120" y="2578608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E2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1005840" y="408736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2018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위치기반 커뮤니티</a:t>
            </a:r>
            <a:endParaRPr lang="en-US" sz="1650" dirty="0"/>
          </a:p>
        </p:txBody>
      </p:sp>
      <p:sp>
        <p:nvSpPr>
          <p:cNvPr id="11" name="Text 8"/>
          <p:cNvSpPr/>
          <p:nvPr/>
        </p:nvSpPr>
        <p:spPr>
          <a:xfrm>
            <a:off x="1051560" y="459028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8000"/>
              </a:lnSpc>
              <a:buNone/>
            </a:pPr>
            <a:r>
              <a:rPr lang="en-US" sz="1200" dirty="0">
                <a:solidFill>
                  <a:srgbClr val="6B6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주변 테마 </a:t>
            </a:r>
            <a:r>
              <a:rPr lang="en-US" sz="1200" dirty="0" err="1">
                <a:solidFill>
                  <a:srgbClr val="6B6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</a:t>
            </a:r>
            <a:r>
              <a:rPr lang="en-US" sz="1200" dirty="0">
                <a:solidFill>
                  <a:srgbClr val="6B6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200" dirty="0" err="1">
                <a:solidFill>
                  <a:srgbClr val="6B6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보이스챗</a:t>
            </a:r>
            <a:r>
              <a:rPr lang="ko-KR" altLang="en-US" sz="1200" dirty="0">
                <a:solidFill>
                  <a:srgbClr val="6B6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00" dirty="0" err="1">
                <a:solidFill>
                  <a:srgbClr val="6B6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채널을</a:t>
            </a:r>
            <a:r>
              <a:rPr lang="en-US" sz="1200" dirty="0">
                <a:solidFill>
                  <a:srgbClr val="6B6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거리순으로 탐색. 같은 동네 관심사 사용자와 실시간 연결.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133088" y="3630168"/>
            <a:ext cx="438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4590288" y="2395728"/>
            <a:ext cx="33832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2F0"/>
            </a:solidFill>
            <a:prstDash val="solid"/>
          </a:ln>
          <a:effectLst>
            <a:outerShdw blurRad="114300" dist="38100" dir="5400000" algn="bl" rotWithShape="0">
              <a:srgbClr val="1A134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5733288" y="2779776"/>
            <a:ext cx="1097280" cy="1097280"/>
          </a:xfrm>
          <a:prstGeom prst="ellipse">
            <a:avLst/>
          </a:prstGeom>
          <a:solidFill>
            <a:srgbClr val="F5A623"/>
          </a:solidFill>
          <a:ln/>
          <a:effectLst>
            <a:outerShdw blurRad="114300" dist="38100" dir="5400000" algn="bl" rotWithShape="0">
              <a:srgbClr val="1A134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9554" y="3076042"/>
            <a:ext cx="504749" cy="504749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818888" y="2578608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E2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600" dirty="0"/>
          </a:p>
        </p:txBody>
      </p:sp>
      <p:sp>
        <p:nvSpPr>
          <p:cNvPr id="17" name="Text 13"/>
          <p:cNvSpPr/>
          <p:nvPr/>
        </p:nvSpPr>
        <p:spPr>
          <a:xfrm>
            <a:off x="4864608" y="408736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2018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위치기반 중고 직거래</a:t>
            </a:r>
            <a:endParaRPr lang="en-US" sz="1650" dirty="0"/>
          </a:p>
        </p:txBody>
      </p:sp>
      <p:sp>
        <p:nvSpPr>
          <p:cNvPr id="18" name="Text 14"/>
          <p:cNvSpPr/>
          <p:nvPr/>
        </p:nvSpPr>
        <p:spPr>
          <a:xfrm>
            <a:off x="4910328" y="459028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8000"/>
              </a:lnSpc>
              <a:buNone/>
            </a:pPr>
            <a:r>
              <a:rPr lang="en-US" sz="1200" dirty="0">
                <a:solidFill>
                  <a:srgbClr val="6B6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PiShop(MPS) — Pi Coin 직거래 마켓. 거리 표시로 성사율을 높인 배송 없는 P2P 거래.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7991856" y="3630168"/>
            <a:ext cx="438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800" dirty="0"/>
          </a:p>
        </p:txBody>
      </p:sp>
      <p:sp>
        <p:nvSpPr>
          <p:cNvPr id="20" name="Shape 16"/>
          <p:cNvSpPr/>
          <p:nvPr/>
        </p:nvSpPr>
        <p:spPr>
          <a:xfrm>
            <a:off x="8449056" y="2395728"/>
            <a:ext cx="33832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2F0"/>
            </a:solidFill>
            <a:prstDash val="solid"/>
          </a:ln>
          <a:effectLst>
            <a:outerShdw blurRad="114300" dist="38100" dir="5400000" algn="bl" rotWithShape="0">
              <a:srgbClr val="1A134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7"/>
          <p:cNvSpPr/>
          <p:nvPr/>
        </p:nvSpPr>
        <p:spPr>
          <a:xfrm>
            <a:off x="9592056" y="2779776"/>
            <a:ext cx="1097280" cy="1097280"/>
          </a:xfrm>
          <a:prstGeom prst="ellipse">
            <a:avLst/>
          </a:prstGeom>
          <a:solidFill>
            <a:srgbClr val="1C7293"/>
          </a:solidFill>
          <a:ln/>
          <a:effectLst>
            <a:outerShdw blurRad="114300" dist="38100" dir="5400000" algn="bl" rotWithShape="0">
              <a:srgbClr val="1A134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88322" y="3076042"/>
            <a:ext cx="504749" cy="504749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8677656" y="2578608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E2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600" dirty="0"/>
          </a:p>
        </p:txBody>
      </p:sp>
      <p:sp>
        <p:nvSpPr>
          <p:cNvPr id="24" name="Text 19"/>
          <p:cNvSpPr/>
          <p:nvPr/>
        </p:nvSpPr>
        <p:spPr>
          <a:xfrm>
            <a:off x="8723376" y="408736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2018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오프라인 매장 활성화</a:t>
            </a:r>
            <a:endParaRPr lang="en-US" sz="1650" dirty="0"/>
          </a:p>
        </p:txBody>
      </p:sp>
      <p:sp>
        <p:nvSpPr>
          <p:cNvPr id="25" name="Text 20"/>
          <p:cNvSpPr/>
          <p:nvPr/>
        </p:nvSpPr>
        <p:spPr>
          <a:xfrm>
            <a:off x="8769096" y="459028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8000"/>
              </a:lnSpc>
              <a:buNone/>
            </a:pPr>
            <a:r>
              <a:rPr lang="en-US" sz="1200" dirty="0">
                <a:solidFill>
                  <a:srgbClr val="6B6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 매장 반자동 인증등록 + 오프라인 주문 상태머신(주문→준비→픽업/배달). 지도 위 상품 판매.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73152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  ·  Pi Network 풀스택 인큐베이팅 플랫폼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1115568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64008" cy="841248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749808" y="5486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 ④  ·  ENTERPRISE STANDARD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10972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018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기업형 프로그램 표준 + DB 표준안 제안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1783080"/>
            <a:ext cx="5266944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2F0"/>
            </a:solidFill>
            <a:prstDash val="solid"/>
          </a:ln>
          <a:effectLst>
            <a:outerShdw blurRad="114300" dist="38100" dir="5400000" algn="bl" rotWithShape="0">
              <a:srgbClr val="1A134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31520" y="1783080"/>
            <a:ext cx="5266944" cy="109728"/>
          </a:xfrm>
          <a:prstGeom prst="rect">
            <a:avLst/>
          </a:prstGeom>
          <a:solidFill>
            <a:srgbClr val="4C1D9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115568" y="2203704"/>
            <a:ext cx="868680" cy="868680"/>
          </a:xfrm>
          <a:prstGeom prst="ellipse">
            <a:avLst/>
          </a:prstGeom>
          <a:solidFill>
            <a:srgbClr val="4C1D95"/>
          </a:solidFill>
          <a:ln/>
          <a:effectLst>
            <a:outerShdw blurRad="114300" dist="38100" dir="5400000" algn="bl" rotWithShape="0">
              <a:srgbClr val="1A134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0112" y="2438248"/>
            <a:ext cx="399593" cy="39959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148840" y="2240280"/>
            <a:ext cx="3621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50" b="1" dirty="0">
                <a:solidFill>
                  <a:srgbClr val="2018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기업형 프로그램 표준</a:t>
            </a:r>
            <a:endParaRPr lang="en-US" sz="1850" dirty="0"/>
          </a:p>
        </p:txBody>
      </p:sp>
      <p:sp>
        <p:nvSpPr>
          <p:cNvPr id="10" name="Text 7"/>
          <p:cNvSpPr/>
          <p:nvPr/>
        </p:nvSpPr>
        <p:spPr>
          <a:xfrm>
            <a:off x="2148840" y="2679192"/>
            <a:ext cx="3621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4C1D9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· 권한 · 관리자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1097280" y="3410712"/>
            <a:ext cx="4535424" cy="749808"/>
          </a:xfrm>
          <a:prstGeom prst="rect">
            <a:avLst/>
          </a:prstGeom>
          <a:solidFill>
            <a:srgbClr val="F7F6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1097280" y="3410712"/>
            <a:ext cx="54864" cy="749808"/>
          </a:xfrm>
          <a:prstGeom prst="rect">
            <a:avLst/>
          </a:prstGeom>
          <a:solidFill>
            <a:srgbClr val="4C1D9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1298448" y="3502152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018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로그인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1298448" y="3794760"/>
            <a:ext cx="4261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Pi·Google 이중 인증 경로 + HMAC 세션 표준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1097280" y="4306824"/>
            <a:ext cx="4535424" cy="749808"/>
          </a:xfrm>
          <a:prstGeom prst="rect">
            <a:avLst/>
          </a:prstGeom>
          <a:solidFill>
            <a:srgbClr val="F7F6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1097280" y="4306824"/>
            <a:ext cx="54864" cy="749808"/>
          </a:xfrm>
          <a:prstGeom prst="rect">
            <a:avLst/>
          </a:prstGeom>
          <a:solidFill>
            <a:srgbClr val="4C1D9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1298448" y="4398264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018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체계 (RBAC)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1298448" y="4690872"/>
            <a:ext cx="4261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ADMIN·MASTER·MANAGER·USER 역할 매트릭스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1097280" y="5202936"/>
            <a:ext cx="4535424" cy="749808"/>
          </a:xfrm>
          <a:prstGeom prst="rect">
            <a:avLst/>
          </a:prstGeom>
          <a:solidFill>
            <a:srgbClr val="F7F6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7"/>
          <p:cNvSpPr/>
          <p:nvPr/>
        </p:nvSpPr>
        <p:spPr>
          <a:xfrm>
            <a:off x="1097280" y="5202936"/>
            <a:ext cx="54864" cy="749808"/>
          </a:xfrm>
          <a:prstGeom prst="rect">
            <a:avLst/>
          </a:prstGeom>
          <a:solidFill>
            <a:srgbClr val="4C1D9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1298448" y="5294376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018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시스템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1298448" y="5586984"/>
            <a:ext cx="4261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대시보드·사용자·결제·통계·승인 워크플로우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190488" y="1783080"/>
            <a:ext cx="5266944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2F0"/>
            </a:solidFill>
            <a:prstDash val="solid"/>
          </a:ln>
          <a:effectLst>
            <a:outerShdw blurRad="114300" dist="38100" dir="5400000" algn="bl" rotWithShape="0">
              <a:srgbClr val="1A134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1"/>
          <p:cNvSpPr/>
          <p:nvPr/>
        </p:nvSpPr>
        <p:spPr>
          <a:xfrm>
            <a:off x="6190488" y="1783080"/>
            <a:ext cx="5266944" cy="10972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2"/>
          <p:cNvSpPr/>
          <p:nvPr/>
        </p:nvSpPr>
        <p:spPr>
          <a:xfrm>
            <a:off x="6574536" y="2203704"/>
            <a:ext cx="868680" cy="868680"/>
          </a:xfrm>
          <a:prstGeom prst="ellipse">
            <a:avLst/>
          </a:prstGeom>
          <a:solidFill>
            <a:srgbClr val="1C7293"/>
          </a:solidFill>
          <a:ln/>
          <a:effectLst>
            <a:outerShdw blurRad="114300" dist="38100" dir="5400000" algn="bl" rotWithShape="0">
              <a:srgbClr val="1A134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9080" y="2438248"/>
            <a:ext cx="399593" cy="399593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607808" y="2240280"/>
            <a:ext cx="3621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50" b="1" dirty="0">
                <a:solidFill>
                  <a:srgbClr val="2018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표준안 제안</a:t>
            </a:r>
            <a:endParaRPr lang="en-US" sz="1850" dirty="0"/>
          </a:p>
        </p:txBody>
      </p:sp>
      <p:sp>
        <p:nvSpPr>
          <p:cNvPr id="28" name="Text 24"/>
          <p:cNvSpPr/>
          <p:nvPr/>
        </p:nvSpPr>
        <p:spPr>
          <a:xfrm>
            <a:off x="7607808" y="2679192"/>
            <a:ext cx="3621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· 모델 · 품질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6556248" y="3410712"/>
            <a:ext cx="4535424" cy="749808"/>
          </a:xfrm>
          <a:prstGeom prst="rect">
            <a:avLst/>
          </a:prstGeom>
          <a:solidFill>
            <a:srgbClr val="F7F6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6"/>
          <p:cNvSpPr/>
          <p:nvPr/>
        </p:nvSpPr>
        <p:spPr>
          <a:xfrm>
            <a:off x="6556248" y="3410712"/>
            <a:ext cx="54864" cy="74980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7"/>
          <p:cNvSpPr/>
          <p:nvPr/>
        </p:nvSpPr>
        <p:spPr>
          <a:xfrm>
            <a:off x="6757416" y="3502152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018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(사전)</a:t>
            </a:r>
            <a:endParaRPr lang="en-US" sz="1350" dirty="0"/>
          </a:p>
        </p:txBody>
      </p:sp>
      <p:sp>
        <p:nvSpPr>
          <p:cNvPr id="32" name="Text 28"/>
          <p:cNvSpPr/>
          <p:nvPr/>
        </p:nvSpPr>
        <p:spPr>
          <a:xfrm>
            <a:off x="6757416" y="3794760"/>
            <a:ext cx="4261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표준단어·도메인·용어 사전 + DDL 자동 생성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6556248" y="4306824"/>
            <a:ext cx="4535424" cy="749808"/>
          </a:xfrm>
          <a:prstGeom prst="rect">
            <a:avLst/>
          </a:prstGeom>
          <a:solidFill>
            <a:srgbClr val="F7F6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0"/>
          <p:cNvSpPr/>
          <p:nvPr/>
        </p:nvSpPr>
        <p:spPr>
          <a:xfrm>
            <a:off x="6556248" y="4306824"/>
            <a:ext cx="54864" cy="74980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1"/>
          <p:cNvSpPr/>
          <p:nvPr/>
        </p:nvSpPr>
        <p:spPr>
          <a:xfrm>
            <a:off x="6757416" y="4398264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018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1350" dirty="0"/>
          </a:p>
        </p:txBody>
      </p:sp>
      <p:sp>
        <p:nvSpPr>
          <p:cNvPr id="36" name="Text 32"/>
          <p:cNvSpPr/>
          <p:nvPr/>
        </p:nvSpPr>
        <p:spPr>
          <a:xfrm>
            <a:off x="6757416" y="4690872"/>
            <a:ext cx="4261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150" dirty="0" err="1">
                <a:solidFill>
                  <a:srgbClr val="6B6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한국데이터베이스진흥원</a:t>
            </a:r>
            <a:r>
              <a:rPr lang="en-US" altLang="ko-KR" sz="1150" dirty="0">
                <a:solidFill>
                  <a:srgbClr val="6B6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(kdata.or.kr) </a:t>
            </a:r>
            <a:r>
              <a:rPr lang="ko-KR" altLang="en-US" sz="1150" dirty="0">
                <a:solidFill>
                  <a:srgbClr val="6B6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데이터모델 준수</a:t>
            </a:r>
            <a:endParaRPr lang="en-US" sz="1150" dirty="0"/>
          </a:p>
        </p:txBody>
      </p:sp>
      <p:sp>
        <p:nvSpPr>
          <p:cNvPr id="37" name="Shape 33"/>
          <p:cNvSpPr/>
          <p:nvPr/>
        </p:nvSpPr>
        <p:spPr>
          <a:xfrm>
            <a:off x="6556248" y="5202936"/>
            <a:ext cx="4535424" cy="749808"/>
          </a:xfrm>
          <a:prstGeom prst="rect">
            <a:avLst/>
          </a:prstGeom>
          <a:solidFill>
            <a:srgbClr val="F7F6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4"/>
          <p:cNvSpPr/>
          <p:nvPr/>
        </p:nvSpPr>
        <p:spPr>
          <a:xfrm>
            <a:off x="6556248" y="5202936"/>
            <a:ext cx="54864" cy="74980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5"/>
          <p:cNvSpPr/>
          <p:nvPr/>
        </p:nvSpPr>
        <p:spPr>
          <a:xfrm>
            <a:off x="6757416" y="5294376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018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</a:t>
            </a:r>
            <a:endParaRPr lang="en-US" sz="1350" dirty="0"/>
          </a:p>
        </p:txBody>
      </p:sp>
      <p:sp>
        <p:nvSpPr>
          <p:cNvPr id="40" name="Text 36"/>
          <p:cNvSpPr/>
          <p:nvPr/>
        </p:nvSpPr>
        <p:spPr>
          <a:xfrm>
            <a:off x="6757416" y="5586984"/>
            <a:ext cx="4261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DDL 자동 감사 + 변경이력(Audit) + 승인 게이트</a:t>
            </a:r>
            <a:endParaRPr lang="en-US" sz="1150" dirty="0"/>
          </a:p>
        </p:txBody>
      </p:sp>
      <p:sp>
        <p:nvSpPr>
          <p:cNvPr id="41" name="Text 37"/>
          <p:cNvSpPr/>
          <p:nvPr/>
        </p:nvSpPr>
        <p:spPr>
          <a:xfrm>
            <a:off x="73152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  ·  Pi Network 풀스택 인큐베이팅 플랫폼</a:t>
            </a:r>
            <a:endParaRPr lang="en-US" sz="900" dirty="0"/>
          </a:p>
        </p:txBody>
      </p:sp>
      <p:sp>
        <p:nvSpPr>
          <p:cNvPr id="42" name="Text 38"/>
          <p:cNvSpPr/>
          <p:nvPr/>
        </p:nvSpPr>
        <p:spPr>
          <a:xfrm>
            <a:off x="1115568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3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828800"/>
            <a:ext cx="4754880" cy="4754880"/>
          </a:xfrm>
          <a:prstGeom prst="ellipse">
            <a:avLst/>
          </a:prstGeom>
          <a:solidFill>
            <a:srgbClr val="4C1D95">
              <a:alpha val="4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0241280" y="4206240"/>
            <a:ext cx="3108960" cy="3108960"/>
          </a:xfrm>
          <a:prstGeom prst="ellipse">
            <a:avLst/>
          </a:prstGeom>
          <a:solidFill>
            <a:srgbClr val="F5A623">
              <a:alpha val="28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22960" y="603504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BD3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인큐베이터 패키지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93268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당신의 Pi 앱을 4단계로 인큐베이팅합니다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2615184" cy="2697480"/>
          </a:xfrm>
          <a:prstGeom prst="rect">
            <a:avLst/>
          </a:prstGeom>
          <a:solidFill>
            <a:srgbClr val="241A52"/>
          </a:solidFill>
          <a:ln w="12700">
            <a:solidFill>
              <a:srgbClr val="4C1D9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777240" y="1920240"/>
            <a:ext cx="2615184" cy="914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627632" y="2304288"/>
            <a:ext cx="914400" cy="914400"/>
          </a:xfrm>
          <a:prstGeom prst="ellipse">
            <a:avLst/>
          </a:prstGeom>
          <a:solidFill>
            <a:srgbClr val="7C3AED"/>
          </a:solidFill>
          <a:ln/>
          <a:effectLst>
            <a:outerShdw blurRad="114300" dist="38100" dir="5400000" algn="bl" rotWithShape="0">
              <a:srgbClr val="1A134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4520" y="2551176"/>
            <a:ext cx="420624" cy="42062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60120" y="3337560"/>
            <a:ext cx="2249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베이직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33272" y="3794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C3BB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계정통합．</a:t>
            </a:r>
            <a:r>
              <a:rPr lang="en-US" sz="1100" dirty="0" err="1">
                <a:solidFill>
                  <a:srgbClr val="C3BB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인증·결제</a:t>
            </a:r>
            <a:r>
              <a:rPr lang="ko-KR" altLang="en-US" sz="1100" dirty="0">
                <a:solidFill>
                  <a:srgbClr val="C3BB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（ＰｉＲＣ１）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584448" y="1920240"/>
            <a:ext cx="2615184" cy="2697480"/>
          </a:xfrm>
          <a:prstGeom prst="rect">
            <a:avLst/>
          </a:prstGeom>
          <a:solidFill>
            <a:srgbClr val="241A52"/>
          </a:solidFill>
          <a:ln w="12700">
            <a:solidFill>
              <a:srgbClr val="4C1D9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3584448" y="1920240"/>
            <a:ext cx="2615184" cy="914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4434840" y="2304288"/>
            <a:ext cx="914400" cy="914400"/>
          </a:xfrm>
          <a:prstGeom prst="ellipse">
            <a:avLst/>
          </a:prstGeom>
          <a:solidFill>
            <a:srgbClr val="7C3AED"/>
          </a:solidFill>
          <a:ln/>
          <a:effectLst>
            <a:outerShdw blurRad="114300" dist="38100" dir="5400000" algn="bl" rotWithShape="0">
              <a:srgbClr val="1A134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728" y="2551176"/>
            <a:ext cx="420624" cy="42062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767328" y="3337560"/>
            <a:ext cx="2249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프리미엄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3840480" y="3794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2000"/>
              </a:lnSpc>
            </a:pPr>
            <a:r>
              <a:rPr lang="ko-KR" altLang="en-US" sz="1100" dirty="0">
                <a:solidFill>
                  <a:srgbClr val="C3BB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실시간번역．</a:t>
            </a:r>
            <a:r>
              <a:rPr lang="en-US" sz="1100" dirty="0" err="1">
                <a:solidFill>
                  <a:srgbClr val="C3BB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카페·구독</a:t>
            </a:r>
            <a:r>
              <a:rPr lang="ko-KR" altLang="en-US" sz="1100" dirty="0">
                <a:solidFill>
                  <a:srgbClr val="C3BB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（ＰｉＲＣ２）</a:t>
            </a:r>
            <a:r>
              <a:rPr lang="en-US" sz="1100" dirty="0">
                <a:solidFill>
                  <a:srgbClr val="C3BB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커스터마이징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391656" y="1920240"/>
            <a:ext cx="2615184" cy="2697480"/>
          </a:xfrm>
          <a:prstGeom prst="rect">
            <a:avLst/>
          </a:prstGeom>
          <a:solidFill>
            <a:srgbClr val="241A52"/>
          </a:solidFill>
          <a:ln w="12700">
            <a:solidFill>
              <a:srgbClr val="4C1D9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6391656" y="1920240"/>
            <a:ext cx="2615184" cy="914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7242048" y="2304288"/>
            <a:ext cx="914400" cy="914400"/>
          </a:xfrm>
          <a:prstGeom prst="ellipse">
            <a:avLst/>
          </a:prstGeom>
          <a:solidFill>
            <a:srgbClr val="7C3AED"/>
          </a:solidFill>
          <a:ln/>
          <a:effectLst>
            <a:outerShdw blurRad="114300" dist="38100" dir="5400000" algn="bl" rotWithShape="0">
              <a:srgbClr val="1A134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88936" y="2551176"/>
            <a:ext cx="420624" cy="42062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574536" y="3337560"/>
            <a:ext cx="2249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플래티넘</a:t>
            </a:r>
            <a:endParaRPr lang="en-US" sz="1800" dirty="0"/>
          </a:p>
        </p:txBody>
      </p:sp>
      <p:sp>
        <p:nvSpPr>
          <p:cNvPr id="23" name="Text 18"/>
          <p:cNvSpPr/>
          <p:nvPr/>
        </p:nvSpPr>
        <p:spPr>
          <a:xfrm>
            <a:off x="6647688" y="3794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2000"/>
              </a:lnSpc>
            </a:pPr>
            <a:r>
              <a:rPr lang="ko-KR" altLang="en-US" sz="1100" dirty="0">
                <a:solidFill>
                  <a:srgbClr val="C3BB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위치기반（</a:t>
            </a:r>
            <a:r>
              <a:rPr lang="en-US" sz="1100" dirty="0">
                <a:solidFill>
                  <a:srgbClr val="C3BB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LBS</a:t>
            </a:r>
            <a:r>
              <a:rPr lang="ko-KR" altLang="en-US" sz="1100" dirty="0">
                <a:solidFill>
                  <a:srgbClr val="C3BB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）</a:t>
            </a:r>
            <a:r>
              <a:rPr lang="en-US" sz="1100" dirty="0">
                <a:solidFill>
                  <a:srgbClr val="C3BB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en-US" sz="1100" dirty="0" err="1">
                <a:solidFill>
                  <a:srgbClr val="C3BB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음성·에스크로</a:t>
            </a:r>
            <a:r>
              <a:rPr lang="ko-KR" altLang="en-US" sz="1100" dirty="0">
                <a:solidFill>
                  <a:srgbClr val="C3BB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（ＰｉＲＣ３）</a:t>
            </a:r>
            <a:r>
              <a:rPr lang="en-US" sz="1100" dirty="0">
                <a:solidFill>
                  <a:srgbClr val="C3BB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DB 표준 거버넌스 구축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9198864" y="1920240"/>
            <a:ext cx="2615184" cy="2697480"/>
          </a:xfrm>
          <a:prstGeom prst="rect">
            <a:avLst/>
          </a:prstGeom>
          <a:solidFill>
            <a:srgbClr val="241A52"/>
          </a:solidFill>
          <a:ln w="12700">
            <a:solidFill>
              <a:srgbClr val="4C1D9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0"/>
          <p:cNvSpPr/>
          <p:nvPr/>
        </p:nvSpPr>
        <p:spPr>
          <a:xfrm>
            <a:off x="9198864" y="1920240"/>
            <a:ext cx="2615184" cy="91440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1"/>
          <p:cNvSpPr/>
          <p:nvPr/>
        </p:nvSpPr>
        <p:spPr>
          <a:xfrm>
            <a:off x="10049256" y="2304288"/>
            <a:ext cx="914400" cy="914400"/>
          </a:xfrm>
          <a:prstGeom prst="ellipse">
            <a:avLst/>
          </a:prstGeom>
          <a:solidFill>
            <a:srgbClr val="F5A623"/>
          </a:solidFill>
          <a:ln/>
          <a:effectLst>
            <a:outerShdw blurRad="114300" dist="38100" dir="5400000" algn="bl" rotWithShape="0">
              <a:srgbClr val="1A134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96144" y="2551176"/>
            <a:ext cx="420624" cy="420624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9381744" y="3337560"/>
            <a:ext cx="2249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인피니티</a:t>
            </a:r>
            <a:endParaRPr lang="en-US" sz="1800" dirty="0"/>
          </a:p>
        </p:txBody>
      </p:sp>
      <p:sp>
        <p:nvSpPr>
          <p:cNvPr id="29" name="Text 23"/>
          <p:cNvSpPr/>
          <p:nvPr/>
        </p:nvSpPr>
        <p:spPr>
          <a:xfrm>
            <a:off x="9454896" y="3794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2000"/>
              </a:lnSpc>
              <a:buNone/>
            </a:pPr>
            <a:r>
              <a:rPr lang="en-US" sz="1100" dirty="0">
                <a:solidFill>
                  <a:srgbClr val="C3BB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모듈 + 전용 자문·운영 + 외주 연계</a:t>
            </a:r>
            <a:endParaRPr lang="en-US" sz="1100" dirty="0"/>
          </a:p>
        </p:txBody>
      </p:sp>
      <p:sp>
        <p:nvSpPr>
          <p:cNvPr id="30" name="Shape 24"/>
          <p:cNvSpPr/>
          <p:nvPr/>
        </p:nvSpPr>
        <p:spPr>
          <a:xfrm>
            <a:off x="777240" y="5029200"/>
            <a:ext cx="73152" cy="914400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5"/>
          <p:cNvSpPr/>
          <p:nvPr/>
        </p:nvSpPr>
        <p:spPr>
          <a:xfrm>
            <a:off x="1005840" y="502920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Pi가 온라인에서 오프라인 실물경제로 흐르는 완전한 순환.</a:t>
            </a:r>
            <a:endParaRPr lang="en-US" sz="16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650" dirty="0">
                <a:solidFill>
                  <a:srgbClr val="CFC8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검증된 플랫폼 위에서, 당신의 아이디어를 가장 빠르게 출시하세요.</a:t>
            </a:r>
            <a:endParaRPr lang="en-US" sz="1650" dirty="0"/>
          </a:p>
        </p:txBody>
      </p:sp>
      <p:sp>
        <p:nvSpPr>
          <p:cNvPr id="32" name="Text 26"/>
          <p:cNvSpPr/>
          <p:nvPr/>
        </p:nvSpPr>
        <p:spPr>
          <a:xfrm>
            <a:off x="8595360" y="61996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BD38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loginpi.vercel.app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803</Words>
  <Application>Microsoft Office PowerPoint</Application>
  <PresentationFormat>와이드스크린</PresentationFormat>
  <Paragraphs>133</Paragraphs>
  <Slides>8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1" baseType="lpstr">
      <vt:lpstr>맑은 고딕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Cafe.pi 인큐베이팅 소개서</dc:title>
  <dc:subject>PptxGenJS Presentation</dc:subject>
  <dc:creator>anakin</dc:creator>
  <cp:lastModifiedBy>영록 원</cp:lastModifiedBy>
  <cp:revision>3</cp:revision>
  <dcterms:created xsi:type="dcterms:W3CDTF">2026-06-16T12:08:38Z</dcterms:created>
  <dcterms:modified xsi:type="dcterms:W3CDTF">2026-06-16T21:31:23Z</dcterms:modified>
</cp:coreProperties>
</file>