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1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554480"/>
            <a:ext cx="5120640" cy="5120640"/>
          </a:xfrm>
          <a:prstGeom prst="ellipse">
            <a:avLst/>
          </a:prstGeom>
          <a:solidFill>
            <a:srgbClr val="5B2A9D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3108960"/>
            <a:ext cx="3840480" cy="3840480"/>
          </a:xfrm>
          <a:prstGeom prst="ellipse">
            <a:avLst/>
          </a:prstGeom>
          <a:solidFill>
            <a:srgbClr val="7C3AED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784080" y="914400"/>
            <a:ext cx="1371600" cy="1371600"/>
          </a:xfrm>
          <a:prstGeom prst="ellipse">
            <a:avLst/>
          </a:prstGeom>
          <a:solidFill>
            <a:srgbClr val="F5B731"/>
          </a:solidFill>
          <a:ln/>
        </p:spPr>
      </p:sp>
      <p:sp>
        <p:nvSpPr>
          <p:cNvPr id="5" name="Text 3"/>
          <p:cNvSpPr/>
          <p:nvPr/>
        </p:nvSpPr>
        <p:spPr>
          <a:xfrm>
            <a:off x="9784080" y="841248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A11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π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1371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F5B73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NETWORK COMMUNITY PLATFORM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178308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cafe.pi</a:t>
            </a:r>
            <a:endParaRPr lang="en-US" sz="6400" dirty="0"/>
          </a:p>
        </p:txBody>
      </p:sp>
      <p:sp>
        <p:nvSpPr>
          <p:cNvPr id="8" name="Text 6"/>
          <p:cNvSpPr/>
          <p:nvPr/>
        </p:nvSpPr>
        <p:spPr>
          <a:xfrm>
            <a:off x="822960" y="30632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5B73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전세계가 모이는 Pi 커뮤니티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822960" y="36118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BE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그리고, 코딩을 몰라도 누구나 쉽게 시작하는 나만의 Pi 서비스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411480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7AC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쉽게 만들어 · 쉽게 설치하고 · 쉽게 쓴다 — 훈민정음의 정신으로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22960" y="5715000"/>
            <a:ext cx="10515600" cy="0"/>
          </a:xfrm>
          <a:prstGeom prst="line">
            <a:avLst/>
          </a:prstGeom>
          <a:noFill/>
          <a:ln w="12700">
            <a:solidFill>
              <a:srgbClr val="5B2A9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5852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B73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loginpi.vercel.app</a:t>
            </a:r>
            <a:pPr indent="0" marL="0">
              <a:buNone/>
            </a:pPr>
            <a:r>
              <a:rPr lang="en-US" sz="1300" dirty="0">
                <a:solidFill>
                  <a:srgbClr val="B7AC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지금 무료로 열려 있습니다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0" y="58521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7AC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제품소개서 · 2026.06.21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1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4206240"/>
            <a:ext cx="4389120" cy="4389120"/>
          </a:xfrm>
          <a:prstGeom prst="ellipse">
            <a:avLst/>
          </a:prstGeom>
          <a:solidFill>
            <a:srgbClr val="5B2A9D">
              <a:alpha val="3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F5B73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OUR PHILOSOPHY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84124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훈민정음의 정신으로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0881360" cy="1600200"/>
          </a:xfrm>
          <a:prstGeom prst="rect">
            <a:avLst/>
          </a:prstGeom>
          <a:solidFill>
            <a:srgbClr val="2A1A66"/>
          </a:solidFill>
          <a:ln/>
          <a:effectLst>
            <a:outerShdw sx="100000" sy="100000" kx="0" ky="0" algn="bl" rotWithShape="0" blurRad="114300" dist="38100" dir="8100000">
              <a:srgbClr val="1A1145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828800"/>
            <a:ext cx="109728" cy="1600200"/>
          </a:xfrm>
          <a:prstGeom prst="rect">
            <a:avLst/>
          </a:prstGeom>
          <a:solidFill>
            <a:srgbClr val="F5B731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920240"/>
            <a:ext cx="10241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"만들고 싶은 Pi 앱이 있어도, 기술이 없어 펴지 못하는 파이오니어가 많으니라.
</a:t>
            </a:r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9CF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내 이를 위하여 가엾이 여겨, </a:t>
            </a:r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5B73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쉽게 가져다 쓰게</a:t>
            </a:r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9CF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하노라."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40080" y="3749040"/>
            <a:ext cx="3520440" cy="1783080"/>
          </a:xfrm>
          <a:prstGeom prst="rect">
            <a:avLst/>
          </a:prstGeom>
          <a:solidFill>
            <a:srgbClr val="2A1A66"/>
          </a:solidFill>
          <a:ln w="12700">
            <a:solidFill>
              <a:srgbClr val="5B2A9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4041648"/>
            <a:ext cx="777240" cy="777240"/>
          </a:xfrm>
          <a:prstGeom prst="ellipse">
            <a:avLst/>
          </a:prstGeom>
          <a:solidFill>
            <a:srgbClr val="5B2A9D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40233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🇰🇷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828800" y="41605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B73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자주(自主)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32688" y="480060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9CF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생태계가 외부 빅테크 없이 자립한다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480560" y="3749040"/>
            <a:ext cx="3520440" cy="1783080"/>
          </a:xfrm>
          <a:prstGeom prst="rect">
            <a:avLst/>
          </a:prstGeom>
          <a:solidFill>
            <a:srgbClr val="2A1A66"/>
          </a:solidFill>
          <a:ln w="12700">
            <a:solidFill>
              <a:srgbClr val="5B2A9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54880" y="4041648"/>
            <a:ext cx="777240" cy="777240"/>
          </a:xfrm>
          <a:prstGeom prst="ellipse">
            <a:avLst/>
          </a:prstGeom>
          <a:solidFill>
            <a:srgbClr val="5B2A9D"/>
          </a:solidFill>
          <a:ln/>
        </p:spPr>
      </p:sp>
      <p:sp>
        <p:nvSpPr>
          <p:cNvPr id="15" name="Text 13"/>
          <p:cNvSpPr/>
          <p:nvPr/>
        </p:nvSpPr>
        <p:spPr>
          <a:xfrm>
            <a:off x="4754880" y="40233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🤍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5669280" y="41605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B73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애민(愛民)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773168" y="480060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9CF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없는 파이오니어를 위해 만든다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321040" y="3749040"/>
            <a:ext cx="3520440" cy="1783080"/>
          </a:xfrm>
          <a:prstGeom prst="rect">
            <a:avLst/>
          </a:prstGeom>
          <a:solidFill>
            <a:srgbClr val="2A1A66"/>
          </a:solidFill>
          <a:ln w="12700">
            <a:solidFill>
              <a:srgbClr val="5B2A9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595360" y="4041648"/>
            <a:ext cx="777240" cy="777240"/>
          </a:xfrm>
          <a:prstGeom prst="ellipse">
            <a:avLst/>
          </a:prstGeom>
          <a:solidFill>
            <a:srgbClr val="5B2A9D"/>
          </a:solidFill>
          <a:ln/>
        </p:spPr>
      </p:sp>
      <p:sp>
        <p:nvSpPr>
          <p:cNvPr id="20" name="Text 18"/>
          <p:cNvSpPr/>
          <p:nvPr/>
        </p:nvSpPr>
        <p:spPr>
          <a:xfrm>
            <a:off x="8595360" y="40233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⚡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9509760" y="41605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B73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실용(實用)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613648" y="480060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9CF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쉽게 만들고 · 설치하고 · 쓴다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앱을 못 만들던 사람도, 만들 수 있는 세상.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2A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CAFE.PI란?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커뮤니티가 모이는 광장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760720" cy="4206240"/>
          </a:xfrm>
          <a:prstGeom prst="rect">
            <a:avLst/>
          </a:prstGeom>
          <a:solidFill>
            <a:srgbClr val="1A1145"/>
          </a:solidFill>
          <a:ln/>
          <a:effectLst>
            <a:outerShdw sx="100000" sy="100000" kx="0" ky="0" algn="bl" rotWithShape="0" blurRad="114300" dist="38100" dir="8100000">
              <a:srgbClr val="1A1145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965960"/>
            <a:ext cx="5212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우리가 직접 만들고 운영하는
</a:t>
            </a:r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전세계 Pi 사용자의
</a:t>
            </a:r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5B73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커뮤니티 광장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68680" y="429768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BE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계정만 있으면 누구나 들어와 관심사로 모이고, Pi를 주고받습니다. 지금 무료로 열려 있습니다.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52578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B73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 마디 설명보다, 한 번 들어와 보세요 → loginpi.vercel.app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583680" y="1600200"/>
            <a:ext cx="5029200" cy="19933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1A1145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83680" y="1600200"/>
            <a:ext cx="91440" cy="1993392"/>
          </a:xfrm>
          <a:prstGeom prst="rect">
            <a:avLst/>
          </a:prstGeom>
          <a:solidFill>
            <a:srgbClr val="F5B731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0" y="1965960"/>
            <a:ext cx="914400" cy="914400"/>
          </a:xfrm>
          <a:prstGeom prst="ellipse">
            <a:avLst/>
          </a:prstGeom>
          <a:solidFill>
            <a:srgbClr val="EEE9F8"/>
          </a:solidFill>
          <a:ln/>
        </p:spPr>
      </p:sp>
      <p:sp>
        <p:nvSpPr>
          <p:cNvPr id="11" name="Text 9"/>
          <p:cNvSpPr/>
          <p:nvPr/>
        </p:nvSpPr>
        <p:spPr>
          <a:xfrm>
            <a:off x="6903720" y="1947672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🗣️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8001000" y="20116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5B2A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PiChat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8001000" y="2560320"/>
            <a:ext cx="3337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4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관심사로 모이는 채팅·카페 커뮤니티. 실시간 동시통역으로 언어 장벽 없이.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583680" y="3813048"/>
            <a:ext cx="5029200" cy="19933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1A1145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583680" y="3813048"/>
            <a:ext cx="91440" cy="1993392"/>
          </a:xfrm>
          <a:prstGeom prst="rect">
            <a:avLst/>
          </a:prstGeom>
          <a:solidFill>
            <a:srgbClr val="F5B731"/>
          </a:solidFill>
          <a:ln/>
        </p:spPr>
      </p:sp>
      <p:sp>
        <p:nvSpPr>
          <p:cNvPr id="16" name="Shape 14"/>
          <p:cNvSpPr/>
          <p:nvPr/>
        </p:nvSpPr>
        <p:spPr>
          <a:xfrm>
            <a:off x="6903720" y="4178808"/>
            <a:ext cx="914400" cy="914400"/>
          </a:xfrm>
          <a:prstGeom prst="ellipse">
            <a:avLst/>
          </a:prstGeom>
          <a:solidFill>
            <a:srgbClr val="EEE9F8"/>
          </a:solidFill>
          <a:ln/>
        </p:spPr>
      </p:sp>
      <p:sp>
        <p:nvSpPr>
          <p:cNvPr id="17" name="Text 15"/>
          <p:cNvSpPr/>
          <p:nvPr/>
        </p:nvSpPr>
        <p:spPr>
          <a:xfrm>
            <a:off x="6903720" y="41605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🛒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8001000" y="422452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5B2A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PiShop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8001000" y="4773168"/>
            <a:ext cx="3337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4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Pi로 사고파는 직거래 장터. 내 주변 위치 기반으로 안전하게.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B8B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8B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cafe.pi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2A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우리의 약속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지금, 우리가 집중하는 네 가지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19933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1A1145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03120"/>
            <a:ext cx="960120" cy="960120"/>
          </a:xfrm>
          <a:prstGeom prst="ellipse">
            <a:avLst/>
          </a:prstGeom>
          <a:solidFill>
            <a:srgbClr val="5B2A9D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084832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🗣️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011680" y="194767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PiChat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2011680" y="2386584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2A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전세계가 모이는 커뮤니티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011680" y="2788920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4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무료로 시작 — 사람이 먼저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00200"/>
            <a:ext cx="5394960" cy="19933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1A1145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83680" y="2103120"/>
            <a:ext cx="960120" cy="9601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0" y="2084832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🛒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7726680" y="194767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PiShop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7726680" y="2386584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2A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Pi를 쓰는 곳을 넓힌다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26680" y="2788920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4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중고거래부터 내 주변까지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886200"/>
            <a:ext cx="5394960" cy="19933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1A1145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68680" y="4389120"/>
            <a:ext cx="960120" cy="960120"/>
          </a:xfrm>
          <a:prstGeom prst="ellipse">
            <a:avLst/>
          </a:prstGeom>
          <a:solidFill>
            <a:srgbClr val="2A1A66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4370832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🧰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2011680" y="423367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StarterKit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2011680" y="4672584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2A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나만의 Pi 서비스를 쉽게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011680" y="5074920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4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$100~$500, 부담 없이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63640" y="3886200"/>
            <a:ext cx="5394960" cy="19933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1A1145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583680" y="4389120"/>
            <a:ext cx="960120" cy="960120"/>
          </a:xfrm>
          <a:prstGeom prst="ellipse">
            <a:avLst/>
          </a:prstGeom>
          <a:solidFill>
            <a:srgbClr val="9B8BC4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0" y="4370832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🤝</a:t>
            </a:r>
            <a:endParaRPr lang="en-US" sz="3400" dirty="0"/>
          </a:p>
        </p:txBody>
      </p:sp>
      <p:sp>
        <p:nvSpPr>
          <p:cNvPr id="25" name="Text 23"/>
          <p:cNvSpPr/>
          <p:nvPr/>
        </p:nvSpPr>
        <p:spPr>
          <a:xfrm>
            <a:off x="7726680" y="423367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큰 프로젝트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7726680" y="4672584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2A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규모 있는 일은 함께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726680" y="5074920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4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믿을 파트너와 연계·외주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B8B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8B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cafe.pi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566160" cy="6858000"/>
          </a:xfrm>
          <a:prstGeom prst="rect">
            <a:avLst/>
          </a:prstGeom>
          <a:solidFill>
            <a:srgbClr val="5B2A9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5B73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약속 ①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PiChat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2926080"/>
            <a:ext cx="2743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0EB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전세계 Pi 사용자가 관심사로 모이는 커뮤니티. 사람을 모으는 일이 가장 먼저입니다.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931920" y="1188720"/>
            <a:ext cx="7711135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1A1145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206240" y="1508760"/>
            <a:ext cx="594360" cy="594360"/>
          </a:xfrm>
          <a:prstGeom prst="ellipse">
            <a:avLst/>
          </a:prstGeom>
          <a:solidFill>
            <a:srgbClr val="EEE9F8"/>
          </a:solidFill>
          <a:ln/>
        </p:spPr>
      </p:sp>
      <p:sp>
        <p:nvSpPr>
          <p:cNvPr id="8" name="Text 6"/>
          <p:cNvSpPr/>
          <p:nvPr/>
        </p:nvSpPr>
        <p:spPr>
          <a:xfrm>
            <a:off x="4206240" y="149047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🌐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983480" y="1389888"/>
            <a:ext cx="6430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관심사로 모인다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983480" y="1792224"/>
            <a:ext cx="6385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4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여행·골프·먹방… 같은 취향의 Pi 사용자들과 카페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931920" y="2624328"/>
            <a:ext cx="7711135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1A1145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206240" y="2944368"/>
            <a:ext cx="594360" cy="594360"/>
          </a:xfrm>
          <a:prstGeom prst="ellipse">
            <a:avLst/>
          </a:prstGeom>
          <a:solidFill>
            <a:srgbClr val="EEE9F8"/>
          </a:solidFill>
          <a:ln/>
        </p:spPr>
      </p:sp>
      <p:sp>
        <p:nvSpPr>
          <p:cNvPr id="13" name="Text 11"/>
          <p:cNvSpPr/>
          <p:nvPr/>
        </p:nvSpPr>
        <p:spPr>
          <a:xfrm>
            <a:off x="4206240" y="29260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💬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983480" y="2825496"/>
            <a:ext cx="6430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언어 장벽이 없다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83480" y="3227832"/>
            <a:ext cx="6385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4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동시통역 — 어떤 언어로 써도 내 언어로 읽힘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931920" y="4059936"/>
            <a:ext cx="7711135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1A1145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206240" y="4379976"/>
            <a:ext cx="594360" cy="594360"/>
          </a:xfrm>
          <a:prstGeom prst="ellipse">
            <a:avLst/>
          </a:prstGeom>
          <a:solidFill>
            <a:srgbClr val="EEE9F8"/>
          </a:solidFill>
          <a:ln/>
        </p:spPr>
      </p:sp>
      <p:sp>
        <p:nvSpPr>
          <p:cNvPr id="18" name="Text 16"/>
          <p:cNvSpPr/>
          <p:nvPr/>
        </p:nvSpPr>
        <p:spPr>
          <a:xfrm>
            <a:off x="4206240" y="436168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🎁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983480" y="4261104"/>
            <a:ext cx="6430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무료로 시작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983480" y="4663440"/>
            <a:ext cx="6385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4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오픈은 전액 무료 → 자리잡으면 아주 작은 수수료만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931920" y="6355080"/>
            <a:ext cx="77111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2A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먼저, 수익은 천천히. 활성 사용자가 우리의 첫 번째 목표입니다.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B8B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8B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cafe.pi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566160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5B73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약속 ②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PiShop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2926080"/>
            <a:ext cx="2743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0EB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Pi로 사고파는 곳을 넓힙니다. 쓸 곳이 늘수록 Pi의 가치도 커집니다.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931920" y="1188720"/>
            <a:ext cx="7711135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1A1145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206240" y="1508760"/>
            <a:ext cx="594360" cy="594360"/>
          </a:xfrm>
          <a:prstGeom prst="ellipse">
            <a:avLst/>
          </a:prstGeom>
          <a:solidFill>
            <a:srgbClr val="EEE9F8"/>
          </a:solidFill>
          <a:ln/>
        </p:spPr>
      </p:sp>
      <p:sp>
        <p:nvSpPr>
          <p:cNvPr id="8" name="Text 6"/>
          <p:cNvSpPr/>
          <p:nvPr/>
        </p:nvSpPr>
        <p:spPr>
          <a:xfrm>
            <a:off x="4206240" y="149047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📦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983480" y="1389888"/>
            <a:ext cx="6430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직거래부터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983480" y="1792224"/>
            <a:ext cx="6385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4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물건을 Pi로 사고팔기 — 가장 쉬운 시작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931920" y="2624328"/>
            <a:ext cx="7711135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1A1145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206240" y="2944368"/>
            <a:ext cx="594360" cy="594360"/>
          </a:xfrm>
          <a:prstGeom prst="ellipse">
            <a:avLst/>
          </a:prstGeom>
          <a:solidFill>
            <a:srgbClr val="EEE9F8"/>
          </a:solidFill>
          <a:ln/>
        </p:spPr>
      </p:sp>
      <p:sp>
        <p:nvSpPr>
          <p:cNvPr id="13" name="Text 11"/>
          <p:cNvSpPr/>
          <p:nvPr/>
        </p:nvSpPr>
        <p:spPr>
          <a:xfrm>
            <a:off x="4206240" y="29260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📍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983480" y="2825496"/>
            <a:ext cx="6430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주변에서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83480" y="3227832"/>
            <a:ext cx="6385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4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위치 기반으로 가까운 거래를 안전하게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931920" y="4059936"/>
            <a:ext cx="7711135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1A1145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206240" y="4379976"/>
            <a:ext cx="594360" cy="594360"/>
          </a:xfrm>
          <a:prstGeom prst="ellipse">
            <a:avLst/>
          </a:prstGeom>
          <a:solidFill>
            <a:srgbClr val="EEE9F8"/>
          </a:solidFill>
          <a:ln/>
        </p:spPr>
      </p:sp>
      <p:sp>
        <p:nvSpPr>
          <p:cNvPr id="18" name="Text 16"/>
          <p:cNvSpPr/>
          <p:nvPr/>
        </p:nvSpPr>
        <p:spPr>
          <a:xfrm>
            <a:off x="4206240" y="436168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🌱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983480" y="4261104"/>
            <a:ext cx="6430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Pi를 진짜 돈으로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983480" y="4663440"/>
            <a:ext cx="6385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4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Pi를 쓸 곳이 많아질수록, Pi는 진짜 화폐가 됩니다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931920" y="6355080"/>
            <a:ext cx="77111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2A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Pi의 사용처를 키우는 것 — 이것이 cafe.pi 생태계의 든든한 교두보입니다.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B8B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8B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cafe.pi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566160" cy="6858000"/>
          </a:xfrm>
          <a:prstGeom prst="rect">
            <a:avLst/>
          </a:prstGeom>
          <a:solidFill>
            <a:srgbClr val="2A1A6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5B73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약속 ③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StarterKit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2926080"/>
            <a:ext cx="2743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0EB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나만의 Pi 서비스를 갖고 싶다면 — 코딩을 몰라도, 작게 시작할 수 있습니다.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931920" y="1188720"/>
            <a:ext cx="7711135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1A1145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206240" y="1508760"/>
            <a:ext cx="594360" cy="594360"/>
          </a:xfrm>
          <a:prstGeom prst="ellipse">
            <a:avLst/>
          </a:prstGeom>
          <a:solidFill>
            <a:srgbClr val="EEE9F8"/>
          </a:solidFill>
          <a:ln/>
        </p:spPr>
      </p:sp>
      <p:sp>
        <p:nvSpPr>
          <p:cNvPr id="8" name="Text 6"/>
          <p:cNvSpPr/>
          <p:nvPr/>
        </p:nvSpPr>
        <p:spPr>
          <a:xfrm>
            <a:off x="4206240" y="149047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🧰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983480" y="1389888"/>
            <a:ext cx="6430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검증된 부품을 그대로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983480" y="1792224"/>
            <a:ext cx="6385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4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 만들어 운영 중인 모듈을 골라 빠르게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931920" y="2624328"/>
            <a:ext cx="7711135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1A1145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206240" y="2944368"/>
            <a:ext cx="594360" cy="594360"/>
          </a:xfrm>
          <a:prstGeom prst="ellipse">
            <a:avLst/>
          </a:prstGeom>
          <a:solidFill>
            <a:srgbClr val="EEE9F8"/>
          </a:solidFill>
          <a:ln/>
        </p:spPr>
      </p:sp>
      <p:sp>
        <p:nvSpPr>
          <p:cNvPr id="13" name="Text 11"/>
          <p:cNvSpPr/>
          <p:nvPr/>
        </p:nvSpPr>
        <p:spPr>
          <a:xfrm>
            <a:off x="4206240" y="29260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🤝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983480" y="2825496"/>
            <a:ext cx="6430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컨설팅과 함께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83480" y="3227832"/>
            <a:ext cx="6385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4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기술이 없어도 됩니다. 함께 설계하고 세워드립니다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931920" y="4059936"/>
            <a:ext cx="7711135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1A1145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206240" y="4379976"/>
            <a:ext cx="594360" cy="594360"/>
          </a:xfrm>
          <a:prstGeom prst="ellipse">
            <a:avLst/>
          </a:prstGeom>
          <a:solidFill>
            <a:srgbClr val="EEE9F8"/>
          </a:solidFill>
          <a:ln/>
        </p:spPr>
      </p:sp>
      <p:sp>
        <p:nvSpPr>
          <p:cNvPr id="18" name="Text 16"/>
          <p:cNvSpPr/>
          <p:nvPr/>
        </p:nvSpPr>
        <p:spPr>
          <a:xfrm>
            <a:off x="4206240" y="436168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💰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983480" y="4261104"/>
            <a:ext cx="6430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$100 ~ $500, 부담 없이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983480" y="4663440"/>
            <a:ext cx="6385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4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비용 없이 작게 시작 → 필요한 만큼 확장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931920" y="6355080"/>
            <a:ext cx="77111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2A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비싸게 적게가 아니라, 누구나 쉽게. 더 많은 분이 Pi 서비스를 갖는 게 목표입니다.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B8B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8B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cafe.pi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2A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STARTERKIT 구성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$100~$500 — 필요한 만큼만 골라 담으세요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9748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1A1145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40180" y="1828800"/>
            <a:ext cx="914400" cy="914400"/>
          </a:xfrm>
          <a:prstGeom prst="ellipse">
            <a:avLst/>
          </a:prstGeom>
          <a:solidFill>
            <a:srgbClr val="EEE9F8"/>
          </a:solidFill>
          <a:ln/>
        </p:spPr>
      </p:sp>
      <p:sp>
        <p:nvSpPr>
          <p:cNvPr id="6" name="Text 4"/>
          <p:cNvSpPr/>
          <p:nvPr/>
        </p:nvSpPr>
        <p:spPr>
          <a:xfrm>
            <a:off x="1440180" y="1810512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🔐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640080" y="27889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로그인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58368" y="3072384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4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계정 보안 로그인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64992" y="1554480"/>
            <a:ext cx="269748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1A1145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256532" y="1828800"/>
            <a:ext cx="914400" cy="914400"/>
          </a:xfrm>
          <a:prstGeom prst="ellipse">
            <a:avLst/>
          </a:prstGeom>
          <a:solidFill>
            <a:srgbClr val="EEE9F8"/>
          </a:solidFill>
          <a:ln/>
        </p:spPr>
      </p:sp>
      <p:sp>
        <p:nvSpPr>
          <p:cNvPr id="11" name="Text 9"/>
          <p:cNvSpPr/>
          <p:nvPr/>
        </p:nvSpPr>
        <p:spPr>
          <a:xfrm>
            <a:off x="4256532" y="1810512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💳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3456432" y="27889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결제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474720" y="3072384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4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Coin 결제 + 자동 복구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81344" y="1554480"/>
            <a:ext cx="269748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1A1145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072884" y="1828800"/>
            <a:ext cx="914400" cy="914400"/>
          </a:xfrm>
          <a:prstGeom prst="ellipse">
            <a:avLst/>
          </a:prstGeom>
          <a:solidFill>
            <a:srgbClr val="EEE9F8"/>
          </a:solidFill>
          <a:ln/>
        </p:spPr>
      </p:sp>
      <p:sp>
        <p:nvSpPr>
          <p:cNvPr id="16" name="Text 14"/>
          <p:cNvSpPr/>
          <p:nvPr/>
        </p:nvSpPr>
        <p:spPr>
          <a:xfrm>
            <a:off x="7072884" y="1810512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🔗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6272784" y="27889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 연동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291072" y="3072384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4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+ Google 안전 연결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997696" y="1554480"/>
            <a:ext cx="269748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1A1145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889236" y="1828800"/>
            <a:ext cx="914400" cy="914400"/>
          </a:xfrm>
          <a:prstGeom prst="ellipse">
            <a:avLst/>
          </a:prstGeom>
          <a:solidFill>
            <a:srgbClr val="EEE9F8"/>
          </a:solidFill>
          <a:ln/>
        </p:spPr>
      </p:sp>
      <p:sp>
        <p:nvSpPr>
          <p:cNvPr id="21" name="Text 19"/>
          <p:cNvSpPr/>
          <p:nvPr/>
        </p:nvSpPr>
        <p:spPr>
          <a:xfrm>
            <a:off x="9889236" y="1810512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🛠️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9089136" y="27889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9107424" y="3072384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4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사용자·결제 통합 관리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3566160"/>
            <a:ext cx="269748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1A1145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440180" y="3840480"/>
            <a:ext cx="914400" cy="914400"/>
          </a:xfrm>
          <a:prstGeom prst="ellipse">
            <a:avLst/>
          </a:prstGeom>
          <a:solidFill>
            <a:srgbClr val="EEE9F8"/>
          </a:solidFill>
          <a:ln/>
        </p:spPr>
      </p:sp>
      <p:sp>
        <p:nvSpPr>
          <p:cNvPr id="26" name="Text 24"/>
          <p:cNvSpPr/>
          <p:nvPr/>
        </p:nvSpPr>
        <p:spPr>
          <a:xfrm>
            <a:off x="1440180" y="3822192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640080" y="480060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게시판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658368" y="5084064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4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공지·자유·질문·자료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364992" y="3566160"/>
            <a:ext cx="269748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1A1145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256532" y="3840480"/>
            <a:ext cx="914400" cy="914400"/>
          </a:xfrm>
          <a:prstGeom prst="ellipse">
            <a:avLst/>
          </a:prstGeom>
          <a:solidFill>
            <a:srgbClr val="EEE9F8"/>
          </a:solidFill>
          <a:ln/>
        </p:spPr>
      </p:sp>
      <p:sp>
        <p:nvSpPr>
          <p:cNvPr id="31" name="Text 29"/>
          <p:cNvSpPr/>
          <p:nvPr/>
        </p:nvSpPr>
        <p:spPr>
          <a:xfrm>
            <a:off x="4256532" y="3822192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🗄️</a:t>
            </a:r>
            <a:endParaRPr lang="en-US" sz="3200" dirty="0"/>
          </a:p>
        </p:txBody>
      </p:sp>
      <p:sp>
        <p:nvSpPr>
          <p:cNvPr id="32" name="Text 30"/>
          <p:cNvSpPr/>
          <p:nvPr/>
        </p:nvSpPr>
        <p:spPr>
          <a:xfrm>
            <a:off x="3456432" y="480060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표준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3474720" y="5084064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4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기업급 데이터 품질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181344" y="3566160"/>
            <a:ext cx="269748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1A1145">
                <a:alpha val="1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072884" y="3840480"/>
            <a:ext cx="914400" cy="914400"/>
          </a:xfrm>
          <a:prstGeom prst="ellipse">
            <a:avLst/>
          </a:prstGeom>
          <a:solidFill>
            <a:srgbClr val="EEE9F8"/>
          </a:solidFill>
          <a:ln/>
        </p:spPr>
      </p:sp>
      <p:sp>
        <p:nvSpPr>
          <p:cNvPr id="36" name="Text 34"/>
          <p:cNvSpPr/>
          <p:nvPr/>
        </p:nvSpPr>
        <p:spPr>
          <a:xfrm>
            <a:off x="7072884" y="3822192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🌐</a:t>
            </a:r>
            <a:endParaRPr lang="en-US" sz="3200" dirty="0"/>
          </a:p>
        </p:txBody>
      </p:sp>
      <p:sp>
        <p:nvSpPr>
          <p:cNvPr id="37" name="Text 35"/>
          <p:cNvSpPr/>
          <p:nvPr/>
        </p:nvSpPr>
        <p:spPr>
          <a:xfrm>
            <a:off x="6272784" y="480060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다국어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6291072" y="5084064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4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전세계 언어 자동 지원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997696" y="3566160"/>
            <a:ext cx="269748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1A1145">
                <a:alpha val="1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9889236" y="3840480"/>
            <a:ext cx="914400" cy="914400"/>
          </a:xfrm>
          <a:prstGeom prst="ellipse">
            <a:avLst/>
          </a:prstGeom>
          <a:solidFill>
            <a:srgbClr val="EEE9F8"/>
          </a:solidFill>
          <a:ln/>
        </p:spPr>
      </p:sp>
      <p:sp>
        <p:nvSpPr>
          <p:cNvPr id="41" name="Text 39"/>
          <p:cNvSpPr/>
          <p:nvPr/>
        </p:nvSpPr>
        <p:spPr>
          <a:xfrm>
            <a:off x="9889236" y="3822192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📊</a:t>
            </a:r>
            <a:endParaRPr lang="en-US" sz="3200" dirty="0"/>
          </a:p>
        </p:txBody>
      </p:sp>
      <p:sp>
        <p:nvSpPr>
          <p:cNvPr id="42" name="Text 40"/>
          <p:cNvSpPr/>
          <p:nvPr/>
        </p:nvSpPr>
        <p:spPr>
          <a:xfrm>
            <a:off x="9089136" y="480060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통계·프로필</a:t>
            </a:r>
            <a:endParaRPr lang="en-US" sz="1450" dirty="0"/>
          </a:p>
        </p:txBody>
      </p:sp>
      <p:sp>
        <p:nvSpPr>
          <p:cNvPr id="43" name="Text 41"/>
          <p:cNvSpPr/>
          <p:nvPr/>
        </p:nvSpPr>
        <p:spPr>
          <a:xfrm>
            <a:off x="9107424" y="5084064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4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활동 분석 + 마이페이지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2A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 실서비스에서 검증된 부품들입니다 — 처음부터 만들 필요가 없습니다.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B8B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8B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cafe.pi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1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4023360"/>
            <a:ext cx="4389120" cy="4389120"/>
          </a:xfrm>
          <a:prstGeom prst="ellipse">
            <a:avLst/>
          </a:prstGeom>
          <a:solidFill>
            <a:srgbClr val="5B2A9D">
              <a:alpha val="3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5B73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약속 ④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94360" y="8686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프로젝트는, 함께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BE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규모 있는 프로젝트를 직접 다 떠안지 않습니다. 믿을 수 있는 파트너와 연계·외주로 함께합니다.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377440"/>
            <a:ext cx="3520440" cy="2468880"/>
          </a:xfrm>
          <a:prstGeom prst="rect">
            <a:avLst/>
          </a:prstGeom>
          <a:solidFill>
            <a:srgbClr val="2A1A66"/>
          </a:solidFill>
          <a:ln w="12700">
            <a:solidFill>
              <a:srgbClr val="5B2A9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0120" y="2743200"/>
            <a:ext cx="914400" cy="914400"/>
          </a:xfrm>
          <a:prstGeom prst="ellipse">
            <a:avLst/>
          </a:prstGeom>
          <a:solidFill>
            <a:srgbClr val="5B2A9D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724912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🧩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914400" y="379476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B73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건 빠르게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32688" y="420624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9CF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StarterKit으로 가볍게 직접 — 부담 없이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480560" y="2377440"/>
            <a:ext cx="3520440" cy="2468880"/>
          </a:xfrm>
          <a:prstGeom prst="rect">
            <a:avLst/>
          </a:prstGeom>
          <a:solidFill>
            <a:srgbClr val="2A1A66"/>
          </a:solidFill>
          <a:ln w="12700">
            <a:solidFill>
              <a:srgbClr val="5B2A9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00600" y="2743200"/>
            <a:ext cx="914400" cy="914400"/>
          </a:xfrm>
          <a:prstGeom prst="ellipse">
            <a:avLst/>
          </a:prstGeom>
          <a:solidFill>
            <a:srgbClr val="5B2A9D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2724912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🤝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754880" y="379476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B73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건 함께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773168" y="420624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9CF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규모 있는 개발은 검증된 파트너와 연계·외주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321040" y="2377440"/>
            <a:ext cx="3520440" cy="2468880"/>
          </a:xfrm>
          <a:prstGeom prst="rect">
            <a:avLst/>
          </a:prstGeom>
          <a:solidFill>
            <a:srgbClr val="2A1A66"/>
          </a:solidFill>
          <a:ln w="12700">
            <a:solidFill>
              <a:srgbClr val="5B2A9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641080" y="2743200"/>
            <a:ext cx="914400" cy="914400"/>
          </a:xfrm>
          <a:prstGeom prst="ellipse">
            <a:avLst/>
          </a:prstGeom>
          <a:solidFill>
            <a:srgbClr val="5B2A9D"/>
          </a:solidFill>
          <a:ln/>
        </p:spPr>
      </p:sp>
      <p:sp>
        <p:nvSpPr>
          <p:cNvPr id="18" name="Text 16"/>
          <p:cNvSpPr/>
          <p:nvPr/>
        </p:nvSpPr>
        <p:spPr>
          <a:xfrm>
            <a:off x="8641080" y="2724912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8595360" y="379476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B73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코어에 집중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613648" y="420624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9CF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우리는 cafe.pi를 키우는 데 힘을 모읍니다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52578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건 빠르게, 큰 건 함께 — 자원을 cafe.pi에 집중합니다.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B8B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8B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cafe.pi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2A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신뢰의 근거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기획이 아니라, 이미 배포해 운영 중입니다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697480" cy="2377440"/>
          </a:xfrm>
          <a:prstGeom prst="rect">
            <a:avLst/>
          </a:prstGeom>
          <a:solidFill>
            <a:srgbClr val="1A1145"/>
          </a:solidFill>
          <a:ln/>
          <a:effectLst>
            <a:outerShdw sx="100000" sy="100000" kx="0" ky="0" algn="bl" rotWithShape="0" blurRad="114300" dist="38100" dir="8100000">
              <a:srgbClr val="1A1145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210312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5B73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640080" y="308152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 Phase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347472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BE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0단계부터 단계적으로 구현 완료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29000" y="1783080"/>
            <a:ext cx="2697480" cy="2377440"/>
          </a:xfrm>
          <a:prstGeom prst="rect">
            <a:avLst/>
          </a:prstGeom>
          <a:solidFill>
            <a:srgbClr val="1A1145"/>
          </a:solidFill>
          <a:ln/>
          <a:effectLst>
            <a:outerShdw sx="100000" sy="100000" kx="0" ky="0" algn="bl" rotWithShape="0" blurRad="114300" dist="38100" dir="8100000">
              <a:srgbClr val="1A1145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20440" y="210312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5B73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3520440" y="308152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 모듈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11880" y="347472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BE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StarterKit으로 검증된 기능 블록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309360" y="1783080"/>
            <a:ext cx="2697480" cy="2377440"/>
          </a:xfrm>
          <a:prstGeom prst="rect">
            <a:avLst/>
          </a:prstGeom>
          <a:solidFill>
            <a:srgbClr val="1A1145"/>
          </a:solidFill>
          <a:ln/>
          <a:effectLst>
            <a:outerShdw sx="100000" sy="100000" kx="0" ky="0" algn="bl" rotWithShape="0" blurRad="114300" dist="38100" dir="8100000">
              <a:srgbClr val="1A1145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00800" y="210312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5B73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203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6400800" y="308152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 locale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92240" y="347472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BE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세계 국가·통화·언어 자동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189720" y="1783080"/>
            <a:ext cx="2697480" cy="2377440"/>
          </a:xfrm>
          <a:prstGeom prst="rect">
            <a:avLst/>
          </a:prstGeom>
          <a:solidFill>
            <a:srgbClr val="1A1145"/>
          </a:solidFill>
          <a:ln/>
          <a:effectLst>
            <a:outerShdw sx="100000" sy="100000" kx="0" ky="0" algn="bl" rotWithShape="0" blurRad="114300" dist="38100" dir="8100000">
              <a:srgbClr val="1A1145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281160" y="210312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B73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LIVE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9281160" y="308152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실서비스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372600" y="347472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BE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loginpi.vercel.app 운영 중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4526280"/>
            <a:ext cx="11094415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1A1145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4526280"/>
            <a:ext cx="109728" cy="1417320"/>
          </a:xfrm>
          <a:prstGeom prst="rect">
            <a:avLst/>
          </a:prstGeom>
          <a:solidFill>
            <a:srgbClr val="F5B731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47548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검증된 것을 그대로 드립니다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14400" y="521208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4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사용자가 Pi로 로그인·결제·거래하는 환경에서 다듬어진 부품을 그대로 제공합니다. 보안·다국어·데이터 표준까지 기업 수준으로 기본 탑재됩니다.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B8B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8B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cafe.pi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2A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기술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우리가 특히 자신 있는 7가지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3533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A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결제 시스템의 3단계 진화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64208"/>
            <a:ext cx="3291840" cy="1481328"/>
          </a:xfrm>
          <a:prstGeom prst="rect">
            <a:avLst/>
          </a:prstGeom>
          <a:solidFill>
            <a:srgbClr val="9B8BC4"/>
          </a:solidFill>
          <a:ln/>
          <a:effectLst>
            <a:outerShdw sx="100000" sy="100000" kx="0" ky="0" algn="bl" rotWithShape="0" blurRad="114300" dist="38100" dir="8100000">
              <a:srgbClr val="1A1145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1975104"/>
            <a:ext cx="694944" cy="694944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956816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💳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1645920" y="190195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DE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PiRC1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645920" y="2167128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645920" y="256032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B73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★★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822192" y="2121408"/>
            <a:ext cx="594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B8B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343400" y="1664208"/>
            <a:ext cx="3291840" cy="1481328"/>
          </a:xfrm>
          <a:prstGeom prst="rect">
            <a:avLst/>
          </a:prstGeom>
          <a:solidFill>
            <a:srgbClr val="5B2A9D"/>
          </a:solidFill>
          <a:ln/>
          <a:effectLst>
            <a:outerShdw sx="100000" sy="100000" kx="0" ky="0" algn="bl" rotWithShape="0" blurRad="114300" dist="38100" dir="8100000">
              <a:srgbClr val="1A1145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17720" y="1975104"/>
            <a:ext cx="694944" cy="694944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4" name="Text 12"/>
          <p:cNvSpPr/>
          <p:nvPr/>
        </p:nvSpPr>
        <p:spPr>
          <a:xfrm>
            <a:off x="4617720" y="1956816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🔁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5440680" y="190195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DE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PiRC2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40680" y="2167128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구독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5440680" y="256032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B73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★★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616952" y="2121408"/>
            <a:ext cx="594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B8B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8138160" y="1664208"/>
            <a:ext cx="3291840" cy="1481328"/>
          </a:xfrm>
          <a:prstGeom prst="rect">
            <a:avLst/>
          </a:prstGeom>
          <a:solidFill>
            <a:srgbClr val="2A1A66"/>
          </a:solidFill>
          <a:ln/>
          <a:effectLst>
            <a:outerShdw sx="100000" sy="100000" kx="0" ky="0" algn="bl" rotWithShape="0" blurRad="114300" dist="38100" dir="8100000">
              <a:srgbClr val="1A1145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138160" y="1664208"/>
            <a:ext cx="3291840" cy="365760"/>
          </a:xfrm>
          <a:prstGeom prst="rect">
            <a:avLst/>
          </a:prstGeom>
          <a:solidFill>
            <a:srgbClr val="F5B731"/>
          </a:solidFill>
          <a:ln/>
        </p:spPr>
      </p:sp>
      <p:sp>
        <p:nvSpPr>
          <p:cNvPr id="21" name="Text 19"/>
          <p:cNvSpPr/>
          <p:nvPr/>
        </p:nvSpPr>
        <p:spPr>
          <a:xfrm>
            <a:off x="8138160" y="170078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11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강력한 차별점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412480" y="2359152"/>
            <a:ext cx="694944" cy="694944"/>
          </a:xfrm>
          <a:prstGeom prst="ellipse">
            <a:avLst/>
          </a:prstGeom>
          <a:solidFill>
            <a:srgbClr val="F5B731"/>
          </a:solidFill>
          <a:ln/>
        </p:spPr>
      </p:sp>
      <p:sp>
        <p:nvSpPr>
          <p:cNvPr id="23" name="Text 21"/>
          <p:cNvSpPr/>
          <p:nvPr/>
        </p:nvSpPr>
        <p:spPr>
          <a:xfrm>
            <a:off x="8412480" y="2340864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🛡️</a:t>
            </a:r>
            <a:endParaRPr lang="en-US" sz="2300" dirty="0"/>
          </a:p>
        </p:txBody>
      </p:sp>
      <p:sp>
        <p:nvSpPr>
          <p:cNvPr id="24" name="Text 22"/>
          <p:cNvSpPr/>
          <p:nvPr/>
        </p:nvSpPr>
        <p:spPr>
          <a:xfrm>
            <a:off x="9235440" y="22860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B73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PiRC3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235440" y="2551176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에스크로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9235440" y="2944368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B73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★★★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48640" y="3456432"/>
            <a:ext cx="2633472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1A1145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48640" y="3456432"/>
            <a:ext cx="2633472" cy="109728"/>
          </a:xfrm>
          <a:prstGeom prst="rect">
            <a:avLst/>
          </a:prstGeom>
          <a:solidFill>
            <a:srgbClr val="9B8BC4"/>
          </a:solidFill>
          <a:ln/>
        </p:spPr>
      </p:sp>
      <p:sp>
        <p:nvSpPr>
          <p:cNvPr id="29" name="Shape 27"/>
          <p:cNvSpPr/>
          <p:nvPr/>
        </p:nvSpPr>
        <p:spPr>
          <a:xfrm>
            <a:off x="1426464" y="3776472"/>
            <a:ext cx="877824" cy="877824"/>
          </a:xfrm>
          <a:prstGeom prst="ellipse">
            <a:avLst/>
          </a:prstGeom>
          <a:solidFill>
            <a:srgbClr val="EEE9F8"/>
          </a:solidFill>
          <a:ln/>
        </p:spPr>
      </p:sp>
      <p:sp>
        <p:nvSpPr>
          <p:cNvPr id="30" name="Text 28"/>
          <p:cNvSpPr/>
          <p:nvPr/>
        </p:nvSpPr>
        <p:spPr>
          <a:xfrm>
            <a:off x="1426464" y="3758184"/>
            <a:ext cx="87782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🔗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640080" y="4754880"/>
            <a:ext cx="2450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 통합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40080" y="514807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2A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76656" y="539496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4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+ Google 두 계정을 하나로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374136" y="3456432"/>
            <a:ext cx="2633472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1A1145">
                <a:alpha val="1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374136" y="3456432"/>
            <a:ext cx="2633472" cy="109728"/>
          </a:xfrm>
          <a:prstGeom prst="rect">
            <a:avLst/>
          </a:prstGeom>
          <a:solidFill>
            <a:srgbClr val="5B2A9D"/>
          </a:solidFill>
          <a:ln/>
        </p:spPr>
      </p:sp>
      <p:sp>
        <p:nvSpPr>
          <p:cNvPr id="36" name="Shape 34"/>
          <p:cNvSpPr/>
          <p:nvPr/>
        </p:nvSpPr>
        <p:spPr>
          <a:xfrm>
            <a:off x="4251960" y="3776472"/>
            <a:ext cx="877824" cy="877824"/>
          </a:xfrm>
          <a:prstGeom prst="ellipse">
            <a:avLst/>
          </a:prstGeom>
          <a:solidFill>
            <a:srgbClr val="EEE9F8"/>
          </a:solidFill>
          <a:ln/>
        </p:spPr>
      </p:sp>
      <p:sp>
        <p:nvSpPr>
          <p:cNvPr id="37" name="Text 35"/>
          <p:cNvSpPr/>
          <p:nvPr/>
        </p:nvSpPr>
        <p:spPr>
          <a:xfrm>
            <a:off x="4251960" y="3758184"/>
            <a:ext cx="87782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🌐</a:t>
            </a:r>
            <a:endParaRPr lang="en-US" sz="3000" dirty="0"/>
          </a:p>
        </p:txBody>
      </p:sp>
      <p:sp>
        <p:nvSpPr>
          <p:cNvPr id="38" name="Text 36"/>
          <p:cNvSpPr/>
          <p:nvPr/>
        </p:nvSpPr>
        <p:spPr>
          <a:xfrm>
            <a:off x="3465576" y="4754880"/>
            <a:ext cx="2450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203개국 다국어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3465576" y="514807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2A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★★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3502152" y="539496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4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페이지가 전세계 언어로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199632" y="3456432"/>
            <a:ext cx="2633472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1A1145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199632" y="3456432"/>
            <a:ext cx="2633472" cy="109728"/>
          </a:xfrm>
          <a:prstGeom prst="rect">
            <a:avLst/>
          </a:prstGeom>
          <a:solidFill>
            <a:srgbClr val="F5B731"/>
          </a:solidFill>
          <a:ln/>
        </p:spPr>
      </p:sp>
      <p:sp>
        <p:nvSpPr>
          <p:cNvPr id="43" name="Shape 41"/>
          <p:cNvSpPr/>
          <p:nvPr/>
        </p:nvSpPr>
        <p:spPr>
          <a:xfrm>
            <a:off x="7077456" y="3776472"/>
            <a:ext cx="877824" cy="877824"/>
          </a:xfrm>
          <a:prstGeom prst="ellipse">
            <a:avLst/>
          </a:prstGeom>
          <a:solidFill>
            <a:srgbClr val="1A1145"/>
          </a:solidFill>
          <a:ln/>
        </p:spPr>
      </p:sp>
      <p:sp>
        <p:nvSpPr>
          <p:cNvPr id="44" name="Text 42"/>
          <p:cNvSpPr/>
          <p:nvPr/>
        </p:nvSpPr>
        <p:spPr>
          <a:xfrm>
            <a:off x="7077456" y="3758184"/>
            <a:ext cx="87782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💬</a:t>
            </a:r>
            <a:endParaRPr lang="en-US" sz="3000" dirty="0"/>
          </a:p>
        </p:txBody>
      </p:sp>
      <p:sp>
        <p:nvSpPr>
          <p:cNvPr id="45" name="Text 43"/>
          <p:cNvSpPr/>
          <p:nvPr/>
        </p:nvSpPr>
        <p:spPr>
          <a:xfrm>
            <a:off x="6291072" y="4754880"/>
            <a:ext cx="2450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203개국 실시간 채팅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6291072" y="514807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8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★★★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6327648" y="539496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4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언어 달라도 실시간 동시통역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9025128" y="3456432"/>
            <a:ext cx="2633472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1A1145">
                <a:alpha val="1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9025128" y="3456432"/>
            <a:ext cx="2633472" cy="109728"/>
          </a:xfrm>
          <a:prstGeom prst="rect">
            <a:avLst/>
          </a:prstGeom>
          <a:solidFill>
            <a:srgbClr val="F5B731"/>
          </a:solidFill>
          <a:ln/>
        </p:spPr>
      </p:sp>
      <p:sp>
        <p:nvSpPr>
          <p:cNvPr id="50" name="Shape 48"/>
          <p:cNvSpPr/>
          <p:nvPr/>
        </p:nvSpPr>
        <p:spPr>
          <a:xfrm>
            <a:off x="9902952" y="3776472"/>
            <a:ext cx="877824" cy="877824"/>
          </a:xfrm>
          <a:prstGeom prst="ellipse">
            <a:avLst/>
          </a:prstGeom>
          <a:solidFill>
            <a:srgbClr val="1A1145"/>
          </a:solidFill>
          <a:ln/>
        </p:spPr>
      </p:sp>
      <p:sp>
        <p:nvSpPr>
          <p:cNvPr id="51" name="Text 49"/>
          <p:cNvSpPr/>
          <p:nvPr/>
        </p:nvSpPr>
        <p:spPr>
          <a:xfrm>
            <a:off x="9902952" y="3758184"/>
            <a:ext cx="87782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📍</a:t>
            </a:r>
            <a:endParaRPr lang="en-US" sz="3000" dirty="0"/>
          </a:p>
        </p:txBody>
      </p:sp>
      <p:sp>
        <p:nvSpPr>
          <p:cNvPr id="52" name="Text 50"/>
          <p:cNvSpPr/>
          <p:nvPr/>
        </p:nvSpPr>
        <p:spPr>
          <a:xfrm>
            <a:off x="9116568" y="4754880"/>
            <a:ext cx="2450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위치기반 직거래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9116568" y="514807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8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★★★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9153144" y="539496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4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주변 거래에 특화된 강점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548640" y="5943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2A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별이 많을수록, 다른 곳에서 따라 하기 어려운 우리만의 강점입니다.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B8B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8B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cafe.pi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2A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우리의 강점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아무나 못 푸는 Pi Browser 문제, 우리는 해결했습니다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4160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1A1145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600200"/>
            <a:ext cx="5349240" cy="640080"/>
          </a:xfrm>
          <a:prstGeom prst="rect">
            <a:avLst/>
          </a:prstGeom>
          <a:solidFill>
            <a:srgbClr val="B0413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09928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❌  일반 개발사가 겪는 문제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25146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0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51560" y="2514600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Browser는 쿠키를 저장 안 해 로그인이 자꾸 풀린다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77240" y="35204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0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51560" y="3520440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화면이 무한 반복되어 진입조차 못 한다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7240" y="45262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0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51560" y="4526280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마지막 단계를 놓치면 고객이 영구 결제 불가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63640" y="1600200"/>
            <a:ext cx="5349240" cy="4160520"/>
          </a:xfrm>
          <a:prstGeom prst="rect">
            <a:avLst/>
          </a:prstGeom>
          <a:solidFill>
            <a:srgbClr val="1A1145"/>
          </a:solidFill>
          <a:ln/>
          <a:effectLst>
            <a:outerShdw sx="100000" sy="100000" kx="0" ky="0" algn="bl" rotWithShape="0" blurRad="114300" dist="38100" dir="8100000">
              <a:srgbClr val="1A1145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63640" y="1600200"/>
            <a:ext cx="5349240" cy="640080"/>
          </a:xfrm>
          <a:prstGeom prst="rect">
            <a:avLst/>
          </a:prstGeom>
          <a:solidFill>
            <a:srgbClr val="5B2A9D"/>
          </a:solidFill>
          <a:ln/>
        </p:spPr>
      </p:sp>
      <p:sp>
        <p:nvSpPr>
          <p:cNvPr id="15" name="Text 13"/>
          <p:cNvSpPr/>
          <p:nvPr/>
        </p:nvSpPr>
        <p:spPr>
          <a:xfrm>
            <a:off x="6446520" y="1709928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cafe.pi는 해결했습니다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492240" y="2496312"/>
            <a:ext cx="457200" cy="457200"/>
          </a:xfrm>
          <a:prstGeom prst="ellipse">
            <a:avLst/>
          </a:prstGeom>
          <a:solidFill>
            <a:srgbClr val="F5B731"/>
          </a:solidFill>
          <a:ln/>
        </p:spPr>
      </p:sp>
      <p:sp>
        <p:nvSpPr>
          <p:cNvPr id="17" name="Text 15"/>
          <p:cNvSpPr/>
          <p:nvPr/>
        </p:nvSpPr>
        <p:spPr>
          <a:xfrm>
            <a:off x="6492240" y="24780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086600" y="246888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B73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이중 인증 경로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7086600" y="281635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CF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환경에서도 로그인이 유지됩니다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92240" y="3502152"/>
            <a:ext cx="457200" cy="457200"/>
          </a:xfrm>
          <a:prstGeom prst="ellipse">
            <a:avLst/>
          </a:prstGeom>
          <a:solidFill>
            <a:srgbClr val="F5B731"/>
          </a:solidFill>
          <a:ln/>
        </p:spPr>
      </p:sp>
      <p:sp>
        <p:nvSpPr>
          <p:cNvPr id="21" name="Text 19"/>
          <p:cNvSpPr/>
          <p:nvPr/>
        </p:nvSpPr>
        <p:spPr>
          <a:xfrm>
            <a:off x="649224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086600" y="347472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B73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무한 루프 차단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7086600" y="382219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CF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안전한 화면 전환으로 진입 보장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92240" y="4507992"/>
            <a:ext cx="457200" cy="457200"/>
          </a:xfrm>
          <a:prstGeom prst="ellipse">
            <a:avLst/>
          </a:prstGeom>
          <a:solidFill>
            <a:srgbClr val="F5B731"/>
          </a:solidFill>
          <a:ln/>
        </p:spPr>
      </p:sp>
      <p:sp>
        <p:nvSpPr>
          <p:cNvPr id="25" name="Text 23"/>
          <p:cNvSpPr/>
          <p:nvPr/>
        </p:nvSpPr>
        <p:spPr>
          <a:xfrm>
            <a:off x="6492240" y="44897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086600" y="448056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B73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자동 복구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7086600" y="482803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CF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미완료 결제를 스스로 찾아 복구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2A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실기기에서 로그인·결제를 반복 검증해 확보한, 따라 하기 어려운 노하우입니다.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B8B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8B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cafe.pi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1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3840480"/>
            <a:ext cx="5029200" cy="5029200"/>
          </a:xfrm>
          <a:prstGeom prst="ellipse">
            <a:avLst/>
          </a:prstGeom>
          <a:solidFill>
            <a:srgbClr val="5B2A9D">
              <a:alpha val="3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-1463040"/>
            <a:ext cx="4114800" cy="4114800"/>
          </a:xfrm>
          <a:prstGeom prst="ellipse">
            <a:avLst/>
          </a:prstGeom>
          <a:solidFill>
            <a:srgbClr val="7C3AED">
              <a:alpha val="3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400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이렇게 시작합니다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3520440" cy="2194560"/>
          </a:xfrm>
          <a:prstGeom prst="rect">
            <a:avLst/>
          </a:prstGeom>
          <a:solidFill>
            <a:srgbClr val="2A1A66"/>
          </a:solidFill>
          <a:ln w="12700">
            <a:solidFill>
              <a:srgbClr val="5B2A9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2057400"/>
            <a:ext cx="914400" cy="914400"/>
          </a:xfrm>
          <a:prstGeom prst="ellipse">
            <a:avLst/>
          </a:prstGeom>
          <a:solidFill>
            <a:srgbClr val="5B2A9D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039112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👀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914400" y="30632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B73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경험하기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32688" y="342900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CF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cafe.pi에 들어와 직접 써보세요. 지금 무료입니다.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80560" y="1691640"/>
            <a:ext cx="3520440" cy="2194560"/>
          </a:xfrm>
          <a:prstGeom prst="rect">
            <a:avLst/>
          </a:prstGeom>
          <a:solidFill>
            <a:srgbClr val="2A1A66"/>
          </a:solidFill>
          <a:ln w="12700">
            <a:solidFill>
              <a:srgbClr val="5B2A9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00600" y="2057400"/>
            <a:ext cx="914400" cy="914400"/>
          </a:xfrm>
          <a:prstGeom prst="ellipse">
            <a:avLst/>
          </a:prstGeom>
          <a:solidFill>
            <a:srgbClr val="5B2A9D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2039112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💬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754880" y="30632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B73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상담하기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73168" y="342900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CF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나만의 Pi 서비스가 필요하면, 가볍게 물어보세요.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321040" y="1691640"/>
            <a:ext cx="3520440" cy="2194560"/>
          </a:xfrm>
          <a:prstGeom prst="rect">
            <a:avLst/>
          </a:prstGeom>
          <a:solidFill>
            <a:srgbClr val="2A1A66"/>
          </a:solidFill>
          <a:ln w="12700">
            <a:solidFill>
              <a:srgbClr val="5B2A9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641080" y="2057400"/>
            <a:ext cx="914400" cy="914400"/>
          </a:xfrm>
          <a:prstGeom prst="ellipse">
            <a:avLst/>
          </a:prstGeom>
          <a:solidFill>
            <a:srgbClr val="5B2A9D"/>
          </a:solidFill>
          <a:ln/>
        </p:spPr>
      </p:sp>
      <p:sp>
        <p:nvSpPr>
          <p:cNvPr id="17" name="Text 15"/>
          <p:cNvSpPr/>
          <p:nvPr/>
        </p:nvSpPr>
        <p:spPr>
          <a:xfrm>
            <a:off x="8641080" y="2039112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🚀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8595360" y="30632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B73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시작하기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613648" y="342900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CF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StarterKit으로 작게 시작 — 함께 세워드립니다.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4343400"/>
            <a:ext cx="10911535" cy="1143000"/>
          </a:xfrm>
          <a:prstGeom prst="rect">
            <a:avLst/>
          </a:prstGeom>
          <a:solidFill>
            <a:srgbClr val="F5B731"/>
          </a:solidFill>
          <a:ln/>
          <a:effectLst>
            <a:outerShdw sx="100000" sy="100000" kx="0" ky="0" algn="bl" rotWithShape="0" blurRad="114300" dist="38100" dir="8100000">
              <a:srgbClr val="1A1145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22960" y="448056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1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cafe.pi에서 경험하고, 당신만의 Pi 서비스를 작게 시작하세요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822960" y="4956048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2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우리는 제품을 파는 것이 아니라, 함께 cafe.pi를 키우려 합니다. 사람이 모일수록, 모두의 Pi가 커집니다.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cafe.pi</a:t>
            </a:r>
            <a:pPr algn="ctr" indent="0" marL="0">
              <a:buNone/>
            </a:pPr>
            <a:r>
              <a:rPr lang="en-US" sz="1300" dirty="0">
                <a:solidFill>
                  <a:srgbClr val="B7AC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전세계가 모이는 Pi 커뮤니티   ·   </a:t>
            </a:r>
            <a:pPr algn="ctr" indent="0" marL="0">
              <a:buNone/>
            </a:pPr>
            <a:r>
              <a:rPr lang="en-US" sz="1300" b="1" dirty="0">
                <a:solidFill>
                  <a:srgbClr val="F5B73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loginpi.vercel.app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cafe.pi 제품소개서</dc:title>
  <dc:subject>PptxGenJS Presentation</dc:subject>
  <dc:creator>cafe.pi</dc:creator>
  <cp:lastModifiedBy>cafe.pi</cp:lastModifiedBy>
  <cp:revision>1</cp:revision>
  <dcterms:created xsi:type="dcterms:W3CDTF">2026-06-15T12:14:57Z</dcterms:created>
  <dcterms:modified xsi:type="dcterms:W3CDTF">2026-06-15T12:14:57Z</dcterms:modified>
</cp:coreProperties>
</file>