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5B2A9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914400"/>
            <a:ext cx="1371600" cy="1371600"/>
          </a:xfrm>
          <a:prstGeom prst="ellipse">
            <a:avLst/>
          </a:prstGeom>
          <a:solidFill>
            <a:srgbClr val="F5B731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0" y="84124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1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NETWORK COMMUNITY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전세계가 모이는 Pi 커뮤니티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그리고, 코딩을 몰라도 누구나 쉽게 시작하는 나만의 Pi 서비스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A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만들어 · 쉽게 설치하고 · 쉽게 쓴다 — 훈민정음의 정신으로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715000"/>
            <a:ext cx="10515600" cy="0"/>
          </a:xfrm>
          <a:prstGeom prst="line">
            <a:avLst/>
          </a:prstGeom>
          <a:noFill/>
          <a:ln w="12700">
            <a:solidFill>
              <a:srgbClr val="5B2A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loginpi.vercel.app</a:t>
            </a:r>
            <a:pPr indent="0" marL="0">
              <a:buNone/>
            </a:pPr>
            <a:r>
              <a:rPr lang="en-US" sz="1300" dirty="0">
                <a:solidFill>
                  <a:srgbClr val="B7A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지금 무료로 열려 있습니다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5852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7A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제품소개서 · 2026.06.15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389120" cy="4389120"/>
          </a:xfrm>
          <a:prstGeom prst="ellipse">
            <a:avLst/>
          </a:prstGeom>
          <a:solidFill>
            <a:srgbClr val="5B2A9D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훈민정음의 정신으로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600200"/>
          </a:xfrm>
          <a:prstGeom prst="rect">
            <a:avLst/>
          </a:prstGeom>
          <a:solidFill>
            <a:srgbClr val="2A1A66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160020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2024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"만들고 싶은 Pi 앱이 있어도, 기술이 없어 펴지 못하는 파이오니어가 많으니라.
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내 이를 위하여 가엾이 여겨,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가져다 쓰게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하노라."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520440" cy="178308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41648"/>
            <a:ext cx="777240" cy="77724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🇰🇷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2880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자주(自主)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4800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생태계가 외부 빅테크 없이 자립한다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3749040"/>
            <a:ext cx="3520440" cy="178308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4041648"/>
            <a:ext cx="777240" cy="77724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애민(愛民)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73168" y="4800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없는 파이오니어를 위해 만든다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0" y="3749040"/>
            <a:ext cx="3520440" cy="178308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4041648"/>
            <a:ext cx="777240" cy="77724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0976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실용(實用)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13648" y="4800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만들고 · 설치하고 · 쓴다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못 만들던 사람도, 만들 수 있는 세상.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CAFE.PI란?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커뮤니티가 모이는 광장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206240"/>
          </a:xfrm>
          <a:prstGeom prst="rect">
            <a:avLst/>
          </a:prstGeom>
          <a:solidFill>
            <a:srgbClr val="1A1145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직접 만들고 운영하는
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전세계 Pi 사용자의
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광장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297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계정만 있으면 누구나 들어와 관심사로 모이고, Pi를 주고받습니다. 지금 무료로 열려 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 마디 설명보다, 한 번 들어와 보세요 → loginpi.vercel.app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502920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600200"/>
            <a:ext cx="91440" cy="1993392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0" y="196596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9476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00100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PiChat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001000" y="25603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관심사로 모이는 채팅·카페 커뮤니티. 실시간 동시통역으로 언어 장벽 없이.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813048"/>
            <a:ext cx="502920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3813048"/>
            <a:ext cx="91440" cy="1993392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3720" y="4178808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001000" y="4224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PiShop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001000" y="477316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Pi로 사고파는 직거래 장터. 내 주변 위치 기반으로 안전하게.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약속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우리가 집중하는 네 가지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960120" cy="96012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8483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1947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PiChat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011680" y="23865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전세계가 모이는 커뮤니티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 — 사람이 먼저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9496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03120"/>
            <a:ext cx="960120" cy="9601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8483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726680" y="1947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PiShop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26680" y="23865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Pi를 쓰는 곳을 넓힌다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2788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중고거래부터 내 주변까지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39496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389120"/>
            <a:ext cx="960120" cy="960120"/>
          </a:xfrm>
          <a:prstGeom prst="ellipse">
            <a:avLst/>
          </a:prstGeom>
          <a:solidFill>
            <a:srgbClr val="2A1A6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7083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011680" y="4233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StarterKit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011680" y="46725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Pi 서비스를 쉽게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5074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$100~$500, 부담 없이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39496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4389120"/>
            <a:ext cx="960120" cy="960120"/>
          </a:xfrm>
          <a:prstGeom prst="ellipse">
            <a:avLst/>
          </a:prstGeom>
          <a:solidFill>
            <a:srgbClr val="9B8BC4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37083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726680" y="4233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큰 프로젝트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726680" y="46725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있는 일은 함께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26680" y="5074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믿을 파트너와 연계·외주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5B2A9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PiChat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EB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전세계 Pi 사용자가 관심사로 모이는 커뮤니티. 사람을 모으는 일이 가장 먼저입니다.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0" y="1508760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389888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관심사로 모인다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92224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여행·골프·먹방… 같은 취향의 Pi 사용자들과 카페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31920" y="2624328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2944368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825496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장벽이 없다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227832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동시통역 — 어떤 언어로 써도 내 언어로 읽힘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31920" y="4059936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4379976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4361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4261104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오픈은 전액 무료 → 자리잡으면 아주 작은 수수료만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31920" y="6355080"/>
            <a:ext cx="7711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먼저, 수익은 천천히. 활성 사용자가 우리의 첫 번째 목표입니다.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PiShop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EB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Pi로 사고파는 곳을 넓힙니다. 쓸 곳이 늘수록 Pi의 가치도 커집니다.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0" y="1508760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389888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직거래부터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92224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물건을 Pi로 사고팔기 — 가장 쉬운 시작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31920" y="2624328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2944368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825496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주변에서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227832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기반으로 가까운 거래를 안전하게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31920" y="4059936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4379976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4361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4261104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Pi를 진짜 돈으로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Pi를 쓸 곳이 많아질수록, Pi는 진짜 화폐가 됩니다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31920" y="6355080"/>
            <a:ext cx="7711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Pi의 사용처를 키우는 것 — 이것이 cafe.pi 생태계의 든든한 교두보입니다.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A1A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StarterKit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EB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Pi 서비스를 갖고 싶다면 — 코딩을 몰라도, 작게 시작할 수 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0" y="1508760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389888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부품을 그대로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92224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만들어 운영 중인 모듈을 골라 빠르게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31920" y="2624328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2944368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825496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컨설팅과 함께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227832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없어도 됩니다. 함께 설계하고 세워드립니다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31920" y="4059936"/>
            <a:ext cx="7711135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4379976"/>
            <a:ext cx="594360" cy="59436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4361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4261104"/>
            <a:ext cx="6430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$100 ~ $500, 부담 없이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6385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비용 없이 작게 시작 → 필요한 만큼 확장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31920" y="6355080"/>
            <a:ext cx="7711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비싸게 적게가 아니라, 누구나 쉽게. 더 많은 분이 Pi 서비스를 갖는 게 목표입니다.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STARTERKIT 구성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$100~$500 — 필요한 만큼만 골라 담으세요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82880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로그인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307238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계정 보안 로그인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6532" y="182880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1" name="Text 9"/>
          <p:cNvSpPr/>
          <p:nvPr/>
        </p:nvSpPr>
        <p:spPr>
          <a:xfrm>
            <a:off x="4256532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💳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56432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결제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307238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Coin 결제 + 자동 복구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72884" y="182880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16" name="Text 14"/>
          <p:cNvSpPr/>
          <p:nvPr/>
        </p:nvSpPr>
        <p:spPr>
          <a:xfrm>
            <a:off x="7072884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72784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연동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91072" y="307238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+ Google 안전 연결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7696" y="15544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89236" y="182880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21" name="Text 19"/>
          <p:cNvSpPr/>
          <p:nvPr/>
        </p:nvSpPr>
        <p:spPr>
          <a:xfrm>
            <a:off x="9889236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089136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07424" y="307238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사용자·결제 통합 관리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40180" y="384048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26" name="Text 24"/>
          <p:cNvSpPr/>
          <p:nvPr/>
        </p:nvSpPr>
        <p:spPr>
          <a:xfrm>
            <a:off x="1440180" y="3822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0080" y="4800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8368" y="508406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공지·자유·질문·자료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4992" y="35661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6532" y="384048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31" name="Text 29"/>
          <p:cNvSpPr/>
          <p:nvPr/>
        </p:nvSpPr>
        <p:spPr>
          <a:xfrm>
            <a:off x="4256532" y="3822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3456432" y="4800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표준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474720" y="508406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기업급 데이터 품질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1344" y="35661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72884" y="384048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36" name="Text 34"/>
          <p:cNvSpPr/>
          <p:nvPr/>
        </p:nvSpPr>
        <p:spPr>
          <a:xfrm>
            <a:off x="7072884" y="3822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272784" y="4800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291072" y="508406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전세계 언어 자동 지원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97696" y="35661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89236" y="3840480"/>
            <a:ext cx="914400" cy="914400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41" name="Text 39"/>
          <p:cNvSpPr/>
          <p:nvPr/>
        </p:nvSpPr>
        <p:spPr>
          <a:xfrm>
            <a:off x="9889236" y="3822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9089136" y="4800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통계·프로필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07424" y="508406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분석 + 마이페이지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실서비스에서 검증된 부품들입니다 — 처음부터 만들 필요가 없습니다.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023360"/>
            <a:ext cx="4389120" cy="4389120"/>
          </a:xfrm>
          <a:prstGeom prst="ellipse">
            <a:avLst/>
          </a:prstGeom>
          <a:solidFill>
            <a:srgbClr val="5B2A9D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④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프로젝트는, 함께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있는 프로젝트를 직접 다 떠안지 않습니다. 믿을 수 있는 파트너와 연계·외주로 함께합니다.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246888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743200"/>
            <a:ext cx="914400" cy="91440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24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건 빠르게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206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StarterKit으로 가볍게 직접 — 부담 없이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377440"/>
            <a:ext cx="3520440" cy="246888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743200"/>
            <a:ext cx="914400" cy="91440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724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건 함께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73168" y="4206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있는 개발은 검증된 파트너와 연계·외주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2377440"/>
            <a:ext cx="3520440" cy="246888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1080" y="2743200"/>
            <a:ext cx="914400" cy="91440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724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95360" y="3794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코어에 집중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13648" y="4206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cafe.pi를 키우는 데 힘을 모읍니다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건 빠르게, 큰 건 함께 — 자원을 cafe.pi에 집중합니다.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신뢰의 근거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기획이 아니라, 이미 배포해 운영 중입니다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2377440"/>
          </a:xfrm>
          <a:prstGeom prst="rect">
            <a:avLst/>
          </a:prstGeom>
          <a:solidFill>
            <a:srgbClr val="1A1145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Phase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0단계부터 단계적으로 구현 완료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697480" cy="2377440"/>
          </a:xfrm>
          <a:prstGeom prst="rect">
            <a:avLst/>
          </a:prstGeom>
          <a:solidFill>
            <a:srgbClr val="1A1145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520440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모듈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StarterKit으로 검증된 기능 블록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97480" cy="2377440"/>
          </a:xfrm>
          <a:prstGeom prst="rect">
            <a:avLst/>
          </a:prstGeom>
          <a:solidFill>
            <a:srgbClr val="1A1145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00800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locale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국가·통화·언어 자동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783080"/>
            <a:ext cx="2697480" cy="2377440"/>
          </a:xfrm>
          <a:prstGeom prst="rect">
            <a:avLst/>
          </a:prstGeom>
          <a:solidFill>
            <a:srgbClr val="1A1145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81160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7260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loginpi.vercel.app 운영 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94415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26280"/>
            <a:ext cx="109728" cy="141732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것을 그대로 드립니다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5212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사용자가 Pi로 로그인·결제·거래하는 환경에서 다듬어진 부품을 그대로 제공합니다. 보안·다국어·데이터 표준까지 기업 수준으로 기본 탑재됩니다.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특히 자신 있는 7가지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결제 시스템의 3단계 진화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291840" cy="1481328"/>
          </a:xfrm>
          <a:prstGeom prst="rect">
            <a:avLst/>
          </a:prstGeom>
          <a:solidFill>
            <a:srgbClr val="9B8BC4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75104"/>
            <a:ext cx="694944" cy="6949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568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💳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45920" y="1901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D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PiRC1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22192" y="21214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43400" y="1664208"/>
            <a:ext cx="3291840" cy="1481328"/>
          </a:xfrm>
          <a:prstGeom prst="rect">
            <a:avLst/>
          </a:prstGeom>
          <a:solidFill>
            <a:srgbClr val="5B2A9D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75104"/>
            <a:ext cx="694944" cy="6949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9568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440680" y="1901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D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PiRC2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167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40680" y="25603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16952" y="21214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138160" y="1664208"/>
            <a:ext cx="3291840" cy="1481328"/>
          </a:xfrm>
          <a:prstGeom prst="rect">
            <a:avLst/>
          </a:prstGeom>
          <a:solidFill>
            <a:srgbClr val="2A1A66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664208"/>
            <a:ext cx="3291840" cy="36576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700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1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강력한 차별점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0" y="2359152"/>
            <a:ext cx="694944" cy="694944"/>
          </a:xfrm>
          <a:prstGeom prst="ellipse">
            <a:avLst/>
          </a:prstGeom>
          <a:solidFill>
            <a:srgbClr val="F5B73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3408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3544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PiRC3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35440" y="25511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35440" y="2944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456432"/>
            <a:ext cx="263347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456432"/>
            <a:ext cx="2633472" cy="109728"/>
          </a:xfrm>
          <a:prstGeom prst="rect">
            <a:avLst/>
          </a:prstGeom>
          <a:solidFill>
            <a:srgbClr val="9B8BC4"/>
          </a:solidFill>
          <a:ln/>
        </p:spPr>
      </p:sp>
      <p:sp>
        <p:nvSpPr>
          <p:cNvPr id="29" name="Shape 27"/>
          <p:cNvSpPr/>
          <p:nvPr/>
        </p:nvSpPr>
        <p:spPr>
          <a:xfrm>
            <a:off x="1426464" y="3776472"/>
            <a:ext cx="877824" cy="877824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30" name="Text 28"/>
          <p:cNvSpPr/>
          <p:nvPr/>
        </p:nvSpPr>
        <p:spPr>
          <a:xfrm>
            <a:off x="1426464" y="3758184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통합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148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" y="5394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+ Google 두 계정을 하나로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74136" y="3456432"/>
            <a:ext cx="263347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74136" y="3456432"/>
            <a:ext cx="2633472" cy="109728"/>
          </a:xfrm>
          <a:prstGeom prst="rect">
            <a:avLst/>
          </a:prstGeom>
          <a:solidFill>
            <a:srgbClr val="5B2A9D"/>
          </a:solidFill>
          <a:ln/>
        </p:spPr>
      </p:sp>
      <p:sp>
        <p:nvSpPr>
          <p:cNvPr id="36" name="Shape 34"/>
          <p:cNvSpPr/>
          <p:nvPr/>
        </p:nvSpPr>
        <p:spPr>
          <a:xfrm>
            <a:off x="4251960" y="3776472"/>
            <a:ext cx="877824" cy="877824"/>
          </a:xfrm>
          <a:prstGeom prst="ellipse">
            <a:avLst/>
          </a:prstGeom>
          <a:solidFill>
            <a:srgbClr val="EEE9F8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3758184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3465576" y="47548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203개국 다국어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65576" y="5148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02152" y="5394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페이지가 전세계 언어로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3456432"/>
            <a:ext cx="263347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3456432"/>
            <a:ext cx="2633472" cy="109728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43" name="Shape 41"/>
          <p:cNvSpPr/>
          <p:nvPr/>
        </p:nvSpPr>
        <p:spPr>
          <a:xfrm>
            <a:off x="7077456" y="3776472"/>
            <a:ext cx="877824" cy="877824"/>
          </a:xfrm>
          <a:prstGeom prst="ellipse">
            <a:avLst/>
          </a:prstGeom>
          <a:solidFill>
            <a:srgbClr val="1A1145"/>
          </a:solidFill>
          <a:ln/>
        </p:spPr>
      </p:sp>
      <p:sp>
        <p:nvSpPr>
          <p:cNvPr id="44" name="Text 42"/>
          <p:cNvSpPr/>
          <p:nvPr/>
        </p:nvSpPr>
        <p:spPr>
          <a:xfrm>
            <a:off x="7077456" y="3758184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291072" y="47548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203개국 실시간 채팅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91072" y="5148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27648" y="5394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달라도 실시간 동시통역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25128" y="3456432"/>
            <a:ext cx="263347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25128" y="3456432"/>
            <a:ext cx="2633472" cy="109728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50" name="Shape 48"/>
          <p:cNvSpPr/>
          <p:nvPr/>
        </p:nvSpPr>
        <p:spPr>
          <a:xfrm>
            <a:off x="9902952" y="3776472"/>
            <a:ext cx="877824" cy="877824"/>
          </a:xfrm>
          <a:prstGeom prst="ellipse">
            <a:avLst/>
          </a:prstGeom>
          <a:solidFill>
            <a:srgbClr val="1A1145"/>
          </a:solidFill>
          <a:ln/>
        </p:spPr>
      </p:sp>
      <p:sp>
        <p:nvSpPr>
          <p:cNvPr id="51" name="Text 49"/>
          <p:cNvSpPr/>
          <p:nvPr/>
        </p:nvSpPr>
        <p:spPr>
          <a:xfrm>
            <a:off x="9902952" y="3758184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9116568" y="47548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 직거래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16568" y="5148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53144" y="5394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 거래에 특화된 강점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별이 많을수록, 다른 곳에서 따라 하기 어려운 우리만의 강점입니다.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강점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아무나 못 푸는 Pi Browser 문제, 우리는 해결했습니다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64008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99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일반 개발사가 겪는 문제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Browser는 쿠키를 저장 안 해 로그인이 자꾸 풀린다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화면이 무한 반복되어 진입조차 못 한다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5262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마지막 단계를 놓치면 고객이 영구 결제 불가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160520"/>
          </a:xfrm>
          <a:prstGeom prst="rect">
            <a:avLst/>
          </a:prstGeom>
          <a:solidFill>
            <a:srgbClr val="1A1145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00200"/>
            <a:ext cx="5349240" cy="640080"/>
          </a:xfrm>
          <a:prstGeom prst="rect">
            <a:avLst/>
          </a:prstGeom>
          <a:solidFill>
            <a:srgbClr val="5B2A9D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7099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cafe.pi는 해결했습니다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2496312"/>
            <a:ext cx="457200" cy="457200"/>
          </a:xfrm>
          <a:prstGeom prst="ellipse">
            <a:avLst/>
          </a:prstGeom>
          <a:solidFill>
            <a:srgbClr val="F5B73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24688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인증 경로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86600" y="2816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환경에서도 로그인이 유지됩니다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502152"/>
            <a:ext cx="457200" cy="457200"/>
          </a:xfrm>
          <a:prstGeom prst="ellipse">
            <a:avLst/>
          </a:prstGeom>
          <a:solidFill>
            <a:srgbClr val="F5B73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474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루프 차단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822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화면 전환으로 진입 보장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507992"/>
            <a:ext cx="457200" cy="457200"/>
          </a:xfrm>
          <a:prstGeom prst="ellipse">
            <a:avLst/>
          </a:prstGeom>
          <a:solidFill>
            <a:srgbClr val="F5B73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480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자동 복구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86600" y="48280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결제를 스스로 찾아 복구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실기기에서 로그인·결제를 반복 검증해 확보한, 따라 하기 어려운 노하우입니다.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5B2A9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463040"/>
            <a:ext cx="4114800" cy="41148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시작합니다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219456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57400"/>
            <a:ext cx="914400" cy="91440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39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경험하기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cafe.pi에 들어와 직접 써보세요. 지금 무료입니다.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520440" cy="219456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057400"/>
            <a:ext cx="914400" cy="91440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039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상담하기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73168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Pi 서비스가 필요하면, 가볍게 물어보세요.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691640"/>
            <a:ext cx="3520440" cy="2194560"/>
          </a:xfrm>
          <a:prstGeom prst="rect">
            <a:avLst/>
          </a:prstGeom>
          <a:solidFill>
            <a:srgbClr val="2A1A66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2057400"/>
            <a:ext cx="914400" cy="91440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0391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9536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시작하기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13648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StarterKit으로 작게 시작 — 함께 세워드립니다.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11535" cy="1143000"/>
          </a:xfrm>
          <a:prstGeom prst="rect">
            <a:avLst/>
          </a:prstGeom>
          <a:solidFill>
            <a:srgbClr val="F5B731"/>
          </a:solidFill>
          <a:ln/>
          <a:effectLst>
            <a:outerShdw sx="100000" sy="100000" kx="0" ky="0" algn="bl" rotWithShape="0" blurRad="114300" dist="38100" dir="8100000">
              <a:srgbClr val="1A114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480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1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cafe.pi에서 경험하고, 당신만의 Pi 서비스를 작게 시작하세요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" y="49560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제품을 파는 것이 아니라, 함께 cafe.pi를 키우려 합니다. 사람이 모일수록, 모두의 Pi가 커집니다.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pPr algn="ctr" indent="0" marL="0">
              <a:buNone/>
            </a:pPr>
            <a:r>
              <a:rPr lang="en-US" sz="1300" dirty="0">
                <a:solidFill>
                  <a:srgbClr val="B7A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전세계가 모이는 Pi 커뮤니티   ·   </a:t>
            </a:r>
            <a:pPr algn="ctr" indent="0" marL="0">
              <a:buNone/>
            </a:pPr>
            <a:r>
              <a:rPr lang="en-US" sz="13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loginpi.vercel.app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cafe.pi 제품소개서</dc:title>
  <dc:subject>PptxGenJS Presentation</dc:subject>
  <dc:creator>cafe.pi</dc:creator>
  <cp:lastModifiedBy>cafe.pi</cp:lastModifiedBy>
  <cp:revision>1</cp:revision>
  <dcterms:created xsi:type="dcterms:W3CDTF">2026-06-15T12:14:57Z</dcterms:created>
  <dcterms:modified xsi:type="dcterms:W3CDTF">2026-06-15T12:14:57Z</dcterms:modified>
</cp:coreProperties>
</file>