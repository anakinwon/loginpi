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테스트넷=Dev/Staging, 메인넷=Prod. 테스트넷 검증은 메인넷에 승계되지 않으며, 운영(메인넷)은 별도 환경을 새로 구축해 검증·오픈한다.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스테이징은 평소 개발DB(RW)로 안전하게 테스트하고, 필요 시 Edge Config 플래그로 운영DB를 읽기 전용으로만 연결한다. 운영 쓰기·DDL 경로는 원천 차단.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1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95360" y="-1645920"/>
            <a:ext cx="5486400" cy="5486400"/>
          </a:xfrm>
          <a:prstGeom prst="ellipse">
            <a:avLst/>
          </a:prstGeom>
          <a:solidFill>
            <a:srgbClr val="5B2A9D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424160" y="3291840"/>
            <a:ext cx="3657600" cy="3657600"/>
          </a:xfrm>
          <a:prstGeom prst="ellipse">
            <a:avLst/>
          </a:prstGeom>
          <a:solidFill>
            <a:srgbClr val="7C3AED">
              <a:alpha val="3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-1097280" y="4389120"/>
            <a:ext cx="3840480" cy="3840480"/>
          </a:xfrm>
          <a:prstGeom prst="ellipse">
            <a:avLst/>
          </a:prstGeom>
          <a:solidFill>
            <a:srgbClr val="F5B731">
              <a:alpha val="20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8288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F5B73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CAFE.PI · INFRASTRUCTURE STRATEGY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31520" y="2286000"/>
            <a:ext cx="10515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개발 · 스테이징 · 운영</a:t>
            </a:r>
            <a:endParaRPr lang="en-US" sz="4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3단계 환경 전략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777240" y="42976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9B8B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DEV  →  STAGING  →  PRODUCTION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77240" y="50292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B8B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단일 DB·스테이징 부재 현황을 3환경 완전 분리로 — 안전한 마이그레이션·배포 거버넌스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77240" y="60350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4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2026-06-26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5B2A9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WHY · 왜 바꿔야 하나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4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현재(As-Is) → 목표(To-Be)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349240" cy="4206240"/>
          </a:xfrm>
          <a:prstGeom prst="roundRect">
            <a:avLst>
              <a:gd name="adj" fmla="val 2174"/>
            </a:avLst>
          </a:prstGeom>
          <a:solidFill>
            <a:srgbClr val="FFFFFF"/>
          </a:solidFill>
          <a:ln w="15875">
            <a:solidFill>
              <a:srgbClr val="DC2626"/>
            </a:solidFill>
            <a:prstDash val="solid"/>
          </a:ln>
          <a:effectLst>
            <a:outerShdw sx="100000" sy="100000" kx="0" ky="0" algn="bl" rotWithShape="0" blurRad="101600" dist="38100" dir="8100000">
              <a:srgbClr val="1A1145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691640"/>
            <a:ext cx="5349240" cy="640080"/>
          </a:xfrm>
          <a:prstGeom prst="roundRect">
            <a:avLst>
              <a:gd name="adj" fmla="val 14286"/>
            </a:avLst>
          </a:prstGeom>
          <a:solidFill>
            <a:srgbClr val="DC2626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2011680"/>
            <a:ext cx="5349240" cy="32004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1691640"/>
            <a:ext cx="5349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⚠️  현재 (As-Is)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22960" y="2560320"/>
            <a:ext cx="48006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4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DB 1개 — 운영 겸용 (분리 없음)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4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스테이징 환경 없음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4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개발·운영 환경 미분리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4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DB에서 직접 실험 → 사고 위험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4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마이그레이션 검증 단계 부재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309360" y="1691640"/>
            <a:ext cx="5349240" cy="4206240"/>
          </a:xfrm>
          <a:prstGeom prst="roundRect">
            <a:avLst>
              <a:gd name="adj" fmla="val 2174"/>
            </a:avLst>
          </a:prstGeom>
          <a:solidFill>
            <a:srgbClr val="FFFFFF"/>
          </a:solidFill>
          <a:ln w="15875">
            <a:solidFill>
              <a:srgbClr val="16A34A"/>
            </a:solidFill>
            <a:prstDash val="solid"/>
          </a:ln>
          <a:effectLst>
            <a:outerShdw sx="100000" sy="100000" kx="0" ky="0" algn="bl" rotWithShape="0" blurRad="101600" dist="38100" dir="8100000">
              <a:srgbClr val="1A1145">
                <a:alpha val="1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309360" y="1691640"/>
            <a:ext cx="5349240" cy="640080"/>
          </a:xfrm>
          <a:prstGeom prst="roundRect">
            <a:avLst>
              <a:gd name="adj" fmla="val 14286"/>
            </a:avLst>
          </a:prstGeom>
          <a:solidFill>
            <a:srgbClr val="16A34A"/>
          </a:solidFill>
          <a:ln/>
        </p:spPr>
      </p:sp>
      <p:sp>
        <p:nvSpPr>
          <p:cNvPr id="11" name="Shape 9"/>
          <p:cNvSpPr/>
          <p:nvPr/>
        </p:nvSpPr>
        <p:spPr>
          <a:xfrm>
            <a:off x="6309360" y="2011680"/>
            <a:ext cx="5349240" cy="32004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2" name="Text 10"/>
          <p:cNvSpPr/>
          <p:nvPr/>
        </p:nvSpPr>
        <p:spPr>
          <a:xfrm>
            <a:off x="6309360" y="1691640"/>
            <a:ext cx="5349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✅  목표 (To-Be)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583680" y="2560320"/>
            <a:ext cx="48006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4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3환경 완전 분리 (Dev·Staging·Prod)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4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DB도 환경별 독립 프로젝트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4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Dev→Staging→Prod 마이그레이션 파이프라인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4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데이터·시크릿 격리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4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스테이징에서 리허설 후 운영 반영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11430000" y="6382512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B8B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48640" y="6382512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B8B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cafe.pi · Infrastructure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5B2A9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CORE · 핵심 구조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4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3단계 환경 아키텍처 — 환경마다 완전 분리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3392424" cy="4297680"/>
          </a:xfrm>
          <a:prstGeom prst="roundRect">
            <a:avLst>
              <a:gd name="adj" fmla="val 2695"/>
            </a:avLst>
          </a:prstGeom>
          <a:solidFill>
            <a:srgbClr val="FFFFFF"/>
          </a:solidFill>
          <a:ln w="15875">
            <a:solidFill>
              <a:srgbClr val="2563EB"/>
            </a:solidFill>
            <a:prstDash val="solid"/>
          </a:ln>
          <a:effectLst>
            <a:outerShdw sx="100000" sy="100000" kx="0" ky="0" algn="bl" rotWithShape="0" blurRad="101600" dist="38100" dir="8100000">
              <a:srgbClr val="1A1145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508760"/>
            <a:ext cx="3392424" cy="731520"/>
          </a:xfrm>
          <a:prstGeom prst="roundRect">
            <a:avLst>
              <a:gd name="adj" fmla="val 12500"/>
            </a:avLst>
          </a:prstGeom>
          <a:solidFill>
            <a:srgbClr val="2563EB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920240"/>
            <a:ext cx="3392424" cy="32004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1508760"/>
            <a:ext cx="33924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🛠️  개발 DEV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768096" y="2423160"/>
            <a:ext cx="29535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B64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68096" y="2624328"/>
            <a:ext cx="2953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4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feature/* · localhost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68096" y="3099816"/>
            <a:ext cx="29535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B64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호스팅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768096" y="3300984"/>
            <a:ext cx="2953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4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로컬 (pnpm dev)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58368" y="3739896"/>
            <a:ext cx="3172968" cy="603504"/>
          </a:xfrm>
          <a:prstGeom prst="roundRect">
            <a:avLst>
              <a:gd name="adj" fmla="val 7576"/>
            </a:avLst>
          </a:prstGeom>
          <a:solidFill>
            <a:srgbClr val="E9F0FF"/>
          </a:solidFill>
          <a:ln/>
        </p:spPr>
      </p:sp>
      <p:sp>
        <p:nvSpPr>
          <p:cNvPr id="13" name="Text 11"/>
          <p:cNvSpPr/>
          <p:nvPr/>
        </p:nvSpPr>
        <p:spPr>
          <a:xfrm>
            <a:off x="768096" y="3776472"/>
            <a:ext cx="29535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2563E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DATABASE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768096" y="3977640"/>
            <a:ext cx="2953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4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로컬 Supabase (CLI)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768096" y="4453128"/>
            <a:ext cx="29535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B64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Pi 네트워크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768096" y="4654296"/>
            <a:ext cx="2953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4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Testnet / Sandbox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768096" y="5129784"/>
            <a:ext cx="29535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B64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768096" y="5330952"/>
            <a:ext cx="2953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4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시드 · 더미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398264" y="1508760"/>
            <a:ext cx="3392424" cy="4297680"/>
          </a:xfrm>
          <a:prstGeom prst="roundRect">
            <a:avLst>
              <a:gd name="adj" fmla="val 2695"/>
            </a:avLst>
          </a:prstGeom>
          <a:solidFill>
            <a:srgbClr val="FFFFFF"/>
          </a:solidFill>
          <a:ln w="15875">
            <a:solidFill>
              <a:srgbClr val="E8910C"/>
            </a:solidFill>
            <a:prstDash val="solid"/>
          </a:ln>
          <a:effectLst>
            <a:outerShdw sx="100000" sy="100000" kx="0" ky="0" algn="bl" rotWithShape="0" blurRad="101600" dist="38100" dir="8100000">
              <a:srgbClr val="1A1145">
                <a:alpha val="16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398264" y="1508760"/>
            <a:ext cx="3392424" cy="731520"/>
          </a:xfrm>
          <a:prstGeom prst="roundRect">
            <a:avLst>
              <a:gd name="adj" fmla="val 12500"/>
            </a:avLst>
          </a:prstGeom>
          <a:solidFill>
            <a:srgbClr val="E8910C"/>
          </a:solidFill>
          <a:ln/>
        </p:spPr>
      </p:sp>
      <p:sp>
        <p:nvSpPr>
          <p:cNvPr id="21" name="Shape 19"/>
          <p:cNvSpPr/>
          <p:nvPr/>
        </p:nvSpPr>
        <p:spPr>
          <a:xfrm>
            <a:off x="4398264" y="1920240"/>
            <a:ext cx="3392424" cy="320040"/>
          </a:xfrm>
          <a:prstGeom prst="rect">
            <a:avLst/>
          </a:prstGeom>
          <a:solidFill>
            <a:srgbClr val="E8910C"/>
          </a:solidFill>
          <a:ln/>
        </p:spPr>
      </p:sp>
      <p:sp>
        <p:nvSpPr>
          <p:cNvPr id="22" name="Text 20"/>
          <p:cNvSpPr/>
          <p:nvPr/>
        </p:nvSpPr>
        <p:spPr>
          <a:xfrm>
            <a:off x="4398264" y="1508760"/>
            <a:ext cx="33924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🧪  스테이징 STAGING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4617720" y="2423160"/>
            <a:ext cx="29535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B64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4617720" y="2624328"/>
            <a:ext cx="2953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4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staging · Vercel Preview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617720" y="3099816"/>
            <a:ext cx="29535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B64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호스팅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4617720" y="3300984"/>
            <a:ext cx="2953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4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Vercel Preview 배포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507992" y="3739896"/>
            <a:ext cx="3172968" cy="603504"/>
          </a:xfrm>
          <a:prstGeom prst="roundRect">
            <a:avLst>
              <a:gd name="adj" fmla="val 7576"/>
            </a:avLst>
          </a:prstGeom>
          <a:solidFill>
            <a:srgbClr val="FCEFD6"/>
          </a:solidFill>
          <a:ln/>
        </p:spPr>
      </p:sp>
      <p:sp>
        <p:nvSpPr>
          <p:cNvPr id="28" name="Text 26"/>
          <p:cNvSpPr/>
          <p:nvPr/>
        </p:nvSpPr>
        <p:spPr>
          <a:xfrm>
            <a:off x="4617720" y="3776472"/>
            <a:ext cx="29535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E891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DATABASE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4617720" y="3977640"/>
            <a:ext cx="2953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4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Supabase Staging 프로젝트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4617720" y="4453128"/>
            <a:ext cx="29535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B64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Pi 네트워크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4617720" y="4654296"/>
            <a:ext cx="2953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4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Testnet (최종 리허설)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4617720" y="5129784"/>
            <a:ext cx="29535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B64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4617720" y="5330952"/>
            <a:ext cx="2953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4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익명화 · 합성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8247888" y="1508760"/>
            <a:ext cx="3392424" cy="4297680"/>
          </a:xfrm>
          <a:prstGeom prst="roundRect">
            <a:avLst>
              <a:gd name="adj" fmla="val 2695"/>
            </a:avLst>
          </a:prstGeom>
          <a:solidFill>
            <a:srgbClr val="FFFFFF"/>
          </a:solidFill>
          <a:ln w="15875">
            <a:solidFill>
              <a:srgbClr val="5B2A9D"/>
            </a:solidFill>
            <a:prstDash val="solid"/>
          </a:ln>
          <a:effectLst>
            <a:outerShdw sx="100000" sy="100000" kx="0" ky="0" algn="bl" rotWithShape="0" blurRad="101600" dist="38100" dir="8100000">
              <a:srgbClr val="1A1145">
                <a:alpha val="16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8247888" y="1508760"/>
            <a:ext cx="3392424" cy="731520"/>
          </a:xfrm>
          <a:prstGeom prst="roundRect">
            <a:avLst>
              <a:gd name="adj" fmla="val 12500"/>
            </a:avLst>
          </a:prstGeom>
          <a:solidFill>
            <a:srgbClr val="5B2A9D"/>
          </a:solidFill>
          <a:ln/>
        </p:spPr>
      </p:sp>
      <p:sp>
        <p:nvSpPr>
          <p:cNvPr id="36" name="Shape 34"/>
          <p:cNvSpPr/>
          <p:nvPr/>
        </p:nvSpPr>
        <p:spPr>
          <a:xfrm>
            <a:off x="8247888" y="1920240"/>
            <a:ext cx="3392424" cy="320040"/>
          </a:xfrm>
          <a:prstGeom prst="rect">
            <a:avLst/>
          </a:prstGeom>
          <a:solidFill>
            <a:srgbClr val="5B2A9D"/>
          </a:solidFill>
          <a:ln/>
        </p:spPr>
      </p:sp>
      <p:sp>
        <p:nvSpPr>
          <p:cNvPr id="37" name="Text 35"/>
          <p:cNvSpPr/>
          <p:nvPr/>
        </p:nvSpPr>
        <p:spPr>
          <a:xfrm>
            <a:off x="8247888" y="1508760"/>
            <a:ext cx="33924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🚀  운영 PRODUCTION</a:t>
            </a:r>
            <a:endParaRPr lang="en-US" sz="1700" dirty="0"/>
          </a:p>
        </p:txBody>
      </p:sp>
      <p:sp>
        <p:nvSpPr>
          <p:cNvPr id="38" name="Text 36"/>
          <p:cNvSpPr/>
          <p:nvPr/>
        </p:nvSpPr>
        <p:spPr>
          <a:xfrm>
            <a:off x="8467344" y="2423160"/>
            <a:ext cx="29535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B64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8467344" y="2624328"/>
            <a:ext cx="2953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4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master → Production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8467344" y="3099816"/>
            <a:ext cx="29535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B64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호스팅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8467344" y="3300984"/>
            <a:ext cx="2953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4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Vercel Production (커스텀 도메인)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8357616" y="3739896"/>
            <a:ext cx="3172968" cy="603504"/>
          </a:xfrm>
          <a:prstGeom prst="roundRect">
            <a:avLst>
              <a:gd name="adj" fmla="val 7576"/>
            </a:avLst>
          </a:prstGeom>
          <a:solidFill>
            <a:srgbClr val="EEE9F8"/>
          </a:solidFill>
          <a:ln/>
        </p:spPr>
      </p:sp>
      <p:sp>
        <p:nvSpPr>
          <p:cNvPr id="43" name="Text 41"/>
          <p:cNvSpPr/>
          <p:nvPr/>
        </p:nvSpPr>
        <p:spPr>
          <a:xfrm>
            <a:off x="8467344" y="3776472"/>
            <a:ext cx="29535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5B2A9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DATABASE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8467344" y="3977640"/>
            <a:ext cx="2953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4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Supabase Prod (현재 DB 승격)</a:t>
            </a:r>
            <a:endParaRPr lang="en-US" sz="1250" dirty="0"/>
          </a:p>
        </p:txBody>
      </p:sp>
      <p:sp>
        <p:nvSpPr>
          <p:cNvPr id="45" name="Text 43"/>
          <p:cNvSpPr/>
          <p:nvPr/>
        </p:nvSpPr>
        <p:spPr>
          <a:xfrm>
            <a:off x="8467344" y="4453128"/>
            <a:ext cx="29535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B64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Pi 네트워크</a:t>
            </a:r>
            <a:endParaRPr lang="en-US" sz="950" dirty="0"/>
          </a:p>
        </p:txBody>
      </p:sp>
      <p:sp>
        <p:nvSpPr>
          <p:cNvPr id="46" name="Text 44"/>
          <p:cNvSpPr/>
          <p:nvPr/>
        </p:nvSpPr>
        <p:spPr>
          <a:xfrm>
            <a:off x="8467344" y="4654296"/>
            <a:ext cx="2953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4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Mainnet (실 거래)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8467344" y="5129784"/>
            <a:ext cx="29535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B64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</a:t>
            </a:r>
            <a:endParaRPr lang="en-US" sz="950" dirty="0"/>
          </a:p>
        </p:txBody>
      </p:sp>
      <p:sp>
        <p:nvSpPr>
          <p:cNvPr id="48" name="Text 46"/>
          <p:cNvSpPr/>
          <p:nvPr/>
        </p:nvSpPr>
        <p:spPr>
          <a:xfrm>
            <a:off x="8467344" y="5330952"/>
            <a:ext cx="2953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4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사용자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3968496" y="3383280"/>
            <a:ext cx="457200" cy="566928"/>
          </a:xfrm>
          <a:prstGeom prst="chevron">
            <a:avLst/>
          </a:prstGeom>
          <a:solidFill>
            <a:srgbClr val="F5B731"/>
          </a:solidFill>
          <a:ln/>
        </p:spPr>
      </p:sp>
      <p:sp>
        <p:nvSpPr>
          <p:cNvPr id="50" name="Text 48"/>
          <p:cNvSpPr/>
          <p:nvPr/>
        </p:nvSpPr>
        <p:spPr>
          <a:xfrm>
            <a:off x="3831336" y="299923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98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승격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7818120" y="3383280"/>
            <a:ext cx="457200" cy="566928"/>
          </a:xfrm>
          <a:prstGeom prst="chevron">
            <a:avLst/>
          </a:prstGeom>
          <a:solidFill>
            <a:srgbClr val="F5B731"/>
          </a:solidFill>
          <a:ln/>
        </p:spPr>
      </p:sp>
      <p:sp>
        <p:nvSpPr>
          <p:cNvPr id="52" name="Text 50"/>
          <p:cNvSpPr/>
          <p:nvPr/>
        </p:nvSpPr>
        <p:spPr>
          <a:xfrm>
            <a:off x="7680960" y="299923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98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승격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548640" y="59436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C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⛔  DB는 환경마다 완전히 분리 — 절대 공유 금지   |   하위 환경의 사고가 운영에 닿지 않게</a:t>
            </a:r>
            <a:endParaRPr lang="en-US" sz="1200" dirty="0"/>
          </a:p>
        </p:txBody>
      </p:sp>
      <p:sp>
        <p:nvSpPr>
          <p:cNvPr id="55" name="Text 52"/>
          <p:cNvSpPr/>
          <p:nvPr/>
        </p:nvSpPr>
        <p:spPr>
          <a:xfrm>
            <a:off x="11430000" y="6382512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B8B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1100" dirty="0"/>
          </a:p>
        </p:txBody>
      </p:sp>
      <p:sp>
        <p:nvSpPr>
          <p:cNvPr id="56" name="Text 53"/>
          <p:cNvSpPr/>
          <p:nvPr/>
        </p:nvSpPr>
        <p:spPr>
          <a:xfrm>
            <a:off x="548640" y="6382512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B8B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cafe.pi · Infrastructure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5B2A9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DEEP-DIVE · 스테이징 DB 스위칭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4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Edge Config 무재배포 전환 + 운영DB 읽기 전용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154680" y="1417320"/>
            <a:ext cx="585216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F5B731"/>
            </a:solidFill>
            <a:prstDash val="solid"/>
          </a:ln>
          <a:effectLst>
            <a:outerShdw sx="100000" sy="100000" kx="0" ky="0" algn="bl" rotWithShape="0" blurRad="101600" dist="38100" dir="8100000">
              <a:srgbClr val="1A1145">
                <a:alpha val="1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3154680" y="1517904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98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⚡  Vercel Edge Config — 스위치 컨트롤러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154680" y="1883664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64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stagingDb = dev ⟷ prod   ·   무재배포 · 전 리전 ~5ms 반영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852160" y="2331720"/>
            <a:ext cx="457200" cy="868680"/>
          </a:xfrm>
          <a:prstGeom prst="downArrow">
            <a:avLst/>
          </a:prstGeom>
          <a:solidFill>
            <a:srgbClr val="F5B731"/>
          </a:solidFill>
          <a:ln/>
        </p:spPr>
      </p:sp>
      <p:sp>
        <p:nvSpPr>
          <p:cNvPr id="8" name="Text 6"/>
          <p:cNvSpPr/>
          <p:nvPr/>
        </p:nvSpPr>
        <p:spPr>
          <a:xfrm>
            <a:off x="6355080" y="254203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98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제어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48640" y="3383280"/>
            <a:ext cx="260604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9050">
            <a:solidFill>
              <a:srgbClr val="E8910C"/>
            </a:solidFill>
            <a:prstDash val="solid"/>
          </a:ln>
          <a:effectLst>
            <a:outerShdw sx="100000" sy="100000" kx="0" ky="0" algn="bl" rotWithShape="0" blurRad="101600" dist="38100" dir="8100000">
              <a:srgbClr val="1A1145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48640" y="361188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E891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🧪  스테이징 WAS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548640" y="3977640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4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Vercel Staging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24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(staging 브랜치)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200400" y="3886200"/>
            <a:ext cx="914400" cy="365760"/>
          </a:xfrm>
          <a:prstGeom prst="rightArrow">
            <a:avLst/>
          </a:prstGeom>
          <a:solidFill>
            <a:srgbClr val="E8910C"/>
          </a:solidFill>
          <a:ln/>
        </p:spPr>
      </p:sp>
      <p:sp>
        <p:nvSpPr>
          <p:cNvPr id="13" name="Shape 11"/>
          <p:cNvSpPr/>
          <p:nvPr/>
        </p:nvSpPr>
        <p:spPr>
          <a:xfrm>
            <a:off x="4160520" y="3383280"/>
            <a:ext cx="2743200" cy="1371600"/>
          </a:xfrm>
          <a:prstGeom prst="roundRect">
            <a:avLst>
              <a:gd name="adj" fmla="val 6667"/>
            </a:avLst>
          </a:prstGeom>
          <a:solidFill>
            <a:srgbClr val="2A1A66"/>
          </a:solidFill>
          <a:ln/>
          <a:effectLst>
            <a:outerShdw sx="100000" sy="100000" kx="0" ky="0" algn="bl" rotWithShape="0" blurRad="101600" dist="38100" dir="8100000">
              <a:srgbClr val="1A1145">
                <a:alpha val="16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160520" y="358444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5B73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🔀  DB 라우터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160520" y="3950208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supabase-admin.ts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요청 시점에 DB 선택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949440" y="3163824"/>
            <a:ext cx="1554480" cy="329184"/>
          </a:xfrm>
          <a:prstGeom prst="rightArrow">
            <a:avLst/>
          </a:prstGeom>
          <a:solidFill>
            <a:srgbClr val="16A34A"/>
          </a:solidFill>
          <a:ln/>
        </p:spPr>
      </p:sp>
      <p:sp>
        <p:nvSpPr>
          <p:cNvPr id="17" name="Text 15"/>
          <p:cNvSpPr/>
          <p:nvPr/>
        </p:nvSpPr>
        <p:spPr>
          <a:xfrm>
            <a:off x="6949440" y="287121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6A3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RW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6949440" y="4626864"/>
            <a:ext cx="1554480" cy="329184"/>
          </a:xfrm>
          <a:prstGeom prst="rightArrow">
            <a:avLst/>
          </a:prstGeom>
          <a:solidFill>
            <a:srgbClr val="5B2A9D"/>
          </a:solidFill>
          <a:ln/>
        </p:spPr>
      </p:sp>
      <p:sp>
        <p:nvSpPr>
          <p:cNvPr id="19" name="Text 17"/>
          <p:cNvSpPr/>
          <p:nvPr/>
        </p:nvSpPr>
        <p:spPr>
          <a:xfrm>
            <a:off x="6858000" y="497433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B2A9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읽기만 RO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8595360" y="2697480"/>
            <a:ext cx="3044952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9050">
            <a:solidFill>
              <a:srgbClr val="16A34A"/>
            </a:solidFill>
            <a:prstDash val="solid"/>
          </a:ln>
          <a:effectLst>
            <a:outerShdw sx="100000" sy="100000" kx="0" ky="0" algn="bl" rotWithShape="0" blurRad="101600" dist="38100" dir="8100000">
              <a:srgbClr val="1A1145">
                <a:alpha val="16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8595360" y="2852928"/>
            <a:ext cx="3044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6A3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🛠️  개발 DB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8595360" y="3218688"/>
            <a:ext cx="3044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4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읽기 + 쓰기  ·  기본값(안전)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8595360" y="4297680"/>
            <a:ext cx="3044952" cy="1325880"/>
          </a:xfrm>
          <a:prstGeom prst="roundRect">
            <a:avLst>
              <a:gd name="adj" fmla="val 6897"/>
            </a:avLst>
          </a:prstGeom>
          <a:solidFill>
            <a:srgbClr val="EEE9F8"/>
          </a:solidFill>
          <a:ln w="19050">
            <a:solidFill>
              <a:srgbClr val="5B2A9D"/>
            </a:solidFill>
            <a:prstDash val="solid"/>
          </a:ln>
          <a:effectLst>
            <a:outerShdw sx="100000" sy="100000" kx="0" ky="0" algn="bl" rotWithShape="0" blurRad="101600" dist="38100" dir="8100000">
              <a:srgbClr val="1A1145">
                <a:alpha val="16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8595360" y="4434840"/>
            <a:ext cx="3044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5B2A9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🔒  운영 DB — 읽기 전용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8595360" y="4800600"/>
            <a:ext cx="30449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4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read-only 롤 / Read Replica /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24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Supabase Branch (복제본)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48640" y="5806440"/>
            <a:ext cx="11091672" cy="502920"/>
          </a:xfrm>
          <a:prstGeom prst="roundRect">
            <a:avLst>
              <a:gd name="adj" fmla="val 14545"/>
            </a:avLst>
          </a:prstGeom>
          <a:solidFill>
            <a:srgbClr val="FBE9E9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48640" y="580644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DC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⛔  운영DB로의 쓰기 경로 없음   ·   운영 환경 DB는 스위칭 불가(고정)   ·   마이그레이션 DDL은 Staging DB에서만</a:t>
            </a:r>
            <a:endParaRPr lang="en-US" sz="1150" dirty="0"/>
          </a:p>
        </p:txBody>
      </p:sp>
      <p:sp>
        <p:nvSpPr>
          <p:cNvPr id="29" name="Text 26"/>
          <p:cNvSpPr/>
          <p:nvPr/>
        </p:nvSpPr>
        <p:spPr>
          <a:xfrm>
            <a:off x="11430000" y="6382512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B8B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548640" y="6382512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B8B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cafe.pi · Infrastructure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5B2A9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FLOW · 승격 파이프라인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4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코드와 DB는 단방향으로만 흐른다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7830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2A9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 (git)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2286000" y="1664208"/>
            <a:ext cx="246888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5875">
            <a:solidFill>
              <a:srgbClr val="5B2A9D"/>
            </a:solidFill>
            <a:prstDash val="solid"/>
          </a:ln>
          <a:effectLst>
            <a:outerShdw sx="100000" sy="100000" kx="0" ky="0" algn="bl" rotWithShape="0" blurRad="101600" dist="38100" dir="8100000">
              <a:srgbClr val="1A1145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2377440" y="1664208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4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feature/*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b="1" dirty="0">
                <a:solidFill>
                  <a:srgbClr val="24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(개발)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828032" y="1874520"/>
            <a:ext cx="539496" cy="457200"/>
          </a:xfrm>
          <a:prstGeom prst="rightArrow">
            <a:avLst/>
          </a:prstGeom>
          <a:solidFill>
            <a:srgbClr val="5B2A9D"/>
          </a:solidFill>
          <a:ln/>
        </p:spPr>
      </p:sp>
      <p:sp>
        <p:nvSpPr>
          <p:cNvPr id="8" name="Shape 6"/>
          <p:cNvSpPr/>
          <p:nvPr/>
        </p:nvSpPr>
        <p:spPr>
          <a:xfrm>
            <a:off x="5440680" y="1664208"/>
            <a:ext cx="246888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5875">
            <a:solidFill>
              <a:srgbClr val="5B2A9D"/>
            </a:solidFill>
            <a:prstDash val="solid"/>
          </a:ln>
          <a:effectLst>
            <a:outerShdw sx="100000" sy="100000" kx="0" ky="0" algn="bl" rotWithShape="0" blurRad="101600" dist="38100" dir="8100000">
              <a:srgbClr val="1A1145">
                <a:alpha val="16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532120" y="1664208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4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staging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b="1" dirty="0">
                <a:solidFill>
                  <a:srgbClr val="24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(PR·리뷰·검증)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982712" y="1874520"/>
            <a:ext cx="539496" cy="457200"/>
          </a:xfrm>
          <a:prstGeom prst="rightArrow">
            <a:avLst/>
          </a:prstGeom>
          <a:solidFill>
            <a:srgbClr val="5B2A9D"/>
          </a:solidFill>
          <a:ln/>
        </p:spPr>
      </p:sp>
      <p:sp>
        <p:nvSpPr>
          <p:cNvPr id="11" name="Shape 9"/>
          <p:cNvSpPr/>
          <p:nvPr/>
        </p:nvSpPr>
        <p:spPr>
          <a:xfrm>
            <a:off x="8595360" y="1664208"/>
            <a:ext cx="246888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5875">
            <a:solidFill>
              <a:srgbClr val="5B2A9D"/>
            </a:solidFill>
            <a:prstDash val="solid"/>
          </a:ln>
          <a:effectLst>
            <a:outerShdw sx="100000" sy="100000" kx="0" ky="0" algn="bl" rotWithShape="0" blurRad="101600" dist="38100" dir="8100000">
              <a:srgbClr val="1A1145">
                <a:alpha val="16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8686800" y="1664208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4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master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b="1" dirty="0">
                <a:solidFill>
                  <a:srgbClr val="24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(운영 배포)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548640" y="32004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DB (sql/NNN)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2286000" y="3081528"/>
            <a:ext cx="246888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5875">
            <a:solidFill>
              <a:srgbClr val="2563EB"/>
            </a:solidFill>
            <a:prstDash val="solid"/>
          </a:ln>
          <a:effectLst>
            <a:outerShdw sx="100000" sy="100000" kx="0" ky="0" algn="bl" rotWithShape="0" blurRad="101600" dist="38100" dir="8100000">
              <a:srgbClr val="1A1145">
                <a:alpha val="16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2377440" y="3081528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4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Dev 적용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b="1" dirty="0">
                <a:solidFill>
                  <a:srgbClr val="24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828032" y="3291840"/>
            <a:ext cx="539496" cy="457200"/>
          </a:xfrm>
          <a:prstGeom prst="rightArrow">
            <a:avLst/>
          </a:prstGeom>
          <a:solidFill>
            <a:srgbClr val="2563EB"/>
          </a:solidFill>
          <a:ln/>
        </p:spPr>
      </p:sp>
      <p:sp>
        <p:nvSpPr>
          <p:cNvPr id="17" name="Shape 15"/>
          <p:cNvSpPr/>
          <p:nvPr/>
        </p:nvSpPr>
        <p:spPr>
          <a:xfrm>
            <a:off x="5440680" y="3081528"/>
            <a:ext cx="246888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5875">
            <a:solidFill>
              <a:srgbClr val="2563EB"/>
            </a:solidFill>
            <a:prstDash val="solid"/>
          </a:ln>
          <a:effectLst>
            <a:outerShdw sx="100000" sy="100000" kx="0" ky="0" algn="bl" rotWithShape="0" blurRad="101600" dist="38100" dir="8100000">
              <a:srgbClr val="1A1145">
                <a:alpha val="16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532120" y="3081528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4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Staging 적용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b="1" dirty="0">
                <a:solidFill>
                  <a:srgbClr val="24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982712" y="3291840"/>
            <a:ext cx="539496" cy="457200"/>
          </a:xfrm>
          <a:prstGeom prst="rightArrow">
            <a:avLst/>
          </a:prstGeom>
          <a:solidFill>
            <a:srgbClr val="2563EB"/>
          </a:solidFill>
          <a:ln/>
        </p:spPr>
      </p:sp>
      <p:sp>
        <p:nvSpPr>
          <p:cNvPr id="20" name="Shape 18"/>
          <p:cNvSpPr/>
          <p:nvPr/>
        </p:nvSpPr>
        <p:spPr>
          <a:xfrm>
            <a:off x="8595360" y="3081528"/>
            <a:ext cx="246888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5875">
            <a:solidFill>
              <a:srgbClr val="2563EB"/>
            </a:solidFill>
            <a:prstDash val="solid"/>
          </a:ln>
          <a:effectLst>
            <a:outerShdw sx="100000" sy="100000" kx="0" ky="0" algn="bl" rotWithShape="0" blurRad="101600" dist="38100" dir="8100000">
              <a:srgbClr val="1A1145">
                <a:alpha val="16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8686800" y="3081528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4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Prod 적용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b="1" dirty="0">
                <a:solidFill>
                  <a:srgbClr val="24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(최종)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548640" y="4526280"/>
            <a:ext cx="11064240" cy="1417320"/>
          </a:xfrm>
          <a:prstGeom prst="roundRect">
            <a:avLst>
              <a:gd name="adj" fmla="val 6452"/>
            </a:avLst>
          </a:prstGeom>
          <a:solidFill>
            <a:srgbClr val="2A1A66"/>
          </a:solidFill>
          <a:ln/>
          <a:effectLst>
            <a:outerShdw sx="100000" sy="100000" kx="0" ky="0" algn="bl" rotWithShape="0" blurRad="101600" dist="38100" dir="8100000">
              <a:srgbClr val="1A1145">
                <a:alpha val="16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868680" y="46634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B73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불변 원칙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914400" y="502920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운영(Prod)에 먼저 적용 절대 금지 — 항상 Dev→Staging에서 검증 후 승격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sql/NNN 번호·순서 유지 (DA 표준·da-ddl-guard) — 같은 마이그레이션을 각 환경에 순차 적용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롤백 = Vercel revert(코드) + 보상 마이그레이션(DB) · 물리 DELETE 금지(논리삭제)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11430000" y="6382512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B8B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548640" y="6382512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B8B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cafe.pi · Infrastructure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5B2A9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ISOLATION · 격리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4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데이터와 시크릿은 환경 경계를 넘지 않는다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349240" cy="205740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5875">
            <a:solidFill>
              <a:srgbClr val="5B2A9D"/>
            </a:solidFill>
            <a:prstDash val="solid"/>
          </a:ln>
          <a:effectLst>
            <a:outerShdw sx="100000" sy="100000" kx="0" ky="0" algn="bl" rotWithShape="0" blurRad="101600" dist="38100" dir="8100000">
              <a:srgbClr val="1A1145">
                <a:alpha val="1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22960" y="1892808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B2A9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🔒  데이터 격리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68680" y="2423160"/>
            <a:ext cx="47091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4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PII(실명·연락처·위치)는 하위 환경에 원본 복제 금지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4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필요 시 마스킹·합성 데이터로 대체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4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논리삭제(del_yn) 원칙 유지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309360" y="1691640"/>
            <a:ext cx="5349240" cy="205740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5875">
            <a:solidFill>
              <a:srgbClr val="2563EB"/>
            </a:solidFill>
            <a:prstDash val="solid"/>
          </a:ln>
          <a:effectLst>
            <a:outerShdw sx="100000" sy="100000" kx="0" ky="0" algn="bl" rotWithShape="0" blurRad="101600" dist="38100" dir="8100000">
              <a:srgbClr val="1A1145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583680" y="1892808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563E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🔑  시크릿 격리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629400" y="2423160"/>
            <a:ext cx="47091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4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환경별 키 완전 분리 (재사용 금지)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4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SUPABASE_SERVICE_ROLE_KEY · PI_API_KEY(testnet↔mainnet)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4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PI_SESSION_SECRET · AUTH_SECRET · CRON_SECRET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48640" y="3977640"/>
            <a:ext cx="11064240" cy="1920240"/>
          </a:xfrm>
          <a:prstGeom prst="roundRect">
            <a:avLst>
              <a:gd name="adj" fmla="val 4762"/>
            </a:avLst>
          </a:prstGeom>
          <a:solidFill>
            <a:srgbClr val="EEE9F8"/>
          </a:solidFill>
          <a:ln/>
          <a:effectLst>
            <a:outerShdw sx="100000" sy="100000" kx="0" ky="0" algn="bl" rotWithShape="0" blurRad="101600" dist="38100" dir="8100000">
              <a:srgbClr val="1A1145">
                <a:alpha val="16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68680" y="41605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4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🧩  Vercel 환경 스코프 = 3분리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68680" y="4709160"/>
            <a:ext cx="342900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5875">
            <a:solidFill>
              <a:srgbClr val="2563E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4818888"/>
            <a:ext cx="3429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Development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005840" y="5175504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64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로컬 Supabase · Testnet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379976" y="4709160"/>
            <a:ext cx="342900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5875">
            <a:solidFill>
              <a:srgbClr val="E8910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379976" y="4818888"/>
            <a:ext cx="3429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891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Preview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517136" y="5175504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64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Staging DB · Testnet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7891272" y="4709160"/>
            <a:ext cx="342900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5875">
            <a:solidFill>
              <a:srgbClr val="5B2A9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891272" y="4818888"/>
            <a:ext cx="3429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B2A9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Production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8028432" y="5175504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64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Prod DB · Mainnet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11430000" y="6382512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B8B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48640" y="6382512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B8B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cafe.pi · Infrastructure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5B2A9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COST · 현실적 도구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4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무료 범위로 3환경 만들기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1106424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5875">
            <a:solidFill>
              <a:srgbClr val="16A34A"/>
            </a:solidFill>
            <a:prstDash val="solid"/>
          </a:ln>
          <a:effectLst>
            <a:outerShdw sx="100000" sy="100000" kx="0" ky="0" algn="bl" rotWithShape="0" blurRad="101600" dist="38100" dir="8100000">
              <a:srgbClr val="1A1145">
                <a:alpha val="1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1874520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4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💡  Supabase 무료 플랜 = 활성 프로젝트 보통 2개 → 이렇게 배치하면 무료로 3환경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868680" y="2377440"/>
            <a:ext cx="3429000" cy="1234440"/>
          </a:xfrm>
          <a:prstGeom prst="roundRect">
            <a:avLst>
              <a:gd name="adj" fmla="val 5926"/>
            </a:avLst>
          </a:prstGeom>
          <a:solidFill>
            <a:srgbClr val="F7F5FB"/>
          </a:solidFill>
          <a:ln w="15875">
            <a:solidFill>
              <a:srgbClr val="2563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2514600"/>
            <a:ext cx="3429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🛠️ Dev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051560" y="2907792"/>
            <a:ext cx="3063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4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로컬 Supabase (CLI)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24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무료 · 무제한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379976" y="2377440"/>
            <a:ext cx="3429000" cy="1234440"/>
          </a:xfrm>
          <a:prstGeom prst="roundRect">
            <a:avLst>
              <a:gd name="adj" fmla="val 5926"/>
            </a:avLst>
          </a:prstGeom>
          <a:solidFill>
            <a:srgbClr val="F7F5FB"/>
          </a:solidFill>
          <a:ln w="15875">
            <a:solidFill>
              <a:srgbClr val="E8910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379976" y="2514600"/>
            <a:ext cx="3429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891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🧪 Staging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562856" y="2907792"/>
            <a:ext cx="3063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4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클라우드 프로젝트 #1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24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무료 티어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891272" y="2377440"/>
            <a:ext cx="3429000" cy="1234440"/>
          </a:xfrm>
          <a:prstGeom prst="roundRect">
            <a:avLst>
              <a:gd name="adj" fmla="val 5926"/>
            </a:avLst>
          </a:prstGeom>
          <a:solidFill>
            <a:srgbClr val="F7F5FB"/>
          </a:solidFill>
          <a:ln w="15875">
            <a:solidFill>
              <a:srgbClr val="5B2A9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891272" y="2514600"/>
            <a:ext cx="3429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B2A9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🚀 Prod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074152" y="2907792"/>
            <a:ext cx="3063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4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클라우드 프로젝트 #2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24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(현재 DB) 무료 티어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914400" y="4069080"/>
            <a:ext cx="106070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24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확장 옵션 (트래픽·팀 성장 시):  Supabase Pro($25/월) + Branching(Git연동 preview DB)로 스테이징 자동화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24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Vercel:  환경 스코프(Development/Preview/Production)는 이미 쓰는 Pro에 포함 — 추가 비용 0</a:t>
            </a:r>
            <a:endParaRPr lang="en-US" sz="1250" dirty="0"/>
          </a:p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24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주의:  무료 티어는 프로젝트 수·용량 제한이 바뀔 수 있으니 도입 직전 현행 한도 확인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11430000" y="6382512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B8B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07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48640" y="6382512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B8B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cafe.pi · Infrastructure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5B2A9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ROADMAP · 단계적 도입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4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단일 DB에서 3환경으로 — 점진 전환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566928" cy="566928"/>
          </a:xfrm>
          <a:prstGeom prst="ellipse">
            <a:avLst/>
          </a:prstGeom>
          <a:solidFill>
            <a:srgbClr val="5B2A9D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67335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1417320" y="1645920"/>
            <a:ext cx="10195560" cy="658368"/>
          </a:xfrm>
          <a:prstGeom prst="roundRect">
            <a:avLst>
              <a:gd name="adj" fmla="val 9722"/>
            </a:avLst>
          </a:prstGeom>
          <a:solidFill>
            <a:srgbClr val="FFFFFF"/>
          </a:solidFill>
          <a:ln w="12700">
            <a:solidFill>
              <a:srgbClr val="5B2A9D"/>
            </a:solidFill>
            <a:prstDash val="solid"/>
          </a:ln>
          <a:effectLst>
            <a:outerShdw sx="100000" sy="100000" kx="0" ky="0" algn="bl" rotWithShape="0" blurRad="101600" dist="38100" dir="8100000">
              <a:srgbClr val="1A1145">
                <a:alpha val="16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1645920" y="1645920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2A9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동결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931920" y="1645920"/>
            <a:ext cx="7498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4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단일 DB를 ‘운영(Prod)’으로 확정 · 직접 실험 금지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2441448"/>
            <a:ext cx="566928" cy="566928"/>
          </a:xfrm>
          <a:prstGeom prst="ellipse">
            <a:avLst/>
          </a:prstGeom>
          <a:solidFill>
            <a:srgbClr val="E8910C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4231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1417320" y="2395728"/>
            <a:ext cx="10195560" cy="658368"/>
          </a:xfrm>
          <a:prstGeom prst="roundRect">
            <a:avLst>
              <a:gd name="adj" fmla="val 9722"/>
            </a:avLst>
          </a:prstGeom>
          <a:solidFill>
            <a:srgbClr val="FFFFFF"/>
          </a:solidFill>
          <a:ln w="12700">
            <a:solidFill>
              <a:srgbClr val="E8910C"/>
            </a:solidFill>
            <a:prstDash val="solid"/>
          </a:ln>
          <a:effectLst>
            <a:outerShdw sx="100000" sy="100000" kx="0" ky="0" algn="bl" rotWithShape="0" blurRad="101600" dist="38100" dir="8100000">
              <a:srgbClr val="1A1145">
                <a:alpha val="16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1645920" y="2395728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91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Staging 신설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931920" y="2395728"/>
            <a:ext cx="7498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4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Supabase Staging 프로젝트 + sql/NNN 재생으로 스키마 복제 + 합성 데이터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40080" y="3191256"/>
            <a:ext cx="566928" cy="566928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317296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1417320" y="3145536"/>
            <a:ext cx="10195560" cy="658368"/>
          </a:xfrm>
          <a:prstGeom prst="roundRect">
            <a:avLst>
              <a:gd name="adj" fmla="val 9722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01600" dist="38100" dir="8100000">
              <a:srgbClr val="1A1145">
                <a:alpha val="16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645920" y="3145536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Dev 구성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3931920" y="3145536"/>
            <a:ext cx="7498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4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로컬 Supabase(CLI)로 개발 DB 분리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40080" y="3941064"/>
            <a:ext cx="566928" cy="566928"/>
          </a:xfrm>
          <a:prstGeom prst="ellipse">
            <a:avLst/>
          </a:prstGeom>
          <a:solidFill>
            <a:srgbClr val="16A34A"/>
          </a:solidFill>
          <a:ln/>
        </p:spPr>
      </p:sp>
      <p:sp>
        <p:nvSpPr>
          <p:cNvPr id="20" name="Text 18"/>
          <p:cNvSpPr/>
          <p:nvPr/>
        </p:nvSpPr>
        <p:spPr>
          <a:xfrm>
            <a:off x="640080" y="392277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1417320" y="3895344"/>
            <a:ext cx="10195560" cy="658368"/>
          </a:xfrm>
          <a:prstGeom prst="roundRect">
            <a:avLst>
              <a:gd name="adj" fmla="val 9722"/>
            </a:avLst>
          </a:prstGeom>
          <a:solidFill>
            <a:srgbClr val="FFFFFF"/>
          </a:solidFill>
          <a:ln w="12700">
            <a:solidFill>
              <a:srgbClr val="16A34A"/>
            </a:solidFill>
            <a:prstDash val="solid"/>
          </a:ln>
          <a:effectLst>
            <a:outerShdw sx="100000" sy="100000" kx="0" ky="0" algn="bl" rotWithShape="0" blurRad="101600" dist="38100" dir="8100000">
              <a:srgbClr val="1A1145">
                <a:alpha val="16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1645920" y="3895344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A3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스코프 분리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3931920" y="3895344"/>
            <a:ext cx="7498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4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Vercel env 3분리 — 각자 자기 DB·Pi 설정 가리키게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4690872"/>
            <a:ext cx="566928" cy="566928"/>
          </a:xfrm>
          <a:prstGeom prst="ellipse">
            <a:avLst/>
          </a:prstGeom>
          <a:solidFill>
            <a:srgbClr val="2A1A66"/>
          </a:solidFill>
          <a:ln/>
        </p:spPr>
      </p:sp>
      <p:sp>
        <p:nvSpPr>
          <p:cNvPr id="25" name="Text 23"/>
          <p:cNvSpPr/>
          <p:nvPr/>
        </p:nvSpPr>
        <p:spPr>
          <a:xfrm>
            <a:off x="640080" y="467258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1417320" y="4645152"/>
            <a:ext cx="10195560" cy="658368"/>
          </a:xfrm>
          <a:prstGeom prst="roundRect">
            <a:avLst>
              <a:gd name="adj" fmla="val 9722"/>
            </a:avLst>
          </a:prstGeom>
          <a:solidFill>
            <a:srgbClr val="FFFFFF"/>
          </a:solidFill>
          <a:ln w="12700">
            <a:solidFill>
              <a:srgbClr val="2A1A66"/>
            </a:solidFill>
            <a:prstDash val="solid"/>
          </a:ln>
          <a:effectLst>
            <a:outerShdw sx="100000" sy="100000" kx="0" ky="0" algn="bl" rotWithShape="0" blurRad="101600" dist="38100" dir="8100000">
              <a:srgbClr val="1A1145">
                <a:alpha val="16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1645920" y="4645152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A1A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파이프라인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931920" y="4645152"/>
            <a:ext cx="7498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4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마이그레이션 규율 확립: Dev→Staging→Prod 순차 적용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640080" y="5440680"/>
            <a:ext cx="566928" cy="566928"/>
          </a:xfrm>
          <a:prstGeom prst="ellipse">
            <a:avLst/>
          </a:prstGeom>
          <a:solidFill>
            <a:srgbClr val="C98A12"/>
          </a:solidFill>
          <a:ln/>
        </p:spPr>
      </p:sp>
      <p:sp>
        <p:nvSpPr>
          <p:cNvPr id="30" name="Text 28"/>
          <p:cNvSpPr/>
          <p:nvPr/>
        </p:nvSpPr>
        <p:spPr>
          <a:xfrm>
            <a:off x="640080" y="542239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1800" dirty="0"/>
          </a:p>
        </p:txBody>
      </p:sp>
      <p:sp>
        <p:nvSpPr>
          <p:cNvPr id="31" name="Shape 29"/>
          <p:cNvSpPr/>
          <p:nvPr/>
        </p:nvSpPr>
        <p:spPr>
          <a:xfrm>
            <a:off x="1417320" y="5394960"/>
            <a:ext cx="10195560" cy="658368"/>
          </a:xfrm>
          <a:prstGeom prst="roundRect">
            <a:avLst>
              <a:gd name="adj" fmla="val 9722"/>
            </a:avLst>
          </a:prstGeom>
          <a:solidFill>
            <a:srgbClr val="FFFFFF"/>
          </a:solidFill>
          <a:ln w="12700">
            <a:solidFill>
              <a:srgbClr val="C98A12"/>
            </a:solidFill>
            <a:prstDash val="solid"/>
          </a:ln>
          <a:effectLst>
            <a:outerShdw sx="100000" sy="100000" kx="0" ky="0" algn="bl" rotWithShape="0" blurRad="101600" dist="38100" dir="8100000">
              <a:srgbClr val="1A1145">
                <a:alpha val="16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1645920" y="5394960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98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메인넷 컷오버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931920" y="5394960"/>
            <a:ext cx="7498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41B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(출시 시점) Prod = Mainnet 전환 — 새 도메인·API Key·지갑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11430000" y="6382512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B8B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08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548640" y="6382512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B8B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cafe.pi · Infrastructure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A11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-1371600"/>
            <a:ext cx="4572000" cy="4572000"/>
          </a:xfrm>
          <a:prstGeom prst="ellipse">
            <a:avLst/>
          </a:prstGeom>
          <a:solidFill>
            <a:srgbClr val="5B2A9D">
              <a:alpha val="3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9601200" y="3840480"/>
            <a:ext cx="4114800" cy="4114800"/>
          </a:xfrm>
          <a:prstGeom prst="ellipse">
            <a:avLst/>
          </a:prstGeom>
          <a:solidFill>
            <a:srgbClr val="F5B731">
              <a:alpha val="2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7315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5B73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GOVERNANCE · 5대 원칙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31520" y="109728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환경 거버넌스 원칙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731520" y="2057400"/>
            <a:ext cx="10698480" cy="676656"/>
          </a:xfrm>
          <a:prstGeom prst="roundRect">
            <a:avLst>
              <a:gd name="adj" fmla="val 9459"/>
            </a:avLst>
          </a:prstGeom>
          <a:solidFill>
            <a:srgbClr val="2A1A66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057400"/>
            <a:ext cx="548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5B73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600200" y="2057400"/>
            <a:ext cx="9601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DB는 환경마다 분리 — 절대 공유 금지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731520" y="2834640"/>
            <a:ext cx="10698480" cy="676656"/>
          </a:xfrm>
          <a:prstGeom prst="roundRect">
            <a:avLst>
              <a:gd name="adj" fmla="val 9459"/>
            </a:avLst>
          </a:prstGeom>
          <a:solidFill>
            <a:srgbClr val="2A1A66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2834640"/>
            <a:ext cx="548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5B73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600200" y="2834640"/>
            <a:ext cx="9601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마이그레이션은 Dev → Staging → Prod 순서로만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731520" y="3611880"/>
            <a:ext cx="10698480" cy="676656"/>
          </a:xfrm>
          <a:prstGeom prst="roundRect">
            <a:avLst>
              <a:gd name="adj" fmla="val 9459"/>
            </a:avLst>
          </a:prstGeom>
          <a:solidFill>
            <a:srgbClr val="2A1A66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3611880"/>
            <a:ext cx="548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5B73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600200" y="3611880"/>
            <a:ext cx="9601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데이터·시크릿은 하위 환경으로 흐르지 않는다</a:t>
            </a:r>
            <a:endParaRPr lang="en-US" sz="1450" dirty="0"/>
          </a:p>
        </p:txBody>
      </p:sp>
      <p:sp>
        <p:nvSpPr>
          <p:cNvPr id="15" name="Shape 13"/>
          <p:cNvSpPr/>
          <p:nvPr/>
        </p:nvSpPr>
        <p:spPr>
          <a:xfrm>
            <a:off x="731520" y="4389120"/>
            <a:ext cx="10698480" cy="676656"/>
          </a:xfrm>
          <a:prstGeom prst="roundRect">
            <a:avLst>
              <a:gd name="adj" fmla="val 9459"/>
            </a:avLst>
          </a:prstGeom>
          <a:solidFill>
            <a:srgbClr val="2A1A66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4389120"/>
            <a:ext cx="548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5B73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1600200" y="4389120"/>
            <a:ext cx="9601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코드는 git, 스키마는 sql/NNN — 둘 다 단방향 승격</a:t>
            </a:r>
            <a:endParaRPr lang="en-US" sz="1450" dirty="0"/>
          </a:p>
        </p:txBody>
      </p:sp>
      <p:sp>
        <p:nvSpPr>
          <p:cNvPr id="18" name="Shape 16"/>
          <p:cNvSpPr/>
          <p:nvPr/>
        </p:nvSpPr>
        <p:spPr>
          <a:xfrm>
            <a:off x="731520" y="5166360"/>
            <a:ext cx="10698480" cy="676656"/>
          </a:xfrm>
          <a:prstGeom prst="roundRect">
            <a:avLst>
              <a:gd name="adj" fmla="val 9459"/>
            </a:avLst>
          </a:prstGeom>
          <a:solidFill>
            <a:srgbClr val="2A1A66"/>
          </a:solidFill>
          <a:ln/>
        </p:spPr>
      </p:sp>
      <p:sp>
        <p:nvSpPr>
          <p:cNvPr id="19" name="Text 17"/>
          <p:cNvSpPr/>
          <p:nvPr/>
        </p:nvSpPr>
        <p:spPr>
          <a:xfrm>
            <a:off x="914400" y="5166360"/>
            <a:ext cx="548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5B73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1600200" y="5166360"/>
            <a:ext cx="9601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직접 변경 금지 — 항상 스테이징에서 리허설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731520" y="630936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B8B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cafe.pi · 인프라 환경 전략 · 2026-06-26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cafe.pi 인프라 환경 전략 (Dev·Staging·Prod)</dc:title>
  <dc:subject>PptxGenJS Presentation</dc:subject>
  <dc:creator>cafe.pi</dc:creator>
  <cp:lastModifiedBy>cafe.pi</cp:lastModifiedBy>
  <cp:revision>1</cp:revision>
  <dcterms:created xsi:type="dcterms:W3CDTF">2026-06-26T07:42:55Z</dcterms:created>
  <dcterms:modified xsi:type="dcterms:W3CDTF">2026-06-26T07:42:55Z</dcterms:modified>
</cp:coreProperties>
</file>