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테스트넷=Dev/Staging, 메인넷=Prod. 테스트넷 검증은 메인넷에 승계되지 않으며, 운영(메인넷)은 별도 환경을 새로 구축해 검증·오픈한다.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스테이징은 평소 개발DB(RW)로 안전하게 테스트하고, 필요 시 Edge Config 플래그로 운영DB를 읽기 전용으로만 연결한다. 운영 쓰기·DDL 경로는 원천 차단.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스키마는 CDC가 아니라 마이그레이션으로 개발→운영. 데이터는 연속 CDC가 아니라 마스킹 스냅샷으로 운영→개발(PII 원본 금지). CDC(ETL/Realtime)의 본래 용도는 분석·라이브이지 환경 미러링이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645920"/>
            <a:ext cx="5486400" cy="5486400"/>
          </a:xfrm>
          <a:prstGeom prst="ellipse">
            <a:avLst/>
          </a:prstGeom>
          <a:solidFill>
            <a:srgbClr val="5B2A9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291840"/>
            <a:ext cx="3657600" cy="36576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389120"/>
            <a:ext cx="3840480" cy="3840480"/>
          </a:xfrm>
          <a:prstGeom prst="ellipse">
            <a:avLst/>
          </a:prstGeom>
          <a:solidFill>
            <a:srgbClr val="F5B731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· INFRASTRUCTURE STRATEGY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· 스테이징 · 운영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환경 전략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  →  STAGING  →  PRODUCTION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DB·스테이징 부재 현황을 3환경 완전 분리로 — 안전한 마이그레이션·배포 거버넌스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2026-06-26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· 왜 바꿔야 하나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현재(As-Is) → 목표(To-Be)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640080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534924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 현재 (As-Is)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1개 — 운영 겸용 (분리 없음)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환경 없음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개발·운영 환경 미분리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DB에서 직접 실험 → 사고 위험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마이그레이션 검증 단계 부재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691640"/>
            <a:ext cx="5349240" cy="640080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2011680"/>
            <a:ext cx="5349240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69164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목표 (To-Be)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56032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3환경 완전 분리 (Dev·Staging·Prod)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DB도 환경별 독립 프로젝트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Dev→Staging→Prod 마이그레이션 파이프라인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데이터·시크릿 격리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스테이징에서 리허설 후 운영 반영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0" y="63825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382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· Infrastructure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· 핵심 구조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환경 아키텍처 — 환경마다 완전 분리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392424" cy="429768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3392424" cy="73152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392424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3392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🛠️  개발 DEV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8096" y="2423160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68096" y="262432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feature/* · localhost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8096" y="3099816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호스팅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68096" y="3300984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(pnpm dev)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3739896"/>
            <a:ext cx="3172968" cy="603504"/>
          </a:xfrm>
          <a:prstGeom prst="roundRect">
            <a:avLst>
              <a:gd name="adj" fmla="val 7576"/>
            </a:avLst>
          </a:prstGeom>
          <a:solidFill>
            <a:srgbClr val="E9F0FF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3776472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68096" y="397764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Supabase (CLI)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8096" y="4453128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네트워크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68096" y="4654296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Testnet / Sandbox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8096" y="5129784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68096" y="5330952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· 더미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98264" y="1508760"/>
            <a:ext cx="3392424" cy="429768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15875">
            <a:solidFill>
              <a:srgbClr val="E8910C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98264" y="1508760"/>
            <a:ext cx="3392424" cy="731520"/>
          </a:xfrm>
          <a:prstGeom prst="roundRect">
            <a:avLst>
              <a:gd name="adj" fmla="val 12500"/>
            </a:avLst>
          </a:prstGeom>
          <a:solidFill>
            <a:srgbClr val="E8910C"/>
          </a:solidFill>
          <a:ln/>
        </p:spPr>
      </p:sp>
      <p:sp>
        <p:nvSpPr>
          <p:cNvPr id="21" name="Shape 19"/>
          <p:cNvSpPr/>
          <p:nvPr/>
        </p:nvSpPr>
        <p:spPr>
          <a:xfrm>
            <a:off x="4398264" y="1920240"/>
            <a:ext cx="3392424" cy="320040"/>
          </a:xfrm>
          <a:prstGeom prst="rect">
            <a:avLst/>
          </a:prstGeom>
          <a:solidFill>
            <a:srgbClr val="E8910C"/>
          </a:solidFill>
          <a:ln/>
        </p:spPr>
      </p:sp>
      <p:sp>
        <p:nvSpPr>
          <p:cNvPr id="22" name="Text 20"/>
          <p:cNvSpPr/>
          <p:nvPr/>
        </p:nvSpPr>
        <p:spPr>
          <a:xfrm>
            <a:off x="4398264" y="1508760"/>
            <a:ext cx="3392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 스테이징 STAGING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17720" y="2423160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17720" y="262432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staging · Vercel Preview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17720" y="3099816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호스팅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17720" y="3300984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Preview 배포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07992" y="3739896"/>
            <a:ext cx="3172968" cy="603504"/>
          </a:xfrm>
          <a:prstGeom prst="roundRect">
            <a:avLst>
              <a:gd name="adj" fmla="val 7576"/>
            </a:avLst>
          </a:prstGeom>
          <a:solidFill>
            <a:srgbClr val="FCEFD6"/>
          </a:solidFill>
          <a:ln/>
        </p:spPr>
      </p:sp>
      <p:sp>
        <p:nvSpPr>
          <p:cNvPr id="28" name="Text 26"/>
          <p:cNvSpPr/>
          <p:nvPr/>
        </p:nvSpPr>
        <p:spPr>
          <a:xfrm>
            <a:off x="4617720" y="3776472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9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17720" y="397764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Staging 프로젝트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617720" y="4453128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네트워크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17720" y="4654296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Testnet (최종 리허설)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17720" y="5129784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17720" y="5330952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익명화 · 합성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47888" y="1508760"/>
            <a:ext cx="3392424" cy="429768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15875">
            <a:solidFill>
              <a:srgbClr val="5B2A9D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47888" y="1508760"/>
            <a:ext cx="3392424" cy="731520"/>
          </a:xfrm>
          <a:prstGeom prst="roundRect">
            <a:avLst>
              <a:gd name="adj" fmla="val 12500"/>
            </a:avLst>
          </a:prstGeom>
          <a:solidFill>
            <a:srgbClr val="5B2A9D"/>
          </a:solidFill>
          <a:ln/>
        </p:spPr>
      </p:sp>
      <p:sp>
        <p:nvSpPr>
          <p:cNvPr id="36" name="Shape 34"/>
          <p:cNvSpPr/>
          <p:nvPr/>
        </p:nvSpPr>
        <p:spPr>
          <a:xfrm>
            <a:off x="8247888" y="1920240"/>
            <a:ext cx="3392424" cy="320040"/>
          </a:xfrm>
          <a:prstGeom prst="rect">
            <a:avLst/>
          </a:prstGeom>
          <a:solidFill>
            <a:srgbClr val="5B2A9D"/>
          </a:solidFill>
          <a:ln/>
        </p:spPr>
      </p:sp>
      <p:sp>
        <p:nvSpPr>
          <p:cNvPr id="37" name="Text 35"/>
          <p:cNvSpPr/>
          <p:nvPr/>
        </p:nvSpPr>
        <p:spPr>
          <a:xfrm>
            <a:off x="8247888" y="1508760"/>
            <a:ext cx="3392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  운영 PRODUCTION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467344" y="2423160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467344" y="262432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 → Production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67344" y="3099816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호스팅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467344" y="3300984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Production (커스텀 도메인)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357616" y="3739896"/>
            <a:ext cx="3172968" cy="603504"/>
          </a:xfrm>
          <a:prstGeom prst="roundRect">
            <a:avLst>
              <a:gd name="adj" fmla="val 7576"/>
            </a:avLst>
          </a:prstGeom>
          <a:solidFill>
            <a:srgbClr val="EEE9F8"/>
          </a:solidFill>
          <a:ln/>
        </p:spPr>
      </p:sp>
      <p:sp>
        <p:nvSpPr>
          <p:cNvPr id="43" name="Text 41"/>
          <p:cNvSpPr/>
          <p:nvPr/>
        </p:nvSpPr>
        <p:spPr>
          <a:xfrm>
            <a:off x="8467344" y="3776472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467344" y="397764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Prod (현재 DB 승격)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467344" y="4453128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네트워크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467344" y="4654296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Mainnet (실 거래)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467344" y="5129784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467344" y="5330952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사용자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968496" y="3383280"/>
            <a:ext cx="457200" cy="566928"/>
          </a:xfrm>
          <a:prstGeom prst="chevron">
            <a:avLst/>
          </a:prstGeom>
          <a:solidFill>
            <a:srgbClr val="F5B731"/>
          </a:solidFill>
          <a:ln/>
        </p:spPr>
      </p:sp>
      <p:sp>
        <p:nvSpPr>
          <p:cNvPr id="50" name="Text 48"/>
          <p:cNvSpPr/>
          <p:nvPr/>
        </p:nvSpPr>
        <p:spPr>
          <a:xfrm>
            <a:off x="3831336" y="29992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8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승격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818120" y="3383280"/>
            <a:ext cx="457200" cy="566928"/>
          </a:xfrm>
          <a:prstGeom prst="chevron">
            <a:avLst/>
          </a:prstGeom>
          <a:solidFill>
            <a:srgbClr val="F5B731"/>
          </a:solidFill>
          <a:ln/>
        </p:spPr>
      </p:sp>
      <p:sp>
        <p:nvSpPr>
          <p:cNvPr id="52" name="Text 50"/>
          <p:cNvSpPr/>
          <p:nvPr/>
        </p:nvSpPr>
        <p:spPr>
          <a:xfrm>
            <a:off x="7680960" y="29992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8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승격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⛔  DB는 환경마다 완전히 분리 — 절대 공유 금지   |   하위 환경의 사고가 운영에 닿지 않게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11430000" y="63825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548640" y="6382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· Infrastructure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DEEP-DIVE · 스테이징 DB 스위칭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Config 무재배포 전환 + 운영DB 읽기 전용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154680" y="1417320"/>
            <a:ext cx="5852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5B731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154680" y="151790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8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 Vercel Edge Config — 스위치 컨트롤러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54680" y="188366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stagingDb = dev ⟷ prod   ·   무재배포 · 전 리전 ~5ms 반영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52160" y="2331720"/>
            <a:ext cx="457200" cy="868680"/>
          </a:xfrm>
          <a:prstGeom prst="downArrow">
            <a:avLst/>
          </a:prstGeom>
          <a:solidFill>
            <a:srgbClr val="F5B731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25420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8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8910C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611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9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 스테이징 WAS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Staging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(staging 브랜치)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886200"/>
            <a:ext cx="914400" cy="365760"/>
          </a:xfrm>
          <a:prstGeom prst="rightArrow">
            <a:avLst/>
          </a:prstGeom>
          <a:solidFill>
            <a:srgbClr val="E8910C"/>
          </a:solidFill>
          <a:ln/>
        </p:spPr>
      </p:sp>
      <p:sp>
        <p:nvSpPr>
          <p:cNvPr id="13" name="Shape 11"/>
          <p:cNvSpPr/>
          <p:nvPr/>
        </p:nvSpPr>
        <p:spPr>
          <a:xfrm>
            <a:off x="4160520" y="33832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2A1A66"/>
          </a:solidFill>
          <a:ln/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0520" y="3584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🔀  DB 라우터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60520" y="39502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supabase-admin.ts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시점에 DB 선택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49440" y="3163824"/>
            <a:ext cx="1554480" cy="329184"/>
          </a:xfrm>
          <a:prstGeom prst="rightArrow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28712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RW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49440" y="4626864"/>
            <a:ext cx="1554480" cy="329184"/>
          </a:xfrm>
          <a:prstGeom prst="rightArrow">
            <a:avLst/>
          </a:prstGeom>
          <a:solidFill>
            <a:srgbClr val="5B2A9D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4974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읽기만 RO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595360" y="2697480"/>
            <a:ext cx="304495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95360" y="285292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🛠️  개발 DB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595360" y="321868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+ 쓰기  ·  기본값(안전)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595360" y="4297680"/>
            <a:ext cx="3044952" cy="1325880"/>
          </a:xfrm>
          <a:prstGeom prst="roundRect">
            <a:avLst>
              <a:gd name="adj" fmla="val 6897"/>
            </a:avLst>
          </a:prstGeom>
          <a:solidFill>
            <a:srgbClr val="EEE9F8"/>
          </a:solidFill>
          <a:ln w="19050">
            <a:solidFill>
              <a:srgbClr val="5B2A9D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595360" y="443484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 운영 DB — 읽기 전용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595360" y="480060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read-only 롤 / Read Replica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Branch (복제본)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80644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BE9E9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8064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⛔  운영DB로의 쓰기 경로 없음   ·   운영 환경 DB는 스위칭 불가(고정)   ·   마이그레이션 DDL은 Staging DB에서만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1430000" y="63825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" y="6382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· Infrastructure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SYNC · 환경 간 동기화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↑ / 데이터 ↓ — 올바른 도구 선택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788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🛠️  개발 DB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Supabase (CLI)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982712" y="251460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EEE9F8"/>
          </a:solidFill>
          <a:ln w="19050">
            <a:solidFill>
              <a:srgbClr val="5B2A9D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82712" y="2788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  운영 DB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82712" y="3246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Prod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60520" y="22860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스키마 ↑  —  마이그레이션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2606040"/>
            <a:ext cx="3474720" cy="457200"/>
          </a:xfrm>
          <a:prstGeom prst="rightArrow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267004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diff → db push  /  Branching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15968" y="3566160"/>
            <a:ext cx="3474720" cy="457200"/>
          </a:xfrm>
          <a:prstGeom prst="leftArrow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363016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 마스킹 스냅샷 / seed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60520" y="40690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데이터 ↓  —  운영 PII 원본 금지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8188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CDC가 진짜 필요한 곳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51389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웨어하우스(ETL/Pipelines) · 라이브 UI(Realtime). dev-prod 미러링용 아님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91072" y="470916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19672" y="48188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⛔  CDC ≠ dev-prod 동기화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19672" y="51389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PII 연속 복제 금지 · Kafka CDC는 과하고 부적합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852160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2A1A6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= 마이그레이션(↑)   ·   데이터 = 마스킹 스냅샷(↓)   ·   Supabase Branching + CLI면 충분 (Kafka 불필요)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1430000" y="63825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6382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· Infrastructure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 · 승격 파이프라인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코드와 DB는 단방향으로만 흐른다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(git)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0" y="1664208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5B2A9D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377440" y="166420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feature/*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(개발)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28032" y="1874520"/>
            <a:ext cx="539496" cy="457200"/>
          </a:xfrm>
          <a:prstGeom prst="rightArrow">
            <a:avLst/>
          </a:prstGeom>
          <a:solidFill>
            <a:srgbClr val="5B2A9D"/>
          </a:solidFill>
          <a:ln/>
        </p:spPr>
      </p:sp>
      <p:sp>
        <p:nvSpPr>
          <p:cNvPr id="8" name="Shape 6"/>
          <p:cNvSpPr/>
          <p:nvPr/>
        </p:nvSpPr>
        <p:spPr>
          <a:xfrm>
            <a:off x="5440680" y="1664208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5B2A9D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32120" y="166420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(PR·리뷰·검증)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82712" y="1874520"/>
            <a:ext cx="539496" cy="457200"/>
          </a:xfrm>
          <a:prstGeom prst="rightArrow">
            <a:avLst/>
          </a:prstGeom>
          <a:solidFill>
            <a:srgbClr val="5B2A9D"/>
          </a:solidFill>
          <a:ln/>
        </p:spPr>
      </p:sp>
      <p:sp>
        <p:nvSpPr>
          <p:cNvPr id="11" name="Shape 9"/>
          <p:cNvSpPr/>
          <p:nvPr/>
        </p:nvSpPr>
        <p:spPr>
          <a:xfrm>
            <a:off x="8595360" y="1664208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5B2A9D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0" y="166420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(운영 배포)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(sql/NNN)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6000" y="3081528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77440" y="308152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 적용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28032" y="3291840"/>
            <a:ext cx="539496" cy="457200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5440680" y="3081528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32120" y="308152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Staging 적용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82712" y="3291840"/>
            <a:ext cx="539496" cy="457200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20" name="Shape 18"/>
          <p:cNvSpPr/>
          <p:nvPr/>
        </p:nvSpPr>
        <p:spPr>
          <a:xfrm>
            <a:off x="8595360" y="3081528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0" y="308152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 적용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(최종)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2A1A66"/>
          </a:solidFill>
          <a:ln/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불변 원칙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5029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운영(Prod)에 먼저 적용 절대 금지 — 항상 Dev→Staging에서 검증 후 승격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sql/NNN 번호·순서 유지 (DA 표준·da-ddl-guard) — 같은 마이그레이션을 각 환경에 순차 적용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= Vercel revert(코드) + 보상 마이그레이션(DB) · 물리 DELETE 금지(논리삭제)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0" y="63825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382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· Infrastructure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ISOLATION · 격리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데이터와 시크릿은 환경 경계를 넘지 않는다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5B2A9D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928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 데이터 격리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PII(실명·연락처·위치)는 하위 환경에 원본 복제 금지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시 마스킹·합성 데이터로 대체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논리삭제(del_yn) 원칙 유지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8928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 시크릿 격리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242316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환경별 키 완전 분리 (재사용 금지)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SUPABASE_SERVICE_ROLE_KEY · PI_API_KEY(testnet↔mainnet)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PI_SESSION_SECRET · AUTH_SECRET · CRON_SECRET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920240"/>
          </a:xfrm>
          <a:prstGeom prst="roundRect">
            <a:avLst>
              <a:gd name="adj" fmla="val 4762"/>
            </a:avLst>
          </a:prstGeom>
          <a:solidFill>
            <a:srgbClr val="EEE9F8"/>
          </a:solidFill>
          <a:ln/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 Vercel 환경 스코프 = 3분리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470916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8188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517550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Supabase · Testnet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79976" y="470916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E89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9976" y="48188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9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Preview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17136" y="517550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Staging DB · Testnet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91272" y="470916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5B2A9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91272" y="48188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28432" y="517550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 DB · Mainnet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430000" y="63825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382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· Infrastructure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COST · 현실적 도구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범위로 3환경 만들기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Supabase 무료 플랜 = 활성 프로젝트 보통 2개 → 이렇게 배치하면 무료로 3환경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7F5FB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14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🛠️ Dev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90779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Supabase (CLI)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· 무제한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9976" y="23774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7F5FB"/>
          </a:solidFill>
          <a:ln w="15875">
            <a:solidFill>
              <a:srgbClr val="E89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9976" y="2514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Staging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62856" y="290779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프로젝트 #1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티어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91272" y="23774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7F5FB"/>
          </a:solidFill>
          <a:ln w="15875">
            <a:solidFill>
              <a:srgbClr val="5B2A9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91272" y="2514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 Prod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74152" y="290779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프로젝트 #2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(현재 DB) 무료 티어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06908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옵션 (트래픽·팀 성장 시):  Supabase Pro($25/월) + Branching(Git연동 preview DB)로 스테이징 자동화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Vercel:  환경 스코프(Development/Preview/Production)는 이미 쓰는 Pro에 포함 — 추가 비용 0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 무료 티어는 프로젝트 수·용량 제한이 바뀔 수 있으니 도입 직전 현행 한도 확인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30000" y="63825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382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· Infrastructure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 · 단계적 도입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DB에서 3환경으로 — 점진 전환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5B2A9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17320" y="1645920"/>
            <a:ext cx="101955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5B2A9D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45920" y="16459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동결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0" y="164592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단일 DB를 ‘운영(Prod)’으로 확정 · 직접 실험 금지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441448"/>
            <a:ext cx="566928" cy="566928"/>
          </a:xfrm>
          <a:prstGeom prst="ellipse">
            <a:avLst/>
          </a:prstGeom>
          <a:solidFill>
            <a:srgbClr val="E8910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17320" y="2395728"/>
            <a:ext cx="101955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8910C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45920" y="239572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Staging 신설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239572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Staging 프로젝트 + sql/NNN 재생으로 스키마 복제 + 합성 데이터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191256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72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417320" y="3145536"/>
            <a:ext cx="101955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45920" y="314553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 구성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3145536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Supabase(CLI)로 개발 DB 분리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941064"/>
            <a:ext cx="566928" cy="56692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17320" y="3895344"/>
            <a:ext cx="101955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645920" y="389534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스코프 분리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1920" y="3895344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env 3분리 — 각자 자기 DB·Pi 설정 가리키게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690872"/>
            <a:ext cx="566928" cy="566928"/>
          </a:xfrm>
          <a:prstGeom prst="ellipse">
            <a:avLst/>
          </a:prstGeom>
          <a:solidFill>
            <a:srgbClr val="2A1A6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6725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417320" y="4645152"/>
            <a:ext cx="101955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2A1A66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645920" y="46451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31920" y="464515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마이그레이션 규율 확립: Dev→Staging→Prod 순차 적용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440680"/>
            <a:ext cx="566928" cy="566928"/>
          </a:xfrm>
          <a:prstGeom prst="ellipse">
            <a:avLst/>
          </a:prstGeom>
          <a:solidFill>
            <a:srgbClr val="C98A12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422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417320" y="5394960"/>
            <a:ext cx="101955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98A12"/>
            </a:solidFill>
            <a:prstDash val="solid"/>
          </a:ln>
          <a:effectLst>
            <a:outerShdw sx="100000" sy="100000" kx="0" ky="0" algn="bl" rotWithShape="0" blurRad="101600" dist="38100" dir="8100000">
              <a:srgbClr val="1A1145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645920" y="53949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메인넷 컷오버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31920" y="539496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(출시 시점) Prod = Mainnet 전환 — 새 도메인·API Key·지갑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30000" y="63825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382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· Infrastructure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5B2A9D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840480"/>
            <a:ext cx="4114800" cy="4114800"/>
          </a:xfrm>
          <a:prstGeom prst="ellipse">
            <a:avLst/>
          </a:prstGeom>
          <a:solidFill>
            <a:srgbClr val="F5B731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GOVERNANCE · 5대 원칙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거버넌스 원칙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10698480" cy="676656"/>
          </a:xfrm>
          <a:prstGeom prst="roundRect">
            <a:avLst>
              <a:gd name="adj" fmla="val 9459"/>
            </a:avLst>
          </a:prstGeom>
          <a:solidFill>
            <a:srgbClr val="2A1A6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2057400"/>
            <a:ext cx="9601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DB는 환경마다 분리 — 절대 공유 금지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10698480" cy="676656"/>
          </a:xfrm>
          <a:prstGeom prst="roundRect">
            <a:avLst>
              <a:gd name="adj" fmla="val 9459"/>
            </a:avLst>
          </a:prstGeom>
          <a:solidFill>
            <a:srgbClr val="2A1A6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4640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2834640"/>
            <a:ext cx="9601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마이그레이션은 Dev → Staging → Prod 순서로만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10698480" cy="676656"/>
          </a:xfrm>
          <a:prstGeom prst="roundRect">
            <a:avLst>
              <a:gd name="adj" fmla="val 9459"/>
            </a:avLst>
          </a:prstGeom>
          <a:solidFill>
            <a:srgbClr val="2A1A6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611880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3611880"/>
            <a:ext cx="9601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데이터·시크릿은 하위 환경으로 흐르지 않는다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10698480" cy="676656"/>
          </a:xfrm>
          <a:prstGeom prst="roundRect">
            <a:avLst>
              <a:gd name="adj" fmla="val 9459"/>
            </a:avLst>
          </a:prstGeom>
          <a:solidFill>
            <a:srgbClr val="2A1A6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89120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4389120"/>
            <a:ext cx="9601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코드는 git, 스키마는 sql/NNN — 둘 다 단방향 승격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31520" y="5166360"/>
            <a:ext cx="10698480" cy="676656"/>
          </a:xfrm>
          <a:prstGeom prst="roundRect">
            <a:avLst>
              <a:gd name="adj" fmla="val 9459"/>
            </a:avLst>
          </a:prstGeom>
          <a:solidFill>
            <a:srgbClr val="2A1A6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166360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00200" y="5166360"/>
            <a:ext cx="9601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직접 변경 금지 — 항상 스테이징에서 리허설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3152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B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· 인프라 환경 전략 · 2026-06-26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cafe.pi 인프라 환경 전략 (Dev·Staging·Prod)</dc:title>
  <dc:subject>PptxGenJS Presentation</dc:subject>
  <dc:creator>cafe.pi</dc:creator>
  <cp:lastModifiedBy>cafe.pi</cp:lastModifiedBy>
  <cp:revision>1</cp:revision>
  <dcterms:created xsi:type="dcterms:W3CDTF">2026-06-26T08:26:02Z</dcterms:created>
  <dcterms:modified xsi:type="dcterms:W3CDTF">2026-06-26T08:26:02Z</dcterms:modified>
</cp:coreProperties>
</file>