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600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5592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389120" cy="4389120"/>
          </a:xfrm>
          <a:prstGeom prst="ellipse">
            <a:avLst/>
          </a:prstGeom>
          <a:solidFill>
            <a:srgbClr val="5A40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F4A52A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dirty="0">
                <a:solidFill>
                  <a:srgbClr val="000000"/>
                </a:solidFill>
              </a:rPr>
              <a:t>☕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A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쉬운 사용 설명서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9DE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컴퓨터를 잘 몰라도 괜찮아요. 그림과 순서대로 따라만 하세요. 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A9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Bean · 구독 · 카페와 동시통역 · 중고장터 · 내 가게(O2O)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보기 — 이 설명서로 배우는 7가지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266944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0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77240" y="1572768"/>
            <a:ext cx="768096" cy="768096"/>
          </a:xfrm>
          <a:prstGeom prst="ellipse">
            <a:avLst/>
          </a:prstGeom>
          <a:solidFill>
            <a:srgbClr val="FBEFD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77240" y="157276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🔑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1527048"/>
            <a:ext cx="39410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B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로그인하기
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계정·구글 계정을 하나로 연결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373368" y="1417320"/>
            <a:ext cx="5266944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0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601968" y="1572768"/>
            <a:ext cx="768096" cy="768096"/>
          </a:xfrm>
          <a:prstGeom prst="ellipse">
            <a:avLst/>
          </a:prstGeom>
          <a:solidFill>
            <a:srgbClr val="FBEFD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601968" y="157276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☕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516368" y="1527048"/>
            <a:ext cx="39410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B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Bean 알기
</a:t>
            </a:r>
            <a:endParaRPr lang="en-US" sz="1700" dirty="0"/>
          </a:p>
          <a:p>
            <a:pPr marL="0" indent="0">
              <a:buNone/>
            </a:pPr>
            <a:r>
              <a:rPr lang="en-US" sz="1300" dirty="0" err="1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커피빈 토큰</a:t>
            </a:r>
            <a:r>
              <a:rPr lang="en-US" sz="13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</a:t>
            </a:r>
            <a:r>
              <a:rPr lang="en-US" sz="13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충전하고 마음 전하기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2624328"/>
            <a:ext cx="5266944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0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777240" y="2779776"/>
            <a:ext cx="768096" cy="768096"/>
          </a:xfrm>
          <a:prstGeom prst="ellipse">
            <a:avLst/>
          </a:prstGeom>
          <a:solidFill>
            <a:srgbClr val="FBEFD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77240" y="27797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🎫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91640" y="2734056"/>
            <a:ext cx="39410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B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구독(이용권)
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카페용·매장용 이용권 구분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373368" y="2624328"/>
            <a:ext cx="5266944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0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601968" y="2779776"/>
            <a:ext cx="768096" cy="768096"/>
          </a:xfrm>
          <a:prstGeom prst="ellipse">
            <a:avLst/>
          </a:prstGeom>
          <a:solidFill>
            <a:srgbClr val="FBEFD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601968" y="27797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516368" y="2734056"/>
            <a:ext cx="39410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B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카페 &amp; 통역
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가까운 카페 + 자동 동시통역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3831336"/>
            <a:ext cx="5266944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0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77240" y="3986784"/>
            <a:ext cx="768096" cy="768096"/>
          </a:xfrm>
          <a:prstGeom prst="ellipse">
            <a:avLst/>
          </a:prstGeom>
          <a:solidFill>
            <a:srgbClr val="FBEFD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77240" y="39867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691640" y="3941064"/>
            <a:ext cx="39410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B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중고장터
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가게 없이 누구나 사고팔기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373368" y="3831336"/>
            <a:ext cx="5266944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0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601968" y="3986784"/>
            <a:ext cx="768096" cy="768096"/>
          </a:xfrm>
          <a:prstGeom prst="ellipse">
            <a:avLst/>
          </a:prstGeom>
          <a:solidFill>
            <a:srgbClr val="FBEFD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601968" y="39867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🏪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516368" y="3941064"/>
            <a:ext cx="39410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B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내 가게(O2O)
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가게 만들고 메뉴 올리고 주문받기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548640" y="5038344"/>
            <a:ext cx="5266944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0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777240" y="5193792"/>
            <a:ext cx="768096" cy="768096"/>
          </a:xfrm>
          <a:prstGeom prst="ellipse">
            <a:avLst/>
          </a:prstGeom>
          <a:solidFill>
            <a:srgbClr val="FBEFD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777240" y="51937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1691640" y="5148072"/>
            <a:ext cx="39410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B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왜 좋은가요?
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당근·싸이렌오더보다 강한 점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74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☕ Cafe.pi</a:t>
            </a:r>
            <a:r>
              <a:rPr lang="en-US" sz="10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쉬운 사용 설명서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15568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4400" cy="914400"/>
          </a:xfrm>
          <a:prstGeom prst="ellipse">
            <a:avLst/>
          </a:prstGeom>
          <a:solidFill>
            <a:srgbClr val="F4A5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645920" y="5029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 로그인 &amp; 두 계정 연결하기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64208" y="11430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브라우저에서 6자리 코드 받기 → 일반 브라우저에 붙여넣고 버튼 한 번이면 끝!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45720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3C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4572000" cy="502920"/>
          </a:xfrm>
          <a:prstGeom prst="rect">
            <a:avLst/>
          </a:prstGeom>
          <a:solidFill>
            <a:srgbClr val="3B2A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📱 Pi Browser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4505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“연동 코드 생성” 누르기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0120" y="2880360"/>
            <a:ext cx="3749040" cy="822960"/>
          </a:xfrm>
          <a:prstGeom prst="rect">
            <a:avLst/>
          </a:prstGeom>
          <a:solidFill>
            <a:srgbClr val="FFF7E8"/>
          </a:solidFill>
          <a:ln w="19050">
            <a:solidFill>
              <a:srgbClr val="F4A5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60120" y="28803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kern="0" spc="200" dirty="0">
                <a:solidFill>
                  <a:srgbClr val="B974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A3F-9K2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960120" y="3730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🕘 10분 안에 사용하세요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0120" y="411480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F4A5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60120" y="411480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연동 URL 복사  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74920" y="28346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B974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➜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5029200" y="36576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복사해서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붙여넣기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0" y="1828800"/>
            <a:ext cx="496519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3C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675120" y="1828800"/>
            <a:ext cx="4965192" cy="502920"/>
          </a:xfrm>
          <a:prstGeom prst="rect">
            <a:avLst/>
          </a:prstGeom>
          <a:solidFill>
            <a:srgbClr val="2E7D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675120" y="1828800"/>
            <a:ext cx="4965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 일반 브라우저 (크롬·사파리)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95160" y="2450592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구글 로그인 후, 주소창에 붙여넣기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086600" y="2880360"/>
            <a:ext cx="4142232" cy="502920"/>
          </a:xfrm>
          <a:prstGeom prst="roundRect">
            <a:avLst>
              <a:gd name="adj" fmla="val 14545"/>
            </a:avLst>
          </a:prstGeom>
          <a:solidFill>
            <a:srgbClr val="F2ECE3"/>
          </a:solidFill>
          <a:ln w="12700">
            <a:solidFill>
              <a:srgbClr val="D8CB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315200" y="2880360"/>
            <a:ext cx="3959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0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 …/link?code=A3F9K2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86600" y="3566160"/>
            <a:ext cx="4142232" cy="566928"/>
          </a:xfrm>
          <a:prstGeom prst="roundRect">
            <a:avLst>
              <a:gd name="adj" fmla="val 16129"/>
            </a:avLst>
          </a:prstGeom>
          <a:solidFill>
            <a:srgbClr val="3B2A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086600" y="3566160"/>
            <a:ext cx="4142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“연동하기” 클릭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086600" y="4297680"/>
            <a:ext cx="4142232" cy="566928"/>
          </a:xfrm>
          <a:prstGeom prst="roundRect">
            <a:avLst>
              <a:gd name="adj" fmla="val 16129"/>
            </a:avLst>
          </a:prstGeom>
          <a:solidFill>
            <a:srgbClr val="E8F5E9"/>
          </a:solidFill>
          <a:ln w="12700">
            <a:solidFill>
              <a:srgbClr val="9CCF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086600" y="4297680"/>
            <a:ext cx="4142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Pi + Google 연동 완료!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56235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FBEFD6"/>
          </a:solidFill>
          <a:ln w="12700">
            <a:solidFill>
              <a:srgbClr val="F4A5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22960" y="5623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974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쉽게 말하면   </a:t>
            </a:r>
            <a:r>
              <a:rPr lang="en-US" sz="1350" dirty="0">
                <a:solidFill>
                  <a:srgbClr val="2B2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브라우저는 보안상 정보를 저장 못 해서, 6자리 코드(또는 링크)로 두 브라우저를 안전하게 이어줘요.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74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☕ Cafe.pi</a:t>
            </a:r>
            <a:r>
              <a:rPr lang="en-US" sz="10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쉬운 사용 설명서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15568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4400" cy="914400"/>
          </a:xfrm>
          <a:prstGeom prst="ellipse">
            <a:avLst/>
          </a:prstGeom>
          <a:solidFill>
            <a:srgbClr val="F4A5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645920" y="5029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☕  Bean(커피빈 토큰) 이해하기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64208" y="11430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커피빈 토큰은 앱 안에서 마음을 전하는 </a:t>
            </a:r>
            <a:r>
              <a:rPr lang="en-US" sz="1600" dirty="0" err="1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</a:t>
            </a:r>
            <a:r>
              <a:rPr lang="en-US" sz="16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</a:t>
            </a:r>
            <a:r>
              <a:rPr lang="en-US" sz="1600" dirty="0" err="1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이에요</a:t>
            </a:r>
            <a:r>
              <a:rPr lang="en-US" sz="16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충전해서 쓰고, 고마운 사람에게 보냅니다.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09728" cy="1051560"/>
          </a:xfrm>
          <a:prstGeom prst="rect">
            <a:avLst/>
          </a:prstGeom>
          <a:solidFill>
            <a:srgbClr val="F4A5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04672" y="2052828"/>
            <a:ext cx="512064" cy="512064"/>
          </a:xfrm>
          <a:prstGeom prst="ellipse">
            <a:avLst/>
          </a:prstGeom>
          <a:solidFill>
            <a:srgbClr val="3B2A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04672" y="20528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08760" y="1874520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2B2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Bean이 뭐예요?
</a:t>
            </a:r>
            <a:endParaRPr lang="en-US" sz="17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카페에서 고마운 사람에게 톡 보내는 "</a:t>
            </a:r>
            <a:r>
              <a:rPr lang="en-US" sz="1350" dirty="0" err="1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커피빈 토큰</a:t>
            </a:r>
            <a:r>
              <a:rPr lang="en-US" sz="135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5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</a:t>
            </a:r>
            <a:r>
              <a:rPr lang="en-US" sz="135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(☕)"이에요. 칭찬·응원·감사를 숫자 대신 커피빈 토큰으로 표현합니다.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2990088"/>
            <a:ext cx="110916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48640" y="2990088"/>
            <a:ext cx="109728" cy="1051560"/>
          </a:xfrm>
          <a:prstGeom prst="rect">
            <a:avLst/>
          </a:prstGeom>
          <a:solidFill>
            <a:srgbClr val="F4A5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04672" y="3259836"/>
            <a:ext cx="512064" cy="512064"/>
          </a:xfrm>
          <a:prstGeom prst="ellipse">
            <a:avLst/>
          </a:prstGeom>
          <a:solidFill>
            <a:srgbClr val="3B2A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04672" y="32598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08760" y="308152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2B2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Bean 충전(적립)하기
</a:t>
            </a:r>
            <a:endParaRPr lang="en-US" sz="17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Pi로 커피빈 토큰을 충전해요. 충전 버튼을 누르고 원하는 만큼 고른 뒤 Pi로 결제하면 내 커피빈 토큰이 쌓입니다.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4197096"/>
            <a:ext cx="110916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48640" y="4197096"/>
            <a:ext cx="109728" cy="1051560"/>
          </a:xfrm>
          <a:prstGeom prst="rect">
            <a:avLst/>
          </a:prstGeom>
          <a:solidFill>
            <a:srgbClr val="F4A5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04672" y="4466844"/>
            <a:ext cx="512064" cy="512064"/>
          </a:xfrm>
          <a:prstGeom prst="ellipse">
            <a:avLst/>
          </a:prstGeom>
          <a:solidFill>
            <a:srgbClr val="3B2A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04672" y="44668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08760" y="4288536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2B2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Bean 사용(보내기)하기
</a:t>
            </a:r>
            <a:endParaRPr lang="en-US" sz="17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대화방에서 상대에게 "커피빈 토큰 보내기"를 누르면 마음이 전달돼요. 받은 사람은 알림으로 확인합니다.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48640" y="56235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FBEFD6"/>
          </a:solidFill>
          <a:ln w="12700">
            <a:solidFill>
              <a:srgbClr val="F4A5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22960" y="5623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974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쉽게 말하면   </a:t>
            </a:r>
            <a:r>
              <a:rPr lang="en-US" sz="1350" dirty="0">
                <a:solidFill>
                  <a:srgbClr val="2B2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 한 잔 대접하듯, 앱 안에서 "커피빈 토큰(Bean)"으로 따뜻한 마음을 건네는 거예요. ☕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74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☕ Cafe.pi</a:t>
            </a:r>
            <a:r>
              <a:rPr lang="en-US" sz="10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쉬운 사용 설명서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15568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4400" cy="914400"/>
          </a:xfrm>
          <a:prstGeom prst="ellipse">
            <a:avLst/>
          </a:prstGeom>
          <a:solidFill>
            <a:srgbClr val="F4A5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645920" y="5029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🎫  구독(이용권) 요금제 — 카페 &amp; 매장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64208" y="11430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만큼 기능을 넓히는 이용권. 무료로 시작하세요.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1783080"/>
            <a:ext cx="2660904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0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11480" y="1783080"/>
            <a:ext cx="2660904" cy="530352"/>
          </a:xfrm>
          <a:prstGeom prst="rect">
            <a:avLst/>
          </a:prstGeom>
          <a:solidFill>
            <a:srgbClr val="9C8C7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Explorer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441448"/>
            <a:ext cx="2660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3B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521208" y="2971800"/>
            <a:ext cx="2441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평생 무료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04088" y="3465576"/>
            <a:ext cx="2203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테마 6개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1:1 채팅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Bean 받기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00984" y="1783080"/>
            <a:ext cx="2660904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0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300984" y="1783080"/>
            <a:ext cx="2660904" cy="530352"/>
          </a:xfrm>
          <a:prstGeom prst="rect">
            <a:avLst/>
          </a:prstGeom>
          <a:solidFill>
            <a:srgbClr val="2E7D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346704" y="1783080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Creator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00984" y="2441448"/>
            <a:ext cx="2660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3B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Pi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3410712" y="2971800"/>
            <a:ext cx="2441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 · 연 10 Pi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93592" y="3465576"/>
            <a:ext cx="2203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테마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그룹방 월 3개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비서 월 10회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01768" y="1636776"/>
            <a:ext cx="868680" cy="347472"/>
          </a:xfrm>
          <a:prstGeom prst="roundRect">
            <a:avLst>
              <a:gd name="adj" fmla="val 21053"/>
            </a:avLst>
          </a:prstGeom>
          <a:solidFill>
            <a:srgbClr val="F4A5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01768" y="163677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 인기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90488" y="1783080"/>
            <a:ext cx="2660904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0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190488" y="1783080"/>
            <a:ext cx="2660904" cy="530352"/>
          </a:xfrm>
          <a:prstGeom prst="rect">
            <a:avLst/>
          </a:prstGeom>
          <a:solidFill>
            <a:srgbClr val="B974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236208" y="1783080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Host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90488" y="2441448"/>
            <a:ext cx="2660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3B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Pi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6300216" y="2971800"/>
            <a:ext cx="2441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 · 연 50 Pi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83096" y="3465576"/>
            <a:ext cx="2203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무제한 그룹방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이벤트방·분석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봇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79992" y="1783080"/>
            <a:ext cx="2660904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0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079992" y="1783080"/>
            <a:ext cx="2660904" cy="530352"/>
          </a:xfrm>
          <a:prstGeom prst="rect">
            <a:avLst/>
          </a:prstGeom>
          <a:solidFill>
            <a:srgbClr val="7A4E2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9125712" y="1783080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🏪 PiShop Seller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079992" y="2441448"/>
            <a:ext cx="2660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3B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 Pi</a:t>
            </a:r>
            <a:endParaRPr lang="en-US" sz="2500" dirty="0"/>
          </a:p>
        </p:txBody>
      </p:sp>
      <p:sp>
        <p:nvSpPr>
          <p:cNvPr id="30" name="Text 28"/>
          <p:cNvSpPr/>
          <p:nvPr/>
        </p:nvSpPr>
        <p:spPr>
          <a:xfrm>
            <a:off x="9189720" y="2971800"/>
            <a:ext cx="2441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 · 연 5 Pi (매장용)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372600" y="3465576"/>
            <a:ext cx="2203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무제한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통계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 노출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6235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FBEFD6"/>
          </a:solidFill>
          <a:ln w="12700">
            <a:solidFill>
              <a:srgbClr val="F4A5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822960" y="5623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974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쉽게 말하면   </a:t>
            </a:r>
            <a:r>
              <a:rPr lang="en-US" sz="1350" dirty="0">
                <a:solidFill>
                  <a:srgbClr val="2B2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결제는 지금 Pi로 해요(앞으로 ‘Bean 적립’으로 전환 예정 · Bean은 플랫폼 사용 전용, 환금 안 됨). 매장 판매엔 보증금 1 Pi 별도(안전 거래용).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74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☕ Cafe.pi</a:t>
            </a:r>
            <a:r>
              <a:rPr lang="en-US" sz="10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쉬운 사용 설명서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15568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4400" cy="914400"/>
          </a:xfrm>
          <a:prstGeom prst="ellipse">
            <a:avLst/>
          </a:prstGeom>
          <a:solidFill>
            <a:srgbClr val="F4A5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645920" y="5029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 PiCafe + 자동 동시통역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64208" y="11430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세계 어디를 가도 카페엔 내 친구가 있고, 자동 통역이 되니 어느 나라 사람과도 두렵지 않아요.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09728" cy="1051560"/>
          </a:xfrm>
          <a:prstGeom prst="rect">
            <a:avLst/>
          </a:prstGeom>
          <a:solidFill>
            <a:srgbClr val="F4A5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04672" y="2052828"/>
            <a:ext cx="512064" cy="512064"/>
          </a:xfrm>
          <a:prstGeom prst="ellipse">
            <a:avLst/>
          </a:prstGeom>
          <a:solidFill>
            <a:srgbClr val="3B2A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04672" y="20528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08760" y="1874520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2B2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주제별 카페에 들어가기
</a:t>
            </a:r>
            <a:endParaRPr lang="en-US" sz="17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 주제(취미·동네·관심사)의 카페 방을 골라 들어가요. 누구나 무료로 채팅을 시작할 수 있어요.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2990088"/>
            <a:ext cx="110916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48640" y="2990088"/>
            <a:ext cx="109728" cy="1051560"/>
          </a:xfrm>
          <a:prstGeom prst="rect">
            <a:avLst/>
          </a:prstGeom>
          <a:solidFill>
            <a:srgbClr val="F4A5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04672" y="3259836"/>
            <a:ext cx="512064" cy="512064"/>
          </a:xfrm>
          <a:prstGeom prst="ellipse">
            <a:avLst/>
          </a:prstGeom>
          <a:solidFill>
            <a:srgbClr val="3B2A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04672" y="32598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08760" y="308152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2B2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"가까운 카페" 위치로 찾기
</a:t>
            </a:r>
            <a:endParaRPr lang="en-US" sz="17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위치를 켜면 가까운 카페·사람을 거리순으로 보여줘요. 동네 이웃과 자연스럽게 연결됩니다.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4197096"/>
            <a:ext cx="110916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48640" y="4197096"/>
            <a:ext cx="109728" cy="1051560"/>
          </a:xfrm>
          <a:prstGeom prst="rect">
            <a:avLst/>
          </a:prstGeom>
          <a:solidFill>
            <a:srgbClr val="F4A5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04672" y="4466844"/>
            <a:ext cx="512064" cy="512064"/>
          </a:xfrm>
          <a:prstGeom prst="ellipse">
            <a:avLst/>
          </a:prstGeom>
          <a:solidFill>
            <a:srgbClr val="3B2A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04672" y="44668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08760" y="4288536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2B2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동시통역으로 세계와 대화
</a:t>
            </a:r>
            <a:endParaRPr lang="en-US" sz="17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상대가 외국어로 써도 내 언어로 바로 보여요(200개 넘는 언어). 내가 쓴 글도 상대 언어로 번역됩니다.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48640" y="56235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FBEFD6"/>
          </a:solidFill>
          <a:ln w="12700">
            <a:solidFill>
              <a:srgbClr val="F4A5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22960" y="5623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974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쉽게 말하면   </a:t>
            </a:r>
            <a:r>
              <a:rPr lang="en-US" sz="1350" dirty="0">
                <a:solidFill>
                  <a:srgbClr val="2B2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통역사를 옆에 둔 것처럼, 어느 나라 사람과도 막힘없이 수다 떨 수 있어요. 🌍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74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☕ Cafe.pi</a:t>
            </a:r>
            <a:r>
              <a:rPr lang="en-US" sz="10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쉬운 사용 설명서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15568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4400" cy="914400"/>
          </a:xfrm>
          <a:prstGeom prst="ellipse">
            <a:avLst/>
          </a:prstGeom>
          <a:solidFill>
            <a:srgbClr val="F4A5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645920" y="5029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 중고장터 — 안전한 P2P 거래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64208" y="11430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에스크로(안전 보관) 서비스로 결제가 보호돼요. 가게가 없어도 누구나 가까운 사람과 안심 거래!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09728" cy="1051560"/>
          </a:xfrm>
          <a:prstGeom prst="rect">
            <a:avLst/>
          </a:prstGeom>
          <a:solidFill>
            <a:srgbClr val="F4A5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04672" y="2052828"/>
            <a:ext cx="512064" cy="512064"/>
          </a:xfrm>
          <a:prstGeom prst="ellipse">
            <a:avLst/>
          </a:prstGeom>
          <a:solidFill>
            <a:srgbClr val="3B2A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04672" y="20528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08760" y="1874520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2B2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 물건 사진 올리기
</a:t>
            </a:r>
            <a:endParaRPr lang="en-US" sz="17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"상품 등록"에서 사진을 찍어 올리고 가격(Pi)을 적으면 끝. 내 위치도 함께 저장돼 가까운 사람에게 보여요.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2990088"/>
            <a:ext cx="110916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48640" y="2990088"/>
            <a:ext cx="109728" cy="1051560"/>
          </a:xfrm>
          <a:prstGeom prst="rect">
            <a:avLst/>
          </a:prstGeom>
          <a:solidFill>
            <a:srgbClr val="F4A5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04672" y="3259836"/>
            <a:ext cx="512064" cy="512064"/>
          </a:xfrm>
          <a:prstGeom prst="ellipse">
            <a:avLst/>
          </a:prstGeom>
          <a:solidFill>
            <a:srgbClr val="3B2A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04672" y="32598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08760" y="308152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2B2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가까운 물건 둘러보고 주문
</a:t>
            </a:r>
            <a:endParaRPr lang="en-US" sz="17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주변에 나온 물건을 거리순으로 보고, 마음에 들면 Pi로 주문해요.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4197096"/>
            <a:ext cx="110916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48640" y="4197096"/>
            <a:ext cx="109728" cy="1051560"/>
          </a:xfrm>
          <a:prstGeom prst="rect">
            <a:avLst/>
          </a:prstGeom>
          <a:solidFill>
            <a:srgbClr val="F4A5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04672" y="4466844"/>
            <a:ext cx="512064" cy="512064"/>
          </a:xfrm>
          <a:prstGeom prst="ellipse">
            <a:avLst/>
          </a:prstGeom>
          <a:solidFill>
            <a:srgbClr val="3B2A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04672" y="44668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08760" y="4288536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2B2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안전하게 거래 완료
</a:t>
            </a:r>
            <a:endParaRPr lang="en-US" sz="17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결제한 Pi는 플랫폼이 잠시 안전하게 보관했다가, 거래가 끝나면 판매자에게 전달돼요(중간 보관).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48640" y="56235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FBEFD6"/>
          </a:solidFill>
          <a:ln w="12700">
            <a:solidFill>
              <a:srgbClr val="F4A5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22960" y="5623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974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쉽게 말하면   </a:t>
            </a:r>
            <a:r>
              <a:rPr lang="en-US" sz="1350" dirty="0">
                <a:solidFill>
                  <a:srgbClr val="2B2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에스크로 = 플랫폼이 결제한 Pi를 잠시 안전하게 맡아두는 금고. 거래가 끝나야 판매자에게 전달돼요.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74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☕ Cafe.pi</a:t>
            </a:r>
            <a:r>
              <a:rPr lang="en-US" sz="10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쉬운 사용 설명서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15568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4400" cy="914400"/>
          </a:xfrm>
          <a:prstGeom prst="ellipse">
            <a:avLst/>
          </a:prstGeom>
          <a:solidFill>
            <a:srgbClr val="F4A5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645920" y="5029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🏪  내 O2O 매장, </a:t>
            </a:r>
            <a:r>
              <a:rPr lang="ko-KR" altLang="en-US" sz="3200" b="1" dirty="0">
                <a:solidFill>
                  <a:srgbClr val="3B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메뉴까지 </a:t>
            </a:r>
            <a:r>
              <a:rPr lang="en-US" sz="3200" b="1" dirty="0">
                <a:solidFill>
                  <a:srgbClr val="3B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 </a:t>
            </a:r>
            <a:r>
              <a:rPr lang="en-US" sz="3200" b="1" dirty="0" err="1">
                <a:solidFill>
                  <a:srgbClr val="3B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만에</a:t>
            </a:r>
            <a:r>
              <a:rPr lang="en-US" sz="3200" b="1" dirty="0">
                <a:solidFill>
                  <a:srgbClr val="3B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3200" b="1" dirty="0">
                <a:solidFill>
                  <a:srgbClr val="3B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</a:t>
            </a:r>
            <a:r>
              <a:rPr lang="en-US" sz="3200" b="1" dirty="0">
                <a:solidFill>
                  <a:srgbClr val="3B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64208" y="11430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싸이렌오더(스타벅스) 부럽지 않은 내 매장 — 등록·메뉴·주문·픽업까지 따라만 하면 10분이면 끝.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26694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09728" cy="1417320"/>
          </a:xfrm>
          <a:prstGeom prst="rect">
            <a:avLst/>
          </a:prstGeom>
          <a:solidFill>
            <a:srgbClr val="F4A5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04672" y="2372868"/>
            <a:ext cx="512064" cy="512064"/>
          </a:xfrm>
          <a:prstGeom prst="ellipse">
            <a:avLst/>
          </a:prstGeom>
          <a:solidFill>
            <a:srgbClr val="3B2A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04672" y="23728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08760" y="2011680"/>
            <a:ext cx="4078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2B2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가게 등록하기(위치)
</a:t>
            </a:r>
            <a:endParaRPr lang="en-US" sz="17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"매장 등록"에서 가게 이름과 위치(지도)를 정하면, 손님이 가까운 가게로 나를 찾아와요.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73368" y="1920240"/>
            <a:ext cx="526694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373368" y="1920240"/>
            <a:ext cx="109728" cy="1417320"/>
          </a:xfrm>
          <a:prstGeom prst="rect">
            <a:avLst/>
          </a:prstGeom>
          <a:solidFill>
            <a:srgbClr val="F4A5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629400" y="2372868"/>
            <a:ext cx="512064" cy="512064"/>
          </a:xfrm>
          <a:prstGeom prst="ellipse">
            <a:avLst/>
          </a:prstGeom>
          <a:solidFill>
            <a:srgbClr val="3B2A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629400" y="23728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33488" y="2011680"/>
            <a:ext cx="4078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2B2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메뉴(상품) 올리기
</a:t>
            </a:r>
            <a:endParaRPr lang="en-US" sz="17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사진·이름·가격을 등록해요. 수량도 정할 수 있어요(예: 아메리카노 2잔).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526694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48640" y="3611880"/>
            <a:ext cx="109728" cy="1417320"/>
          </a:xfrm>
          <a:prstGeom prst="rect">
            <a:avLst/>
          </a:prstGeom>
          <a:solidFill>
            <a:srgbClr val="F4A5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04672" y="4064508"/>
            <a:ext cx="512064" cy="512064"/>
          </a:xfrm>
          <a:prstGeom prst="ellipse">
            <a:avLst/>
          </a:prstGeom>
          <a:solidFill>
            <a:srgbClr val="3B2A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04672" y="40645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08760" y="3703320"/>
            <a:ext cx="4078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2B2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알림 받기(텔레그램)
</a:t>
            </a:r>
            <a:endParaRPr lang="en-US" sz="17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손님이 주문하면 텔레그램으로 바로 알림이 와요. 메뉴·수량·금액까지 보여줍니다.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373368" y="3611880"/>
            <a:ext cx="526694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373368" y="3611880"/>
            <a:ext cx="109728" cy="1417320"/>
          </a:xfrm>
          <a:prstGeom prst="rect">
            <a:avLst/>
          </a:prstGeom>
          <a:solidFill>
            <a:srgbClr val="F4A5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629400" y="4064508"/>
            <a:ext cx="512064" cy="512064"/>
          </a:xfrm>
          <a:prstGeom prst="ellipse">
            <a:avLst/>
          </a:prstGeom>
          <a:solidFill>
            <a:srgbClr val="3B2A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629400" y="40645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333488" y="3703320"/>
            <a:ext cx="4078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2B2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매장에서 받기(O2O)
</a:t>
            </a:r>
            <a:endParaRPr lang="en-US" sz="17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→ 준비중 → 준비완료 → 픽업 순서로 진행돼요. 손님이 매장에서 받아갑니다.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48640" y="56235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FBEFD6"/>
          </a:solidFill>
          <a:ln w="12700">
            <a:solidFill>
              <a:srgbClr val="F4A5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22960" y="5623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974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쉽게 말하면   </a:t>
            </a:r>
            <a:r>
              <a:rPr lang="en-US" sz="1350" dirty="0">
                <a:solidFill>
                  <a:srgbClr val="2B2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주문(O)을 받아 매장(O)에서 건네주는 흐름이라 "O2O"라고 불러요.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74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☕ Cafe.pi</a:t>
            </a:r>
            <a:r>
              <a:rPr lang="en-US" sz="10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쉬운 사용 설명서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15568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 왜 Cafe.pi 인가요?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1430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막강한 글로벌 “당근”  ·  업종을 가리지 않는 유연한 “싸이렌오더”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982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0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9824" cy="640080"/>
          </a:xfrm>
          <a:prstGeom prst="rect">
            <a:avLst/>
          </a:prstGeom>
          <a:solidFill>
            <a:srgbClr val="2E7D6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449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🥕 막강한 글로벌 “당근”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B2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동네 → 전 세계로
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200개 넘는 언어 자동 통역
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현금 대신 Pi로 간편·안전 결제
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채팅·중고·가게가 한 앱에
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위치로 가까운 거래 + 글로벌 확장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90488" y="1783080"/>
            <a:ext cx="544982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0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190488" y="1783080"/>
            <a:ext cx="5449824" cy="640080"/>
          </a:xfrm>
          <a:prstGeom prst="rect">
            <a:avLst/>
          </a:prstGeom>
          <a:solidFill>
            <a:srgbClr val="B974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190488" y="1783080"/>
            <a:ext cx="5449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☕ 유연한 “싸이렌오더”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10528" y="265176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B2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업종 안 가리고 누구나 사장님
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큰 회사 아니어도 내 가게 개설
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메뉴·가격·수량 자유롭게
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주문 즉시 알림(텔레그램)
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주문→준비→픽업 매끄러운 O2O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74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☕ Cafe.pi</a:t>
            </a:r>
            <a:r>
              <a:rPr lang="en-US" sz="10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쉬운 사용 설명서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15568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B2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4206240" cy="4206240"/>
          </a:xfrm>
          <a:prstGeom prst="ellipse">
            <a:avLst/>
          </a:prstGeom>
          <a:solidFill>
            <a:srgbClr val="5A40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424160" y="-1280160"/>
            <a:ext cx="3474720" cy="3474720"/>
          </a:xfrm>
          <a:prstGeom prst="ellipse">
            <a:avLst/>
          </a:prstGeom>
          <a:solidFill>
            <a:srgbClr val="F4A52A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시작해 볼까요? 😊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A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딱 3가지만 기억하세요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4A3528"/>
          </a:solidFill>
          <a:ln w="12700">
            <a:solidFill>
              <a:srgbClr val="F4A5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148840" y="2971800"/>
            <a:ext cx="731520" cy="731520"/>
          </a:xfrm>
          <a:prstGeom prst="ellipse">
            <a:avLst/>
          </a:prstGeom>
          <a:solidFill>
            <a:srgbClr val="F4A5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148840" y="2971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51560" y="38404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
</a:t>
            </a:r>
            <a:endParaRPr lang="en-US" sz="19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D9CB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또는 구글로 들어와 두 계정을 연결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26280" y="27432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4A3528"/>
          </a:solidFill>
          <a:ln w="12700">
            <a:solidFill>
              <a:srgbClr val="F4A5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852160" y="2971800"/>
            <a:ext cx="731520" cy="731520"/>
          </a:xfrm>
          <a:prstGeom prst="ellipse">
            <a:avLst/>
          </a:prstGeom>
          <a:solidFill>
            <a:srgbClr val="F4A5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852160" y="2971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54880" y="38404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둘러보기
</a:t>
            </a:r>
            <a:endParaRPr lang="en-US" sz="19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D9CB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가까운 카페·중고·가게를 위치로 찾기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229600" y="27432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4A3528"/>
          </a:solidFill>
          <a:ln w="12700">
            <a:solidFill>
              <a:srgbClr val="F4A5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555480" y="2971800"/>
            <a:ext cx="731520" cy="731520"/>
          </a:xfrm>
          <a:prstGeom prst="ellipse">
            <a:avLst/>
          </a:prstGeom>
          <a:solidFill>
            <a:srgbClr val="F4A5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555480" y="2971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458200" y="38404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사고팔기
</a:t>
            </a:r>
            <a:endParaRPr lang="en-US" sz="19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D9CB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Pi로 결제 → 알림 받고 매장에서 받기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A9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☕ Cafe.pi — 작은 카페에서 시작해, 전 세계로.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1103</Words>
  <Application>Microsoft Office PowerPoint</Application>
  <PresentationFormat>와이드스크린</PresentationFormat>
  <Paragraphs>180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Cafe.pi 쉬운 사용 설명서</dc:title>
  <dc:subject>PptxGenJS Presentation</dc:subject>
  <dc:creator>cafe.pi</dc:creator>
  <cp:lastModifiedBy>영록 원</cp:lastModifiedBy>
  <cp:revision>2</cp:revision>
  <dcterms:created xsi:type="dcterms:W3CDTF">2026-06-18T03:50:52Z</dcterms:created>
  <dcterms:modified xsi:type="dcterms:W3CDTF">2026-06-18T04:02:22Z</dcterms:modified>
</cp:coreProperties>
</file>