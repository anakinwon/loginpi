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B2A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326880" y="-1463040"/>
            <a:ext cx="4389120" cy="4389120"/>
          </a:xfrm>
          <a:prstGeom prst="ellipse">
            <a:avLst/>
          </a:prstGeom>
          <a:solidFill>
            <a:srgbClr val="5A4030"/>
          </a:solidFill>
          <a:ln/>
        </p:spPr>
      </p:sp>
      <p:sp>
        <p:nvSpPr>
          <p:cNvPr id="3" name="Shape 1"/>
          <p:cNvSpPr/>
          <p:nvPr/>
        </p:nvSpPr>
        <p:spPr>
          <a:xfrm>
            <a:off x="10607040" y="4206240"/>
            <a:ext cx="3291840" cy="3291840"/>
          </a:xfrm>
          <a:prstGeom prst="ellipse">
            <a:avLst/>
          </a:prstGeom>
          <a:solidFill>
            <a:srgbClr val="F4A52A">
              <a:alpha val="30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914400"/>
            <a:ext cx="1828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0" dirty="0">
                <a:solidFill>
                  <a:srgbClr val="000000"/>
                </a:solidFill>
              </a:rPr>
              <a:t>☕</a:t>
            </a:r>
            <a:endParaRPr lang="en-US" sz="6400" dirty="0"/>
          </a:p>
        </p:txBody>
      </p:sp>
      <p:sp>
        <p:nvSpPr>
          <p:cNvPr id="5" name="Text 3"/>
          <p:cNvSpPr/>
          <p:nvPr/>
        </p:nvSpPr>
        <p:spPr>
          <a:xfrm>
            <a:off x="777240" y="2057400"/>
            <a:ext cx="10058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Cafe.pi</a:t>
            </a:r>
            <a:endParaRPr lang="en-US" sz="6000" dirty="0"/>
          </a:p>
        </p:txBody>
      </p:sp>
      <p:sp>
        <p:nvSpPr>
          <p:cNvPr id="6" name="Text 4"/>
          <p:cNvSpPr/>
          <p:nvPr/>
        </p:nvSpPr>
        <p:spPr>
          <a:xfrm>
            <a:off x="822960" y="320040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4A5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쉬운 사용 설명서</a:t>
            </a:r>
            <a:endParaRPr lang="en-US" sz="3400" dirty="0"/>
          </a:p>
        </p:txBody>
      </p:sp>
      <p:sp>
        <p:nvSpPr>
          <p:cNvPr id="7" name="Text 5"/>
          <p:cNvSpPr/>
          <p:nvPr/>
        </p:nvSpPr>
        <p:spPr>
          <a:xfrm>
            <a:off x="822960" y="411480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9DED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컴퓨터를 잘 몰라도 괜찮아요. 그림과 순서대로 따라만 하세요. 😊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22960" y="484632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B8A9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로그인 · Bean · 구독 · 카페와 동시통역 · 중고장터 · 내 가게(O2O)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B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B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한눈에 보기 — 이 설명서로 배우는 7가지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5266944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CE0D2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777240" y="1572768"/>
            <a:ext cx="768096" cy="768096"/>
          </a:xfrm>
          <a:prstGeom prst="ellipse">
            <a:avLst/>
          </a:prstGeom>
          <a:solidFill>
            <a:srgbClr val="FBEFD6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" y="1572768"/>
            <a:ext cx="76809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🔑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691640" y="1527048"/>
            <a:ext cx="3941064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B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1. 로그인하기
</a:t>
            </a:r>
            <a:endParaRPr lang="en-US" sz="1700" dirty="0"/>
          </a:p>
          <a:p>
            <a:pPr indent="0" marL="0">
              <a:buNone/>
            </a:pPr>
            <a:r>
              <a:rPr lang="en-US" sz="1300" dirty="0">
                <a:solidFill>
                  <a:srgbClr val="8A7A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Pi 계정·구글 계정을 하나로 연결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6373368" y="1417320"/>
            <a:ext cx="5266944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CE0D2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6601968" y="1572768"/>
            <a:ext cx="768096" cy="768096"/>
          </a:xfrm>
          <a:prstGeom prst="ellipse">
            <a:avLst/>
          </a:prstGeom>
          <a:solidFill>
            <a:srgbClr val="FBEFD6"/>
          </a:solidFill>
          <a:ln/>
        </p:spPr>
      </p:sp>
      <p:sp>
        <p:nvSpPr>
          <p:cNvPr id="9" name="Text 7"/>
          <p:cNvSpPr/>
          <p:nvPr/>
        </p:nvSpPr>
        <p:spPr>
          <a:xfrm>
            <a:off x="6601968" y="1572768"/>
            <a:ext cx="76809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☕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7516368" y="1527048"/>
            <a:ext cx="3941064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B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2. Bean 알기
</a:t>
            </a:r>
            <a:endParaRPr lang="en-US" sz="1700" dirty="0"/>
          </a:p>
          <a:p>
            <a:pPr indent="0" marL="0">
              <a:buNone/>
            </a:pPr>
            <a:r>
              <a:rPr lang="en-US" sz="1300" dirty="0">
                <a:solidFill>
                  <a:srgbClr val="8A7A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커피빈 코인 — 충전하고 마음 전하기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548640" y="2624328"/>
            <a:ext cx="5266944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CE0D2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777240" y="2779776"/>
            <a:ext cx="768096" cy="768096"/>
          </a:xfrm>
          <a:prstGeom prst="ellipse">
            <a:avLst/>
          </a:prstGeom>
          <a:solidFill>
            <a:srgbClr val="FBEFD6"/>
          </a:solidFill>
          <a:ln/>
        </p:spPr>
      </p:sp>
      <p:sp>
        <p:nvSpPr>
          <p:cNvPr id="13" name="Text 11"/>
          <p:cNvSpPr/>
          <p:nvPr/>
        </p:nvSpPr>
        <p:spPr>
          <a:xfrm>
            <a:off x="777240" y="2779776"/>
            <a:ext cx="76809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🎫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1691640" y="2734056"/>
            <a:ext cx="3941064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B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 구독(이용권)
</a:t>
            </a:r>
            <a:endParaRPr lang="en-US" sz="1700" dirty="0"/>
          </a:p>
          <a:p>
            <a:pPr indent="0" marL="0">
              <a:buNone/>
            </a:pPr>
            <a:r>
              <a:rPr lang="en-US" sz="1300" dirty="0">
                <a:solidFill>
                  <a:srgbClr val="8A7A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카페용·가게용 이용권 구분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6373368" y="2624328"/>
            <a:ext cx="5266944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CE0D2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6601968" y="2779776"/>
            <a:ext cx="768096" cy="768096"/>
          </a:xfrm>
          <a:prstGeom prst="ellipse">
            <a:avLst/>
          </a:prstGeom>
          <a:solidFill>
            <a:srgbClr val="FBEFD6"/>
          </a:solidFill>
          <a:ln/>
        </p:spPr>
      </p:sp>
      <p:sp>
        <p:nvSpPr>
          <p:cNvPr id="17" name="Text 15"/>
          <p:cNvSpPr/>
          <p:nvPr/>
        </p:nvSpPr>
        <p:spPr>
          <a:xfrm>
            <a:off x="6601968" y="2779776"/>
            <a:ext cx="76809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💬</a:t>
            </a:r>
            <a:endParaRPr lang="en-US" sz="2600" dirty="0"/>
          </a:p>
        </p:txBody>
      </p:sp>
      <p:sp>
        <p:nvSpPr>
          <p:cNvPr id="18" name="Text 16"/>
          <p:cNvSpPr/>
          <p:nvPr/>
        </p:nvSpPr>
        <p:spPr>
          <a:xfrm>
            <a:off x="7516368" y="2734056"/>
            <a:ext cx="3941064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B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4. 카페 &amp; 통역
</a:t>
            </a:r>
            <a:endParaRPr lang="en-US" sz="1700" dirty="0"/>
          </a:p>
          <a:p>
            <a:pPr indent="0" marL="0">
              <a:buNone/>
            </a:pPr>
            <a:r>
              <a:rPr lang="en-US" sz="1300" dirty="0">
                <a:solidFill>
                  <a:srgbClr val="8A7A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가까운 카페 + 자동 동시통역</a:t>
            </a:r>
            <a:endParaRPr lang="en-US" sz="1700" dirty="0"/>
          </a:p>
        </p:txBody>
      </p:sp>
      <p:sp>
        <p:nvSpPr>
          <p:cNvPr id="19" name="Shape 17"/>
          <p:cNvSpPr/>
          <p:nvPr/>
        </p:nvSpPr>
        <p:spPr>
          <a:xfrm>
            <a:off x="548640" y="3831336"/>
            <a:ext cx="5266944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CE0D2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777240" y="3986784"/>
            <a:ext cx="768096" cy="768096"/>
          </a:xfrm>
          <a:prstGeom prst="ellipse">
            <a:avLst/>
          </a:prstGeom>
          <a:solidFill>
            <a:srgbClr val="FBEFD6"/>
          </a:solidFill>
          <a:ln/>
        </p:spPr>
      </p:sp>
      <p:sp>
        <p:nvSpPr>
          <p:cNvPr id="21" name="Text 19"/>
          <p:cNvSpPr/>
          <p:nvPr/>
        </p:nvSpPr>
        <p:spPr>
          <a:xfrm>
            <a:off x="777240" y="3986784"/>
            <a:ext cx="76809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📦</a:t>
            </a:r>
            <a:endParaRPr lang="en-US" sz="2600" dirty="0"/>
          </a:p>
        </p:txBody>
      </p:sp>
      <p:sp>
        <p:nvSpPr>
          <p:cNvPr id="22" name="Text 20"/>
          <p:cNvSpPr/>
          <p:nvPr/>
        </p:nvSpPr>
        <p:spPr>
          <a:xfrm>
            <a:off x="1691640" y="3941064"/>
            <a:ext cx="3941064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B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5. 중고장터
</a:t>
            </a:r>
            <a:endParaRPr lang="en-US" sz="1700" dirty="0"/>
          </a:p>
          <a:p>
            <a:pPr indent="0" marL="0">
              <a:buNone/>
            </a:pPr>
            <a:r>
              <a:rPr lang="en-US" sz="1300" dirty="0">
                <a:solidFill>
                  <a:srgbClr val="8A7A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가게 없이 누구나 사고팔기</a:t>
            </a:r>
            <a:endParaRPr lang="en-US" sz="1700" dirty="0"/>
          </a:p>
        </p:txBody>
      </p:sp>
      <p:sp>
        <p:nvSpPr>
          <p:cNvPr id="23" name="Shape 21"/>
          <p:cNvSpPr/>
          <p:nvPr/>
        </p:nvSpPr>
        <p:spPr>
          <a:xfrm>
            <a:off x="6373368" y="3831336"/>
            <a:ext cx="5266944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CE0D2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6601968" y="3986784"/>
            <a:ext cx="768096" cy="768096"/>
          </a:xfrm>
          <a:prstGeom prst="ellipse">
            <a:avLst/>
          </a:prstGeom>
          <a:solidFill>
            <a:srgbClr val="FBEFD6"/>
          </a:solidFill>
          <a:ln/>
        </p:spPr>
      </p:sp>
      <p:sp>
        <p:nvSpPr>
          <p:cNvPr id="25" name="Text 23"/>
          <p:cNvSpPr/>
          <p:nvPr/>
        </p:nvSpPr>
        <p:spPr>
          <a:xfrm>
            <a:off x="6601968" y="3986784"/>
            <a:ext cx="76809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🏪</a:t>
            </a:r>
            <a:endParaRPr lang="en-US" sz="2600" dirty="0"/>
          </a:p>
        </p:txBody>
      </p:sp>
      <p:sp>
        <p:nvSpPr>
          <p:cNvPr id="26" name="Text 24"/>
          <p:cNvSpPr/>
          <p:nvPr/>
        </p:nvSpPr>
        <p:spPr>
          <a:xfrm>
            <a:off x="7516368" y="3941064"/>
            <a:ext cx="3941064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B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6. 내 가게(O2O)
</a:t>
            </a:r>
            <a:endParaRPr lang="en-US" sz="1700" dirty="0"/>
          </a:p>
          <a:p>
            <a:pPr indent="0" marL="0">
              <a:buNone/>
            </a:pPr>
            <a:r>
              <a:rPr lang="en-US" sz="1300" dirty="0">
                <a:solidFill>
                  <a:srgbClr val="8A7A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가게 만들고 메뉴 올리고 주문받기</a:t>
            </a:r>
            <a:endParaRPr lang="en-US" sz="1700" dirty="0"/>
          </a:p>
        </p:txBody>
      </p:sp>
      <p:sp>
        <p:nvSpPr>
          <p:cNvPr id="27" name="Shape 25"/>
          <p:cNvSpPr/>
          <p:nvPr/>
        </p:nvSpPr>
        <p:spPr>
          <a:xfrm>
            <a:off x="548640" y="5038344"/>
            <a:ext cx="5266944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CE0D2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777240" y="5193792"/>
            <a:ext cx="768096" cy="768096"/>
          </a:xfrm>
          <a:prstGeom prst="ellipse">
            <a:avLst/>
          </a:prstGeom>
          <a:solidFill>
            <a:srgbClr val="FBEFD6"/>
          </a:solidFill>
          <a:ln/>
        </p:spPr>
      </p:sp>
      <p:sp>
        <p:nvSpPr>
          <p:cNvPr id="29" name="Text 27"/>
          <p:cNvSpPr/>
          <p:nvPr/>
        </p:nvSpPr>
        <p:spPr>
          <a:xfrm>
            <a:off x="777240" y="5193792"/>
            <a:ext cx="76809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⭐</a:t>
            </a:r>
            <a:endParaRPr lang="en-US" sz="2600" dirty="0"/>
          </a:p>
        </p:txBody>
      </p:sp>
      <p:sp>
        <p:nvSpPr>
          <p:cNvPr id="30" name="Text 28"/>
          <p:cNvSpPr/>
          <p:nvPr/>
        </p:nvSpPr>
        <p:spPr>
          <a:xfrm>
            <a:off x="1691640" y="5148072"/>
            <a:ext cx="3941064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B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7. 왜 좋은가요?
</a:t>
            </a:r>
            <a:endParaRPr lang="en-US" sz="1700" dirty="0"/>
          </a:p>
          <a:p>
            <a:pPr indent="0" marL="0">
              <a:buNone/>
            </a:pPr>
            <a:r>
              <a:rPr lang="en-US" sz="1300" dirty="0">
                <a:solidFill>
                  <a:srgbClr val="8A7A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당근·스타벅스보다 강한 점</a:t>
            </a:r>
            <a:endParaRPr lang="en-US" sz="1700" dirty="0"/>
          </a:p>
        </p:txBody>
      </p:sp>
      <p:sp>
        <p:nvSpPr>
          <p:cNvPr id="31" name="Text 29"/>
          <p:cNvSpPr/>
          <p:nvPr/>
        </p:nvSpPr>
        <p:spPr>
          <a:xfrm>
            <a:off x="548640" y="64008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9740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☕ Cafe.pi</a:t>
            </a:r>
            <a:pPr indent="0" marL="0">
              <a:buNone/>
            </a:pPr>
            <a:r>
              <a:rPr lang="en-US" sz="1000" dirty="0">
                <a:solidFill>
                  <a:srgbClr val="8A7A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쉬운 사용 설명서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11155680" y="640080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7A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B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914400" cy="914400"/>
          </a:xfrm>
          <a:prstGeom prst="ellipse">
            <a:avLst/>
          </a:prstGeom>
          <a:solidFill>
            <a:srgbClr val="F4A52A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" name="Text 1"/>
          <p:cNvSpPr/>
          <p:nvPr/>
        </p:nvSpPr>
        <p:spPr>
          <a:xfrm>
            <a:off x="548640" y="50292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1645920" y="50292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3B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🔑  로그인 &amp; 두 계정 연결하기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1664208" y="1143000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A7A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Pi 브라우저에서 6자리 코드 받기 → 일반 브라우저에 붙여넣고 버튼 한 번이면 끝!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48640" y="1828800"/>
            <a:ext cx="4572000" cy="3520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0D3C2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48640" y="1828800"/>
            <a:ext cx="4572000" cy="502920"/>
          </a:xfrm>
          <a:prstGeom prst="rect">
            <a:avLst/>
          </a:prstGeom>
          <a:solidFill>
            <a:srgbClr val="3B2A20"/>
          </a:solidFill>
          <a:ln/>
        </p:spPr>
      </p:sp>
      <p:sp>
        <p:nvSpPr>
          <p:cNvPr id="8" name="Text 6"/>
          <p:cNvSpPr/>
          <p:nvPr/>
        </p:nvSpPr>
        <p:spPr>
          <a:xfrm>
            <a:off x="548640" y="1828800"/>
            <a:ext cx="4572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📱 Pi Browser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868680" y="2450592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B20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“연동 코드 생성” 누르기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960120" y="2880360"/>
            <a:ext cx="3749040" cy="822960"/>
          </a:xfrm>
          <a:prstGeom prst="rect">
            <a:avLst/>
          </a:prstGeom>
          <a:solidFill>
            <a:srgbClr val="FFF7E8"/>
          </a:solidFill>
          <a:ln w="19050">
            <a:solidFill>
              <a:srgbClr val="F4A52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60120" y="2880360"/>
            <a:ext cx="3749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spc="200" kern="0" dirty="0">
                <a:solidFill>
                  <a:srgbClr val="B9740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A3F-9K2</a:t>
            </a:r>
            <a:endParaRPr lang="en-US" sz="3400" dirty="0"/>
          </a:p>
        </p:txBody>
      </p:sp>
      <p:sp>
        <p:nvSpPr>
          <p:cNvPr id="12" name="Text 10"/>
          <p:cNvSpPr/>
          <p:nvPr/>
        </p:nvSpPr>
        <p:spPr>
          <a:xfrm>
            <a:off x="960120" y="3730752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A7A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🕘 10분 안에 사용하세요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960120" y="4114800"/>
            <a:ext cx="3749040" cy="566928"/>
          </a:xfrm>
          <a:prstGeom prst="roundRect">
            <a:avLst>
              <a:gd name="adj" fmla="val 16129"/>
            </a:avLst>
          </a:prstGeom>
          <a:solidFill>
            <a:srgbClr val="F4A52A"/>
          </a:solidFill>
          <a:ln/>
        </p:spPr>
      </p:sp>
      <p:sp>
        <p:nvSpPr>
          <p:cNvPr id="14" name="Text 12"/>
          <p:cNvSpPr/>
          <p:nvPr/>
        </p:nvSpPr>
        <p:spPr>
          <a:xfrm>
            <a:off x="960120" y="4114800"/>
            <a:ext cx="3749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 연동 URL 복사  📋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5074920" y="2834640"/>
            <a:ext cx="1600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B9740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➜</a:t>
            </a:r>
            <a:endParaRPr lang="en-US" sz="4600" dirty="0"/>
          </a:p>
        </p:txBody>
      </p:sp>
      <p:sp>
        <p:nvSpPr>
          <p:cNvPr id="16" name="Text 14"/>
          <p:cNvSpPr/>
          <p:nvPr/>
        </p:nvSpPr>
        <p:spPr>
          <a:xfrm>
            <a:off x="5029200" y="365760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8A7A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복사해서</a:t>
            </a:r>
            <a:endParaRPr lang="en-US" sz="11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8A7A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붙여넣기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675120" y="1828800"/>
            <a:ext cx="4965192" cy="3520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0D3C2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675120" y="1828800"/>
            <a:ext cx="4965192" cy="502920"/>
          </a:xfrm>
          <a:prstGeom prst="rect">
            <a:avLst/>
          </a:prstGeom>
          <a:solidFill>
            <a:srgbClr val="2E7D6F"/>
          </a:solidFill>
          <a:ln/>
        </p:spPr>
      </p:sp>
      <p:sp>
        <p:nvSpPr>
          <p:cNvPr id="19" name="Text 17"/>
          <p:cNvSpPr/>
          <p:nvPr/>
        </p:nvSpPr>
        <p:spPr>
          <a:xfrm>
            <a:off x="6675120" y="1828800"/>
            <a:ext cx="496519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🌐 일반 브라우저 (크롬·사파리)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6995160" y="2450592"/>
            <a:ext cx="4325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B20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③ 구글 로그인 후, 주소창에 붙여넣기</a:t>
            </a:r>
            <a:endParaRPr lang="en-US" sz="1350" dirty="0"/>
          </a:p>
        </p:txBody>
      </p:sp>
      <p:sp>
        <p:nvSpPr>
          <p:cNvPr id="21" name="Shape 19"/>
          <p:cNvSpPr/>
          <p:nvPr/>
        </p:nvSpPr>
        <p:spPr>
          <a:xfrm>
            <a:off x="7086600" y="2880360"/>
            <a:ext cx="4142232" cy="502920"/>
          </a:xfrm>
          <a:prstGeom prst="roundRect">
            <a:avLst>
              <a:gd name="adj" fmla="val 14545"/>
            </a:avLst>
          </a:prstGeom>
          <a:solidFill>
            <a:srgbClr val="F2ECE3"/>
          </a:solidFill>
          <a:ln w="12700">
            <a:solidFill>
              <a:srgbClr val="D8CBB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315200" y="2880360"/>
            <a:ext cx="39593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B201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🔗  …/link?code=A3F9K2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7086600" y="3566160"/>
            <a:ext cx="4142232" cy="566928"/>
          </a:xfrm>
          <a:prstGeom prst="roundRect">
            <a:avLst>
              <a:gd name="adj" fmla="val 16129"/>
            </a:avLst>
          </a:prstGeom>
          <a:solidFill>
            <a:srgbClr val="3B2A20"/>
          </a:solidFill>
          <a:ln/>
        </p:spPr>
      </p:sp>
      <p:sp>
        <p:nvSpPr>
          <p:cNvPr id="24" name="Text 22"/>
          <p:cNvSpPr/>
          <p:nvPr/>
        </p:nvSpPr>
        <p:spPr>
          <a:xfrm>
            <a:off x="7086600" y="3566160"/>
            <a:ext cx="41422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④ “연동하기” 클릭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7086600" y="4297680"/>
            <a:ext cx="4142232" cy="566928"/>
          </a:xfrm>
          <a:prstGeom prst="roundRect">
            <a:avLst>
              <a:gd name="adj" fmla="val 16129"/>
            </a:avLst>
          </a:prstGeom>
          <a:solidFill>
            <a:srgbClr val="E8F5E9"/>
          </a:solidFill>
          <a:ln w="12700">
            <a:solidFill>
              <a:srgbClr val="9CCFA3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086600" y="4297680"/>
            <a:ext cx="41422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E7D3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 Pi + Google 연동 완료!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548640" y="5623560"/>
            <a:ext cx="11091672" cy="640080"/>
          </a:xfrm>
          <a:prstGeom prst="roundRect">
            <a:avLst>
              <a:gd name="adj" fmla="val 14286"/>
            </a:avLst>
          </a:prstGeom>
          <a:solidFill>
            <a:srgbClr val="FBEFD6"/>
          </a:solidFill>
          <a:ln w="12700">
            <a:solidFill>
              <a:srgbClr val="F4A52A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22960" y="562356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9740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💡 쉽게 말하면   </a:t>
            </a:r>
            <a:pPr indent="0" marL="0">
              <a:buNone/>
            </a:pPr>
            <a:r>
              <a:rPr lang="en-US" sz="1400" dirty="0">
                <a:solidFill>
                  <a:srgbClr val="2B20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Pi 브라우저는 보안상 정보를 저장 못 해서, 6자리 코드(또는 링크)로 두 브라우저를 안전하게 이어줘요.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548640" y="64008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9740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☕ Cafe.pi</a:t>
            </a:r>
            <a:pPr indent="0" marL="0">
              <a:buNone/>
            </a:pPr>
            <a:r>
              <a:rPr lang="en-US" sz="1000" dirty="0">
                <a:solidFill>
                  <a:srgbClr val="8A7A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쉬운 사용 설명서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11155680" y="640080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7A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B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914400" cy="914400"/>
          </a:xfrm>
          <a:prstGeom prst="ellipse">
            <a:avLst/>
          </a:prstGeom>
          <a:solidFill>
            <a:srgbClr val="F4A52A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" name="Text 1"/>
          <p:cNvSpPr/>
          <p:nvPr/>
        </p:nvSpPr>
        <p:spPr>
          <a:xfrm>
            <a:off x="548640" y="50292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1645920" y="50292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3B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☕  Bean(커피빈) 이해하기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1664208" y="1143000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A7A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커피빈은 앱 안에서 마음을 전하는 작은 코인이에요. 충전해서 쓰고, 고마운 사람에게 보냅니다.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48640" y="1783080"/>
            <a:ext cx="11091672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EADFC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48640" y="1783080"/>
            <a:ext cx="109728" cy="1051560"/>
          </a:xfrm>
          <a:prstGeom prst="rect">
            <a:avLst/>
          </a:prstGeom>
          <a:solidFill>
            <a:srgbClr val="F4A52A"/>
          </a:solidFill>
          <a:ln/>
        </p:spPr>
      </p:sp>
      <p:sp>
        <p:nvSpPr>
          <p:cNvPr id="8" name="Shape 6"/>
          <p:cNvSpPr/>
          <p:nvPr/>
        </p:nvSpPr>
        <p:spPr>
          <a:xfrm>
            <a:off x="804672" y="2052828"/>
            <a:ext cx="512064" cy="512064"/>
          </a:xfrm>
          <a:prstGeom prst="ellipse">
            <a:avLst/>
          </a:prstGeom>
          <a:solidFill>
            <a:srgbClr val="3B2A20"/>
          </a:solidFill>
          <a:ln/>
        </p:spPr>
      </p:sp>
      <p:sp>
        <p:nvSpPr>
          <p:cNvPr id="9" name="Text 7"/>
          <p:cNvSpPr/>
          <p:nvPr/>
        </p:nvSpPr>
        <p:spPr>
          <a:xfrm>
            <a:off x="804672" y="205282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508760" y="1874520"/>
            <a:ext cx="99029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700" b="1" dirty="0">
                <a:solidFill>
                  <a:srgbClr val="2B20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Bean이 뭐예요?
</a:t>
            </a:r>
            <a:endParaRPr lang="en-US" sz="17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1350" dirty="0">
                <a:solidFill>
                  <a:srgbClr val="8A7A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카페에서 고마운 사람에게 톡 보내는 "커피빈 코인(☕)"이에요. 칭찬·응원·감사를 숫자 대신 커피빈으로 표현합니다.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548640" y="2990088"/>
            <a:ext cx="11091672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EADFC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548640" y="2990088"/>
            <a:ext cx="109728" cy="1051560"/>
          </a:xfrm>
          <a:prstGeom prst="rect">
            <a:avLst/>
          </a:prstGeom>
          <a:solidFill>
            <a:srgbClr val="F4A52A"/>
          </a:solidFill>
          <a:ln/>
        </p:spPr>
      </p:sp>
      <p:sp>
        <p:nvSpPr>
          <p:cNvPr id="13" name="Shape 11"/>
          <p:cNvSpPr/>
          <p:nvPr/>
        </p:nvSpPr>
        <p:spPr>
          <a:xfrm>
            <a:off x="804672" y="3259836"/>
            <a:ext cx="512064" cy="512064"/>
          </a:xfrm>
          <a:prstGeom prst="ellipse">
            <a:avLst/>
          </a:prstGeom>
          <a:solidFill>
            <a:srgbClr val="3B2A20"/>
          </a:solidFill>
          <a:ln/>
        </p:spPr>
      </p:sp>
      <p:sp>
        <p:nvSpPr>
          <p:cNvPr id="14" name="Text 12"/>
          <p:cNvSpPr/>
          <p:nvPr/>
        </p:nvSpPr>
        <p:spPr>
          <a:xfrm>
            <a:off x="804672" y="3259836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1508760" y="3081528"/>
            <a:ext cx="99029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700" b="1" dirty="0">
                <a:solidFill>
                  <a:srgbClr val="2B20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Bean 충전(결제)하기
</a:t>
            </a:r>
            <a:endParaRPr lang="en-US" sz="17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1350" dirty="0">
                <a:solidFill>
                  <a:srgbClr val="8A7A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Pi로 커피빈을 충전해요. 충전 버튼을 누르고 원하는 만큼 고른 뒤 Pi로 결제하면 내 커피빈이 쌓입니다.</a:t>
            </a:r>
            <a:endParaRPr lang="en-US" sz="1700" dirty="0"/>
          </a:p>
        </p:txBody>
      </p:sp>
      <p:sp>
        <p:nvSpPr>
          <p:cNvPr id="16" name="Shape 14"/>
          <p:cNvSpPr/>
          <p:nvPr/>
        </p:nvSpPr>
        <p:spPr>
          <a:xfrm>
            <a:off x="548640" y="4197096"/>
            <a:ext cx="11091672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EADFC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548640" y="4197096"/>
            <a:ext cx="109728" cy="1051560"/>
          </a:xfrm>
          <a:prstGeom prst="rect">
            <a:avLst/>
          </a:prstGeom>
          <a:solidFill>
            <a:srgbClr val="F4A52A"/>
          </a:solidFill>
          <a:ln/>
        </p:spPr>
      </p:sp>
      <p:sp>
        <p:nvSpPr>
          <p:cNvPr id="18" name="Shape 16"/>
          <p:cNvSpPr/>
          <p:nvPr/>
        </p:nvSpPr>
        <p:spPr>
          <a:xfrm>
            <a:off x="804672" y="4466844"/>
            <a:ext cx="512064" cy="512064"/>
          </a:xfrm>
          <a:prstGeom prst="ellipse">
            <a:avLst/>
          </a:prstGeom>
          <a:solidFill>
            <a:srgbClr val="3B2A20"/>
          </a:solidFill>
          <a:ln/>
        </p:spPr>
      </p:sp>
      <p:sp>
        <p:nvSpPr>
          <p:cNvPr id="19" name="Text 17"/>
          <p:cNvSpPr/>
          <p:nvPr/>
        </p:nvSpPr>
        <p:spPr>
          <a:xfrm>
            <a:off x="804672" y="4466844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1508760" y="4288536"/>
            <a:ext cx="99029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700" b="1" dirty="0">
                <a:solidFill>
                  <a:srgbClr val="2B20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Bean 사용(보내기)하기
</a:t>
            </a:r>
            <a:endParaRPr lang="en-US" sz="17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1350" dirty="0">
                <a:solidFill>
                  <a:srgbClr val="8A7A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대화방에서 상대에게 "커피빈 보내기"를 누르면 마음이 전달돼요. 받은 사람은 알림으로 확인합니다.</a:t>
            </a:r>
            <a:endParaRPr lang="en-US" sz="1700" dirty="0"/>
          </a:p>
        </p:txBody>
      </p:sp>
      <p:sp>
        <p:nvSpPr>
          <p:cNvPr id="21" name="Shape 19"/>
          <p:cNvSpPr/>
          <p:nvPr/>
        </p:nvSpPr>
        <p:spPr>
          <a:xfrm>
            <a:off x="548640" y="5623560"/>
            <a:ext cx="11091672" cy="640080"/>
          </a:xfrm>
          <a:prstGeom prst="roundRect">
            <a:avLst>
              <a:gd name="adj" fmla="val 14286"/>
            </a:avLst>
          </a:prstGeom>
          <a:solidFill>
            <a:srgbClr val="FBEFD6"/>
          </a:solidFill>
          <a:ln w="12700">
            <a:solidFill>
              <a:srgbClr val="F4A52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22960" y="562356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9740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💡 쉽게 말하면   </a:t>
            </a:r>
            <a:pPr indent="0" marL="0">
              <a:buNone/>
            </a:pPr>
            <a:r>
              <a:rPr lang="en-US" sz="1400" dirty="0">
                <a:solidFill>
                  <a:srgbClr val="2B20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커피 한 잔 대접하듯, 앱 안에서 "커피빈(Bean)"으로 따뜻한 마음을 건네는 거예요. ☕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548640" y="64008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9740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☕ Cafe.pi</a:t>
            </a:r>
            <a:pPr indent="0" marL="0">
              <a:buNone/>
            </a:pPr>
            <a:r>
              <a:rPr lang="en-US" sz="1000" dirty="0">
                <a:solidFill>
                  <a:srgbClr val="8A7A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쉬운 사용 설명서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11155680" y="640080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7A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B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914400" cy="914400"/>
          </a:xfrm>
          <a:prstGeom prst="ellipse">
            <a:avLst/>
          </a:prstGeom>
          <a:solidFill>
            <a:srgbClr val="F4A52A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" name="Text 1"/>
          <p:cNvSpPr/>
          <p:nvPr/>
        </p:nvSpPr>
        <p:spPr>
          <a:xfrm>
            <a:off x="548640" y="50292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1645920" y="50292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3B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🎫  PiCafe 구독(이용권) 요금제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1664208" y="1143000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A7A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카페를 더 넓게 쓰는 이용권. 무료부터 시작하고, 필요하면 올리세요.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48640" y="1783080"/>
            <a:ext cx="3483864" cy="3337560"/>
          </a:xfrm>
          <a:prstGeom prst="rect">
            <a:avLst/>
          </a:prstGeom>
          <a:solidFill>
            <a:srgbClr val="FFFFFF"/>
          </a:solidFill>
          <a:ln w="12700">
            <a:solidFill>
              <a:srgbClr val="ECE0D2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48640" y="1783080"/>
            <a:ext cx="3483864" cy="548640"/>
          </a:xfrm>
          <a:prstGeom prst="rect">
            <a:avLst/>
          </a:prstGeom>
          <a:solidFill>
            <a:srgbClr val="9C8C7C"/>
          </a:solidFill>
          <a:ln/>
        </p:spPr>
      </p:sp>
      <p:sp>
        <p:nvSpPr>
          <p:cNvPr id="8" name="Text 6"/>
          <p:cNvSpPr/>
          <p:nvPr/>
        </p:nvSpPr>
        <p:spPr>
          <a:xfrm>
            <a:off x="548640" y="1783080"/>
            <a:ext cx="34838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Pi Explorer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548640" y="2468880"/>
            <a:ext cx="34838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3B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무료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731520" y="3044952"/>
            <a:ext cx="31181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8A7A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 Pi · 평생 무료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914400" y="3657600"/>
            <a:ext cx="284378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2B20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 테마 6개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2B20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1:1 채팅 무제한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2B20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커피빈 받기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4352544" y="1783080"/>
            <a:ext cx="3483864" cy="3337560"/>
          </a:xfrm>
          <a:prstGeom prst="rect">
            <a:avLst/>
          </a:prstGeom>
          <a:solidFill>
            <a:srgbClr val="FFFFFF"/>
          </a:solidFill>
          <a:ln w="12700">
            <a:solidFill>
              <a:srgbClr val="ECE0D2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352544" y="1783080"/>
            <a:ext cx="3483864" cy="548640"/>
          </a:xfrm>
          <a:prstGeom prst="rect">
            <a:avLst/>
          </a:prstGeom>
          <a:solidFill>
            <a:srgbClr val="2E7D6F"/>
          </a:solidFill>
          <a:ln/>
        </p:spPr>
      </p:sp>
      <p:sp>
        <p:nvSpPr>
          <p:cNvPr id="14" name="Text 12"/>
          <p:cNvSpPr/>
          <p:nvPr/>
        </p:nvSpPr>
        <p:spPr>
          <a:xfrm>
            <a:off x="4352544" y="1783080"/>
            <a:ext cx="34838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Pi Creator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4352544" y="2468880"/>
            <a:ext cx="34838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3B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Pi</a:t>
            </a:r>
            <a:endParaRPr lang="en-US" sz="3000" dirty="0"/>
          </a:p>
        </p:txBody>
      </p:sp>
      <p:sp>
        <p:nvSpPr>
          <p:cNvPr id="16" name="Text 14"/>
          <p:cNvSpPr/>
          <p:nvPr/>
        </p:nvSpPr>
        <p:spPr>
          <a:xfrm>
            <a:off x="4535424" y="3044952"/>
            <a:ext cx="31181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8A7A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월간 이용권</a:t>
            </a:r>
            <a:endParaRPr lang="en-US" sz="11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8A7A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연간 10 Pi (2개월 무료)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4718304" y="3657600"/>
            <a:ext cx="284378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2B20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전체 테마 사용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2B20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그룹방 월 3개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2B20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비서 월 10회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2B20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커피빈 보내기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6601968" y="1618488"/>
            <a:ext cx="1097280" cy="384048"/>
          </a:xfrm>
          <a:prstGeom prst="roundRect">
            <a:avLst>
              <a:gd name="adj" fmla="val 19048"/>
            </a:avLst>
          </a:prstGeom>
          <a:solidFill>
            <a:srgbClr val="F4A52A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6601968" y="1618488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⭐ 인기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8156448" y="1783080"/>
            <a:ext cx="3483864" cy="3337560"/>
          </a:xfrm>
          <a:prstGeom prst="rect">
            <a:avLst/>
          </a:prstGeom>
          <a:solidFill>
            <a:srgbClr val="FFFFFF"/>
          </a:solidFill>
          <a:ln w="12700">
            <a:solidFill>
              <a:srgbClr val="ECE0D2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8156448" y="1783080"/>
            <a:ext cx="3483864" cy="548640"/>
          </a:xfrm>
          <a:prstGeom prst="rect">
            <a:avLst/>
          </a:prstGeom>
          <a:solidFill>
            <a:srgbClr val="B9740A"/>
          </a:solidFill>
          <a:ln/>
        </p:spPr>
      </p:sp>
      <p:sp>
        <p:nvSpPr>
          <p:cNvPr id="22" name="Text 20"/>
          <p:cNvSpPr/>
          <p:nvPr/>
        </p:nvSpPr>
        <p:spPr>
          <a:xfrm>
            <a:off x="8156448" y="1783080"/>
            <a:ext cx="34838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Pi Host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8156448" y="2468880"/>
            <a:ext cx="34838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3B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Pi</a:t>
            </a:r>
            <a:endParaRPr lang="en-US" sz="3000" dirty="0"/>
          </a:p>
        </p:txBody>
      </p:sp>
      <p:sp>
        <p:nvSpPr>
          <p:cNvPr id="24" name="Text 22"/>
          <p:cNvSpPr/>
          <p:nvPr/>
        </p:nvSpPr>
        <p:spPr>
          <a:xfrm>
            <a:off x="8339328" y="3044952"/>
            <a:ext cx="31181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8A7A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월간 이용권</a:t>
            </a:r>
            <a:endParaRPr lang="en-US" sz="11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8A7A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연간 50 Pi (2개월 무료)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8522208" y="3657600"/>
            <a:ext cx="284378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2B20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무제한 그룹방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2B20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이벤트 방 개설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2B20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방문 분석 보기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2B20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자동 봇 연결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548640" y="5623560"/>
            <a:ext cx="11091672" cy="640080"/>
          </a:xfrm>
          <a:prstGeom prst="roundRect">
            <a:avLst>
              <a:gd name="adj" fmla="val 14286"/>
            </a:avLst>
          </a:prstGeom>
          <a:solidFill>
            <a:srgbClr val="FBEFD6"/>
          </a:solidFill>
          <a:ln w="12700">
            <a:solidFill>
              <a:srgbClr val="F4A52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22960" y="562356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9740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💡 쉽게 말하면   </a:t>
            </a:r>
            <a:pPr indent="0" marL="0">
              <a:buNone/>
            </a:pPr>
            <a:r>
              <a:rPr lang="en-US" sz="1400" dirty="0">
                <a:solidFill>
                  <a:srgbClr val="2B20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PiStore(판매)는 구독이 아니라 “판매 보증금 1 Pi” 예치예요 — 안전거래용, 약속 어기면 차감됩니다.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548640" y="64008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9740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☕ Cafe.pi</a:t>
            </a:r>
            <a:pPr indent="0" marL="0">
              <a:buNone/>
            </a:pPr>
            <a:r>
              <a:rPr lang="en-US" sz="1000" dirty="0">
                <a:solidFill>
                  <a:srgbClr val="8A7A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쉬운 사용 설명서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11155680" y="640080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7A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B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914400" cy="914400"/>
          </a:xfrm>
          <a:prstGeom prst="ellipse">
            <a:avLst/>
          </a:prstGeom>
          <a:solidFill>
            <a:srgbClr val="F4A52A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" name="Text 1"/>
          <p:cNvSpPr/>
          <p:nvPr/>
        </p:nvSpPr>
        <p:spPr>
          <a:xfrm>
            <a:off x="548640" y="50292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1645920" y="50292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3B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💬  PiCafe + 자동 동시통역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1664208" y="1143000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A7A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 세계 어디를 가도 카페엔 내 친구가 있고, 자동 통역이 되니 어느 나라 사람과도 두렵지 않아요.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48640" y="1783080"/>
            <a:ext cx="11091672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EADFC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48640" y="1783080"/>
            <a:ext cx="109728" cy="1051560"/>
          </a:xfrm>
          <a:prstGeom prst="rect">
            <a:avLst/>
          </a:prstGeom>
          <a:solidFill>
            <a:srgbClr val="F4A52A"/>
          </a:solidFill>
          <a:ln/>
        </p:spPr>
      </p:sp>
      <p:sp>
        <p:nvSpPr>
          <p:cNvPr id="8" name="Shape 6"/>
          <p:cNvSpPr/>
          <p:nvPr/>
        </p:nvSpPr>
        <p:spPr>
          <a:xfrm>
            <a:off x="804672" y="2052828"/>
            <a:ext cx="512064" cy="512064"/>
          </a:xfrm>
          <a:prstGeom prst="ellipse">
            <a:avLst/>
          </a:prstGeom>
          <a:solidFill>
            <a:srgbClr val="3B2A20"/>
          </a:solidFill>
          <a:ln/>
        </p:spPr>
      </p:sp>
      <p:sp>
        <p:nvSpPr>
          <p:cNvPr id="9" name="Text 7"/>
          <p:cNvSpPr/>
          <p:nvPr/>
        </p:nvSpPr>
        <p:spPr>
          <a:xfrm>
            <a:off x="804672" y="205282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508760" y="1874520"/>
            <a:ext cx="99029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700" b="1" dirty="0">
                <a:solidFill>
                  <a:srgbClr val="2B20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주제별 카페에 들어가기
</a:t>
            </a:r>
            <a:endParaRPr lang="en-US" sz="17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1350" dirty="0">
                <a:solidFill>
                  <a:srgbClr val="8A7A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관심 주제(취미·동네·관심사)의 카페 방을 골라 들어가요. 누구나 무료로 채팅을 시작할 수 있어요.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548640" y="2990088"/>
            <a:ext cx="11091672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EADFC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548640" y="2990088"/>
            <a:ext cx="109728" cy="1051560"/>
          </a:xfrm>
          <a:prstGeom prst="rect">
            <a:avLst/>
          </a:prstGeom>
          <a:solidFill>
            <a:srgbClr val="F4A52A"/>
          </a:solidFill>
          <a:ln/>
        </p:spPr>
      </p:sp>
      <p:sp>
        <p:nvSpPr>
          <p:cNvPr id="13" name="Shape 11"/>
          <p:cNvSpPr/>
          <p:nvPr/>
        </p:nvSpPr>
        <p:spPr>
          <a:xfrm>
            <a:off x="804672" y="3259836"/>
            <a:ext cx="512064" cy="512064"/>
          </a:xfrm>
          <a:prstGeom prst="ellipse">
            <a:avLst/>
          </a:prstGeom>
          <a:solidFill>
            <a:srgbClr val="3B2A20"/>
          </a:solidFill>
          <a:ln/>
        </p:spPr>
      </p:sp>
      <p:sp>
        <p:nvSpPr>
          <p:cNvPr id="14" name="Text 12"/>
          <p:cNvSpPr/>
          <p:nvPr/>
        </p:nvSpPr>
        <p:spPr>
          <a:xfrm>
            <a:off x="804672" y="3259836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1508760" y="3081528"/>
            <a:ext cx="99029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700" b="1" dirty="0">
                <a:solidFill>
                  <a:srgbClr val="2B20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"가까운 카페" 위치로 찾기
</a:t>
            </a:r>
            <a:endParaRPr lang="en-US" sz="17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1350" dirty="0">
                <a:solidFill>
                  <a:srgbClr val="8A7A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 위치를 켜면 가까운 카페·사람을 거리순으로 보여줘요. 동네 이웃과 자연스럽게 연결됩니다.</a:t>
            </a:r>
            <a:endParaRPr lang="en-US" sz="1700" dirty="0"/>
          </a:p>
        </p:txBody>
      </p:sp>
      <p:sp>
        <p:nvSpPr>
          <p:cNvPr id="16" name="Shape 14"/>
          <p:cNvSpPr/>
          <p:nvPr/>
        </p:nvSpPr>
        <p:spPr>
          <a:xfrm>
            <a:off x="548640" y="4197096"/>
            <a:ext cx="11091672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EADFC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548640" y="4197096"/>
            <a:ext cx="109728" cy="1051560"/>
          </a:xfrm>
          <a:prstGeom prst="rect">
            <a:avLst/>
          </a:prstGeom>
          <a:solidFill>
            <a:srgbClr val="F4A52A"/>
          </a:solidFill>
          <a:ln/>
        </p:spPr>
      </p:sp>
      <p:sp>
        <p:nvSpPr>
          <p:cNvPr id="18" name="Shape 16"/>
          <p:cNvSpPr/>
          <p:nvPr/>
        </p:nvSpPr>
        <p:spPr>
          <a:xfrm>
            <a:off x="804672" y="4466844"/>
            <a:ext cx="512064" cy="512064"/>
          </a:xfrm>
          <a:prstGeom prst="ellipse">
            <a:avLst/>
          </a:prstGeom>
          <a:solidFill>
            <a:srgbClr val="3B2A20"/>
          </a:solidFill>
          <a:ln/>
        </p:spPr>
      </p:sp>
      <p:sp>
        <p:nvSpPr>
          <p:cNvPr id="19" name="Text 17"/>
          <p:cNvSpPr/>
          <p:nvPr/>
        </p:nvSpPr>
        <p:spPr>
          <a:xfrm>
            <a:off x="804672" y="4466844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1508760" y="4288536"/>
            <a:ext cx="99029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700" b="1" dirty="0">
                <a:solidFill>
                  <a:srgbClr val="2B20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자동 동시통역으로 세계와 대화
</a:t>
            </a:r>
            <a:endParaRPr lang="en-US" sz="17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1350" dirty="0">
                <a:solidFill>
                  <a:srgbClr val="8A7A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상대가 외국어로 써도 내 언어로 바로 보여요(200개 넘는 언어). 내가 쓴 글도 상대 언어로 번역됩니다.</a:t>
            </a:r>
            <a:endParaRPr lang="en-US" sz="1700" dirty="0"/>
          </a:p>
        </p:txBody>
      </p:sp>
      <p:sp>
        <p:nvSpPr>
          <p:cNvPr id="21" name="Shape 19"/>
          <p:cNvSpPr/>
          <p:nvPr/>
        </p:nvSpPr>
        <p:spPr>
          <a:xfrm>
            <a:off x="548640" y="5623560"/>
            <a:ext cx="11091672" cy="640080"/>
          </a:xfrm>
          <a:prstGeom prst="roundRect">
            <a:avLst>
              <a:gd name="adj" fmla="val 14286"/>
            </a:avLst>
          </a:prstGeom>
          <a:solidFill>
            <a:srgbClr val="FBEFD6"/>
          </a:solidFill>
          <a:ln w="12700">
            <a:solidFill>
              <a:srgbClr val="F4A52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22960" y="562356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9740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💡 쉽게 말하면   </a:t>
            </a:r>
            <a:pPr indent="0" marL="0">
              <a:buNone/>
            </a:pPr>
            <a:r>
              <a:rPr lang="en-US" sz="1400" dirty="0">
                <a:solidFill>
                  <a:srgbClr val="2B20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통역사를 옆에 둔 것처럼, 어느 나라 사람과도 막힘없이 수다 떨 수 있어요. 🌍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548640" y="64008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9740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☕ Cafe.pi</a:t>
            </a:r>
            <a:pPr indent="0" marL="0">
              <a:buNone/>
            </a:pPr>
            <a:r>
              <a:rPr lang="en-US" sz="1000" dirty="0">
                <a:solidFill>
                  <a:srgbClr val="8A7A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쉬운 사용 설명서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11155680" y="640080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7A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B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914400" cy="914400"/>
          </a:xfrm>
          <a:prstGeom prst="ellipse">
            <a:avLst/>
          </a:prstGeom>
          <a:solidFill>
            <a:srgbClr val="F4A52A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" name="Text 1"/>
          <p:cNvSpPr/>
          <p:nvPr/>
        </p:nvSpPr>
        <p:spPr>
          <a:xfrm>
            <a:off x="548640" y="50292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1645920" y="50292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3B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📦  중고장터 — 안전한 P2P 거래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1664208" y="1143000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A7A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에스크로(안전 보관) 서비스로 결제가 보호돼요. 가게가 없어도 누구나 가까운 사람과 안심 거래!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48640" y="1783080"/>
            <a:ext cx="11091672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EADFC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48640" y="1783080"/>
            <a:ext cx="109728" cy="1051560"/>
          </a:xfrm>
          <a:prstGeom prst="rect">
            <a:avLst/>
          </a:prstGeom>
          <a:solidFill>
            <a:srgbClr val="F4A52A"/>
          </a:solidFill>
          <a:ln/>
        </p:spPr>
      </p:sp>
      <p:sp>
        <p:nvSpPr>
          <p:cNvPr id="8" name="Shape 6"/>
          <p:cNvSpPr/>
          <p:nvPr/>
        </p:nvSpPr>
        <p:spPr>
          <a:xfrm>
            <a:off x="804672" y="2052828"/>
            <a:ext cx="512064" cy="512064"/>
          </a:xfrm>
          <a:prstGeom prst="ellipse">
            <a:avLst/>
          </a:prstGeom>
          <a:solidFill>
            <a:srgbClr val="3B2A20"/>
          </a:solidFill>
          <a:ln/>
        </p:spPr>
      </p:sp>
      <p:sp>
        <p:nvSpPr>
          <p:cNvPr id="9" name="Text 7"/>
          <p:cNvSpPr/>
          <p:nvPr/>
        </p:nvSpPr>
        <p:spPr>
          <a:xfrm>
            <a:off x="804672" y="205282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508760" y="1874520"/>
            <a:ext cx="99029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700" b="1" dirty="0">
                <a:solidFill>
                  <a:srgbClr val="2B20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팔 물건 사진 올리기
</a:t>
            </a:r>
            <a:endParaRPr lang="en-US" sz="17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1350" dirty="0">
                <a:solidFill>
                  <a:srgbClr val="8A7A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"상품 등록"에서 사진을 찍어 올리고 가격(Pi)을 적으면 끝. 내 위치도 함께 저장돼 가까운 사람에게 보여요.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548640" y="2990088"/>
            <a:ext cx="11091672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EADFC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548640" y="2990088"/>
            <a:ext cx="109728" cy="1051560"/>
          </a:xfrm>
          <a:prstGeom prst="rect">
            <a:avLst/>
          </a:prstGeom>
          <a:solidFill>
            <a:srgbClr val="F4A52A"/>
          </a:solidFill>
          <a:ln/>
        </p:spPr>
      </p:sp>
      <p:sp>
        <p:nvSpPr>
          <p:cNvPr id="13" name="Shape 11"/>
          <p:cNvSpPr/>
          <p:nvPr/>
        </p:nvSpPr>
        <p:spPr>
          <a:xfrm>
            <a:off x="804672" y="3259836"/>
            <a:ext cx="512064" cy="512064"/>
          </a:xfrm>
          <a:prstGeom prst="ellipse">
            <a:avLst/>
          </a:prstGeom>
          <a:solidFill>
            <a:srgbClr val="3B2A20"/>
          </a:solidFill>
          <a:ln/>
        </p:spPr>
      </p:sp>
      <p:sp>
        <p:nvSpPr>
          <p:cNvPr id="14" name="Text 12"/>
          <p:cNvSpPr/>
          <p:nvPr/>
        </p:nvSpPr>
        <p:spPr>
          <a:xfrm>
            <a:off x="804672" y="3259836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1508760" y="3081528"/>
            <a:ext cx="99029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700" b="1" dirty="0">
                <a:solidFill>
                  <a:srgbClr val="2B20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가까운 물건 둘러보고 주문
</a:t>
            </a:r>
            <a:endParaRPr lang="en-US" sz="17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1350" dirty="0">
                <a:solidFill>
                  <a:srgbClr val="8A7A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 주변에 나온 물건을 거리순으로 보고, 마음에 들면 Pi로 주문해요.</a:t>
            </a:r>
            <a:endParaRPr lang="en-US" sz="1700" dirty="0"/>
          </a:p>
        </p:txBody>
      </p:sp>
      <p:sp>
        <p:nvSpPr>
          <p:cNvPr id="16" name="Shape 14"/>
          <p:cNvSpPr/>
          <p:nvPr/>
        </p:nvSpPr>
        <p:spPr>
          <a:xfrm>
            <a:off x="548640" y="4197096"/>
            <a:ext cx="11091672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EADFC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548640" y="4197096"/>
            <a:ext cx="109728" cy="1051560"/>
          </a:xfrm>
          <a:prstGeom prst="rect">
            <a:avLst/>
          </a:prstGeom>
          <a:solidFill>
            <a:srgbClr val="F4A52A"/>
          </a:solidFill>
          <a:ln/>
        </p:spPr>
      </p:sp>
      <p:sp>
        <p:nvSpPr>
          <p:cNvPr id="18" name="Shape 16"/>
          <p:cNvSpPr/>
          <p:nvPr/>
        </p:nvSpPr>
        <p:spPr>
          <a:xfrm>
            <a:off x="804672" y="4466844"/>
            <a:ext cx="512064" cy="512064"/>
          </a:xfrm>
          <a:prstGeom prst="ellipse">
            <a:avLst/>
          </a:prstGeom>
          <a:solidFill>
            <a:srgbClr val="3B2A20"/>
          </a:solidFill>
          <a:ln/>
        </p:spPr>
      </p:sp>
      <p:sp>
        <p:nvSpPr>
          <p:cNvPr id="19" name="Text 17"/>
          <p:cNvSpPr/>
          <p:nvPr/>
        </p:nvSpPr>
        <p:spPr>
          <a:xfrm>
            <a:off x="804672" y="4466844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1508760" y="4288536"/>
            <a:ext cx="99029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700" b="1" dirty="0">
                <a:solidFill>
                  <a:srgbClr val="2B20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안전하게 거래 완료
</a:t>
            </a:r>
            <a:endParaRPr lang="en-US" sz="17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1350" dirty="0">
                <a:solidFill>
                  <a:srgbClr val="8A7A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결제한 Pi는 플랫폼이 잠시 안전하게 보관했다가, 거래가 끝나면 판매자에게 전달돼요(중간 보관).</a:t>
            </a:r>
            <a:endParaRPr lang="en-US" sz="1700" dirty="0"/>
          </a:p>
        </p:txBody>
      </p:sp>
      <p:sp>
        <p:nvSpPr>
          <p:cNvPr id="21" name="Shape 19"/>
          <p:cNvSpPr/>
          <p:nvPr/>
        </p:nvSpPr>
        <p:spPr>
          <a:xfrm>
            <a:off x="548640" y="5623560"/>
            <a:ext cx="11091672" cy="640080"/>
          </a:xfrm>
          <a:prstGeom prst="roundRect">
            <a:avLst>
              <a:gd name="adj" fmla="val 14286"/>
            </a:avLst>
          </a:prstGeom>
          <a:solidFill>
            <a:srgbClr val="FBEFD6"/>
          </a:solidFill>
          <a:ln w="12700">
            <a:solidFill>
              <a:srgbClr val="F4A52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22960" y="562356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9740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💡 쉽게 말하면   </a:t>
            </a:r>
            <a:pPr indent="0" marL="0">
              <a:buNone/>
            </a:pPr>
            <a:r>
              <a:rPr lang="en-US" sz="1400" dirty="0">
                <a:solidFill>
                  <a:srgbClr val="2B20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에스크로 = 플랫폼이 결제한 Pi를 잠시 안전하게 맡아두는 금고. 거래가 끝나야 판매자에게 전달돼요.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548640" y="64008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9740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☕ Cafe.pi</a:t>
            </a:r>
            <a:pPr indent="0" marL="0">
              <a:buNone/>
            </a:pPr>
            <a:r>
              <a:rPr lang="en-US" sz="1000" dirty="0">
                <a:solidFill>
                  <a:srgbClr val="8A7A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쉬운 사용 설명서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11155680" y="640080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7A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B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914400" cy="914400"/>
          </a:xfrm>
          <a:prstGeom prst="ellipse">
            <a:avLst/>
          </a:prstGeom>
          <a:solidFill>
            <a:srgbClr val="F4A52A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" name="Text 1"/>
          <p:cNvSpPr/>
          <p:nvPr/>
        </p:nvSpPr>
        <p:spPr>
          <a:xfrm>
            <a:off x="548640" y="50292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1645920" y="50292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3B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🏪  내 O2O 매장, 10분 만에!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1664208" y="1143000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A7A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싸이렌오더(스타벅스) 부럽지 않은 내 매장 — 등록·메뉴·주문·픽업까지 따라만 하면 10분이면 끝.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48640" y="1920240"/>
            <a:ext cx="5266944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ADFC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48640" y="1920240"/>
            <a:ext cx="109728" cy="1417320"/>
          </a:xfrm>
          <a:prstGeom prst="rect">
            <a:avLst/>
          </a:prstGeom>
          <a:solidFill>
            <a:srgbClr val="F4A52A"/>
          </a:solidFill>
          <a:ln/>
        </p:spPr>
      </p:sp>
      <p:sp>
        <p:nvSpPr>
          <p:cNvPr id="8" name="Shape 6"/>
          <p:cNvSpPr/>
          <p:nvPr/>
        </p:nvSpPr>
        <p:spPr>
          <a:xfrm>
            <a:off x="804672" y="2372868"/>
            <a:ext cx="512064" cy="512064"/>
          </a:xfrm>
          <a:prstGeom prst="ellipse">
            <a:avLst/>
          </a:prstGeom>
          <a:solidFill>
            <a:srgbClr val="3B2A20"/>
          </a:solidFill>
          <a:ln/>
        </p:spPr>
      </p:sp>
      <p:sp>
        <p:nvSpPr>
          <p:cNvPr id="9" name="Text 7"/>
          <p:cNvSpPr/>
          <p:nvPr/>
        </p:nvSpPr>
        <p:spPr>
          <a:xfrm>
            <a:off x="804672" y="237286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508760" y="2011680"/>
            <a:ext cx="407822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700" b="1" dirty="0">
                <a:solidFill>
                  <a:srgbClr val="2B20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 가게 등록하기(위치)
</a:t>
            </a:r>
            <a:endParaRPr lang="en-US" sz="17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1350" dirty="0">
                <a:solidFill>
                  <a:srgbClr val="8A7A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"매장 등록"에서 가게 이름과 위치(지도)를 정하면, 손님이 가까운 가게로 나를 찾아와요.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6373368" y="1920240"/>
            <a:ext cx="5266944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ADFC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6373368" y="1920240"/>
            <a:ext cx="109728" cy="1417320"/>
          </a:xfrm>
          <a:prstGeom prst="rect">
            <a:avLst/>
          </a:prstGeom>
          <a:solidFill>
            <a:srgbClr val="F4A52A"/>
          </a:solidFill>
          <a:ln/>
        </p:spPr>
      </p:sp>
      <p:sp>
        <p:nvSpPr>
          <p:cNvPr id="13" name="Shape 11"/>
          <p:cNvSpPr/>
          <p:nvPr/>
        </p:nvSpPr>
        <p:spPr>
          <a:xfrm>
            <a:off x="6629400" y="2372868"/>
            <a:ext cx="512064" cy="512064"/>
          </a:xfrm>
          <a:prstGeom prst="ellipse">
            <a:avLst/>
          </a:prstGeom>
          <a:solidFill>
            <a:srgbClr val="3B2A20"/>
          </a:solidFill>
          <a:ln/>
        </p:spPr>
      </p:sp>
      <p:sp>
        <p:nvSpPr>
          <p:cNvPr id="14" name="Text 12"/>
          <p:cNvSpPr/>
          <p:nvPr/>
        </p:nvSpPr>
        <p:spPr>
          <a:xfrm>
            <a:off x="6629400" y="237286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7333488" y="2011680"/>
            <a:ext cx="407822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700" b="1" dirty="0">
                <a:solidFill>
                  <a:srgbClr val="2B20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메뉴(상품) 올리기
</a:t>
            </a:r>
            <a:endParaRPr lang="en-US" sz="17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1350" dirty="0">
                <a:solidFill>
                  <a:srgbClr val="8A7A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메뉴 사진·이름·가격을 등록해요. 수량도 정할 수 있어요(예: 아메리카노 2잔).</a:t>
            </a:r>
            <a:endParaRPr lang="en-US" sz="1700" dirty="0"/>
          </a:p>
        </p:txBody>
      </p:sp>
      <p:sp>
        <p:nvSpPr>
          <p:cNvPr id="16" name="Shape 14"/>
          <p:cNvSpPr/>
          <p:nvPr/>
        </p:nvSpPr>
        <p:spPr>
          <a:xfrm>
            <a:off x="548640" y="3611880"/>
            <a:ext cx="5266944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ADFC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548640" y="3611880"/>
            <a:ext cx="109728" cy="1417320"/>
          </a:xfrm>
          <a:prstGeom prst="rect">
            <a:avLst/>
          </a:prstGeom>
          <a:solidFill>
            <a:srgbClr val="F4A52A"/>
          </a:solidFill>
          <a:ln/>
        </p:spPr>
      </p:sp>
      <p:sp>
        <p:nvSpPr>
          <p:cNvPr id="18" name="Shape 16"/>
          <p:cNvSpPr/>
          <p:nvPr/>
        </p:nvSpPr>
        <p:spPr>
          <a:xfrm>
            <a:off x="804672" y="4064508"/>
            <a:ext cx="512064" cy="512064"/>
          </a:xfrm>
          <a:prstGeom prst="ellipse">
            <a:avLst/>
          </a:prstGeom>
          <a:solidFill>
            <a:srgbClr val="3B2A20"/>
          </a:solidFill>
          <a:ln/>
        </p:spPr>
      </p:sp>
      <p:sp>
        <p:nvSpPr>
          <p:cNvPr id="19" name="Text 17"/>
          <p:cNvSpPr/>
          <p:nvPr/>
        </p:nvSpPr>
        <p:spPr>
          <a:xfrm>
            <a:off x="804672" y="406450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1508760" y="3703320"/>
            <a:ext cx="407822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700" b="1" dirty="0">
                <a:solidFill>
                  <a:srgbClr val="2B20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주문 알림 받기(텔레그램)
</a:t>
            </a:r>
            <a:endParaRPr lang="en-US" sz="17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1350" dirty="0">
                <a:solidFill>
                  <a:srgbClr val="8A7A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손님이 주문하면 텔레그램으로 바로 알림이 와요. 메뉴·수량·금액까지 보여줍니다.</a:t>
            </a:r>
            <a:endParaRPr lang="en-US" sz="1700" dirty="0"/>
          </a:p>
        </p:txBody>
      </p:sp>
      <p:sp>
        <p:nvSpPr>
          <p:cNvPr id="21" name="Shape 19"/>
          <p:cNvSpPr/>
          <p:nvPr/>
        </p:nvSpPr>
        <p:spPr>
          <a:xfrm>
            <a:off x="6373368" y="3611880"/>
            <a:ext cx="5266944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ADFC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6373368" y="3611880"/>
            <a:ext cx="109728" cy="1417320"/>
          </a:xfrm>
          <a:prstGeom prst="rect">
            <a:avLst/>
          </a:prstGeom>
          <a:solidFill>
            <a:srgbClr val="F4A52A"/>
          </a:solidFill>
          <a:ln/>
        </p:spPr>
      </p:sp>
      <p:sp>
        <p:nvSpPr>
          <p:cNvPr id="23" name="Shape 21"/>
          <p:cNvSpPr/>
          <p:nvPr/>
        </p:nvSpPr>
        <p:spPr>
          <a:xfrm>
            <a:off x="6629400" y="4064508"/>
            <a:ext cx="512064" cy="512064"/>
          </a:xfrm>
          <a:prstGeom prst="ellipse">
            <a:avLst/>
          </a:prstGeom>
          <a:solidFill>
            <a:srgbClr val="3B2A20"/>
          </a:solidFill>
          <a:ln/>
        </p:spPr>
      </p:sp>
      <p:sp>
        <p:nvSpPr>
          <p:cNvPr id="24" name="Text 22"/>
          <p:cNvSpPr/>
          <p:nvPr/>
        </p:nvSpPr>
        <p:spPr>
          <a:xfrm>
            <a:off x="6629400" y="406450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7333488" y="3703320"/>
            <a:ext cx="407822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700" b="1" dirty="0">
                <a:solidFill>
                  <a:srgbClr val="2B20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매장에서 받기(O2O)
</a:t>
            </a:r>
            <a:endParaRPr lang="en-US" sz="17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1350" dirty="0">
                <a:solidFill>
                  <a:srgbClr val="8A7A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주문 → 준비중 → 준비완료 → 픽업 순서로 진행돼요. 손님이 매장에서 받아갑니다.</a:t>
            </a:r>
            <a:endParaRPr lang="en-US" sz="1700" dirty="0"/>
          </a:p>
        </p:txBody>
      </p:sp>
      <p:sp>
        <p:nvSpPr>
          <p:cNvPr id="26" name="Shape 24"/>
          <p:cNvSpPr/>
          <p:nvPr/>
        </p:nvSpPr>
        <p:spPr>
          <a:xfrm>
            <a:off x="548640" y="5623560"/>
            <a:ext cx="11091672" cy="640080"/>
          </a:xfrm>
          <a:prstGeom prst="roundRect">
            <a:avLst>
              <a:gd name="adj" fmla="val 14286"/>
            </a:avLst>
          </a:prstGeom>
          <a:solidFill>
            <a:srgbClr val="FBEFD6"/>
          </a:solidFill>
          <a:ln w="12700">
            <a:solidFill>
              <a:srgbClr val="F4A52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22960" y="562356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9740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💡 쉽게 말하면   </a:t>
            </a:r>
            <a:pPr indent="0" marL="0">
              <a:buNone/>
            </a:pPr>
            <a:r>
              <a:rPr lang="en-US" sz="1400" dirty="0">
                <a:solidFill>
                  <a:srgbClr val="2B20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온라인 주문(O)을 받아 매장(O)에서 건네주는 흐름이라 "O2O"라고 불러요.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548640" y="64008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9740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☕ Cafe.pi</a:t>
            </a:r>
            <a:pPr indent="0" marL="0">
              <a:buNone/>
            </a:pPr>
            <a:r>
              <a:rPr lang="en-US" sz="1000" dirty="0">
                <a:solidFill>
                  <a:srgbClr val="8A7A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쉬운 사용 설명서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11155680" y="640080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7A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B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B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⭐ 왜 Cafe.pi 인가요?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66928" y="114300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A7A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막강한 글로벌 “당근”  ·  업종을 가리지 않는 유연한 “싸이렌오더”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5449824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ECE0D2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48640" y="1783080"/>
            <a:ext cx="5449824" cy="640080"/>
          </a:xfrm>
          <a:prstGeom prst="rect">
            <a:avLst/>
          </a:prstGeom>
          <a:solidFill>
            <a:srgbClr val="2E7D6F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1783080"/>
            <a:ext cx="544982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🥕 막강한 글로벌 “당근”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868680" y="2651760"/>
            <a:ext cx="484632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2B20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동네 → 전 세계로
</a:t>
            </a:r>
            <a:endParaRPr lang="en-US" sz="15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8A7A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200개 넘는 언어 자동 통역
</a:t>
            </a:r>
            <a:endParaRPr lang="en-US" sz="15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8A7A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현금 대신 Pi로 간편·안전 결제
</a:t>
            </a:r>
            <a:endParaRPr lang="en-US" sz="15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8A7A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채팅·중고·가게가 한 앱에
</a:t>
            </a:r>
            <a:endParaRPr lang="en-US" sz="15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8A7A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위치로 가까운 거래 + 글로벌 확장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190488" y="1783080"/>
            <a:ext cx="5449824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ECE0D2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190488" y="1783080"/>
            <a:ext cx="5449824" cy="640080"/>
          </a:xfrm>
          <a:prstGeom prst="rect">
            <a:avLst/>
          </a:prstGeom>
          <a:solidFill>
            <a:srgbClr val="B9740A"/>
          </a:solidFill>
          <a:ln/>
        </p:spPr>
      </p:sp>
      <p:sp>
        <p:nvSpPr>
          <p:cNvPr id="10" name="Text 8"/>
          <p:cNvSpPr/>
          <p:nvPr/>
        </p:nvSpPr>
        <p:spPr>
          <a:xfrm>
            <a:off x="6190488" y="1783080"/>
            <a:ext cx="544982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☕ 유연한 “싸이렌오더”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6510528" y="2651760"/>
            <a:ext cx="484632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2B20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업종 안 가리고 누구나 사장님
</a:t>
            </a:r>
            <a:endParaRPr lang="en-US" sz="15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8A7A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큰 회사 아니어도 내 가게 개설
</a:t>
            </a:r>
            <a:endParaRPr lang="en-US" sz="15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8A7A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메뉴·가격·수량 자유롭게
</a:t>
            </a:r>
            <a:endParaRPr lang="en-US" sz="15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8A7A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주문 즉시 알림(텔레그램)
</a:t>
            </a:r>
            <a:endParaRPr lang="en-US" sz="15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8A7A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주문→준비→픽업 매끄러운 O2O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548640" y="64008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9740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☕ Cafe.pi</a:t>
            </a:r>
            <a:pPr indent="0" marL="0">
              <a:buNone/>
            </a:pPr>
            <a:r>
              <a:rPr lang="en-US" sz="1000" dirty="0">
                <a:solidFill>
                  <a:srgbClr val="8A7A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쉬운 사용 설명서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11155680" y="640080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7A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B2A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371600" y="4572000"/>
            <a:ext cx="4206240" cy="4206240"/>
          </a:xfrm>
          <a:prstGeom prst="ellipse">
            <a:avLst/>
          </a:prstGeom>
          <a:solidFill>
            <a:srgbClr val="5A4030"/>
          </a:solidFill>
          <a:ln/>
        </p:spPr>
      </p:sp>
      <p:sp>
        <p:nvSpPr>
          <p:cNvPr id="3" name="Shape 1"/>
          <p:cNvSpPr/>
          <p:nvPr/>
        </p:nvSpPr>
        <p:spPr>
          <a:xfrm>
            <a:off x="10424160" y="-1280160"/>
            <a:ext cx="3474720" cy="3474720"/>
          </a:xfrm>
          <a:prstGeom prst="ellipse">
            <a:avLst/>
          </a:prstGeom>
          <a:solidFill>
            <a:srgbClr val="F4A52A">
              <a:alpha val="25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100584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이제 시작해 볼까요? 😊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822960" y="196596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4A5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딱 3가지만 기억하세요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822960" y="2743200"/>
            <a:ext cx="3383280" cy="2194560"/>
          </a:xfrm>
          <a:prstGeom prst="roundRect">
            <a:avLst>
              <a:gd name="adj" fmla="val 5000"/>
            </a:avLst>
          </a:prstGeom>
          <a:solidFill>
            <a:srgbClr val="4A3528"/>
          </a:solidFill>
          <a:ln w="12700">
            <a:solidFill>
              <a:srgbClr val="F4A52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148840" y="2971800"/>
            <a:ext cx="731520" cy="731520"/>
          </a:xfrm>
          <a:prstGeom prst="ellipse">
            <a:avLst/>
          </a:prstGeom>
          <a:solidFill>
            <a:srgbClr val="F4A52A"/>
          </a:solidFill>
          <a:ln/>
        </p:spPr>
      </p:sp>
      <p:sp>
        <p:nvSpPr>
          <p:cNvPr id="8" name="Text 6"/>
          <p:cNvSpPr/>
          <p:nvPr/>
        </p:nvSpPr>
        <p:spPr>
          <a:xfrm>
            <a:off x="2148840" y="29718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3B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1051560" y="3840480"/>
            <a:ext cx="2926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9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로그인
</a:t>
            </a:r>
            <a:endParaRPr lang="en-US" sz="19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D9CB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Pi 또는 구글로 들어와 두 계정을 연결</a:t>
            </a:r>
            <a:endParaRPr lang="en-US" sz="1900" dirty="0"/>
          </a:p>
        </p:txBody>
      </p:sp>
      <p:sp>
        <p:nvSpPr>
          <p:cNvPr id="10" name="Shape 8"/>
          <p:cNvSpPr/>
          <p:nvPr/>
        </p:nvSpPr>
        <p:spPr>
          <a:xfrm>
            <a:off x="4526280" y="2743200"/>
            <a:ext cx="3383280" cy="2194560"/>
          </a:xfrm>
          <a:prstGeom prst="roundRect">
            <a:avLst>
              <a:gd name="adj" fmla="val 5000"/>
            </a:avLst>
          </a:prstGeom>
          <a:solidFill>
            <a:srgbClr val="4A3528"/>
          </a:solidFill>
          <a:ln w="12700">
            <a:solidFill>
              <a:srgbClr val="F4A52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852160" y="2971800"/>
            <a:ext cx="731520" cy="731520"/>
          </a:xfrm>
          <a:prstGeom prst="ellipse">
            <a:avLst/>
          </a:prstGeom>
          <a:solidFill>
            <a:srgbClr val="F4A52A"/>
          </a:solidFill>
          <a:ln/>
        </p:spPr>
      </p:sp>
      <p:sp>
        <p:nvSpPr>
          <p:cNvPr id="12" name="Text 10"/>
          <p:cNvSpPr/>
          <p:nvPr/>
        </p:nvSpPr>
        <p:spPr>
          <a:xfrm>
            <a:off x="5852160" y="29718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3B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4754880" y="3840480"/>
            <a:ext cx="2926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9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둘러보기
</a:t>
            </a:r>
            <a:endParaRPr lang="en-US" sz="19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D9CB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가까운 카페·중고·가게를 위치로 찾기</a:t>
            </a:r>
            <a:endParaRPr lang="en-US" sz="1900" dirty="0"/>
          </a:p>
        </p:txBody>
      </p:sp>
      <p:sp>
        <p:nvSpPr>
          <p:cNvPr id="14" name="Shape 12"/>
          <p:cNvSpPr/>
          <p:nvPr/>
        </p:nvSpPr>
        <p:spPr>
          <a:xfrm>
            <a:off x="8229600" y="2743200"/>
            <a:ext cx="3383280" cy="2194560"/>
          </a:xfrm>
          <a:prstGeom prst="roundRect">
            <a:avLst>
              <a:gd name="adj" fmla="val 5000"/>
            </a:avLst>
          </a:prstGeom>
          <a:solidFill>
            <a:srgbClr val="4A3528"/>
          </a:solidFill>
          <a:ln w="12700">
            <a:solidFill>
              <a:srgbClr val="F4A52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555480" y="2971800"/>
            <a:ext cx="731520" cy="731520"/>
          </a:xfrm>
          <a:prstGeom prst="ellipse">
            <a:avLst/>
          </a:prstGeom>
          <a:solidFill>
            <a:srgbClr val="F4A52A"/>
          </a:solidFill>
          <a:ln/>
        </p:spPr>
      </p:sp>
      <p:sp>
        <p:nvSpPr>
          <p:cNvPr id="16" name="Text 14"/>
          <p:cNvSpPr/>
          <p:nvPr/>
        </p:nvSpPr>
        <p:spPr>
          <a:xfrm>
            <a:off x="9555480" y="29718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3B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2600" dirty="0"/>
          </a:p>
        </p:txBody>
      </p:sp>
      <p:sp>
        <p:nvSpPr>
          <p:cNvPr id="17" name="Text 15"/>
          <p:cNvSpPr/>
          <p:nvPr/>
        </p:nvSpPr>
        <p:spPr>
          <a:xfrm>
            <a:off x="8458200" y="3840480"/>
            <a:ext cx="2926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9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사고팔기
</a:t>
            </a:r>
            <a:endParaRPr lang="en-US" sz="19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D9CB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Pi로 결제 → 알림 받고 매장에서 받기</a:t>
            </a:r>
            <a:endParaRPr lang="en-US" sz="1900" dirty="0"/>
          </a:p>
        </p:txBody>
      </p:sp>
      <p:sp>
        <p:nvSpPr>
          <p:cNvPr id="18" name="Text 16"/>
          <p:cNvSpPr/>
          <p:nvPr/>
        </p:nvSpPr>
        <p:spPr>
          <a:xfrm>
            <a:off x="822960" y="557784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B8A9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☕ Cafe.pi — 작은 카페에서 시작해, 전 세계로.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Cafe.pi 쉬운 사용 설명서</dc:title>
  <dc:subject>PptxGenJS Presentation</dc:subject>
  <dc:creator>cafe.pi</dc:creator>
  <cp:lastModifiedBy>cafe.pi</cp:lastModifiedBy>
  <cp:revision>1</cp:revision>
  <dcterms:created xsi:type="dcterms:W3CDTF">2026-06-18T01:35:26Z</dcterms:created>
  <dcterms:modified xsi:type="dcterms:W3CDTF">2026-06-18T01:35:26Z</dcterms:modified>
</cp:coreProperties>
</file>