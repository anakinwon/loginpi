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904" r:id="rId2"/>
    <p:sldId id="1905" r:id="rId3"/>
    <p:sldId id="1906" r:id="rId4"/>
    <p:sldId id="1907" r:id="rId5"/>
    <p:sldId id="1908" r:id="rId6"/>
    <p:sldId id="1909" r:id="rId7"/>
  </p:sldIdLst>
  <p:sldSz cx="9906000" cy="6858000" type="A4"/>
  <p:notesSz cx="6669088" cy="9928225"/>
  <p:defaultTextStyle>
    <a:defPPr>
      <a:defRPr lang="en-US"/>
    </a:defPPr>
    <a:lvl1pPr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1pPr>
    <a:lvl2pPr marL="4572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2pPr>
    <a:lvl3pPr marL="9144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3pPr>
    <a:lvl4pPr marL="13716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4pPr>
    <a:lvl5pPr marL="18288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3FEFF"/>
    <a:srgbClr val="BEF8FE"/>
    <a:srgbClr val="FFFFCC"/>
    <a:srgbClr val="FFFF85"/>
    <a:srgbClr val="CCFF66"/>
    <a:srgbClr val="969696"/>
    <a:srgbClr val="C0C0C0"/>
    <a:srgbClr val="E8E8E8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8896" autoAdjust="0"/>
  </p:normalViewPr>
  <p:slideViewPr>
    <p:cSldViewPr snapToGrid="0">
      <p:cViewPr>
        <p:scale>
          <a:sx n="75" d="100"/>
          <a:sy n="75" d="100"/>
        </p:scale>
        <p:origin x="-1579" y="-240"/>
      </p:cViewPr>
      <p:guideLst>
        <p:guide orient="horz" pos="325"/>
        <p:guide orient="horz" pos="4272"/>
        <p:guide orient="horz" pos="1136"/>
        <p:guide pos="5982"/>
        <p:guide pos="221"/>
        <p:guide pos="31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39120"/>
    </p:cViewPr>
  </p:sorterViewPr>
  <p:notesViewPr>
    <p:cSldViewPr snapToGrid="0">
      <p:cViewPr varScale="1">
        <p:scale>
          <a:sx n="54" d="100"/>
          <a:sy n="54" d="100"/>
        </p:scale>
        <p:origin x="-1818" y="-90"/>
      </p:cViewPr>
      <p:guideLst>
        <p:guide orient="horz" pos="3128"/>
        <p:guide pos="2101"/>
      </p:guideLst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fld id="{3EE6C399-C98C-4936-ACAF-31E5223556C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5457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42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7700" y="744538"/>
            <a:ext cx="5376863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fld id="{D5541A6A-481C-4701-8C7A-5179998E55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4749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ChangeArrowheads="1"/>
          </p:cNvSpPr>
          <p:nvPr/>
        </p:nvSpPr>
        <p:spPr bwMode="gray">
          <a:xfrm>
            <a:off x="373063" y="3462338"/>
            <a:ext cx="9126537" cy="254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100000">
                <a:srgbClr val="9999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54000" tIns="46800" rIns="54000" bIns="46800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2588" y="661988"/>
            <a:ext cx="4483100" cy="24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8088" y="661988"/>
            <a:ext cx="4483100" cy="24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21538" y="203200"/>
            <a:ext cx="2279650" cy="7032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2588" y="203200"/>
            <a:ext cx="6686550" cy="7032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88" y="203200"/>
            <a:ext cx="9118600" cy="27463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2588" y="661988"/>
            <a:ext cx="4483100" cy="2444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8088" y="661988"/>
            <a:ext cx="4483100" cy="2444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203200"/>
            <a:ext cx="9118600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ko-KR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661988"/>
            <a:ext cx="91186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smtClean="0"/>
              <a:t>마스터 제목</a:t>
            </a:r>
          </a:p>
        </p:txBody>
      </p:sp>
      <p:sp>
        <p:nvSpPr>
          <p:cNvPr id="1056" name="Text Box 32"/>
          <p:cNvSpPr txBox="1">
            <a:spLocks noChangeArrowheads="1"/>
          </p:cNvSpPr>
          <p:nvPr/>
        </p:nvSpPr>
        <p:spPr bwMode="auto">
          <a:xfrm>
            <a:off x="4627563" y="6630988"/>
            <a:ext cx="611187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eaLnBrk="1" hangingPunct="1">
              <a:lnSpc>
                <a:spcPct val="100000"/>
              </a:lnSpc>
              <a:defRPr/>
            </a:pPr>
            <a:fld id="{201C1F96-8BC6-4D03-8EA8-92C51122A982}" type="slidenum">
              <a:rPr kumimoji="0" lang="ko-KR" altLang="en-US" sz="1000" b="0">
                <a:solidFill>
                  <a:schemeClr val="tx1"/>
                </a:solidFill>
                <a:latin typeface="Lucida Sans Unicode" pitchFamily="34" charset="0"/>
                <a:ea typeface="HY그래픽M" pitchFamily="18" charset="-127"/>
              </a:rPr>
              <a:pPr eaLnBrk="1" hangingPunct="1">
                <a:lnSpc>
                  <a:spcPct val="100000"/>
                </a:lnSpc>
                <a:defRPr/>
              </a:pPr>
              <a:t>‹#›</a:t>
            </a:fld>
            <a:endParaRPr kumimoji="0" lang="en-US" altLang="ko-KR" sz="1000" b="0">
              <a:solidFill>
                <a:schemeClr val="tx1"/>
              </a:solidFill>
              <a:latin typeface="Lucida Sans Unicode" pitchFamily="34" charset="0"/>
              <a:ea typeface="HY그래픽M" pitchFamily="18" charset="-127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gray">
          <a:xfrm>
            <a:off x="373063" y="566738"/>
            <a:ext cx="9126537" cy="254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100000">
                <a:srgbClr val="9999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54000" tIns="46800" rIns="54000" bIns="4680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7956550" y="6659563"/>
            <a:ext cx="1404938" cy="153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kumimoji="0" lang="ko-KR" altLang="en-US" sz="1000" b="0" dirty="0" err="1" smtClean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위즈덤마인드</a:t>
            </a:r>
            <a:r>
              <a:rPr kumimoji="0" lang="ko-KR" altLang="en-US" sz="1000" b="0" dirty="0" smtClean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주식회사</a:t>
            </a:r>
            <a:endParaRPr kumimoji="0" lang="en-US" altLang="ko-KR" sz="1000" b="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err="1" smtClean="0"/>
              <a:t>엔터티</a:t>
            </a:r>
            <a:r>
              <a:rPr lang="ko-KR" altLang="en-US" sz="1800" dirty="0" smtClean="0"/>
              <a:t> 명명 규칙 </a:t>
            </a:r>
            <a:r>
              <a:rPr lang="en-US" altLang="ko-KR" sz="1800" dirty="0" smtClean="0"/>
              <a:t>(1/6)</a:t>
            </a:r>
            <a:endParaRPr lang="ko-KR" altLang="en-US" sz="1800" dirty="0" smtClean="0"/>
          </a:p>
        </p:txBody>
      </p:sp>
      <p:sp>
        <p:nvSpPr>
          <p:cNvPr id="25" name="Rectangle 82"/>
          <p:cNvSpPr txBox="1">
            <a:spLocks noChangeArrowheads="1"/>
          </p:cNvSpPr>
          <p:nvPr/>
        </p:nvSpPr>
        <p:spPr bwMode="auto">
          <a:xfrm>
            <a:off x="382588" y="661988"/>
            <a:ext cx="9118600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l" eaLnBrk="1" latinLnBrk="1" hangingPunct="1">
              <a:lnSpc>
                <a:spcPct val="100000"/>
              </a:lnSpc>
              <a:spcBef>
                <a:spcPct val="20000"/>
              </a:spcBef>
            </a:pPr>
            <a:r>
              <a:rPr lang="ko-KR" altLang="en-US" sz="1600" kern="0" noProof="0" dirty="0" err="1" smtClean="0">
                <a:solidFill>
                  <a:schemeClr val="tx1"/>
                </a:solidFill>
                <a:latin typeface="+mn-lt"/>
                <a:ea typeface="+mn-ea"/>
              </a:rPr>
              <a:t>엔터티</a:t>
            </a:r>
            <a:r>
              <a:rPr lang="ko-KR" altLang="en-US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 명은 주제 영역을 포함하면서 </a:t>
            </a:r>
            <a:r>
              <a:rPr lang="ko-KR" altLang="en-US" sz="1600" kern="0" noProof="0" dirty="0" err="1" smtClean="0">
                <a:solidFill>
                  <a:schemeClr val="tx1"/>
                </a:solidFill>
                <a:latin typeface="+mn-lt"/>
                <a:ea typeface="+mn-ea"/>
              </a:rPr>
              <a:t>엔터티의</a:t>
            </a:r>
            <a:r>
              <a:rPr lang="ko-KR" altLang="en-US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 정의를 나타내도록 명료하게 정의한다</a:t>
            </a:r>
            <a:r>
              <a:rPr lang="en-US" altLang="ko-KR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. [</a:t>
            </a:r>
            <a:r>
              <a:rPr lang="ko-KR" altLang="en-US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참조</a:t>
            </a:r>
            <a:r>
              <a:rPr lang="en-US" altLang="ko-KR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] </a:t>
            </a:r>
            <a:r>
              <a:rPr lang="ko-KR" altLang="en-US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등의 사용 용도를 나타내는 표현과 데이터 성격을 나타내는 표현은 생략할 수 있다</a:t>
            </a:r>
            <a:r>
              <a:rPr lang="en-US" altLang="ko-KR" sz="1600" kern="0" noProof="0" dirty="0" smtClean="0">
                <a:solidFill>
                  <a:schemeClr val="tx1"/>
                </a:solidFill>
                <a:latin typeface="+mn-lt"/>
                <a:ea typeface="+mn-ea"/>
              </a:rPr>
              <a:t>.</a:t>
            </a:r>
            <a:endParaRPr kumimoji="1" lang="en-US" altLang="ko-KR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29573"/>
              </p:ext>
            </p:extLst>
          </p:nvPr>
        </p:nvGraphicFramePr>
        <p:xfrm>
          <a:off x="782861" y="2656284"/>
          <a:ext cx="7924800" cy="3539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289"/>
                <a:gridCol w="1905000"/>
                <a:gridCol w="522151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구분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설명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30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돋움"/>
                          <a:ea typeface="+mn-ea"/>
                        </a:rPr>
                        <a:t>①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 용도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엔터티를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복제하거나 다른 주제 영역의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엔터티를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참조할 때 사용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7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돋움"/>
                          <a:ea typeface="+mn-ea"/>
                        </a:rPr>
                        <a:t>②</a:t>
                      </a:r>
                      <a:endParaRPr lang="ko-KR" altLang="en-US" sz="14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주제 영역 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‘1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레벨주제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영역명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 + ‘/’ + ‘2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레벨주제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영역명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7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돋움"/>
                          <a:ea typeface="+mn-ea"/>
                        </a:rPr>
                        <a:t>③</a:t>
                      </a:r>
                      <a:endParaRPr lang="en-US" altLang="ko-KR" sz="14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구분자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주제 영역과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엔터티를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구분하는 문자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latin typeface="돋움"/>
                          <a:ea typeface="+mn-ea"/>
                        </a:rPr>
                        <a:t>④</a:t>
                      </a:r>
                      <a:endParaRPr lang="ko-KR" altLang="en-US" sz="14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정의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/>
                        <a:t> </a:t>
                      </a:r>
                      <a:r>
                        <a:rPr lang="ko-KR" altLang="en-US" sz="1200" b="0" dirty="0" err="1" smtClean="0"/>
                        <a:t>엔터티를</a:t>
                      </a:r>
                      <a:r>
                        <a:rPr lang="ko-KR" altLang="en-US" sz="1200" b="0" dirty="0" smtClean="0"/>
                        <a:t> 나타내는 명사형 단어의 조합</a:t>
                      </a:r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err="1" smtClean="0"/>
                        <a:t>엔터티</a:t>
                      </a:r>
                      <a:r>
                        <a:rPr lang="ko-KR" altLang="en-US" sz="1200" b="0" dirty="0" smtClean="0"/>
                        <a:t> 정의 규칙 참조</a:t>
                      </a:r>
                      <a:r>
                        <a:rPr lang="en-US" altLang="ko-KR" sz="1200" b="0" dirty="0" smtClean="0"/>
                        <a:t>)</a:t>
                      </a:r>
                    </a:p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baseline="0" dirty="0" smtClean="0"/>
                        <a:t> </a:t>
                      </a:r>
                      <a:r>
                        <a:rPr lang="ko-KR" altLang="en-US" sz="1200" b="0" baseline="0" dirty="0" err="1" smtClean="0"/>
                        <a:t>엔터티에서</a:t>
                      </a:r>
                      <a:r>
                        <a:rPr lang="ko-KR" altLang="en-US" sz="1200" b="0" baseline="0" dirty="0" smtClean="0"/>
                        <a:t> 관리하는 데이터를 명확히 나타내는 단어의 조합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7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0" dirty="0" smtClean="0"/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 성격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/>
                        <a:t> </a:t>
                      </a:r>
                      <a:r>
                        <a:rPr lang="ko-KR" altLang="en-US" sz="1200" b="0" dirty="0" smtClean="0"/>
                        <a:t>이력이나 집계와 같은 데이터의 성격을 나타냄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761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0" dirty="0" smtClean="0"/>
                        <a:t> </a:t>
                      </a:r>
                      <a:r>
                        <a:rPr lang="ko-KR" altLang="en-US" sz="1400" b="0" dirty="0" smtClean="0"/>
                        <a:t>고객</a:t>
                      </a:r>
                      <a:r>
                        <a:rPr lang="en-US" altLang="ko-KR" sz="1400" b="0" dirty="0" smtClean="0"/>
                        <a:t>/</a:t>
                      </a:r>
                      <a:r>
                        <a:rPr lang="ko-KR" altLang="en-US" sz="1400" b="0" dirty="0" smtClean="0"/>
                        <a:t>기본</a:t>
                      </a:r>
                      <a:r>
                        <a:rPr lang="en-US" altLang="ko-KR" sz="1400" b="0" dirty="0" smtClean="0"/>
                        <a:t>_</a:t>
                      </a:r>
                      <a:r>
                        <a:rPr lang="ko-KR" altLang="en-US" sz="1400" b="0" dirty="0" smtClean="0"/>
                        <a:t>고객</a:t>
                      </a:r>
                      <a:endParaRPr lang="en-US" altLang="ko-KR" sz="14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 bwMode="auto">
          <a:xfrm>
            <a:off x="941765" y="1639429"/>
            <a:ext cx="119380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[ 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사용 용도 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]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59462" y="1784191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42" name="직사각형 41"/>
          <p:cNvSpPr/>
          <p:nvPr/>
        </p:nvSpPr>
        <p:spPr bwMode="auto">
          <a:xfrm>
            <a:off x="2506935" y="1626425"/>
            <a:ext cx="111679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주제 영역 명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5173930" y="1623297"/>
            <a:ext cx="1255951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엔터티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 정의</a:t>
            </a:r>
          </a:p>
        </p:txBody>
      </p:sp>
      <p:sp>
        <p:nvSpPr>
          <p:cNvPr id="44" name="직사각형 43"/>
          <p:cNvSpPr/>
          <p:nvPr/>
        </p:nvSpPr>
        <p:spPr bwMode="auto">
          <a:xfrm>
            <a:off x="6828171" y="1622500"/>
            <a:ext cx="153246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데이터 성격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1320496" y="1331751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847164" y="1313535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47" name="직사각형 46"/>
          <p:cNvSpPr/>
          <p:nvPr/>
        </p:nvSpPr>
        <p:spPr>
          <a:xfrm>
            <a:off x="4182207" y="1329643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48" name="직사각형 47"/>
          <p:cNvSpPr/>
          <p:nvPr/>
        </p:nvSpPr>
        <p:spPr>
          <a:xfrm>
            <a:off x="5540025" y="1329643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sp>
        <p:nvSpPr>
          <p:cNvPr id="49" name="직사각형 48"/>
          <p:cNvSpPr/>
          <p:nvPr/>
        </p:nvSpPr>
        <p:spPr>
          <a:xfrm>
            <a:off x="7376426" y="1320156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⑤</a:t>
            </a:r>
            <a:endParaRPr lang="ko-KR" altLang="en-US" sz="2000" dirty="0"/>
          </a:p>
        </p:txBody>
      </p:sp>
      <p:sp>
        <p:nvSpPr>
          <p:cNvPr id="50" name="직사각형 49"/>
          <p:cNvSpPr/>
          <p:nvPr/>
        </p:nvSpPr>
        <p:spPr bwMode="auto">
          <a:xfrm>
            <a:off x="4106004" y="1643359"/>
            <a:ext cx="63925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_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658068" y="177118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4801055" y="1788122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6417183" y="1758927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2817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err="1" smtClean="0"/>
              <a:t>엔터티</a:t>
            </a:r>
            <a:r>
              <a:rPr lang="ko-KR" altLang="en-US" sz="1800" dirty="0" smtClean="0"/>
              <a:t> 명명 규칙 </a:t>
            </a:r>
            <a:r>
              <a:rPr lang="en-US" altLang="ko-KR" sz="1800" dirty="0" smtClean="0"/>
              <a:t>(2/6)</a:t>
            </a:r>
            <a:endParaRPr lang="ko-KR" altLang="en-US" sz="1800" dirty="0" smtClean="0"/>
          </a:p>
        </p:txBody>
      </p:sp>
      <p:sp>
        <p:nvSpPr>
          <p:cNvPr id="2" name="직사각형 1"/>
          <p:cNvSpPr/>
          <p:nvPr/>
        </p:nvSpPr>
        <p:spPr bwMode="auto">
          <a:xfrm>
            <a:off x="610235" y="770476"/>
            <a:ext cx="8661400" cy="1112867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1463" y="2045454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635019"/>
              </p:ext>
            </p:extLst>
          </p:nvPr>
        </p:nvGraphicFramePr>
        <p:xfrm>
          <a:off x="669349" y="2516204"/>
          <a:ext cx="8543171" cy="18576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1638"/>
                <a:gridCol w="5511648"/>
                <a:gridCol w="2099885"/>
              </a:tblGrid>
              <a:tr h="39907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내용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예제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518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관계 표현을 위해 다른 주제 영역의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엔터티를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참조해야 할 때 사용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복제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관계 표현을 위해 같은 주제 영역의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엔터티를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참조해야 할 때 사용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복제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계좌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계좌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분석중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/>
                        <a:t> [</a:t>
                      </a:r>
                      <a:r>
                        <a:rPr lang="ko-KR" altLang="en-US" sz="1200" b="0" dirty="0" smtClean="0"/>
                        <a:t>삭제</a:t>
                      </a:r>
                      <a:r>
                        <a:rPr lang="en-US" altLang="ko-KR" sz="1200" b="0" dirty="0" smtClean="0"/>
                        <a:t>], [</a:t>
                      </a:r>
                      <a:r>
                        <a:rPr lang="ko-KR" altLang="en-US" sz="1200" b="0" dirty="0" err="1" smtClean="0"/>
                        <a:t>분석중</a:t>
                      </a:r>
                      <a:r>
                        <a:rPr lang="en-US" altLang="ko-KR" sz="1200" b="0" dirty="0" smtClean="0"/>
                        <a:t>] </a:t>
                      </a:r>
                      <a:r>
                        <a:rPr lang="ko-KR" altLang="en-US" sz="1200" b="0" dirty="0" smtClean="0"/>
                        <a:t>등 </a:t>
                      </a:r>
                      <a:r>
                        <a:rPr lang="ko-KR" altLang="en-US" sz="1200" b="0" dirty="0" err="1" smtClean="0"/>
                        <a:t>엔터티의</a:t>
                      </a:r>
                      <a:r>
                        <a:rPr lang="ko-KR" altLang="en-US" sz="1200" b="0" dirty="0" smtClean="0"/>
                        <a:t> 용도를 나타내는 표현은 사용할 수 있음</a:t>
                      </a:r>
                      <a:endParaRPr lang="en-US" altLang="ko-KR" sz="1200" b="0" dirty="0" smtClean="0"/>
                    </a:p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/>
                        <a:t> </a:t>
                      </a:r>
                      <a:r>
                        <a:rPr lang="ko-KR" altLang="en-US" sz="1200" b="0" dirty="0" smtClean="0"/>
                        <a:t>실제 존재하는 </a:t>
                      </a:r>
                      <a:r>
                        <a:rPr lang="ko-KR" altLang="en-US" sz="1200" b="0" dirty="0" err="1" smtClean="0"/>
                        <a:t>엔터티에</a:t>
                      </a:r>
                      <a:r>
                        <a:rPr lang="ko-KR" altLang="en-US" sz="1200" b="0" dirty="0" smtClean="0"/>
                        <a:t> 대해서만 표현하고 </a:t>
                      </a:r>
                      <a:r>
                        <a:rPr lang="en-US" altLang="ko-KR" sz="1200" b="0" dirty="0" smtClean="0"/>
                        <a:t>[</a:t>
                      </a:r>
                      <a:r>
                        <a:rPr lang="ko-KR" altLang="en-US" sz="1200" b="0" dirty="0" smtClean="0"/>
                        <a:t>가상</a:t>
                      </a:r>
                      <a:r>
                        <a:rPr lang="en-US" altLang="ko-KR" sz="1200" b="0" dirty="0" smtClean="0"/>
                        <a:t>]</a:t>
                      </a:r>
                      <a:r>
                        <a:rPr lang="ko-KR" altLang="en-US" sz="1200" b="0" dirty="0" smtClean="0"/>
                        <a:t>의 </a:t>
                      </a:r>
                      <a:r>
                        <a:rPr lang="ko-KR" altLang="en-US" sz="1200" b="0" dirty="0" err="1" smtClean="0"/>
                        <a:t>엔터티는</a:t>
                      </a:r>
                      <a:r>
                        <a:rPr lang="ko-KR" altLang="en-US" sz="1200" b="0" dirty="0" smtClean="0"/>
                        <a:t> 사용하지 않음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645039" y="4901492"/>
            <a:ext cx="8617493" cy="899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‘1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레벨주제영역명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 + ‘/’ + ‘2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레벨주제영역명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2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레벨 주제 영역 명 생략 검토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엔터티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명에 시스템 명은 포함시키지 않음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2499" y="4522519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39" name="직사각형 38"/>
          <p:cNvSpPr/>
          <p:nvPr/>
        </p:nvSpPr>
        <p:spPr bwMode="auto">
          <a:xfrm>
            <a:off x="941765" y="1156810"/>
            <a:ext cx="119380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[ 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사용 용도 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]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59462" y="1301572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41" name="직사각형 40"/>
          <p:cNvSpPr/>
          <p:nvPr/>
        </p:nvSpPr>
        <p:spPr bwMode="auto">
          <a:xfrm>
            <a:off x="2506935" y="1143806"/>
            <a:ext cx="111679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주제 영역 명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5173930" y="1140678"/>
            <a:ext cx="1255951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엔터티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 정의</a:t>
            </a:r>
          </a:p>
        </p:txBody>
      </p:sp>
      <p:sp>
        <p:nvSpPr>
          <p:cNvPr id="43" name="직사각형 42"/>
          <p:cNvSpPr/>
          <p:nvPr/>
        </p:nvSpPr>
        <p:spPr bwMode="auto">
          <a:xfrm>
            <a:off x="6828171" y="1139881"/>
            <a:ext cx="153246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데이터 성격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320496" y="849132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45" name="TextBox 44"/>
          <p:cNvSpPr txBox="1"/>
          <p:nvPr/>
        </p:nvSpPr>
        <p:spPr>
          <a:xfrm>
            <a:off x="2847164" y="830916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46" name="직사각형 45"/>
          <p:cNvSpPr/>
          <p:nvPr/>
        </p:nvSpPr>
        <p:spPr>
          <a:xfrm>
            <a:off x="4182207" y="84702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47" name="직사각형 46"/>
          <p:cNvSpPr/>
          <p:nvPr/>
        </p:nvSpPr>
        <p:spPr>
          <a:xfrm>
            <a:off x="5540025" y="84702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sp>
        <p:nvSpPr>
          <p:cNvPr id="48" name="직사각형 47"/>
          <p:cNvSpPr/>
          <p:nvPr/>
        </p:nvSpPr>
        <p:spPr>
          <a:xfrm>
            <a:off x="7376426" y="837537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⑤</a:t>
            </a:r>
            <a:endParaRPr lang="ko-KR" altLang="en-US" sz="2000" dirty="0"/>
          </a:p>
        </p:txBody>
      </p:sp>
      <p:sp>
        <p:nvSpPr>
          <p:cNvPr id="49" name="직사각형 48"/>
          <p:cNvSpPr/>
          <p:nvPr/>
        </p:nvSpPr>
        <p:spPr bwMode="auto">
          <a:xfrm>
            <a:off x="4106004" y="1160740"/>
            <a:ext cx="63925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_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58068" y="1288569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1" name="TextBox 50"/>
          <p:cNvSpPr txBox="1"/>
          <p:nvPr/>
        </p:nvSpPr>
        <p:spPr>
          <a:xfrm>
            <a:off x="4801055" y="1305503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6417183" y="127630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915467" y="2045454"/>
            <a:ext cx="8292798" cy="449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아래의 경우에만 사용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641597" y="6216705"/>
            <a:ext cx="8617493" cy="38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주제 영역과 엔터티 영역을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‘_’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로 구분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30516" y="5871815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2273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err="1" smtClean="0"/>
              <a:t>엔터티</a:t>
            </a:r>
            <a:r>
              <a:rPr lang="ko-KR" altLang="en-US" sz="1800" dirty="0" smtClean="0"/>
              <a:t> 명명 규칙 </a:t>
            </a:r>
            <a:r>
              <a:rPr lang="en-US" altLang="ko-KR" sz="1800" dirty="0" smtClean="0"/>
              <a:t>(3/6)</a:t>
            </a:r>
            <a:endParaRPr lang="ko-KR" altLang="en-US" sz="1800" dirty="0" smtClean="0"/>
          </a:p>
        </p:txBody>
      </p: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628717" y="2360203"/>
            <a:ext cx="8617493" cy="899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엔터티가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표현하고자 하는 데이터 정보를 명확히 하기 위해 주제어를 수식하는 명칭을 기술한다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엔터티가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표현하고자 하는 데이터 정보를 대표하는 명칭을 기술한다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엔터티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별로 고유하게 정하는 영역이다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  <a:endParaRPr lang="ko-KR" altLang="en-US" b="0" dirty="0" smtClean="0">
              <a:solidFill>
                <a:schemeClr val="tx1"/>
              </a:solidFill>
              <a:latin typeface="돋움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14589" y="2023189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551450"/>
              </p:ext>
            </p:extLst>
          </p:nvPr>
        </p:nvGraphicFramePr>
        <p:xfrm>
          <a:off x="6097010" y="4138461"/>
          <a:ext cx="3219006" cy="2202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440"/>
                <a:gridCol w="2540566"/>
              </a:tblGrid>
              <a:tr h="2011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내용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98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주체를 나타내는 단어로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~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~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은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~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는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으로 풀이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/>
                        <a:t> </a:t>
                      </a:r>
                      <a:r>
                        <a:rPr lang="ko-KR" altLang="en-US" sz="1200" b="0" dirty="0" smtClean="0"/>
                        <a:t>행위 대상을 나타내는 단어로 </a:t>
                      </a:r>
                      <a:r>
                        <a:rPr lang="en-US" altLang="ko-KR" sz="1200" b="0" dirty="0" smtClean="0"/>
                        <a:t>‘~</a:t>
                      </a:r>
                      <a:r>
                        <a:rPr lang="ko-KR" altLang="en-US" sz="1200" b="0" dirty="0" smtClean="0"/>
                        <a:t>을</a:t>
                      </a:r>
                      <a:r>
                        <a:rPr lang="en-US" altLang="ko-KR" sz="1200" b="0" dirty="0" smtClean="0"/>
                        <a:t>, ~</a:t>
                      </a:r>
                      <a:r>
                        <a:rPr lang="ko-KR" altLang="en-US" sz="1200" b="0" dirty="0" smtClean="0"/>
                        <a:t>를</a:t>
                      </a:r>
                      <a:r>
                        <a:rPr lang="en-US" altLang="ko-KR" sz="1200" b="0" dirty="0" smtClean="0"/>
                        <a:t>’</a:t>
                      </a:r>
                      <a:r>
                        <a:rPr lang="ko-KR" altLang="en-US" sz="1200" b="0" dirty="0" smtClean="0"/>
                        <a:t>로 풀이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dirty="0" smtClean="0"/>
                        <a:t>행위</a:t>
                      </a:r>
                      <a:endParaRPr lang="en-US" altLang="ko-KR" sz="12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/>
                        <a:t> </a:t>
                      </a:r>
                      <a:r>
                        <a:rPr lang="ko-KR" altLang="en-US" sz="1200" b="0" dirty="0" smtClean="0"/>
                        <a:t>행위 자체를 나타내는 단어로 </a:t>
                      </a:r>
                      <a:r>
                        <a:rPr lang="en-US" altLang="ko-KR" sz="1200" b="0" dirty="0" smtClean="0"/>
                        <a:t>‘~</a:t>
                      </a:r>
                      <a:r>
                        <a:rPr lang="ko-KR" altLang="en-US" sz="1200" b="0" dirty="0" smtClean="0"/>
                        <a:t>한</a:t>
                      </a:r>
                      <a:r>
                        <a:rPr lang="en-US" altLang="ko-KR" sz="1200" b="0" dirty="0" smtClean="0"/>
                        <a:t>’</a:t>
                      </a:r>
                      <a:r>
                        <a:rPr lang="ko-KR" altLang="en-US" sz="1200" b="0" dirty="0" smtClean="0"/>
                        <a:t>을 붙여 의미가 통함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" name="Text Box 4"/>
          <p:cNvSpPr txBox="1">
            <a:spLocks noChangeArrowheads="1"/>
          </p:cNvSpPr>
          <p:nvPr/>
        </p:nvSpPr>
        <p:spPr bwMode="gray">
          <a:xfrm>
            <a:off x="568370" y="3599819"/>
            <a:ext cx="4745268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 algn="l" latinLnBrk="0">
              <a:lnSpc>
                <a:spcPct val="120000"/>
              </a:lnSpc>
              <a:spcBef>
                <a:spcPct val="50000"/>
              </a:spcBef>
              <a:defRPr/>
            </a:pPr>
            <a:r>
              <a:rPr lang="ko-KR" altLang="en-US" sz="1600" b="1" dirty="0" err="1" smtClean="0">
                <a:latin typeface="돋움" panose="020B0600000101010101" pitchFamily="50" charset="-127"/>
              </a:rPr>
              <a:t>ㅁ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행위 </a:t>
            </a:r>
            <a:r>
              <a:rPr lang="ko-KR" altLang="en-US" sz="1600" b="1" dirty="0" err="1" smtClean="0">
                <a:latin typeface="돋움" panose="020B0600000101010101" pitchFamily="50" charset="-127"/>
              </a:rPr>
              <a:t>엔터티에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대한 </a:t>
            </a:r>
            <a:r>
              <a:rPr lang="ko-KR" altLang="en-US" sz="1600" b="1" dirty="0" err="1" smtClean="0">
                <a:latin typeface="돋움" panose="020B0600000101010101" pitchFamily="50" charset="-127"/>
              </a:rPr>
              <a:t>엔터티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정의</a:t>
            </a:r>
            <a:endParaRPr lang="en-US" altLang="ko-KR" sz="1600" b="1" dirty="0" smtClean="0">
              <a:latin typeface="돋움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522944" y="4143385"/>
            <a:ext cx="130742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이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1895054" y="4135985"/>
            <a:ext cx="130742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대</a:t>
            </a:r>
            <a:r>
              <a:rPr lang="ko-KR" altLang="en-US" dirty="0"/>
              <a:t>상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/>
              <a:t>를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3265651" y="4143385"/>
            <a:ext cx="130742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행위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/>
              <a:t>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15463" y="4832133"/>
            <a:ext cx="72327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상품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을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3262232" y="4838248"/>
            <a:ext cx="121860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주</a:t>
            </a:r>
            <a:r>
              <a:rPr lang="ko-KR" altLang="en-US" dirty="0"/>
              <a:t>문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 데이터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93208" y="4805971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4887560" y="4805206"/>
            <a:ext cx="78739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상품주문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957067" y="5200790"/>
            <a:ext cx="130516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을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3294612" y="5187709"/>
            <a:ext cx="121860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승</a:t>
            </a:r>
            <a:r>
              <a:rPr lang="ko-KR" altLang="en-US" dirty="0"/>
              <a:t>인</a:t>
            </a:r>
            <a:r>
              <a:rPr lang="en-US" altLang="ko-KR" dirty="0" smtClean="0"/>
              <a:t>’</a:t>
            </a:r>
            <a:r>
              <a:rPr lang="ko-KR" altLang="en-US" dirty="0"/>
              <a:t>한</a:t>
            </a:r>
            <a:r>
              <a:rPr lang="ko-KR" altLang="en-US" dirty="0" smtClean="0"/>
              <a:t> 데이터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4500187" y="5155432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63" name="TextBox 62"/>
          <p:cNvSpPr txBox="1"/>
          <p:nvPr/>
        </p:nvSpPr>
        <p:spPr>
          <a:xfrm>
            <a:off x="4769258" y="5154667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고객대출승인</a:t>
            </a:r>
            <a:endParaRPr lang="ko-KR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3312136" y="5558917"/>
            <a:ext cx="121860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약</a:t>
            </a:r>
            <a:r>
              <a:rPr lang="ko-KR" altLang="en-US" dirty="0"/>
              <a:t>정</a:t>
            </a:r>
            <a:r>
              <a:rPr lang="en-US" altLang="ko-KR" dirty="0" smtClean="0"/>
              <a:t>’</a:t>
            </a:r>
            <a:r>
              <a:rPr lang="ko-KR" altLang="en-US" dirty="0"/>
              <a:t>한</a:t>
            </a:r>
            <a:r>
              <a:rPr lang="ko-KR" altLang="en-US" dirty="0" smtClean="0"/>
              <a:t> 데이터</a:t>
            </a:r>
            <a:endParaRPr lang="ko-KR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4517711" y="5526640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4937465" y="5542809"/>
            <a:ext cx="78739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고객약정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953878" y="5541343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 bwMode="auto">
          <a:xfrm>
            <a:off x="610235" y="770476"/>
            <a:ext cx="8661400" cy="1112867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941765" y="1156810"/>
            <a:ext cx="119380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[ 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사용 용도 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]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59462" y="1301572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42" name="직사각형 41"/>
          <p:cNvSpPr/>
          <p:nvPr/>
        </p:nvSpPr>
        <p:spPr bwMode="auto">
          <a:xfrm>
            <a:off x="2506935" y="1143806"/>
            <a:ext cx="111679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주제 영역 명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5173930" y="1140678"/>
            <a:ext cx="1255951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엔터티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 정의</a:t>
            </a:r>
          </a:p>
        </p:txBody>
      </p:sp>
      <p:sp>
        <p:nvSpPr>
          <p:cNvPr id="44" name="직사각형 43"/>
          <p:cNvSpPr/>
          <p:nvPr/>
        </p:nvSpPr>
        <p:spPr bwMode="auto">
          <a:xfrm>
            <a:off x="6828171" y="1139881"/>
            <a:ext cx="153246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데이터 성격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1320496" y="849132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2847164" y="830916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47" name="직사각형 46"/>
          <p:cNvSpPr/>
          <p:nvPr/>
        </p:nvSpPr>
        <p:spPr>
          <a:xfrm>
            <a:off x="4182207" y="84702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48" name="직사각형 47"/>
          <p:cNvSpPr/>
          <p:nvPr/>
        </p:nvSpPr>
        <p:spPr>
          <a:xfrm>
            <a:off x="5540025" y="84702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sp>
        <p:nvSpPr>
          <p:cNvPr id="49" name="직사각형 48"/>
          <p:cNvSpPr/>
          <p:nvPr/>
        </p:nvSpPr>
        <p:spPr>
          <a:xfrm>
            <a:off x="7376426" y="837537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⑤</a:t>
            </a:r>
            <a:endParaRPr lang="ko-KR" altLang="en-US" sz="2000" dirty="0"/>
          </a:p>
        </p:txBody>
      </p:sp>
      <p:sp>
        <p:nvSpPr>
          <p:cNvPr id="50" name="직사각형 49"/>
          <p:cNvSpPr/>
          <p:nvPr/>
        </p:nvSpPr>
        <p:spPr bwMode="auto">
          <a:xfrm>
            <a:off x="4106004" y="1160740"/>
            <a:ext cx="63925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_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658068" y="1288569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4801055" y="1305503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6417183" y="127630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64" name="TextBox 63"/>
          <p:cNvSpPr txBox="1"/>
          <p:nvPr/>
        </p:nvSpPr>
        <p:spPr>
          <a:xfrm>
            <a:off x="2152086" y="5869846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도</a:t>
            </a:r>
            <a:r>
              <a:rPr lang="ko-KR" altLang="en-US" dirty="0"/>
              <a:t>서</a:t>
            </a:r>
            <a:r>
              <a:rPr lang="en-US" altLang="ko-KR" dirty="0" smtClean="0"/>
              <a:t>’</a:t>
            </a:r>
            <a:r>
              <a:rPr lang="ko-KR" altLang="en-US" dirty="0"/>
              <a:t>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89777" y="5876108"/>
            <a:ext cx="121860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 데이터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4496575" y="5886399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71" name="TextBox 70"/>
          <p:cNvSpPr txBox="1"/>
          <p:nvPr/>
        </p:nvSpPr>
        <p:spPr>
          <a:xfrm>
            <a:off x="4834019" y="5899479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회원도서대출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940718" y="5878752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회</a:t>
            </a:r>
            <a:r>
              <a:rPr lang="ko-KR" altLang="en-US" dirty="0"/>
              <a:t>원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37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err="1" smtClean="0"/>
              <a:t>엔터티</a:t>
            </a:r>
            <a:r>
              <a:rPr lang="ko-KR" altLang="en-US" sz="1800" dirty="0" smtClean="0"/>
              <a:t> 명명 규칙 </a:t>
            </a:r>
            <a:r>
              <a:rPr lang="en-US" altLang="ko-KR" sz="1800" dirty="0" smtClean="0"/>
              <a:t>(4/6)</a:t>
            </a:r>
            <a:endParaRPr lang="ko-KR" altLang="en-US" sz="1800" dirty="0" smtClean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16532"/>
              </p:ext>
            </p:extLst>
          </p:nvPr>
        </p:nvGraphicFramePr>
        <p:xfrm>
          <a:off x="6174463" y="1432851"/>
          <a:ext cx="3100471" cy="22533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2587"/>
                <a:gridCol w="2367884"/>
              </a:tblGrid>
              <a:tr h="2011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내용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98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주체를 나타내는 단어로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~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~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은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~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는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으로 풀이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dirty="0" smtClean="0"/>
                        <a:t>행위</a:t>
                      </a:r>
                      <a:endParaRPr lang="en-US" altLang="ko-KR" sz="12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dirty="0" smtClean="0"/>
                        <a:t>행위 자체를 나타내는 단어로 </a:t>
                      </a:r>
                      <a:r>
                        <a:rPr lang="en-US" altLang="ko-KR" sz="1200" b="0" dirty="0" smtClean="0"/>
                        <a:t>‘~</a:t>
                      </a:r>
                      <a:r>
                        <a:rPr lang="ko-KR" altLang="en-US" sz="1200" b="0" dirty="0" smtClean="0"/>
                        <a:t>한</a:t>
                      </a:r>
                      <a:r>
                        <a:rPr lang="en-US" altLang="ko-KR" sz="1200" b="0" dirty="0" smtClean="0"/>
                        <a:t>’</a:t>
                      </a:r>
                      <a:r>
                        <a:rPr lang="ko-KR" altLang="en-US" sz="1200" b="0" dirty="0" smtClean="0"/>
                        <a:t>을 붙여 의미가 통함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200" b="0" dirty="0" smtClean="0"/>
                        <a:t>행위의 대상을 나타내는 명사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Box 4"/>
          <p:cNvSpPr txBox="1">
            <a:spLocks noChangeArrowheads="1"/>
          </p:cNvSpPr>
          <p:nvPr/>
        </p:nvSpPr>
        <p:spPr bwMode="gray">
          <a:xfrm>
            <a:off x="623105" y="925522"/>
            <a:ext cx="4745268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 algn="l" latinLnBrk="0">
              <a:lnSpc>
                <a:spcPct val="120000"/>
              </a:lnSpc>
              <a:spcBef>
                <a:spcPct val="50000"/>
              </a:spcBef>
              <a:defRPr/>
            </a:pPr>
            <a:r>
              <a:rPr lang="ko-KR" altLang="en-US" sz="1600" b="1" dirty="0" err="1" smtClean="0">
                <a:latin typeface="돋움" panose="020B0600000101010101" pitchFamily="50" charset="-127"/>
              </a:rPr>
              <a:t>ㅁ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실체</a:t>
            </a:r>
            <a:r>
              <a:rPr lang="en-US" altLang="ko-KR" sz="1600" b="1" dirty="0" smtClean="0">
                <a:latin typeface="돋움" panose="020B0600000101010101" pitchFamily="50" charset="-127"/>
              </a:rPr>
              <a:t>/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기준 </a:t>
            </a:r>
            <a:r>
              <a:rPr lang="ko-KR" altLang="en-US" sz="1600" b="1" dirty="0" err="1" smtClean="0">
                <a:latin typeface="돋움" panose="020B0600000101010101" pitchFamily="50" charset="-127"/>
              </a:rPr>
              <a:t>엔터티에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대한 </a:t>
            </a:r>
            <a:r>
              <a:rPr lang="ko-KR" altLang="en-US" sz="1600" b="1" dirty="0" err="1" smtClean="0">
                <a:latin typeface="돋움" panose="020B0600000101010101" pitchFamily="50" charset="-127"/>
              </a:rPr>
              <a:t>엔터티</a:t>
            </a:r>
            <a:r>
              <a:rPr lang="ko-KR" altLang="en-US" sz="1600" b="1" dirty="0" smtClean="0">
                <a:latin typeface="돋움" panose="020B0600000101010101" pitchFamily="50" charset="-127"/>
              </a:rPr>
              <a:t> 정의</a:t>
            </a:r>
            <a:endParaRPr lang="en-US" altLang="ko-KR" sz="1600" b="1" dirty="0" smtClean="0">
              <a:latin typeface="돋움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679283" y="1452154"/>
            <a:ext cx="130742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이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3395617" y="1447689"/>
            <a:ext cx="130742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대</a:t>
            </a:r>
            <a:r>
              <a:rPr lang="ko-KR" altLang="en-US" dirty="0"/>
              <a:t>상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</a:t>
            </a:r>
            <a:r>
              <a:rPr lang="ko-KR" altLang="en-US" dirty="0" smtClean="0"/>
              <a:t>명사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2041924" y="1447689"/>
            <a:ext cx="130742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행위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/>
              <a:t>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64625" y="2197627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</a:t>
            </a:r>
            <a:r>
              <a:rPr lang="ko-KR" altLang="en-US" dirty="0"/>
              <a:t>객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438135" y="2185464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4966236" y="2184699"/>
            <a:ext cx="48603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697173" y="2566284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회</a:t>
            </a:r>
            <a:r>
              <a:rPr lang="ko-KR" altLang="en-US" dirty="0"/>
              <a:t>원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360884" y="2545803"/>
            <a:ext cx="72327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탈</a:t>
            </a:r>
            <a:r>
              <a:rPr lang="ko-KR" altLang="en-US" dirty="0"/>
              <a:t>퇴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453581" y="2534925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4847933" y="2534160"/>
            <a:ext cx="78739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탈퇴회</a:t>
            </a:r>
            <a:r>
              <a:rPr lang="ko-KR" altLang="en-US" dirty="0"/>
              <a:t>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4190" y="2917469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계좌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445704" y="2906133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4865457" y="2905368"/>
            <a:ext cx="78739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수신계</a:t>
            </a:r>
            <a:r>
              <a:rPr lang="ko-KR" altLang="en-US" dirty="0"/>
              <a:t>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8645" y="3293027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406224" y="3272546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첨</a:t>
            </a:r>
            <a:r>
              <a:rPr lang="ko-KR" altLang="en-US" dirty="0"/>
              <a:t>부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456586" y="3261668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4742591" y="3260903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고객첨부파일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206353" y="3287829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317944" y="2898661"/>
            <a:ext cx="87395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수신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하는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695106" y="3660858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환율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406835" y="3629499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5030417" y="3628734"/>
            <a:ext cx="48603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환율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696351" y="3990888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계좌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409492" y="3988587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43" name="TextBox 42"/>
          <p:cNvSpPr txBox="1"/>
          <p:nvPr/>
        </p:nvSpPr>
        <p:spPr>
          <a:xfrm>
            <a:off x="4859709" y="4013361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고객수신계좌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170141" y="3993779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310661" y="3989332"/>
            <a:ext cx="87395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수신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하는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57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err="1" smtClean="0"/>
              <a:t>엔터티</a:t>
            </a:r>
            <a:r>
              <a:rPr lang="ko-KR" altLang="en-US" sz="1800" dirty="0" smtClean="0"/>
              <a:t> 명명 규칙 </a:t>
            </a:r>
            <a:r>
              <a:rPr lang="en-US" altLang="ko-KR" sz="1800" dirty="0" smtClean="0"/>
              <a:t>(5/6)</a:t>
            </a:r>
            <a:endParaRPr lang="ko-KR" altLang="en-US" sz="1800" dirty="0" smtClean="0"/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/>
          </p:nvPr>
        </p:nvGraphicFramePr>
        <p:xfrm>
          <a:off x="6121400" y="1318795"/>
          <a:ext cx="3606800" cy="2362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4467"/>
                <a:gridCol w="2582333"/>
              </a:tblGrid>
              <a:tr h="4338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56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집계기준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집계하려는 기준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ko-KR" sz="12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ko-KR" sz="1200" dirty="0" smtClean="0">
                          <a:solidFill>
                            <a:schemeClr val="tx1"/>
                          </a:solidFill>
                        </a:rPr>
                        <a:t>사원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ko-KR" sz="1200" dirty="0" smtClean="0">
                          <a:solidFill>
                            <a:schemeClr val="tx1"/>
                          </a:solidFill>
                        </a:rPr>
                        <a:t>지점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ko-KR" sz="1200" dirty="0" smtClean="0">
                          <a:solidFill>
                            <a:schemeClr val="tx1"/>
                          </a:solidFill>
                        </a:rPr>
                        <a:t>매체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ko-KR" sz="1200" dirty="0" smtClean="0">
                          <a:solidFill>
                            <a:schemeClr val="tx1"/>
                          </a:solidFill>
                        </a:rPr>
                        <a:t>별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2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집계대상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집계하려는 대상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‘주문’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 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계약’ 등의 행위 또는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고객’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 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계좌’ 등의 실체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접미어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집계’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접미어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93663" indent="-93663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이력’과 마찬가지로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엔터티의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성격을 의미하므로 반드시 필요한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접미어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" name="Text Box 4"/>
          <p:cNvSpPr txBox="1">
            <a:spLocks noChangeArrowheads="1"/>
          </p:cNvSpPr>
          <p:nvPr/>
        </p:nvSpPr>
        <p:spPr bwMode="gray">
          <a:xfrm>
            <a:off x="610782" y="942883"/>
            <a:ext cx="4745268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 algn="l" latinLnBrk="0">
              <a:lnSpc>
                <a:spcPct val="120000"/>
              </a:lnSpc>
              <a:spcBef>
                <a:spcPct val="50000"/>
              </a:spcBef>
              <a:defRPr/>
            </a:pPr>
            <a:r>
              <a:rPr lang="ko-KR" altLang="en-US" sz="1600" b="1" dirty="0" err="1" smtClean="0">
                <a:solidFill>
                  <a:schemeClr val="tx1"/>
                </a:solidFill>
                <a:latin typeface="돋움" panose="020B0600000101010101" pitchFamily="50" charset="-127"/>
              </a:rPr>
              <a:t>ㅁ</a:t>
            </a:r>
            <a:r>
              <a:rPr lang="ko-KR" altLang="en-US" sz="1600" b="1" dirty="0" smtClean="0">
                <a:solidFill>
                  <a:schemeClr val="tx1"/>
                </a:solidFill>
                <a:latin typeface="돋움" panose="020B0600000101010101" pitchFamily="50" charset="-127"/>
              </a:rPr>
              <a:t> 집계 </a:t>
            </a:r>
            <a:r>
              <a:rPr lang="ko-KR" altLang="en-US" sz="1600" b="1" dirty="0" err="1" smtClean="0">
                <a:solidFill>
                  <a:schemeClr val="tx1"/>
                </a:solidFill>
                <a:latin typeface="돋움" panose="020B0600000101010101" pitchFamily="50" charset="-127"/>
              </a:rPr>
              <a:t>엔터티에</a:t>
            </a:r>
            <a:r>
              <a:rPr lang="ko-KR" altLang="en-US" sz="1600" b="1" dirty="0" smtClean="0">
                <a:solidFill>
                  <a:schemeClr val="tx1"/>
                </a:solidFill>
                <a:latin typeface="돋움" panose="020B0600000101010101" pitchFamily="50" charset="-127"/>
              </a:rPr>
              <a:t> 대한 </a:t>
            </a:r>
            <a:r>
              <a:rPr lang="ko-KR" altLang="en-US" sz="1600" b="1" dirty="0" err="1" smtClean="0">
                <a:solidFill>
                  <a:schemeClr val="tx1"/>
                </a:solidFill>
                <a:latin typeface="돋움" panose="020B0600000101010101" pitchFamily="50" charset="-127"/>
              </a:rPr>
              <a:t>엔터티</a:t>
            </a:r>
            <a:r>
              <a:rPr lang="ko-KR" altLang="en-US" sz="1600" b="1" dirty="0" smtClean="0">
                <a:solidFill>
                  <a:schemeClr val="tx1"/>
                </a:solidFill>
                <a:latin typeface="돋움" panose="020B0600000101010101" pitchFamily="50" charset="-127"/>
              </a:rPr>
              <a:t> 정의</a:t>
            </a:r>
            <a:endParaRPr lang="en-US" altLang="ko-KR" sz="1600" b="1" dirty="0" smtClean="0">
              <a:solidFill>
                <a:schemeClr val="tx1"/>
              </a:solidFill>
              <a:latin typeface="돋움" panose="020B0600000101010101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636650" y="1473863"/>
            <a:ext cx="1170485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집계 기준</a:t>
            </a:r>
          </a:p>
        </p:txBody>
      </p:sp>
      <p:sp>
        <p:nvSpPr>
          <p:cNvPr id="57" name="직사각형 56"/>
          <p:cNvSpPr/>
          <p:nvPr/>
        </p:nvSpPr>
        <p:spPr bwMode="auto">
          <a:xfrm>
            <a:off x="1871775" y="1481263"/>
            <a:ext cx="1170485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solidFill>
                  <a:schemeClr val="tx1"/>
                </a:solidFill>
              </a:rPr>
              <a:t>집계  대상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1288" y="4222743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>
                <a:solidFill>
                  <a:schemeClr val="tx1"/>
                </a:solidFill>
              </a:rPr>
              <a:t>월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43597" y="4235630"/>
            <a:ext cx="171393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주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 데이터에 대한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4136" y="2219983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상</a:t>
            </a:r>
            <a:r>
              <a:rPr lang="ko-KR" altLang="en-US" dirty="0">
                <a:solidFill>
                  <a:schemeClr val="tx1"/>
                </a:solidFill>
              </a:rPr>
              <a:t>품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73059" y="2232303"/>
            <a:ext cx="87395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보험계약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078465" y="2191400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23424" y="2190635"/>
            <a:ext cx="154080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tx1"/>
                </a:solidFill>
              </a:rPr>
              <a:t>상품별보험계약집계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89709" y="5663904"/>
            <a:ext cx="155478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고객</a:t>
            </a:r>
            <a:r>
              <a:rPr lang="en-US" altLang="ko-KR" dirty="0" smtClean="0">
                <a:solidFill>
                  <a:schemeClr val="tx1"/>
                </a:solidFill>
              </a:rPr>
              <a:t>’ </a:t>
            </a:r>
            <a:r>
              <a:rPr lang="ko-KR" altLang="en-US" dirty="0" smtClean="0">
                <a:solidFill>
                  <a:schemeClr val="tx1"/>
                </a:solidFill>
              </a:rPr>
              <a:t>데이터에 대한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175447" y="5609361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485902" y="5625530"/>
            <a:ext cx="154080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연도별대출고객집계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 bwMode="auto">
          <a:xfrm>
            <a:off x="3101868" y="1473692"/>
            <a:ext cx="1025914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접미어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628049" y="4222743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23762" y="5647796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연도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299941" y="2215039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24768" y="2539285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계좌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104892" y="2515634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479975" y="2514869"/>
            <a:ext cx="78739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계</a:t>
            </a:r>
            <a:r>
              <a:rPr lang="ko-KR" altLang="en-US" dirty="0">
                <a:solidFill>
                  <a:schemeClr val="tx1"/>
                </a:solidFill>
              </a:rPr>
              <a:t>좌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26368" y="2522021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3057436" y="3490411"/>
            <a:ext cx="1113758" cy="609600"/>
          </a:xfrm>
          <a:prstGeom prst="rect">
            <a:avLst/>
          </a:prstGeom>
          <a:solidFill>
            <a:srgbClr val="BEF8FE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solidFill>
                  <a:schemeClr val="tx1"/>
                </a:solidFill>
              </a:rPr>
              <a:t>집계  대상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행위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0" name="직사각형 79"/>
          <p:cNvSpPr/>
          <p:nvPr/>
        </p:nvSpPr>
        <p:spPr bwMode="auto">
          <a:xfrm>
            <a:off x="1838465" y="3490411"/>
            <a:ext cx="1113758" cy="609600"/>
          </a:xfrm>
          <a:prstGeom prst="rect">
            <a:avLst/>
          </a:prstGeom>
          <a:solidFill>
            <a:srgbClr val="BEF8FE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solidFill>
                  <a:schemeClr val="tx1"/>
                </a:solidFill>
              </a:rPr>
              <a:t>행위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주체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643020" y="3484301"/>
            <a:ext cx="1113758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집계 기준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72362" y="4216982"/>
            <a:ext cx="72327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고객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4323933" y="3490411"/>
            <a:ext cx="976193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접미어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49721" y="4528537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부서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57371" y="4541424"/>
            <a:ext cx="171393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약</a:t>
            </a:r>
            <a:r>
              <a:rPr lang="ko-KR" altLang="en-US" dirty="0">
                <a:solidFill>
                  <a:schemeClr val="tx1"/>
                </a:solidFill>
              </a:rPr>
              <a:t>정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 데이터에 대한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641823" y="4528537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086136" y="4522776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사</a:t>
            </a:r>
            <a:r>
              <a:rPr lang="ko-KR" altLang="en-US" dirty="0">
                <a:solidFill>
                  <a:schemeClr val="tx1"/>
                </a:solidFill>
              </a:rPr>
              <a:t>원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 bwMode="auto">
          <a:xfrm>
            <a:off x="3013690" y="4946677"/>
            <a:ext cx="1090125" cy="609600"/>
          </a:xfrm>
          <a:prstGeom prst="rect">
            <a:avLst/>
          </a:prstGeom>
          <a:solidFill>
            <a:srgbClr val="BEF8FE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solidFill>
                  <a:schemeClr val="tx1"/>
                </a:solidFill>
              </a:rPr>
              <a:t>집계  대상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실체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1794719" y="4946677"/>
            <a:ext cx="1090125" cy="609600"/>
          </a:xfrm>
          <a:prstGeom prst="rect">
            <a:avLst/>
          </a:prstGeom>
          <a:solidFill>
            <a:srgbClr val="BEF8FE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solidFill>
                  <a:schemeClr val="tx1"/>
                </a:solidFill>
              </a:rPr>
              <a:t>행위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0" name="직사각형 89"/>
          <p:cNvSpPr/>
          <p:nvPr/>
        </p:nvSpPr>
        <p:spPr bwMode="auto">
          <a:xfrm>
            <a:off x="616208" y="4940567"/>
            <a:ext cx="1090125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집계 기준</a:t>
            </a:r>
          </a:p>
        </p:txBody>
      </p:sp>
      <p:sp>
        <p:nvSpPr>
          <p:cNvPr id="91" name="직사각형 90"/>
          <p:cNvSpPr/>
          <p:nvPr/>
        </p:nvSpPr>
        <p:spPr bwMode="auto">
          <a:xfrm>
            <a:off x="4237853" y="4946677"/>
            <a:ext cx="955479" cy="609600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접미어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928996" y="5647795"/>
            <a:ext cx="76655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대</a:t>
            </a:r>
            <a:r>
              <a:rPr lang="ko-KR" altLang="en-US" dirty="0">
                <a:solidFill>
                  <a:schemeClr val="tx1"/>
                </a:solidFill>
              </a:rPr>
              <a:t>출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537679" y="5647035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63146" y="5931754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>
                <a:solidFill>
                  <a:schemeClr val="tx1"/>
                </a:solidFill>
              </a:rPr>
              <a:t>월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85098" y="5944641"/>
            <a:ext cx="155478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회</a:t>
            </a:r>
            <a:r>
              <a:rPr lang="ko-KR" altLang="en-US" dirty="0">
                <a:solidFill>
                  <a:schemeClr val="tx1"/>
                </a:solidFill>
              </a:rPr>
              <a:t>원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 데이터에 대한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547643" y="5931754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집계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966555" y="5925993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탈</a:t>
            </a:r>
            <a:r>
              <a:rPr lang="ko-KR" altLang="en-US" dirty="0">
                <a:solidFill>
                  <a:schemeClr val="tx1"/>
                </a:solidFill>
              </a:rPr>
              <a:t>퇴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65607" y="5874832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551403" y="5891001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월별탈퇴회원집계</a:t>
            </a:r>
            <a:endParaRPr lang="ko-KR" alt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5227206" y="4195947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47506" y="4212116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월별고객주문집계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244134" y="4475352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5589093" y="4491521"/>
            <a:ext cx="154080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부서별사원약정집계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09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3850745" cy="276225"/>
          </a:xfrm>
        </p:spPr>
        <p:txBody>
          <a:bodyPr/>
          <a:lstStyle/>
          <a:p>
            <a:pPr eaLnBrk="1" hangingPunct="1"/>
            <a:r>
              <a:rPr lang="ko-KR" altLang="en-US" sz="1800" dirty="0" err="1" smtClean="0"/>
              <a:t>엔터티</a:t>
            </a:r>
            <a:r>
              <a:rPr lang="ko-KR" altLang="en-US" sz="1800" dirty="0" smtClean="0"/>
              <a:t> 명명 규칙 </a:t>
            </a:r>
            <a:r>
              <a:rPr lang="en-US" altLang="ko-KR" sz="1800" dirty="0" smtClean="0"/>
              <a:t>(6/6)</a:t>
            </a:r>
            <a:endParaRPr lang="ko-KR" altLang="en-US" sz="1800" dirty="0" smtClean="0"/>
          </a:p>
        </p:txBody>
      </p:sp>
      <p:sp>
        <p:nvSpPr>
          <p:cNvPr id="39" name="직사각형 38"/>
          <p:cNvSpPr/>
          <p:nvPr/>
        </p:nvSpPr>
        <p:spPr>
          <a:xfrm>
            <a:off x="505427" y="2028829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⑤</a:t>
            </a:r>
            <a:endParaRPr lang="ko-KR" altLang="en-US" sz="2000" dirty="0"/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723649"/>
              </p:ext>
            </p:extLst>
          </p:nvPr>
        </p:nvGraphicFramePr>
        <p:xfrm>
          <a:off x="631619" y="2681774"/>
          <a:ext cx="8607009" cy="4023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876"/>
                <a:gridCol w="7586133"/>
              </a:tblGrid>
              <a:tr h="3702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내용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382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이력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원천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엔터티의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속성이 변경될 때 이전 데이터를 관리하는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이력과 원천 데이터가 통합되어 있는 경우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엔터티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유형은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이력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으로 정의하지 않음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dirty="0" smtClean="0"/>
                        <a:t>관계</a:t>
                      </a:r>
                      <a:endParaRPr lang="en-US" altLang="ko-KR" sz="10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err="1" smtClean="0"/>
                        <a:t>엔터티</a:t>
                      </a:r>
                      <a:r>
                        <a:rPr lang="ko-KR" altLang="en-US" sz="1000" b="0" dirty="0" smtClean="0"/>
                        <a:t> 간의 관계를 관리하기 위해 생성한 </a:t>
                      </a:r>
                      <a:r>
                        <a:rPr lang="ko-KR" altLang="en-US" sz="1000" b="0" dirty="0" err="1" smtClean="0"/>
                        <a:t>엔터티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0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집계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미 존재하는 </a:t>
                      </a:r>
                      <a:r>
                        <a:rPr lang="ko-KR" altLang="en-US" sz="1000" b="0" dirty="0" err="1" smtClean="0"/>
                        <a:t>엔터티의</a:t>
                      </a:r>
                      <a:r>
                        <a:rPr lang="ko-KR" altLang="en-US" sz="1000" b="0" dirty="0" smtClean="0"/>
                        <a:t> 데이터를 추출하여 합계</a:t>
                      </a:r>
                      <a:r>
                        <a:rPr lang="en-US" altLang="ko-KR" sz="1000" b="0" dirty="0" smtClean="0"/>
                        <a:t>, </a:t>
                      </a:r>
                      <a:r>
                        <a:rPr lang="ko-KR" altLang="en-US" sz="1000" b="0" dirty="0" smtClean="0"/>
                        <a:t>통계 등을 한 속성을 관리하는 </a:t>
                      </a:r>
                      <a:r>
                        <a:rPr lang="ko-KR" altLang="en-US" sz="1000" b="0" dirty="0" err="1" smtClean="0"/>
                        <a:t>엔터티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7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백업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err="1" smtClean="0"/>
                        <a:t>엔터티의</a:t>
                      </a:r>
                      <a:r>
                        <a:rPr lang="ko-KR" altLang="en-US" sz="1000" b="0" dirty="0" smtClean="0"/>
                        <a:t> 데이터를 백업하기 위해 생성한 </a:t>
                      </a:r>
                      <a:r>
                        <a:rPr lang="ko-KR" altLang="en-US" sz="1000" b="0" dirty="0" err="1" smtClean="0"/>
                        <a:t>엔터티</a:t>
                      </a:r>
                      <a:endParaRPr lang="en-US" altLang="ko-KR" sz="1000" b="0" dirty="0" smtClean="0"/>
                    </a:p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백업 대상 </a:t>
                      </a:r>
                      <a:r>
                        <a:rPr lang="ko-KR" altLang="en-US" sz="1000" b="0" dirty="0" err="1" smtClean="0"/>
                        <a:t>엔터티가</a:t>
                      </a:r>
                      <a:r>
                        <a:rPr lang="ko-KR" altLang="en-US" sz="1000" b="0" dirty="0" smtClean="0"/>
                        <a:t> </a:t>
                      </a:r>
                      <a:r>
                        <a:rPr lang="en-US" altLang="ko-KR" sz="1000" b="0" dirty="0" smtClean="0"/>
                        <a:t>‘</a:t>
                      </a:r>
                      <a:r>
                        <a:rPr lang="ko-KR" altLang="en-US" sz="1000" b="0" dirty="0" smtClean="0"/>
                        <a:t>고객</a:t>
                      </a:r>
                      <a:r>
                        <a:rPr lang="en-US" altLang="ko-KR" sz="1000" b="0" dirty="0" smtClean="0"/>
                        <a:t>’</a:t>
                      </a:r>
                      <a:r>
                        <a:rPr lang="ko-KR" altLang="en-US" sz="1000" b="0" dirty="0" smtClean="0"/>
                        <a:t>이라면 </a:t>
                      </a:r>
                      <a:r>
                        <a:rPr lang="en-US" altLang="ko-KR" sz="1000" b="0" dirty="0" smtClean="0"/>
                        <a:t>‘</a:t>
                      </a:r>
                      <a:r>
                        <a:rPr lang="ko-KR" altLang="en-US" sz="1000" b="0" dirty="0" smtClean="0"/>
                        <a:t>고객백업</a:t>
                      </a:r>
                      <a:r>
                        <a:rPr lang="en-US" altLang="ko-KR" sz="1000" b="0" dirty="0" smtClean="0"/>
                        <a:t>’</a:t>
                      </a:r>
                      <a:r>
                        <a:rPr lang="ko-KR" altLang="en-US" sz="1000" b="0" dirty="0" smtClean="0"/>
                        <a:t>과 같이 대상 </a:t>
                      </a:r>
                      <a:r>
                        <a:rPr lang="ko-KR" altLang="en-US" sz="1000" b="0" dirty="0" err="1" smtClean="0"/>
                        <a:t>엔터티의</a:t>
                      </a:r>
                      <a:r>
                        <a:rPr lang="ko-KR" altLang="en-US" sz="1000" b="0" dirty="0" smtClean="0"/>
                        <a:t> 이름 뒤에 </a:t>
                      </a:r>
                      <a:r>
                        <a:rPr lang="ko-KR" altLang="en-US" sz="1000" b="0" dirty="0" err="1" smtClean="0"/>
                        <a:t>접미어를</a:t>
                      </a:r>
                      <a:r>
                        <a:rPr lang="ko-KR" altLang="en-US" sz="1000" b="0" dirty="0" smtClean="0"/>
                        <a:t> 사용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8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복제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시스템 구현 또는 성능 관점에서 동일 </a:t>
                      </a:r>
                      <a:r>
                        <a:rPr lang="ko-KR" altLang="en-US" sz="1000" b="0" dirty="0" err="1" smtClean="0"/>
                        <a:t>엔터티를</a:t>
                      </a:r>
                      <a:r>
                        <a:rPr lang="ko-KR" altLang="en-US" sz="1000" b="0" dirty="0" smtClean="0"/>
                        <a:t> 중복 관리하는 </a:t>
                      </a:r>
                      <a:r>
                        <a:rPr lang="ko-KR" altLang="en-US" sz="1000" b="0" dirty="0" err="1" smtClean="0"/>
                        <a:t>엔터티</a:t>
                      </a:r>
                      <a:endParaRPr lang="en-US" altLang="ko-KR" sz="1000" b="0" dirty="0" smtClean="0"/>
                    </a:p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복제 대상 </a:t>
                      </a:r>
                      <a:r>
                        <a:rPr lang="ko-KR" altLang="en-US" sz="1000" b="0" dirty="0" err="1" smtClean="0"/>
                        <a:t>엔터티</a:t>
                      </a:r>
                      <a:r>
                        <a:rPr lang="ko-KR" altLang="en-US" sz="1000" b="0" baseline="0" dirty="0" err="1" smtClean="0"/>
                        <a:t>가</a:t>
                      </a:r>
                      <a:r>
                        <a:rPr lang="ko-KR" altLang="en-US" sz="1000" b="0" baseline="0" dirty="0" smtClean="0"/>
                        <a:t> </a:t>
                      </a:r>
                      <a:r>
                        <a:rPr lang="en-US" altLang="ko-KR" sz="1000" b="0" baseline="0" dirty="0" smtClean="0"/>
                        <a:t>‘</a:t>
                      </a:r>
                      <a:r>
                        <a:rPr lang="ko-KR" altLang="en-US" sz="1000" b="0" baseline="0" dirty="0" smtClean="0"/>
                        <a:t>고객</a:t>
                      </a:r>
                      <a:r>
                        <a:rPr lang="en-US" altLang="ko-KR" sz="1000" b="0" baseline="0" dirty="0" smtClean="0"/>
                        <a:t>’</a:t>
                      </a:r>
                      <a:r>
                        <a:rPr lang="ko-KR" altLang="en-US" sz="1000" b="0" baseline="0" dirty="0" smtClean="0"/>
                        <a:t>이라면 </a:t>
                      </a:r>
                      <a:r>
                        <a:rPr lang="en-US" altLang="ko-KR" sz="1000" b="0" baseline="0" dirty="0" smtClean="0"/>
                        <a:t>‘</a:t>
                      </a:r>
                      <a:r>
                        <a:rPr lang="ko-KR" altLang="en-US" sz="1000" b="0" baseline="0" dirty="0" smtClean="0"/>
                        <a:t>고객복제</a:t>
                      </a:r>
                      <a:r>
                        <a:rPr lang="en-US" altLang="ko-KR" sz="1000" b="0" baseline="0" dirty="0" smtClean="0"/>
                        <a:t>’</a:t>
                      </a:r>
                      <a:r>
                        <a:rPr lang="ko-KR" altLang="en-US" sz="1000" b="0" baseline="0" dirty="0" smtClean="0"/>
                        <a:t>와 같이 대상 </a:t>
                      </a:r>
                      <a:r>
                        <a:rPr lang="ko-KR" altLang="en-US" sz="1000" b="0" baseline="0" dirty="0" err="1" smtClean="0"/>
                        <a:t>엔터티의</a:t>
                      </a:r>
                      <a:r>
                        <a:rPr lang="ko-KR" altLang="en-US" sz="1000" b="0" baseline="0" dirty="0" smtClean="0"/>
                        <a:t> 이름 뒤에 </a:t>
                      </a:r>
                      <a:r>
                        <a:rPr lang="ko-KR" altLang="en-US" sz="1000" b="0" baseline="0" dirty="0" err="1" smtClean="0"/>
                        <a:t>접미어를</a:t>
                      </a:r>
                      <a:r>
                        <a:rPr lang="ko-KR" altLang="en-US" sz="1000" b="0" baseline="0" dirty="0" smtClean="0"/>
                        <a:t> 사용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9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인터페이스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인터페이스 용도의 </a:t>
                      </a:r>
                      <a:r>
                        <a:rPr lang="ko-KR" altLang="en-US" sz="1000" b="0" dirty="0" err="1" smtClean="0"/>
                        <a:t>엔터티를</a:t>
                      </a:r>
                      <a:r>
                        <a:rPr lang="ko-KR" altLang="en-US" sz="1000" b="0" dirty="0" smtClean="0"/>
                        <a:t> 주고받는 원천 데이터를 관리하는 </a:t>
                      </a:r>
                      <a:r>
                        <a:rPr lang="ko-KR" altLang="en-US" sz="1000" b="0" dirty="0" err="1" smtClean="0"/>
                        <a:t>엔터티</a:t>
                      </a:r>
                      <a:endParaRPr lang="en-US" altLang="ko-KR" sz="1000" b="0" dirty="0" smtClean="0"/>
                    </a:p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전문을 </a:t>
                      </a:r>
                      <a:r>
                        <a:rPr lang="ko-KR" altLang="en-US" sz="1000" b="0" dirty="0" err="1" smtClean="0"/>
                        <a:t>파싱해서</a:t>
                      </a:r>
                      <a:r>
                        <a:rPr lang="ko-KR" altLang="en-US" sz="1000" b="0" dirty="0" smtClean="0"/>
                        <a:t> 업무적으로 사용하는 </a:t>
                      </a:r>
                      <a:r>
                        <a:rPr lang="ko-KR" altLang="en-US" sz="1000" b="0" dirty="0" err="1" smtClean="0"/>
                        <a:t>엔터티는</a:t>
                      </a:r>
                      <a:r>
                        <a:rPr lang="ko-KR" altLang="en-US" sz="1000" b="0" dirty="0" smtClean="0"/>
                        <a:t> 해당 전문 성격대로 </a:t>
                      </a:r>
                      <a:r>
                        <a:rPr lang="ko-KR" altLang="en-US" sz="1000" b="0" dirty="0" err="1" smtClean="0"/>
                        <a:t>엔터티</a:t>
                      </a:r>
                      <a:r>
                        <a:rPr lang="ko-KR" altLang="en-US" sz="1000" b="0" dirty="0" smtClean="0"/>
                        <a:t> 명을 정하며</a:t>
                      </a:r>
                      <a:r>
                        <a:rPr lang="en-US" altLang="ko-KR" sz="1000" b="0" dirty="0" smtClean="0"/>
                        <a:t>, </a:t>
                      </a:r>
                      <a:r>
                        <a:rPr lang="ko-KR" altLang="en-US" sz="1000" b="0" dirty="0" smtClean="0"/>
                        <a:t>전문 자체를 보관하는 </a:t>
                      </a:r>
                      <a:r>
                        <a:rPr lang="ko-KR" altLang="en-US" sz="1000" b="0" dirty="0" err="1" smtClean="0"/>
                        <a:t>엔터터에</a:t>
                      </a:r>
                      <a:r>
                        <a:rPr lang="ko-KR" altLang="en-US" sz="1000" b="0" dirty="0" smtClean="0"/>
                        <a:t> 사용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 smtClean="0"/>
                        <a:t>채번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순번을 </a:t>
                      </a:r>
                      <a:r>
                        <a:rPr lang="ko-KR" altLang="en-US" sz="1000" b="0" dirty="0" err="1" smtClean="0"/>
                        <a:t>채번하기</a:t>
                      </a:r>
                      <a:r>
                        <a:rPr lang="ko-KR" altLang="en-US" sz="1000" b="0" dirty="0" smtClean="0"/>
                        <a:t> 위한 용도로 사용하는 </a:t>
                      </a:r>
                      <a:r>
                        <a:rPr lang="ko-KR" altLang="en-US" sz="1000" b="0" dirty="0" err="1" smtClean="0"/>
                        <a:t>엔터티</a:t>
                      </a:r>
                      <a:endParaRPr lang="en-US" altLang="ko-KR" sz="1000" b="0" dirty="0" smtClean="0"/>
                    </a:p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채벌된 번호를 명시하여 </a:t>
                      </a:r>
                      <a:r>
                        <a:rPr lang="en-US" altLang="ko-KR" sz="1000" b="0" dirty="0" smtClean="0"/>
                        <a:t>‘</a:t>
                      </a:r>
                      <a:r>
                        <a:rPr lang="ko-KR" altLang="en-US" sz="1000" b="0" dirty="0" smtClean="0"/>
                        <a:t>계좌번호</a:t>
                      </a:r>
                      <a:r>
                        <a:rPr lang="en-US" altLang="ko-KR" sz="1000" b="0" dirty="0" smtClean="0"/>
                        <a:t>+</a:t>
                      </a:r>
                      <a:r>
                        <a:rPr lang="ko-KR" altLang="en-US" sz="1000" b="0" dirty="0" err="1" smtClean="0"/>
                        <a:t>채번</a:t>
                      </a:r>
                      <a:r>
                        <a:rPr lang="en-US" altLang="ko-KR" sz="1000" b="0" dirty="0" smtClean="0"/>
                        <a:t>’ </a:t>
                      </a:r>
                      <a:r>
                        <a:rPr lang="ko-KR" altLang="en-US" sz="1000" b="0" dirty="0" smtClean="0"/>
                        <a:t>등으로 사용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공통 코드로 관리하지 않고 개별코드로 관리하는 </a:t>
                      </a:r>
                      <a:r>
                        <a:rPr lang="ko-KR" altLang="en-US" sz="1000" b="0" dirty="0" err="1" smtClean="0"/>
                        <a:t>엔터티로</a:t>
                      </a:r>
                      <a:r>
                        <a:rPr lang="ko-KR" altLang="en-US" sz="1000" b="0" dirty="0" smtClean="0"/>
                        <a:t> 업무 속성이 </a:t>
                      </a:r>
                      <a:r>
                        <a:rPr lang="ko-KR" altLang="en-US" sz="1000" b="0" dirty="0" err="1" smtClean="0"/>
                        <a:t>코드값과</a:t>
                      </a:r>
                      <a:r>
                        <a:rPr lang="ko-KR" altLang="en-US" sz="1000" b="0" dirty="0" smtClean="0"/>
                        <a:t> 코드명만 존재할 때 사용</a:t>
                      </a:r>
                      <a:endParaRPr lang="en-US" altLang="ko-KR" sz="1000" b="0" dirty="0" smtClean="0"/>
                    </a:p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/>
                        <a:t>코드 값과 코드 값 명 외의 다른 속성도 사용된다면 해당 데이터의 성격을 나타내도록 정함</a:t>
                      </a:r>
                      <a:r>
                        <a:rPr lang="en-US" altLang="ko-KR" sz="1000" b="0" dirty="0" smtClean="0"/>
                        <a:t>. </a:t>
                      </a:r>
                      <a:r>
                        <a:rPr lang="ko-KR" altLang="en-US" sz="1000" b="0" dirty="0" smtClean="0"/>
                        <a:t>예를 들어 부서코드와 부서명 외에 다양한 속성이 관리되거나 관리될 가능성이 많을 때는 </a:t>
                      </a:r>
                      <a:r>
                        <a:rPr lang="en-US" altLang="ko-KR" sz="1000" b="0" dirty="0" smtClean="0"/>
                        <a:t>‘</a:t>
                      </a:r>
                      <a:r>
                        <a:rPr lang="ko-KR" altLang="en-US" sz="1000" b="0" dirty="0" smtClean="0"/>
                        <a:t>부서</a:t>
                      </a:r>
                      <a:r>
                        <a:rPr lang="en-US" altLang="ko-KR" sz="1000" b="0" dirty="0" smtClean="0"/>
                        <a:t>+</a:t>
                      </a:r>
                      <a:r>
                        <a:rPr lang="ko-KR" altLang="en-US" sz="1000" b="0" dirty="0" smtClean="0"/>
                        <a:t>코드</a:t>
                      </a:r>
                      <a:r>
                        <a:rPr lang="en-US" altLang="ko-KR" sz="1000" b="0" dirty="0" smtClean="0"/>
                        <a:t>’</a:t>
                      </a:r>
                      <a:r>
                        <a:rPr lang="ko-KR" altLang="en-US" sz="1000" b="0" dirty="0" smtClean="0"/>
                        <a:t>가 아니라 </a:t>
                      </a:r>
                      <a:r>
                        <a:rPr lang="en-US" altLang="ko-KR" sz="1000" b="0" dirty="0" smtClean="0"/>
                        <a:t>‘</a:t>
                      </a:r>
                      <a:r>
                        <a:rPr lang="ko-KR" altLang="en-US" sz="1000" b="0" dirty="0" smtClean="0"/>
                        <a:t>부서</a:t>
                      </a:r>
                      <a:r>
                        <a:rPr lang="en-US" altLang="ko-KR" sz="1000" b="0" dirty="0" smtClean="0"/>
                        <a:t>’</a:t>
                      </a:r>
                      <a:r>
                        <a:rPr lang="ko-KR" altLang="en-US" sz="1000" b="0" dirty="0" smtClean="0"/>
                        <a:t>로 정함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17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고객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기본</a:t>
                      </a:r>
                      <a:r>
                        <a:rPr lang="en-US" altLang="ko-KR" sz="1000" dirty="0" smtClean="0"/>
                        <a:t>_</a:t>
                      </a:r>
                      <a:r>
                        <a:rPr lang="ko-KR" altLang="en-US" sz="1000" dirty="0" smtClean="0"/>
                        <a:t>고객</a:t>
                      </a:r>
                      <a:endParaRPr lang="en-US" altLang="ko-KR" sz="10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고객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기본</a:t>
                      </a:r>
                      <a:r>
                        <a:rPr lang="en-US" altLang="ko-KR" sz="1000" dirty="0" smtClean="0"/>
                        <a:t>_</a:t>
                      </a:r>
                      <a:r>
                        <a:rPr lang="ko-KR" altLang="en-US" sz="1000" dirty="0" smtClean="0"/>
                        <a:t>고객등급이력</a:t>
                      </a:r>
                      <a:endParaRPr lang="en-US" altLang="ko-KR" sz="10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고객</a:t>
                      </a:r>
                      <a:r>
                        <a:rPr lang="en-US" altLang="ko-KR" sz="1000" dirty="0" smtClean="0"/>
                        <a:t>/</a:t>
                      </a:r>
                      <a:r>
                        <a:rPr lang="ko-KR" altLang="en-US" sz="1000" dirty="0" smtClean="0"/>
                        <a:t>기본</a:t>
                      </a:r>
                      <a:r>
                        <a:rPr lang="en-US" altLang="ko-KR" sz="1000" dirty="0" smtClean="0"/>
                        <a:t>_</a:t>
                      </a:r>
                      <a:r>
                        <a:rPr lang="ko-KR" altLang="en-US" sz="1000" dirty="0" smtClean="0"/>
                        <a:t>주문집계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직사각형 21"/>
          <p:cNvSpPr/>
          <p:nvPr/>
        </p:nvSpPr>
        <p:spPr bwMode="auto">
          <a:xfrm>
            <a:off x="610235" y="770476"/>
            <a:ext cx="8661400" cy="1112867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941765" y="1156810"/>
            <a:ext cx="119380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[ 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사용 용도 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]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59462" y="1301572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2506935" y="1143806"/>
            <a:ext cx="111679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주제 영역 명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5173930" y="1140678"/>
            <a:ext cx="1255951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엔터티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 정의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6828171" y="1139881"/>
            <a:ext cx="153246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데이터 성격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320496" y="849132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①</a:t>
            </a:r>
            <a:endParaRPr lang="ko-KR" alt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2847164" y="830916"/>
            <a:ext cx="4363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돋움"/>
                <a:ea typeface="돋움"/>
              </a:rPr>
              <a:t>②</a:t>
            </a:r>
            <a:endParaRPr lang="ko-KR" altLang="en-US" sz="2000" dirty="0"/>
          </a:p>
        </p:txBody>
      </p:sp>
      <p:sp>
        <p:nvSpPr>
          <p:cNvPr id="30" name="직사각형 29"/>
          <p:cNvSpPr/>
          <p:nvPr/>
        </p:nvSpPr>
        <p:spPr>
          <a:xfrm>
            <a:off x="4182207" y="84702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③</a:t>
            </a:r>
            <a:endParaRPr lang="ko-KR" altLang="en-US" sz="2000" dirty="0"/>
          </a:p>
        </p:txBody>
      </p:sp>
      <p:sp>
        <p:nvSpPr>
          <p:cNvPr id="31" name="직사각형 30"/>
          <p:cNvSpPr/>
          <p:nvPr/>
        </p:nvSpPr>
        <p:spPr>
          <a:xfrm>
            <a:off x="5540025" y="847024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④</a:t>
            </a:r>
            <a:endParaRPr lang="ko-KR" altLang="en-US" sz="2000" dirty="0"/>
          </a:p>
        </p:txBody>
      </p:sp>
      <p:sp>
        <p:nvSpPr>
          <p:cNvPr id="32" name="직사각형 31"/>
          <p:cNvSpPr/>
          <p:nvPr/>
        </p:nvSpPr>
        <p:spPr>
          <a:xfrm>
            <a:off x="7376426" y="837537"/>
            <a:ext cx="43633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돋움"/>
                <a:ea typeface="돋움"/>
              </a:rPr>
              <a:t>⑤</a:t>
            </a:r>
            <a:endParaRPr lang="ko-KR" altLang="en-US" sz="2000" dirty="0"/>
          </a:p>
        </p:txBody>
      </p:sp>
      <p:sp>
        <p:nvSpPr>
          <p:cNvPr id="33" name="직사각형 32"/>
          <p:cNvSpPr/>
          <p:nvPr/>
        </p:nvSpPr>
        <p:spPr bwMode="auto">
          <a:xfrm>
            <a:off x="4106004" y="1160740"/>
            <a:ext cx="63925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_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58068" y="1288569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4801055" y="1305503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6417183" y="127630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돋움"/>
                <a:ea typeface="돋움"/>
              </a:rPr>
              <a:t>+</a:t>
            </a:r>
            <a:endParaRPr lang="ko-KR" altLang="en-US" sz="2000" dirty="0"/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941765" y="1986816"/>
            <a:ext cx="8617493" cy="648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아래의 경우에만 사용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대부분의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엔터티는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필요 없음</a:t>
            </a:r>
          </a:p>
        </p:txBody>
      </p:sp>
    </p:spTree>
    <p:extLst>
      <p:ext uri="{BB962C8B-B14F-4D97-AF65-F5344CB8AC3E}">
        <p14:creationId xmlns:p14="http://schemas.microsoft.com/office/powerpoint/2010/main" val="236279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72000" tIns="72000" rIns="72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72000" tIns="72000" rIns="72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382820</TotalTime>
  <Words>1028</Words>
  <Application>Microsoft Office PowerPoint</Application>
  <PresentationFormat>A4 용지(210x297mm)</PresentationFormat>
  <Paragraphs>267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기본 디자인</vt:lpstr>
      <vt:lpstr>엔터티 명명 규칙 (1/6)</vt:lpstr>
      <vt:lpstr>엔터티 명명 규칙 (2/6)</vt:lpstr>
      <vt:lpstr>엔터티 명명 규칙 (3/6)</vt:lpstr>
      <vt:lpstr>엔터티 명명 규칙 (4/6)</vt:lpstr>
      <vt:lpstr>엔터티 명명 규칙 (5/6)</vt:lpstr>
      <vt:lpstr>엔터티 명명 규칙 (6/6)</vt:lpstr>
    </vt:vector>
  </TitlesOfParts>
  <Company>Deloitte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Administrator</dc:creator>
  <cp:lastModifiedBy>bluepupil</cp:lastModifiedBy>
  <cp:revision>6090</cp:revision>
  <dcterms:created xsi:type="dcterms:W3CDTF">2003-05-21T01:08:04Z</dcterms:created>
  <dcterms:modified xsi:type="dcterms:W3CDTF">2023-08-30T08:42:14Z</dcterms:modified>
</cp:coreProperties>
</file>