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04" r:id="rId2"/>
    <p:sldId id="1905" r:id="rId3"/>
  </p:sldIdLst>
  <p:sldSz cx="9906000" cy="6858000" type="A4"/>
  <p:notesSz cx="6669088" cy="9928225"/>
  <p:defaultTextStyle>
    <a:defPPr>
      <a:defRPr lang="en-US"/>
    </a:defPPr>
    <a:lvl1pPr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1pPr>
    <a:lvl2pPr marL="4572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2pPr>
    <a:lvl3pPr marL="9144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3pPr>
    <a:lvl4pPr marL="13716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4pPr>
    <a:lvl5pPr marL="18288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3FEFF"/>
    <a:srgbClr val="BEF8FE"/>
    <a:srgbClr val="FFFFCC"/>
    <a:srgbClr val="FFFF85"/>
    <a:srgbClr val="CCFF66"/>
    <a:srgbClr val="969696"/>
    <a:srgbClr val="C0C0C0"/>
    <a:srgbClr val="E8E8E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8896" autoAdjust="0"/>
  </p:normalViewPr>
  <p:slideViewPr>
    <p:cSldViewPr snapToGrid="0">
      <p:cViewPr>
        <p:scale>
          <a:sx n="75" d="100"/>
          <a:sy n="75" d="100"/>
        </p:scale>
        <p:origin x="-1579" y="-240"/>
      </p:cViewPr>
      <p:guideLst>
        <p:guide orient="horz" pos="325"/>
        <p:guide orient="horz" pos="4272"/>
        <p:guide orient="horz" pos="1136"/>
        <p:guide pos="5982"/>
        <p:guide pos="221"/>
        <p:guide pos="31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39120"/>
    </p:cViewPr>
  </p:sorterViewPr>
  <p:notesViewPr>
    <p:cSldViewPr snapToGrid="0">
      <p:cViewPr varScale="1">
        <p:scale>
          <a:sx n="54" d="100"/>
          <a:sy n="54" d="100"/>
        </p:scale>
        <p:origin x="-1818" y="-90"/>
      </p:cViewPr>
      <p:guideLst>
        <p:guide orient="horz" pos="3128"/>
        <p:guide pos="2101"/>
      </p:guideLst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3EE6C399-C98C-4936-ACAF-31E5223556C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5457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7700" y="744538"/>
            <a:ext cx="537686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D5541A6A-481C-4701-8C7A-5179998E55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474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ChangeArrowheads="1"/>
          </p:cNvSpPr>
          <p:nvPr/>
        </p:nvSpPr>
        <p:spPr bwMode="gray">
          <a:xfrm>
            <a:off x="373063" y="34623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21538" y="203200"/>
            <a:ext cx="2279650" cy="7032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2588" y="203200"/>
            <a:ext cx="6686550" cy="7032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8" y="203200"/>
            <a:ext cx="9118600" cy="27463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203200"/>
            <a:ext cx="9118600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ko-KR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661988"/>
            <a:ext cx="91186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smtClean="0"/>
              <a:t>마스터 제목</a:t>
            </a:r>
          </a:p>
        </p:txBody>
      </p:sp>
      <p:sp>
        <p:nvSpPr>
          <p:cNvPr id="1056" name="Text Box 32"/>
          <p:cNvSpPr txBox="1">
            <a:spLocks noChangeArrowheads="1"/>
          </p:cNvSpPr>
          <p:nvPr/>
        </p:nvSpPr>
        <p:spPr bwMode="auto">
          <a:xfrm>
            <a:off x="4627563" y="6630988"/>
            <a:ext cx="611187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fld id="{201C1F96-8BC6-4D03-8EA8-92C51122A982}" type="slidenum">
              <a:rPr kumimoji="0" lang="ko-KR" altLang="en-US" sz="1000" b="0">
                <a:solidFill>
                  <a:schemeClr val="tx1"/>
                </a:solidFill>
                <a:latin typeface="Lucida Sans Unicode" pitchFamily="34" charset="0"/>
                <a:ea typeface="HY그래픽M" pitchFamily="18" charset="-127"/>
              </a:rPr>
              <a:pPr eaLnBrk="1" hangingPunct="1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>
              <a:solidFill>
                <a:schemeClr val="tx1"/>
              </a:solidFill>
              <a:latin typeface="Lucida Sans Unicode" pitchFamily="34" charset="0"/>
              <a:ea typeface="HY그래픽M" pitchFamily="18" charset="-127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gray">
          <a:xfrm>
            <a:off x="373063" y="5667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7956550" y="6659563"/>
            <a:ext cx="1404938" cy="153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kumimoji="0" lang="ko-KR" altLang="en-US" sz="1000" b="0" dirty="0" err="1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위즈덤마인드</a:t>
            </a:r>
            <a:r>
              <a:rPr kumimoji="0" lang="ko-KR" altLang="en-US" sz="1000" b="0" dirty="0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주식회사</a:t>
            </a:r>
            <a:endParaRPr kumimoji="0" lang="en-US" altLang="ko-KR" sz="1000" b="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smtClean="0"/>
              <a:t>주제 영역 명명 규칙</a:t>
            </a:r>
          </a:p>
        </p:txBody>
      </p:sp>
      <p:sp>
        <p:nvSpPr>
          <p:cNvPr id="7" name="Rectangle 82"/>
          <p:cNvSpPr txBox="1">
            <a:spLocks noChangeArrowheads="1"/>
          </p:cNvSpPr>
          <p:nvPr/>
        </p:nvSpPr>
        <p:spPr bwMode="auto">
          <a:xfrm>
            <a:off x="382588" y="661988"/>
            <a:ext cx="9118600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l" eaLnBrk="1" latinLnBrk="1" hangingPunct="1">
              <a:lnSpc>
                <a:spcPct val="100000"/>
              </a:lnSpc>
              <a:spcBef>
                <a:spcPct val="20000"/>
              </a:spcBef>
            </a:pPr>
            <a:r>
              <a:rPr lang="ko-KR" altLang="en-US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주제 영역 명은 업무를 설명하는 </a:t>
            </a:r>
            <a:r>
              <a:rPr lang="ko-KR" altLang="en-US" sz="1600" kern="0" dirty="0" smtClean="0">
                <a:solidFill>
                  <a:schemeClr val="tx1"/>
                </a:solidFill>
                <a:latin typeface="+mn-lt"/>
                <a:ea typeface="+mn-ea"/>
              </a:rPr>
              <a:t>단수형 명사를 사용한다</a:t>
            </a:r>
            <a:r>
              <a:rPr lang="en-US" altLang="ko-KR" sz="1600" kern="0" dirty="0" smtClean="0">
                <a:solidFill>
                  <a:schemeClr val="tx1"/>
                </a:solidFill>
                <a:latin typeface="+mn-lt"/>
                <a:ea typeface="+mn-ea"/>
              </a:rPr>
              <a:t>. </a:t>
            </a:r>
            <a:r>
              <a:rPr lang="ko-KR" altLang="en-US" sz="1600" kern="0" dirty="0" smtClean="0">
                <a:solidFill>
                  <a:schemeClr val="tx1"/>
                </a:solidFill>
                <a:latin typeface="+mn-lt"/>
                <a:ea typeface="+mn-ea"/>
              </a:rPr>
              <a:t>주제 영역 명은 시스템 명과 동일할 수 있으며</a:t>
            </a:r>
            <a:r>
              <a:rPr lang="en-US" altLang="ko-KR" sz="1600" kern="0" dirty="0" smtClean="0">
                <a:solidFill>
                  <a:schemeClr val="tx1"/>
                </a:solidFill>
                <a:latin typeface="+mn-lt"/>
                <a:ea typeface="+mn-ea"/>
              </a:rPr>
              <a:t>, </a:t>
            </a:r>
            <a:r>
              <a:rPr lang="ko-KR" altLang="en-US" sz="1600" kern="0" dirty="0" err="1" smtClean="0">
                <a:solidFill>
                  <a:schemeClr val="tx1"/>
                </a:solidFill>
                <a:latin typeface="+mn-lt"/>
                <a:ea typeface="+mn-ea"/>
              </a:rPr>
              <a:t>엔터티</a:t>
            </a:r>
            <a:r>
              <a:rPr lang="ko-KR" altLang="en-US" sz="1600" kern="0" dirty="0" smtClean="0">
                <a:solidFill>
                  <a:schemeClr val="tx1"/>
                </a:solidFill>
                <a:latin typeface="+mn-lt"/>
                <a:ea typeface="+mn-ea"/>
              </a:rPr>
              <a:t> 명과 같을 수 있다</a:t>
            </a:r>
            <a:r>
              <a:rPr lang="en-US" altLang="ko-KR" sz="1600" kern="0" dirty="0" smtClean="0">
                <a:solidFill>
                  <a:schemeClr val="tx1"/>
                </a:solidFill>
                <a:latin typeface="+mn-lt"/>
                <a:ea typeface="+mn-ea"/>
              </a:rPr>
              <a:t>.</a:t>
            </a:r>
            <a:endParaRPr kumimoji="1" lang="en-US" altLang="ko-KR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3108"/>
              </p:ext>
            </p:extLst>
          </p:nvPr>
        </p:nvGraphicFramePr>
        <p:xfrm>
          <a:off x="645040" y="2356563"/>
          <a:ext cx="7924800" cy="24135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8333"/>
                <a:gridCol w="1835694"/>
                <a:gridCol w="503077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구분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설명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30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①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주제 영역이 속한 시스템의 이름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업무계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(C), ODS(O), DW(D)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7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③</a:t>
                      </a:r>
                      <a:endParaRPr lang="ko-KR" altLang="en-US" sz="14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 주제 영역 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 주제 영역에 대한 이름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61"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en-US" altLang="ko-KR" sz="1400" b="0" dirty="0" smtClean="0"/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 주제 영역 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레벨에 속한 하위 주제 영역에 대한 이름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372"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en-US" altLang="ko-KR" sz="1200" b="0" dirty="0" smtClean="0"/>
                        <a:t>       </a:t>
                      </a:r>
                      <a:r>
                        <a:rPr lang="ko-KR" altLang="en-US" sz="1400" b="0" dirty="0" smtClean="0"/>
                        <a:t>업무</a:t>
                      </a:r>
                      <a:r>
                        <a:rPr lang="en-US" altLang="ko-KR" sz="1400" b="0" dirty="0" smtClean="0"/>
                        <a:t>_</a:t>
                      </a:r>
                      <a:r>
                        <a:rPr lang="ko-KR" altLang="en-US" sz="1400" b="0" dirty="0" smtClean="0"/>
                        <a:t>고객</a:t>
                      </a:r>
                      <a:r>
                        <a:rPr lang="en-US" altLang="ko-KR" sz="1400" b="0" dirty="0" smtClean="0"/>
                        <a:t>/</a:t>
                      </a:r>
                      <a:r>
                        <a:rPr lang="ko-KR" altLang="en-US" sz="1400" b="0" dirty="0" smtClean="0"/>
                        <a:t>신용</a:t>
                      </a:r>
                      <a:endParaRPr lang="en-US" altLang="ko-KR" sz="1400" b="0" dirty="0" smtClean="0"/>
                    </a:p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en-US" altLang="ko-KR" sz="1400" b="0" baseline="0" dirty="0" smtClean="0"/>
                        <a:t>      </a:t>
                      </a:r>
                      <a:r>
                        <a:rPr lang="en-US" altLang="ko-KR" sz="1400" b="0" dirty="0" smtClean="0"/>
                        <a:t>DW_</a:t>
                      </a:r>
                      <a:r>
                        <a:rPr lang="ko-KR" altLang="en-US" sz="1400" b="0" dirty="0" smtClean="0"/>
                        <a:t>계약</a:t>
                      </a:r>
                      <a:r>
                        <a:rPr lang="en-US" altLang="ko-KR" sz="1400" b="0" dirty="0" smtClean="0"/>
                        <a:t>/</a:t>
                      </a:r>
                      <a:r>
                        <a:rPr lang="ko-KR" altLang="en-US" sz="1400" b="0" dirty="0" smtClean="0"/>
                        <a:t>조건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3663" indent="-93663" algn="l" latinLnBrk="1">
                        <a:buFont typeface="Arial" pitchFamily="34" charset="0"/>
                        <a:buChar char="•"/>
                      </a:pP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60370" y="5066239"/>
            <a:ext cx="7634288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>
              <a:lnSpc>
                <a:spcPct val="120000"/>
              </a:lnSpc>
              <a:spcBef>
                <a:spcPct val="30000"/>
              </a:spcBef>
            </a:pPr>
            <a:r>
              <a:rPr lang="ko-KR" altLang="en-US" u="sng" dirty="0" smtClean="0"/>
              <a:t>주제 영역 명명 원칙</a:t>
            </a:r>
            <a:endParaRPr lang="ko-KR" altLang="en-US" u="sng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45039" y="5365861"/>
            <a:ext cx="8617493" cy="1178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주제 영역 단계는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2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레벨을 넘어가지 않도록 정의한다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DA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의 결정에 따라 주제 영역을 업무 영역으로 대체할 수 있다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이때는 주제 영역과 업무 영역이 일치하며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업무 영역이 변경되면 주제 영역도 그대로 변경된다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업무 시스템에 대한 명명 규칙은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AA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팀에서 정의한다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  <a:endParaRPr lang="ko-KR" altLang="en-US" b="0" dirty="0" smtClean="0">
              <a:solidFill>
                <a:schemeClr val="tx1"/>
              </a:solidFill>
              <a:latin typeface="돋움" pitchFamily="50" charset="-127"/>
            </a:endParaRPr>
          </a:p>
        </p:txBody>
      </p:sp>
      <p:sp>
        <p:nvSpPr>
          <p:cNvPr id="3" name="직사각형 2"/>
          <p:cNvSpPr/>
          <p:nvPr/>
        </p:nvSpPr>
        <p:spPr bwMode="auto">
          <a:xfrm>
            <a:off x="941765" y="1656363"/>
            <a:ext cx="119380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시스템  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396" y="1784191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12" name="직사각형 11"/>
          <p:cNvSpPr/>
          <p:nvPr/>
        </p:nvSpPr>
        <p:spPr bwMode="auto">
          <a:xfrm>
            <a:off x="2506936" y="1643359"/>
            <a:ext cx="842176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_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885589" y="1643359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1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레벨 주제 영역 명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6997511" y="1580165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레벨 </a:t>
            </a:r>
            <a:r>
              <a:rPr lang="ko-KR" altLang="en-US" dirty="0"/>
              <a:t>주제 영역 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0496" y="1331751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2786058" y="1338559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4308923" y="1331750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18" name="직사각형 17"/>
          <p:cNvSpPr/>
          <p:nvPr/>
        </p:nvSpPr>
        <p:spPr>
          <a:xfrm>
            <a:off x="5977161" y="1317273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19" name="직사각형 18"/>
          <p:cNvSpPr/>
          <p:nvPr/>
        </p:nvSpPr>
        <p:spPr>
          <a:xfrm>
            <a:off x="7452629" y="1252420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sp>
        <p:nvSpPr>
          <p:cNvPr id="21" name="직사각형 20"/>
          <p:cNvSpPr/>
          <p:nvPr/>
        </p:nvSpPr>
        <p:spPr bwMode="auto">
          <a:xfrm>
            <a:off x="5851270" y="1600998"/>
            <a:ext cx="842176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/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31063" y="177118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5520730" y="179033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693446" y="1746557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8197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smtClean="0"/>
              <a:t>주제 영역 영문 약어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37998"/>
              </p:ext>
            </p:extLst>
          </p:nvPr>
        </p:nvGraphicFramePr>
        <p:xfrm>
          <a:off x="661680" y="3014133"/>
          <a:ext cx="8647899" cy="22267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2"/>
                <a:gridCol w="635000"/>
                <a:gridCol w="982133"/>
                <a:gridCol w="1168400"/>
                <a:gridCol w="694267"/>
                <a:gridCol w="1134533"/>
                <a:gridCol w="990600"/>
                <a:gridCol w="491067"/>
                <a:gridCol w="1117600"/>
                <a:gridCol w="618067"/>
              </a:tblGrid>
              <a:tr h="3302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시스템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1</a:t>
                      </a:r>
                      <a:r>
                        <a:rPr lang="ko-KR" altLang="en-US" sz="1000" b="1" dirty="0" smtClean="0"/>
                        <a:t>레벨 주제 영역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2</a:t>
                      </a:r>
                      <a:r>
                        <a:rPr lang="ko-KR" altLang="en-US" sz="1000" b="1" dirty="0" smtClean="0"/>
                        <a:t>레벨 주제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주제 영역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약어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영문명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약어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영문명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약어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약어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066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돋움"/>
                          <a:ea typeface="+mn-ea"/>
                        </a:rPr>
                        <a:t>업무계</a:t>
                      </a:r>
                      <a:endParaRPr lang="ko-KR" altLang="en-US" sz="1000" dirty="0" smtClean="0">
                        <a:latin typeface="돋움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>
                          <a:solidFill>
                            <a:srgbClr val="0070C0"/>
                          </a:solidFill>
                        </a:rPr>
                        <a:t>CCSI</a:t>
                      </a:r>
                      <a:endParaRPr lang="ko-KR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467">
                <a:tc vMerge="1"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endParaRPr lang="en-US" altLang="ko-KR" sz="10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Credit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>
                          <a:solidFill>
                            <a:srgbClr val="0070C0"/>
                          </a:solidFill>
                        </a:rPr>
                        <a:t>CCSC</a:t>
                      </a:r>
                      <a:endParaRPr lang="ko-KR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467">
                <a:tc vMerge="1"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endParaRPr lang="en-US" altLang="ko-KR" sz="10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Arrangement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>
                          <a:solidFill>
                            <a:srgbClr val="0070C0"/>
                          </a:solidFill>
                        </a:rPr>
                        <a:t>CARI</a:t>
                      </a:r>
                      <a:endParaRPr lang="ko-KR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866"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/>
                        <a:t>DW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Arrangement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DW_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>
                          <a:solidFill>
                            <a:srgbClr val="0070C0"/>
                          </a:solidFill>
                        </a:rPr>
                        <a:t>DARC</a:t>
                      </a:r>
                      <a:endParaRPr lang="ko-KR" altLang="en-US" sz="10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 bwMode="auto">
          <a:xfrm>
            <a:off x="631568" y="1656363"/>
            <a:ext cx="1612099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시스템  영문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(1</a:t>
            </a:r>
            <a:r>
              <a:rPr lang="ko-KR" altLang="en-US" dirty="0" smtClean="0"/>
              <a:t>자리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43667" y="1792656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12" name="직사각형 11"/>
          <p:cNvSpPr/>
          <p:nvPr/>
        </p:nvSpPr>
        <p:spPr bwMode="auto">
          <a:xfrm>
            <a:off x="2574207" y="1651824"/>
            <a:ext cx="224347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1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레벨 주제 영역 영문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(2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자리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0496" y="1331751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3276657" y="1340214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5595537" y="137408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4817677" y="1813522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gray">
          <a:xfrm>
            <a:off x="513030" y="902498"/>
            <a:ext cx="7858180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 algn="l" latinLnBrk="0">
              <a:lnSpc>
                <a:spcPct val="120000"/>
              </a:lnSpc>
              <a:spcBef>
                <a:spcPct val="50000"/>
              </a:spcBef>
              <a:defRPr/>
            </a:pPr>
            <a:r>
              <a:rPr lang="ko-KR" altLang="en-US" sz="1600" b="1" dirty="0" err="1" smtClean="0">
                <a:latin typeface="돋움" panose="020B0600000101010101" pitchFamily="50" charset="-127"/>
              </a:rPr>
              <a:t>ㅁ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주제 영역 영문</a:t>
            </a:r>
            <a:endParaRPr lang="en-US" altLang="ko-KR" sz="1600" b="1" dirty="0" smtClean="0">
              <a:latin typeface="돋움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5148218" y="1685693"/>
            <a:ext cx="2150804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2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레벨 주제 영역 영문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(1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자리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38786" y="1839745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⇒</a:t>
            </a:r>
            <a:endParaRPr lang="ko-KR" altLang="en-US" sz="2000" dirty="0"/>
          </a:p>
        </p:txBody>
      </p:sp>
      <p:sp>
        <p:nvSpPr>
          <p:cNvPr id="28" name="직사각형 27"/>
          <p:cNvSpPr/>
          <p:nvPr/>
        </p:nvSpPr>
        <p:spPr bwMode="auto">
          <a:xfrm>
            <a:off x="7856109" y="1711916"/>
            <a:ext cx="168513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주제 영역 영문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(4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자리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371210" y="1439116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30" name="직사각형 29"/>
          <p:cNvSpPr/>
          <p:nvPr/>
        </p:nvSpPr>
        <p:spPr>
          <a:xfrm>
            <a:off x="576705" y="2879827"/>
            <a:ext cx="1493874" cy="2445705"/>
          </a:xfrm>
          <a:prstGeom prst="rect">
            <a:avLst/>
          </a:prstGeom>
          <a:noFill/>
          <a:ln w="38100" cap="flat" cmpd="thickThin" algn="ctr">
            <a:solidFill>
              <a:srgbClr val="0070C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Lucida Sans Unicode"/>
              <a:ea typeface="맑은 고딕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2806" y="2528368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32" name="직사각형 31"/>
          <p:cNvSpPr/>
          <p:nvPr/>
        </p:nvSpPr>
        <p:spPr>
          <a:xfrm>
            <a:off x="2155249" y="2889454"/>
            <a:ext cx="2692540" cy="2445705"/>
          </a:xfrm>
          <a:prstGeom prst="rect">
            <a:avLst/>
          </a:prstGeom>
          <a:noFill/>
          <a:ln w="38100" cap="flat" cmpd="thickThin" algn="ctr">
            <a:solidFill>
              <a:srgbClr val="0070C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Lucida Sans Unicode"/>
              <a:ea typeface="맑은 고딕"/>
              <a:cs typeface="+mn-cs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991892" y="2889454"/>
            <a:ext cx="2531219" cy="2445705"/>
          </a:xfrm>
          <a:prstGeom prst="rect">
            <a:avLst/>
          </a:prstGeom>
          <a:noFill/>
          <a:ln w="38100" cap="flat" cmpd="thickThin" algn="ctr">
            <a:solidFill>
              <a:srgbClr val="0070C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Lucida Sans Unicode"/>
              <a:ea typeface="맑은 고딕"/>
              <a:cs typeface="+mn-cs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654384" y="2890614"/>
            <a:ext cx="1722927" cy="2445705"/>
          </a:xfrm>
          <a:prstGeom prst="rect">
            <a:avLst/>
          </a:prstGeom>
          <a:noFill/>
          <a:ln w="38100" cap="flat" cmpd="thickThin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Lucida Sans Unicode"/>
              <a:ea typeface="맑은 고딕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41000" y="2492014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36" name="직사각형 35"/>
          <p:cNvSpPr/>
          <p:nvPr/>
        </p:nvSpPr>
        <p:spPr>
          <a:xfrm>
            <a:off x="5559880" y="252588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37" name="직사각형 36"/>
          <p:cNvSpPr/>
          <p:nvPr/>
        </p:nvSpPr>
        <p:spPr>
          <a:xfrm>
            <a:off x="8335553" y="2590916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3061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382820</TotalTime>
  <Words>286</Words>
  <Application>Microsoft Office PowerPoint</Application>
  <PresentationFormat>A4 용지(210x297mm)</PresentationFormat>
  <Paragraphs>98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기본 디자인</vt:lpstr>
      <vt:lpstr>주제 영역 명명 규칙</vt:lpstr>
      <vt:lpstr>주제 영역 영문 약어</vt:lpstr>
    </vt:vector>
  </TitlesOfParts>
  <Company>Deloitte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Administrator</dc:creator>
  <cp:lastModifiedBy>bluepupil</cp:lastModifiedBy>
  <cp:revision>6090</cp:revision>
  <dcterms:created xsi:type="dcterms:W3CDTF">2003-05-21T01:08:04Z</dcterms:created>
  <dcterms:modified xsi:type="dcterms:W3CDTF">2023-08-30T08:41:36Z</dcterms:modified>
</cp:coreProperties>
</file>